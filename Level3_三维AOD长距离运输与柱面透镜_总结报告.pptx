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EC5E8"/>
                </a:solidFill>
              </a:rPr>
              <a:t>Monte Carlo for AOD→SLM 原子转移 · 论文 arXiv:2403.12021v4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Level 3：三维 AOD 长距离运输</a:t>
            </a:r>
          </a:p>
          <a:p>
            <a:pPr algn="ctr"/>
            <a:r>
              <a:rPr sz="4000" b="1">
                <a:solidFill>
                  <a:srgbClr val="FFFFFF"/>
                </a:solidFill>
              </a:rPr>
              <a:t>与柱面透镜效应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D3E8"/>
                </a:solidFill>
              </a:rPr>
              <a:t>三维经典模型 · crossed-AOD 柱面透镜势 · 270–610 μm 运输</a:t>
            </a:r>
          </a:p>
          <a:p>
            <a:pPr algn="ctr"/>
            <a:r>
              <a:rPr sz="1600" b="0">
                <a:solidFill>
                  <a:srgbClr val="BBD3E8"/>
                </a:solidFill>
              </a:rPr>
              <a:t>直线 vs 对角 · 三类轨迹 · 热初态蒙特卡洛 · 独立 2000-shot 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A8C8"/>
                </a:solidFill>
              </a:rPr>
              <a:t>preflight 16 项全通过 · 96 个粗扫描格点 · 22 项 Level 3 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背景与 Level 3 的定位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在 Level 0 静态势阱 / Level 1 顺序转移 / Level 2 同步波形基础上隔离研究长距离运输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论文锚点</a:t>
            </a:r>
            <a:r>
              <a:rPr sz="1400">
                <a:solidFill>
                  <a:srgbClr val="666666"/>
                </a:solidFill>
              </a:rPr>
              <a:t>　280 μK AOD 光镊中 610 μm、1.6 ms 对角运输；直线运输受柱面透镜效应限制（Fig. 5、ED Fig. 10、Methods、SI §III）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核心问题</a:t>
            </a:r>
            <a:r>
              <a:rPr sz="1400">
                <a:solidFill>
                  <a:srgbClr val="666666"/>
                </a:solidFill>
              </a:rPr>
              <a:t>　有限温度铯原子在 270–610 μm 运输中，方向、轨迹形状、时长和透镜强度如何影响经典留阱率、末态激发与轴向运动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隔离研究</a:t>
            </a:r>
            <a:r>
              <a:rPr sz="1400">
                <a:solidFill>
                  <a:srgbClr val="666666"/>
                </a:solidFill>
              </a:rPr>
              <a:t>　暂不把 transfer 与 long move 组合，先回答『AOD 单阱已装原子后如何长距离移动』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诚实边界</a:t>
            </a:r>
            <a:r>
              <a:rPr sz="1400">
                <a:solidFill>
                  <a:srgbClr val="666666"/>
                </a:solidFill>
              </a:rPr>
              <a:t>　经典留阱 = 末态仍被束缚，不含真空损失、光子散射、退相干；不得与论文 99.953(2)% 量子保真度等同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55080" y="1280160"/>
          <a:ext cx="53949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91840"/>
              </a:tblGrid>
              <a:tr h="2926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物理量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原子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¹³³Cs，m = 132.905 u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AOD 阱深 D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k_B × 280 μK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束腰 w₀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1.17 μm（假设匹配 SLM 后孔径）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波长 λ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1055 nm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Rayleigh 长度 z_R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4.076 μm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ω_r / 2π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36.0 kHz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ω_z / 2π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7.31 kHz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初态温度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5 μK（D/kT = 56）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55080" y="44805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留阱判据：运输终点静态势中 E_f &lt; 0 → retained；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100 μs 保持后二次判定并统计不一致数。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三维高斯光镊势：模型底座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U₀ = −D/(1+(z/z_R)²) · exp(−2(ξ²+η²)/(w₀²(1+(z/z_R)²)))，z=0 切片严格回归 Level 0</a:t>
            </a:r>
          </a:p>
        </p:txBody>
      </p:sp>
      <p:pic>
        <p:nvPicPr>
          <p:cNvPr id="5" name="Picture 4" descr="static_3d_trap_sl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24177"/>
            <a:ext cx="10698480" cy="41010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60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数值曲率复现解析频率</a:t>
            </a:r>
            <a:r>
              <a:rPr sz="1200">
                <a:solidFill>
                  <a:srgbClr val="666666"/>
                </a:solidFill>
              </a:rPr>
              <a:t>　ω_r、ω_z 相对误差 &lt; 10⁻⁶（preflight 第 3 项）；三维解析力与势梯度有限差分一致到 10⁻⁵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Crossed-AOD 柱面透镜势（论文 SI 启发）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快速扫频使柱面焦点沿光轴偏移：z_s/z_R = 2σ·ċ/v_s，U = −D·G₁(ξ,z;z_s₁)·G₂(η,z;z_s₂)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三种校准模式</a:t>
            </a:r>
            <a:r>
              <a:rPr sz="1400">
                <a:solidFill>
                  <a:srgbClr val="666666"/>
                </a:solidFill>
              </a:rPr>
              <a:t>　lensing_off（理想）/ absolute_critical_velocity（用户给定 v_s）/ normalized_reference_scan（默认）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无量纲 severity 扫描</a:t>
            </a:r>
            <a:r>
              <a:rPr sz="1400">
                <a:solidFill>
                  <a:srgbClr val="666666"/>
                </a:solidFill>
              </a:rPr>
              <a:t>　以 610 μm、1.6 ms 对角 sine 为参考，扫描 v_max,axis/v_s ∈ {0.50, 0.75, 1.00, 1.25}，不伪造论文未提供的硬件校准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同一硬件含义</a:t>
            </a:r>
            <a:r>
              <a:rPr sz="1400">
                <a:solidFill>
                  <a:srgbClr val="666666"/>
                </a:solidFill>
              </a:rPr>
              <a:t>　每个 severity 反解一个固定 v_s，用于所有距离/方向/时长/轨迹，不为每个候选重新缩放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零偏移极限</a:t>
            </a:r>
            <a:r>
              <a:rPr sz="1400">
                <a:solidFill>
                  <a:srgbClr val="666666"/>
                </a:solidFill>
              </a:rPr>
              <a:t>　z_s₁ = z_s₂ = 0 时严格恢复标准三维高斯势（数值验证 rtol&lt;10⁻¹²）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55080" y="1280160"/>
          <a:ext cx="5394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651760"/>
              </a:tblGrid>
              <a:tr h="2926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severity v/v_s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固定 v_s (m/s)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1.078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0.75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0.719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0.539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1.25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0.431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55080" y="310896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对角同号（σ₁=σ₂=1）与论文『对角运动把柱面透镜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变为球面透镜』一致；反号 (−1,+1) 仅作模型敏感性。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默认轴符号写入配置 (axis_signs: [1,1])，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severity 为无量纲场景参数，非论文测量值。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单阱 → 双阱分岔：直线运输的物理瓶颈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直线：|z_s| &gt; 2 z_R 时轴向势分裂为双阱（临界 ≈ 单轴速度达 v_s）；对角同号：保持单一球面阱</a:t>
            </a:r>
          </a:p>
        </p:txBody>
      </p:sp>
      <p:pic>
        <p:nvPicPr>
          <p:cNvPr id="5" name="Picture 4" descr="lensing_potential_bifur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7017"/>
            <a:ext cx="10698480" cy="41010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15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数值极值诊断</a:t>
            </a:r>
            <a:r>
              <a:rPr sz="1200">
                <a:solidFill>
                  <a:srgbClr val="666666"/>
                </a:solidFill>
              </a:rPr>
              <a:t>　axial_minima 在自适应 4001 点网格上判最低点数/位置/势垒；临界区 1.8z_R 单阱 → 2.2z_R 双阱，与解析关系互为回归测试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三类运输轨迹族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adiabatic-sine（论文 Methods）· 四段 constant-jerk（J=32L/T³，分段解析积分）· minimum-jerk</a:t>
            </a:r>
          </a:p>
        </p:txBody>
      </p:sp>
      <p:pic>
        <p:nvPicPr>
          <p:cNvPr id="5" name="Picture 4" descr="trajectory_profi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84235"/>
            <a:ext cx="10698480" cy="25408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39496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端点约束</a:t>
            </a:r>
            <a:r>
              <a:rPr sz="1200">
                <a:solidFill>
                  <a:srgbClr val="666666"/>
                </a:solidFill>
              </a:rPr>
              <a:t>　三类均满足起点/终点精确、端点速度与加速度为零、位置单调无过冲；constant-jerk 符号模式 +J/−J/−J/+J 与 J=32L/T³ 数值验证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命名诚实</a:t>
            </a:r>
            <a:r>
              <a:rPr sz="1200">
                <a:solidFill>
                  <a:srgbClr val="666666"/>
                </a:solidFill>
              </a:rPr>
              <a:t>　minimum-jerk (10s³−15s⁴+6s⁵) 明确标注为通用平滑控制轨迹，不冒充论文 constant-jerk；相同 L/T 下用同一初态样本比较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直线 vs 对角：几何决定透镜强度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相同路径长度 L 与时长 T 下：对角把单轴速度降为 1/√2，两柱面焦点同移；直线单轴满速 → 焦点偏移最大</a:t>
            </a:r>
          </a:p>
        </p:txBody>
      </p:sp>
      <p:pic>
        <p:nvPicPr>
          <p:cNvPr id="5" name="Picture 4" descr="straight_vs_diag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14092"/>
            <a:ext cx="10698480" cy="29955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左：轴 1 峰值速度 / v_s；中：峰值 |z_s₁|/z_R；右：瞬时最低点深度（μK）——straight 在同一 severity 下焦点偏移更大、有效阱深更浅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数值方法与验证流水线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复用 Level 0–2 的统计、I/O 与种子管理；16 项 preflight 失败即中止大规模 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三维时变 velocity-Verlet</a:t>
            </a:r>
            <a:r>
              <a:rPr sz="1400">
                <a:solidFill>
                  <a:srgbClr val="666666"/>
                </a:solidFill>
              </a:rPr>
              <a:t>　向量化推进整批 shots；显式时变势下二阶精度，不声称辛能量守恒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显式功-能核算</a:t>
            </a:r>
            <a:r>
              <a:rPr sz="1400">
                <a:solidFill>
                  <a:srgbClr val="666666"/>
                </a:solidFill>
              </a:rPr>
              <a:t>　∂U/∂t 解析链式导数分解为 移动项 + 焦点偏移项 + 深度项，梯形积分 W_ext，检查残差 R_W = E−E₀−W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热初态采样</a:t>
            </a:r>
            <a:r>
              <a:rPr sz="1400">
                <a:solidFill>
                  <a:srgbClr val="666666"/>
                </a:solidFill>
              </a:rPr>
              <a:t>　简谐提议 + E_i&lt;0 束缚拒绝（D/kT=56 时接受率≈1）；明确非完整有限深阱正则系综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三池种子隔离</a:t>
            </a:r>
            <a:r>
              <a:rPr sz="1400">
                <a:solidFill>
                  <a:srgbClr val="666666"/>
                </a:solidFill>
              </a:rPr>
              <a:t>　scan 31001 / validation 31002 / convergence 31003 互不相同；条件间 common random numbers 配对比较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A35"/>
                </a:solidFill>
              </a:rPr>
              <a:t>• 分阶段预算</a:t>
            </a:r>
            <a:r>
              <a:rPr sz="1400">
                <a:solidFill>
                  <a:srgbClr val="666666"/>
                </a:solidFill>
              </a:rPr>
              <a:t>　A 确定性扫描 → B 粗 MC(128 shots, 0.10 μs) → C 冻结验证(2000 shots, 0.05 μs) → D 敏感性(500 shots)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55080" y="1280160"/>
          <a:ext cx="539496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03120"/>
              </a:tblGrid>
              <a:tr h="2926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preflight 代表项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结果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Level 0–2 全部测试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通过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三维势回归 Level 0 切片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rtol &lt; 10⁻¹²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力 vs 有限差分梯度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相对误差 &lt; 10⁻⁵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功-能残差随步长收敛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达标（0.05/0.025 μs）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128 热初态步长配对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标签翻转率 ≤ 2%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100 μs 保持段能量误差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&lt; 10⁻³ 阱深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55080" y="420624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冻结主条件（打开 validation 前锁定）：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① paper_anchor：610 μm / 1.6 ms / 对角 / sine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② 同条件 constant-jerk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③ straight_control：510 μm / 1.6 ms / 直线 / sine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④ 同条件 constant-jerk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每个条件 × {lensing_off, sev1.0}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阶段 B：粗 MC 相图（96 格点 × 128 shots）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留阱率 × 时长 × severity：直线在短时长 + 高 severity 下崩塌，对角全区间存活</a:t>
            </a:r>
          </a:p>
        </p:txBody>
      </p:sp>
      <p:pic>
        <p:nvPicPr>
          <p:cNvPr id="5" name="Picture 4" descr="survival_ph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77559"/>
            <a:ext cx="6766560" cy="23943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18872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</a:rPr>
              <a:t>关键数字（adiabatic-sine）：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● 直线 510 μm / sev1.0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   600–800 μs：留阱率 0.00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   1000 μs：0.05 → 1200 μs 起 1.00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● 对角 610 μm / sev1.25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   600 μs 仍 0.93，≥800 μs 全 1.00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● 无透镜（sev0）所有格点 1.00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结论：柱面透镜是短时长直线运输的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唯一损失通道；1.6 ms（论文锚点）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下所有已测条件均安全。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轴向动力学与 lost 轨迹解剖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左：验证主条件 retained 代表 z(t)；右：粗扫描失败格点（直线/510 μm/600 μs/sev1.25）的 lost 轨迹与瞬时最低点分支</a:t>
            </a:r>
          </a:p>
        </p:txBody>
      </p:sp>
      <p:pic>
        <p:nvPicPr>
          <p:cNvPr id="5" name="Picture 4" descr="axial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97864"/>
            <a:ext cx="10698480" cy="4279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150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分支诊断</a:t>
            </a:r>
            <a:r>
              <a:rPr sz="1200">
                <a:solidFill>
                  <a:srgbClr val="666666"/>
                </a:solidFill>
              </a:rPr>
              <a:t>　虚线为瞬时轴向最低点位置：单阱→双阱→单阱随速度演化；lost 轨迹用独立诊断种子（scan+9100）捕获，|mean_z|&lt;0.1z_R 标 branch_ambiguous 不强行归类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阶段 C：冻结主条件独立验证（2000 shots × 8 条件）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validation_pool 一次性使用；同初态配对比较 + 0.025 μs 子集复算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97280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645920"/>
                <a:gridCol w="1645920"/>
              </a:tblGrid>
              <a:tr h="2926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条件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sev0.0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sev1.0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对角 610 μm · sine（论文锚点）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2000/2000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2000/2000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对角 610 μm · constant-jerk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2000/2000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2000/2000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直线 510 μm · 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2000/2000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2000/2000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直线 510 μm · constant-jerk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2000/2000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2000/2000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01752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</a:rPr>
              <a:t>所有条件 Wilson 95% CI = [0.9981, 1.0000]；四组配对差异均为 0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（sine vs cjerk、straight vs diagonal、lensing off vs sev1.0，均不显著）。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1.6 ms 时长下模型处于深度安全区，差异需在更短时长才能分辨——与粗扫描一致。</a:t>
            </a:r>
          </a:p>
        </p:txBody>
      </p:sp>
      <p:pic>
        <p:nvPicPr>
          <p:cNvPr id="7" name="Picture 6" descr="heat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697736"/>
            <a:ext cx="4206240" cy="1542287"/>
          </a:xfrm>
          <a:prstGeom prst="rect">
            <a:avLst/>
          </a:prstGeom>
        </p:spPr>
      </p:pic>
      <p:pic>
        <p:nvPicPr>
          <p:cNvPr id="8" name="Picture 7" descr="final_energy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195267"/>
            <a:ext cx="4206240" cy="18507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右上图：retained shots 的 Δε 与末态激发分布；右下图：末态静态能量分布与 E_f=0 阈值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加热标度律：一项与任务书不一致的诚实发现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简谐、无透镜、小激发极限；干涉振荡取上包络拟合</a:t>
            </a:r>
          </a:p>
        </p:txBody>
      </p:sp>
      <p:pic>
        <p:nvPicPr>
          <p:cNvPr id="5" name="Picture 4" descr="heating_scaling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7"/>
            <a:ext cx="7315200" cy="3803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2801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实测斜率</a:t>
            </a:r>
            <a:r>
              <a:rPr sz="1300">
                <a:solidFill>
                  <a:srgbClr val="666666"/>
                </a:solidFill>
              </a:rPr>
              <a:t>　sine −6.64 / constant-jerk −6.09 / minimum-jerk −6.60；L 斜率均 +2.00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T⁻⁴ 属于 m=1 族</a:t>
            </a:r>
            <a:r>
              <a:rPr sz="1300">
                <a:solidFill>
                  <a:srgbClr val="666666"/>
                </a:solidFill>
              </a:rPr>
              <a:t>　恒加速参照轨迹（三角速度）实测 −3.74，复现 T⁻⁴/ω³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不一致如实报告</a:t>
            </a:r>
            <a:r>
              <a:rPr sz="1300">
                <a:solidFill>
                  <a:srgbClr val="666666"/>
                </a:solidFill>
              </a:rPr>
              <a:t>　四段 constant-jerk 加速度连续（m=2），自洽 T⁻⁶；与任务书 §5B 声称的 T⁻⁴ 不符，不改数据、不迎合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功-能核算与步长收敛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ΔE(t)、W_ext(t)、R_W(t) 由真实轨迹时间序列记录（非首末连线）；三分解：移动 + 焦点偏移 + 深度</a:t>
            </a:r>
          </a:p>
        </p:txBody>
      </p:sp>
      <p:pic>
        <p:nvPicPr>
          <p:cNvPr id="5" name="Picture 4" descr="work_energy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292" y="1051560"/>
            <a:ext cx="5764695" cy="2651760"/>
          </a:xfrm>
          <a:prstGeom prst="rect">
            <a:avLst/>
          </a:prstGeom>
        </p:spPr>
      </p:pic>
      <p:pic>
        <p:nvPicPr>
          <p:cNvPr id="6" name="Picture 5" descr="timestep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32504"/>
            <a:ext cx="6949440" cy="20848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18872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</a:rPr>
              <a:t>● R_W 随步长二阶收敛；0.10/0.05/0.025 μs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  配对复算末态能量差、残差、标签翻转率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  均达标（preflight 第 11/12/14 项）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● 粗扫描功-能残差 |R_W|/D &lt; 5×10⁻⁴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● 静态 100 μs 保持段峰峰值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  能量误差 &lt; 10⁻³ 阱深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● validation 与 0.025 μs 子集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  留阱标签 100% 一致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阶段 D：敏感性（one-factor-at-a-time，500 shots/点）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基准：对角 610 μm / 1.6 ms / sine / sev1.0</a:t>
            </a:r>
          </a:p>
        </p:txBody>
      </p:sp>
      <p:pic>
        <p:nvPicPr>
          <p:cNvPr id="5" name="Picture 4" descr="sensitivity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5087"/>
            <a:ext cx="11155680" cy="26248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1206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稳健区</a:t>
            </a:r>
            <a:r>
              <a:rPr sz="1200">
                <a:solidFill>
                  <a:srgbClr val="666666"/>
                </a:solidFill>
              </a:rPr>
              <a:t>　温度 3–10 μK、深度 160–920 μK、束腰 ±0.06 μm、severity 0.5–1.25 下留阱率均 1.0000（Wilson 下界 ≥0.9924）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唯一退化通道</a:t>
            </a:r>
            <a:r>
              <a:rPr sz="1200">
                <a:solidFill>
                  <a:srgbClr val="666666"/>
                </a:solidFill>
              </a:rPr>
              <a:t>　AOD 反号 (−1,+1)：留阱率 0.944 [0.920, 0.961]——两柱面焦点反向偏移使势更浅；仅作模型敏感性，不冒充论文配置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探索性 lensing 深度补偿（非论文已实现功能）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straight 510 μm / 1.6 ms / sine / sev1.0，500 shots 同初态对照；D_cmd(t) = D·clip(D/d_eff(t), 1, 上限)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67665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371600"/>
                <a:gridCol w="1554480"/>
              </a:tblGrid>
              <a:tr h="2926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模式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留阱率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retained 中位 Δε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lensing_uncompensated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15.83 μK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exploratory_lensing_compensation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17.65 μK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265176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功率需求</a:t>
            </a:r>
            <a:r>
              <a:rPr sz="1300">
                <a:solidFill>
                  <a:srgbClr val="666666"/>
                </a:solidFill>
              </a:rPr>
              <a:t>　峰值所需倍率 2.36，实际上限 2.0，饱和时间比例 25.9%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有效阱深</a:t>
            </a:r>
            <a:r>
              <a:rPr sz="1300">
                <a:solidFill>
                  <a:srgbClr val="666666"/>
                </a:solidFill>
              </a:rPr>
              <a:t>　未补偿最低 118.4 μK → 补偿后 236.8 μK（基准 280 μK）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诚实声明</a:t>
            </a:r>
            <a:r>
              <a:rPr sz="1300">
                <a:solidFill>
                  <a:srgbClr val="666666"/>
                </a:solidFill>
              </a:rPr>
              <a:t>　达到功率上限，不得声称『保持恒定阱深』——报告明确标注 not_maintained_power_cap_reached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结论</a:t>
            </a:r>
            <a:r>
              <a:rPr sz="1300">
                <a:solidFill>
                  <a:srgbClr val="666666"/>
                </a:solidFill>
              </a:rPr>
              <a:t>　该条件下补偿不改变留阱率、反而略增加热；论文式 RF 功率-位置校准留作 Level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28016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实现要点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● 补偿表在控制网格上预计算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  （321 点）并线性插值，不逐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  shot 逐步调用优化器——极值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  诊断与轨迹推进分离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● 补偿只依赖控制路径（轨迹、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  焦点偏移），与原子状态无关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● 端点倍率 = 1，运输终点与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  未补偿条件末态定义一致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● 输出 compensation.csv 与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  compensation_schedule.csv</a:t>
            </a:r>
          </a:p>
          <a:p>
            <a:pPr algn="l"/>
            <a:r>
              <a:rPr sz="1300" b="0">
                <a:solidFill>
                  <a:srgbClr val="666666"/>
                </a:solidFill>
              </a:rPr>
              <a:t>  （倍率/命令深度/有效阱深时序）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实现与质量保障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DE8F5"/>
                </a:solidFill>
              </a:rPr>
              <a:t>simulation/level2_joint_transfer/src/level3_3d_transport_lensing/，共 2619 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97280"/>
          <a:ext cx="111556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315200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模块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职责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gaussian_3d.py / aod_lensing.py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三维势、力、频率；G₁G₂ 透镜势、∂U/∂t 三分解、数值极值诊断、v_s 反解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transport_profiles.py / integrators_3d.py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三类轨迹与几何分解；向量化时变 velocity-Verlet + 功-能核算 + 静态保持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thermal_sampling_3d.py / transport_statistics.py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三维热采样；复用 Level 1 Wilson 区间与 Level 2 配对 bootstrap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depth_compensation.py / heating_scaling.py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探索性补偿调度；加热标度律检验（T⁻⁶ / T⁻⁴ 判别）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level3_simulation.py / preflight3.py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扫描-粗MC-验证-敏感性编排；16 项预检查（先跑 Level 0–2 全部测试）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level3_cli.py / level3_visualization.py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CLI 六个 stage；12 张诊断图 + 程序化验收记录（有限性/图例/坐标覆盖）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20624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测试</a:t>
            </a:r>
            <a:r>
              <a:rPr sz="1200">
                <a:solidFill>
                  <a:srgbClr val="666666"/>
                </a:solidFill>
              </a:rPr>
              <a:t>　test_level3.py 共 22 项测试函数，覆盖任务书 25 项要求：势/力/轨迹/采样/功-能/判据/种子隔离/CLI 冒烟/JSON 严格性/sources 保护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22A35"/>
                </a:solidFill>
              </a:rPr>
              <a:t>• 产物</a:t>
            </a:r>
            <a:r>
              <a:rPr sz="1200">
                <a:solidFill>
                  <a:srgbClr val="666666"/>
                </a:solidFill>
              </a:rPr>
              <a:t>　26 个文件：CSV×8、PNG×12、JSON×4、Markdown×1、YAML×1，全部程序化复检 schema 与有限值；支持事后合并视觉审阅（--apply-visual-review）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结论、边界与 Level 4 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透镜效应是直线短时长运输的
唯一经典损失通道</a:t>
            </a:r>
            <a:r>
              <a:rPr sz="1300">
                <a:solidFill>
                  <a:srgbClr val="666666"/>
                </a:solidFill>
              </a:rPr>
              <a:t>　sev≥0.75 且 T≤800 μs 时直线留阱率归零；对角因单轴速度 1/√2 + 球面阱全区间存活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论文锚点条件深度安全</a:t>
            </a:r>
            <a:r>
              <a:rPr sz="1300">
                <a:solidFill>
                  <a:srgbClr val="666666"/>
                </a:solidFill>
              </a:rPr>
              <a:t>　610 μm / 1.6 ms / 对角在全部 severity 下2000/2000 留阱，配对差异不显著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轨迹族在安全区不可分辨</a:t>
            </a:r>
            <a:r>
              <a:rPr sz="1300">
                <a:solidFill>
                  <a:srgbClr val="666666"/>
                </a:solidFill>
              </a:rPr>
              <a:t>　sine 与 constant-jerk 差异为 0；差异只在粗扫描短时长区显现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2A35"/>
                </a:solidFill>
              </a:rPr>
              <a:t>• 标度律修正</a:t>
            </a:r>
            <a:r>
              <a:rPr sz="1300">
                <a:solidFill>
                  <a:srgbClr val="666666"/>
                </a:solidFill>
              </a:rPr>
              <a:t>　实测 constant-jerk 加热 ∝ T⁻⁶（m=2 自洽），T⁻⁴ 属恒加速族——任务书 §5B 有误，已如实报告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18872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</a:rPr>
              <a:t>边界声明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● 经典留阱率 ≠ 论文 99.953(2)% 量子保真度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● severity 为无量纲场景，非论文测量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● 未含：真空损失、光子散射、退相干、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  pick-up/drop-off 组合、重复往返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365760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</a:rPr>
              <a:t>Level 4 建议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1. pick-up—长距离运输—drop-off 组合序列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   （含深度 ramp 与 SLM 关断）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2. 重复往返与损失累计/自洽存活模型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3. 量子内态退相干（XY4、强度噪声）与成像误差</a:t>
            </a:r>
          </a:p>
          <a:p>
            <a:pPr algn="l"/>
            <a:r>
              <a:rPr sz="1400" b="0">
                <a:solidFill>
                  <a:srgbClr val="222A35"/>
                </a:solidFill>
              </a:rPr>
              <a:t>4. 论文式 RF 功率-位置校准的 lensing 补偿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