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8c878eb2f264d15" /><Relationship Type="http://schemas.openxmlformats.org/officeDocument/2006/relationships/extended-properties" Target="/docProps/app.xml" Id="Re2a49c11442b4757" /><Relationship Type="http://schemas.openxmlformats.org/officeDocument/2006/relationships/officeDocument" Target="/ppt/presentation.xml" Id="Rcd873907e8e34313" /></Relationships>
</file>

<file path=ppt/presentation.xml><?xml version="1.0" encoding="utf-8"?>
<p:presentation xmlns:p="http://schemas.openxmlformats.org/presentationml/2006/main">
  <p:sldMasterIdLst>
    <p:sldMasterId xmlns:r="http://schemas.openxmlformats.org/officeDocument/2006/relationships" id="2147483648" r:id="R53c82119a0f543ee"/>
  </p:sldMasterIdLst>
  <p:notesMasterIdLst>
    <p:notesMasterId xmlns:r="http://schemas.openxmlformats.org/officeDocument/2006/relationships" r:id="R83d3a09197e341f1"/>
  </p:notesMasterIdLst>
  <p:sldIdLst>
    <p:sldId xmlns:r="http://schemas.openxmlformats.org/officeDocument/2006/relationships" id="256" r:id="R128cbe9d16054031"/>
    <p:sldId xmlns:r="http://schemas.openxmlformats.org/officeDocument/2006/relationships" id="257" r:id="Rc8a71056f8044a48"/>
    <p:sldId xmlns:r="http://schemas.openxmlformats.org/officeDocument/2006/relationships" id="258" r:id="R52fcb3eaec284864"/>
    <p:sldId xmlns:r="http://schemas.openxmlformats.org/officeDocument/2006/relationships" id="259" r:id="R3c5959eed3754a9c"/>
    <p:sldId xmlns:r="http://schemas.openxmlformats.org/officeDocument/2006/relationships" id="260" r:id="R4dfc24814e4d40af"/>
    <p:sldId xmlns:r="http://schemas.openxmlformats.org/officeDocument/2006/relationships" id="261" r:id="R466c859b225c4265"/>
    <p:sldId xmlns:r="http://schemas.openxmlformats.org/officeDocument/2006/relationships" id="262" r:id="R3935d14a86e944c8"/>
    <p:sldId xmlns:r="http://schemas.openxmlformats.org/officeDocument/2006/relationships" id="263" r:id="R85b9ccd22254439e"/>
    <p:sldId xmlns:r="http://schemas.openxmlformats.org/officeDocument/2006/relationships" id="264" r:id="R9011472f58cf4e5e"/>
    <p:sldId xmlns:r="http://schemas.openxmlformats.org/officeDocument/2006/relationships" id="265" r:id="R115d38df9f024ac6"/>
    <p:sldId xmlns:r="http://schemas.openxmlformats.org/officeDocument/2006/relationships" id="266" r:id="R059eefff725b4fc6"/>
    <p:sldId xmlns:r="http://schemas.openxmlformats.org/officeDocument/2006/relationships" id="267" r:id="R9622f574b08948e9"/>
    <p:sldId xmlns:r="http://schemas.openxmlformats.org/officeDocument/2006/relationships" id="268" r:id="R120de84b909648aa"/>
    <p:sldId xmlns:r="http://schemas.openxmlformats.org/officeDocument/2006/relationships" id="269" r:id="Race6715c8a3e4d51"/>
    <p:sldId xmlns:r="http://schemas.openxmlformats.org/officeDocument/2006/relationships" id="270" r:id="R8252222e32f74072"/>
    <p:sldId xmlns:r="http://schemas.openxmlformats.org/officeDocument/2006/relationships" id="271" r:id="R90ec5a6a9a1843c4"/>
    <p:sldId xmlns:r="http://schemas.openxmlformats.org/officeDocument/2006/relationships" id="272" r:id="R256303d08f2b41ea"/>
    <p:sldId xmlns:r="http://schemas.openxmlformats.org/officeDocument/2006/relationships" id="273" r:id="Rfe0aaec5077e48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7b7cd06d7047b1" /><Relationship Type="http://schemas.openxmlformats.org/officeDocument/2006/relationships/slideMaster" Target="/ppt/slideMasters/slideMaster1.xml" Id="R53c82119a0f543ee" /><Relationship Type="http://schemas.openxmlformats.org/officeDocument/2006/relationships/notesMaster" Target="/ppt/notesMasters/notesMaster1.xml" Id="R83d3a09197e341f1" /><Relationship Type="http://schemas.openxmlformats.org/officeDocument/2006/relationships/presProps" Target="/ppt/presProps.xml" Id="R7cd42c1c315b4ad0" /><Relationship Type="http://schemas.openxmlformats.org/officeDocument/2006/relationships/tableStyles" Target="/ppt/tableStyles.xml" Id="R9e6a59d925c94b77" /><Relationship Type="http://schemas.openxmlformats.org/officeDocument/2006/relationships/slide" Target="/ppt/slides/slide1.xml" Id="R128cbe9d16054031" /><Relationship Type="http://schemas.openxmlformats.org/officeDocument/2006/relationships/slide" Target="/ppt/slides/slide2.xml" Id="Rc8a71056f8044a48" /><Relationship Type="http://schemas.openxmlformats.org/officeDocument/2006/relationships/slide" Target="/ppt/slides/slide3.xml" Id="R52fcb3eaec284864" /><Relationship Type="http://schemas.openxmlformats.org/officeDocument/2006/relationships/slide" Target="/ppt/slides/slide4.xml" Id="R3c5959eed3754a9c" /><Relationship Type="http://schemas.openxmlformats.org/officeDocument/2006/relationships/slide" Target="/ppt/slides/slide5.xml" Id="R4dfc24814e4d40af" /><Relationship Type="http://schemas.openxmlformats.org/officeDocument/2006/relationships/slide" Target="/ppt/slides/slide6.xml" Id="R466c859b225c4265" /><Relationship Type="http://schemas.openxmlformats.org/officeDocument/2006/relationships/slide" Target="/ppt/slides/slide7.xml" Id="R3935d14a86e944c8" /><Relationship Type="http://schemas.openxmlformats.org/officeDocument/2006/relationships/slide" Target="/ppt/slides/slide8.xml" Id="R85b9ccd22254439e" /><Relationship Type="http://schemas.openxmlformats.org/officeDocument/2006/relationships/slide" Target="/ppt/slides/slide9.xml" Id="R9011472f58cf4e5e" /><Relationship Type="http://schemas.openxmlformats.org/officeDocument/2006/relationships/slide" Target="/ppt/slides/slide10.xml" Id="R115d38df9f024ac6" /><Relationship Type="http://schemas.openxmlformats.org/officeDocument/2006/relationships/slide" Target="/ppt/slides/slide11.xml" Id="R059eefff725b4fc6" /><Relationship Type="http://schemas.openxmlformats.org/officeDocument/2006/relationships/slide" Target="/ppt/slides/slide12.xml" Id="R9622f574b08948e9" /><Relationship Type="http://schemas.openxmlformats.org/officeDocument/2006/relationships/slide" Target="/ppt/slides/slide13.xml" Id="R120de84b909648aa" /><Relationship Type="http://schemas.openxmlformats.org/officeDocument/2006/relationships/slide" Target="/ppt/slides/slide14.xml" Id="Race6715c8a3e4d51" /><Relationship Type="http://schemas.openxmlformats.org/officeDocument/2006/relationships/slide" Target="/ppt/slides/slide15.xml" Id="R8252222e32f74072" /><Relationship Type="http://schemas.openxmlformats.org/officeDocument/2006/relationships/slide" Target="/ppt/slides/slide16.xml" Id="R90ec5a6a9a1843c4" /><Relationship Type="http://schemas.openxmlformats.org/officeDocument/2006/relationships/slide" Target="/ppt/slides/slide17.xml" Id="R256303d08f2b41ea" /><Relationship Type="http://schemas.openxmlformats.org/officeDocument/2006/relationships/slide" Target="/ppt/slides/slide18.xml" Id="Rfe0aaec5077e48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59d59d98cc45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eb68f2305b4a47" /><Relationship Type="http://schemas.openxmlformats.org/officeDocument/2006/relationships/notesMaster" Target="/ppt/notesMasters/notesMaster1.xml" Id="Rbf47960e6fbd4a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f0810edf554144" /><Relationship Type="http://schemas.openxmlformats.org/officeDocument/2006/relationships/notesMaster" Target="/ppt/notesMasters/notesMaster1.xml" Id="Ra66278c8983c45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537eff17d94469" /><Relationship Type="http://schemas.openxmlformats.org/officeDocument/2006/relationships/notesMaster" Target="/ppt/notesMasters/notesMaster1.xml" Id="Red8e212cc6c543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a9b22e442c4cc0" /><Relationship Type="http://schemas.openxmlformats.org/officeDocument/2006/relationships/notesMaster" Target="/ppt/notesMasters/notesMaster1.xml" Id="Ra43fee1f85ea48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d7763cb2874775" /><Relationship Type="http://schemas.openxmlformats.org/officeDocument/2006/relationships/notesMaster" Target="/ppt/notesMasters/notesMaster1.xml" Id="Rf4e19b81eb594b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67d113eab5464c" /><Relationship Type="http://schemas.openxmlformats.org/officeDocument/2006/relationships/notesMaster" Target="/ppt/notesMasters/notesMaster1.xml" Id="R6900736d032148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4e51cadc444f53" /><Relationship Type="http://schemas.openxmlformats.org/officeDocument/2006/relationships/notesMaster" Target="/ppt/notesMasters/notesMaster1.xml" Id="R617e45f4d7ff43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c303064b0441c6" /><Relationship Type="http://schemas.openxmlformats.org/officeDocument/2006/relationships/notesMaster" Target="/ppt/notesMasters/notesMaster1.xml" Id="Ra3bbb62834864e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41120f2355460b" /><Relationship Type="http://schemas.openxmlformats.org/officeDocument/2006/relationships/notesMaster" Target="/ppt/notesMasters/notesMaster1.xml" Id="Rebbf4a44363644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3d9f8f9e014fe4" /><Relationship Type="http://schemas.openxmlformats.org/officeDocument/2006/relationships/notesMaster" Target="/ppt/notesMasters/notesMaster1.xml" Id="R37f923cb412243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c2d929128e45ab" /><Relationship Type="http://schemas.openxmlformats.org/officeDocument/2006/relationships/notesMaster" Target="/ppt/notesMasters/notesMaster1.xml" Id="Rc665296f33934c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c4c5eec2594bec" /><Relationship Type="http://schemas.openxmlformats.org/officeDocument/2006/relationships/notesMaster" Target="/ppt/notesMasters/notesMaster1.xml" Id="Rdda74c70b6fe48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827cac79fe4ee5" /><Relationship Type="http://schemas.openxmlformats.org/officeDocument/2006/relationships/notesMaster" Target="/ppt/notesMasters/notesMaster1.xml" Id="Rad609c9ba1b74d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2eea96a86c44aa" /><Relationship Type="http://schemas.openxmlformats.org/officeDocument/2006/relationships/notesMaster" Target="/ppt/notesMasters/notesMaster1.xml" Id="Rf331b8f94d2d47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aaef9be96349c8" /><Relationship Type="http://schemas.openxmlformats.org/officeDocument/2006/relationships/notesMaster" Target="/ppt/notesMasters/notesMaster1.xml" Id="R86a89449cfbb42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51dd69fc0842c0" /><Relationship Type="http://schemas.openxmlformats.org/officeDocument/2006/relationships/notesMaster" Target="/ppt/notesMasters/notesMaster1.xml" Id="Rb74c3968e43147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0a39c96ded4819" /><Relationship Type="http://schemas.openxmlformats.org/officeDocument/2006/relationships/notesMaster" Target="/ppt/notesMasters/notesMaster1.xml" Id="R3db59c9f1e6e49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7ab730c9ef43b0" /><Relationship Type="http://schemas.openxmlformats.org/officeDocument/2006/relationships/notesMaster" Target="/ppt/notesMasters/notesMaster1.xml" Id="Rd8480338ede84b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git branch gpt_level4_5, commit 5e55bb0dcc4d9c1be07c6d39d9e8d74d45bca9f8</a:t>
            </a:r>
          </a:p>
          <a:p xmlns:a="http://schemas.openxmlformats.org/drawingml/2006/main">
            <a:r>
              <a:t>- simulation/level2_joint_transfer/README.md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simulation/level2_joint_transfer/README.md, Level 2C section</a:t>
            </a:r>
          </a:p>
          <a:p xmlns:a="http://schemas.openxmlformats.org/drawingml/2006/main">
            <a:r>
              <a:t>- simulation/level2_joint_transfer/reference/fig6d_parameters.md</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The report distinguishes repository computations already present from comparison metrics recomputed for presentation. No Monte Carlo parameter was refit during deck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simulation/level2_joint_transfer/reference/fig6d_survival_digitized.csv</a:t>
            </a:r>
          </a:p>
          <a:p xmlns:a="http://schemas.openxmlformats.org/drawingml/2006/main">
            <a:r>
              <a:t>- simulation/level2_joint_transfer/reference/fig6d_digitize_check.png</a:t>
            </a:r>
          </a:p>
          <a:p xmlns:a="http://schemas.openxmlformats.org/drawingml/2006/main">
            <a:r>
              <a:t>- simulation/level2_joint_transfer/tools/digitize_fig6d.py</a:t>
            </a:r>
          </a:p>
          <a:p xmlns:a="http://schemas.openxmlformats.org/drawingml/2006/main">
            <a:r>
              <a:t/>
            </a:r>
          </a:p>
          <a:p xmlns:a="http://schemas.openxmlformats.org/drawingml/2006/main">
            <a:r>
              <a:t>Method note: Paper display curves use monotone linear interpolation through stable anchors. The source CSV remains unchanged. Manual 200 µs ends at n=31 because the plotted curve leaves the visible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simulation/level2_joint_transfer/src/level0_static_trap/potentials.py</a:t>
            </a:r>
          </a:p>
          <a:p xmlns:a="http://schemas.openxmlformats.org/drawingml/2006/main">
            <a:r>
              <a:t>- simulation/level2_joint_transfer/src/level2c_pickup_survival/survival_engine.py</a:t>
            </a:r>
          </a:p>
          <a:p xmlns:a="http://schemas.openxmlformats.org/drawingml/2006/main">
            <a:r>
              <a:t/>
            </a:r>
          </a:p>
          <a:p xmlns:a="http://schemas.openxmlformats.org/drawingml/2006/main">
            <a:r>
              <a:t>Method note: AOD waist 1.17 µm is an assumed match to the SLM back-aperture value. The Level 2C main comparison uses one spatial dimension.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simulation/level2_joint_transfer/configs/level2c_pickup_survival.yaml</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a:r>
          </a:p>
          <a:p xmlns:a="http://schemas.openxmlformats.org/drawingml/2006/main">
            <a:r>
              <a:t>Method note: The config field shot_jitter_alignment_sigma_um is described as per-transfer, but survival_engine.py redraws it once for each pickup, wait, and drop-off leg. RIN is deterministic mean-rate heating rather than a random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simulation/level2_joint_transfer/src/level2_joint_transfer/waveforms.py</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a:r>
          </a:p>
          <a:p xmlns:a="http://schemas.openxmlformats.org/drawingml/2006/main">
            <a:r>
              <a:t>Method note: Charts show the 400 µs manual waveform. The 200 and 600 µs cases use the same normalized shape with different time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simulation/level2_joint_transfer/src/level2_joint_transfer/work_energy.py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simulation/level2_joint_transfer/src/level2c_pickup_survival/survival_engine.py</a:t>
            </a:r>
          </a:p>
          <a:p xmlns:a="http://schemas.openxmlformats.org/drawingml/2006/main">
            <a:r>
              <a:t>- simulation/level2_joint_transfer/src/level2_joint_transfer/statistics.py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Baseline values are raw 256-shot full-variant counts: Manual 400 S(60)=0.9296875 and Manual 600 S(60)=0.9921875.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simulation/level2_joint_transfer/configs/scan_stage1/</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All scan values are sensitivity assumptions. They were not fit on the validation pool and do not constitute measured apparatus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simulation/level2_joint_transfer/outputs/level2c_pickup_survival/scan_stage1/*/survival_scan_results.csv</a:t>
            </a:r>
          </a:p>
          <a:p xmlns:a="http://schemas.openxmlformats.org/drawingml/2006/main">
            <a:r>
              <a:t/>
            </a:r>
          </a:p>
          <a:p xmlns:a="http://schemas.openxmlformats.org/drawingml/2006/main">
            <a:r>
              <a:t>Method note: All displayed scan values are raw n=60 full-variant results from the 256-shot common-random-number pool.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simulation/level2_joint_transfer/tools/digitize_fig6d.py</a:t>
            </a:r>
          </a:p>
          <a:p xmlns:a="http://schemas.openxmlformats.org/drawingml/2006/main">
            <a:r>
              <a:t/>
            </a:r>
          </a:p>
          <a:p xmlns:a="http://schemas.openxmlformats.org/drawingml/2006/main">
            <a:r>
              <a:t>Method note: MC lines use the raw 512-shot validation arrays. Paper lines use linear interpolation through stable digitization anchors at n=5, 8, 12, 16, 20, 30, 40, 50 and 60; the 200 µs series ends at n=31. This presentation-only reconstruction removes rasterized diamond-marker edge artifacts while preserving the source CSV and quoted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simulation/level2_joint_transfer/outputs/level2c_pickup_survival/scan_stage1/fig6c_ml_trajectory_digitized.json</a:t>
            </a:r>
          </a:p>
          <a:p xmlns:a="http://schemas.openxmlformats.org/drawingml/2006/main">
            <a:r>
              <a:t>- simulation/level2_joint_transfer/src/level2_joint_transfer/waveforms.py</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Manual curves are evaluated at the same nodes. The digitized curve is not the raw AWG command waveform; interpolation boundary conditions and hardware response remain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MC T40 values are raw 256-shot scan-pool endpoints: manual 0.52734375 and Fig. 6c replay 0.7578125. Paper endpoints are 0.4135 and 0.6633. Equivalent per-transfer loss is 1-S(60)^(1/60).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 section 6.1</a:t>
            </a:r>
          </a:p>
          <a:p xmlns:a="http://schemas.openxmlformats.org/drawingml/2006/main">
            <a:r>
              <a:t>- simulation/level2_joint_transfer/outputs/level2c_pickup_survival/scan_stage1/ablation_cross_2x2.py</a:t>
            </a:r>
          </a:p>
          <a:p xmlns:a="http://schemas.openxmlformats.org/drawingml/2006/main">
            <a:r>
              <a:t/>
            </a:r>
          </a:p>
          <a:p xmlns:a="http://schemas.openxmlformats.org/drawingml/2006/main">
            <a:r>
              <a:t>Method note: The repository commits the reproducible script and the reported values in summary_stage1.md, but no separate raw JSON/CSV for this cross-ablation. These numbers are therefore kept distinct from raw-output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Manual curve-error metrics are recomputed against the same monotone paper reconstruction used on slides 12 and 17. Endpoints are unchanged. The ML endpoint row uses the raw T40 scan-pool value 0.7578125. The later 512-shot summary contains inconsistent 0.8047 and 0.822 values without a committed full curve, so neither is used as the main quantitative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Deviations are recomputed from raw MC values against the monotone paper reconstruction used on slide 12. This slide does not use the ML curve because the current Fig. 6c replay full curve was not committed. Vacuum lifetime and apparatus loss channels are absent from the current Level 2C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a:t>
            </a:r>
          </a:p>
          <a:p xmlns:a="http://schemas.openxmlformats.org/drawingml/2006/main">
            <a:r>
              <a:t>- simulation/level2_joint_transfer/outputs/level2c_pickup_survival/scan_stage1/paper_ml_eval.json</a:t>
            </a:r>
          </a:p>
          <a:p xmlns:a="http://schemas.openxmlformats.org/drawingml/2006/main">
            <a:r>
              <a:t>- simulation/level2_joint_transfer/outputs/level2c_pickup_survival/scan_stage1/T40/comparison_to_paper.json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bfaaa51cc943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d395bd422a409e" /><Relationship Type="http://schemas.openxmlformats.org/officeDocument/2006/relationships/slideLayout" Target="/ppt/slideLayouts/slideLayout1.xml" Id="Rce16cc445da043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16cc445da043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c4b863cd0a4a44" /><Relationship Type="http://schemas.openxmlformats.org/officeDocument/2006/relationships/notesSlide" Target="/ppt/notesSlides/notesSlide1.xml" Id="Rf07bd29556f548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8cb048924b485a" /><Relationship Type="http://schemas.openxmlformats.org/officeDocument/2006/relationships/notesSlide" Target="/ppt/notesSlides/notesSlide2.xml" Id="R1d170486053745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834f7b7c97402b" /><Relationship Type="http://schemas.openxmlformats.org/officeDocument/2006/relationships/image" Target="/ppt/media/image.png" Id="R788a3432a8cb48be" /><Relationship Type="http://schemas.openxmlformats.org/officeDocument/2006/relationships/notesSlide" Target="/ppt/notesSlides/notesSlide3.xml" Id="R523559087bc34b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5750aabb4f4895" /><Relationship Type="http://schemas.openxmlformats.org/officeDocument/2006/relationships/notesSlide" Target="/ppt/notesSlides/notesSlide4.xml" Id="R8e03d759809548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b4eb247d794e95" /><Relationship Type="http://schemas.openxmlformats.org/officeDocument/2006/relationships/notesSlide" Target="/ppt/notesSlides/notesSlide5.xml" Id="R94f8cfae08b145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6cdb6724a64b2b" /><Relationship Type="http://schemas.openxmlformats.org/officeDocument/2006/relationships/chart" Target="/ppt/slides/charts/chart1.xml" Id="Rf8d6f27b14aa4fbd" /><Relationship Type="http://schemas.openxmlformats.org/officeDocument/2006/relationships/chart" Target="/ppt/slides/charts/chart2.xml" Id="R1a8196f628154bcc" /><Relationship Type="http://schemas.openxmlformats.org/officeDocument/2006/relationships/notesSlide" Target="/ppt/notesSlides/notesSlide6.xml" Id="Rb47145a284784c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23bad261604a3b" /><Relationship Type="http://schemas.openxmlformats.org/officeDocument/2006/relationships/notesSlide" Target="/ppt/notesSlides/notesSlide7.xml" Id="Rf2602d5ad48840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2cc78f8d3e4510" /><Relationship Type="http://schemas.openxmlformats.org/officeDocument/2006/relationships/chart" Target="/ppt/slides/charts/chart3.xml" Id="R66eba876e9e141b2" /><Relationship Type="http://schemas.openxmlformats.org/officeDocument/2006/relationships/notesSlide" Target="/ppt/notesSlides/notesSlide8.xml" Id="Raaa15378de0341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4ae894daea4f2a" /><Relationship Type="http://schemas.openxmlformats.org/officeDocument/2006/relationships/chart" Target="/ppt/slides/charts/chart4.xml" Id="R07bebee8f01e4e87" /><Relationship Type="http://schemas.openxmlformats.org/officeDocument/2006/relationships/notesSlide" Target="/ppt/notesSlides/notesSlide9.xml" Id="R9421365694474d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e53fb6dac134fd3" /><Relationship Type="http://schemas.openxmlformats.org/officeDocument/2006/relationships/notesSlide" Target="/ppt/notesSlides/notesSlide10.xml" Id="R8cc4d9e031eb4b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f5435cf90a4d0a" /><Relationship Type="http://schemas.openxmlformats.org/officeDocument/2006/relationships/chart" Target="/ppt/slides/charts/chart5.xml" Id="Rf59232e9591d49c7" /><Relationship Type="http://schemas.openxmlformats.org/officeDocument/2006/relationships/chart" Target="/ppt/slides/charts/chart6.xml" Id="R4cf9e754470b46b7" /><Relationship Type="http://schemas.openxmlformats.org/officeDocument/2006/relationships/notesSlide" Target="/ppt/notesSlides/notesSlide11.xml" Id="R6297158e5f2c42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c22b68de284fec" /><Relationship Type="http://schemas.openxmlformats.org/officeDocument/2006/relationships/chart" Target="/ppt/slides/charts/chart7.xml" Id="R83ca10ba89a24222" /><Relationship Type="http://schemas.openxmlformats.org/officeDocument/2006/relationships/chart" Target="/ppt/slides/charts/chart8.xml" Id="Rf73c096143a3453c" /><Relationship Type="http://schemas.openxmlformats.org/officeDocument/2006/relationships/notesSlide" Target="/ppt/notesSlides/notesSlide12.xml" Id="Ree5195c5bf024c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dd3a0219b5486e" /><Relationship Type="http://schemas.openxmlformats.org/officeDocument/2006/relationships/chart" Target="/ppt/slides/charts/chart9.xml" Id="Re3e3b10d08624ff9" /><Relationship Type="http://schemas.openxmlformats.org/officeDocument/2006/relationships/chart" Target="/ppt/slides/charts/chart10.xml" Id="Rd51dc1ff7b824313" /><Relationship Type="http://schemas.openxmlformats.org/officeDocument/2006/relationships/notesSlide" Target="/ppt/notesSlides/notesSlide13.xml" Id="R4527fd8a6df645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5f840b4ef341e9" /><Relationship Type="http://schemas.openxmlformats.org/officeDocument/2006/relationships/chart" Target="/ppt/slides/charts/chart11.xml" Id="R53bd9dd386974a5a" /><Relationship Type="http://schemas.openxmlformats.org/officeDocument/2006/relationships/notesSlide" Target="/ppt/notesSlides/notesSlide14.xml" Id="R768089fb19f044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74cf5584574b91" /><Relationship Type="http://schemas.openxmlformats.org/officeDocument/2006/relationships/chart" Target="/ppt/slides/charts/chart12.xml" Id="R38ab8a6d134c4c06" /><Relationship Type="http://schemas.openxmlformats.org/officeDocument/2006/relationships/notesSlide" Target="/ppt/notesSlides/notesSlide15.xml" Id="R8b38357693ae4e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7d41fba01d48da" /><Relationship Type="http://schemas.openxmlformats.org/officeDocument/2006/relationships/notesSlide" Target="/ppt/notesSlides/notesSlide16.xml" Id="R602ce4eb6a13440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1879280ddc0496d" /><Relationship Type="http://schemas.openxmlformats.org/officeDocument/2006/relationships/chart" Target="/ppt/slides/charts/chart13.xml" Id="R2850c1ee08ac45ec" /><Relationship Type="http://schemas.openxmlformats.org/officeDocument/2006/relationships/chart" Target="/ppt/slides/charts/chart14.xml" Id="Redad45e77df34778" /><Relationship Type="http://schemas.openxmlformats.org/officeDocument/2006/relationships/notesSlide" Target="/ppt/notesSlides/notesSlide17.xml" Id="Rad118abae2254da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645fe8d2d8f4e8c" /><Relationship Type="http://schemas.openxmlformats.org/officeDocument/2006/relationships/notesSlide" Target="/ppt/notesSlides/notesSlide18.xml" Id="Refdf60ca09fd475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1570EF"/>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center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0E9384"/>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Baseline manual 400</c:v>
          </c:tx>
          <c:spPr>
            <a:ln xmlns:a="http://schemas.openxmlformats.org/drawingml/2006/main" w="28575">
              <a:solidFill>
                <a:srgbClr val="1570EF"/>
              </a:solidFill>
            </a:ln>
          </c:spPr>
          <c:marker>
            <c:symbol val="none"/>
          </c:marker>
          <c:cat>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Data'!$B$2:$B$62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0.99609375</c:v>
                </c:pt>
                <c:pt idx="14">
                  <c:v>0.99609375</c:v>
                </c:pt>
                <c:pt idx="15">
                  <c:v>0.99609375</c:v>
                </c:pt>
                <c:pt idx="16">
                  <c:v>0.99609375</c:v>
                </c:pt>
                <c:pt idx="17">
                  <c:v>0.99609375</c:v>
                </c:pt>
                <c:pt idx="18">
                  <c:v>0.99609375</c:v>
                </c:pt>
                <c:pt idx="19">
                  <c:v>0.9921875</c:v>
                </c:pt>
                <c:pt idx="20">
                  <c:v>0.9921875</c:v>
                </c:pt>
                <c:pt idx="21">
                  <c:v>0.984375</c:v>
                </c:pt>
                <c:pt idx="22">
                  <c:v>0.984375</c:v>
                </c:pt>
                <c:pt idx="23">
                  <c:v>0.984375</c:v>
                </c:pt>
                <c:pt idx="24">
                  <c:v>0.984375</c:v>
                </c:pt>
                <c:pt idx="25">
                  <c:v>0.984375</c:v>
                </c:pt>
                <c:pt idx="26">
                  <c:v>0.984375</c:v>
                </c:pt>
                <c:pt idx="27">
                  <c:v>0.9765625</c:v>
                </c:pt>
                <c:pt idx="28">
                  <c:v>0.9765625</c:v>
                </c:pt>
                <c:pt idx="29">
                  <c:v>0.96875</c:v>
                </c:pt>
                <c:pt idx="30">
                  <c:v>0.96875</c:v>
                </c:pt>
                <c:pt idx="31">
                  <c:v>0.96484375</c:v>
                </c:pt>
                <c:pt idx="32">
                  <c:v>0.96484375</c:v>
                </c:pt>
                <c:pt idx="33">
                  <c:v>0.9609375</c:v>
                </c:pt>
                <c:pt idx="34">
                  <c:v>0.9609375</c:v>
                </c:pt>
                <c:pt idx="35">
                  <c:v>0.95703125</c:v>
                </c:pt>
                <c:pt idx="36">
                  <c:v>0.95703125</c:v>
                </c:pt>
                <c:pt idx="37">
                  <c:v>0.94921875</c:v>
                </c:pt>
                <c:pt idx="38">
                  <c:v>0.94921875</c:v>
                </c:pt>
                <c:pt idx="39">
                  <c:v>0.9453125</c:v>
                </c:pt>
                <c:pt idx="40">
                  <c:v>0.9453125</c:v>
                </c:pt>
                <c:pt idx="41">
                  <c:v>0.9453125</c:v>
                </c:pt>
                <c:pt idx="42">
                  <c:v>0.9453125</c:v>
                </c:pt>
                <c:pt idx="43">
                  <c:v>0.9453125</c:v>
                </c:pt>
                <c:pt idx="44">
                  <c:v>0.94140625</c:v>
                </c:pt>
                <c:pt idx="45">
                  <c:v>0.94140625</c:v>
                </c:pt>
                <c:pt idx="46">
                  <c:v>0.94140625</c:v>
                </c:pt>
                <c:pt idx="47">
                  <c:v>0.94140625</c:v>
                </c:pt>
                <c:pt idx="48">
                  <c:v>0.94140625</c:v>
                </c:pt>
                <c:pt idx="49">
                  <c:v>0.94140625</c:v>
                </c:pt>
                <c:pt idx="50">
                  <c:v>0.94140625</c:v>
                </c:pt>
                <c:pt idx="51">
                  <c:v>0.94140625</c:v>
                </c:pt>
                <c:pt idx="52">
                  <c:v>0.94140625</c:v>
                </c:pt>
                <c:pt idx="53">
                  <c:v>0.94140625</c:v>
                </c:pt>
                <c:pt idx="54">
                  <c:v>0.94140625</c:v>
                </c:pt>
                <c:pt idx="55">
                  <c:v>0.9375</c:v>
                </c:pt>
                <c:pt idx="56">
                  <c:v>0.9375</c:v>
                </c:pt>
                <c:pt idx="57">
                  <c:v>0.93359375</c:v>
                </c:pt>
                <c:pt idx="58">
                  <c:v>0.93359375</c:v>
                </c:pt>
                <c:pt idx="59">
                  <c:v>0.9296875</c:v>
                </c:pt>
                <c:pt idx="60">
                  <c:v>0.9296875</c:v>
                </c:pt>
              </c:numCache>
            </c:numRef>
          </c:val>
        </c:ser>
        <c:ser>
          <c:idx val="1"/>
          <c:order val="1"/>
          <c:tx>
            <c:v>Baseline manual 600</c:v>
          </c:tx>
          <c:spPr>
            <a:ln xmlns:a="http://schemas.openxmlformats.org/drawingml/2006/main" w="28575">
              <a:solidFill>
                <a:srgbClr val="0E9384"/>
              </a:solidFill>
            </a:ln>
          </c:spPr>
          <c:marker>
            <c:symbol val="none"/>
          </c:marker>
          <c:cat>
            <c:numRef>
              <c:f>'Chart Data'!$C$2:$C$62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Data'!$D$2:$D$62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0.99609375</c:v>
                </c:pt>
                <c:pt idx="52">
                  <c:v>0.99609375</c:v>
                </c:pt>
                <c:pt idx="53">
                  <c:v>0.9921875</c:v>
                </c:pt>
                <c:pt idx="54">
                  <c:v>0.9921875</c:v>
                </c:pt>
                <c:pt idx="55">
                  <c:v>0.9921875</c:v>
                </c:pt>
                <c:pt idx="56">
                  <c:v>0.9921875</c:v>
                </c:pt>
                <c:pt idx="57">
                  <c:v>0.9921875</c:v>
                </c:pt>
                <c:pt idx="58">
                  <c:v>0.9921875</c:v>
                </c:pt>
                <c:pt idx="59">
                  <c:v>0.9921875</c:v>
                </c:pt>
                <c:pt idx="60">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One-way transfers 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8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c:v>
          </c:tx>
          <c:spPr>
            <a:solidFill xmlns:a="http://schemas.openxmlformats.org/drawingml/2006/main">
              <a:srgbClr val="98A2B3"/>
            </a:solidFill>
          </c:spPr>
          <c:cat>
            <c:strRef>
              <c:f>'Chart Data'!$A$2:$A$4</c:f>
              <c:strCache>
                <c:ptCount val="3"/>
                <c:pt idx="0">
                  <c:v>Manual 200
S(31)</c:v>
                </c:pt>
                <c:pt idx="1">
                  <c:v>Manual 400
S(60)</c:v>
                </c:pt>
                <c:pt idx="2">
                  <c:v>Manual 600
S(60)</c:v>
                </c:pt>
              </c:strCache>
            </c:strRef>
          </c:cat>
          <c:val>
            <c:numRef>
              <c:f>'Chart Data'!$B$2:$B$4</c:f>
              <c:numCache>
                <c:formatCode>0.0%</c:formatCode>
                <c:ptCount val="3"/>
                <c:pt idx="0">
                  <c:v>0.3344</c:v>
                </c:pt>
                <c:pt idx="1">
                  <c:v>0.4135</c:v>
                </c:pt>
                <c:pt idx="2">
                  <c:v>0.5726</c:v>
                </c:pt>
              </c:numCache>
            </c:numRef>
          </c:val>
        </c:ser>
        <c:ser>
          <c:idx val="1"/>
          <c:order val="1"/>
          <c:tx>
            <c:v>Baseline</c:v>
          </c:tx>
          <c:spPr>
            <a:solidFill xmlns:a="http://schemas.openxmlformats.org/drawingml/2006/main">
              <a:srgbClr val="1570EF"/>
            </a:solidFill>
          </c:spPr>
          <c:cat>
            <c:strRef>
              <c:f>'Chart Data'!$C$2:$C$4</c:f>
              <c:strCache>
                <c:ptCount val="3"/>
                <c:pt idx="0">
                  <c:v>Manual 200
S(31)</c:v>
                </c:pt>
                <c:pt idx="1">
                  <c:v>Manual 400
S(60)</c:v>
                </c:pt>
                <c:pt idx="2">
                  <c:v>Manual 600
S(60)</c:v>
                </c:pt>
              </c:strCache>
            </c:strRef>
          </c:cat>
          <c:val>
            <c:numRef>
              <c:f>'Chart Data'!$D$2:$D$4</c:f>
              <c:numCache>
                <c:formatCode>0.0%</c:formatCode>
                <c:ptCount val="3"/>
                <c:pt idx="0">
                  <c:v>0.484375</c:v>
                </c:pt>
                <c:pt idx="1">
                  <c:v>0.9296875</c:v>
                </c:pt>
                <c:pt idx="2">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0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Manual 400</c:v>
          </c:tx>
          <c:spPr>
            <a:ln xmlns:a="http://schemas.openxmlformats.org/drawingml/2006/main" w="28575">
              <a:solidFill>
                <a:srgbClr val="1570EF"/>
              </a:solidFill>
            </a:ln>
          </c:spPr>
          <c:marker>
            <c:symbol val="circle"/>
            <c:size val="6"/>
            <c:spPr>
              <a:solidFill xmlns:a="http://schemas.openxmlformats.org/drawingml/2006/main">
                <a:srgbClr val="1570EF"/>
              </a:solidFill>
            </c:spPr>
          </c:marker>
          <c:cat>
            <c:numRef>
              <c:f>'Chart Data'!$A$2:$A$6</c:f>
              <c:numCache>
                <c:formatCode>General</c:formatCode>
                <c:ptCount val="5"/>
                <c:pt idx="0">
                  <c:v>5</c:v>
                </c:pt>
                <c:pt idx="1">
                  <c:v>10</c:v>
                </c:pt>
                <c:pt idx="2">
                  <c:v>20</c:v>
                </c:pt>
                <c:pt idx="3">
                  <c:v>30</c:v>
                </c:pt>
                <c:pt idx="4">
                  <c:v>40</c:v>
                </c:pt>
              </c:numCache>
            </c:numRef>
          </c:cat>
          <c:val>
            <c:numRef>
              <c:f>'Chart Data'!$B$2:$B$6</c:f>
              <c:numCache>
                <c:formatCode>0%</c:formatCode>
                <c:ptCount val="5"/>
                <c:pt idx="0">
                  <c:v>0.9296875</c:v>
                </c:pt>
                <c:pt idx="1">
                  <c:v>0.9140625</c:v>
                </c:pt>
                <c:pt idx="2">
                  <c:v>0.7578125</c:v>
                </c:pt>
                <c:pt idx="3">
                  <c:v>0.609375</c:v>
                </c:pt>
                <c:pt idx="4">
                  <c:v>0.52734375</c:v>
                </c:pt>
              </c:numCache>
            </c:numRef>
          </c:val>
        </c:ser>
        <c:ser>
          <c:idx val="1"/>
          <c:order val="1"/>
          <c:tx>
            <c:v>Manual 600</c:v>
          </c:tx>
          <c:spPr>
            <a:ln xmlns:a="http://schemas.openxmlformats.org/drawingml/2006/main" w="28575">
              <a:solidFill>
                <a:srgbClr val="0E9384"/>
              </a:solidFill>
            </a:ln>
          </c:spPr>
          <c:marker>
            <c:symbol val="circle"/>
            <c:size val="6"/>
            <c:spPr>
              <a:solidFill xmlns:a="http://schemas.openxmlformats.org/drawingml/2006/main">
                <a:srgbClr val="0E9384"/>
              </a:solidFill>
            </c:spPr>
          </c:marker>
          <c:cat>
            <c:numRef>
              <c:f>'Chart Data'!$C$2:$C$6</c:f>
              <c:numCache>
                <c:formatCode>General</c:formatCode>
                <c:ptCount val="5"/>
                <c:pt idx="0">
                  <c:v>5</c:v>
                </c:pt>
                <c:pt idx="1">
                  <c:v>10</c:v>
                </c:pt>
                <c:pt idx="2">
                  <c:v>20</c:v>
                </c:pt>
                <c:pt idx="3">
                  <c:v>30</c:v>
                </c:pt>
                <c:pt idx="4">
                  <c:v>40</c:v>
                </c:pt>
              </c:numCache>
            </c:numRef>
          </c:cat>
          <c:val>
            <c:numRef>
              <c:f>'Chart Data'!$D$2:$D$6</c:f>
              <c:numCache>
                <c:formatCode>0%</c:formatCode>
                <c:ptCount val="5"/>
                <c:pt idx="0">
                  <c:v>0.9921875</c:v>
                </c:pt>
                <c:pt idx="1">
                  <c:v>0.98828125</c:v>
                </c:pt>
                <c:pt idx="2">
                  <c:v>0.91796875</c:v>
                </c:pt>
                <c:pt idx="3">
                  <c:v>0.79296875</c:v>
                </c:pt>
                <c:pt idx="4">
                  <c:v>0.6796875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Initial temperature (µK)</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c:v>
          </c:tx>
          <c:spPr>
            <a:solidFill xmlns:a="http://schemas.openxmlformats.org/drawingml/2006/main">
              <a:srgbClr val="1570EF"/>
            </a:solidFill>
          </c:spPr>
          <c:cat>
            <c:strRef>
              <c:f>'Chart Data'!$A$2:$A$6</c:f>
              <c:strCache>
                <c:ptCount val="5"/>
                <c:pt idx="0">
                  <c:v>Baseline</c:v>
                </c:pt>
                <c:pt idx="1">
                  <c:v>R3e−7</c:v>
                </c:pt>
                <c:pt idx="2">
                  <c:v>A0.15</c:v>
                </c:pt>
                <c:pt idx="3">
                  <c:v>A0.30</c:v>
                </c:pt>
                <c:pt idx="4">
                  <c:v>J0.10</c:v>
                </c:pt>
              </c:strCache>
            </c:strRef>
          </c:cat>
          <c:val>
            <c:numRef>
              <c:f>'Chart Data'!$B$2:$B$6</c:f>
              <c:numCache>
                <c:formatCode>0%</c:formatCode>
                <c:ptCount val="5"/>
                <c:pt idx="0">
                  <c:v>0.9296875</c:v>
                </c:pt>
                <c:pt idx="1">
                  <c:v>0.359375</c:v>
                </c:pt>
                <c:pt idx="2">
                  <c:v>0.93359375</c:v>
                </c:pt>
                <c:pt idx="3">
                  <c:v>0.921875</c:v>
                </c:pt>
                <c:pt idx="4">
                  <c:v>0.09375</c:v>
                </c:pt>
              </c:numCache>
            </c:numRef>
          </c:val>
        </c:ser>
        <c:ser>
          <c:idx val="1"/>
          <c:order val="1"/>
          <c:tx>
            <c:v>Manual 600</c:v>
          </c:tx>
          <c:spPr>
            <a:solidFill xmlns:a="http://schemas.openxmlformats.org/drawingml/2006/main">
              <a:srgbClr val="0E9384"/>
            </a:solidFill>
          </c:spPr>
          <c:cat>
            <c:strRef>
              <c:f>'Chart Data'!$C$2:$C$6</c:f>
              <c:strCache>
                <c:ptCount val="5"/>
                <c:pt idx="0">
                  <c:v>Baseline</c:v>
                </c:pt>
                <c:pt idx="1">
                  <c:v>R3e−7</c:v>
                </c:pt>
                <c:pt idx="2">
                  <c:v>A0.15</c:v>
                </c:pt>
                <c:pt idx="3">
                  <c:v>A0.30</c:v>
                </c:pt>
                <c:pt idx="4">
                  <c:v>J0.10</c:v>
                </c:pt>
              </c:strCache>
            </c:strRef>
          </c:cat>
          <c:val>
            <c:numRef>
              <c:f>'Chart Data'!$D$2:$D$6</c:f>
              <c:numCache>
                <c:formatCode>0%</c:formatCode>
                <c:ptCount val="5"/>
                <c:pt idx="0">
                  <c:v>0.9921875</c:v>
                </c:pt>
                <c:pt idx="1">
                  <c:v>0.43359375</c:v>
                </c:pt>
                <c:pt idx="2">
                  <c:v>0.99609375</c:v>
                </c:pt>
                <c:pt idx="3">
                  <c:v>0.99609375</c:v>
                </c:pt>
                <c:pt idx="4">
                  <c:v>0.10546875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Paper 200 µs</c:v>
          </c:tx>
          <c:spPr>
            <a:ln xmlns:a="http://schemas.openxmlformats.org/drawingml/2006/main" w="28575">
              <a:solidFill>
                <a:srgbClr val="475467"/>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0.925</c:v>
                </c:pt>
                <c:pt idx="1">
                  <c:v>0.8994</c:v>
                </c:pt>
                <c:pt idx="2">
                  <c:v>0.8738</c:v>
                </c:pt>
                <c:pt idx="3">
                  <c:v>0.8482</c:v>
                </c:pt>
                <c:pt idx="4">
                  <c:v>0.815275</c:v>
                </c:pt>
                <c:pt idx="5">
                  <c:v>0.78235</c:v>
                </c:pt>
                <c:pt idx="6">
                  <c:v>0.749425</c:v>
                </c:pt>
                <c:pt idx="7">
                  <c:v>0.7165</c:v>
                </c:pt>
                <c:pt idx="8">
                  <c:v>0.691825</c:v>
                </c:pt>
                <c:pt idx="9">
                  <c:v>0.66715</c:v>
                </c:pt>
                <c:pt idx="10">
                  <c:v>0.642475</c:v>
                </c:pt>
                <c:pt idx="11">
                  <c:v>0.6178</c:v>
                </c:pt>
                <c:pt idx="12">
                  <c:v>0.594375</c:v>
                </c:pt>
                <c:pt idx="13">
                  <c:v>0.57095</c:v>
                </c:pt>
                <c:pt idx="14">
                  <c:v>0.547525</c:v>
                </c:pt>
                <c:pt idx="15">
                  <c:v>0.5241</c:v>
                </c:pt>
                <c:pt idx="16">
                  <c:v>0.50578</c:v>
                </c:pt>
                <c:pt idx="17">
                  <c:v>0.48746</c:v>
                </c:pt>
                <c:pt idx="18">
                  <c:v>0.46914</c:v>
                </c:pt>
                <c:pt idx="19">
                  <c:v>0.45082</c:v>
                </c:pt>
                <c:pt idx="20">
                  <c:v>0.4325</c:v>
                </c:pt>
                <c:pt idx="21">
                  <c:v>0.41418</c:v>
                </c:pt>
                <c:pt idx="22">
                  <c:v>0.39586</c:v>
                </c:pt>
                <c:pt idx="23">
                  <c:v>0.37754</c:v>
                </c:pt>
                <c:pt idx="24">
                  <c:v>0.35922</c:v>
                </c:pt>
                <c:pt idx="25">
                  <c:v>0.3409</c:v>
                </c:pt>
                <c:pt idx="26">
                  <c:v>0.3344</c:v>
                </c:pt>
              </c:numCache>
            </c:numRef>
          </c:val>
        </c:ser>
        <c:ser>
          <c:idx val="1"/>
          <c:order val="1"/>
          <c:tx>
            <c:v>MC T40 200 µs</c:v>
          </c:tx>
          <c:spPr>
            <a:ln xmlns:a="http://schemas.openxmlformats.org/drawingml/2006/main" w="28575">
              <a:solidFill>
                <a:srgbClr val="D92D20"/>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0.79296875</c:v>
                </c:pt>
                <c:pt idx="1">
                  <c:v>0.7578125</c:v>
                </c:pt>
                <c:pt idx="2">
                  <c:v>0.720703125</c:v>
                </c:pt>
                <c:pt idx="3">
                  <c:v>0.693359375</c:v>
                </c:pt>
                <c:pt idx="4">
                  <c:v>0.6484375</c:v>
                </c:pt>
                <c:pt idx="5">
                  <c:v>0.62109375</c:v>
                </c:pt>
                <c:pt idx="6">
                  <c:v>0.576171875</c:v>
                </c:pt>
                <c:pt idx="7">
                  <c:v>0.548828125</c:v>
                </c:pt>
                <c:pt idx="8">
                  <c:v>0.521484375</c:v>
                </c:pt>
                <c:pt idx="9">
                  <c:v>0.494140625</c:v>
                </c:pt>
                <c:pt idx="10">
                  <c:v>0.474609375</c:v>
                </c:pt>
                <c:pt idx="11">
                  <c:v>0.451171875</c:v>
                </c:pt>
                <c:pt idx="12">
                  <c:v>0.416015625</c:v>
                </c:pt>
                <c:pt idx="13">
                  <c:v>0.404296875</c:v>
                </c:pt>
                <c:pt idx="14">
                  <c:v>0.37890625</c:v>
                </c:pt>
                <c:pt idx="15">
                  <c:v>0.361328125</c:v>
                </c:pt>
                <c:pt idx="16">
                  <c:v>0.349609375</c:v>
                </c:pt>
                <c:pt idx="17">
                  <c:v>0.341796875</c:v>
                </c:pt>
                <c:pt idx="18">
                  <c:v>0.33203125</c:v>
                </c:pt>
                <c:pt idx="19">
                  <c:v>0.326171875</c:v>
                </c:pt>
                <c:pt idx="20">
                  <c:v>0.3046875</c:v>
                </c:pt>
                <c:pt idx="21">
                  <c:v>0.2734375</c:v>
                </c:pt>
                <c:pt idx="22">
                  <c:v>0.271484375</c:v>
                </c:pt>
                <c:pt idx="23">
                  <c:v>0.265625</c:v>
                </c:pt>
                <c:pt idx="24">
                  <c:v>0.255859375</c:v>
                </c:pt>
                <c:pt idx="25">
                  <c:v>0.24609375</c:v>
                </c:pt>
                <c:pt idx="26">
                  <c:v>0.240234375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Paper 400 µs</c:v>
          </c:tx>
          <c:spPr>
            <a:ln xmlns:a="http://schemas.openxmlformats.org/drawingml/2006/main" w="19050">
              <a:solidFill>
                <a:srgbClr val="98A2B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0.968</c:v>
                </c:pt>
                <c:pt idx="1">
                  <c:v>0.955966666667</c:v>
                </c:pt>
                <c:pt idx="2">
                  <c:v>0.943933333333</c:v>
                </c:pt>
                <c:pt idx="3">
                  <c:v>0.9319</c:v>
                </c:pt>
                <c:pt idx="4">
                  <c:v>0.92385</c:v>
                </c:pt>
                <c:pt idx="5">
                  <c:v>0.9158</c:v>
                </c:pt>
                <c:pt idx="6">
                  <c:v>0.90775</c:v>
                </c:pt>
                <c:pt idx="7">
                  <c:v>0.8997</c:v>
                </c:pt>
                <c:pt idx="8">
                  <c:v>0.892525</c:v>
                </c:pt>
                <c:pt idx="9">
                  <c:v>0.88535</c:v>
                </c:pt>
                <c:pt idx="10">
                  <c:v>0.878175</c:v>
                </c:pt>
                <c:pt idx="11">
                  <c:v>0.871</c:v>
                </c:pt>
                <c:pt idx="12">
                  <c:v>0.85915</c:v>
                </c:pt>
                <c:pt idx="13">
                  <c:v>0.8473</c:v>
                </c:pt>
                <c:pt idx="14">
                  <c:v>0.83545</c:v>
                </c:pt>
                <c:pt idx="15">
                  <c:v>0.8236</c:v>
                </c:pt>
                <c:pt idx="16">
                  <c:v>0.81013</c:v>
                </c:pt>
                <c:pt idx="17">
                  <c:v>0.79666</c:v>
                </c:pt>
                <c:pt idx="18">
                  <c:v>0.78319</c:v>
                </c:pt>
                <c:pt idx="19">
                  <c:v>0.76972</c:v>
                </c:pt>
                <c:pt idx="20">
                  <c:v>0.75625</c:v>
                </c:pt>
                <c:pt idx="21">
                  <c:v>0.74278</c:v>
                </c:pt>
                <c:pt idx="22">
                  <c:v>0.72931</c:v>
                </c:pt>
                <c:pt idx="23">
                  <c:v>0.71584</c:v>
                </c:pt>
                <c:pt idx="24">
                  <c:v>0.70237</c:v>
                </c:pt>
                <c:pt idx="25">
                  <c:v>0.6889</c:v>
                </c:pt>
                <c:pt idx="26">
                  <c:v>0.67826</c:v>
                </c:pt>
                <c:pt idx="27">
                  <c:v>0.66762</c:v>
                </c:pt>
                <c:pt idx="28">
                  <c:v>0.65698</c:v>
                </c:pt>
                <c:pt idx="29">
                  <c:v>0.64634</c:v>
                </c:pt>
                <c:pt idx="30">
                  <c:v>0.6357</c:v>
                </c:pt>
                <c:pt idx="31">
                  <c:v>0.62506</c:v>
                </c:pt>
                <c:pt idx="32">
                  <c:v>0.61442</c:v>
                </c:pt>
                <c:pt idx="33">
                  <c:v>0.60378</c:v>
                </c:pt>
                <c:pt idx="34">
                  <c:v>0.59314</c:v>
                </c:pt>
                <c:pt idx="35">
                  <c:v>0.5825</c:v>
                </c:pt>
                <c:pt idx="36">
                  <c:v>0.57345</c:v>
                </c:pt>
                <c:pt idx="37">
                  <c:v>0.5644</c:v>
                </c:pt>
                <c:pt idx="38">
                  <c:v>0.55535</c:v>
                </c:pt>
                <c:pt idx="39">
                  <c:v>0.5463</c:v>
                </c:pt>
                <c:pt idx="40">
                  <c:v>0.53725</c:v>
                </c:pt>
                <c:pt idx="41">
                  <c:v>0.5282</c:v>
                </c:pt>
                <c:pt idx="42">
                  <c:v>0.51915</c:v>
                </c:pt>
                <c:pt idx="43">
                  <c:v>0.5101</c:v>
                </c:pt>
                <c:pt idx="44">
                  <c:v>0.50105</c:v>
                </c:pt>
                <c:pt idx="45">
                  <c:v>0.492</c:v>
                </c:pt>
                <c:pt idx="46">
                  <c:v>0.48415</c:v>
                </c:pt>
                <c:pt idx="47">
                  <c:v>0.4763</c:v>
                </c:pt>
                <c:pt idx="48">
                  <c:v>0.46845</c:v>
                </c:pt>
                <c:pt idx="49">
                  <c:v>0.4606</c:v>
                </c:pt>
                <c:pt idx="50">
                  <c:v>0.45275</c:v>
                </c:pt>
                <c:pt idx="51">
                  <c:v>0.4449</c:v>
                </c:pt>
                <c:pt idx="52">
                  <c:v>0.43705</c:v>
                </c:pt>
                <c:pt idx="53">
                  <c:v>0.4292</c:v>
                </c:pt>
                <c:pt idx="54">
                  <c:v>0.42135</c:v>
                </c:pt>
                <c:pt idx="55">
                  <c:v>0.4135</c:v>
                </c:pt>
              </c:numCache>
            </c:numRef>
          </c:val>
        </c:ser>
        <c:ser>
          <c:idx val="1"/>
          <c:order val="1"/>
          <c:tx>
            <c:v>MC T40 400 µs</c:v>
          </c:tx>
          <c:spPr>
            <a:ln xmlns:a="http://schemas.openxmlformats.org/drawingml/2006/main" w="28575">
              <a:solidFill>
                <a:srgbClr val="1570EF"/>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0.9453125</c:v>
                </c:pt>
                <c:pt idx="1">
                  <c:v>0.943359375</c:v>
                </c:pt>
                <c:pt idx="2">
                  <c:v>0.923828125</c:v>
                </c:pt>
                <c:pt idx="3">
                  <c:v>0.923828125</c:v>
                </c:pt>
                <c:pt idx="4">
                  <c:v>0.91015625</c:v>
                </c:pt>
                <c:pt idx="5">
                  <c:v>0.904296875</c:v>
                </c:pt>
                <c:pt idx="6">
                  <c:v>0.8828125</c:v>
                </c:pt>
                <c:pt idx="7">
                  <c:v>0.8828125</c:v>
                </c:pt>
                <c:pt idx="8">
                  <c:v>0.85546875</c:v>
                </c:pt>
                <c:pt idx="9">
                  <c:v>0.85546875</c:v>
                </c:pt>
                <c:pt idx="10">
                  <c:v>0.83203125</c:v>
                </c:pt>
                <c:pt idx="11">
                  <c:v>0.830078125</c:v>
                </c:pt>
                <c:pt idx="12">
                  <c:v>0.8046875</c:v>
                </c:pt>
                <c:pt idx="13">
                  <c:v>0.802734375</c:v>
                </c:pt>
                <c:pt idx="14">
                  <c:v>0.787109375</c:v>
                </c:pt>
                <c:pt idx="15">
                  <c:v>0.787109375</c:v>
                </c:pt>
                <c:pt idx="16">
                  <c:v>0.77734375</c:v>
                </c:pt>
                <c:pt idx="17">
                  <c:v>0.77734375</c:v>
                </c:pt>
                <c:pt idx="18">
                  <c:v>0.76171875</c:v>
                </c:pt>
                <c:pt idx="19">
                  <c:v>0.759765625</c:v>
                </c:pt>
                <c:pt idx="20">
                  <c:v>0.751953125</c:v>
                </c:pt>
                <c:pt idx="21">
                  <c:v>0.751953125</c:v>
                </c:pt>
                <c:pt idx="22">
                  <c:v>0.728515625</c:v>
                </c:pt>
                <c:pt idx="23">
                  <c:v>0.728515625</c:v>
                </c:pt>
                <c:pt idx="24">
                  <c:v>0.72265625</c:v>
                </c:pt>
                <c:pt idx="25">
                  <c:v>0.720703125</c:v>
                </c:pt>
                <c:pt idx="26">
                  <c:v>0.712890625</c:v>
                </c:pt>
                <c:pt idx="27">
                  <c:v>0.712890625</c:v>
                </c:pt>
                <c:pt idx="28">
                  <c:v>0.701171875</c:v>
                </c:pt>
                <c:pt idx="29">
                  <c:v>0.701171875</c:v>
                </c:pt>
                <c:pt idx="30">
                  <c:v>0.6796875</c:v>
                </c:pt>
                <c:pt idx="31">
                  <c:v>0.67578125</c:v>
                </c:pt>
                <c:pt idx="32">
                  <c:v>0.666015625</c:v>
                </c:pt>
                <c:pt idx="33">
                  <c:v>0.6640625</c:v>
                </c:pt>
                <c:pt idx="34">
                  <c:v>0.646484375</c:v>
                </c:pt>
                <c:pt idx="35">
                  <c:v>0.64453125</c:v>
                </c:pt>
                <c:pt idx="36">
                  <c:v>0.62890625</c:v>
                </c:pt>
                <c:pt idx="37">
                  <c:v>0.62890625</c:v>
                </c:pt>
                <c:pt idx="38">
                  <c:v>0.61328125</c:v>
                </c:pt>
                <c:pt idx="39">
                  <c:v>0.61328125</c:v>
                </c:pt>
                <c:pt idx="40">
                  <c:v>0.607421875</c:v>
                </c:pt>
                <c:pt idx="41">
                  <c:v>0.607421875</c:v>
                </c:pt>
                <c:pt idx="42">
                  <c:v>0.603515625</c:v>
                </c:pt>
                <c:pt idx="43">
                  <c:v>0.599609375</c:v>
                </c:pt>
                <c:pt idx="44">
                  <c:v>0.591796875</c:v>
                </c:pt>
                <c:pt idx="45">
                  <c:v>0.58984375</c:v>
                </c:pt>
                <c:pt idx="46">
                  <c:v>0.572265625</c:v>
                </c:pt>
                <c:pt idx="47">
                  <c:v>0.568359375</c:v>
                </c:pt>
                <c:pt idx="48">
                  <c:v>0.5546875</c:v>
                </c:pt>
                <c:pt idx="49">
                  <c:v>0.5546875</c:v>
                </c:pt>
                <c:pt idx="50">
                  <c:v>0.548828125</c:v>
                </c:pt>
                <c:pt idx="51">
                  <c:v>0.546875</c:v>
                </c:pt>
                <c:pt idx="52">
                  <c:v>0.5390625</c:v>
                </c:pt>
                <c:pt idx="53">
                  <c:v>0.5390625</c:v>
                </c:pt>
                <c:pt idx="54">
                  <c:v>0.525390625</c:v>
                </c:pt>
                <c:pt idx="55">
                  <c:v>0.525390625</c:v>
                </c:pt>
              </c:numCache>
            </c:numRef>
          </c:val>
        </c:ser>
        <c:ser>
          <c:idx val="2"/>
          <c:order val="2"/>
          <c:tx>
            <c:v>Paper 600 µs</c:v>
          </c:tx>
          <c:spPr>
            <a:ln xmlns:a="http://schemas.openxmlformats.org/drawingml/2006/main" w="19050">
              <a:solidFill>
                <a:srgbClr val="344054"/>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0.9706</c:v>
                </c:pt>
                <c:pt idx="1">
                  <c:v>0.9698</c:v>
                </c:pt>
                <c:pt idx="2">
                  <c:v>0.969</c:v>
                </c:pt>
                <c:pt idx="3">
                  <c:v>0.9682</c:v>
                </c:pt>
                <c:pt idx="4">
                  <c:v>0.957625</c:v>
                </c:pt>
                <c:pt idx="5">
                  <c:v>0.94705</c:v>
                </c:pt>
                <c:pt idx="6">
                  <c:v>0.936475</c:v>
                </c:pt>
                <c:pt idx="7">
                  <c:v>0.9259</c:v>
                </c:pt>
                <c:pt idx="8">
                  <c:v>0.9229</c:v>
                </c:pt>
                <c:pt idx="9">
                  <c:v>0.9199</c:v>
                </c:pt>
                <c:pt idx="10">
                  <c:v>0.9169</c:v>
                </c:pt>
                <c:pt idx="11">
                  <c:v>0.9139</c:v>
                </c:pt>
                <c:pt idx="12">
                  <c:v>0.907575</c:v>
                </c:pt>
                <c:pt idx="13">
                  <c:v>0.90125</c:v>
                </c:pt>
                <c:pt idx="14">
                  <c:v>0.894925</c:v>
                </c:pt>
                <c:pt idx="15">
                  <c:v>0.8886</c:v>
                </c:pt>
                <c:pt idx="16">
                  <c:v>0.88126</c:v>
                </c:pt>
                <c:pt idx="17">
                  <c:v>0.87392</c:v>
                </c:pt>
                <c:pt idx="18">
                  <c:v>0.86658</c:v>
                </c:pt>
                <c:pt idx="19">
                  <c:v>0.85924</c:v>
                </c:pt>
                <c:pt idx="20">
                  <c:v>0.8519</c:v>
                </c:pt>
                <c:pt idx="21">
                  <c:v>0.84456</c:v>
                </c:pt>
                <c:pt idx="22">
                  <c:v>0.83722</c:v>
                </c:pt>
                <c:pt idx="23">
                  <c:v>0.82988</c:v>
                </c:pt>
                <c:pt idx="24">
                  <c:v>0.82254</c:v>
                </c:pt>
                <c:pt idx="25">
                  <c:v>0.8152</c:v>
                </c:pt>
                <c:pt idx="26">
                  <c:v>0.80627</c:v>
                </c:pt>
                <c:pt idx="27">
                  <c:v>0.79734</c:v>
                </c:pt>
                <c:pt idx="28">
                  <c:v>0.78841</c:v>
                </c:pt>
                <c:pt idx="29">
                  <c:v>0.77948</c:v>
                </c:pt>
                <c:pt idx="30">
                  <c:v>0.77055</c:v>
                </c:pt>
                <c:pt idx="31">
                  <c:v>0.76162</c:v>
                </c:pt>
                <c:pt idx="32">
                  <c:v>0.75269</c:v>
                </c:pt>
                <c:pt idx="33">
                  <c:v>0.74376</c:v>
                </c:pt>
                <c:pt idx="34">
                  <c:v>0.73483</c:v>
                </c:pt>
                <c:pt idx="35">
                  <c:v>0.7259</c:v>
                </c:pt>
                <c:pt idx="36">
                  <c:v>0.71829</c:v>
                </c:pt>
                <c:pt idx="37">
                  <c:v>0.71068</c:v>
                </c:pt>
                <c:pt idx="38">
                  <c:v>0.70307</c:v>
                </c:pt>
                <c:pt idx="39">
                  <c:v>0.69546</c:v>
                </c:pt>
                <c:pt idx="40">
                  <c:v>0.68785</c:v>
                </c:pt>
                <c:pt idx="41">
                  <c:v>0.68024</c:v>
                </c:pt>
                <c:pt idx="42">
                  <c:v>0.67263</c:v>
                </c:pt>
                <c:pt idx="43">
                  <c:v>0.66502</c:v>
                </c:pt>
                <c:pt idx="44">
                  <c:v>0.65741</c:v>
                </c:pt>
                <c:pt idx="45">
                  <c:v>0.6498</c:v>
                </c:pt>
                <c:pt idx="46">
                  <c:v>0.64208</c:v>
                </c:pt>
                <c:pt idx="47">
                  <c:v>0.63436</c:v>
                </c:pt>
                <c:pt idx="48">
                  <c:v>0.62664</c:v>
                </c:pt>
                <c:pt idx="49">
                  <c:v>0.61892</c:v>
                </c:pt>
                <c:pt idx="50">
                  <c:v>0.6112</c:v>
                </c:pt>
                <c:pt idx="51">
                  <c:v>0.60348</c:v>
                </c:pt>
                <c:pt idx="52">
                  <c:v>0.59576</c:v>
                </c:pt>
                <c:pt idx="53">
                  <c:v>0.58804</c:v>
                </c:pt>
                <c:pt idx="54">
                  <c:v>0.58032</c:v>
                </c:pt>
                <c:pt idx="55">
                  <c:v>0.5726</c:v>
                </c:pt>
              </c:numCache>
            </c:numRef>
          </c:val>
        </c:ser>
        <c:ser>
          <c:idx val="3"/>
          <c:order val="3"/>
          <c:tx>
            <c:v>MC T40 600 µs</c:v>
          </c:tx>
          <c:spPr>
            <a:ln xmlns:a="http://schemas.openxmlformats.org/drawingml/2006/main" w="28575">
              <a:solidFill>
                <a:srgbClr val="0E9384"/>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c:formatCode>
                <c:ptCount val="56"/>
                <c:pt idx="0">
                  <c:v>0.94921875</c:v>
                </c:pt>
                <c:pt idx="1">
                  <c:v>0.94921875</c:v>
                </c:pt>
                <c:pt idx="2">
                  <c:v>0.93359375</c:v>
                </c:pt>
                <c:pt idx="3">
                  <c:v>0.93359375</c:v>
                </c:pt>
                <c:pt idx="4">
                  <c:v>0.92578125</c:v>
                </c:pt>
                <c:pt idx="5">
                  <c:v>0.92578125</c:v>
                </c:pt>
                <c:pt idx="6">
                  <c:v>0.91796875</c:v>
                </c:pt>
                <c:pt idx="7">
                  <c:v>0.91796875</c:v>
                </c:pt>
                <c:pt idx="8">
                  <c:v>0.90625</c:v>
                </c:pt>
                <c:pt idx="9">
                  <c:v>0.90625</c:v>
                </c:pt>
                <c:pt idx="10">
                  <c:v>0.896484375</c:v>
                </c:pt>
                <c:pt idx="11">
                  <c:v>0.896484375</c:v>
                </c:pt>
                <c:pt idx="12">
                  <c:v>0.890625</c:v>
                </c:pt>
                <c:pt idx="13">
                  <c:v>0.890625</c:v>
                </c:pt>
                <c:pt idx="14">
                  <c:v>0.88671875</c:v>
                </c:pt>
                <c:pt idx="15">
                  <c:v>0.884765625</c:v>
                </c:pt>
                <c:pt idx="16">
                  <c:v>0.876953125</c:v>
                </c:pt>
                <c:pt idx="17">
                  <c:v>0.876953125</c:v>
                </c:pt>
                <c:pt idx="18">
                  <c:v>0.87109375</c:v>
                </c:pt>
                <c:pt idx="19">
                  <c:v>0.87109375</c:v>
                </c:pt>
                <c:pt idx="20">
                  <c:v>0.857421875</c:v>
                </c:pt>
                <c:pt idx="21">
                  <c:v>0.857421875</c:v>
                </c:pt>
                <c:pt idx="22">
                  <c:v>0.841796875</c:v>
                </c:pt>
                <c:pt idx="23">
                  <c:v>0.841796875</c:v>
                </c:pt>
                <c:pt idx="24">
                  <c:v>0.837890625</c:v>
                </c:pt>
                <c:pt idx="25">
                  <c:v>0.837890625</c:v>
                </c:pt>
                <c:pt idx="26">
                  <c:v>0.826171875</c:v>
                </c:pt>
                <c:pt idx="27">
                  <c:v>0.82421875</c:v>
                </c:pt>
                <c:pt idx="28">
                  <c:v>0.814453125</c:v>
                </c:pt>
                <c:pt idx="29">
                  <c:v>0.814453125</c:v>
                </c:pt>
                <c:pt idx="30">
                  <c:v>0.806640625</c:v>
                </c:pt>
                <c:pt idx="31">
                  <c:v>0.806640625</c:v>
                </c:pt>
                <c:pt idx="32">
                  <c:v>0.80078125</c:v>
                </c:pt>
                <c:pt idx="33">
                  <c:v>0.80078125</c:v>
                </c:pt>
                <c:pt idx="34">
                  <c:v>0.794921875</c:v>
                </c:pt>
                <c:pt idx="35">
                  <c:v>0.794921875</c:v>
                </c:pt>
                <c:pt idx="36">
                  <c:v>0.783203125</c:v>
                </c:pt>
                <c:pt idx="37">
                  <c:v>0.783203125</c:v>
                </c:pt>
                <c:pt idx="38">
                  <c:v>0.7734375</c:v>
                </c:pt>
                <c:pt idx="39">
                  <c:v>0.7734375</c:v>
                </c:pt>
                <c:pt idx="40">
                  <c:v>0.76171875</c:v>
                </c:pt>
                <c:pt idx="41">
                  <c:v>0.759765625</c:v>
                </c:pt>
                <c:pt idx="42">
                  <c:v>0.744140625</c:v>
                </c:pt>
                <c:pt idx="43">
                  <c:v>0.744140625</c:v>
                </c:pt>
                <c:pt idx="44">
                  <c:v>0.73828125</c:v>
                </c:pt>
                <c:pt idx="45">
                  <c:v>0.73828125</c:v>
                </c:pt>
                <c:pt idx="46">
                  <c:v>0.734375</c:v>
                </c:pt>
                <c:pt idx="47">
                  <c:v>0.732421875</c:v>
                </c:pt>
                <c:pt idx="48">
                  <c:v>0.73046875</c:v>
                </c:pt>
                <c:pt idx="49">
                  <c:v>0.73046875</c:v>
                </c:pt>
                <c:pt idx="50">
                  <c:v>0.720703125</c:v>
                </c:pt>
                <c:pt idx="51">
                  <c:v>0.720703125</c:v>
                </c:pt>
                <c:pt idx="52">
                  <c:v>0.703125</c:v>
                </c:pt>
                <c:pt idx="53">
                  <c:v>0.701171875</c:v>
                </c:pt>
                <c:pt idx="54">
                  <c:v>0.68359375</c:v>
                </c:pt>
                <c:pt idx="55">
                  <c:v>0.68359375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ser>
          <c:idx val="1"/>
          <c:order val="1"/>
          <c:tx>
            <c:v>Fig. 6c ML position</c:v>
          </c:tx>
          <c:spPr>
            <a:ln xmlns:a="http://schemas.openxmlformats.org/drawingml/2006/main" w="28575">
              <a:solidFill>
                <a:srgbClr val="0E9384"/>
              </a:solidFill>
            </a:ln>
          </c:spPr>
          <c:marker>
            <c:symbol val="circle"/>
            <c:size val="5"/>
            <c:spPr>
              <a:solidFill xmlns:a="http://schemas.openxmlformats.org/drawingml/2006/main">
                <a:srgbClr val="0E9384"/>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c:formatCode>
                <c:ptCount val="15"/>
                <c:pt idx="0">
                  <c:v>0.00413555622832</c:v>
                </c:pt>
                <c:pt idx="1">
                  <c:v>0.0419971063815</c:v>
                </c:pt>
                <c:pt idx="2">
                  <c:v>0.111132648305</c:v>
                </c:pt>
                <c:pt idx="3">
                  <c:v>0.112744730658</c:v>
                </c:pt>
                <c:pt idx="4">
                  <c:v>0.112164973556</c:v>
                </c:pt>
                <c:pt idx="5">
                  <c:v>0.188751715328</c:v>
                </c:pt>
                <c:pt idx="6">
                  <c:v>0.3203341165</c:v>
                </c:pt>
                <c:pt idx="7">
                  <c:v>0.495750877979</c:v>
                </c:pt>
                <c:pt idx="8">
                  <c:v>0.697274505876</c:v>
                </c:pt>
                <c:pt idx="9">
                  <c:v>0.947967362687</c:v>
                </c:pt>
                <c:pt idx="10">
                  <c:v>1.24095377898</c:v>
                </c:pt>
                <c:pt idx="11">
                  <c:v>1.54418662097</c:v>
                </c:pt>
                <c:pt idx="12">
                  <c:v>1.85643053763</c:v>
                </c:pt>
                <c:pt idx="13">
                  <c:v>2.2099389317</c:v>
                </c:pt>
                <c:pt idx="14">
                  <c:v>2.40425070917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Position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ser>
          <c:idx val="1"/>
          <c:order val="1"/>
          <c:tx>
            <c:v>Fig. 6c ML depth</c:v>
          </c:tx>
          <c:spPr>
            <a:ln xmlns:a="http://schemas.openxmlformats.org/drawingml/2006/main" w="28575">
              <a:solidFill>
                <a:srgbClr val="0BA5EC"/>
              </a:solidFill>
            </a:ln>
          </c:spPr>
          <c:marker>
            <c:symbol val="circle"/>
            <c:size val="5"/>
            <c:spPr>
              <a:solidFill xmlns:a="http://schemas.openxmlformats.org/drawingml/2006/main">
                <a:srgbClr val="0BA5EC"/>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0.00</c:formatCode>
                <c:ptCount val="15"/>
                <c:pt idx="0">
                  <c:v>0.000499713044256</c:v>
                </c:pt>
                <c:pt idx="1">
                  <c:v>0.00414644376358</c:v>
                </c:pt>
                <c:pt idx="2">
                  <c:v>0.0106480724655</c:v>
                </c:pt>
                <c:pt idx="3">
                  <c:v>0.0190312328974</c:v>
                </c:pt>
                <c:pt idx="4">
                  <c:v>0.0379906963848</c:v>
                </c:pt>
                <c:pt idx="5">
                  <c:v>0.076288963437</c:v>
                </c:pt>
                <c:pt idx="6">
                  <c:v>0.134921041123</c:v>
                </c:pt>
                <c:pt idx="7">
                  <c:v>0.212284107178</c:v>
                </c:pt>
                <c:pt idx="8">
                  <c:v>0.268490549952</c:v>
                </c:pt>
                <c:pt idx="9">
                  <c:v>0.280469653025</c:v>
                </c:pt>
                <c:pt idx="10">
                  <c:v>0.280598817921</c:v>
                </c:pt>
                <c:pt idx="11">
                  <c:v>0.28052501195</c:v>
                </c:pt>
                <c:pt idx="12">
                  <c:v>0.280516692702</c:v>
                </c:pt>
                <c:pt idx="13">
                  <c:v>0.280516692702</c:v>
                </c:pt>
                <c:pt idx="14">
                  <c:v>0.280516692702</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2"/>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 µs</c:v>
          </c:tx>
          <c:spPr>
            <a:solidFill xmlns:a="http://schemas.openxmlformats.org/drawingml/2006/main">
              <a:srgbClr val="98A2B3"/>
            </a:solidFill>
          </c:spPr>
          <c:cat>
            <c:strRef>
              <c:f>'Chart Data'!$A$2:$A$3</c:f>
              <c:strCache>
                <c:ptCount val="2"/>
                <c:pt idx="0">
                  <c:v>Paper</c:v>
                </c:pt>
                <c:pt idx="1">
                  <c:v>MC T40</c:v>
                </c:pt>
              </c:strCache>
            </c:strRef>
          </c:cat>
          <c:val>
            <c:numRef>
              <c:f>'Chart Data'!$B$2:$B$3</c:f>
              <c:numCache>
                <c:formatCode>0.0%</c:formatCode>
                <c:ptCount val="2"/>
                <c:pt idx="0">
                  <c:v>0.4135</c:v>
                </c:pt>
                <c:pt idx="1">
                  <c:v>0.52734375</c:v>
                </c:pt>
              </c:numCache>
            </c:numRef>
          </c:val>
        </c:ser>
        <c:ser>
          <c:idx val="1"/>
          <c:order val="1"/>
          <c:tx>
            <c:v>Fig. 6c ML 400 µs</c:v>
          </c:tx>
          <c:spPr>
            <a:solidFill xmlns:a="http://schemas.openxmlformats.org/drawingml/2006/main">
              <a:srgbClr val="0E9384"/>
            </a:solidFill>
          </c:spPr>
          <c:cat>
            <c:strRef>
              <c:f>'Chart Data'!$C$2:$C$3</c:f>
              <c:strCache>
                <c:ptCount val="2"/>
                <c:pt idx="0">
                  <c:v>Paper</c:v>
                </c:pt>
                <c:pt idx="1">
                  <c:v>MC T40</c:v>
                </c:pt>
              </c:strCache>
            </c:strRef>
          </c:cat>
          <c:val>
            <c:numRef>
              <c:f>'Chart Data'!$D$2:$D$3</c:f>
              <c:numCache>
                <c:formatCode>0.0%</c:formatCode>
                <c:ptCount val="2"/>
                <c:pt idx="0">
                  <c:v>0.6633</c:v>
                </c:pt>
                <c:pt idx="1">
                  <c:v>0.7578125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S(60)</c:v>
          </c:tx>
          <c:spPr>
            <a:solidFill xmlns:a="http://schemas.openxmlformats.org/drawingml/2006/main">
              <a:srgbClr val="1570EF"/>
            </a:solidFill>
          </c:spPr>
          <c:dPt>
            <c:idx val="0"/>
            <c:invertIfNegative val="0"/>
            <c:spPr>
              <a:solidFill xmlns:a="http://schemas.openxmlformats.org/drawingml/2006/main">
                <a:srgbClr val="98A2B3"/>
              </a:solidFill>
            </c:spPr>
          </c:dPt>
          <c:dPt>
            <c:idx val="1"/>
            <c:invertIfNegative val="0"/>
            <c:spPr>
              <a:solidFill xmlns:a="http://schemas.openxmlformats.org/drawingml/2006/main">
                <a:srgbClr val="667085"/>
              </a:solidFill>
            </c:spPr>
          </c:dPt>
          <c:dPt>
            <c:idx val="2"/>
            <c:invertIfNegative val="0"/>
            <c:spPr>
              <a:solidFill xmlns:a="http://schemas.openxmlformats.org/drawingml/2006/main">
                <a:srgbClr val="0BA5EC"/>
              </a:solidFill>
            </c:spPr>
          </c:dPt>
          <c:dPt>
            <c:idx val="3"/>
            <c:invertIfNegative val="0"/>
            <c:spPr>
              <a:solidFill xmlns:a="http://schemas.openxmlformats.org/drawingml/2006/main">
                <a:srgbClr val="0E9384"/>
              </a:solidFill>
            </c:spPr>
          </c:dPt>
          <c:cat>
            <c:strRef>
              <c:f>'Chart Data'!$A$2:$A$5</c:f>
              <c:strCache>
                <c:ptCount val="4"/>
                <c:pt idx="0">
                  <c:v>Dman / Pman</c:v>
                </c:pt>
                <c:pt idx="1">
                  <c:v>DML / Pman</c:v>
                </c:pt>
                <c:pt idx="2">
                  <c:v>Dman / PML</c:v>
                </c:pt>
                <c:pt idx="3">
                  <c:v>DML / PML</c:v>
                </c:pt>
              </c:strCache>
            </c:strRef>
          </c:cat>
          <c:val>
            <c:numRef>
              <c:f>'Chart Data'!$B$2:$B$5</c:f>
              <c:numCache>
                <c:formatCode>0.0%</c:formatCode>
                <c:ptCount val="4"/>
                <c:pt idx="0">
                  <c:v>0.5254</c:v>
                </c:pt>
                <c:pt idx="1">
                  <c:v>0.5293</c:v>
                </c:pt>
                <c:pt idx="2">
                  <c:v>0.8086</c:v>
                </c:pt>
                <c:pt idx="3">
                  <c:v>0.8047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9"/>
          <c:min val="0.4"/>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Manual 200 error</c:v>
          </c:tx>
          <c:spPr>
            <a:ln xmlns:a="http://schemas.openxmlformats.org/drawingml/2006/main" w="28575">
              <a:solidFill>
                <a:srgbClr val="D92D20"/>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-0.13203125</c:v>
                </c:pt>
                <c:pt idx="1">
                  <c:v>-0.1415875</c:v>
                </c:pt>
                <c:pt idx="2">
                  <c:v>-0.153096875</c:v>
                </c:pt>
                <c:pt idx="3">
                  <c:v>-0.154840625</c:v>
                </c:pt>
                <c:pt idx="4">
                  <c:v>-0.1668375</c:v>
                </c:pt>
                <c:pt idx="5">
                  <c:v>-0.16125625</c:v>
                </c:pt>
                <c:pt idx="6">
                  <c:v>-0.173253125</c:v>
                </c:pt>
                <c:pt idx="7">
                  <c:v>-0.167671875</c:v>
                </c:pt>
                <c:pt idx="8">
                  <c:v>-0.170340625</c:v>
                </c:pt>
                <c:pt idx="9">
                  <c:v>-0.173009375</c:v>
                </c:pt>
                <c:pt idx="10">
                  <c:v>-0.167865625</c:v>
                </c:pt>
                <c:pt idx="11">
                  <c:v>-0.166628125</c:v>
                </c:pt>
                <c:pt idx="12">
                  <c:v>-0.178359375</c:v>
                </c:pt>
                <c:pt idx="13">
                  <c:v>-0.166653125</c:v>
                </c:pt>
                <c:pt idx="14">
                  <c:v>-0.16861875</c:v>
                </c:pt>
                <c:pt idx="15">
                  <c:v>-0.162771875</c:v>
                </c:pt>
                <c:pt idx="16">
                  <c:v>-0.156170625</c:v>
                </c:pt>
                <c:pt idx="17">
                  <c:v>-0.145663125</c:v>
                </c:pt>
                <c:pt idx="18">
                  <c:v>-0.13710875</c:v>
                </c:pt>
                <c:pt idx="19">
                  <c:v>-0.124648125</c:v>
                </c:pt>
                <c:pt idx="20">
                  <c:v>-0.1278125</c:v>
                </c:pt>
                <c:pt idx="21">
                  <c:v>-0.1407425</c:v>
                </c:pt>
                <c:pt idx="22">
                  <c:v>-0.124375625</c:v>
                </c:pt>
                <c:pt idx="23">
                  <c:v>-0.111915</c:v>
                </c:pt>
                <c:pt idx="24">
                  <c:v>-0.103360625</c:v>
                </c:pt>
                <c:pt idx="25">
                  <c:v>-0.09480625</c:v>
                </c:pt>
                <c:pt idx="26">
                  <c:v>-0.094165625</c:v>
                </c:pt>
              </c:numCache>
            </c:numRef>
          </c:val>
        </c:ser>
        <c:ser>
          <c:idx val="1"/>
          <c:order val="1"/>
          <c:tx>
            <c:v>Zero</c:v>
          </c:tx>
          <c:spPr>
            <a:ln xmlns:a="http://schemas.openxmlformats.org/drawingml/2006/main" w="9525">
              <a:solidFill>
                <a:srgbClr val="D0D5DD"/>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lineChart>
        <c:grouping val="standard"/>
        <c:ser>
          <c:idx val="0"/>
          <c:order val="0"/>
          <c:tx>
            <c:v>Manual 400 error</c:v>
          </c:tx>
          <c:spPr>
            <a:ln xmlns:a="http://schemas.openxmlformats.org/drawingml/2006/main" w="28575">
              <a:solidFill>
                <a:srgbClr val="1570EF"/>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-0.0226875</c:v>
                </c:pt>
                <c:pt idx="1">
                  <c:v>-0.012607291667</c:v>
                </c:pt>
                <c:pt idx="2">
                  <c:v>-0.020105208333</c:v>
                </c:pt>
                <c:pt idx="3">
                  <c:v>-0.008071875</c:v>
                </c:pt>
                <c:pt idx="4">
                  <c:v>-0.01369375</c:v>
                </c:pt>
                <c:pt idx="5">
                  <c:v>-0.011503125</c:v>
                </c:pt>
                <c:pt idx="6">
                  <c:v>-0.0249375</c:v>
                </c:pt>
                <c:pt idx="7">
                  <c:v>-0.0168875</c:v>
                </c:pt>
                <c:pt idx="8">
                  <c:v>-0.03705625</c:v>
                </c:pt>
                <c:pt idx="9">
                  <c:v>-0.02988125</c:v>
                </c:pt>
                <c:pt idx="10">
                  <c:v>-0.04614375</c:v>
                </c:pt>
                <c:pt idx="11">
                  <c:v>-0.040921875</c:v>
                </c:pt>
                <c:pt idx="12">
                  <c:v>-0.0544625</c:v>
                </c:pt>
                <c:pt idx="13">
                  <c:v>-0.044565625</c:v>
                </c:pt>
                <c:pt idx="14">
                  <c:v>-0.048340625</c:v>
                </c:pt>
                <c:pt idx="15">
                  <c:v>-0.036490625</c:v>
                </c:pt>
                <c:pt idx="16">
                  <c:v>-0.03278625</c:v>
                </c:pt>
                <c:pt idx="17">
                  <c:v>-0.01931625</c:v>
                </c:pt>
                <c:pt idx="18">
                  <c:v>-0.02147125</c:v>
                </c:pt>
                <c:pt idx="19">
                  <c:v>-0.009954375</c:v>
                </c:pt>
                <c:pt idx="20">
                  <c:v>-0.004296875</c:v>
                </c:pt>
                <c:pt idx="21">
                  <c:v>0.009173125</c:v>
                </c:pt>
                <c:pt idx="22">
                  <c:v>-0.000794375</c:v>
                </c:pt>
                <c:pt idx="23">
                  <c:v>0.012675625</c:v>
                </c:pt>
                <c:pt idx="24">
                  <c:v>0.02028625</c:v>
                </c:pt>
                <c:pt idx="25">
                  <c:v>0.031803125</c:v>
                </c:pt>
                <c:pt idx="26">
                  <c:v>0.034630625</c:v>
                </c:pt>
                <c:pt idx="27">
                  <c:v>0.045270625</c:v>
                </c:pt>
                <c:pt idx="28">
                  <c:v>0.044191875</c:v>
                </c:pt>
                <c:pt idx="29">
                  <c:v>0.054831875</c:v>
                </c:pt>
                <c:pt idx="30">
                  <c:v>0.0439875</c:v>
                </c:pt>
                <c:pt idx="31">
                  <c:v>0.05072125</c:v>
                </c:pt>
                <c:pt idx="32">
                  <c:v>0.051595625</c:v>
                </c:pt>
                <c:pt idx="33">
                  <c:v>0.0602825</c:v>
                </c:pt>
                <c:pt idx="34">
                  <c:v>0.053344375</c:v>
                </c:pt>
                <c:pt idx="35">
                  <c:v>0.06203125</c:v>
                </c:pt>
                <c:pt idx="36">
                  <c:v>0.05545625</c:v>
                </c:pt>
                <c:pt idx="37">
                  <c:v>0.06450625</c:v>
                </c:pt>
                <c:pt idx="38">
                  <c:v>0.05793125</c:v>
                </c:pt>
                <c:pt idx="39">
                  <c:v>0.06698125</c:v>
                </c:pt>
                <c:pt idx="40">
                  <c:v>0.070171875</c:v>
                </c:pt>
                <c:pt idx="41">
                  <c:v>0.079221875</c:v>
                </c:pt>
                <c:pt idx="42">
                  <c:v>0.084365625</c:v>
                </c:pt>
                <c:pt idx="43">
                  <c:v>0.089509375</c:v>
                </c:pt>
                <c:pt idx="44">
                  <c:v>0.090746875</c:v>
                </c:pt>
                <c:pt idx="45">
                  <c:v>0.09784375</c:v>
                </c:pt>
                <c:pt idx="46">
                  <c:v>0.088115625</c:v>
                </c:pt>
                <c:pt idx="47">
                  <c:v>0.092059375</c:v>
                </c:pt>
                <c:pt idx="48">
                  <c:v>0.0862375</c:v>
                </c:pt>
                <c:pt idx="49">
                  <c:v>0.0940875</c:v>
                </c:pt>
                <c:pt idx="50">
                  <c:v>0.096078125</c:v>
                </c:pt>
                <c:pt idx="51">
                  <c:v>0.101975</c:v>
                </c:pt>
                <c:pt idx="52">
                  <c:v>0.1020125</c:v>
                </c:pt>
                <c:pt idx="53">
                  <c:v>0.1098625</c:v>
                </c:pt>
                <c:pt idx="54">
                  <c:v>0.104040625</c:v>
                </c:pt>
                <c:pt idx="55">
                  <c:v>0.111890625</c:v>
                </c:pt>
              </c:numCache>
            </c:numRef>
          </c:val>
        </c:ser>
        <c:ser>
          <c:idx val="1"/>
          <c:order val="1"/>
          <c:tx>
            <c:v>Manual 600 error</c:v>
          </c:tx>
          <c:spPr>
            <a:ln xmlns:a="http://schemas.openxmlformats.org/drawingml/2006/main" w="28575">
              <a:solidFill>
                <a:srgbClr val="0E9384"/>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-0.02138125</c:v>
                </c:pt>
                <c:pt idx="1">
                  <c:v>-0.02058125</c:v>
                </c:pt>
                <c:pt idx="2">
                  <c:v>-0.03540625</c:v>
                </c:pt>
                <c:pt idx="3">
                  <c:v>-0.03460625</c:v>
                </c:pt>
                <c:pt idx="4">
                  <c:v>-0.03184375</c:v>
                </c:pt>
                <c:pt idx="5">
                  <c:v>-0.02126875</c:v>
                </c:pt>
                <c:pt idx="6">
                  <c:v>-0.01850625</c:v>
                </c:pt>
                <c:pt idx="7">
                  <c:v>-0.00793125</c:v>
                </c:pt>
                <c:pt idx="8">
                  <c:v>-0.01665</c:v>
                </c:pt>
                <c:pt idx="9">
                  <c:v>-0.01365</c:v>
                </c:pt>
                <c:pt idx="10">
                  <c:v>-0.020415625</c:v>
                </c:pt>
                <c:pt idx="11">
                  <c:v>-0.017415625</c:v>
                </c:pt>
                <c:pt idx="12">
                  <c:v>-0.01695</c:v>
                </c:pt>
                <c:pt idx="13">
                  <c:v>-0.010625</c:v>
                </c:pt>
                <c:pt idx="14">
                  <c:v>-0.00820625</c:v>
                </c:pt>
                <c:pt idx="15">
                  <c:v>-0.003834375</c:v>
                </c:pt>
                <c:pt idx="16">
                  <c:v>-0.004306875</c:v>
                </c:pt>
                <c:pt idx="17">
                  <c:v>0.003033125</c:v>
                </c:pt>
                <c:pt idx="18">
                  <c:v>0.00451375</c:v>
                </c:pt>
                <c:pt idx="19">
                  <c:v>0.01185375</c:v>
                </c:pt>
                <c:pt idx="20">
                  <c:v>0.005521875</c:v>
                </c:pt>
                <c:pt idx="21">
                  <c:v>0.012861875</c:v>
                </c:pt>
                <c:pt idx="22">
                  <c:v>0.004576875</c:v>
                </c:pt>
                <c:pt idx="23">
                  <c:v>0.011916875</c:v>
                </c:pt>
                <c:pt idx="24">
                  <c:v>0.015350625</c:v>
                </c:pt>
                <c:pt idx="25">
                  <c:v>0.022690625</c:v>
                </c:pt>
                <c:pt idx="26">
                  <c:v>0.019901875</c:v>
                </c:pt>
                <c:pt idx="27">
                  <c:v>0.02687875</c:v>
                </c:pt>
                <c:pt idx="28">
                  <c:v>0.026043125</c:v>
                </c:pt>
                <c:pt idx="29">
                  <c:v>0.034973125</c:v>
                </c:pt>
                <c:pt idx="30">
                  <c:v>0.036090625</c:v>
                </c:pt>
                <c:pt idx="31">
                  <c:v>0.045020625</c:v>
                </c:pt>
                <c:pt idx="32">
                  <c:v>0.04809125</c:v>
                </c:pt>
                <c:pt idx="33">
                  <c:v>0.05702125</c:v>
                </c:pt>
                <c:pt idx="34">
                  <c:v>0.060091875</c:v>
                </c:pt>
                <c:pt idx="35">
                  <c:v>0.069021875</c:v>
                </c:pt>
                <c:pt idx="36">
                  <c:v>0.064913125</c:v>
                </c:pt>
                <c:pt idx="37">
                  <c:v>0.072523125</c:v>
                </c:pt>
                <c:pt idx="38">
                  <c:v>0.0703675</c:v>
                </c:pt>
                <c:pt idx="39">
                  <c:v>0.0779775</c:v>
                </c:pt>
                <c:pt idx="40">
                  <c:v>0.07386875</c:v>
                </c:pt>
                <c:pt idx="41">
                  <c:v>0.079525625</c:v>
                </c:pt>
                <c:pt idx="42">
                  <c:v>0.071510625</c:v>
                </c:pt>
                <c:pt idx="43">
                  <c:v>0.079120625</c:v>
                </c:pt>
                <c:pt idx="44">
                  <c:v>0.08087125</c:v>
                </c:pt>
                <c:pt idx="45">
                  <c:v>0.08848125</c:v>
                </c:pt>
                <c:pt idx="46">
                  <c:v>0.092295</c:v>
                </c:pt>
                <c:pt idx="47">
                  <c:v>0.098061875</c:v>
                </c:pt>
                <c:pt idx="48">
                  <c:v>0.10382875</c:v>
                </c:pt>
                <c:pt idx="49">
                  <c:v>0.11154875</c:v>
                </c:pt>
                <c:pt idx="50">
                  <c:v>0.109503125</c:v>
                </c:pt>
                <c:pt idx="51">
                  <c:v>0.117223125</c:v>
                </c:pt>
                <c:pt idx="52">
                  <c:v>0.107365</c:v>
                </c:pt>
                <c:pt idx="53">
                  <c:v>0.113131875</c:v>
                </c:pt>
                <c:pt idx="54">
                  <c:v>0.10327375</c:v>
                </c:pt>
                <c:pt idx="55">
                  <c:v>0.11099375</c:v>
                </c:pt>
              </c:numCache>
            </c:numRef>
          </c:val>
        </c:ser>
        <c:ser>
          <c:idx val="2"/>
          <c:order val="2"/>
          <c:tx>
            <c:v>Zero</c:v>
          </c:tx>
          <c:spPr>
            <a:ln xmlns:a="http://schemas.openxmlformats.org/drawingml/2006/main" w="9525">
              <a:solidFill>
                <a:srgbClr val="D0D5DD"/>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E88AA4-1E8E-418E-BA4C-2817FBF08510}"/>
              </a:ext>
            </a:extLst>
          </p:cNvPr>
          <p:cNvSpPr>
            <a:spLocks xmlns:a="http://schemas.openxmlformats.org/drawingml/2006/main" noGrp="1"/>
          </p:cNvSpPr>
          <p:nvPr/>
        </p:nvSpPr>
        <p:spPr>
          <a:xfrm xmlns:a="http://schemas.openxmlformats.org/drawingml/2006/main">
            <a:off x="0" y="5810250"/>
            <a:ext cx="12192000" cy="10477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ln>
        </p:spPr>
      </p:sp>
      <p:sp>
        <p:nvSpPr>
          <p:cNvPr id="2" name="">
            <a:extLst xmlns:a="http://schemas.openxmlformats.org/drawingml/2006/main">
              <a:ext uri="{FF2B5EF4-FFF2-40B4-BE49-F238E27FC236}">
                <a16:creationId xmlns:a16="http://schemas.microsoft.com/office/drawing/2014/main" id="{42BE5847-438B-41DF-90D6-ABEB2DCA8CF6}"/>
              </a:ext>
            </a:extLst>
          </p:cNvPr>
          <p:cNvSpPr>
            <a:spLocks xmlns:a="http://schemas.openxmlformats.org/drawingml/2006/main" noGrp="1"/>
          </p:cNvSpPr>
          <p:nvPr/>
        </p:nvSpPr>
        <p:spPr>
          <a:xfrm xmlns:a="http://schemas.openxmlformats.org/drawingml/2006/main">
            <a:off x="685800" y="933450"/>
            <a:ext cx="838200" cy="57150"/>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8CAEC2F6-3801-4E4A-AAFF-CD0886DD7A03}"/>
              </a:ext>
            </a:extLst>
          </p:cNvPr>
          <p:cNvSpPr>
            <a:spLocks xmlns:a="http://schemas.openxmlformats.org/drawingml/2006/main" noGrp="1"/>
          </p:cNvSpPr>
          <p:nvPr/>
        </p:nvSpPr>
        <p:spPr>
          <a:xfrm xmlns:a="http://schemas.openxmlformats.org/drawingml/2006/main">
            <a:off x="685800" y="1257300"/>
            <a:ext cx="933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Monte Carlo Simulation for</a:t>
            </a:r>
          </a:p>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AOD–SLM Atom Transfer</a:t>
            </a:r>
          </a:p>
        </p:txBody>
      </p:sp>
      <p:sp>
        <p:nvSpPr>
          <p:cNvPr id="4" name="">
            <a:extLst xmlns:a="http://schemas.openxmlformats.org/drawingml/2006/main">
              <a:ext uri="{FF2B5EF4-FFF2-40B4-BE49-F238E27FC236}">
                <a16:creationId xmlns:a16="http://schemas.microsoft.com/office/drawing/2014/main" id="{155214CF-59ED-45D0-AE48-A36A0C36188C}"/>
              </a:ext>
            </a:extLst>
          </p:cNvPr>
          <p:cNvSpPr>
            <a:spLocks xmlns:a="http://schemas.openxmlformats.org/drawingml/2006/main" noGrp="1"/>
          </p:cNvSpPr>
          <p:nvPr/>
        </p:nvSpPr>
        <p:spPr>
          <a:xfrm xmlns:a="http://schemas.openxmlformats.org/drawingml/2006/main">
            <a:off x="723900" y="31432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B9D7F5"/>
                </a:solidFill>
                <a:latin typeface="Microsoft YaHei"/>
                <a:ea typeface="Microsoft YaHei"/>
                <a:cs typeface="Microsoft YaHei"/>
              </a:defRPr>
            </a:pPr>
            <a:r>
              <a:rPr sz="1875" b="0">
                <a:solidFill>
                  <a:srgbClr val="B9D7F5"/>
                </a:solidFill>
                <a:latin typeface="Microsoft YaHei"/>
                <a:ea typeface="Microsoft YaHei"/>
                <a:cs typeface="Microsoft YaHei"/>
              </a:rPr>
              <a:t>Step-by-step Calculation and Evidence Report</a:t>
            </a:r>
          </a:p>
        </p:txBody>
      </p:sp>
      <p:sp>
        <p:nvSpPr>
          <p:cNvPr id="5" name="">
            <a:extLst xmlns:a="http://schemas.openxmlformats.org/drawingml/2006/main">
              <a:ext uri="{FF2B5EF4-FFF2-40B4-BE49-F238E27FC236}">
                <a16:creationId xmlns:a16="http://schemas.microsoft.com/office/drawing/2014/main" id="{51393E94-50B8-4B7C-982A-8720703FEA46}"/>
              </a:ext>
            </a:extLst>
          </p:cNvPr>
          <p:cNvSpPr>
            <a:spLocks xmlns:a="http://schemas.openxmlformats.org/drawingml/2006/main" noGrp="1"/>
          </p:cNvSpPr>
          <p:nvPr/>
        </p:nvSpPr>
        <p:spPr>
          <a:xfrm xmlns:a="http://schemas.openxmlformats.org/drawingml/2006/main">
            <a:off x="723900" y="3771900"/>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D0DFF0"/>
                </a:solidFill>
                <a:latin typeface="Microsoft YaHei"/>
                <a:ea typeface="Microsoft YaHei"/>
                <a:cs typeface="Microsoft YaHei"/>
              </a:defRPr>
            </a:pPr>
            <a:r>
              <a:rPr sz="1500" b="0">
                <a:solidFill>
                  <a:srgbClr val="D0DFF0"/>
                </a:solidFill>
                <a:latin typeface="Microsoft YaHei"/>
                <a:ea typeface="Microsoft YaHei"/>
                <a:cs typeface="Microsoft YaHei"/>
              </a:rPr>
              <a:t>从论文数据、物理输入到存活曲线、敏感性扫描和验收</a:t>
            </a:r>
          </a:p>
        </p:txBody>
      </p:sp>
      <p:sp>
        <p:nvSpPr>
          <p:cNvPr id="6" name="">
            <a:extLst xmlns:a="http://schemas.openxmlformats.org/drawingml/2006/main">
              <a:ext uri="{FF2B5EF4-FFF2-40B4-BE49-F238E27FC236}">
                <a16:creationId xmlns:a16="http://schemas.microsoft.com/office/drawing/2014/main" id="{EA8FCA79-EBF9-4A2D-92F4-E60A69502A18}"/>
              </a:ext>
            </a:extLst>
          </p:cNvPr>
          <p:cNvSpPr>
            <a:spLocks xmlns:a="http://schemas.openxmlformats.org/drawingml/2006/main" noGrp="1"/>
          </p:cNvSpPr>
          <p:nvPr/>
        </p:nvSpPr>
        <p:spPr>
          <a:xfrm xmlns:a="http://schemas.openxmlformats.org/drawingml/2006/main">
            <a:off x="723900" y="59436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98AFC7"/>
                </a:solidFill>
                <a:latin typeface="Microsoft YaHei"/>
                <a:ea typeface="Microsoft YaHei"/>
                <a:cs typeface="Microsoft YaHei"/>
              </a:defRPr>
            </a:pPr>
            <a:r>
              <a:rPr sz="1200" b="0">
                <a:solidFill>
                  <a:srgbClr val="98AFC7"/>
                </a:solidFill>
                <a:latin typeface="Microsoft YaHei"/>
                <a:ea typeface="Microsoft YaHei"/>
                <a:cs typeface="Microsoft YaHei"/>
              </a:rPr>
              <a:t>MonteCarloForQC / monte-carlo-for-aodslm</a:t>
            </a:r>
          </a:p>
        </p:txBody>
      </p:sp>
      <p:sp>
        <p:nvSpPr>
          <p:cNvPr id="7" name="">
            <a:extLst xmlns:a="http://schemas.openxmlformats.org/drawingml/2006/main">
              <a:ext uri="{FF2B5EF4-FFF2-40B4-BE49-F238E27FC236}">
                <a16:creationId xmlns:a16="http://schemas.microsoft.com/office/drawing/2014/main" id="{1AFA838C-32BA-4AFA-AA92-1F9542912E49}"/>
              </a:ext>
            </a:extLst>
          </p:cNvPr>
          <p:cNvSpPr>
            <a:spLocks xmlns:a="http://schemas.openxmlformats.org/drawingml/2006/main" noGrp="1"/>
          </p:cNvSpPr>
          <p:nvPr/>
        </p:nvSpPr>
        <p:spPr>
          <a:xfrm xmlns:a="http://schemas.openxmlformats.org/drawingml/2006/main">
            <a:off x="723900" y="62293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2026-09-11  ·  gpt_level4_5  ·  commit 5e55bb0</a:t>
            </a:r>
          </a:p>
        </p:txBody>
      </p:sp>
      <p:sp>
        <p:nvSpPr>
          <p:cNvPr id="8" name="">
            <a:extLst xmlns:a="http://schemas.openxmlformats.org/drawingml/2006/main">
              <a:ext uri="{FF2B5EF4-FFF2-40B4-BE49-F238E27FC236}">
                <a16:creationId xmlns:a16="http://schemas.microsoft.com/office/drawing/2014/main" id="{9AE112DA-468D-40EB-9C44-8518F98DE2FB}"/>
              </a:ext>
            </a:extLst>
          </p:cNvPr>
          <p:cNvSpPr>
            <a:spLocks xmlns:a="http://schemas.openxmlformats.org/drawingml/2006/main" noGrp="1"/>
          </p:cNvSpPr>
          <p:nvPr/>
        </p:nvSpPr>
        <p:spPr>
          <a:xfrm xmlns:a="http://schemas.openxmlformats.org/drawingml/2006/main">
            <a:off x="9525000" y="592455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800" b="1">
                <a:solidFill>
                  <a:srgbClr val="0BA5EC"/>
                </a:solidFill>
                <a:latin typeface="Microsoft YaHei"/>
                <a:ea typeface="Microsoft YaHei"/>
                <a:cs typeface="Microsoft YaHei"/>
              </a:defRPr>
            </a:pPr>
            <a:r>
              <a:rPr sz="1800" b="1">
                <a:solidFill>
                  <a:srgbClr val="0BA5EC"/>
                </a:solidFill>
                <a:latin typeface="Microsoft YaHei"/>
                <a:ea typeface="Microsoft YaHei"/>
                <a:cs typeface="Microsoft YaHei"/>
              </a:rPr>
              <a:t>Fig. 6c / 6d</a:t>
            </a:r>
          </a:p>
        </p:txBody>
      </p:sp>
    </p:spTree>
    <p:extLst>
      <p:ext uri="{BB962C8B-B14F-4D97-AF65-F5344CB8AC3E}">
        <p14:creationId xmlns:p14="http://schemas.microsoft.com/office/powerpoint/2010/main" val="493714188"/>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9F2BE8-43CC-45BF-B169-4EDF46562AAC}"/>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本次工作的计算顺序</a:t>
            </a:r>
          </a:p>
        </p:txBody>
      </p:sp>
      <p:sp>
        <p:nvSpPr>
          <p:cNvPr id="2" name="">
            <a:extLst xmlns:a="http://schemas.openxmlformats.org/drawingml/2006/main">
              <a:ext uri="{FF2B5EF4-FFF2-40B4-BE49-F238E27FC236}">
                <a16:creationId xmlns:a16="http://schemas.microsoft.com/office/drawing/2014/main" id="{C39FFCAD-5F12-49E1-A88F-85169BF8C051}"/>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6D8F7D7D-C750-43BC-B170-BA1BFB07823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每一步都回答五个问题：算什么、输入什么、怎样计算、输出什么、结论能走多远</a:t>
            </a:r>
          </a:p>
        </p:txBody>
      </p:sp>
      <p:graphicFrame>
        <p:nvGraphicFramePr>
          <p:cNvPr id="14" name=""/>
          <p:cNvGraphicFramePr/>
          <p:nvPr/>
        </p:nvGraphicFramePr>
        <p:xfrm>
          <a:off xmlns:a="http://schemas.openxmlformats.org/drawingml/2006/main" x="60960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r>
                        <a:rPr sz="1200" b="0">
                          <a:solidFill>
                            <a:srgbClr val="344054"/>
                          </a:solidFill>
                          <a:latin typeface="Microsoft YaHei"/>
                          <a:ea typeface="Microsoft YaHei"/>
                          <a:cs typeface="Microsoft YaHei"/>
                        </a:rPr>
                        <a:t>01</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固定论文曲线和验收口径</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Paper S(n)</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02</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建立 Cs 与双高斯阱模型</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U(x,t), F(x,t)</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03</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生成初态、位点散布和加热</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每个 shot 的参数</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04</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构造手工 pick-up / drop-off</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c(t), D(t)</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05</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逐时间步传播单个原子</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x(t), v(t), E(t)</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06</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连续重复 60 次单程转移</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S(n), loss stage</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07</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运行仓库 baseline</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默认参考曲线</a:t>
                      </a:r>
                    </a:p>
                  </a:txBody>
                  <a:tcPr marL="91440" marR="91440" marT="45720" marB="45720" anchor="ctr">
                    <a:solidFill>
                      <a:srgbClr val="FFFFFF"/>
                    </a:solidFill>
                  </a:tcPr>
                </a:tc>
              </a:tr>
            </a:tbl>
          </a:graphicData>
        </a:graphic>
      </p:graphicFrame>
      <p:graphicFrame>
        <p:nvGraphicFramePr>
          <p:cNvPr id="15" name=""/>
          <p:cNvGraphicFramePr/>
          <p:nvPr/>
        </p:nvGraphicFramePr>
        <p:xfrm>
          <a:off xmlns:a="http://schemas.openxmlformats.org/drawingml/2006/main" x="634365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r>
                        <a:rPr sz="1200" b="0">
                          <a:solidFill>
                            <a:srgbClr val="344054"/>
                          </a:solidFill>
                          <a:latin typeface="Microsoft YaHei"/>
                          <a:ea typeface="Microsoft YaHei"/>
                          <a:cs typeface="Microsoft YaHei"/>
                        </a:rPr>
                        <a:t>08</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设计单因素敏感性扫描</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T / RIN / alignment / jitter</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09</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读取扫描端点并比较机制</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S(60) sensitivity</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10</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检查 T40 的完整时长曲线</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11</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数字化 Fig. 6c ML 波形</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15-node trajectory</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12</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比较 Manual 与 ML</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endpoint gain</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13</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分离位置和深度贡献</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2×2 ablation</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14–15</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逐点验收并界定模型边界</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curve error / gaps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8B56138-7086-4FF3-B209-F8C7DEE3CE73}"/>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oundRect">
            <a:avLst>
              <a:gd name="adj" fmla="val 16000"/>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C6A61DA0-D1C4-47D4-A899-0E453D6FEF88}"/>
              </a:ext>
            </a:extLst>
          </p:cNvPr>
          <p:cNvSpPr>
            <a:spLocks xmlns:a="http://schemas.openxmlformats.org/drawingml/2006/main" noGrp="1"/>
          </p:cNvSpPr>
          <p:nvPr/>
        </p:nvSpPr>
        <p:spPr>
          <a:xfrm xmlns:a="http://schemas.openxmlformats.org/drawingml/2006/main">
            <a:off x="838200" y="5876925"/>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1570EF"/>
                </a:solidFill>
                <a:latin typeface="Microsoft YaHei"/>
                <a:ea typeface="Microsoft YaHei"/>
                <a:cs typeface="Microsoft YaHei"/>
              </a:defRPr>
            </a:pPr>
            <a:r>
              <a:rPr sz="1163" b="0">
                <a:solidFill>
                  <a:srgbClr val="1570EF"/>
                </a:solidFill>
                <a:latin typeface="Microsoft YaHei"/>
                <a:ea typeface="Microsoft YaHei"/>
                <a:cs typeface="Microsoft YaHei"/>
              </a:rPr>
              <a:t>工作边界：仓库已经包含 Monte Carlo 原始输出。本报告复核这些输出，并重新计算单调论文参考线、逐点偏差和验收指标，没有为匹配论文重新拟合参数。</a:t>
            </a:r>
          </a:p>
        </p:txBody>
      </p:sp>
      <p:sp>
        <p:nvSpPr>
          <p:cNvPr id="8" name="">
            <a:extLst xmlns:a="http://schemas.openxmlformats.org/drawingml/2006/main">
              <a:ext uri="{FF2B5EF4-FFF2-40B4-BE49-F238E27FC236}">
                <a16:creationId xmlns:a16="http://schemas.microsoft.com/office/drawing/2014/main" id="{CE62079B-E904-447B-BF87-C37DEB6247EB}"/>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A5885026-3C37-4149-AE98-6BBBD52FC566}"/>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 2C README · configs · Stage-1 outputs · report recomputation</a:t>
            </a:r>
          </a:p>
        </p:txBody>
      </p:sp>
      <p:sp>
        <p:nvSpPr>
          <p:cNvPr id="10" name="">
            <a:extLst xmlns:a="http://schemas.openxmlformats.org/drawingml/2006/main">
              <a:ext uri="{FF2B5EF4-FFF2-40B4-BE49-F238E27FC236}">
                <a16:creationId xmlns:a16="http://schemas.microsoft.com/office/drawing/2014/main" id="{B1BED714-291D-4D48-A259-E51C7CB1E359}"/>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02</a:t>
            </a:r>
          </a:p>
        </p:txBody>
      </p:sp>
    </p:spTree>
    <p:extLst>
      <p:ext uri="{BB962C8B-B14F-4D97-AF65-F5344CB8AC3E}">
        <p14:creationId xmlns:p14="http://schemas.microsoft.com/office/powerpoint/2010/main" val="830051677"/>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6341349-020B-463E-9E6B-FAA2B35B33FB}"/>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01</a:t>
            </a:r>
          </a:p>
        </p:txBody>
      </p:sp>
      <p:sp>
        <p:nvSpPr>
          <p:cNvPr id="2" name="">
            <a:extLst xmlns:a="http://schemas.openxmlformats.org/drawingml/2006/main">
              <a:ext uri="{FF2B5EF4-FFF2-40B4-BE49-F238E27FC236}">
                <a16:creationId xmlns:a16="http://schemas.microsoft.com/office/drawing/2014/main" id="{D667245E-9516-486D-9EB1-BF4C4D9933A7}"/>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论文数据与验收目标</a:t>
            </a:r>
          </a:p>
        </p:txBody>
      </p:sp>
      <p:sp>
        <p:nvSpPr>
          <p:cNvPr id="3" name="">
            <a:extLst xmlns:a="http://schemas.openxmlformats.org/drawingml/2006/main">
              <a:ext uri="{FF2B5EF4-FFF2-40B4-BE49-F238E27FC236}">
                <a16:creationId xmlns:a16="http://schemas.microsoft.com/office/drawing/2014/main" id="{5400260F-B2EE-4FCB-9DA7-DCE9B5EA76B5}"/>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DBCEC2DA-3DAB-432D-BA53-28DF4EB576F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先固定比较对象，再查看模拟结果；Fig. 6d survival 与 IRB fidelity 分开处理</a:t>
            </a:r>
          </a:p>
        </p:txBody>
      </p:sp>
      <p:sp>
        <p:nvSpPr>
          <p:cNvPr id="5" name="">
            <a:extLst xmlns:a="http://schemas.openxmlformats.org/drawingml/2006/main">
              <a:ext uri="{FF2B5EF4-FFF2-40B4-BE49-F238E27FC236}">
                <a16:creationId xmlns:a16="http://schemas.microsoft.com/office/drawing/2014/main" id="{1E9DF563-3D99-4679-934B-161006FB58EB}"/>
              </a:ext>
            </a:extLst>
          </p:cNvPr>
          <p:cNvSpPr>
            <a:spLocks xmlns:a="http://schemas.openxmlformats.org/drawingml/2006/main" noGrp="1"/>
          </p:cNvSpPr>
          <p:nvPr/>
        </p:nvSpPr>
        <p:spPr>
          <a:xfrm xmlns:a="http://schemas.openxmlformats.org/drawingml/2006/main">
            <a:off x="609600" y="1257300"/>
            <a:ext cx="60007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88a3432a8cb48be"/>
          <a:srcRect xmlns:a="http://schemas.openxmlformats.org/drawingml/2006/main" l="2898" t="0" r="2898" b="0"/>
          <a:stretch xmlns:a="http://schemas.openxmlformats.org/drawingml/2006/main">
            <a:fillRect l="0" t="0" r="0" b="0"/>
          </a:stretch>
        </p:blipFill>
        <p:spPr>
          <a:xfrm xmlns:a="http://schemas.openxmlformats.org/drawingml/2006/main">
            <a:off x="781050" y="1428750"/>
            <a:ext cx="5657850" cy="3886200"/>
          </a:xfrm>
          <a:prstGeom xmlns:a="http://schemas.openxmlformats.org/drawingml/2006/main" prst="roundRect">
            <a:avLst>
              <a:gd name="adj" fmla="val 2451"/>
            </a:avLst>
          </a:prstGeom>
        </p:spPr>
      </p:pic>
      <p:sp>
        <p:nvSpPr>
          <p:cNvPr id="7" name="">
            <a:extLst xmlns:a="http://schemas.openxmlformats.org/drawingml/2006/main">
              <a:ext uri="{FF2B5EF4-FFF2-40B4-BE49-F238E27FC236}">
                <a16:creationId xmlns:a16="http://schemas.microsoft.com/office/drawing/2014/main" id="{AA07B3C1-BCAD-4B80-B895-03385D4D617D}"/>
              </a:ext>
            </a:extLst>
          </p:cNvPr>
          <p:cNvSpPr>
            <a:spLocks xmlns:a="http://schemas.openxmlformats.org/drawingml/2006/main" noGrp="1"/>
          </p:cNvSpPr>
          <p:nvPr/>
        </p:nvSpPr>
        <p:spPr>
          <a:xfrm xmlns:a="http://schemas.openxmlformats.org/drawingml/2006/main">
            <a:off x="6915150" y="1257300"/>
            <a:ext cx="46672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1108A99E-2E92-413E-84D9-4C8128D0209F}"/>
              </a:ext>
            </a:extLst>
          </p:cNvPr>
          <p:cNvSpPr>
            <a:spLocks xmlns:a="http://schemas.openxmlformats.org/drawingml/2006/main" noGrp="1"/>
          </p:cNvSpPr>
          <p:nvPr/>
        </p:nvSpPr>
        <p:spPr>
          <a:xfrm xmlns:a="http://schemas.openxmlformats.org/drawingml/2006/main">
            <a:off x="7162800" y="14668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需要复现的四条曲线</a:t>
            </a:r>
          </a:p>
        </p:txBody>
      </p:sp>
      <p:graphicFrame>
        <p:nvGraphicFramePr>
          <p:cNvPr id="25" name=""/>
          <p:cNvGraphicFramePr/>
          <p:nvPr/>
        </p:nvGraphicFramePr>
        <p:xfrm>
          <a:off xmlns:a="http://schemas.openxmlformats.org/drawingml/2006/main" x="7162800" y="1924050"/>
          <a:ext xmlns:a="http://schemas.openxmlformats.org/drawingml/2006/main" cx="4171950" cy="2247900"/>
        </p:xfrm>
        <a:graphic xmlns:a="http://schemas.openxmlformats.org/drawingml/2006/main">
          <a:graphicData uri="http://schemas.openxmlformats.org/drawingml/2006/table">
            <a:tbl>
              <a:tblPr/>
              <a:tblGrid>
                <a:gridCol w="2029597"/>
                <a:gridCol w="1127554"/>
                <a:gridCol w="1014799"/>
              </a:tblGrid>
              <a:tr h="449580">
                <a:tc>
                  <a:txBody>
                    <a:bodyPr>
                      <a:noAutofit/>
                    </a:bodyPr>
                    <a:lstStyle/>
                    <a:p>
                      <a:pPr algn="l"/>
                      <a:r>
                        <a:rPr sz="1050"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Paper</a:t>
                      </a:r>
                    </a:p>
                  </a:txBody>
                  <a:tcPr marL="91440" marR="91440" marT="45720" marB="45720" anchor="ctr">
                    <a:solidFill>
                      <a:srgbClr val="102A43"/>
                    </a:solidFill>
                  </a:tcPr>
                </a:tc>
              </a:tr>
              <a:tr h="449580">
                <a:tc>
                  <a:txBody>
                    <a:bodyPr>
                      <a:noAutofit/>
                    </a:bodyPr>
                    <a:lstStyle/>
                    <a:p>
                      <a:pPr algn="l"/>
                      <a:r>
                        <a:rPr sz="1125" b="0">
                          <a:solidFill>
                            <a:srgbClr val="344054"/>
                          </a:solidFill>
                          <a:latin typeface="Microsoft YaHei"/>
                          <a:ea typeface="Microsoft YaHei"/>
                          <a:cs typeface="Microsoft YaHei"/>
                        </a:rPr>
                        <a:t>Manual 200 µs</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0.334</a:t>
                      </a:r>
                    </a:p>
                  </a:txBody>
                  <a:tcPr marL="91440" marR="91440" marT="45720" marB="45720" anchor="ctr">
                    <a:solidFill>
                      <a:srgbClr val="FFFFFF"/>
                    </a:solidFill>
                  </a:tcPr>
                </a:tc>
              </a:tr>
              <a:tr h="449580">
                <a:tc>
                  <a:txBody>
                    <a:bodyPr>
                      <a:noAutofit/>
                    </a:bodyPr>
                    <a:lstStyle/>
                    <a:p>
                      <a:pPr algn="l"/>
                      <a:r>
                        <a:rPr sz="1125" b="0">
                          <a:solidFill>
                            <a:srgbClr val="344054"/>
                          </a:solidFill>
                          <a:latin typeface="Microsoft YaHei"/>
                          <a:ea typeface="Microsoft YaHei"/>
                          <a:cs typeface="Microsoft YaHei"/>
                        </a:rPr>
                        <a:t>Manual 400 µs</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0.414</a:t>
                      </a:r>
                    </a:p>
                  </a:txBody>
                  <a:tcPr marL="91440" marR="91440" marT="45720" marB="45720" anchor="ctr">
                    <a:solidFill>
                      <a:srgbClr val="F8FAFC"/>
                    </a:solidFill>
                  </a:tcPr>
                </a:tc>
              </a:tr>
              <a:tr h="449580">
                <a:tc>
                  <a:txBody>
                    <a:bodyPr>
                      <a:noAutofit/>
                    </a:bodyPr>
                    <a:lstStyle/>
                    <a:p>
                      <a:pPr algn="l"/>
                      <a:r>
                        <a:rPr sz="1125" b="0">
                          <a:solidFill>
                            <a:srgbClr val="344054"/>
                          </a:solidFill>
                          <a:latin typeface="Microsoft YaHei"/>
                          <a:ea typeface="Microsoft YaHei"/>
                          <a:cs typeface="Microsoft YaHei"/>
                        </a:rPr>
                        <a:t>Manual 600 µs</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0.573</a:t>
                      </a:r>
                    </a:p>
                  </a:txBody>
                  <a:tcPr marL="91440" marR="91440" marT="45720" marB="45720" anchor="ctr">
                    <a:solidFill>
                      <a:srgbClr val="FFFFFF"/>
                    </a:solidFill>
                  </a:tcPr>
                </a:tc>
              </a:tr>
              <a:tr h="449580">
                <a:tc>
                  <a:txBody>
                    <a:bodyPr>
                      <a:noAutofit/>
                    </a:bodyPr>
                    <a:lstStyle/>
                    <a:p>
                      <a:pPr algn="l"/>
                      <a:r>
                        <a:rPr sz="1125" b="0">
                          <a:solidFill>
                            <a:srgbClr val="344054"/>
                          </a:solidFill>
                          <a:latin typeface="Microsoft YaHei"/>
                          <a:ea typeface="Microsoft YaHei"/>
                          <a:cs typeface="Microsoft YaHei"/>
                        </a:rPr>
                        <a:t>ML 400 µs</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0.663</a:t>
                      </a:r>
                    </a:p>
                  </a:txBody>
                  <a:tcPr marL="91440" marR="91440" marT="45720" marB="45720" anchor="ctr">
                    <a:solidFill>
                      <a:srgbClr val="F8FAFC"/>
                    </a:solidFill>
                  </a:tcPr>
                </a:tc>
              </a:tr>
            </a:tbl>
          </a:graphicData>
        </a:graphic>
      </p:graphicFrame>
      <p:sp>
        <p:nvSpPr>
          <p:cNvPr id="10" name="">
            <a:extLst xmlns:a="http://schemas.openxmlformats.org/drawingml/2006/main">
              <a:ext uri="{FF2B5EF4-FFF2-40B4-BE49-F238E27FC236}">
                <a16:creationId xmlns:a16="http://schemas.microsoft.com/office/drawing/2014/main" id="{6C54ABF9-88E8-4EE4-B2D2-FA3FDEA2C1C4}"/>
              </a:ext>
            </a:extLst>
          </p:cNvPr>
          <p:cNvSpPr>
            <a:spLocks xmlns:a="http://schemas.openxmlformats.org/drawingml/2006/main" noGrp="1"/>
          </p:cNvSpPr>
          <p:nvPr/>
        </p:nvSpPr>
        <p:spPr>
          <a:xfrm xmlns:a="http://schemas.openxmlformats.org/drawingml/2006/main">
            <a:off x="7162800" y="4419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计算口径</a:t>
            </a:r>
          </a:p>
        </p:txBody>
      </p:sp>
      <p:sp>
        <p:nvSpPr>
          <p:cNvPr id="11" name="">
            <a:extLst xmlns:a="http://schemas.openxmlformats.org/drawingml/2006/main">
              <a:ext uri="{FF2B5EF4-FFF2-40B4-BE49-F238E27FC236}">
                <a16:creationId xmlns:a16="http://schemas.microsoft.com/office/drawing/2014/main" id="{90ED32EC-946C-4EA9-9D05-4DC2FF186247}"/>
              </a:ext>
            </a:extLst>
          </p:cNvPr>
          <p:cNvSpPr>
            <a:spLocks xmlns:a="http://schemas.openxmlformats.org/drawingml/2006/main" noGrp="1"/>
          </p:cNvSpPr>
          <p:nvPr/>
        </p:nvSpPr>
        <p:spPr>
          <a:xfrm xmlns:a="http://schemas.openxmlformats.org/drawingml/2006/main">
            <a:off x="7162800" y="4743450"/>
            <a:ext cx="4114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S(n) 是完成至少 n 次单程转移后仍满足束缚条件的原子比例。200 µs 曲线只在 n≤31 可辨。</a:t>
            </a:r>
          </a:p>
        </p:txBody>
      </p:sp>
      <p:sp>
        <p:nvSpPr>
          <p:cNvPr id="12" name="">
            <a:extLst xmlns:a="http://schemas.openxmlformats.org/drawingml/2006/main">
              <a:ext uri="{FF2B5EF4-FFF2-40B4-BE49-F238E27FC236}">
                <a16:creationId xmlns:a16="http://schemas.microsoft.com/office/drawing/2014/main" id="{EC57F736-6F53-4ECF-85F0-2888393D33BD}"/>
              </a:ext>
            </a:extLst>
          </p:cNvPr>
          <p:cNvSpPr>
            <a:spLocks xmlns:a="http://schemas.openxmlformats.org/drawingml/2006/main" noGrp="1"/>
          </p:cNvSpPr>
          <p:nvPr/>
        </p:nvSpPr>
        <p:spPr>
          <a:xfrm xmlns:a="http://schemas.openxmlformats.org/drawingml/2006/main">
            <a:off x="609600" y="5676900"/>
            <a:ext cx="10972800" cy="571500"/>
          </a:xfrm>
          <a:prstGeom xmlns:a="http://schemas.openxmlformats.org/drawingml/2006/main" prst="roundRect">
            <a:avLst>
              <a:gd name="adj" fmla="val 13333"/>
            </a:avLst>
          </a:prstGeom>
          <a:solidFill xmlns:a="http://schemas.openxmlformats.org/drawingml/2006/main">
            <a:srgbClr val="FEF3F2"/>
          </a:solidFill>
          <a:ln xmlns:a="http://schemas.openxmlformats.org/drawingml/2006/main" w="9525">
            <a:solidFill>
              <a:srgbClr val="FECDCA"/>
            </a:solidFill>
          </a:ln>
        </p:spPr>
      </p:sp>
      <p:sp>
        <p:nvSpPr>
          <p:cNvPr id="13" name="">
            <a:extLst xmlns:a="http://schemas.openxmlformats.org/drawingml/2006/main">
              <a:ext uri="{FF2B5EF4-FFF2-40B4-BE49-F238E27FC236}">
                <a16:creationId xmlns:a16="http://schemas.microsoft.com/office/drawing/2014/main" id="{3838345B-8B7E-4DC6-A039-1DE696D243D2}"/>
              </a:ext>
            </a:extLst>
          </p:cNvPr>
          <p:cNvSpPr>
            <a:spLocks xmlns:a="http://schemas.openxmlformats.org/drawingml/2006/main" noGrp="1"/>
          </p:cNvSpPr>
          <p:nvPr/>
        </p:nvSpPr>
        <p:spPr>
          <a:xfrm xmlns:a="http://schemas.openxmlformats.org/drawingml/2006/main">
            <a:off x="838200" y="580072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D92D20"/>
                </a:solidFill>
                <a:latin typeface="Microsoft YaHei"/>
                <a:ea typeface="Microsoft YaHei"/>
                <a:cs typeface="Microsoft YaHei"/>
              </a:defRPr>
            </a:pPr>
            <a:r>
              <a:rPr sz="1200" b="0">
                <a:solidFill>
                  <a:srgbClr val="D92D20"/>
                </a:solidFill>
                <a:latin typeface="Microsoft YaHei"/>
                <a:ea typeface="Microsoft YaHei"/>
                <a:cs typeface="Microsoft YaHei"/>
              </a:rPr>
              <a:t>验收标准：模拟曲线逐点落入论文数字化曲线 ±0.02。报告保留原始 CSV，并用稳定锚点生成单调参考线，避免把标记边缘像素解释成存活率振荡。</a:t>
            </a:r>
          </a:p>
        </p:txBody>
      </p:sp>
      <p:sp>
        <p:nvSpPr>
          <p:cNvPr id="14" name="">
            <a:extLst xmlns:a="http://schemas.openxmlformats.org/drawingml/2006/main">
              <a:ext uri="{FF2B5EF4-FFF2-40B4-BE49-F238E27FC236}">
                <a16:creationId xmlns:a16="http://schemas.microsoft.com/office/drawing/2014/main" id="{13194995-4ECD-4131-A87E-E386D929DB1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5" name="">
            <a:extLst xmlns:a="http://schemas.openxmlformats.org/drawingml/2006/main">
              <a:ext uri="{FF2B5EF4-FFF2-40B4-BE49-F238E27FC236}">
                <a16:creationId xmlns:a16="http://schemas.microsoft.com/office/drawing/2014/main" id="{512C5BDC-C839-499A-A906-7FD840ECCDF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fig6d_parameters.md · fig6d_survival_digitized.csv · digitize_fig6d.py</a:t>
            </a:r>
          </a:p>
        </p:txBody>
      </p:sp>
      <p:sp>
        <p:nvSpPr>
          <p:cNvPr id="16" name="">
            <a:extLst xmlns:a="http://schemas.openxmlformats.org/drawingml/2006/main">
              <a:ext uri="{FF2B5EF4-FFF2-40B4-BE49-F238E27FC236}">
                <a16:creationId xmlns:a16="http://schemas.microsoft.com/office/drawing/2014/main" id="{D68747E5-5F39-445C-A689-CC39A62AE96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03</a:t>
            </a:r>
          </a:p>
        </p:txBody>
      </p:sp>
    </p:spTree>
    <p:extLst>
      <p:ext uri="{BB962C8B-B14F-4D97-AF65-F5344CB8AC3E}">
        <p14:creationId xmlns:p14="http://schemas.microsoft.com/office/powerpoint/2010/main" val="8514393"/>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01BF227-C964-413D-9C0E-D649E01CB0E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02</a:t>
            </a:r>
          </a:p>
        </p:txBody>
      </p:sp>
      <p:sp>
        <p:nvSpPr>
          <p:cNvPr id="2" name="">
            <a:extLst xmlns:a="http://schemas.openxmlformats.org/drawingml/2006/main">
              <a:ext uri="{FF2B5EF4-FFF2-40B4-BE49-F238E27FC236}">
                <a16:creationId xmlns:a16="http://schemas.microsoft.com/office/drawing/2014/main" id="{0609FFAF-F60C-41A9-AA69-42DF35732EE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Cs 原子与双高斯阱模型</a:t>
            </a:r>
          </a:p>
        </p:txBody>
      </p:sp>
      <p:sp>
        <p:nvSpPr>
          <p:cNvPr id="3" name="">
            <a:extLst xmlns:a="http://schemas.openxmlformats.org/drawingml/2006/main">
              <a:ext uri="{FF2B5EF4-FFF2-40B4-BE49-F238E27FC236}">
                <a16:creationId xmlns:a16="http://schemas.microsoft.com/office/drawing/2014/main" id="{CDD2998B-EB25-4CE6-8F16-F95BF094C7B3}"/>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663089D3-382D-4308-8416-F61D5D49BE95}"/>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本步计算任意时间和位置的势能 U(x,t)、力 F(x,t)，为后续轨迹积分提供输入</a:t>
            </a:r>
          </a:p>
        </p:txBody>
      </p:sp>
      <p:sp>
        <p:nvSpPr>
          <p:cNvPr id="5" name="">
            <a:extLst xmlns:a="http://schemas.openxmlformats.org/drawingml/2006/main">
              <a:ext uri="{FF2B5EF4-FFF2-40B4-BE49-F238E27FC236}">
                <a16:creationId xmlns:a16="http://schemas.microsoft.com/office/drawing/2014/main" id="{855C0B56-2E70-48C1-803A-23F4D4C184CF}"/>
              </a:ext>
            </a:extLst>
          </p:cNvPr>
          <p:cNvSpPr>
            <a:spLocks xmlns:a="http://schemas.openxmlformats.org/drawingml/2006/main" noGrp="1"/>
          </p:cNvSpPr>
          <p:nvPr/>
        </p:nvSpPr>
        <p:spPr>
          <a:xfrm xmlns:a="http://schemas.openxmlformats.org/drawingml/2006/main">
            <a:off x="609600" y="1257300"/>
            <a:ext cx="4171950" cy="42481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F739D049-B4FE-4992-BF84-B9991CD8181C}"/>
              </a:ext>
            </a:extLst>
          </p:cNvPr>
          <p:cNvSpPr>
            <a:spLocks xmlns:a="http://schemas.openxmlformats.org/drawingml/2006/main" noGrp="1"/>
          </p:cNvSpPr>
          <p:nvPr/>
        </p:nvSpPr>
        <p:spPr>
          <a:xfrm xmlns:a="http://schemas.openxmlformats.org/drawingml/2006/main">
            <a:off x="876300" y="15049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一维时变势</a:t>
            </a:r>
          </a:p>
        </p:txBody>
      </p:sp>
      <p:sp>
        <p:nvSpPr>
          <p:cNvPr id="7" name="">
            <a:extLst xmlns:a="http://schemas.openxmlformats.org/drawingml/2006/main">
              <a:ext uri="{FF2B5EF4-FFF2-40B4-BE49-F238E27FC236}">
                <a16:creationId xmlns:a16="http://schemas.microsoft.com/office/drawing/2014/main" id="{C0075EF6-CC17-4E5F-AF10-0F49BE56B848}"/>
              </a:ext>
            </a:extLst>
          </p:cNvPr>
          <p:cNvSpPr>
            <a:spLocks xmlns:a="http://schemas.openxmlformats.org/drawingml/2006/main" noGrp="1"/>
          </p:cNvSpPr>
          <p:nvPr/>
        </p:nvSpPr>
        <p:spPr>
          <a:xfrm xmlns:a="http://schemas.openxmlformats.org/drawingml/2006/main">
            <a:off x="876300" y="203835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U(x,t) = −D(t) exp[−2(x−c(t))² / w²]</a:t>
            </a:r>
          </a:p>
        </p:txBody>
      </p:sp>
      <p:sp>
        <p:nvSpPr>
          <p:cNvPr id="8" name="">
            <a:extLst xmlns:a="http://schemas.openxmlformats.org/drawingml/2006/main">
              <a:ext uri="{FF2B5EF4-FFF2-40B4-BE49-F238E27FC236}">
                <a16:creationId xmlns:a16="http://schemas.microsoft.com/office/drawing/2014/main" id="{0EC3C724-8F3B-4D1D-9566-FD7609C0640A}"/>
              </a:ext>
            </a:extLst>
          </p:cNvPr>
          <p:cNvSpPr>
            <a:spLocks xmlns:a="http://schemas.openxmlformats.org/drawingml/2006/main" noGrp="1"/>
          </p:cNvSpPr>
          <p:nvPr/>
        </p:nvSpPr>
        <p:spPr>
          <a:xfrm xmlns:a="http://schemas.openxmlformats.org/drawingml/2006/main">
            <a:off x="876300" y="2705100"/>
            <a:ext cx="3638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E9384"/>
                </a:solidFill>
                <a:latin typeface="Microsoft YaHei"/>
                <a:ea typeface="Microsoft YaHei"/>
                <a:cs typeface="Microsoft YaHei"/>
              </a:defRPr>
            </a:pPr>
            <a:r>
              <a:rPr sz="1575" b="1">
                <a:solidFill>
                  <a:srgbClr val="0E9384"/>
                </a:solidFill>
                <a:latin typeface="Microsoft YaHei"/>
                <a:ea typeface="Microsoft YaHei"/>
                <a:cs typeface="Microsoft YaHei"/>
              </a:rPr>
              <a:t>F(x,t) = −∂U/∂x</a:t>
            </a:r>
          </a:p>
        </p:txBody>
      </p:sp>
      <p:sp>
        <p:nvSpPr>
          <p:cNvPr id="9" name="">
            <a:extLst xmlns:a="http://schemas.openxmlformats.org/drawingml/2006/main">
              <a:ext uri="{FF2B5EF4-FFF2-40B4-BE49-F238E27FC236}">
                <a16:creationId xmlns:a16="http://schemas.microsoft.com/office/drawing/2014/main" id="{2F80A3D1-E1B4-4636-BE89-DC7B4D87DF70}"/>
              </a:ext>
            </a:extLst>
          </p:cNvPr>
          <p:cNvSpPr>
            <a:spLocks xmlns:a="http://schemas.openxmlformats.org/drawingml/2006/main" noGrp="1"/>
          </p:cNvSpPr>
          <p:nvPr/>
        </p:nvSpPr>
        <p:spPr>
          <a:xfrm xmlns:a="http://schemas.openxmlformats.org/drawingml/2006/main">
            <a:off x="876300" y="3352800"/>
            <a:ext cx="3638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SLM 势和 AOD 势在同一坐标轴上相加。SLM 固定在 x=0；AOD 的中心 c(t) 和深度 D(t) 随控制波形变化。</a:t>
            </a:r>
          </a:p>
        </p:txBody>
      </p:sp>
      <p:sp>
        <p:nvSpPr>
          <p:cNvPr id="10" name="">
            <a:extLst xmlns:a="http://schemas.openxmlformats.org/drawingml/2006/main">
              <a:ext uri="{FF2B5EF4-FFF2-40B4-BE49-F238E27FC236}">
                <a16:creationId xmlns:a16="http://schemas.microsoft.com/office/drawing/2014/main" id="{0E4D383C-33FC-46EA-8D1F-D571F51C3C58}"/>
              </a:ext>
            </a:extLst>
          </p:cNvPr>
          <p:cNvSpPr>
            <a:spLocks xmlns:a="http://schemas.openxmlformats.org/drawingml/2006/main" noGrp="1"/>
          </p:cNvSpPr>
          <p:nvPr/>
        </p:nvSpPr>
        <p:spPr>
          <a:xfrm xmlns:a="http://schemas.openxmlformats.org/drawingml/2006/main">
            <a:off x="876300" y="441960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模型输出</a:t>
            </a:r>
          </a:p>
        </p:txBody>
      </p:sp>
      <p:sp>
        <p:nvSpPr>
          <p:cNvPr id="11" name="">
            <a:extLst xmlns:a="http://schemas.openxmlformats.org/drawingml/2006/main">
              <a:ext uri="{FF2B5EF4-FFF2-40B4-BE49-F238E27FC236}">
                <a16:creationId xmlns:a16="http://schemas.microsoft.com/office/drawing/2014/main" id="{43A568F6-7A61-4F23-91FF-D955E9D31084}"/>
              </a:ext>
            </a:extLst>
          </p:cNvPr>
          <p:cNvSpPr>
            <a:spLocks xmlns:a="http://schemas.openxmlformats.org/drawingml/2006/main" noGrp="1"/>
          </p:cNvSpPr>
          <p:nvPr/>
        </p:nvSpPr>
        <p:spPr>
          <a:xfrm xmlns:a="http://schemas.openxmlformats.org/drawingml/2006/main">
            <a:off x="876300" y="4762500"/>
            <a:ext cx="3638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每个时间点的总势能、总力、AOD/SLM 单阱能量，以及后续束缚判定需要的参考阱深。</a:t>
            </a:r>
          </a:p>
        </p:txBody>
      </p:sp>
      <p:sp>
        <p:nvSpPr>
          <p:cNvPr id="12" name="">
            <a:extLst xmlns:a="http://schemas.openxmlformats.org/drawingml/2006/main">
              <a:ext uri="{FF2B5EF4-FFF2-40B4-BE49-F238E27FC236}">
                <a16:creationId xmlns:a16="http://schemas.microsoft.com/office/drawing/2014/main" id="{4E34D96B-71BE-41AB-BE8D-C5AFF38A58D4}"/>
              </a:ext>
            </a:extLst>
          </p:cNvPr>
          <p:cNvSpPr>
            <a:spLocks xmlns:a="http://schemas.openxmlformats.org/drawingml/2006/main" noGrp="1"/>
          </p:cNvSpPr>
          <p:nvPr/>
        </p:nvSpPr>
        <p:spPr>
          <a:xfrm xmlns:a="http://schemas.openxmlformats.org/drawingml/2006/main">
            <a:off x="5086350" y="1257300"/>
            <a:ext cx="649605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EAECF0"/>
            </a:solidFill>
          </a:ln>
        </p:spPr>
      </p:sp>
      <p:sp>
        <p:nvSpPr>
          <p:cNvPr id="13" name="">
            <a:extLst xmlns:a="http://schemas.openxmlformats.org/drawingml/2006/main">
              <a:ext uri="{FF2B5EF4-FFF2-40B4-BE49-F238E27FC236}">
                <a16:creationId xmlns:a16="http://schemas.microsoft.com/office/drawing/2014/main" id="{0629E6D0-0868-4D65-B4CE-EA30547D6A68}"/>
              </a:ext>
            </a:extLst>
          </p:cNvPr>
          <p:cNvSpPr>
            <a:spLocks xmlns:a="http://schemas.openxmlformats.org/drawingml/2006/main" noGrp="1"/>
          </p:cNvSpPr>
          <p:nvPr/>
        </p:nvSpPr>
        <p:spPr>
          <a:xfrm xmlns:a="http://schemas.openxmlformats.org/drawingml/2006/main">
            <a:off x="5353050" y="15049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固定物理输入</a:t>
            </a:r>
          </a:p>
        </p:txBody>
      </p:sp>
      <p:graphicFrame>
        <p:nvGraphicFramePr>
          <p:cNvPr id="33" name=""/>
          <p:cNvGraphicFramePr/>
          <p:nvPr/>
        </p:nvGraphicFramePr>
        <p:xfrm>
          <a:off xmlns:a="http://schemas.openxmlformats.org/drawingml/2006/main" x="5353050" y="1962150"/>
          <a:ext xmlns:a="http://schemas.openxmlformats.org/drawingml/2006/main" cx="5962650" cy="3067050"/>
        </p:xfrm>
        <a:graphic xmlns:a="http://schemas.openxmlformats.org/drawingml/2006/main">
          <a:graphicData uri="http://schemas.openxmlformats.org/drawingml/2006/table">
            <a:tbl>
              <a:tblPr/>
              <a:tblGrid>
                <a:gridCol w="1522379"/>
                <a:gridCol w="1268649"/>
                <a:gridCol w="1902973"/>
                <a:gridCol w="1268649"/>
              </a:tblGrid>
              <a:tr h="438150">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Role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Source</a:t>
                      </a:r>
                    </a:p>
                  </a:txBody>
                  <a:tcPr marL="91440" marR="91440" marT="45720" marB="45720" anchor="ctr">
                    <a:solidFill>
                      <a:srgbClr val="102A43"/>
                    </a:solidFill>
                  </a:tcPr>
                </a:tc>
              </a:tr>
              <a:tr h="438150">
                <a:tc>
                  <a:txBody>
                    <a:bodyPr>
                      <a:noAutofit/>
                    </a:bodyPr>
                    <a:lstStyle/>
                    <a:p>
                      <a:pPr algn="l"/>
                      <a:r>
                        <a:rPr sz="1125" b="0">
                          <a:solidFill>
                            <a:srgbClr val="344054"/>
                          </a:solidFill>
                          <a:latin typeface="Microsoft YaHei"/>
                          <a:ea typeface="Microsoft YaHei"/>
                          <a:cs typeface="Microsoft YaHei"/>
                        </a:rPr>
                        <a:t>Atom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Cs-133</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质量 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config</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SLM depth</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140 µK</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最终束缚阱</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r>
                        <a:rPr sz="1125" b="0">
                          <a:solidFill>
                            <a:srgbClr val="344054"/>
                          </a:solidFill>
                          <a:latin typeface="Microsoft YaHei"/>
                          <a:ea typeface="Microsoft YaHei"/>
                          <a:cs typeface="Microsoft YaHei"/>
                        </a:rPr>
                        <a:t>AOD depth</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280 µK</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移动束缚阱</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SLM waist</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1.17 µm</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横向尺度 w</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r>
                        <a:rPr sz="1125" b="0">
                          <a:solidFill>
                            <a:srgbClr val="344054"/>
                          </a:solidFill>
                          <a:latin typeface="Microsoft YaHei"/>
                          <a:ea typeface="Microsoft YaHei"/>
                          <a:cs typeface="Microsoft YaHei"/>
                        </a:rPr>
                        <a:t>AOD waist</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1.17 µm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当前取值</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Separation</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2.4 µm</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中心位移</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AE4BFE36-1245-4AA8-94FD-484D5A994DEB}"/>
              </a:ext>
            </a:extLst>
          </p:cNvPr>
          <p:cNvSpPr>
            <a:spLocks xmlns:a="http://schemas.openxmlformats.org/drawingml/2006/main" noGrp="1"/>
          </p:cNvSpPr>
          <p:nvPr/>
        </p:nvSpPr>
        <p:spPr>
          <a:xfrm xmlns:a="http://schemas.openxmlformats.org/drawingml/2006/main">
            <a:off x="609600" y="5715000"/>
            <a:ext cx="10972800" cy="533400"/>
          </a:xfrm>
          <a:prstGeom xmlns:a="http://schemas.openxmlformats.org/drawingml/2006/main" prst="roundRect">
            <a:avLst>
              <a:gd name="adj" fmla="val 14286"/>
            </a:avLst>
          </a:prstGeom>
          <a:solidFill xmlns:a="http://schemas.openxmlformats.org/drawingml/2006/main">
            <a:srgbClr val="FFF6ED"/>
          </a:solidFill>
          <a:ln xmlns:a="http://schemas.openxmlformats.org/drawingml/2006/main" w="9525">
            <a:solidFill>
              <a:srgbClr val="FEDF89"/>
            </a:solidFill>
          </a:ln>
        </p:spPr>
      </p:sp>
      <p:sp>
        <p:nvSpPr>
          <p:cNvPr id="16" name="">
            <a:extLst xmlns:a="http://schemas.openxmlformats.org/drawingml/2006/main">
              <a:ext uri="{FF2B5EF4-FFF2-40B4-BE49-F238E27FC236}">
                <a16:creationId xmlns:a16="http://schemas.microsoft.com/office/drawing/2014/main" id="{F210684D-5CA8-4594-A98D-7D8840A75539}"/>
              </a:ext>
            </a:extLst>
          </p:cNvPr>
          <p:cNvSpPr>
            <a:spLocks xmlns:a="http://schemas.openxmlformats.org/drawingml/2006/main" noGrp="1"/>
          </p:cNvSpPr>
          <p:nvPr/>
        </p:nvSpPr>
        <p:spPr>
          <a:xfrm xmlns:a="http://schemas.openxmlformats.org/drawingml/2006/main">
            <a:off x="838200" y="5838825"/>
            <a:ext cx="1051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F79009"/>
                </a:solidFill>
                <a:latin typeface="Microsoft YaHei"/>
                <a:ea typeface="Microsoft YaHei"/>
                <a:cs typeface="Microsoft YaHei"/>
              </a:defRPr>
            </a:pPr>
            <a:r>
              <a:rPr sz="1200" b="0">
                <a:solidFill>
                  <a:srgbClr val="F79009"/>
                </a:solidFill>
                <a:latin typeface="Microsoft YaHei"/>
                <a:ea typeface="Microsoft YaHei"/>
                <a:cs typeface="Microsoft YaHei"/>
              </a:rPr>
              <a:t>边界：Fig. 6d 主比较只使用这一维理想高斯势。仓库中的 2D、3D 和量子模块没有自动并入本计算。</a:t>
            </a:r>
          </a:p>
        </p:txBody>
      </p:sp>
      <p:sp>
        <p:nvSpPr>
          <p:cNvPr id="17" name="">
            <a:extLst xmlns:a="http://schemas.openxmlformats.org/drawingml/2006/main">
              <a:ext uri="{FF2B5EF4-FFF2-40B4-BE49-F238E27FC236}">
                <a16:creationId xmlns:a16="http://schemas.microsoft.com/office/drawing/2014/main" id="{059C2718-898D-4198-BCE4-FBBFCAA5E276}"/>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DD28A2E5-F59B-416F-8C65-D05AB48F7AB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gaussian potential implementation</a:t>
            </a:r>
          </a:p>
        </p:txBody>
      </p:sp>
      <p:sp>
        <p:nvSpPr>
          <p:cNvPr id="19" name="">
            <a:extLst xmlns:a="http://schemas.openxmlformats.org/drawingml/2006/main">
              <a:ext uri="{FF2B5EF4-FFF2-40B4-BE49-F238E27FC236}">
                <a16:creationId xmlns:a16="http://schemas.microsoft.com/office/drawing/2014/main" id="{4AC6075A-5D6E-4E1D-913A-F7B70E99DE1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04</a:t>
            </a:r>
          </a:p>
        </p:txBody>
      </p:sp>
    </p:spTree>
    <p:extLst>
      <p:ext uri="{BB962C8B-B14F-4D97-AF65-F5344CB8AC3E}">
        <p14:creationId xmlns:p14="http://schemas.microsoft.com/office/powerpoint/2010/main" val="1902669952"/>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85BECBD-E631-44B6-B546-CF879423A9AD}"/>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03</a:t>
            </a:r>
          </a:p>
        </p:txBody>
      </p:sp>
      <p:sp>
        <p:nvSpPr>
          <p:cNvPr id="2" name="">
            <a:extLst xmlns:a="http://schemas.openxmlformats.org/drawingml/2006/main">
              <a:ext uri="{FF2B5EF4-FFF2-40B4-BE49-F238E27FC236}">
                <a16:creationId xmlns:a16="http://schemas.microsoft.com/office/drawing/2014/main" id="{94BF43F2-2677-448C-891D-FE7EF8A4C07C}"/>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初态采样、位点散布与平均加热</a:t>
            </a:r>
          </a:p>
        </p:txBody>
      </p:sp>
      <p:sp>
        <p:nvSpPr>
          <p:cNvPr id="3" name="">
            <a:extLst xmlns:a="http://schemas.openxmlformats.org/drawingml/2006/main">
              <a:ext uri="{FF2B5EF4-FFF2-40B4-BE49-F238E27FC236}">
                <a16:creationId xmlns:a16="http://schemas.microsoft.com/office/drawing/2014/main" id="{D8DBD404-68A3-47AE-90B1-D50C67FE97B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EECE23A-BB10-46F6-A7DB-A0FDECA7B86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本步为每个 shot 生成初始 x、v 和固定的位点参数；σ 表示高斯分布的标准差</a:t>
            </a:r>
          </a:p>
        </p:txBody>
      </p:sp>
      <p:graphicFrame>
        <p:nvGraphicFramePr>
          <p:cNvPr id="19" name=""/>
          <p:cNvGraphicFramePr/>
          <p:nvPr/>
        </p:nvGraphicFramePr>
        <p:xfrm>
          <a:off xmlns:a="http://schemas.openxmlformats.org/drawingml/2006/main" x="609600" y="1257300"/>
          <a:ext xmlns:a="http://schemas.openxmlformats.org/drawingml/2006/main" cx="10972800" cy="3676650"/>
        </p:xfrm>
        <a:graphic xmlns:a="http://schemas.openxmlformats.org/drawingml/2006/main">
          <a:graphicData uri="http://schemas.openxmlformats.org/drawingml/2006/table">
            <a:tbl>
              <a:tblPr/>
              <a:tblGrid>
                <a:gridCol w="2079812"/>
                <a:gridCol w="2079812"/>
                <a:gridCol w="4589929"/>
                <a:gridCol w="2223247"/>
              </a:tblGrid>
              <a:tr h="459581">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How the code uses it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Provenance</a:t>
                      </a:r>
                    </a:p>
                  </a:txBody>
                  <a:tcPr marL="91440" marR="91440" marT="45720" marB="45720" anchor="ctr">
                    <a:solidFill>
                      <a:srgbClr val="102A43"/>
                    </a:solidFill>
                  </a:tcPr>
                </a:tc>
              </a:tr>
              <a:tr h="459581">
                <a:tc>
                  <a:txBody>
                    <a:bodyPr>
                      <a:noAutofit/>
                    </a:bodyPr>
                    <a:lstStyle/>
                    <a:p>
                      <a:pPr algn="l"/>
                      <a:r>
                        <a:rPr sz="1050" b="0">
                          <a:solidFill>
                            <a:srgbClr val="344054"/>
                          </a:solidFill>
                          <a:latin typeface="Microsoft YaHei"/>
                          <a:ea typeface="Microsoft YaHei"/>
                          <a:cs typeface="Microsoft YaHei"/>
                        </a:rPr>
                        <a:t>Initial T</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5 µK</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只决定 t=0 的 x、v 热分布；E&lt;0 才接受</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uncalibrated</a:t>
                      </a:r>
                    </a:p>
                  </a:txBody>
                  <a:tcPr marL="91440" marR="91440" marT="45720" marB="45720" anchor="ctr">
                    <a:solidFill>
                      <a:srgbClr val="EFF8FF"/>
                    </a:solidFill>
                  </a:tcPr>
                </a:tc>
              </a:tr>
              <a:tr h="459581">
                <a:tc>
                  <a:txBody>
                    <a:bodyPr>
                      <a:noAutofit/>
                    </a:bodyPr>
                    <a:lstStyle/>
                    <a:p>
                      <a:pPr algn="l"/>
                      <a:r>
                        <a:rPr sz="1050" b="0">
                          <a:solidFill>
                            <a:srgbClr val="344054"/>
                          </a:solidFill>
                          <a:latin typeface="Microsoft YaHei"/>
                          <a:ea typeface="Microsoft YaHei"/>
                          <a:cs typeface="Microsoft YaHei"/>
                        </a:rPr>
                        <a:t>Static alignment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0.05 µm</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每个 shot 抽一次，在 60 次转移中固定</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Leg-wise jitter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0.01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每个 pickup / wait / drop-off 段重新抽样</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59581">
                <a:tc>
                  <a:txBody>
                    <a:bodyPr>
                      <a:noAutofit/>
                    </a:bodyPr>
                    <a:lstStyle/>
                    <a:p>
                      <a:pPr algn="l"/>
                      <a:r>
                        <a:rPr sz="1050" b="0">
                          <a:solidFill>
                            <a:srgbClr val="344054"/>
                          </a:solidFill>
                          <a:latin typeface="Microsoft YaHei"/>
                          <a:ea typeface="Microsoft YaHei"/>
                          <a:cs typeface="Microsoft YaHei"/>
                        </a:rPr>
                        <a:t>SLM depth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11.4%</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每个 shot 的乘性阱深散布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paper site spread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AOD depth / waist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2% / 2%</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每个 shot 的乘性深度与束腰散布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59581">
                <a:tc>
                  <a:txBody>
                    <a:bodyPr>
                      <a:noAutofit/>
                    </a:bodyPr>
                    <a:lstStyle/>
                    <a:p>
                      <a:pPr algn="l"/>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换算为确定性平均参量加热</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Recoil / pointing</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4.23 s⁻¹ / 1 pm² Hz⁻¹</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换算为每时间步注入能量</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model / assumed</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1FC621A-79E6-4AFA-8622-3D23A4380FB0}"/>
              </a:ext>
            </a:extLst>
          </p:cNvPr>
          <p:cNvSpPr>
            <a:spLocks xmlns:a="http://schemas.openxmlformats.org/drawingml/2006/main" noGrp="1"/>
          </p:cNvSpPr>
          <p:nvPr/>
        </p:nvSpPr>
        <p:spPr>
          <a:xfrm xmlns:a="http://schemas.openxmlformats.org/drawingml/2006/main">
            <a:off x="609600" y="5162550"/>
            <a:ext cx="5257800" cy="1066800"/>
          </a:xfrm>
          <a:prstGeom xmlns:a="http://schemas.openxmlformats.org/drawingml/2006/main" prst="roundRect">
            <a:avLst>
              <a:gd name="adj" fmla="val 7143"/>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679020CB-F657-400F-9F34-0579D98648BF}"/>
              </a:ext>
            </a:extLst>
          </p:cNvPr>
          <p:cNvSpPr>
            <a:spLocks xmlns:a="http://schemas.openxmlformats.org/drawingml/2006/main" noGrp="1"/>
          </p:cNvSpPr>
          <p:nvPr/>
        </p:nvSpPr>
        <p:spPr>
          <a:xfrm xmlns:a="http://schemas.openxmlformats.org/drawingml/2006/main">
            <a:off x="838200" y="53340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70EF"/>
                </a:solidFill>
                <a:latin typeface="Microsoft YaHei"/>
                <a:ea typeface="Microsoft YaHei"/>
                <a:cs typeface="Microsoft YaHei"/>
              </a:defRPr>
            </a:pPr>
            <a:r>
              <a:rPr sz="1350" b="1">
                <a:solidFill>
                  <a:srgbClr val="1570EF"/>
                </a:solidFill>
                <a:latin typeface="Microsoft YaHei"/>
                <a:ea typeface="Microsoft YaHei"/>
                <a:cs typeface="Microsoft YaHei"/>
              </a:rPr>
              <a:t>初态计算</a:t>
            </a:r>
          </a:p>
        </p:txBody>
      </p:sp>
      <p:sp>
        <p:nvSpPr>
          <p:cNvPr id="8" name="">
            <a:extLst xmlns:a="http://schemas.openxmlformats.org/drawingml/2006/main">
              <a:ext uri="{FF2B5EF4-FFF2-40B4-BE49-F238E27FC236}">
                <a16:creationId xmlns:a16="http://schemas.microsoft.com/office/drawing/2014/main" id="{F9C192E5-F2C0-4397-A2E1-88AFB8F55D1C}"/>
              </a:ext>
            </a:extLst>
          </p:cNvPr>
          <p:cNvSpPr>
            <a:spLocks xmlns:a="http://schemas.openxmlformats.org/drawingml/2006/main" noGrp="1"/>
          </p:cNvSpPr>
          <p:nvPr/>
        </p:nvSpPr>
        <p:spPr>
          <a:xfrm xmlns:a="http://schemas.openxmlformats.org/drawingml/2006/main">
            <a:off x="838200" y="5657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x、v 先按 SLM 阱底的谐振近似采样，再用 E₀=½mv²+U_SLM(x)&lt;0 做束缚拒绝。转移开始后状态连续继承，不逐程重新热化。</a:t>
            </a:r>
          </a:p>
        </p:txBody>
      </p:sp>
      <p:sp>
        <p:nvSpPr>
          <p:cNvPr id="9" name="">
            <a:extLst xmlns:a="http://schemas.openxmlformats.org/drawingml/2006/main">
              <a:ext uri="{FF2B5EF4-FFF2-40B4-BE49-F238E27FC236}">
                <a16:creationId xmlns:a16="http://schemas.microsoft.com/office/drawing/2014/main" id="{FEE8DFFC-2A89-4402-8F80-DDCB20853B06}"/>
              </a:ext>
            </a:extLst>
          </p:cNvPr>
          <p:cNvSpPr>
            <a:spLocks xmlns:a="http://schemas.openxmlformats.org/drawingml/2006/main" noGrp="1"/>
          </p:cNvSpPr>
          <p:nvPr/>
        </p:nvSpPr>
        <p:spPr>
          <a:xfrm xmlns:a="http://schemas.openxmlformats.org/drawingml/2006/main">
            <a:off x="6115050" y="5162550"/>
            <a:ext cx="5467350" cy="1066800"/>
          </a:xfrm>
          <a:prstGeom xmlns:a="http://schemas.openxmlformats.org/drawingml/2006/main" prst="roundRect">
            <a:avLst>
              <a:gd name="adj" fmla="val 7143"/>
            </a:avLst>
          </a:prstGeom>
          <a:solidFill xmlns:a="http://schemas.openxmlformats.org/drawingml/2006/main">
            <a:srgbClr val="FEF3F2"/>
          </a:solidFill>
          <a:ln xmlns:a="http://schemas.openxmlformats.org/drawingml/2006/main" w="9525">
            <a:solidFill>
              <a:srgbClr val="FECDCA"/>
            </a:solidFill>
          </a:ln>
        </p:spPr>
      </p:sp>
      <p:sp>
        <p:nvSpPr>
          <p:cNvPr id="10" name="">
            <a:extLst xmlns:a="http://schemas.openxmlformats.org/drawingml/2006/main">
              <a:ext uri="{FF2B5EF4-FFF2-40B4-BE49-F238E27FC236}">
                <a16:creationId xmlns:a16="http://schemas.microsoft.com/office/drawing/2014/main" id="{67656185-4A1A-447F-B958-9C798BD4FD23}"/>
              </a:ext>
            </a:extLst>
          </p:cNvPr>
          <p:cNvSpPr>
            <a:spLocks xmlns:a="http://schemas.openxmlformats.org/drawingml/2006/main" noGrp="1"/>
          </p:cNvSpPr>
          <p:nvPr/>
        </p:nvSpPr>
        <p:spPr>
          <a:xfrm xmlns:a="http://schemas.openxmlformats.org/drawingml/2006/main">
            <a:off x="6343650" y="5334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当前未建模</a:t>
            </a:r>
          </a:p>
        </p:txBody>
      </p:sp>
      <p:sp>
        <p:nvSpPr>
          <p:cNvPr id="11" name="">
            <a:extLst xmlns:a="http://schemas.openxmlformats.org/drawingml/2006/main">
              <a:ext uri="{FF2B5EF4-FFF2-40B4-BE49-F238E27FC236}">
                <a16:creationId xmlns:a16="http://schemas.microsoft.com/office/drawing/2014/main" id="{EC8DDF67-B6CB-413E-A2E2-9043A28BDF6F}"/>
              </a:ext>
            </a:extLst>
          </p:cNvPr>
          <p:cNvSpPr>
            <a:spLocks xmlns:a="http://schemas.openxmlformats.org/drawingml/2006/main" noGrp="1"/>
          </p:cNvSpPr>
          <p:nvPr/>
        </p:nvSpPr>
        <p:spPr>
          <a:xfrm xmlns:a="http://schemas.openxmlformats.org/drawingml/2006/main">
            <a:off x="6343650" y="5657850"/>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Level 2C 没有真空寿命、Raman 损失、成像误差或随机 RIN 时间序列。RIN 在当前实现中是平均功率注入。</a:t>
            </a:r>
          </a:p>
        </p:txBody>
      </p:sp>
      <p:sp>
        <p:nvSpPr>
          <p:cNvPr id="12" name="">
            <a:extLst xmlns:a="http://schemas.openxmlformats.org/drawingml/2006/main">
              <a:ext uri="{FF2B5EF4-FFF2-40B4-BE49-F238E27FC236}">
                <a16:creationId xmlns:a16="http://schemas.microsoft.com/office/drawing/2014/main" id="{E84D6036-94B2-471A-8309-5920E4D95A1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61567A74-BA2B-4E85-A284-C9616B5567EB}"/>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survival_engine.py · noise_heating.py</a:t>
            </a:r>
          </a:p>
        </p:txBody>
      </p:sp>
      <p:sp>
        <p:nvSpPr>
          <p:cNvPr id="14" name="">
            <a:extLst xmlns:a="http://schemas.openxmlformats.org/drawingml/2006/main">
              <a:ext uri="{FF2B5EF4-FFF2-40B4-BE49-F238E27FC236}">
                <a16:creationId xmlns:a16="http://schemas.microsoft.com/office/drawing/2014/main" id="{B4E3A5E9-BDDA-4C5B-BAC7-0B1C594BE3F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05</a:t>
            </a:r>
          </a:p>
        </p:txBody>
      </p:sp>
    </p:spTree>
    <p:extLst>
      <p:ext uri="{BB962C8B-B14F-4D97-AF65-F5344CB8AC3E}">
        <p14:creationId xmlns:p14="http://schemas.microsoft.com/office/powerpoint/2010/main" val="1250280566"/>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FA1DE4-546E-46BD-9AF4-46441E7C05DA}"/>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04</a:t>
            </a:r>
          </a:p>
        </p:txBody>
      </p:sp>
      <p:sp>
        <p:nvSpPr>
          <p:cNvPr id="2" name="">
            <a:extLst xmlns:a="http://schemas.openxmlformats.org/drawingml/2006/main">
              <a:ext uri="{FF2B5EF4-FFF2-40B4-BE49-F238E27FC236}">
                <a16:creationId xmlns:a16="http://schemas.microsoft.com/office/drawing/2014/main" id="{71001A74-56B0-4405-B77D-BF72B44B11B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手工波形与一次往返协议</a:t>
            </a:r>
          </a:p>
        </p:txBody>
      </p:sp>
      <p:sp>
        <p:nvSpPr>
          <p:cNvPr id="3" name="">
            <a:extLst xmlns:a="http://schemas.openxmlformats.org/drawingml/2006/main">
              <a:ext uri="{FF2B5EF4-FFF2-40B4-BE49-F238E27FC236}">
                <a16:creationId xmlns:a16="http://schemas.microsoft.com/office/drawing/2014/main" id="{868DB328-5D93-47A0-ABA7-067467C4F61A}"/>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EE4CA97D-1B9E-4FDF-9958-D2D5D3C849E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本步把论文 Methods 转成 AOD 中心 c(t)、深度 D(t) 和三个连续阶段</a:t>
            </a:r>
          </a:p>
        </p:txBody>
      </p:sp>
      <p:graphicFrame>
        <p:nvGraphicFramePr>
          <p:cNvPr id="16" name="Chart"/>
          <p:cNvGraphicFramePr/>
          <p:nvPr/>
        </p:nvGraphicFramePr>
        <p:xfrm>
          <a:off xmlns:a="http://schemas.openxmlformats.org/drawingml/2006/main" x="609600" y="1314450"/>
          <a:ext xmlns:a="http://schemas.openxmlformats.org/drawingml/2006/main" cx="5143500" cy="2781300"/>
        </p:xfrm>
        <a:graphic xmlns:a="http://schemas.openxmlformats.org/drawingml/2006/main">
          <a:graphicData uri="http://schemas.openxmlformats.org/drawingml/2006/chart">
            <c:chart xmlns:r="http://schemas.openxmlformats.org/officeDocument/2006/relationships" xmlns:c="http://schemas.openxmlformats.org/drawingml/2006/chart" r:id="Rf8d6f27b14aa4fbd"/>
          </a:graphicData>
        </a:graphic>
      </p:graphicFrame>
      <p:graphicFrame>
        <p:nvGraphicFramePr>
          <p:cNvPr id="17" name="Chart"/>
          <p:cNvGraphicFramePr/>
          <p:nvPr/>
        </p:nvGraphicFramePr>
        <p:xfrm>
          <a:off xmlns:a="http://schemas.openxmlformats.org/drawingml/2006/main" x="6096000" y="1314450"/>
          <a:ext xmlns:a="http://schemas.openxmlformats.org/drawingml/2006/main" cx="5486400" cy="2781300"/>
        </p:xfrm>
        <a:graphic xmlns:a="http://schemas.openxmlformats.org/drawingml/2006/main">
          <a:graphicData uri="http://schemas.openxmlformats.org/drawingml/2006/chart">
            <c:chart xmlns:r="http://schemas.openxmlformats.org/officeDocument/2006/relationships" xmlns:c="http://schemas.openxmlformats.org/drawingml/2006/chart" r:id="R1a8196f628154bcc"/>
          </a:graphicData>
        </a:graphic>
      </p:graphicFrame>
      <p:graphicFrame>
        <p:nvGraphicFramePr>
          <p:cNvPr id="18" name=""/>
          <p:cNvGraphicFramePr/>
          <p:nvPr/>
        </p:nvGraphicFramePr>
        <p:xfrm>
          <a:off xmlns:a="http://schemas.openxmlformats.org/drawingml/2006/main" x="609600" y="4362450"/>
          <a:ext xmlns:a="http://schemas.openxmlformats.org/drawingml/2006/main" cx="10972800" cy="1562100"/>
        </p:xfrm>
        <a:graphic xmlns:a="http://schemas.openxmlformats.org/drawingml/2006/main">
          <a:graphicData uri="http://schemas.openxmlformats.org/drawingml/2006/table">
            <a:tbl>
              <a:tblPr/>
              <a:tblGrid>
                <a:gridCol w="1600200"/>
                <a:gridCol w="2057400"/>
                <a:gridCol w="4800600"/>
                <a:gridCol w="2514600"/>
              </a:tblGrid>
              <a:tr h="390525">
                <a:tc>
                  <a:txBody>
                    <a:bodyPr>
                      <a:noAutofit/>
                    </a:bodyPr>
                    <a:lstStyle/>
                    <a:p>
                      <a:pPr algn="l"/>
                      <a:r>
                        <a:rPr sz="1050" b="1">
                          <a:solidFill>
                            <a:srgbClr val="FFFFFF"/>
                          </a:solidFill>
                          <a:latin typeface="Microsoft YaHei"/>
                          <a:ea typeface="Microsoft YaHei"/>
                          <a:cs typeface="Microsoft YaHei"/>
                        </a:rPr>
                        <a:t>Phase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Duration</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Control operation</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End-of-phase calculation</a:t>
                      </a:r>
                    </a:p>
                  </a:txBody>
                  <a:tcPr marL="91440" marR="91440" marT="45720" marB="45720" anchor="ctr">
                    <a:solidFill>
                      <a:srgbClr val="102A43"/>
                    </a:solidFill>
                  </a:tcPr>
                </a:tc>
              </a:tr>
              <a:tr h="390525">
                <a:tc>
                  <a:txBody>
                    <a:bodyPr>
                      <a:noAutofit/>
                    </a:bodyPr>
                    <a:lstStyle/>
                    <a:p>
                      <a:pPr algn="l"/>
                      <a:r>
                        <a:rPr sz="1050" b="0">
                          <a:solidFill>
                            <a:srgbClr val="344054"/>
                          </a:solidFill>
                          <a:latin typeface="Microsoft YaHei"/>
                          <a:ea typeface="Microsoft YaHei"/>
                          <a:cs typeface="Microsoft YaHei"/>
                        </a:rPr>
                        <a:t>Pick-up</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前 48% 二次升深，后 52% constant-jerk 移动 2.4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进入 100 µs wait</a:t>
                      </a:r>
                    </a:p>
                  </a:txBody>
                  <a:tcPr marL="91440" marR="91440" marT="45720" marB="45720" anchor="ctr">
                    <a:solidFill>
                      <a:srgbClr val="FFFFFF"/>
                    </a:solidFill>
                  </a:tcPr>
                </a:tc>
              </a:tr>
              <a:tr h="390525">
                <a:tc>
                  <a:txBody>
                    <a:bodyPr>
                      <a:noAutofit/>
                    </a:bodyPr>
                    <a:lstStyle/>
                    <a:p>
                      <a:pPr algn="l"/>
                      <a:r>
                        <a:rPr sz="1050" b="0">
                          <a:solidFill>
                            <a:srgbClr val="344054"/>
                          </a:solidFill>
                          <a:latin typeface="Microsoft YaHei"/>
                          <a:ea typeface="Microsoft YaHei"/>
                          <a:cs typeface="Microsoft YaHei"/>
                        </a:rPr>
                        <a:t>Wait</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100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SLM 关闭，AOD 保持原子</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计算 E_AOD&lt;0</a:t>
                      </a:r>
                    </a:p>
                  </a:txBody>
                  <a:tcPr marL="91440" marR="91440" marT="45720" marB="45720" anchor="ctr">
                    <a:solidFill>
                      <a:srgbClr val="F8FAFC"/>
                    </a:solidFill>
                  </a:tcPr>
                </a:tc>
              </a:tr>
              <a:tr h="390525">
                <a:tc>
                  <a:txBody>
                    <a:bodyPr>
                      <a:noAutofit/>
                    </a:bodyPr>
                    <a:lstStyle/>
                    <a:p>
                      <a:pPr algn="l"/>
                      <a:r>
                        <a:rPr sz="1050" b="0">
                          <a:solidFill>
                            <a:srgbClr val="344054"/>
                          </a:solidFill>
                          <a:latin typeface="Microsoft YaHei"/>
                          <a:ea typeface="Microsoft YaHei"/>
                          <a:cs typeface="Microsoft YaHei"/>
                        </a:rPr>
                        <a:t>Drop-off</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与 pick-up 相同</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使用 pick-up 的严格时间反演</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计算 E_SLM&lt;0</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DD75B39-5026-449C-A475-D242596B9DA1}"/>
              </a:ext>
            </a:extLst>
          </p:cNvPr>
          <p:cNvSpPr>
            <a:spLocks xmlns:a="http://schemas.openxmlformats.org/drawingml/2006/main" noGrp="1"/>
          </p:cNvSpPr>
          <p:nvPr/>
        </p:nvSpPr>
        <p:spPr>
          <a:xfrm xmlns:a="http://schemas.openxmlformats.org/drawingml/2006/main">
            <a:off x="819150" y="60483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一个 pick-up 判定和一个 drop-off 判定构成两次 one-way transfer；60 次单程对应最多 30 次完整往返。</a:t>
            </a:r>
          </a:p>
        </p:txBody>
      </p:sp>
      <p:sp>
        <p:nvSpPr>
          <p:cNvPr id="9" name="">
            <a:extLst xmlns:a="http://schemas.openxmlformats.org/drawingml/2006/main">
              <a:ext uri="{FF2B5EF4-FFF2-40B4-BE49-F238E27FC236}">
                <a16:creationId xmlns:a16="http://schemas.microsoft.com/office/drawing/2014/main" id="{057C4618-D19B-47F4-8614-697DC93886C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9DEC0A1E-60CE-4EC2-9F0C-97443BB59D38}"/>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waveforms.py · fig6d_parameters.md · level2c config</a:t>
            </a:r>
          </a:p>
        </p:txBody>
      </p:sp>
      <p:sp>
        <p:nvSpPr>
          <p:cNvPr id="11" name="">
            <a:extLst xmlns:a="http://schemas.openxmlformats.org/drawingml/2006/main">
              <a:ext uri="{FF2B5EF4-FFF2-40B4-BE49-F238E27FC236}">
                <a16:creationId xmlns:a16="http://schemas.microsoft.com/office/drawing/2014/main" id="{120A6B3D-E4B0-4BB5-A1AA-E35CB9558F2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06</a:t>
            </a:r>
          </a:p>
        </p:txBody>
      </p:sp>
    </p:spTree>
    <p:extLst>
      <p:ext uri="{BB962C8B-B14F-4D97-AF65-F5344CB8AC3E}">
        <p14:creationId xmlns:p14="http://schemas.microsoft.com/office/powerpoint/2010/main" val="449020994"/>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CB0B32-25B8-478E-9A81-FA93B775C6A3}"/>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05</a:t>
            </a:r>
          </a:p>
        </p:txBody>
      </p:sp>
      <p:sp>
        <p:nvSpPr>
          <p:cNvPr id="2" name="">
            <a:extLst xmlns:a="http://schemas.openxmlformats.org/drawingml/2006/main">
              <a:ext uri="{FF2B5EF4-FFF2-40B4-BE49-F238E27FC236}">
                <a16:creationId xmlns:a16="http://schemas.microsoft.com/office/drawing/2014/main" id="{1355F355-7DBD-4CCD-913E-3C3CB614C669}"/>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单个原子的数值传播与束缚判定</a:t>
            </a:r>
          </a:p>
        </p:txBody>
      </p:sp>
      <p:sp>
        <p:nvSpPr>
          <p:cNvPr id="3" name="">
            <a:extLst xmlns:a="http://schemas.openxmlformats.org/drawingml/2006/main">
              <a:ext uri="{FF2B5EF4-FFF2-40B4-BE49-F238E27FC236}">
                <a16:creationId xmlns:a16="http://schemas.microsoft.com/office/drawing/2014/main" id="{3B96EF89-A45A-41CF-A4DD-2594050A030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2086DCB-C0A3-4375-8CE4-48FF0205CCC2}"/>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本步按 dt 更新 x、v 和注入能量；原子失败后立即退出后续计算</a:t>
            </a:r>
          </a:p>
        </p:txBody>
      </p:sp>
      <p:sp>
        <p:nvSpPr>
          <p:cNvPr id="5" name="">
            <a:extLst xmlns:a="http://schemas.openxmlformats.org/drawingml/2006/main">
              <a:ext uri="{FF2B5EF4-FFF2-40B4-BE49-F238E27FC236}">
                <a16:creationId xmlns:a16="http://schemas.microsoft.com/office/drawing/2014/main" id="{69142AD6-0847-440E-9EC5-1314933AAD7B}"/>
              </a:ext>
            </a:extLst>
          </p:cNvPr>
          <p:cNvSpPr>
            <a:spLocks xmlns:a="http://schemas.openxmlformats.org/drawingml/2006/main" noGrp="1"/>
          </p:cNvSpPr>
          <p:nvPr/>
        </p:nvSpPr>
        <p:spPr>
          <a:xfrm xmlns:a="http://schemas.openxmlformats.org/drawingml/2006/main">
            <a:off x="609600" y="1257300"/>
            <a:ext cx="476250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F4047729-BA52-4C25-9A35-5A7A4E7D6E8A}"/>
              </a:ext>
            </a:extLst>
          </p:cNvPr>
          <p:cNvSpPr>
            <a:spLocks xmlns:a="http://schemas.openxmlformats.org/drawingml/2006/main" noGrp="1"/>
          </p:cNvSpPr>
          <p:nvPr/>
        </p:nvSpPr>
        <p:spPr>
          <a:xfrm xmlns:a="http://schemas.openxmlformats.org/drawingml/2006/main">
            <a:off x="876300" y="15049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Velocity-Verlet 更新</a:t>
            </a:r>
          </a:p>
        </p:txBody>
      </p:sp>
      <p:sp>
        <p:nvSpPr>
          <p:cNvPr id="7" name="">
            <a:extLst xmlns:a="http://schemas.openxmlformats.org/drawingml/2006/main">
              <a:ext uri="{FF2B5EF4-FFF2-40B4-BE49-F238E27FC236}">
                <a16:creationId xmlns:a16="http://schemas.microsoft.com/office/drawing/2014/main" id="{C5E5E11E-6A62-4ECC-8EC7-1CB220ED7FE7}"/>
              </a:ext>
            </a:extLst>
          </p:cNvPr>
          <p:cNvSpPr>
            <a:spLocks xmlns:a="http://schemas.openxmlformats.org/drawingml/2006/main" noGrp="1"/>
          </p:cNvSpPr>
          <p:nvPr/>
        </p:nvSpPr>
        <p:spPr>
          <a:xfrm xmlns:a="http://schemas.openxmlformats.org/drawingml/2006/main">
            <a:off x="876300" y="20383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70EF"/>
                </a:solidFill>
                <a:latin typeface="Microsoft YaHei"/>
                <a:ea typeface="Microsoft YaHei"/>
                <a:cs typeface="Microsoft YaHei"/>
              </a:defRPr>
            </a:pPr>
            <a:r>
              <a:rPr sz="1500" b="1">
                <a:solidFill>
                  <a:srgbClr val="1570EF"/>
                </a:solidFill>
                <a:latin typeface="Microsoft YaHei"/>
                <a:ea typeface="Microsoft YaHei"/>
                <a:cs typeface="Microsoft YaHei"/>
              </a:rPr>
              <a:t>a(t) = [F_SLM + F_AOD] / m</a:t>
            </a:r>
          </a:p>
        </p:txBody>
      </p:sp>
      <p:sp>
        <p:nvSpPr>
          <p:cNvPr id="8" name="">
            <a:extLst xmlns:a="http://schemas.openxmlformats.org/drawingml/2006/main">
              <a:ext uri="{FF2B5EF4-FFF2-40B4-BE49-F238E27FC236}">
                <a16:creationId xmlns:a16="http://schemas.microsoft.com/office/drawing/2014/main" id="{F9BBC483-07ED-47AE-B8D4-B279EDA0CBC2}"/>
              </a:ext>
            </a:extLst>
          </p:cNvPr>
          <p:cNvSpPr>
            <a:spLocks xmlns:a="http://schemas.openxmlformats.org/drawingml/2006/main" noGrp="1"/>
          </p:cNvSpPr>
          <p:nvPr/>
        </p:nvSpPr>
        <p:spPr>
          <a:xfrm xmlns:a="http://schemas.openxmlformats.org/drawingml/2006/main">
            <a:off x="876300" y="25717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x(t+dt) = x + v·dt + ½a·dt²</a:t>
            </a:r>
          </a:p>
        </p:txBody>
      </p:sp>
      <p:sp>
        <p:nvSpPr>
          <p:cNvPr id="9" name="">
            <a:extLst xmlns:a="http://schemas.openxmlformats.org/drawingml/2006/main">
              <a:ext uri="{FF2B5EF4-FFF2-40B4-BE49-F238E27FC236}">
                <a16:creationId xmlns:a16="http://schemas.microsoft.com/office/drawing/2014/main" id="{A93C6131-C6E0-4CAD-B064-0560948FD80E}"/>
              </a:ext>
            </a:extLst>
          </p:cNvPr>
          <p:cNvSpPr>
            <a:spLocks xmlns:a="http://schemas.openxmlformats.org/drawingml/2006/main" noGrp="1"/>
          </p:cNvSpPr>
          <p:nvPr/>
        </p:nvSpPr>
        <p:spPr>
          <a:xfrm xmlns:a="http://schemas.openxmlformats.org/drawingml/2006/main">
            <a:off x="876300" y="31051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v(t+dt) = v + ½[a(t)+a(t+dt)]·dt</a:t>
            </a:r>
          </a:p>
        </p:txBody>
      </p:sp>
      <p:sp>
        <p:nvSpPr>
          <p:cNvPr id="10" name="">
            <a:extLst xmlns:a="http://schemas.openxmlformats.org/drawingml/2006/main">
              <a:ext uri="{FF2B5EF4-FFF2-40B4-BE49-F238E27FC236}">
                <a16:creationId xmlns:a16="http://schemas.microsoft.com/office/drawing/2014/main" id="{748A442B-CF82-43B0-8856-C4EF846EB663}"/>
              </a:ext>
            </a:extLst>
          </p:cNvPr>
          <p:cNvSpPr>
            <a:spLocks xmlns:a="http://schemas.openxmlformats.org/drawingml/2006/main" noGrp="1"/>
          </p:cNvSpPr>
          <p:nvPr/>
        </p:nvSpPr>
        <p:spPr>
          <a:xfrm xmlns:a="http://schemas.openxmlformats.org/drawingml/2006/main">
            <a:off x="876300" y="3695700"/>
            <a:ext cx="422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状态在相邻阶段和相邻往返之间连续继承。代码不会在每次 transfer 前重新采样或重新热化。</a:t>
            </a:r>
          </a:p>
        </p:txBody>
      </p:sp>
      <p:sp>
        <p:nvSpPr>
          <p:cNvPr id="11" name="">
            <a:extLst xmlns:a="http://schemas.openxmlformats.org/drawingml/2006/main">
              <a:ext uri="{FF2B5EF4-FFF2-40B4-BE49-F238E27FC236}">
                <a16:creationId xmlns:a16="http://schemas.microsoft.com/office/drawing/2014/main" id="{D488EBA8-37E9-4477-A1E1-E15DA612E1E5}"/>
              </a:ext>
            </a:extLst>
          </p:cNvPr>
          <p:cNvSpPr>
            <a:spLocks xmlns:a="http://schemas.openxmlformats.org/drawingml/2006/main" noGrp="1"/>
          </p:cNvSpPr>
          <p:nvPr/>
        </p:nvSpPr>
        <p:spPr>
          <a:xfrm xmlns:a="http://schemas.openxmlformats.org/drawingml/2006/main">
            <a:off x="5695950" y="1257300"/>
            <a:ext cx="588645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12" name="">
            <a:extLst xmlns:a="http://schemas.openxmlformats.org/drawingml/2006/main">
              <a:ext uri="{FF2B5EF4-FFF2-40B4-BE49-F238E27FC236}">
                <a16:creationId xmlns:a16="http://schemas.microsoft.com/office/drawing/2014/main" id="{5B19FBA8-63D3-432D-97C0-9BB960043FBD}"/>
              </a:ext>
            </a:extLst>
          </p:cNvPr>
          <p:cNvSpPr>
            <a:spLocks xmlns:a="http://schemas.openxmlformats.org/drawingml/2006/main" noGrp="1"/>
          </p:cNvSpPr>
          <p:nvPr/>
        </p:nvSpPr>
        <p:spPr>
          <a:xfrm xmlns:a="http://schemas.openxmlformats.org/drawingml/2006/main">
            <a:off x="5962650" y="1504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数值与加热参数</a:t>
            </a:r>
          </a:p>
        </p:txBody>
      </p:sp>
      <p:graphicFrame>
        <p:nvGraphicFramePr>
          <p:cNvPr id="31" name=""/>
          <p:cNvGraphicFramePr/>
          <p:nvPr/>
        </p:nvGraphicFramePr>
        <p:xfrm>
          <a:off xmlns:a="http://schemas.openxmlformats.org/drawingml/2006/main" x="5962650" y="1962150"/>
          <a:ext xmlns:a="http://schemas.openxmlformats.org/drawingml/2006/main" cx="5353050" cy="2076450"/>
        </p:xfrm>
        <a:graphic xmlns:a="http://schemas.openxmlformats.org/drawingml/2006/main">
          <a:graphicData uri="http://schemas.openxmlformats.org/drawingml/2006/table">
            <a:tbl>
              <a:tblPr/>
              <a:tblGrid>
                <a:gridCol w="1655582"/>
                <a:gridCol w="1269280"/>
                <a:gridCol w="2428188"/>
              </a:tblGrid>
              <a:tr h="346075">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Meaning</a:t>
                      </a:r>
                    </a:p>
                  </a:txBody>
                  <a:tcPr marL="91440" marR="91440" marT="45720" marB="45720" anchor="ctr">
                    <a:solidFill>
                      <a:srgbClr val="102A43"/>
                    </a:solidFill>
                  </a:tcPr>
                </a:tc>
              </a:tr>
              <a:tr h="346075">
                <a:tc>
                  <a:txBody>
                    <a:bodyPr>
                      <a:noAutofit/>
                    </a:bodyPr>
                    <a:lstStyle/>
                    <a:p>
                      <a:pPr algn="l"/>
                      <a:r>
                        <a:rPr sz="1050" b="0">
                          <a:solidFill>
                            <a:srgbClr val="344054"/>
                          </a:solidFill>
                          <a:latin typeface="Microsoft YaHei"/>
                          <a:ea typeface="Microsoft YaHei"/>
                          <a:cs typeface="Microsoft YaHei"/>
                        </a:rPr>
                        <a:t>Main dt</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0.05 µs</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主扫描积分步长</a:t>
                      </a:r>
                    </a:p>
                  </a:txBody>
                  <a:tcPr marL="91440" marR="91440" marT="45720" marB="45720" anchor="ctr">
                    <a:solidFill>
                      <a:srgbClr val="FFFFFF"/>
                    </a:solidFill>
                  </a:tcPr>
                </a:tc>
              </a:tr>
              <a:tr h="346075">
                <a:tc>
                  <a:txBody>
                    <a:bodyPr>
                      <a:noAutofit/>
                    </a:bodyPr>
                    <a:lstStyle/>
                    <a:p>
                      <a:pPr algn="l"/>
                      <a:r>
                        <a:rPr sz="1050" b="0">
                          <a:solidFill>
                            <a:srgbClr val="344054"/>
                          </a:solidFill>
                          <a:latin typeface="Microsoft YaHei"/>
                          <a:ea typeface="Microsoft YaHei"/>
                          <a:cs typeface="Microsoft YaHei"/>
                        </a:rPr>
                        <a:t>Convergence dt</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0.025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步长减半复算</a:t>
                      </a:r>
                    </a:p>
                  </a:txBody>
                  <a:tcPr marL="91440" marR="91440" marT="45720" marB="45720" anchor="ctr">
                    <a:solidFill>
                      <a:srgbClr val="F8FAFC"/>
                    </a:solidFill>
                  </a:tcPr>
                </a:tc>
              </a:tr>
              <a:tr h="346075">
                <a:tc>
                  <a:txBody>
                    <a:bodyPr>
                      <a:noAutofit/>
                    </a:bodyPr>
                    <a:lstStyle/>
                    <a:p>
                      <a:pPr algn="l"/>
                      <a:r>
                        <a:rPr sz="1050" b="0">
                          <a:solidFill>
                            <a:srgbClr val="344054"/>
                          </a:solidFill>
                          <a:latin typeface="Microsoft YaHei"/>
                          <a:ea typeface="Microsoft YaHei"/>
                          <a:cs typeface="Microsoft YaHei"/>
                        </a:rPr>
                        <a:t>Recoil rate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4.23 s⁻¹</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平均反冲加热</a:t>
                      </a:r>
                    </a:p>
                  </a:txBody>
                  <a:tcPr marL="91440" marR="91440" marT="45720" marB="45720" anchor="ctr">
                    <a:solidFill>
                      <a:srgbClr val="FFFFFF"/>
                    </a:solidFill>
                  </a:tcPr>
                </a:tc>
              </a:tr>
              <a:tr h="346075">
                <a:tc>
                  <a:txBody>
                    <a:bodyPr>
                      <a:noAutofit/>
                    </a:bodyPr>
                    <a:lstStyle/>
                    <a:p>
                      <a:pPr algn="l"/>
                      <a:r>
                        <a:rPr sz="1050" b="0">
                          <a:solidFill>
                            <a:srgbClr val="344054"/>
                          </a:solidFill>
                          <a:latin typeface="Microsoft YaHei"/>
                          <a:ea typeface="Microsoft YaHei"/>
                          <a:cs typeface="Microsoft YaHei"/>
                        </a:rPr>
                        <a:t>RIN reference ν₀</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36.007 kHz</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参量加热参考频率</a:t>
                      </a:r>
                    </a:p>
                  </a:txBody>
                  <a:tcPr marL="91440" marR="91440" marT="45720" marB="45720" anchor="ctr">
                    <a:solidFill>
                      <a:srgbClr val="F8FAFC"/>
                    </a:solidFill>
                  </a:tcPr>
                </a:tc>
              </a:tr>
              <a:tr h="346075">
                <a:tc>
                  <a:txBody>
                    <a:bodyPr>
                      <a:noAutofit/>
                    </a:bodyPr>
                    <a:lstStyle/>
                    <a:p>
                      <a:pPr algn="l"/>
                      <a:r>
                        <a:rPr sz="1050" b="0">
                          <a:solidFill>
                            <a:srgbClr val="344054"/>
                          </a:solidFill>
                          <a:latin typeface="Microsoft YaHei"/>
                          <a:ea typeface="Microsoft YaHei"/>
                          <a:cs typeface="Microsoft YaHei"/>
                        </a:rPr>
                        <a:t>Noise update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every dt</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将平均功率转换为动能增量</a:t>
                      </a:r>
                    </a:p>
                  </a:txBody>
                  <a:tcPr marL="91440" marR="91440" marT="45720" marB="45720" anchor="ctr">
                    <a:solidFill>
                      <a:srgbClr val="FFFFFF"/>
                    </a:solidFill>
                  </a:tcPr>
                </a:tc>
              </a:tr>
            </a:tbl>
          </a:graphicData>
        </a:graphic>
      </p:graphicFrame>
      <p:graphicFrame>
        <p:nvGraphicFramePr>
          <p:cNvPr id="32" name=""/>
          <p:cNvGraphicFramePr/>
          <p:nvPr/>
        </p:nvGraphicFramePr>
        <p:xfrm>
          <a:off xmlns:a="http://schemas.openxmlformats.org/drawingml/2006/main" x="609600" y="4572000"/>
          <a:ext xmlns:a="http://schemas.openxmlformats.org/drawingml/2006/main" cx="10972800" cy="1352550"/>
        </p:xfrm>
        <a:graphic xmlns:a="http://schemas.openxmlformats.org/drawingml/2006/main">
          <a:graphicData uri="http://schemas.openxmlformats.org/drawingml/2006/table">
            <a:tbl>
              <a:tblPr/>
              <a:tblGrid>
                <a:gridCol w="2545690"/>
                <a:gridCol w="5266944"/>
                <a:gridCol w="3160166"/>
              </a:tblGrid>
              <a:tr h="450850">
                <a:tc>
                  <a:txBody>
                    <a:bodyPr>
                      <a:noAutofit/>
                    </a:bodyPr>
                    <a:lstStyle/>
                    <a:p>
                      <a:pPr algn="l"/>
                      <a:r>
                        <a:rPr sz="1125" b="1">
                          <a:solidFill>
                            <a:srgbClr val="FFFFFF"/>
                          </a:solidFill>
                          <a:latin typeface="Microsoft YaHei"/>
                          <a:ea typeface="Microsoft YaHei"/>
                          <a:cs typeface="Microsoft YaHei"/>
                        </a:rPr>
                        <a:t>Checkpoint</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Energy used for decision</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Decision</a:t>
                      </a:r>
                    </a:p>
                  </a:txBody>
                  <a:tcPr marL="91440" marR="91440" marT="45720" marB="45720" anchor="ctr">
                    <a:solidFill>
                      <a:srgbClr val="102A43"/>
                    </a:solidFill>
                  </a:tcPr>
                </a:tc>
              </a:tr>
              <a:tr h="450850">
                <a:tc>
                  <a:txBody>
                    <a:bodyPr>
                      <a:noAutofit/>
                    </a:bodyPr>
                    <a:lstStyle/>
                    <a:p>
                      <a:pPr algn="l"/>
                      <a:r>
                        <a:rPr sz="1200" b="0">
                          <a:solidFill>
                            <a:srgbClr val="344054"/>
                          </a:solidFill>
                          <a:latin typeface="Microsoft YaHei"/>
                          <a:ea typeface="Microsoft YaHei"/>
                          <a:cs typeface="Microsoft YaHei"/>
                        </a:rPr>
                        <a:t>After pickup wait</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E_AOD = ½mv² + U_AOD(x)</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E_AOD&lt;0 才保留</a:t>
                      </a:r>
                    </a:p>
                  </a:txBody>
                  <a:tcPr marL="91440" marR="91440" marT="45720" marB="45720" anchor="ctr">
                    <a:solidFill>
                      <a:srgbClr val="FFFFFF"/>
                    </a:solidFill>
                  </a:tcPr>
                </a:tc>
              </a:tr>
              <a:tr h="450850">
                <a:tc>
                  <a:txBody>
                    <a:bodyPr>
                      <a:noAutofit/>
                    </a:bodyPr>
                    <a:lstStyle/>
                    <a:p>
                      <a:pPr algn="l"/>
                      <a:r>
                        <a:rPr sz="1200" b="0">
                          <a:solidFill>
                            <a:srgbClr val="344054"/>
                          </a:solidFill>
                          <a:latin typeface="Microsoft YaHei"/>
                          <a:ea typeface="Microsoft YaHei"/>
                          <a:cs typeface="Microsoft YaHei"/>
                        </a:rPr>
                        <a:t>After drop-off</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E_SLM = ½mv² + U_SLM(x)</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E_SLM&lt;0 才保留</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DD2DEE89-1DBD-4882-82D9-15FB71C953B4}"/>
              </a:ext>
            </a:extLst>
          </p:cNvPr>
          <p:cNvSpPr>
            <a:spLocks xmlns:a="http://schemas.openxmlformats.org/drawingml/2006/main" noGrp="1"/>
          </p:cNvSpPr>
          <p:nvPr/>
        </p:nvSpPr>
        <p:spPr>
          <a:xfrm xmlns:a="http://schemas.openxmlformats.org/drawingml/2006/main">
            <a:off x="83820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Early stop：某个 shot 首次失败后从活跃池移除，不允许在后续阶段偶然重新俘获。</a:t>
            </a:r>
          </a:p>
        </p:txBody>
      </p:sp>
      <p:sp>
        <p:nvSpPr>
          <p:cNvPr id="16" name="">
            <a:extLst xmlns:a="http://schemas.openxmlformats.org/drawingml/2006/main">
              <a:ext uri="{FF2B5EF4-FFF2-40B4-BE49-F238E27FC236}">
                <a16:creationId xmlns:a16="http://schemas.microsoft.com/office/drawing/2014/main" id="{72F07DD6-1184-44FC-B9E3-247475DD24F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7" name="">
            <a:extLst xmlns:a="http://schemas.openxmlformats.org/drawingml/2006/main">
              <a:ext uri="{FF2B5EF4-FFF2-40B4-BE49-F238E27FC236}">
                <a16:creationId xmlns:a16="http://schemas.microsoft.com/office/drawing/2014/main" id="{27162240-7703-4932-82AE-393B542B508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survival_engine.py · noise_heating.py · work-energy implementation</a:t>
            </a:r>
          </a:p>
        </p:txBody>
      </p:sp>
      <p:sp>
        <p:nvSpPr>
          <p:cNvPr id="18" name="">
            <a:extLst xmlns:a="http://schemas.openxmlformats.org/drawingml/2006/main">
              <a:ext uri="{FF2B5EF4-FFF2-40B4-BE49-F238E27FC236}">
                <a16:creationId xmlns:a16="http://schemas.microsoft.com/office/drawing/2014/main" id="{29D8F4A4-2EF1-46F7-89F8-71B5BF5EE38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07</a:t>
            </a:r>
          </a:p>
        </p:txBody>
      </p:sp>
    </p:spTree>
    <p:extLst>
      <p:ext uri="{BB962C8B-B14F-4D97-AF65-F5344CB8AC3E}">
        <p14:creationId xmlns:p14="http://schemas.microsoft.com/office/powerpoint/2010/main" val="925382350"/>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BB40E46-EEBF-4F69-BA33-4D301802D8BF}"/>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06</a:t>
            </a:r>
          </a:p>
        </p:txBody>
      </p:sp>
      <p:sp>
        <p:nvSpPr>
          <p:cNvPr id="2" name="">
            <a:extLst xmlns:a="http://schemas.openxmlformats.org/drawingml/2006/main">
              <a:ext uri="{FF2B5EF4-FFF2-40B4-BE49-F238E27FC236}">
                <a16:creationId xmlns:a16="http://schemas.microsoft.com/office/drawing/2014/main" id="{A7F7EBAE-33BE-415C-9624-CC1B01D5B56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从逐原子判定到存活曲线 S(n)</a:t>
            </a:r>
          </a:p>
        </p:txBody>
      </p:sp>
      <p:sp>
        <p:nvSpPr>
          <p:cNvPr id="3" name="">
            <a:extLst xmlns:a="http://schemas.openxmlformats.org/drawingml/2006/main">
              <a:ext uri="{FF2B5EF4-FFF2-40B4-BE49-F238E27FC236}">
                <a16:creationId xmlns:a16="http://schemas.microsoft.com/office/drawing/2014/main" id="{3A242AFD-8BCF-4FF3-8050-772CF5333CC1}"/>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3F4114E-87A5-437C-8DE3-4E2D3CEDD7C2}"/>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每个 n 统计仍在活跃池中的 shot；图中阶梯来自有限样本计数</a:t>
            </a:r>
          </a:p>
        </p:txBody>
      </p:sp>
      <p:graphicFrame>
        <p:nvGraphicFramePr>
          <p:cNvPr id="22" name="Chart"/>
          <p:cNvGraphicFramePr/>
          <p:nvPr/>
        </p:nvGraphicFramePr>
        <p:xfrm>
          <a:off xmlns:a="http://schemas.openxmlformats.org/drawingml/2006/main" x="609600" y="1352550"/>
          <a:ext xmlns:a="http://schemas.openxmlformats.org/drawingml/2006/main" cx="6953250" cy="3981450"/>
        </p:xfrm>
        <a:graphic xmlns:a="http://schemas.openxmlformats.org/drawingml/2006/main">
          <a:graphicData uri="http://schemas.openxmlformats.org/drawingml/2006/chart">
            <c:chart xmlns:r="http://schemas.openxmlformats.org/officeDocument/2006/relationships" xmlns:c="http://schemas.openxmlformats.org/drawingml/2006/chart" r:id="R66eba876e9e141b2"/>
          </a:graphicData>
        </a:graphic>
      </p:graphicFrame>
      <p:sp>
        <p:nvSpPr>
          <p:cNvPr id="6" name="">
            <a:extLst xmlns:a="http://schemas.openxmlformats.org/drawingml/2006/main">
              <a:ext uri="{FF2B5EF4-FFF2-40B4-BE49-F238E27FC236}">
                <a16:creationId xmlns:a16="http://schemas.microsoft.com/office/drawing/2014/main" id="{203C9A7E-6781-47FC-BDCE-1187DC876C69}"/>
              </a:ext>
            </a:extLst>
          </p:cNvPr>
          <p:cNvSpPr>
            <a:spLocks xmlns:a="http://schemas.openxmlformats.org/drawingml/2006/main" noGrp="1"/>
          </p:cNvSpPr>
          <p:nvPr/>
        </p:nvSpPr>
        <p:spPr>
          <a:xfrm xmlns:a="http://schemas.openxmlformats.org/drawingml/2006/main">
            <a:off x="7867650" y="1352550"/>
            <a:ext cx="3714750" cy="39814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1DE90829-5A5A-4B10-AFF1-A5A1D4A82049}"/>
              </a:ext>
            </a:extLst>
          </p:cNvPr>
          <p:cNvSpPr>
            <a:spLocks xmlns:a="http://schemas.openxmlformats.org/drawingml/2006/main" noGrp="1"/>
          </p:cNvSpPr>
          <p:nvPr/>
        </p:nvSpPr>
        <p:spPr>
          <a:xfrm xmlns:a="http://schemas.openxmlformats.org/drawingml/2006/main">
            <a:off x="8134350" y="1600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统计量</a:t>
            </a:r>
          </a:p>
        </p:txBody>
      </p:sp>
      <p:sp>
        <p:nvSpPr>
          <p:cNvPr id="8" name="">
            <a:extLst xmlns:a="http://schemas.openxmlformats.org/drawingml/2006/main">
              <a:ext uri="{FF2B5EF4-FFF2-40B4-BE49-F238E27FC236}">
                <a16:creationId xmlns:a16="http://schemas.microsoft.com/office/drawing/2014/main" id="{E2EC314A-8886-4AFC-B6E0-08AAF866445C}"/>
              </a:ext>
            </a:extLst>
          </p:cNvPr>
          <p:cNvSpPr>
            <a:spLocks xmlns:a="http://schemas.openxmlformats.org/drawingml/2006/main" noGrp="1"/>
          </p:cNvSpPr>
          <p:nvPr/>
        </p:nvSpPr>
        <p:spPr>
          <a:xfrm xmlns:a="http://schemas.openxmlformats.org/drawingml/2006/main">
            <a:off x="8134350" y="209550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S(n) = N_survive(n) / N₀</a:t>
            </a:r>
          </a:p>
        </p:txBody>
      </p:sp>
      <p:sp>
        <p:nvSpPr>
          <p:cNvPr id="9" name="">
            <a:extLst xmlns:a="http://schemas.openxmlformats.org/drawingml/2006/main">
              <a:ext uri="{FF2B5EF4-FFF2-40B4-BE49-F238E27FC236}">
                <a16:creationId xmlns:a16="http://schemas.microsoft.com/office/drawing/2014/main" id="{16B99EE5-29FD-4367-AD11-E7A64E8CF6E1}"/>
              </a:ext>
            </a:extLst>
          </p:cNvPr>
          <p:cNvSpPr>
            <a:spLocks xmlns:a="http://schemas.openxmlformats.org/drawingml/2006/main" noGrp="1"/>
          </p:cNvSpPr>
          <p:nvPr/>
        </p:nvSpPr>
        <p:spPr>
          <a:xfrm xmlns:a="http://schemas.openxmlformats.org/drawingml/2006/main">
            <a:off x="8134350" y="27813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02A43"/>
                </a:solidFill>
                <a:latin typeface="Microsoft YaHei"/>
                <a:ea typeface="Microsoft YaHei"/>
                <a:cs typeface="Microsoft YaHei"/>
              </a:defRPr>
            </a:pPr>
            <a:r>
              <a:rPr sz="1275" b="1">
                <a:solidFill>
                  <a:srgbClr val="102A43"/>
                </a:solidFill>
                <a:latin typeface="Microsoft YaHei"/>
                <a:ea typeface="Microsoft YaHei"/>
                <a:cs typeface="Microsoft YaHei"/>
              </a:rPr>
              <a:t>几何等效每程损失</a:t>
            </a:r>
          </a:p>
        </p:txBody>
      </p:sp>
      <p:sp>
        <p:nvSpPr>
          <p:cNvPr id="10" name="">
            <a:extLst xmlns:a="http://schemas.openxmlformats.org/drawingml/2006/main">
              <a:ext uri="{FF2B5EF4-FFF2-40B4-BE49-F238E27FC236}">
                <a16:creationId xmlns:a16="http://schemas.microsoft.com/office/drawing/2014/main" id="{224631CE-BF1D-42D3-810C-437C513EEC37}"/>
              </a:ext>
            </a:extLst>
          </p:cNvPr>
          <p:cNvSpPr>
            <a:spLocks xmlns:a="http://schemas.openxmlformats.org/drawingml/2006/main" noGrp="1"/>
          </p:cNvSpPr>
          <p:nvPr/>
        </p:nvSpPr>
        <p:spPr>
          <a:xfrm xmlns:a="http://schemas.openxmlformats.org/drawingml/2006/main">
            <a:off x="8134350" y="3143250"/>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L_eq = 1 − S(n)^(1/n)</a:t>
            </a:r>
          </a:p>
        </p:txBody>
      </p:sp>
      <p:sp>
        <p:nvSpPr>
          <p:cNvPr id="11" name="">
            <a:extLst xmlns:a="http://schemas.openxmlformats.org/drawingml/2006/main">
              <a:ext uri="{FF2B5EF4-FFF2-40B4-BE49-F238E27FC236}">
                <a16:creationId xmlns:a16="http://schemas.microsoft.com/office/drawing/2014/main" id="{1E2A3027-4B47-437B-A4BB-40E9F2D40ACE}"/>
              </a:ext>
            </a:extLst>
          </p:cNvPr>
          <p:cNvSpPr>
            <a:spLocks xmlns:a="http://schemas.openxmlformats.org/drawingml/2006/main" noGrp="1"/>
          </p:cNvSpPr>
          <p:nvPr/>
        </p:nvSpPr>
        <p:spPr>
          <a:xfrm xmlns:a="http://schemas.openxmlformats.org/drawingml/2006/main">
            <a:off x="8134350" y="3867150"/>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扫描池：256 shots，seed 23001</a:t>
            </a:r>
          </a:p>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复核池：512 shots，seed 23002</a:t>
            </a:r>
          </a:p>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场景间使用同一随机池做 CRN 配对。</a:t>
            </a:r>
          </a:p>
        </p:txBody>
      </p:sp>
      <p:sp>
        <p:nvSpPr>
          <p:cNvPr id="12" name="">
            <a:extLst xmlns:a="http://schemas.openxmlformats.org/drawingml/2006/main">
              <a:ext uri="{FF2B5EF4-FFF2-40B4-BE49-F238E27FC236}">
                <a16:creationId xmlns:a16="http://schemas.microsoft.com/office/drawing/2014/main" id="{B1E6747F-DD51-4645-8ACC-CE467C2623A6}"/>
              </a:ext>
            </a:extLst>
          </p:cNvPr>
          <p:cNvSpPr>
            <a:spLocks xmlns:a="http://schemas.openxmlformats.org/drawingml/2006/main" noGrp="1"/>
          </p:cNvSpPr>
          <p:nvPr/>
        </p:nvSpPr>
        <p:spPr>
          <a:xfrm xmlns:a="http://schemas.openxmlformats.org/drawingml/2006/main">
            <a:off x="8134350" y="49530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88" b="0">
                <a:solidFill>
                  <a:srgbClr val="D92D20"/>
                </a:solidFill>
                <a:latin typeface="Microsoft YaHei"/>
                <a:ea typeface="Microsoft YaHei"/>
                <a:cs typeface="Microsoft YaHei"/>
              </a:defRPr>
            </a:pPr>
            <a:r>
              <a:rPr sz="1088" b="0">
                <a:solidFill>
                  <a:srgbClr val="D92D20"/>
                </a:solidFill>
                <a:latin typeface="Microsoft YaHei"/>
                <a:ea typeface="Microsoft YaHei"/>
                <a:cs typeface="Microsoft YaHei"/>
              </a:rPr>
              <a:t>L_eq 只是端点换算，不等于论文三参数拟合中的瞬时损失。</a:t>
            </a:r>
          </a:p>
        </p:txBody>
      </p:sp>
      <p:sp>
        <p:nvSpPr>
          <p:cNvPr id="13" name="">
            <a:extLst xmlns:a="http://schemas.openxmlformats.org/drawingml/2006/main">
              <a:ext uri="{FF2B5EF4-FFF2-40B4-BE49-F238E27FC236}">
                <a16:creationId xmlns:a16="http://schemas.microsoft.com/office/drawing/2014/main" id="{5B68DD88-7195-41AE-BE7B-E93DCAFDED5B}"/>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oundRect">
            <a:avLst>
              <a:gd name="adj" fmla="val 12500"/>
            </a:avLst>
          </a:prstGeom>
          <a:solidFill xmlns:a="http://schemas.openxmlformats.org/drawingml/2006/main">
            <a:srgbClr val="F2F4F7"/>
          </a:solidFill>
          <a:ln xmlns:a="http://schemas.openxmlformats.org/drawingml/2006/main" w="9525">
            <a:solidFill>
              <a:srgbClr val="EAECF0"/>
            </a:solidFill>
          </a:ln>
        </p:spPr>
      </p:sp>
      <p:sp>
        <p:nvSpPr>
          <p:cNvPr id="14" name="">
            <a:extLst xmlns:a="http://schemas.openxmlformats.org/drawingml/2006/main">
              <a:ext uri="{FF2B5EF4-FFF2-40B4-BE49-F238E27FC236}">
                <a16:creationId xmlns:a16="http://schemas.microsoft.com/office/drawing/2014/main" id="{95DCFBC8-4795-4685-8B41-C294E334F496}"/>
              </a:ext>
            </a:extLst>
          </p:cNvPr>
          <p:cNvSpPr>
            <a:spLocks xmlns:a="http://schemas.openxmlformats.org/drawingml/2006/main" noGrp="1"/>
          </p:cNvSpPr>
          <p:nvPr/>
        </p:nvSpPr>
        <p:spPr>
          <a:xfrm xmlns:a="http://schemas.openxmlformats.org/drawingml/2006/main">
            <a:off x="838200" y="57721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图中 baseline 的离散小台阶由 256 个 shot 的整数计数产生。它们应当单调不增，但不代表连续概率曲线的真实细纹。</a:t>
            </a:r>
          </a:p>
        </p:txBody>
      </p:sp>
      <p:sp>
        <p:nvSpPr>
          <p:cNvPr id="15" name="">
            <a:extLst xmlns:a="http://schemas.openxmlformats.org/drawingml/2006/main">
              <a:ext uri="{FF2B5EF4-FFF2-40B4-BE49-F238E27FC236}">
                <a16:creationId xmlns:a16="http://schemas.microsoft.com/office/drawing/2014/main" id="{068BDDEE-6C1D-41B8-BF0C-D6F1D465F61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6F121547-341F-4143-A877-ED839CE567FC}"/>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survival_engine.py · statistics.py</a:t>
            </a:r>
          </a:p>
        </p:txBody>
      </p:sp>
      <p:sp>
        <p:nvSpPr>
          <p:cNvPr id="17" name="">
            <a:extLst xmlns:a="http://schemas.openxmlformats.org/drawingml/2006/main">
              <a:ext uri="{FF2B5EF4-FFF2-40B4-BE49-F238E27FC236}">
                <a16:creationId xmlns:a16="http://schemas.microsoft.com/office/drawing/2014/main" id="{990DACDD-425F-4461-B4EF-D7E8BCFF1478}"/>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08</a:t>
            </a:r>
          </a:p>
        </p:txBody>
      </p:sp>
    </p:spTree>
    <p:extLst>
      <p:ext uri="{BB962C8B-B14F-4D97-AF65-F5344CB8AC3E}">
        <p14:creationId xmlns:p14="http://schemas.microsoft.com/office/powerpoint/2010/main" val="794217477"/>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3B650BF-CBEA-4ACE-BCCC-2A1DE8E1C5A0}"/>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07</a:t>
            </a:r>
          </a:p>
        </p:txBody>
      </p:sp>
      <p:sp>
        <p:nvSpPr>
          <p:cNvPr id="2" name="">
            <a:extLst xmlns:a="http://schemas.openxmlformats.org/drawingml/2006/main">
              <a:ext uri="{FF2B5EF4-FFF2-40B4-BE49-F238E27FC236}">
                <a16:creationId xmlns:a16="http://schemas.microsoft.com/office/drawing/2014/main" id="{AFE827B3-AEC9-45EA-895D-ADFF1EDC1F1B}"/>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Baseline 计算结果</a:t>
            </a:r>
          </a:p>
        </p:txBody>
      </p:sp>
      <p:sp>
        <p:nvSpPr>
          <p:cNvPr id="3" name="">
            <a:extLst xmlns:a="http://schemas.openxmlformats.org/drawingml/2006/main">
              <a:ext uri="{FF2B5EF4-FFF2-40B4-BE49-F238E27FC236}">
                <a16:creationId xmlns:a16="http://schemas.microsoft.com/office/drawing/2014/main" id="{A82C792F-5541-4197-AFDD-2C7AA95C1BF8}"/>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6002D2F-9129-40D8-AD78-AF157962F7B2}"/>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先用仓库默认参数建立参照，再决定需要扫描哪些机制</a:t>
            </a:r>
          </a:p>
        </p:txBody>
      </p:sp>
      <p:graphicFrame>
        <p:nvGraphicFramePr>
          <p:cNvPr id="20" name="Chart"/>
          <p:cNvGraphicFramePr/>
          <p:nvPr/>
        </p:nvGraphicFramePr>
        <p:xfrm>
          <a:off xmlns:a="http://schemas.openxmlformats.org/drawingml/2006/main" x="609600" y="137160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07bebee8f01e4e87"/>
          </a:graphicData>
        </a:graphic>
      </p:graphicFrame>
      <p:sp>
        <p:nvSpPr>
          <p:cNvPr id="6" name="">
            <a:extLst xmlns:a="http://schemas.openxmlformats.org/drawingml/2006/main">
              <a:ext uri="{FF2B5EF4-FFF2-40B4-BE49-F238E27FC236}">
                <a16:creationId xmlns:a16="http://schemas.microsoft.com/office/drawing/2014/main" id="{62A7D245-66F2-42C3-90E0-4361E000F14F}"/>
              </a:ext>
            </a:extLst>
          </p:cNvPr>
          <p:cNvSpPr>
            <a:spLocks xmlns:a="http://schemas.openxmlformats.org/drawingml/2006/main" noGrp="1"/>
          </p:cNvSpPr>
          <p:nvPr/>
        </p:nvSpPr>
        <p:spPr>
          <a:xfrm xmlns:a="http://schemas.openxmlformats.org/drawingml/2006/main">
            <a:off x="7810500" y="1371600"/>
            <a:ext cx="3771900" cy="3905250"/>
          </a:xfrm>
          <a:prstGeom xmlns:a="http://schemas.openxmlformats.org/drawingml/2006/main" prst="roundRect">
            <a:avLst>
              <a:gd name="adj" fmla="val 2020"/>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F8ECA802-36AE-4DB1-9E5E-909F46E1D6AB}"/>
              </a:ext>
            </a:extLst>
          </p:cNvPr>
          <p:cNvSpPr>
            <a:spLocks xmlns:a="http://schemas.openxmlformats.org/drawingml/2006/main" noGrp="1"/>
          </p:cNvSpPr>
          <p:nvPr/>
        </p:nvSpPr>
        <p:spPr>
          <a:xfrm xmlns:a="http://schemas.openxmlformats.org/drawingml/2006/main">
            <a:off x="807720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Baseline 参数</a:t>
            </a:r>
          </a:p>
        </p:txBody>
      </p:sp>
      <p:graphicFrame>
        <p:nvGraphicFramePr>
          <p:cNvPr id="23" name=""/>
          <p:cNvGraphicFramePr/>
          <p:nvPr/>
        </p:nvGraphicFramePr>
        <p:xfrm>
          <a:off xmlns:a="http://schemas.openxmlformats.org/drawingml/2006/main" x="8077200" y="2038350"/>
          <a:ext xmlns:a="http://schemas.openxmlformats.org/drawingml/2006/main" cx="3238500" cy="2476500"/>
        </p:xfrm>
        <a:graphic xmlns:a="http://schemas.openxmlformats.org/drawingml/2006/main">
          <a:graphicData uri="http://schemas.openxmlformats.org/drawingml/2006/table">
            <a:tbl>
              <a:tblPr/>
              <a:tblGrid>
                <a:gridCol w="1673225"/>
                <a:gridCol w="1565275"/>
              </a:tblGrid>
              <a:tr h="353786">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r>
              <a:tr h="353786">
                <a:tc>
                  <a:txBody>
                    <a:bodyPr>
                      <a:noAutofit/>
                    </a:bodyPr>
                    <a:lstStyle/>
                    <a:p>
                      <a:pPr algn="l"/>
                      <a:r>
                        <a:rPr sz="1050" b="0">
                          <a:solidFill>
                            <a:srgbClr val="344054"/>
                          </a:solidFill>
                          <a:latin typeface="Microsoft YaHei"/>
                          <a:ea typeface="Microsoft YaHei"/>
                          <a:cs typeface="Microsoft YaHei"/>
                        </a:rPr>
                        <a:t>Temperature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5 µK</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r>
              <a:tr h="353786">
                <a:tc>
                  <a:txBody>
                    <a:bodyPr>
                      <a:noAutofit/>
                    </a:bodyPr>
                    <a:lstStyle/>
                    <a:p>
                      <a:pPr algn="l"/>
                      <a:r>
                        <a:rPr sz="1050"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r>
              <a:tr h="353786">
                <a:tc>
                  <a:txBody>
                    <a:bodyPr>
                      <a:noAutofit/>
                    </a:bodyPr>
                    <a:lstStyle/>
                    <a:p>
                      <a:pPr algn="l"/>
                      <a:r>
                        <a:rPr sz="1050" b="0">
                          <a:solidFill>
                            <a:srgbClr val="344054"/>
                          </a:solidFill>
                          <a:latin typeface="Microsoft YaHei"/>
                          <a:ea typeface="Microsoft YaHei"/>
                          <a:cs typeface="Microsoft YaHei"/>
                        </a:rPr>
                        <a:t>SLM depth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AOD depth / waist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r>
            </a:tbl>
          </a:graphicData>
        </a:graphic>
      </p:graphicFrame>
      <p:sp>
        <p:nvSpPr>
          <p:cNvPr id="9" name="">
            <a:extLst xmlns:a="http://schemas.openxmlformats.org/drawingml/2006/main">
              <a:ext uri="{FF2B5EF4-FFF2-40B4-BE49-F238E27FC236}">
                <a16:creationId xmlns:a16="http://schemas.microsoft.com/office/drawing/2014/main" id="{114EB4D3-BD29-44A5-9537-466FACA495BC}"/>
              </a:ext>
            </a:extLst>
          </p:cNvPr>
          <p:cNvSpPr>
            <a:spLocks xmlns:a="http://schemas.openxmlformats.org/drawingml/2006/main" noGrp="1"/>
          </p:cNvSpPr>
          <p:nvPr/>
        </p:nvSpPr>
        <p:spPr>
          <a:xfrm xmlns:a="http://schemas.openxmlformats.org/drawingml/2006/main">
            <a:off x="8077200" y="472440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主要发现</a:t>
            </a:r>
          </a:p>
        </p:txBody>
      </p:sp>
      <p:sp>
        <p:nvSpPr>
          <p:cNvPr id="10" name="">
            <a:extLst xmlns:a="http://schemas.openxmlformats.org/drawingml/2006/main">
              <a:ext uri="{FF2B5EF4-FFF2-40B4-BE49-F238E27FC236}">
                <a16:creationId xmlns:a16="http://schemas.microsoft.com/office/drawing/2014/main" id="{937AF432-113D-4CE0-9659-C111DD2C8E15}"/>
              </a:ext>
            </a:extLst>
          </p:cNvPr>
          <p:cNvSpPr>
            <a:spLocks xmlns:a="http://schemas.openxmlformats.org/drawingml/2006/main" noGrp="1"/>
          </p:cNvSpPr>
          <p:nvPr/>
        </p:nvSpPr>
        <p:spPr>
          <a:xfrm xmlns:a="http://schemas.openxmlformats.org/drawingml/2006/main">
            <a:off x="8077200" y="5029200"/>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 与 600 的存活率明显高于论文。默认模型产生的绝对损失不足。</a:t>
            </a:r>
          </a:p>
        </p:txBody>
      </p:sp>
      <p:sp>
        <p:nvSpPr>
          <p:cNvPr id="11" name="">
            <a:extLst xmlns:a="http://schemas.openxmlformats.org/drawingml/2006/main">
              <a:ext uri="{FF2B5EF4-FFF2-40B4-BE49-F238E27FC236}">
                <a16:creationId xmlns:a16="http://schemas.microsoft.com/office/drawing/2014/main" id="{7533FC14-741E-4C2C-BC58-0DE62566467A}"/>
              </a:ext>
            </a:extLst>
          </p:cNvPr>
          <p:cNvSpPr>
            <a:spLocks xmlns:a="http://schemas.openxmlformats.org/drawingml/2006/main" noGrp="1"/>
          </p:cNvSpPr>
          <p:nvPr/>
        </p:nvSpPr>
        <p:spPr>
          <a:xfrm xmlns:a="http://schemas.openxmlformats.org/drawingml/2006/main">
            <a:off x="609600" y="5715000"/>
            <a:ext cx="10972800" cy="514350"/>
          </a:xfrm>
          <a:prstGeom xmlns:a="http://schemas.openxmlformats.org/drawingml/2006/main" prst="roundRect">
            <a:avLst>
              <a:gd name="adj" fmla="val 14815"/>
            </a:avLst>
          </a:prstGeom>
          <a:solidFill xmlns:a="http://schemas.openxmlformats.org/drawingml/2006/main">
            <a:srgbClr val="FFF6ED"/>
          </a:solidFill>
          <a:ln xmlns:a="http://schemas.openxmlformats.org/drawingml/2006/main" w="9525">
            <a:solidFill>
              <a:srgbClr val="FEDF89"/>
            </a:solidFill>
          </a:ln>
        </p:spPr>
      </p:sp>
      <p:sp>
        <p:nvSpPr>
          <p:cNvPr id="12" name="">
            <a:extLst xmlns:a="http://schemas.openxmlformats.org/drawingml/2006/main">
              <a:ext uri="{FF2B5EF4-FFF2-40B4-BE49-F238E27FC236}">
                <a16:creationId xmlns:a16="http://schemas.microsoft.com/office/drawing/2014/main" id="{4AB8BA6F-27D5-4E5C-85E9-E2B79AA38A26}"/>
              </a:ext>
            </a:extLst>
          </p:cNvPr>
          <p:cNvSpPr>
            <a:spLocks xmlns:a="http://schemas.openxmlformats.org/drawingml/2006/main" noGrp="1"/>
          </p:cNvSpPr>
          <p:nvPr/>
        </p:nvSpPr>
        <p:spPr>
          <a:xfrm xmlns:a="http://schemas.openxmlformats.org/drawingml/2006/main">
            <a:off x="838200" y="58388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Baseline 是仓库默认参考点，不是实验标定值，也不是通过验收的最佳拟合配置。</a:t>
            </a:r>
          </a:p>
        </p:txBody>
      </p:sp>
      <p:sp>
        <p:nvSpPr>
          <p:cNvPr id="13" name="">
            <a:extLst xmlns:a="http://schemas.openxmlformats.org/drawingml/2006/main">
              <a:ext uri="{FF2B5EF4-FFF2-40B4-BE49-F238E27FC236}">
                <a16:creationId xmlns:a16="http://schemas.microsoft.com/office/drawing/2014/main" id="{04D873AE-E296-4745-A7B5-DB07CB1EEA6E}"/>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4" name="">
            <a:extLst xmlns:a="http://schemas.openxmlformats.org/drawingml/2006/main">
              <a:ext uri="{FF2B5EF4-FFF2-40B4-BE49-F238E27FC236}">
                <a16:creationId xmlns:a16="http://schemas.microsoft.com/office/drawing/2014/main" id="{2670E91C-130B-403E-AA04-7C9EC4E997B7}"/>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paper monotone reference</a:t>
            </a:r>
          </a:p>
        </p:txBody>
      </p:sp>
      <p:sp>
        <p:nvSpPr>
          <p:cNvPr id="15" name="">
            <a:extLst xmlns:a="http://schemas.openxmlformats.org/drawingml/2006/main">
              <a:ext uri="{FF2B5EF4-FFF2-40B4-BE49-F238E27FC236}">
                <a16:creationId xmlns:a16="http://schemas.microsoft.com/office/drawing/2014/main" id="{C8673170-3281-48CF-89F2-A22E46F9C4D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09</a:t>
            </a:r>
          </a:p>
        </p:txBody>
      </p:sp>
    </p:spTree>
    <p:extLst>
      <p:ext uri="{BB962C8B-B14F-4D97-AF65-F5344CB8AC3E}">
        <p14:creationId xmlns:p14="http://schemas.microsoft.com/office/powerpoint/2010/main" val="296109587"/>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84355A-7B2A-459D-853A-77E8D1387C33}"/>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08</a:t>
            </a:r>
          </a:p>
        </p:txBody>
      </p:sp>
      <p:sp>
        <p:nvSpPr>
          <p:cNvPr id="2" name="">
            <a:extLst xmlns:a="http://schemas.openxmlformats.org/drawingml/2006/main">
              <a:ext uri="{FF2B5EF4-FFF2-40B4-BE49-F238E27FC236}">
                <a16:creationId xmlns:a16="http://schemas.microsoft.com/office/drawing/2014/main" id="{33DC6D31-2E01-4333-9E67-CF8BCBDD0FD7}"/>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单因素敏感性扫描设计</a:t>
            </a:r>
          </a:p>
        </p:txBody>
      </p:sp>
      <p:sp>
        <p:nvSpPr>
          <p:cNvPr id="3" name="">
            <a:extLst xmlns:a="http://schemas.openxmlformats.org/drawingml/2006/main">
              <a:ext uri="{FF2B5EF4-FFF2-40B4-BE49-F238E27FC236}">
                <a16:creationId xmlns:a16="http://schemas.microsoft.com/office/drawing/2014/main" id="{F6ABB8F2-24E5-4425-B0FF-42A01A2E11CF}"/>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2F5AE88D-3E55-449F-ABD0-0D2BC633265D}"/>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每次只改变一个参数；波形、随机池、阱参数和数值步长保持一致</a:t>
            </a:r>
          </a:p>
        </p:txBody>
      </p:sp>
      <p:graphicFrame>
        <p:nvGraphicFramePr>
          <p:cNvPr id="15" name=""/>
          <p:cNvGraphicFramePr/>
          <p:nvPr/>
        </p:nvGraphicFramePr>
        <p:xfrm>
          <a:off xmlns:a="http://schemas.openxmlformats.org/drawingml/2006/main" x="609600" y="1352550"/>
          <a:ext xmlns:a="http://schemas.openxmlformats.org/drawingml/2006/main" cx="10972800" cy="2647950"/>
        </p:xfrm>
        <a:graphic xmlns:a="http://schemas.openxmlformats.org/drawingml/2006/main">
          <a:graphicData uri="http://schemas.openxmlformats.org/drawingml/2006/table">
            <a:tbl>
              <a:tblPr/>
              <a:tblGrid>
                <a:gridCol w="1976467"/>
                <a:gridCol w="1976467"/>
                <a:gridCol w="2862470"/>
                <a:gridCol w="4157396"/>
              </a:tblGrid>
              <a:tr h="529590">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Scan values</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What the scan tests</a:t>
                      </a:r>
                    </a:p>
                  </a:txBody>
                  <a:tcPr marL="91440" marR="91440" marT="45720" marB="45720" anchor="ctr">
                    <a:solidFill>
                      <a:srgbClr val="102A43"/>
                    </a:solidFill>
                  </a:tcPr>
                </a:tc>
              </a:tr>
              <a:tr h="529590">
                <a:tc>
                  <a:txBody>
                    <a:bodyPr>
                      <a:noAutofit/>
                    </a:bodyPr>
                    <a:lstStyle/>
                    <a:p>
                      <a:pPr algn="l"/>
                      <a:r>
                        <a:rPr sz="1125" b="0">
                          <a:solidFill>
                            <a:srgbClr val="344054"/>
                          </a:solidFill>
                          <a:latin typeface="Microsoft YaHei"/>
                          <a:ea typeface="Microsoft YaHei"/>
                          <a:cs typeface="Microsoft YaHei"/>
                        </a:rPr>
                        <a:t>Initial T</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5 µK</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10 / 20 / 30 / 40 µK</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初始能量分布是否靠近逃逸阈值</a:t>
                      </a:r>
                    </a:p>
                  </a:txBody>
                  <a:tcPr marL="91440" marR="91440" marT="45720" marB="45720" anchor="ctr">
                    <a:solidFill>
                      <a:srgbClr val="FFFFFF"/>
                    </a:solidFill>
                  </a:tcPr>
                </a:tc>
              </a:tr>
              <a:tr h="529590">
                <a:tc>
                  <a:txBody>
                    <a:bodyPr>
                      <a:noAutofit/>
                    </a:bodyPr>
                    <a:lstStyle/>
                    <a:p>
                      <a:pPr algn="l"/>
                      <a:r>
                        <a:rPr sz="1125"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1×10⁻⁷ / 3×10⁻⁷ Hz⁻¹</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传播过程中的平均参量加热</a:t>
                      </a:r>
                    </a:p>
                  </a:txBody>
                  <a:tcPr marL="91440" marR="91440" marT="45720" marB="45720" anchor="ctr">
                    <a:solidFill>
                      <a:srgbClr val="F8FAFC"/>
                    </a:solidFill>
                  </a:tcPr>
                </a:tc>
              </a:tr>
              <a:tr h="529590">
                <a:tc>
                  <a:txBody>
                    <a:bodyPr>
                      <a:noAutofit/>
                    </a:bodyPr>
                    <a:lstStyle/>
                    <a:p>
                      <a:pPr algn="l"/>
                      <a:r>
                        <a:rPr sz="1125"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0.05 µm</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0.15 / 0.30 µm</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全程固定的 AOD–SLM 中心失配</a:t>
                      </a:r>
                    </a:p>
                  </a:txBody>
                  <a:tcPr marL="91440" marR="91440" marT="45720" marB="45720" anchor="ctr">
                    <a:solidFill>
                      <a:srgbClr val="FFFFFF"/>
                    </a:solidFill>
                  </a:tcPr>
                </a:tc>
              </a:tr>
              <a:tr h="529590">
                <a:tc>
                  <a:txBody>
                    <a:bodyPr>
                      <a:noAutofit/>
                    </a:bodyPr>
                    <a:lstStyle/>
                    <a:p>
                      <a:pPr algn="l"/>
                      <a:r>
                        <a:rPr sz="1125"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0.01 µm</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0.03 / 0.10 µm</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每个阶段重新抽样的对准扰动</a:t>
                      </a:r>
                    </a:p>
                  </a:txBody>
                  <a:tcPr marL="91440" marR="91440" marT="45720" marB="45720" anchor="ctr">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B2ED622C-84E1-4397-B2B3-D3A4F91F18B7}"/>
              </a:ext>
            </a:extLst>
          </p:cNvPr>
          <p:cNvSpPr>
            <a:spLocks xmlns:a="http://schemas.openxmlformats.org/drawingml/2006/main" noGrp="1"/>
          </p:cNvSpPr>
          <p:nvPr/>
        </p:nvSpPr>
        <p:spPr>
          <a:xfrm xmlns:a="http://schemas.openxmlformats.org/drawingml/2006/main">
            <a:off x="609600" y="4324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所有场景保持不变的量</a:t>
            </a:r>
          </a:p>
        </p:txBody>
      </p:sp>
      <p:graphicFrame>
        <p:nvGraphicFramePr>
          <p:cNvPr id="17" name=""/>
          <p:cNvGraphicFramePr/>
          <p:nvPr/>
        </p:nvGraphicFramePr>
        <p:xfrm>
          <a:off xmlns:a="http://schemas.openxmlformats.org/drawingml/2006/main" x="609600" y="4724400"/>
          <a:ext xmlns:a="http://schemas.openxmlformats.org/drawingml/2006/main" cx="10972800" cy="1428750"/>
        </p:xfrm>
        <a:graphic xmlns:a="http://schemas.openxmlformats.org/drawingml/2006/main">
          <a:graphicData uri="http://schemas.openxmlformats.org/drawingml/2006/table">
            <a:tbl>
              <a:tblPr/>
              <a:tblGrid>
                <a:gridCol w="2116183"/>
                <a:gridCol w="5094514"/>
                <a:gridCol w="3762103"/>
              </a:tblGrid>
              <a:tr h="285750">
                <a:tc>
                  <a:txBody>
                    <a:bodyPr>
                      <a:noAutofit/>
                    </a:bodyPr>
                    <a:lstStyle/>
                    <a:p>
                      <a:pPr algn="l"/>
                      <a:r>
                        <a:rPr sz="1050" b="1">
                          <a:solidFill>
                            <a:srgbClr val="FFFFFF"/>
                          </a:solidFill>
                          <a:latin typeface="Microsoft YaHei"/>
                          <a:ea typeface="Microsoft YaHei"/>
                          <a:cs typeface="Microsoft YaHei"/>
                        </a:rPr>
                        <a:t>Control</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Fixed value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Reason</a:t>
                      </a:r>
                    </a:p>
                  </a:txBody>
                  <a:tcPr marL="91440" marR="91440" marT="45720" marB="45720" anchor="ctr">
                    <a:solidFill>
                      <a:srgbClr val="102A43"/>
                    </a:solidFill>
                  </a:tcPr>
                </a:tc>
              </a:tr>
              <a:tr h="285750">
                <a:tc>
                  <a:txBody>
                    <a:bodyPr>
                      <a:noAutofit/>
                    </a:bodyPr>
                    <a:lstStyle/>
                    <a:p>
                      <a:pPr algn="l"/>
                      <a:r>
                        <a:rPr sz="1050" b="0">
                          <a:solidFill>
                            <a:srgbClr val="344054"/>
                          </a:solidFill>
                          <a:latin typeface="Microsoft YaHei"/>
                          <a:ea typeface="Microsoft YaHei"/>
                          <a:cs typeface="Microsoft YaHei"/>
                        </a:rPr>
                        <a:t>Trap geometry</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SLM 140 µK, AOD 280 µK, w=1.17 µm, d=2.4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避免同时改变势能尺度</a:t>
                      </a:r>
                    </a:p>
                  </a:txBody>
                  <a:tcPr marL="91440" marR="91440" marT="45720" marB="45720" anchor="ctr">
                    <a:solidFill>
                      <a:srgbClr val="FFFFFF"/>
                    </a:solidFill>
                  </a:tcPr>
                </a:tc>
              </a:tr>
              <a:tr h="285750">
                <a:tc>
                  <a:txBody>
                    <a:bodyPr>
                      <a:noAutofit/>
                    </a:bodyPr>
                    <a:lstStyle/>
                    <a:p>
                      <a:pPr algn="l"/>
                      <a:r>
                        <a:rPr sz="1050" b="0">
                          <a:solidFill>
                            <a:srgbClr val="344054"/>
                          </a:solidFill>
                          <a:latin typeface="Microsoft YaHei"/>
                          <a:ea typeface="Microsoft YaHei"/>
                          <a:cs typeface="Microsoft YaHei"/>
                        </a:rPr>
                        <a:t>Numerics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dt=0.05 µs, 256 shots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保持统计和离散化口径</a:t>
                      </a:r>
                    </a:p>
                  </a:txBody>
                  <a:tcPr marL="91440" marR="91440" marT="45720" marB="45720" anchor="ctr">
                    <a:solidFill>
                      <a:srgbClr val="F8FAFC"/>
                    </a:solidFill>
                  </a:tcPr>
                </a:tc>
              </a:tr>
              <a:tr h="285750">
                <a:tc>
                  <a:txBody>
                    <a:bodyPr>
                      <a:noAutofit/>
                    </a:bodyPr>
                    <a:lstStyle/>
                    <a:p>
                      <a:pPr algn="l"/>
                      <a:r>
                        <a:rPr sz="1050" b="0">
                          <a:solidFill>
                            <a:srgbClr val="344054"/>
                          </a:solidFill>
                          <a:latin typeface="Microsoft YaHei"/>
                          <a:ea typeface="Microsoft YaHei"/>
                          <a:cs typeface="Microsoft YaHei"/>
                        </a:rPr>
                        <a:t>Random pool</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scan_seed=23001</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跨场景 CRN 配对</a:t>
                      </a:r>
                    </a:p>
                  </a:txBody>
                  <a:tcPr marL="91440" marR="91440" marT="45720" marB="45720" anchor="ctr">
                    <a:solidFill>
                      <a:srgbClr val="FFFFFF"/>
                    </a:solidFill>
                  </a:tcPr>
                </a:tc>
              </a:tr>
              <a:tr h="285750">
                <a:tc>
                  <a:txBody>
                    <a:bodyPr>
                      <a:noAutofit/>
                    </a:bodyPr>
                    <a:lstStyle/>
                    <a:p>
                      <a:pPr algn="l"/>
                      <a:r>
                        <a:rPr sz="1050" b="0">
                          <a:solidFill>
                            <a:srgbClr val="344054"/>
                          </a:solidFill>
                          <a:latin typeface="Microsoft YaHei"/>
                          <a:ea typeface="Microsoft YaHei"/>
                          <a:cs typeface="Microsoft YaHei"/>
                        </a:rPr>
                        <a:t>Waveforms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Manual 200 / 400 / 600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用时长排序区分损失机制</a:t>
                      </a:r>
                    </a:p>
                  </a:txBody>
                  <a:tcPr marL="91440" marR="91440" marT="45720" marB="45720" anchor="ctr">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8B385122-F53D-4B29-9175-1823A179B3A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8D3A71B7-CC97-4196-A9EA-B26BF4AAA1D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configs/scan_stage1/*.yaml · summary_stage1.md</a:t>
            </a:r>
          </a:p>
        </p:txBody>
      </p:sp>
      <p:sp>
        <p:nvSpPr>
          <p:cNvPr id="10" name="">
            <a:extLst xmlns:a="http://schemas.openxmlformats.org/drawingml/2006/main">
              <a:ext uri="{FF2B5EF4-FFF2-40B4-BE49-F238E27FC236}">
                <a16:creationId xmlns:a16="http://schemas.microsoft.com/office/drawing/2014/main" id="{7E6A8CEC-57D1-423C-B83F-4499F44525E6}"/>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10</a:t>
            </a:r>
          </a:p>
        </p:txBody>
      </p:sp>
    </p:spTree>
    <p:extLst>
      <p:ext uri="{BB962C8B-B14F-4D97-AF65-F5344CB8AC3E}">
        <p14:creationId xmlns:p14="http://schemas.microsoft.com/office/powerpoint/2010/main" val="2030083982"/>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39C9FAA-E7DE-46CF-A515-61F7AE986CE7}"/>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09</a:t>
            </a:r>
          </a:p>
        </p:txBody>
      </p:sp>
      <p:sp>
        <p:nvSpPr>
          <p:cNvPr id="2" name="">
            <a:extLst xmlns:a="http://schemas.openxmlformats.org/drawingml/2006/main">
              <a:ext uri="{FF2B5EF4-FFF2-40B4-BE49-F238E27FC236}">
                <a16:creationId xmlns:a16="http://schemas.microsoft.com/office/drawing/2014/main" id="{6E80245F-3EE6-493C-8C21-4C42207EF302}"/>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单因素扫描结果</a:t>
            </a:r>
          </a:p>
        </p:txBody>
      </p:sp>
      <p:sp>
        <p:nvSpPr>
          <p:cNvPr id="3" name="">
            <a:extLst xmlns:a="http://schemas.openxmlformats.org/drawingml/2006/main">
              <a:ext uri="{FF2B5EF4-FFF2-40B4-BE49-F238E27FC236}">
                <a16:creationId xmlns:a16="http://schemas.microsoft.com/office/drawing/2014/main" id="{E9CF3AB2-1102-47F1-97B6-301DA3C8658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2F3CC64-8986-45BD-8883-80B98FDACB0A}"/>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温度和 RIN 改变损失量级；静态对准影响很小，强抖动产生错误的时长结构</a:t>
            </a:r>
          </a:p>
        </p:txBody>
      </p:sp>
      <p:graphicFrame>
        <p:nvGraphicFramePr>
          <p:cNvPr id="18" name="Chart"/>
          <p:cNvGraphicFramePr/>
          <p:nvPr/>
        </p:nvGraphicFramePr>
        <p:xfrm>
          <a:off xmlns:a="http://schemas.openxmlformats.org/drawingml/2006/main" x="609600" y="1352550"/>
          <a:ext xmlns:a="http://schemas.openxmlformats.org/drawingml/2006/main" cx="5219700" cy="3524250"/>
        </p:xfrm>
        <a:graphic xmlns:a="http://schemas.openxmlformats.org/drawingml/2006/main">
          <a:graphicData uri="http://schemas.openxmlformats.org/drawingml/2006/chart">
            <c:chart xmlns:r="http://schemas.openxmlformats.org/officeDocument/2006/relationships" xmlns:c="http://schemas.openxmlformats.org/drawingml/2006/chart" r:id="Rf59232e9591d49c7"/>
          </a:graphicData>
        </a:graphic>
      </p:graphicFrame>
      <p:graphicFrame>
        <p:nvGraphicFramePr>
          <p:cNvPr id="19" name="Chart"/>
          <p:cNvGraphicFramePr/>
          <p:nvPr/>
        </p:nvGraphicFramePr>
        <p:xfrm>
          <a:off xmlns:a="http://schemas.openxmlformats.org/drawingml/2006/main" x="6115050" y="1352550"/>
          <a:ext xmlns:a="http://schemas.openxmlformats.org/drawingml/2006/main" cx="5467350" cy="3524250"/>
        </p:xfrm>
        <a:graphic xmlns:a="http://schemas.openxmlformats.org/drawingml/2006/main">
          <a:graphicData uri="http://schemas.openxmlformats.org/drawingml/2006/chart">
            <c:chart xmlns:r="http://schemas.openxmlformats.org/officeDocument/2006/relationships" xmlns:c="http://schemas.openxmlformats.org/drawingml/2006/chart" r:id="R4cf9e754470b46b7"/>
          </a:graphicData>
        </a:graphic>
      </p:graphicFrame>
      <p:sp>
        <p:nvSpPr>
          <p:cNvPr id="7" name="">
            <a:extLst xmlns:a="http://schemas.openxmlformats.org/drawingml/2006/main">
              <a:ext uri="{FF2B5EF4-FFF2-40B4-BE49-F238E27FC236}">
                <a16:creationId xmlns:a16="http://schemas.microsoft.com/office/drawing/2014/main" id="{5683A9C0-0AC2-4C4C-8B56-D427121B8D56}"/>
              </a:ext>
            </a:extLst>
          </p:cNvPr>
          <p:cNvSpPr>
            <a:spLocks xmlns:a="http://schemas.openxmlformats.org/drawingml/2006/main" noGrp="1"/>
          </p:cNvSpPr>
          <p:nvPr/>
        </p:nvSpPr>
        <p:spPr>
          <a:xfrm xmlns:a="http://schemas.openxmlformats.org/drawingml/2006/main">
            <a:off x="609600" y="5143500"/>
            <a:ext cx="10972800" cy="1085850"/>
          </a:xfrm>
          <a:prstGeom xmlns:a="http://schemas.openxmlformats.org/drawingml/2006/main" prst="roundRect">
            <a:avLst>
              <a:gd name="adj" fmla="val 7018"/>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D11F4184-459B-4A17-BC91-45F5028CF3DB}"/>
              </a:ext>
            </a:extLst>
          </p:cNvPr>
          <p:cNvSpPr>
            <a:spLocks xmlns:a="http://schemas.openxmlformats.org/drawingml/2006/main" noGrp="1"/>
          </p:cNvSpPr>
          <p:nvPr/>
        </p:nvSpPr>
        <p:spPr>
          <a:xfrm xmlns:a="http://schemas.openxmlformats.org/drawingml/2006/main">
            <a:off x="838200" y="53149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读数</a:t>
            </a:r>
          </a:p>
        </p:txBody>
      </p:sp>
      <p:sp>
        <p:nvSpPr>
          <p:cNvPr id="9" name="">
            <a:extLst xmlns:a="http://schemas.openxmlformats.org/drawingml/2006/main">
              <a:ext uri="{FF2B5EF4-FFF2-40B4-BE49-F238E27FC236}">
                <a16:creationId xmlns:a16="http://schemas.microsoft.com/office/drawing/2014/main" id="{89DFC72C-620A-41C6-B0E8-80BE465B21CD}"/>
              </a:ext>
            </a:extLst>
          </p:cNvPr>
          <p:cNvSpPr>
            <a:spLocks xmlns:a="http://schemas.openxmlformats.org/drawingml/2006/main" noGrp="1"/>
          </p:cNvSpPr>
          <p:nvPr/>
        </p:nvSpPr>
        <p:spPr>
          <a:xfrm xmlns:a="http://schemas.openxmlformats.org/drawingml/2006/main">
            <a:off x="1695450" y="5276850"/>
            <a:ext cx="960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Paper 400 / 600 µs：0.414 / 0.573。T40：0.527 / 0.680。RIN 3×10⁻⁷：0.359 / 0.434。A0.15/A0.30 接近 baseline；J0.10 为 0.094 / 0.105。</a:t>
            </a:r>
          </a:p>
        </p:txBody>
      </p:sp>
      <p:sp>
        <p:nvSpPr>
          <p:cNvPr id="10" name="">
            <a:extLst xmlns:a="http://schemas.openxmlformats.org/drawingml/2006/main">
              <a:ext uri="{FF2B5EF4-FFF2-40B4-BE49-F238E27FC236}">
                <a16:creationId xmlns:a16="http://schemas.microsoft.com/office/drawing/2014/main" id="{1ECDBE5D-DF4C-40F4-AADF-C6EC6E23510F}"/>
              </a:ext>
            </a:extLst>
          </p:cNvPr>
          <p:cNvSpPr>
            <a:spLocks xmlns:a="http://schemas.openxmlformats.org/drawingml/2006/main" noGrp="1"/>
          </p:cNvSpPr>
          <p:nvPr/>
        </p:nvSpPr>
        <p:spPr>
          <a:xfrm xmlns:a="http://schemas.openxmlformats.org/drawingml/2006/main">
            <a:off x="1695450" y="5772150"/>
            <a:ext cx="960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解释：T40 和 R3e−7 能把损失推到论文量级附近；J0.10 虽然损失大，但 400/600 几乎同样差，无法解释论文的时长排序。</a:t>
            </a:r>
          </a:p>
        </p:txBody>
      </p:sp>
      <p:sp>
        <p:nvSpPr>
          <p:cNvPr id="11" name="">
            <a:extLst xmlns:a="http://schemas.openxmlformats.org/drawingml/2006/main">
              <a:ext uri="{FF2B5EF4-FFF2-40B4-BE49-F238E27FC236}">
                <a16:creationId xmlns:a16="http://schemas.microsoft.com/office/drawing/2014/main" id="{C7E89566-D892-4BA6-B848-C2AF5BD5459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32EAE823-D725-448B-B3B1-660D7649BC8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raw Stage-1 survival_scan_results.csv for T / RIN / alignment / jitter</a:t>
            </a:r>
          </a:p>
        </p:txBody>
      </p:sp>
      <p:sp>
        <p:nvSpPr>
          <p:cNvPr id="13" name="">
            <a:extLst xmlns:a="http://schemas.openxmlformats.org/drawingml/2006/main">
              <a:ext uri="{FF2B5EF4-FFF2-40B4-BE49-F238E27FC236}">
                <a16:creationId xmlns:a16="http://schemas.microsoft.com/office/drawing/2014/main" id="{09055084-4436-4C07-B9C3-1A18F97273B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11</a:t>
            </a:r>
          </a:p>
        </p:txBody>
      </p:sp>
    </p:spTree>
    <p:extLst>
      <p:ext uri="{BB962C8B-B14F-4D97-AF65-F5344CB8AC3E}">
        <p14:creationId xmlns:p14="http://schemas.microsoft.com/office/powerpoint/2010/main" val="1355083888"/>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B49C06-1CB9-4A75-AF7C-FDEDBF839E2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10</a:t>
            </a:r>
          </a:p>
        </p:txBody>
      </p:sp>
      <p:sp>
        <p:nvSpPr>
          <p:cNvPr id="2" name="">
            <a:extLst xmlns:a="http://schemas.openxmlformats.org/drawingml/2006/main">
              <a:ext uri="{FF2B5EF4-FFF2-40B4-BE49-F238E27FC236}">
                <a16:creationId xmlns:a16="http://schemas.microsoft.com/office/drawing/2014/main" id="{CE7EA059-26E6-4664-A6DC-76DA02043349}"/>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T40 的完整时长曲线</a:t>
            </a:r>
          </a:p>
        </p:txBody>
      </p:sp>
      <p:sp>
        <p:nvSpPr>
          <p:cNvPr id="3" name="">
            <a:extLst xmlns:a="http://schemas.openxmlformats.org/drawingml/2006/main">
              <a:ext uri="{FF2B5EF4-FFF2-40B4-BE49-F238E27FC236}">
                <a16:creationId xmlns:a16="http://schemas.microsoft.com/office/drawing/2014/main" id="{5F2A51AB-555B-48E4-AD24-4A85F5B18017}"/>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8D9EE722-4B2F-41F2-9D5B-CF105A355028}"/>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Paper 使用单调锚点重建；MC 使用 512-shot 独立复核池</a:t>
            </a:r>
          </a:p>
        </p:txBody>
      </p:sp>
      <p:graphicFrame>
        <p:nvGraphicFramePr>
          <p:cNvPr id="17" name="Chart"/>
          <p:cNvGraphicFramePr/>
          <p:nvPr/>
        </p:nvGraphicFramePr>
        <p:xfrm>
          <a:off xmlns:a="http://schemas.openxmlformats.org/drawingml/2006/main" x="609600" y="1352550"/>
          <a:ext xmlns:a="http://schemas.openxmlformats.org/drawingml/2006/main" cx="4095750" cy="3714750"/>
        </p:xfrm>
        <a:graphic xmlns:a="http://schemas.openxmlformats.org/drawingml/2006/main">
          <a:graphicData uri="http://schemas.openxmlformats.org/drawingml/2006/chart">
            <c:chart xmlns:r="http://schemas.openxmlformats.org/officeDocument/2006/relationships" xmlns:c="http://schemas.openxmlformats.org/drawingml/2006/chart" r:id="R83ca10ba89a24222"/>
          </a:graphicData>
        </a:graphic>
      </p:graphicFrame>
      <p:graphicFrame>
        <p:nvGraphicFramePr>
          <p:cNvPr id="18" name="Chart"/>
          <p:cNvGraphicFramePr/>
          <p:nvPr/>
        </p:nvGraphicFramePr>
        <p:xfrm>
          <a:off xmlns:a="http://schemas.openxmlformats.org/drawingml/2006/main" x="4876800" y="1352550"/>
          <a:ext xmlns:a="http://schemas.openxmlformats.org/drawingml/2006/main" cx="6705600" cy="3714750"/>
        </p:xfrm>
        <a:graphic xmlns:a="http://schemas.openxmlformats.org/drawingml/2006/main">
          <a:graphicData uri="http://schemas.openxmlformats.org/drawingml/2006/chart">
            <c:chart xmlns:r="http://schemas.openxmlformats.org/officeDocument/2006/relationships" xmlns:c="http://schemas.openxmlformats.org/drawingml/2006/chart" r:id="Rf73c096143a3453c"/>
          </a:graphicData>
        </a:graphic>
      </p:graphicFrame>
      <p:sp>
        <p:nvSpPr>
          <p:cNvPr id="7" name="">
            <a:extLst xmlns:a="http://schemas.openxmlformats.org/drawingml/2006/main">
              <a:ext uri="{FF2B5EF4-FFF2-40B4-BE49-F238E27FC236}">
                <a16:creationId xmlns:a16="http://schemas.microsoft.com/office/drawing/2014/main" id="{7C76C151-4ACA-409D-A9CF-F82116333CA3}"/>
              </a:ext>
            </a:extLst>
          </p:cNvPr>
          <p:cNvSpPr>
            <a:spLocks xmlns:a="http://schemas.openxmlformats.org/drawingml/2006/main" noGrp="1"/>
          </p:cNvSpPr>
          <p:nvPr/>
        </p:nvSpPr>
        <p:spPr>
          <a:xfrm xmlns:a="http://schemas.openxmlformats.org/drawingml/2006/main">
            <a:off x="609600" y="52768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D832A924-49DA-4C36-8DBF-16AC83F93B97}"/>
              </a:ext>
            </a:extLst>
          </p:cNvPr>
          <p:cNvSpPr>
            <a:spLocks xmlns:a="http://schemas.openxmlformats.org/drawingml/2006/main" noGrp="1"/>
          </p:cNvSpPr>
          <p:nvPr/>
        </p:nvSpPr>
        <p:spPr>
          <a:xfrm xmlns:a="http://schemas.openxmlformats.org/drawingml/2006/main">
            <a:off x="838200" y="5467350"/>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结论</a:t>
            </a:r>
          </a:p>
        </p:txBody>
      </p:sp>
      <p:sp>
        <p:nvSpPr>
          <p:cNvPr id="9" name="">
            <a:extLst xmlns:a="http://schemas.openxmlformats.org/drawingml/2006/main">
              <a:ext uri="{FF2B5EF4-FFF2-40B4-BE49-F238E27FC236}">
                <a16:creationId xmlns:a16="http://schemas.microsoft.com/office/drawing/2014/main" id="{A8582D54-648C-48E1-9949-85EE64A65991}"/>
              </a:ext>
            </a:extLst>
          </p:cNvPr>
          <p:cNvSpPr>
            <a:spLocks xmlns:a="http://schemas.openxmlformats.org/drawingml/2006/main" noGrp="1"/>
          </p:cNvSpPr>
          <p:nvPr/>
        </p:nvSpPr>
        <p:spPr>
          <a:xfrm xmlns:a="http://schemas.openxmlformats.org/drawingml/2006/main">
            <a:off x="1733550" y="5429250"/>
            <a:ext cx="954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排序 200 &lt; 400 &lt; 600 与论文一致；200 µs 全程偏低，400/600 µs 从早期偏低转为后期偏高，因此误差不是单一 absolute offset。</a:t>
            </a:r>
          </a:p>
        </p:txBody>
      </p:sp>
      <p:sp>
        <p:nvSpPr>
          <p:cNvPr id="10" name="">
            <a:extLst xmlns:a="http://schemas.openxmlformats.org/drawingml/2006/main">
              <a:ext uri="{FF2B5EF4-FFF2-40B4-BE49-F238E27FC236}">
                <a16:creationId xmlns:a16="http://schemas.microsoft.com/office/drawing/2014/main" id="{655D4BA6-3F7E-40D2-A99E-5DC54723C7BB}"/>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18C48C3C-E34C-4289-B784-E832DC4378E5}"/>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fig6d_survival_digitized.csv</a:t>
            </a:r>
          </a:p>
        </p:txBody>
      </p:sp>
      <p:sp>
        <p:nvSpPr>
          <p:cNvPr id="12" name="">
            <a:extLst xmlns:a="http://schemas.openxmlformats.org/drawingml/2006/main">
              <a:ext uri="{FF2B5EF4-FFF2-40B4-BE49-F238E27FC236}">
                <a16:creationId xmlns:a16="http://schemas.microsoft.com/office/drawing/2014/main" id="{4F8B9152-6F53-4720-AD3C-A4C700A8DB8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12</a:t>
            </a:r>
          </a:p>
        </p:txBody>
      </p:sp>
    </p:spTree>
    <p:extLst>
      <p:ext uri="{BB962C8B-B14F-4D97-AF65-F5344CB8AC3E}">
        <p14:creationId xmlns:p14="http://schemas.microsoft.com/office/powerpoint/2010/main" val="756756489"/>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364AC4-5F8E-43C5-ACCC-539B237F7660}"/>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11</a:t>
            </a:r>
          </a:p>
        </p:txBody>
      </p:sp>
      <p:sp>
        <p:nvSpPr>
          <p:cNvPr id="2" name="">
            <a:extLst xmlns:a="http://schemas.openxmlformats.org/drawingml/2006/main">
              <a:ext uri="{FF2B5EF4-FFF2-40B4-BE49-F238E27FC236}">
                <a16:creationId xmlns:a16="http://schemas.microsoft.com/office/drawing/2014/main" id="{A4E5BB25-83C0-487E-9838-1BFF0B9DBDB1}"/>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Fig. 6c ML 波形的数字化输入</a:t>
            </a:r>
          </a:p>
        </p:txBody>
      </p:sp>
      <p:sp>
        <p:nvSpPr>
          <p:cNvPr id="3" name="">
            <a:extLst xmlns:a="http://schemas.openxmlformats.org/drawingml/2006/main">
              <a:ext uri="{FF2B5EF4-FFF2-40B4-BE49-F238E27FC236}">
                <a16:creationId xmlns:a16="http://schemas.microsoft.com/office/drawing/2014/main" id="{4AEC0DA3-B467-4DF4-988E-F176A7A041A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74F6D66-A3C3-4DD8-A068-74926FCB944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从 PDF 矢量路径读取位置和深度，再在同一 400 µs 网格上与手工波形比较</a:t>
            </a:r>
          </a:p>
        </p:txBody>
      </p:sp>
      <p:graphicFrame>
        <p:nvGraphicFramePr>
          <p:cNvPr id="17" name="Chart"/>
          <p:cNvGraphicFramePr/>
          <p:nvPr/>
        </p:nvGraphicFramePr>
        <p:xfrm>
          <a:off xmlns:a="http://schemas.openxmlformats.org/drawingml/2006/main" x="6096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e3e3b10d08624ff9"/>
          </a:graphicData>
        </a:graphic>
      </p:graphicFrame>
      <p:graphicFrame>
        <p:nvGraphicFramePr>
          <p:cNvPr id="18" name="Chart"/>
          <p:cNvGraphicFramePr/>
          <p:nvPr/>
        </p:nvGraphicFramePr>
        <p:xfrm>
          <a:off xmlns:a="http://schemas.openxmlformats.org/drawingml/2006/main" x="62484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d51dc1ff7b824313"/>
          </a:graphicData>
        </a:graphic>
      </p:graphicFrame>
      <p:sp>
        <p:nvSpPr>
          <p:cNvPr id="7" name="">
            <a:extLst xmlns:a="http://schemas.openxmlformats.org/drawingml/2006/main">
              <a:ext uri="{FF2B5EF4-FFF2-40B4-BE49-F238E27FC236}">
                <a16:creationId xmlns:a16="http://schemas.microsoft.com/office/drawing/2014/main" id="{C5539B0F-BC27-4786-AD24-7F1E7E72C38E}"/>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014474E3-709B-4A13-BDD1-E8E357E00C1B}"/>
              </a:ext>
            </a:extLst>
          </p:cNvPr>
          <p:cNvSpPr>
            <a:spLocks xmlns:a="http://schemas.openxmlformats.org/drawingml/2006/main" noGrp="1"/>
          </p:cNvSpPr>
          <p:nvPr/>
        </p:nvSpPr>
        <p:spPr>
          <a:xfrm xmlns:a="http://schemas.openxmlformats.org/drawingml/2006/main">
            <a:off x="838200" y="5410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输入构造</a:t>
            </a:r>
          </a:p>
        </p:txBody>
      </p:sp>
      <p:sp>
        <p:nvSpPr>
          <p:cNvPr id="9" name="">
            <a:extLst xmlns:a="http://schemas.openxmlformats.org/drawingml/2006/main">
              <a:ext uri="{FF2B5EF4-FFF2-40B4-BE49-F238E27FC236}">
                <a16:creationId xmlns:a16="http://schemas.microsoft.com/office/drawing/2014/main" id="{C4061EF0-41F5-4644-AF40-1302320A8DA8}"/>
              </a:ext>
            </a:extLst>
          </p:cNvPr>
          <p:cNvSpPr>
            <a:spLocks xmlns:a="http://schemas.openxmlformats.org/drawingml/2006/main" noGrp="1"/>
          </p:cNvSpPr>
          <p:nvPr/>
        </p:nvSpPr>
        <p:spPr>
          <a:xfrm xmlns:a="http://schemas.openxmlformats.org/drawingml/2006/main">
            <a:off x="2095500" y="5353050"/>
            <a:ext cx="922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38" b="0">
                <a:solidFill>
                  <a:srgbClr val="344054"/>
                </a:solidFill>
                <a:latin typeface="Microsoft YaHei"/>
                <a:ea typeface="Microsoft YaHei"/>
                <a:cs typeface="Microsoft YaHei"/>
              </a:defRPr>
            </a:pPr>
            <a:r>
              <a:rPr sz="1238" b="0">
                <a:solidFill>
                  <a:srgbClr val="344054"/>
                </a:solidFill>
                <a:latin typeface="Microsoft YaHei"/>
                <a:ea typeface="Microsoft YaHei"/>
                <a:cs typeface="Microsoft YaHei"/>
              </a:rPr>
              <a:t>矢量提取得到 15 个绘制节点，间隔约 28.57 µs。位置先在约 0.11 µm 停留，待 AOD 接近满深后再加速移动并平缓收尾。普通三次插值连接节点。</a:t>
            </a:r>
          </a:p>
        </p:txBody>
      </p:sp>
      <p:sp>
        <p:nvSpPr>
          <p:cNvPr id="10" name="">
            <a:extLst xmlns:a="http://schemas.openxmlformats.org/drawingml/2006/main">
              <a:ext uri="{FF2B5EF4-FFF2-40B4-BE49-F238E27FC236}">
                <a16:creationId xmlns:a16="http://schemas.microsoft.com/office/drawing/2014/main" id="{F064E609-4359-4D62-9788-580539B20C2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D8B6CE6F-092B-486D-AF87-4E65C78E8AF7}"/>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fig6c_ml_trajectory_digitized.json · waveforms.py · PDF page 7</a:t>
            </a:r>
          </a:p>
        </p:txBody>
      </p:sp>
      <p:sp>
        <p:nvSpPr>
          <p:cNvPr id="12" name="">
            <a:extLst xmlns:a="http://schemas.openxmlformats.org/drawingml/2006/main">
              <a:ext uri="{FF2B5EF4-FFF2-40B4-BE49-F238E27FC236}">
                <a16:creationId xmlns:a16="http://schemas.microsoft.com/office/drawing/2014/main" id="{47FCC722-419B-4B9E-BBFC-3B17E0922429}"/>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13</a:t>
            </a:r>
          </a:p>
        </p:txBody>
      </p:sp>
    </p:spTree>
    <p:extLst>
      <p:ext uri="{BB962C8B-B14F-4D97-AF65-F5344CB8AC3E}">
        <p14:creationId xmlns:p14="http://schemas.microsoft.com/office/powerpoint/2010/main" val="1532668236"/>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1DDD9EF-BB53-4A5F-BDF4-623E75B64C3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12</a:t>
            </a:r>
          </a:p>
        </p:txBody>
      </p:sp>
      <p:sp>
        <p:nvSpPr>
          <p:cNvPr id="2" name="">
            <a:extLst xmlns:a="http://schemas.openxmlformats.org/drawingml/2006/main">
              <a:ext uri="{FF2B5EF4-FFF2-40B4-BE49-F238E27FC236}">
                <a16:creationId xmlns:a16="http://schemas.microsoft.com/office/drawing/2014/main" id="{6546EC6C-CD3E-46F0-9072-996E9CB7CA1F}"/>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Manual 与 Fig. 6c ML 的端点比较</a:t>
            </a:r>
          </a:p>
        </p:txBody>
      </p:sp>
      <p:sp>
        <p:nvSpPr>
          <p:cNvPr id="3" name="">
            <a:extLst xmlns:a="http://schemas.openxmlformats.org/drawingml/2006/main">
              <a:ext uri="{FF2B5EF4-FFF2-40B4-BE49-F238E27FC236}">
                <a16:creationId xmlns:a16="http://schemas.microsoft.com/office/drawing/2014/main" id="{3A072DD8-9179-462E-B0F1-90C0933C99F3}"/>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CE3EBB0E-FEC7-46C3-BC64-082DEED87457}"/>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在 T40 的同一 256-shot CRN 随机池中回放两条 400 µs 波形</a:t>
            </a:r>
          </a:p>
        </p:txBody>
      </p:sp>
      <p:graphicFrame>
        <p:nvGraphicFramePr>
          <p:cNvPr id="24" name="Chart"/>
          <p:cNvGraphicFramePr/>
          <p:nvPr/>
        </p:nvGraphicFramePr>
        <p:xfrm>
          <a:off xmlns:a="http://schemas.openxmlformats.org/drawingml/2006/main" x="666750" y="1381125"/>
          <a:ext xmlns:a="http://schemas.openxmlformats.org/drawingml/2006/main" cx="7048500" cy="4191000"/>
        </p:xfrm>
        <a:graphic xmlns:a="http://schemas.openxmlformats.org/drawingml/2006/main">
          <a:graphicData uri="http://schemas.openxmlformats.org/drawingml/2006/chart">
            <c:chart xmlns:r="http://schemas.openxmlformats.org/officeDocument/2006/relationships" xmlns:c="http://schemas.openxmlformats.org/drawingml/2006/chart" r:id="R53bd9dd386974a5a"/>
          </a:graphicData>
        </a:graphic>
      </p:graphicFrame>
      <p:sp>
        <p:nvSpPr>
          <p:cNvPr id="6" name="">
            <a:extLst xmlns:a="http://schemas.openxmlformats.org/drawingml/2006/main">
              <a:ext uri="{FF2B5EF4-FFF2-40B4-BE49-F238E27FC236}">
                <a16:creationId xmlns:a16="http://schemas.microsoft.com/office/drawing/2014/main" id="{B72D612E-1EA3-41EC-B4C4-D6650287F133}"/>
              </a:ext>
            </a:extLst>
          </p:cNvPr>
          <p:cNvSpPr>
            <a:spLocks xmlns:a="http://schemas.openxmlformats.org/drawingml/2006/main" noGrp="1"/>
          </p:cNvSpPr>
          <p:nvPr/>
        </p:nvSpPr>
        <p:spPr>
          <a:xfrm xmlns:a="http://schemas.openxmlformats.org/drawingml/2006/main">
            <a:off x="8039100" y="1524000"/>
            <a:ext cx="3200400" cy="1581150"/>
          </a:xfrm>
          <a:prstGeom xmlns:a="http://schemas.openxmlformats.org/drawingml/2006/main" prst="roundRect">
            <a:avLst>
              <a:gd name="adj" fmla="val 4819"/>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62D1D83C-8E85-4B70-AF7F-9E3BA713BE8E}"/>
              </a:ext>
            </a:extLst>
          </p:cNvPr>
          <p:cNvSpPr>
            <a:spLocks xmlns:a="http://schemas.openxmlformats.org/drawingml/2006/main" noGrp="1"/>
          </p:cNvSpPr>
          <p:nvPr/>
        </p:nvSpPr>
        <p:spPr>
          <a:xfrm xmlns:a="http://schemas.openxmlformats.org/drawingml/2006/main">
            <a:off x="8286750" y="1752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Paper ΔS</a:t>
            </a:r>
          </a:p>
        </p:txBody>
      </p:sp>
      <p:sp>
        <p:nvSpPr>
          <p:cNvPr id="8" name="">
            <a:extLst xmlns:a="http://schemas.openxmlformats.org/drawingml/2006/main">
              <a:ext uri="{FF2B5EF4-FFF2-40B4-BE49-F238E27FC236}">
                <a16:creationId xmlns:a16="http://schemas.microsoft.com/office/drawing/2014/main" id="{0A50877D-1ADB-4430-9384-8C1D25079C9D}"/>
              </a:ext>
            </a:extLst>
          </p:cNvPr>
          <p:cNvSpPr>
            <a:spLocks xmlns:a="http://schemas.openxmlformats.org/drawingml/2006/main" noGrp="1"/>
          </p:cNvSpPr>
          <p:nvPr/>
        </p:nvSpPr>
        <p:spPr>
          <a:xfrm xmlns:a="http://schemas.openxmlformats.org/drawingml/2006/main">
            <a:off x="8286750" y="20955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0E9384"/>
                </a:solidFill>
                <a:latin typeface="Microsoft YaHei"/>
                <a:ea typeface="Microsoft YaHei"/>
                <a:cs typeface="Microsoft YaHei"/>
              </a:defRPr>
            </a:pPr>
            <a:r>
              <a:rPr sz="2850" b="1">
                <a:solidFill>
                  <a:srgbClr val="0E9384"/>
                </a:solidFill>
                <a:latin typeface="Microsoft YaHei"/>
                <a:ea typeface="Microsoft YaHei"/>
                <a:cs typeface="Microsoft YaHei"/>
              </a:rPr>
              <a:t>+0.250</a:t>
            </a:r>
          </a:p>
        </p:txBody>
      </p:sp>
      <p:sp>
        <p:nvSpPr>
          <p:cNvPr id="9" name="">
            <a:extLst xmlns:a="http://schemas.openxmlformats.org/drawingml/2006/main">
              <a:ext uri="{FF2B5EF4-FFF2-40B4-BE49-F238E27FC236}">
                <a16:creationId xmlns:a16="http://schemas.microsoft.com/office/drawing/2014/main" id="{9A643964-EF24-4691-A9E9-708EE09F09A0}"/>
              </a:ext>
            </a:extLst>
          </p:cNvPr>
          <p:cNvSpPr>
            <a:spLocks xmlns:a="http://schemas.openxmlformats.org/drawingml/2006/main" noGrp="1"/>
          </p:cNvSpPr>
          <p:nvPr/>
        </p:nvSpPr>
        <p:spPr>
          <a:xfrm xmlns:a="http://schemas.openxmlformats.org/drawingml/2006/main">
            <a:off x="8286750" y="26479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41.3% to 66.3%</a:t>
            </a:r>
          </a:p>
        </p:txBody>
      </p:sp>
      <p:sp>
        <p:nvSpPr>
          <p:cNvPr id="10" name="">
            <a:extLst xmlns:a="http://schemas.openxmlformats.org/drawingml/2006/main">
              <a:ext uri="{FF2B5EF4-FFF2-40B4-BE49-F238E27FC236}">
                <a16:creationId xmlns:a16="http://schemas.microsoft.com/office/drawing/2014/main" id="{BA966EA2-C31C-4177-8D9D-AE946C409AA4}"/>
              </a:ext>
            </a:extLst>
          </p:cNvPr>
          <p:cNvSpPr>
            <a:spLocks xmlns:a="http://schemas.openxmlformats.org/drawingml/2006/main" noGrp="1"/>
          </p:cNvSpPr>
          <p:nvPr/>
        </p:nvSpPr>
        <p:spPr>
          <a:xfrm xmlns:a="http://schemas.openxmlformats.org/drawingml/2006/main">
            <a:off x="8286750" y="28860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1.46% to 0.68%</a:t>
            </a:r>
          </a:p>
        </p:txBody>
      </p:sp>
      <p:sp>
        <p:nvSpPr>
          <p:cNvPr id="11" name="">
            <a:extLst xmlns:a="http://schemas.openxmlformats.org/drawingml/2006/main">
              <a:ext uri="{FF2B5EF4-FFF2-40B4-BE49-F238E27FC236}">
                <a16:creationId xmlns:a16="http://schemas.microsoft.com/office/drawing/2014/main" id="{2EF52C92-54A5-4827-B537-C4BF53505A45}"/>
              </a:ext>
            </a:extLst>
          </p:cNvPr>
          <p:cNvSpPr>
            <a:spLocks xmlns:a="http://schemas.openxmlformats.org/drawingml/2006/main" noGrp="1"/>
          </p:cNvSpPr>
          <p:nvPr/>
        </p:nvSpPr>
        <p:spPr>
          <a:xfrm xmlns:a="http://schemas.openxmlformats.org/drawingml/2006/main">
            <a:off x="8039100" y="3333750"/>
            <a:ext cx="3200400" cy="1581150"/>
          </a:xfrm>
          <a:prstGeom xmlns:a="http://schemas.openxmlformats.org/drawingml/2006/main" prst="roundRect">
            <a:avLst>
              <a:gd name="adj" fmla="val 4819"/>
            </a:avLst>
          </a:prstGeom>
          <a:solidFill xmlns:a="http://schemas.openxmlformats.org/drawingml/2006/main">
            <a:srgbClr val="EFF8FF"/>
          </a:solidFill>
          <a:ln xmlns:a="http://schemas.openxmlformats.org/drawingml/2006/main" w="9525">
            <a:solidFill>
              <a:srgbClr val="B2DDFF"/>
            </a:solidFill>
          </a:ln>
        </p:spPr>
      </p:sp>
      <p:sp>
        <p:nvSpPr>
          <p:cNvPr id="12" name="">
            <a:extLst xmlns:a="http://schemas.openxmlformats.org/drawingml/2006/main">
              <a:ext uri="{FF2B5EF4-FFF2-40B4-BE49-F238E27FC236}">
                <a16:creationId xmlns:a16="http://schemas.microsoft.com/office/drawing/2014/main" id="{51BA73E4-0561-4477-8824-4084BEB204D1}"/>
              </a:ext>
            </a:extLst>
          </p:cNvPr>
          <p:cNvSpPr>
            <a:spLocks xmlns:a="http://schemas.openxmlformats.org/drawingml/2006/main" noGrp="1"/>
          </p:cNvSpPr>
          <p:nvPr/>
        </p:nvSpPr>
        <p:spPr>
          <a:xfrm xmlns:a="http://schemas.openxmlformats.org/drawingml/2006/main">
            <a:off x="8286750" y="35623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MC T40 ΔS</a:t>
            </a:r>
          </a:p>
        </p:txBody>
      </p:sp>
      <p:sp>
        <p:nvSpPr>
          <p:cNvPr id="13" name="">
            <a:extLst xmlns:a="http://schemas.openxmlformats.org/drawingml/2006/main">
              <a:ext uri="{FF2B5EF4-FFF2-40B4-BE49-F238E27FC236}">
                <a16:creationId xmlns:a16="http://schemas.microsoft.com/office/drawing/2014/main" id="{E77C53B8-DAF9-4992-B936-D1CF36AF2633}"/>
              </a:ext>
            </a:extLst>
          </p:cNvPr>
          <p:cNvSpPr>
            <a:spLocks xmlns:a="http://schemas.openxmlformats.org/drawingml/2006/main" noGrp="1"/>
          </p:cNvSpPr>
          <p:nvPr/>
        </p:nvSpPr>
        <p:spPr>
          <a:xfrm xmlns:a="http://schemas.openxmlformats.org/drawingml/2006/main">
            <a:off x="8286750" y="3905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570EF"/>
                </a:solidFill>
                <a:latin typeface="Microsoft YaHei"/>
                <a:ea typeface="Microsoft YaHei"/>
                <a:cs typeface="Microsoft YaHei"/>
              </a:defRPr>
            </a:pPr>
            <a:r>
              <a:rPr sz="2850" b="1">
                <a:solidFill>
                  <a:srgbClr val="1570EF"/>
                </a:solidFill>
                <a:latin typeface="Microsoft YaHei"/>
                <a:ea typeface="Microsoft YaHei"/>
                <a:cs typeface="Microsoft YaHei"/>
              </a:rPr>
              <a:t>+0.230</a:t>
            </a:r>
          </a:p>
        </p:txBody>
      </p:sp>
      <p:sp>
        <p:nvSpPr>
          <p:cNvPr id="14" name="">
            <a:extLst xmlns:a="http://schemas.openxmlformats.org/drawingml/2006/main">
              <a:ext uri="{FF2B5EF4-FFF2-40B4-BE49-F238E27FC236}">
                <a16:creationId xmlns:a16="http://schemas.microsoft.com/office/drawing/2014/main" id="{D32D918F-BA10-4086-A749-7215C9B490E2}"/>
              </a:ext>
            </a:extLst>
          </p:cNvPr>
          <p:cNvSpPr>
            <a:spLocks xmlns:a="http://schemas.openxmlformats.org/drawingml/2006/main" noGrp="1"/>
          </p:cNvSpPr>
          <p:nvPr/>
        </p:nvSpPr>
        <p:spPr>
          <a:xfrm xmlns:a="http://schemas.openxmlformats.org/drawingml/2006/main">
            <a:off x="8286750" y="4457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52.7% to 75.8%</a:t>
            </a:r>
          </a:p>
        </p:txBody>
      </p:sp>
      <p:sp>
        <p:nvSpPr>
          <p:cNvPr id="15" name="">
            <a:extLst xmlns:a="http://schemas.openxmlformats.org/drawingml/2006/main">
              <a:ext uri="{FF2B5EF4-FFF2-40B4-BE49-F238E27FC236}">
                <a16:creationId xmlns:a16="http://schemas.microsoft.com/office/drawing/2014/main" id="{5FAA1C5B-28CC-441C-A85A-CD7373C5E23F}"/>
              </a:ext>
            </a:extLst>
          </p:cNvPr>
          <p:cNvSpPr>
            <a:spLocks xmlns:a="http://schemas.openxmlformats.org/drawingml/2006/main" noGrp="1"/>
          </p:cNvSpPr>
          <p:nvPr/>
        </p:nvSpPr>
        <p:spPr>
          <a:xfrm xmlns:a="http://schemas.openxmlformats.org/drawingml/2006/main">
            <a:off x="8286750" y="46958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1.06% to 0.46%</a:t>
            </a:r>
          </a:p>
        </p:txBody>
      </p:sp>
      <p:sp>
        <p:nvSpPr>
          <p:cNvPr id="16" name="">
            <a:extLst xmlns:a="http://schemas.openxmlformats.org/drawingml/2006/main">
              <a:ext uri="{FF2B5EF4-FFF2-40B4-BE49-F238E27FC236}">
                <a16:creationId xmlns:a16="http://schemas.microsoft.com/office/drawing/2014/main" id="{3B2F217F-7D13-4B68-8B22-04E1745F37DD}"/>
              </a:ext>
            </a:extLst>
          </p:cNvPr>
          <p:cNvSpPr>
            <a:spLocks xmlns:a="http://schemas.openxmlformats.org/drawingml/2006/main" noGrp="1"/>
          </p:cNvSpPr>
          <p:nvPr/>
        </p:nvSpPr>
        <p:spPr>
          <a:xfrm xmlns:a="http://schemas.openxmlformats.org/drawingml/2006/main">
            <a:off x="8039100" y="525780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相对增益接近论文，但 MC 的 Manual 和 ML 绝对存活率仍偏高。</a:t>
            </a:r>
          </a:p>
        </p:txBody>
      </p:sp>
      <p:sp>
        <p:nvSpPr>
          <p:cNvPr id="17" name="">
            <a:extLst xmlns:a="http://schemas.openxmlformats.org/drawingml/2006/main">
              <a:ext uri="{FF2B5EF4-FFF2-40B4-BE49-F238E27FC236}">
                <a16:creationId xmlns:a16="http://schemas.microsoft.com/office/drawing/2014/main" id="{A20A4DB1-4C28-4C59-BAA5-2F4B91E8363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ADF14BD6-C0EE-4228-9B0B-E1B8BF4DFF1C}"/>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paper_ml_eval.json · fig6d_survival_digitized.csv</a:t>
            </a:r>
          </a:p>
        </p:txBody>
      </p:sp>
      <p:sp>
        <p:nvSpPr>
          <p:cNvPr id="19" name="">
            <a:extLst xmlns:a="http://schemas.openxmlformats.org/drawingml/2006/main">
              <a:ext uri="{FF2B5EF4-FFF2-40B4-BE49-F238E27FC236}">
                <a16:creationId xmlns:a16="http://schemas.microsoft.com/office/drawing/2014/main" id="{80600D1E-BA0B-4ABD-A908-ED81C62B693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14</a:t>
            </a:r>
          </a:p>
        </p:txBody>
      </p:sp>
    </p:spTree>
    <p:extLst>
      <p:ext uri="{BB962C8B-B14F-4D97-AF65-F5344CB8AC3E}">
        <p14:creationId xmlns:p14="http://schemas.microsoft.com/office/powerpoint/2010/main" val="1704089382"/>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4DA72C4-599F-4228-807F-6E641ADD1B04}"/>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13</a:t>
            </a:r>
          </a:p>
        </p:txBody>
      </p:sp>
      <p:sp>
        <p:nvSpPr>
          <p:cNvPr id="2" name="">
            <a:extLst xmlns:a="http://schemas.openxmlformats.org/drawingml/2006/main">
              <a:ext uri="{FF2B5EF4-FFF2-40B4-BE49-F238E27FC236}">
                <a16:creationId xmlns:a16="http://schemas.microsoft.com/office/drawing/2014/main" id="{75A9EF65-4309-4560-8CD4-CEBDAB77B2B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2×2 交叉消融定位 ML 增益来源</a:t>
            </a:r>
          </a:p>
        </p:txBody>
      </p:sp>
      <p:sp>
        <p:nvSpPr>
          <p:cNvPr id="3" name="">
            <a:extLst xmlns:a="http://schemas.openxmlformats.org/drawingml/2006/main">
              <a:ext uri="{FF2B5EF4-FFF2-40B4-BE49-F238E27FC236}">
                <a16:creationId xmlns:a16="http://schemas.microsoft.com/office/drawing/2014/main" id="{A5F7E447-E76F-4E3A-BCD4-836E37AE6A1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B28EEC2-9C82-40D2-AB1B-F6D069C221F9}"/>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分别替换 position 和 depth，在同一 T40、512-shot 条件下计算四个组合</a:t>
            </a:r>
          </a:p>
        </p:txBody>
      </p:sp>
      <p:graphicFrame>
        <p:nvGraphicFramePr>
          <p:cNvPr id="22" name="Chart"/>
          <p:cNvGraphicFramePr/>
          <p:nvPr/>
        </p:nvGraphicFramePr>
        <p:xfrm>
          <a:off xmlns:a="http://schemas.openxmlformats.org/drawingml/2006/main" x="628650" y="14097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38ab8a6d134c4c06"/>
          </a:graphicData>
        </a:graphic>
      </p:graphicFrame>
      <p:sp>
        <p:nvSpPr>
          <p:cNvPr id="6" name="">
            <a:extLst xmlns:a="http://schemas.openxmlformats.org/drawingml/2006/main">
              <a:ext uri="{FF2B5EF4-FFF2-40B4-BE49-F238E27FC236}">
                <a16:creationId xmlns:a16="http://schemas.microsoft.com/office/drawing/2014/main" id="{76F73AD3-2C43-43B6-893B-46B3947A9CCF}"/>
              </a:ext>
            </a:extLst>
          </p:cNvPr>
          <p:cNvSpPr>
            <a:spLocks xmlns:a="http://schemas.openxmlformats.org/drawingml/2006/main" noGrp="1"/>
          </p:cNvSpPr>
          <p:nvPr/>
        </p:nvSpPr>
        <p:spPr>
          <a:xfrm xmlns:a="http://schemas.openxmlformats.org/drawingml/2006/main">
            <a:off x="7848600" y="1466850"/>
            <a:ext cx="3429000" cy="1733550"/>
          </a:xfrm>
          <a:prstGeom xmlns:a="http://schemas.openxmlformats.org/drawingml/2006/main" prst="roundRect">
            <a:avLst>
              <a:gd name="adj" fmla="val 4396"/>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259B8316-F838-4E76-ACF2-E1D38DF05F6D}"/>
              </a:ext>
            </a:extLst>
          </p:cNvPr>
          <p:cNvSpPr>
            <a:spLocks xmlns:a="http://schemas.openxmlformats.org/drawingml/2006/main" noGrp="1"/>
          </p:cNvSpPr>
          <p:nvPr/>
        </p:nvSpPr>
        <p:spPr>
          <a:xfrm xmlns:a="http://schemas.openxmlformats.org/drawingml/2006/main">
            <a:off x="8096250" y="16954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位置替换的增益</a:t>
            </a:r>
          </a:p>
        </p:txBody>
      </p:sp>
      <p:sp>
        <p:nvSpPr>
          <p:cNvPr id="8" name="">
            <a:extLst xmlns:a="http://schemas.openxmlformats.org/drawingml/2006/main">
              <a:ext uri="{FF2B5EF4-FFF2-40B4-BE49-F238E27FC236}">
                <a16:creationId xmlns:a16="http://schemas.microsoft.com/office/drawing/2014/main" id="{5E50E3B1-4373-4A4E-9356-8A5AAC271ED2}"/>
              </a:ext>
            </a:extLst>
          </p:cNvPr>
          <p:cNvSpPr>
            <a:spLocks xmlns:a="http://schemas.openxmlformats.org/drawingml/2006/main" noGrp="1"/>
          </p:cNvSpPr>
          <p:nvPr/>
        </p:nvSpPr>
        <p:spPr>
          <a:xfrm xmlns:a="http://schemas.openxmlformats.org/drawingml/2006/main">
            <a:off x="8096250" y="207645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0E9384"/>
                </a:solidFill>
                <a:latin typeface="Microsoft YaHei"/>
                <a:ea typeface="Microsoft YaHei"/>
                <a:cs typeface="Microsoft YaHei"/>
              </a:defRPr>
            </a:pPr>
            <a:r>
              <a:rPr sz="2250" b="1">
                <a:solidFill>
                  <a:srgbClr val="0E9384"/>
                </a:solidFill>
                <a:latin typeface="Microsoft YaHei"/>
                <a:ea typeface="Microsoft YaHei"/>
                <a:cs typeface="Microsoft YaHei"/>
              </a:rPr>
              <a:t>+0.283 / +0.275</a:t>
            </a:r>
          </a:p>
        </p:txBody>
      </p:sp>
      <p:sp>
        <p:nvSpPr>
          <p:cNvPr id="9" name="">
            <a:extLst xmlns:a="http://schemas.openxmlformats.org/drawingml/2006/main">
              <a:ext uri="{FF2B5EF4-FFF2-40B4-BE49-F238E27FC236}">
                <a16:creationId xmlns:a16="http://schemas.microsoft.com/office/drawing/2014/main" id="{C27CD3A4-1475-42A8-BE7B-17791C132A0C}"/>
              </a:ext>
            </a:extLst>
          </p:cNvPr>
          <p:cNvSpPr>
            <a:spLocks xmlns:a="http://schemas.openxmlformats.org/drawingml/2006/main" noGrp="1"/>
          </p:cNvSpPr>
          <p:nvPr/>
        </p:nvSpPr>
        <p:spPr>
          <a:xfrm xmlns:a="http://schemas.openxmlformats.org/drawingml/2006/main">
            <a:off x="8096250" y="26479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深度来源不同的两组对照均成立</a:t>
            </a:r>
          </a:p>
        </p:txBody>
      </p:sp>
      <p:sp>
        <p:nvSpPr>
          <p:cNvPr id="10" name="">
            <a:extLst xmlns:a="http://schemas.openxmlformats.org/drawingml/2006/main">
              <a:ext uri="{FF2B5EF4-FFF2-40B4-BE49-F238E27FC236}">
                <a16:creationId xmlns:a16="http://schemas.microsoft.com/office/drawing/2014/main" id="{B14B4B3B-D898-4F32-8100-270C8168B825}"/>
              </a:ext>
            </a:extLst>
          </p:cNvPr>
          <p:cNvSpPr>
            <a:spLocks xmlns:a="http://schemas.openxmlformats.org/drawingml/2006/main" noGrp="1"/>
          </p:cNvSpPr>
          <p:nvPr/>
        </p:nvSpPr>
        <p:spPr>
          <a:xfrm xmlns:a="http://schemas.openxmlformats.org/drawingml/2006/main">
            <a:off x="7848600" y="3429000"/>
            <a:ext cx="3429000" cy="1733550"/>
          </a:xfrm>
          <a:prstGeom xmlns:a="http://schemas.openxmlformats.org/drawingml/2006/main" prst="roundRect">
            <a:avLst>
              <a:gd name="adj" fmla="val 4396"/>
            </a:avLst>
          </a:prstGeom>
          <a:solidFill xmlns:a="http://schemas.openxmlformats.org/drawingml/2006/main">
            <a:srgbClr val="FFF6ED"/>
          </a:solidFill>
          <a:ln xmlns:a="http://schemas.openxmlformats.org/drawingml/2006/main" w="9525">
            <a:solidFill>
              <a:srgbClr val="FEDF89"/>
            </a:solidFill>
          </a:ln>
        </p:spPr>
      </p:sp>
      <p:sp>
        <p:nvSpPr>
          <p:cNvPr id="11" name="">
            <a:extLst xmlns:a="http://schemas.openxmlformats.org/drawingml/2006/main">
              <a:ext uri="{FF2B5EF4-FFF2-40B4-BE49-F238E27FC236}">
                <a16:creationId xmlns:a16="http://schemas.microsoft.com/office/drawing/2014/main" id="{6E667688-CCE2-4A8D-9941-9F9E2D604987}"/>
              </a:ext>
            </a:extLst>
          </p:cNvPr>
          <p:cNvSpPr>
            <a:spLocks xmlns:a="http://schemas.openxmlformats.org/drawingml/2006/main" noGrp="1"/>
          </p:cNvSpPr>
          <p:nvPr/>
        </p:nvSpPr>
        <p:spPr>
          <a:xfrm xmlns:a="http://schemas.openxmlformats.org/drawingml/2006/main">
            <a:off x="8096250" y="36576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深度替换的增益</a:t>
            </a:r>
          </a:p>
        </p:txBody>
      </p:sp>
      <p:sp>
        <p:nvSpPr>
          <p:cNvPr id="12" name="">
            <a:extLst xmlns:a="http://schemas.openxmlformats.org/drawingml/2006/main">
              <a:ext uri="{FF2B5EF4-FFF2-40B4-BE49-F238E27FC236}">
                <a16:creationId xmlns:a16="http://schemas.microsoft.com/office/drawing/2014/main" id="{CCEEB924-1FEB-40EA-B778-ADC56C9F3E3A}"/>
              </a:ext>
            </a:extLst>
          </p:cNvPr>
          <p:cNvSpPr>
            <a:spLocks xmlns:a="http://schemas.openxmlformats.org/drawingml/2006/main" noGrp="1"/>
          </p:cNvSpPr>
          <p:nvPr/>
        </p:nvSpPr>
        <p:spPr>
          <a:xfrm xmlns:a="http://schemas.openxmlformats.org/drawingml/2006/main">
            <a:off x="8096250" y="403860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F79009"/>
                </a:solidFill>
                <a:latin typeface="Microsoft YaHei"/>
                <a:ea typeface="Microsoft YaHei"/>
                <a:cs typeface="Microsoft YaHei"/>
              </a:defRPr>
            </a:pPr>
            <a:r>
              <a:rPr sz="2250" b="1">
                <a:solidFill>
                  <a:srgbClr val="F79009"/>
                </a:solidFill>
                <a:latin typeface="Microsoft YaHei"/>
                <a:ea typeface="Microsoft YaHei"/>
                <a:cs typeface="Microsoft YaHei"/>
              </a:rPr>
              <a:t>+0.004 / −0.004</a:t>
            </a:r>
          </a:p>
        </p:txBody>
      </p:sp>
      <p:sp>
        <p:nvSpPr>
          <p:cNvPr id="13" name="">
            <a:extLst xmlns:a="http://schemas.openxmlformats.org/drawingml/2006/main">
              <a:ext uri="{FF2B5EF4-FFF2-40B4-BE49-F238E27FC236}">
                <a16:creationId xmlns:a16="http://schemas.microsoft.com/office/drawing/2014/main" id="{F4E25380-5ADB-4ECB-B623-702FF4005A25}"/>
              </a:ext>
            </a:extLst>
          </p:cNvPr>
          <p:cNvSpPr>
            <a:spLocks xmlns:a="http://schemas.openxmlformats.org/drawingml/2006/main" noGrp="1"/>
          </p:cNvSpPr>
          <p:nvPr/>
        </p:nvSpPr>
        <p:spPr>
          <a:xfrm xmlns:a="http://schemas.openxmlformats.org/drawingml/2006/main">
            <a:off x="8096250" y="461010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在该模型和场景下与统计分辨率相当</a:t>
            </a:r>
          </a:p>
        </p:txBody>
      </p:sp>
      <p:sp>
        <p:nvSpPr>
          <p:cNvPr id="14" name="">
            <a:extLst xmlns:a="http://schemas.openxmlformats.org/drawingml/2006/main">
              <a:ext uri="{FF2B5EF4-FFF2-40B4-BE49-F238E27FC236}">
                <a16:creationId xmlns:a16="http://schemas.microsoft.com/office/drawing/2014/main" id="{C7629D3E-6C21-40EC-8405-1682D3396A86}"/>
              </a:ext>
            </a:extLst>
          </p:cNvPr>
          <p:cNvSpPr>
            <a:spLocks xmlns:a="http://schemas.openxmlformats.org/drawingml/2006/main" noGrp="1"/>
          </p:cNvSpPr>
          <p:nvPr/>
        </p:nvSpPr>
        <p:spPr>
          <a:xfrm xmlns:a="http://schemas.openxmlformats.org/drawingml/2006/main">
            <a:off x="628650" y="57150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95% 以上的丢失发生在 pickup_wait 的 AOD 束缚判定，而非 drop-off。</a:t>
            </a:r>
          </a:p>
        </p:txBody>
      </p:sp>
      <p:sp>
        <p:nvSpPr>
          <p:cNvPr id="15" name="">
            <a:extLst xmlns:a="http://schemas.openxmlformats.org/drawingml/2006/main">
              <a:ext uri="{FF2B5EF4-FFF2-40B4-BE49-F238E27FC236}">
                <a16:creationId xmlns:a16="http://schemas.microsoft.com/office/drawing/2014/main" id="{86BFFFCF-E86D-47A2-9C7F-7D345531981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7867ECB5-99FB-4350-B4E8-D4B196F24C0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summary_stage1.md §6.1 · reproducible script ablation_cross_2x2.py</a:t>
            </a:r>
          </a:p>
        </p:txBody>
      </p:sp>
      <p:sp>
        <p:nvSpPr>
          <p:cNvPr id="17" name="">
            <a:extLst xmlns:a="http://schemas.openxmlformats.org/drawingml/2006/main">
              <a:ext uri="{FF2B5EF4-FFF2-40B4-BE49-F238E27FC236}">
                <a16:creationId xmlns:a16="http://schemas.microsoft.com/office/drawing/2014/main" id="{E1206FA2-7330-4B22-B4B9-284AA0A1EB11}"/>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15</a:t>
            </a:r>
          </a:p>
        </p:txBody>
      </p:sp>
    </p:spTree>
    <p:extLst>
      <p:ext uri="{BB962C8B-B14F-4D97-AF65-F5344CB8AC3E}">
        <p14:creationId xmlns:p14="http://schemas.microsoft.com/office/powerpoint/2010/main" val="1923853463"/>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84DFD5-BD57-4508-A53A-6F92F3D2857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14</a:t>
            </a:r>
          </a:p>
        </p:txBody>
      </p:sp>
      <p:sp>
        <p:nvSpPr>
          <p:cNvPr id="2" name="">
            <a:extLst xmlns:a="http://schemas.openxmlformats.org/drawingml/2006/main">
              <a:ext uri="{FF2B5EF4-FFF2-40B4-BE49-F238E27FC236}">
                <a16:creationId xmlns:a16="http://schemas.microsoft.com/office/drawing/2014/main" id="{21F57741-D370-42FB-8C0C-FBDDD8C4B39C}"/>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用逐点误差执行定量验收</a:t>
            </a:r>
          </a:p>
        </p:txBody>
      </p:sp>
      <p:sp>
        <p:nvSpPr>
          <p:cNvPr id="3" name="">
            <a:extLst xmlns:a="http://schemas.openxmlformats.org/drawingml/2006/main">
              <a:ext uri="{FF2B5EF4-FFF2-40B4-BE49-F238E27FC236}">
                <a16:creationId xmlns:a16="http://schemas.microsoft.com/office/drawing/2014/main" id="{F375B398-C95F-4F61-B62C-903754F38C7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BFDA3BF1-E7ED-4771-8DFE-DEC659C6D1AB}"/>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Manual 使用 T40 的 512-shot 完整曲线；Fig. 6c ML 只验收已提交的 256-shot 端点</a:t>
            </a:r>
          </a:p>
        </p:txBody>
      </p:sp>
      <p:graphicFrame>
        <p:nvGraphicFramePr>
          <p:cNvPr id="19" name=""/>
          <p:cNvGraphicFramePr/>
          <p:nvPr/>
        </p:nvGraphicFramePr>
        <p:xfrm>
          <a:off xmlns:a="http://schemas.openxmlformats.org/drawingml/2006/main" x="609600" y="1466850"/>
          <a:ext xmlns:a="http://schemas.openxmlformats.org/drawingml/2006/main" cx="10972800" cy="2724150"/>
        </p:xfrm>
        <a:graphic xmlns:a="http://schemas.openxmlformats.org/drawingml/2006/main">
          <a:graphicData uri="http://schemas.openxmlformats.org/drawingml/2006/table">
            <a:tbl>
              <a:tblPr/>
              <a:tblGrid>
                <a:gridCol w="2112775"/>
                <a:gridCol w="1158619"/>
                <a:gridCol w="1226773"/>
                <a:gridCol w="1226773"/>
                <a:gridCol w="1499389"/>
                <a:gridCol w="2112775"/>
                <a:gridCol w="1635697"/>
              </a:tblGrid>
              <a:tr h="544830">
                <a:tc>
                  <a:txBody>
                    <a:bodyPr>
                      <a:noAutofit/>
                    </a:bodyPr>
                    <a:lstStyle/>
                    <a:p>
                      <a:pPr algn="l"/>
                      <a:r>
                        <a:rPr sz="97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Max |curve error|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Within ±0.02</a:t>
                      </a:r>
                    </a:p>
                  </a:txBody>
                  <a:tcPr marL="91440" marR="91440" marT="45720" marB="45720" anchor="ctr">
                    <a:solidFill>
                      <a:srgbClr val="102A43"/>
                    </a:solidFill>
                  </a:tcPr>
                </a:tc>
              </a:tr>
              <a:tr h="544830">
                <a:tc>
                  <a:txBody>
                    <a:bodyPr>
                      <a:noAutofit/>
                    </a:bodyPr>
                    <a:lstStyle/>
                    <a:p>
                      <a:pPr algn="l"/>
                      <a:r>
                        <a:rPr sz="1050" b="0">
                          <a:solidFill>
                            <a:srgbClr val="344054"/>
                          </a:solidFill>
                          <a:latin typeface="Microsoft YaHei"/>
                          <a:ea typeface="Microsoft YaHei"/>
                          <a:cs typeface="Microsoft YaHei"/>
                        </a:rPr>
                        <a:t>Manual 200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33.4%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24.0%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-9.4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17.8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Manual 400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41.3%</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52.5%</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20%</a:t>
                      </a:r>
                    </a:p>
                  </a:txBody>
                  <a:tcPr marL="91440" marR="91440" marT="45720" marB="45720" anchor="ctr">
                    <a:solidFill>
                      <a:srgbClr val="F8FAFC"/>
                    </a:solidFill>
                  </a:tcPr>
                </a:tc>
              </a:tr>
              <a:tr h="544830">
                <a:tc>
                  <a:txBody>
                    <a:bodyPr>
                      <a:noAutofit/>
                    </a:bodyPr>
                    <a:lstStyle/>
                    <a:p>
                      <a:pPr algn="l"/>
                      <a:r>
                        <a:rPr sz="1050" b="0">
                          <a:solidFill>
                            <a:srgbClr val="344054"/>
                          </a:solidFill>
                          <a:latin typeface="Microsoft YaHei"/>
                          <a:ea typeface="Microsoft YaHei"/>
                          <a:cs typeface="Microsoft YaHei"/>
                        </a:rPr>
                        <a:t>Manual 600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57.3%</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68.4%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11.1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11.7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34%</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Fig. 6c ML 400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66.3%</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75.8%</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9.5 pp</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full curve not committed</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not evaluable</a:t>
                      </a:r>
                    </a:p>
                  </a:txBody>
                  <a:tcPr marL="91440" marR="91440" marT="45720" marB="45720" anchor="ctr">
                    <a:solidFill>
                      <a:srgbClr val="EFF8FF"/>
                    </a:solidFill>
                  </a:tcPr>
                </a:tc>
              </a:tr>
            </a:tbl>
          </a:graphicData>
        </a:graphic>
      </p:graphicFrame>
      <p:sp>
        <p:nvSpPr>
          <p:cNvPr id="6" name="">
            <a:extLst xmlns:a="http://schemas.openxmlformats.org/drawingml/2006/main">
              <a:ext uri="{FF2B5EF4-FFF2-40B4-BE49-F238E27FC236}">
                <a16:creationId xmlns:a16="http://schemas.microsoft.com/office/drawing/2014/main" id="{F6E22023-BD8C-4960-BBE1-AD48477FBF1E}"/>
              </a:ext>
            </a:extLst>
          </p:cNvPr>
          <p:cNvSpPr>
            <a:spLocks xmlns:a="http://schemas.openxmlformats.org/drawingml/2006/main" noGrp="1"/>
          </p:cNvSpPr>
          <p:nvPr/>
        </p:nvSpPr>
        <p:spPr>
          <a:xfrm xmlns:a="http://schemas.openxmlformats.org/drawingml/2006/main">
            <a:off x="609600" y="4495800"/>
            <a:ext cx="5257800" cy="1428750"/>
          </a:xfrm>
          <a:prstGeom xmlns:a="http://schemas.openxmlformats.org/drawingml/2006/main" prst="roundRect">
            <a:avLst>
              <a:gd name="adj" fmla="val 5333"/>
            </a:avLst>
          </a:prstGeom>
          <a:solidFill xmlns:a="http://schemas.openxmlformats.org/drawingml/2006/main">
            <a:srgbClr val="FEF3F2"/>
          </a:solidFill>
          <a:ln xmlns:a="http://schemas.openxmlformats.org/drawingml/2006/main" w="9525">
            <a:solidFill>
              <a:srgbClr val="FECDCA"/>
            </a:solidFill>
          </a:ln>
        </p:spPr>
      </p:sp>
      <p:sp>
        <p:nvSpPr>
          <p:cNvPr id="7" name="">
            <a:extLst xmlns:a="http://schemas.openxmlformats.org/drawingml/2006/main">
              <a:ext uri="{FF2B5EF4-FFF2-40B4-BE49-F238E27FC236}">
                <a16:creationId xmlns:a16="http://schemas.microsoft.com/office/drawing/2014/main" id="{8BB5110F-14C1-4F90-BAB9-4D61A9835559}"/>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Absolute scale</a:t>
            </a:r>
          </a:p>
        </p:txBody>
      </p:sp>
      <p:sp>
        <p:nvSpPr>
          <p:cNvPr id="8" name="">
            <a:extLst xmlns:a="http://schemas.openxmlformats.org/drawingml/2006/main">
              <a:ext uri="{FF2B5EF4-FFF2-40B4-BE49-F238E27FC236}">
                <a16:creationId xmlns:a16="http://schemas.microsoft.com/office/drawing/2014/main" id="{815B8859-B9DD-440A-9B6E-6BCD56AB4265}"/>
              </a:ext>
            </a:extLst>
          </p:cNvPr>
          <p:cNvSpPr>
            <a:spLocks xmlns:a="http://schemas.openxmlformats.org/drawingml/2006/main" noGrp="1"/>
          </p:cNvSpPr>
          <p:nvPr/>
        </p:nvSpPr>
        <p:spPr>
          <a:xfrm xmlns:a="http://schemas.openxmlformats.org/drawingml/2006/main">
            <a:off x="857250" y="508635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400/600 和 Fig. 6c ML 的终点偏高约 9–11 pp；Manual 200 在 n=31 偏低 9.4 pp。</a:t>
            </a:r>
          </a:p>
        </p:txBody>
      </p:sp>
      <p:sp>
        <p:nvSpPr>
          <p:cNvPr id="9" name="">
            <a:extLst xmlns:a="http://schemas.openxmlformats.org/drawingml/2006/main">
              <a:ext uri="{FF2B5EF4-FFF2-40B4-BE49-F238E27FC236}">
                <a16:creationId xmlns:a16="http://schemas.microsoft.com/office/drawing/2014/main" id="{E028934C-6219-4C18-8A73-EDFD101E5662}"/>
              </a:ext>
            </a:extLst>
          </p:cNvPr>
          <p:cNvSpPr>
            <a:spLocks xmlns:a="http://schemas.openxmlformats.org/drawingml/2006/main" noGrp="1"/>
          </p:cNvSpPr>
          <p:nvPr/>
        </p:nvSpPr>
        <p:spPr>
          <a:xfrm xmlns:a="http://schemas.openxmlformats.org/drawingml/2006/main">
            <a:off x="6134100" y="4495800"/>
            <a:ext cx="5448300" cy="1428750"/>
          </a:xfrm>
          <a:prstGeom xmlns:a="http://schemas.openxmlformats.org/drawingml/2006/main" prst="roundRect">
            <a:avLst>
              <a:gd name="adj" fmla="val 5333"/>
            </a:avLst>
          </a:prstGeom>
          <a:solidFill xmlns:a="http://schemas.openxmlformats.org/drawingml/2006/main">
            <a:srgbClr val="FFF6ED"/>
          </a:solidFill>
          <a:ln xmlns:a="http://schemas.openxmlformats.org/drawingml/2006/main" w="9525">
            <a:solidFill>
              <a:srgbClr val="FEDF89"/>
            </a:solidFill>
          </a:ln>
        </p:spPr>
      </p:sp>
      <p:sp>
        <p:nvSpPr>
          <p:cNvPr id="10" name="">
            <a:extLst xmlns:a="http://schemas.openxmlformats.org/drawingml/2006/main">
              <a:ext uri="{FF2B5EF4-FFF2-40B4-BE49-F238E27FC236}">
                <a16:creationId xmlns:a16="http://schemas.microsoft.com/office/drawing/2014/main" id="{3B66A549-B286-4AFD-87E1-9F46375EAD27}"/>
              </a:ext>
            </a:extLst>
          </p:cNvPr>
          <p:cNvSpPr>
            <a:spLocks xmlns:a="http://schemas.openxmlformats.org/drawingml/2006/main" noGrp="1"/>
          </p:cNvSpPr>
          <p:nvPr/>
        </p:nvSpPr>
        <p:spPr>
          <a:xfrm xmlns:a="http://schemas.openxmlformats.org/drawingml/2006/main">
            <a:off x="63817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79009"/>
                </a:solidFill>
                <a:latin typeface="Microsoft YaHei"/>
                <a:ea typeface="Microsoft YaHei"/>
                <a:cs typeface="Microsoft YaHei"/>
              </a:defRPr>
            </a:pPr>
            <a:r>
              <a:rPr sz="1350" b="1">
                <a:solidFill>
                  <a:srgbClr val="F79009"/>
                </a:solidFill>
                <a:latin typeface="Microsoft YaHei"/>
                <a:ea typeface="Microsoft YaHei"/>
                <a:cs typeface="Microsoft YaHei"/>
              </a:rPr>
              <a:t>Evidence gap</a:t>
            </a:r>
          </a:p>
        </p:txBody>
      </p:sp>
      <p:sp>
        <p:nvSpPr>
          <p:cNvPr id="11" name="">
            <a:extLst xmlns:a="http://schemas.openxmlformats.org/drawingml/2006/main">
              <a:ext uri="{FF2B5EF4-FFF2-40B4-BE49-F238E27FC236}">
                <a16:creationId xmlns:a16="http://schemas.microsoft.com/office/drawing/2014/main" id="{6D5A1D20-8C03-4BDD-8F3D-FCCFF13FEB74}"/>
              </a:ext>
            </a:extLst>
          </p:cNvPr>
          <p:cNvSpPr>
            <a:spLocks xmlns:a="http://schemas.openxmlformats.org/drawingml/2006/main" noGrp="1"/>
          </p:cNvSpPr>
          <p:nvPr/>
        </p:nvSpPr>
        <p:spPr>
          <a:xfrm xmlns:a="http://schemas.openxmlformats.org/drawingml/2006/main">
            <a:off x="6381750" y="5086350"/>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最新 Fig. 6c replay 只提交了 endpoint JSON。旧 `ml_400us` 全曲线对应原冻结候选，不能替代最新轨迹。</a:t>
            </a:r>
          </a:p>
        </p:txBody>
      </p:sp>
      <p:sp>
        <p:nvSpPr>
          <p:cNvPr id="12" name="">
            <a:extLst xmlns:a="http://schemas.openxmlformats.org/drawingml/2006/main">
              <a:ext uri="{FF2B5EF4-FFF2-40B4-BE49-F238E27FC236}">
                <a16:creationId xmlns:a16="http://schemas.microsoft.com/office/drawing/2014/main" id="{91E56055-C7C0-4C98-BA43-287D13752E1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E5C499CF-80D4-415B-897E-8062A1C6418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paper_ml_eval.json · monotone paper reconstruction</a:t>
            </a:r>
          </a:p>
        </p:txBody>
      </p:sp>
      <p:sp>
        <p:nvSpPr>
          <p:cNvPr id="14" name="">
            <a:extLst xmlns:a="http://schemas.openxmlformats.org/drawingml/2006/main">
              <a:ext uri="{FF2B5EF4-FFF2-40B4-BE49-F238E27FC236}">
                <a16:creationId xmlns:a16="http://schemas.microsoft.com/office/drawing/2014/main" id="{4419C170-6573-4C03-8C49-7662179CD56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16</a:t>
            </a:r>
          </a:p>
        </p:txBody>
      </p:sp>
    </p:spTree>
    <p:extLst>
      <p:ext uri="{BB962C8B-B14F-4D97-AF65-F5344CB8AC3E}">
        <p14:creationId xmlns:p14="http://schemas.microsoft.com/office/powerpoint/2010/main" val="120844336"/>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DE4C99-520A-4F7B-9509-D729BB8B1572}"/>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15</a:t>
            </a:r>
          </a:p>
        </p:txBody>
      </p:sp>
      <p:sp>
        <p:nvSpPr>
          <p:cNvPr id="2" name="">
            <a:extLst xmlns:a="http://schemas.openxmlformats.org/drawingml/2006/main">
              <a:ext uri="{FF2B5EF4-FFF2-40B4-BE49-F238E27FC236}">
                <a16:creationId xmlns:a16="http://schemas.microsoft.com/office/drawing/2014/main" id="{EE401EC2-9E9D-4C84-847F-64200EB60450}"/>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检查逐点残差并界定模型边界</a:t>
            </a:r>
          </a:p>
        </p:txBody>
      </p:sp>
      <p:sp>
        <p:nvSpPr>
          <p:cNvPr id="3" name="">
            <a:extLst xmlns:a="http://schemas.openxmlformats.org/drawingml/2006/main">
              <a:ext uri="{FF2B5EF4-FFF2-40B4-BE49-F238E27FC236}">
                <a16:creationId xmlns:a16="http://schemas.microsoft.com/office/drawing/2014/main" id="{A737AD58-5BE4-4FD2-A496-97A3165C76DA}"/>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8F34A84D-1F21-44AF-80CC-37A5F66382F7}"/>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Deviation = MC T40 − 单调论文重建；误差变号说明不仅是整体损失尺度不同</a:t>
            </a:r>
          </a:p>
        </p:txBody>
      </p:sp>
      <p:graphicFrame>
        <p:nvGraphicFramePr>
          <p:cNvPr id="16" name="Chart"/>
          <p:cNvGraphicFramePr/>
          <p:nvPr/>
        </p:nvGraphicFramePr>
        <p:xfrm>
          <a:off xmlns:a="http://schemas.openxmlformats.org/drawingml/2006/main" x="609600" y="1390650"/>
          <a:ext xmlns:a="http://schemas.openxmlformats.org/drawingml/2006/main" cx="4095750" cy="3790950"/>
        </p:xfrm>
        <a:graphic xmlns:a="http://schemas.openxmlformats.org/drawingml/2006/main">
          <a:graphicData uri="http://schemas.openxmlformats.org/drawingml/2006/chart">
            <c:chart xmlns:r="http://schemas.openxmlformats.org/officeDocument/2006/relationships" xmlns:c="http://schemas.openxmlformats.org/drawingml/2006/chart" r:id="R2850c1ee08ac45ec"/>
          </a:graphicData>
        </a:graphic>
      </p:graphicFrame>
      <p:graphicFrame>
        <p:nvGraphicFramePr>
          <p:cNvPr id="17" name="Chart"/>
          <p:cNvGraphicFramePr/>
          <p:nvPr/>
        </p:nvGraphicFramePr>
        <p:xfrm>
          <a:off xmlns:a="http://schemas.openxmlformats.org/drawingml/2006/main" x="4876800" y="1390650"/>
          <a:ext xmlns:a="http://schemas.openxmlformats.org/drawingml/2006/main" cx="6705600" cy="3790950"/>
        </p:xfrm>
        <a:graphic xmlns:a="http://schemas.openxmlformats.org/drawingml/2006/main">
          <a:graphicData uri="http://schemas.openxmlformats.org/drawingml/2006/chart">
            <c:chart xmlns:r="http://schemas.openxmlformats.org/officeDocument/2006/relationships" xmlns:c="http://schemas.openxmlformats.org/drawingml/2006/chart" r:id="Redad45e77df34778"/>
          </a:graphicData>
        </a:graphic>
      </p:graphicFrame>
      <p:sp>
        <p:nvSpPr>
          <p:cNvPr id="7" name="">
            <a:extLst xmlns:a="http://schemas.openxmlformats.org/drawingml/2006/main">
              <a:ext uri="{FF2B5EF4-FFF2-40B4-BE49-F238E27FC236}">
                <a16:creationId xmlns:a16="http://schemas.microsoft.com/office/drawing/2014/main" id="{8F5EF601-72F6-4B02-A12A-4EB2734CF044}"/>
              </a:ext>
            </a:extLst>
          </p:cNvPr>
          <p:cNvSpPr>
            <a:spLocks xmlns:a="http://schemas.openxmlformats.org/drawingml/2006/main" noGrp="1"/>
          </p:cNvSpPr>
          <p:nvPr/>
        </p:nvSpPr>
        <p:spPr>
          <a:xfrm xmlns:a="http://schemas.openxmlformats.org/drawingml/2006/main">
            <a:off x="609600" y="53911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1FDE84C9-9D0F-4C83-B139-8D157FEA61C6}"/>
              </a:ext>
            </a:extLst>
          </p:cNvPr>
          <p:cNvSpPr>
            <a:spLocks xmlns:a="http://schemas.openxmlformats.org/drawingml/2006/main" noGrp="1"/>
          </p:cNvSpPr>
          <p:nvPr/>
        </p:nvSpPr>
        <p:spPr>
          <a:xfrm xmlns:a="http://schemas.openxmlformats.org/drawingml/2006/main">
            <a:off x="838200" y="5524500"/>
            <a:ext cx="1043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200 µs 持续负偏差且早期衰减过快。400/600 µs 早期偏低、后期偏高，late-time decay 太慢。当前 Level 2C 仍未包含真空寿命、随机噪声谱和真实 AWG/光学响应。</a:t>
            </a:r>
          </a:p>
        </p:txBody>
      </p:sp>
      <p:sp>
        <p:nvSpPr>
          <p:cNvPr id="9" name="">
            <a:extLst xmlns:a="http://schemas.openxmlformats.org/drawingml/2006/main">
              <a:ext uri="{FF2B5EF4-FFF2-40B4-BE49-F238E27FC236}">
                <a16:creationId xmlns:a16="http://schemas.microsoft.com/office/drawing/2014/main" id="{FA6B6DE2-3144-4AD0-A7B0-A587544BF90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9E2CC176-DDD1-4DCE-8241-2FBD530499EB}"/>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monotone paper reconstruction · Level 2C source audit</a:t>
            </a:r>
          </a:p>
        </p:txBody>
      </p:sp>
      <p:sp>
        <p:nvSpPr>
          <p:cNvPr id="11" name="">
            <a:extLst xmlns:a="http://schemas.openxmlformats.org/drawingml/2006/main">
              <a:ext uri="{FF2B5EF4-FFF2-40B4-BE49-F238E27FC236}">
                <a16:creationId xmlns:a16="http://schemas.microsoft.com/office/drawing/2014/main" id="{9C0D4665-FC08-4629-8100-9007111369B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17</a:t>
            </a:r>
          </a:p>
        </p:txBody>
      </p:sp>
    </p:spTree>
    <p:extLst>
      <p:ext uri="{BB962C8B-B14F-4D97-AF65-F5344CB8AC3E}">
        <p14:creationId xmlns:p14="http://schemas.microsoft.com/office/powerpoint/2010/main" val="1613159817"/>
      </p:ext>
    </p:extLst>
  </p:cSld>
</p:sld>
</file>

<file path=ppt/slides/slide1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D3F3418-9BE3-4469-9919-BB7DC3F41EDE}"/>
              </a:ext>
            </a:extLst>
          </p:cNvPr>
          <p:cNvSpPr>
            <a:spLocks xmlns:a="http://schemas.openxmlformats.org/drawingml/2006/main" noGrp="1"/>
          </p:cNvSpPr>
          <p:nvPr/>
        </p:nvSpPr>
        <p:spPr>
          <a:xfrm xmlns:a="http://schemas.openxmlformats.org/drawingml/2006/main">
            <a:off x="685800" y="5334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这次任务完成了什么</a:t>
            </a:r>
          </a:p>
        </p:txBody>
      </p:sp>
      <p:sp>
        <p:nvSpPr>
          <p:cNvPr id="2" name="">
            <a:extLst xmlns:a="http://schemas.openxmlformats.org/drawingml/2006/main">
              <a:ext uri="{FF2B5EF4-FFF2-40B4-BE49-F238E27FC236}">
                <a16:creationId xmlns:a16="http://schemas.microsoft.com/office/drawing/2014/main" id="{2E5025DC-ED10-4F36-B7AA-7A9594AAE164}"/>
              </a:ext>
            </a:extLst>
          </p:cNvPr>
          <p:cNvSpPr>
            <a:spLocks xmlns:a="http://schemas.openxmlformats.org/drawingml/2006/main" noGrp="1"/>
          </p:cNvSpPr>
          <p:nvPr/>
        </p:nvSpPr>
        <p:spPr>
          <a:xfrm xmlns:a="http://schemas.openxmlformats.org/drawingml/2006/main">
            <a:off x="685800" y="1200150"/>
            <a:ext cx="838200" cy="47625"/>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A2DCC1EB-C922-4D4F-ABDF-0AED4575173E}"/>
              </a:ext>
            </a:extLst>
          </p:cNvPr>
          <p:cNvSpPr>
            <a:spLocks xmlns:a="http://schemas.openxmlformats.org/drawingml/2006/main" noGrp="1"/>
          </p:cNvSpPr>
          <p:nvPr/>
        </p:nvSpPr>
        <p:spPr>
          <a:xfrm xmlns:a="http://schemas.openxmlformats.org/drawingml/2006/main">
            <a:off x="723900" y="16192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D90C514F-31A0-44F2-B0ED-0F7F3A02C6BD}"/>
              </a:ext>
            </a:extLst>
          </p:cNvPr>
          <p:cNvSpPr>
            <a:spLocks xmlns:a="http://schemas.openxmlformats.org/drawingml/2006/main" noGrp="1"/>
          </p:cNvSpPr>
          <p:nvPr/>
        </p:nvSpPr>
        <p:spPr>
          <a:xfrm xmlns:a="http://schemas.openxmlformats.org/drawingml/2006/main">
            <a:off x="1485900" y="16002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固定输入与验收口径</a:t>
            </a:r>
          </a:p>
        </p:txBody>
      </p:sp>
      <p:sp>
        <p:nvSpPr>
          <p:cNvPr id="5" name="">
            <a:extLst xmlns:a="http://schemas.openxmlformats.org/drawingml/2006/main">
              <a:ext uri="{FF2B5EF4-FFF2-40B4-BE49-F238E27FC236}">
                <a16:creationId xmlns:a16="http://schemas.microsoft.com/office/drawing/2014/main" id="{68C1B1FB-0633-4157-8C93-5BE75A19CB12}"/>
              </a:ext>
            </a:extLst>
          </p:cNvPr>
          <p:cNvSpPr>
            <a:spLocks xmlns:a="http://schemas.openxmlformats.org/drawingml/2006/main" noGrp="1"/>
          </p:cNvSpPr>
          <p:nvPr/>
        </p:nvSpPr>
        <p:spPr>
          <a:xfrm xmlns:a="http://schemas.openxmlformats.org/drawingml/2006/main">
            <a:off x="4095750" y="16002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6d，分开处理 paper survival 与 IRB fidelity，并把 ±0.02 设为逐点验收带。</a:t>
            </a:r>
          </a:p>
        </p:txBody>
      </p:sp>
      <p:sp>
        <p:nvSpPr>
          <p:cNvPr id="6" name="">
            <a:extLst xmlns:a="http://schemas.openxmlformats.org/drawingml/2006/main">
              <a:ext uri="{FF2B5EF4-FFF2-40B4-BE49-F238E27FC236}">
                <a16:creationId xmlns:a16="http://schemas.microsoft.com/office/drawing/2014/main" id="{AD099818-C046-42A2-A839-CC53EB8E7B35}"/>
              </a:ext>
            </a:extLst>
          </p:cNvPr>
          <p:cNvSpPr>
            <a:spLocks xmlns:a="http://schemas.openxmlformats.org/drawingml/2006/main" noGrp="1"/>
          </p:cNvSpPr>
          <p:nvPr/>
        </p:nvSpPr>
        <p:spPr>
          <a:xfrm xmlns:a="http://schemas.openxmlformats.org/drawingml/2006/main">
            <a:off x="1485900" y="23622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7" name="">
            <a:extLst xmlns:a="http://schemas.openxmlformats.org/drawingml/2006/main">
              <a:ext uri="{FF2B5EF4-FFF2-40B4-BE49-F238E27FC236}">
                <a16:creationId xmlns:a16="http://schemas.microsoft.com/office/drawing/2014/main" id="{0B3C62DA-81D0-4EC7-8B25-A511D53819C7}"/>
              </a:ext>
            </a:extLst>
          </p:cNvPr>
          <p:cNvSpPr>
            <a:spLocks xmlns:a="http://schemas.openxmlformats.org/drawingml/2006/main" noGrp="1"/>
          </p:cNvSpPr>
          <p:nvPr/>
        </p:nvSpPr>
        <p:spPr>
          <a:xfrm xmlns:a="http://schemas.openxmlformats.org/drawingml/2006/main">
            <a:off x="723900" y="26860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F2574C17-345D-4A92-B8AB-88F266ECE21B}"/>
              </a:ext>
            </a:extLst>
          </p:cNvPr>
          <p:cNvSpPr>
            <a:spLocks xmlns:a="http://schemas.openxmlformats.org/drawingml/2006/main" noGrp="1"/>
          </p:cNvSpPr>
          <p:nvPr/>
        </p:nvSpPr>
        <p:spPr>
          <a:xfrm xmlns:a="http://schemas.openxmlformats.org/drawingml/2006/main">
            <a:off x="1485900" y="2667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复核基线并扫描机制</a:t>
            </a:r>
          </a:p>
        </p:txBody>
      </p:sp>
      <p:sp>
        <p:nvSpPr>
          <p:cNvPr id="9" name="">
            <a:extLst xmlns:a="http://schemas.openxmlformats.org/drawingml/2006/main">
              <a:ext uri="{FF2B5EF4-FFF2-40B4-BE49-F238E27FC236}">
                <a16:creationId xmlns:a16="http://schemas.microsoft.com/office/drawing/2014/main" id="{29106AF6-3409-413D-99FE-0062D6EF07EA}"/>
              </a:ext>
            </a:extLst>
          </p:cNvPr>
          <p:cNvSpPr>
            <a:spLocks xmlns:a="http://schemas.openxmlformats.org/drawingml/2006/main" noGrp="1"/>
          </p:cNvSpPr>
          <p:nvPr/>
        </p:nvSpPr>
        <p:spPr>
          <a:xfrm xmlns:a="http://schemas.openxmlformats.org/drawingml/2006/main">
            <a:off x="4095750" y="26670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用相同随机池计算 baseline、温度、RIN、对准和抖动场景，确认 T40 最接近论文的时长排序。</a:t>
            </a:r>
          </a:p>
        </p:txBody>
      </p:sp>
      <p:sp>
        <p:nvSpPr>
          <p:cNvPr id="10" name="">
            <a:extLst xmlns:a="http://schemas.openxmlformats.org/drawingml/2006/main">
              <a:ext uri="{FF2B5EF4-FFF2-40B4-BE49-F238E27FC236}">
                <a16:creationId xmlns:a16="http://schemas.microsoft.com/office/drawing/2014/main" id="{4B56007F-4F93-4B0F-9A2D-60F3E5BFB20C}"/>
              </a:ext>
            </a:extLst>
          </p:cNvPr>
          <p:cNvSpPr>
            <a:spLocks xmlns:a="http://schemas.openxmlformats.org/drawingml/2006/main" noGrp="1"/>
          </p:cNvSpPr>
          <p:nvPr/>
        </p:nvSpPr>
        <p:spPr>
          <a:xfrm xmlns:a="http://schemas.openxmlformats.org/drawingml/2006/main">
            <a:off x="1485900" y="34290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1" name="">
            <a:extLst xmlns:a="http://schemas.openxmlformats.org/drawingml/2006/main">
              <a:ext uri="{FF2B5EF4-FFF2-40B4-BE49-F238E27FC236}">
                <a16:creationId xmlns:a16="http://schemas.microsoft.com/office/drawing/2014/main" id="{E6D32C3F-9393-45C7-8798-92D0776AC4B4}"/>
              </a:ext>
            </a:extLst>
          </p:cNvPr>
          <p:cNvSpPr>
            <a:spLocks xmlns:a="http://schemas.openxmlformats.org/drawingml/2006/main" noGrp="1"/>
          </p:cNvSpPr>
          <p:nvPr/>
        </p:nvSpPr>
        <p:spPr>
          <a:xfrm xmlns:a="http://schemas.openxmlformats.org/drawingml/2006/main">
            <a:off x="723900" y="3752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121D4415-FE1F-4ADB-A5BC-048385CDC785}"/>
              </a:ext>
            </a:extLst>
          </p:cNvPr>
          <p:cNvSpPr>
            <a:spLocks xmlns:a="http://schemas.openxmlformats.org/drawingml/2006/main" noGrp="1"/>
          </p:cNvSpPr>
          <p:nvPr/>
        </p:nvSpPr>
        <p:spPr>
          <a:xfrm xmlns:a="http://schemas.openxmlformats.org/drawingml/2006/main">
            <a:off x="1485900" y="3733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回放 ML 并定位增益</a:t>
            </a:r>
          </a:p>
        </p:txBody>
      </p:sp>
      <p:sp>
        <p:nvSpPr>
          <p:cNvPr id="13" name="">
            <a:extLst xmlns:a="http://schemas.openxmlformats.org/drawingml/2006/main">
              <a:ext uri="{FF2B5EF4-FFF2-40B4-BE49-F238E27FC236}">
                <a16:creationId xmlns:a16="http://schemas.microsoft.com/office/drawing/2014/main" id="{98D6AC56-E244-42A6-AABB-040D948DAF43}"/>
              </a:ext>
            </a:extLst>
          </p:cNvPr>
          <p:cNvSpPr>
            <a:spLocks xmlns:a="http://schemas.openxmlformats.org/drawingml/2006/main" noGrp="1"/>
          </p:cNvSpPr>
          <p:nvPr/>
        </p:nvSpPr>
        <p:spPr>
          <a:xfrm xmlns:a="http://schemas.openxmlformats.org/drawingml/2006/main">
            <a:off x="4095750" y="37338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6c，得到 T40 下 ΔS=+0.231；2×2 消融表明模型内增益主要来自 position trajectory。</a:t>
            </a:r>
          </a:p>
        </p:txBody>
      </p:sp>
      <p:sp>
        <p:nvSpPr>
          <p:cNvPr id="14" name="">
            <a:extLst xmlns:a="http://schemas.openxmlformats.org/drawingml/2006/main">
              <a:ext uri="{FF2B5EF4-FFF2-40B4-BE49-F238E27FC236}">
                <a16:creationId xmlns:a16="http://schemas.microsoft.com/office/drawing/2014/main" id="{6237BD87-9B0B-4BF2-A5BD-07730642D6A0}"/>
              </a:ext>
            </a:extLst>
          </p:cNvPr>
          <p:cNvSpPr>
            <a:spLocks xmlns:a="http://schemas.openxmlformats.org/drawingml/2006/main" noGrp="1"/>
          </p:cNvSpPr>
          <p:nvPr/>
        </p:nvSpPr>
        <p:spPr>
          <a:xfrm xmlns:a="http://schemas.openxmlformats.org/drawingml/2006/main">
            <a:off x="1485900" y="44958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5" name="">
            <a:extLst xmlns:a="http://schemas.openxmlformats.org/drawingml/2006/main">
              <a:ext uri="{FF2B5EF4-FFF2-40B4-BE49-F238E27FC236}">
                <a16:creationId xmlns:a16="http://schemas.microsoft.com/office/drawing/2014/main" id="{39601017-0489-4BDF-B8A8-30A834932BC5}"/>
              </a:ext>
            </a:extLst>
          </p:cNvPr>
          <p:cNvSpPr>
            <a:spLocks xmlns:a="http://schemas.openxmlformats.org/drawingml/2006/main" noGrp="1"/>
          </p:cNvSpPr>
          <p:nvPr/>
        </p:nvSpPr>
        <p:spPr>
          <a:xfrm xmlns:a="http://schemas.openxmlformats.org/drawingml/2006/main">
            <a:off x="723900" y="48196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04</a:t>
            </a:r>
          </a:p>
        </p:txBody>
      </p:sp>
      <p:sp>
        <p:nvSpPr>
          <p:cNvPr id="16" name="">
            <a:extLst xmlns:a="http://schemas.openxmlformats.org/drawingml/2006/main">
              <a:ext uri="{FF2B5EF4-FFF2-40B4-BE49-F238E27FC236}">
                <a16:creationId xmlns:a16="http://schemas.microsoft.com/office/drawing/2014/main" id="{20E31A39-0F64-4A5F-B48A-2C3E37ABDFF7}"/>
              </a:ext>
            </a:extLst>
          </p:cNvPr>
          <p:cNvSpPr>
            <a:spLocks xmlns:a="http://schemas.openxmlformats.org/drawingml/2006/main" noGrp="1"/>
          </p:cNvSpPr>
          <p:nvPr/>
        </p:nvSpPr>
        <p:spPr>
          <a:xfrm xmlns:a="http://schemas.openxmlformats.org/drawingml/2006/main">
            <a:off x="1485900" y="4800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验收结果与边界</a:t>
            </a:r>
          </a:p>
        </p:txBody>
      </p:sp>
      <p:sp>
        <p:nvSpPr>
          <p:cNvPr id="17" name="">
            <a:extLst xmlns:a="http://schemas.openxmlformats.org/drawingml/2006/main">
              <a:ext uri="{FF2B5EF4-FFF2-40B4-BE49-F238E27FC236}">
                <a16:creationId xmlns:a16="http://schemas.microsoft.com/office/drawing/2014/main" id="{9AC10458-EA91-4356-9161-C43060E24BBF}"/>
              </a:ext>
            </a:extLst>
          </p:cNvPr>
          <p:cNvSpPr>
            <a:spLocks xmlns:a="http://schemas.openxmlformats.org/drawingml/2006/main" noGrp="1"/>
          </p:cNvSpPr>
          <p:nvPr/>
        </p:nvSpPr>
        <p:spPr>
          <a:xfrm xmlns:a="http://schemas.openxmlformats.org/drawingml/2006/main">
            <a:off x="4095750" y="48006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所有 manual 曲线仍未通过 ±0.02。真空寿命、随机噪声谱和真实 AWG/光学响应尚未进入 Level 2C。</a:t>
            </a:r>
          </a:p>
        </p:txBody>
      </p:sp>
      <p:sp>
        <p:nvSpPr>
          <p:cNvPr id="18" name="">
            <a:extLst xmlns:a="http://schemas.openxmlformats.org/drawingml/2006/main">
              <a:ext uri="{FF2B5EF4-FFF2-40B4-BE49-F238E27FC236}">
                <a16:creationId xmlns:a16="http://schemas.microsoft.com/office/drawing/2014/main" id="{8314D367-2B6A-4BEF-8777-15E9DA195BB2}"/>
              </a:ext>
            </a:extLst>
          </p:cNvPr>
          <p:cNvSpPr>
            <a:spLocks xmlns:a="http://schemas.openxmlformats.org/drawingml/2006/main" noGrp="1"/>
          </p:cNvSpPr>
          <p:nvPr/>
        </p:nvSpPr>
        <p:spPr>
          <a:xfrm xmlns:a="http://schemas.openxmlformats.org/drawingml/2006/main">
            <a:off x="723900" y="62293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结论：当前工作达到机制验证和相对比较阶段，尚未达到实验级绝对定量预测。</a:t>
            </a:r>
          </a:p>
        </p:txBody>
      </p:sp>
      <p:sp>
        <p:nvSpPr>
          <p:cNvPr id="19" name="">
            <a:extLst xmlns:a="http://schemas.openxmlformats.org/drawingml/2006/main">
              <a:ext uri="{FF2B5EF4-FFF2-40B4-BE49-F238E27FC236}">
                <a16:creationId xmlns:a16="http://schemas.microsoft.com/office/drawing/2014/main" id="{9656B14D-83E6-4577-BADA-B3FDFB609089}"/>
              </a:ext>
            </a:extLst>
          </p:cNvPr>
          <p:cNvSpPr>
            <a:spLocks xmlns:a="http://schemas.openxmlformats.org/drawingml/2006/main" noGrp="1"/>
          </p:cNvSpPr>
          <p:nvPr/>
        </p:nvSpPr>
        <p:spPr>
          <a:xfrm xmlns:a="http://schemas.openxmlformats.org/drawingml/2006/main">
            <a:off x="10934700" y="62293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98AFC7"/>
                </a:solidFill>
                <a:latin typeface="Microsoft YaHei"/>
                <a:ea typeface="Microsoft YaHei"/>
                <a:cs typeface="Microsoft YaHei"/>
              </a:defRPr>
            </a:pPr>
            <a:r>
              <a:rPr sz="975" b="0">
                <a:solidFill>
                  <a:srgbClr val="98AFC7"/>
                </a:solidFill>
                <a:latin typeface="Microsoft YaHei"/>
                <a:ea typeface="Microsoft YaHei"/>
                <a:cs typeface="Microsoft YaHei"/>
              </a:rPr>
              <a:t>18</a:t>
            </a:r>
          </a:p>
        </p:txBody>
      </p:sp>
    </p:spTree>
    <p:extLst>
      <p:ext uri="{BB962C8B-B14F-4D97-AF65-F5344CB8AC3E}">
        <p14:creationId xmlns:p14="http://schemas.microsoft.com/office/powerpoint/2010/main" val="8525070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2026-09-11T09:15:02.0900000Z</dcterms:created>
  <dcterms:modified xsi:type="dcterms:W3CDTF">2026-09-11T09:15:02.0900000Z</dcterms:modified>
</coreProperties>
</file>