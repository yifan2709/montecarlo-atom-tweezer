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69f3ba407f1413d" /><Relationship Type="http://schemas.openxmlformats.org/officeDocument/2006/relationships/extended-properties" Target="/docProps/app.xml" Id="Rc4849a5eedc44d3b" /><Relationship Type="http://schemas.openxmlformats.org/officeDocument/2006/relationships/officeDocument" Target="/ppt/presentation.xml" Id="R5f32c6f0ddbb46fe" /></Relationships>
</file>

<file path=ppt/presentation.xml><?xml version="1.0" encoding="utf-8"?>
<p:presentation xmlns:p="http://schemas.openxmlformats.org/presentationml/2006/main">
  <p:sldMasterIdLst>
    <p:sldMasterId xmlns:r="http://schemas.openxmlformats.org/officeDocument/2006/relationships" id="2147483648" r:id="R1a7bd19566a74e41"/>
  </p:sldMasterIdLst>
  <p:notesMasterIdLst>
    <p:notesMasterId xmlns:r="http://schemas.openxmlformats.org/officeDocument/2006/relationships" r:id="R920c0a41be9e4cf9"/>
  </p:notesMasterIdLst>
  <p:sldIdLst>
    <p:sldId xmlns:r="http://schemas.openxmlformats.org/officeDocument/2006/relationships" id="256" r:id="R0fe2bff55c824c3e"/>
    <p:sldId xmlns:r="http://schemas.openxmlformats.org/officeDocument/2006/relationships" id="257" r:id="R76264c1c62bf4fa0"/>
    <p:sldId xmlns:r="http://schemas.openxmlformats.org/officeDocument/2006/relationships" id="258" r:id="Rf132a1db4c794f7b"/>
    <p:sldId xmlns:r="http://schemas.openxmlformats.org/officeDocument/2006/relationships" id="259" r:id="Rf141f74ffd5e4e49"/>
    <p:sldId xmlns:r="http://schemas.openxmlformats.org/officeDocument/2006/relationships" id="260" r:id="Rc840034bee0d4482"/>
    <p:sldId xmlns:r="http://schemas.openxmlformats.org/officeDocument/2006/relationships" id="261" r:id="R6bc3d1f6ee9b46bf"/>
    <p:sldId xmlns:r="http://schemas.openxmlformats.org/officeDocument/2006/relationships" id="262" r:id="R0854192f310e4aac"/>
    <p:sldId xmlns:r="http://schemas.openxmlformats.org/officeDocument/2006/relationships" id="263" r:id="R0125199f062c4d2f"/>
    <p:sldId xmlns:r="http://schemas.openxmlformats.org/officeDocument/2006/relationships" id="264" r:id="R307fc9e05e6f417d"/>
    <p:sldId xmlns:r="http://schemas.openxmlformats.org/officeDocument/2006/relationships" id="265" r:id="Rda5392f0e692474c"/>
    <p:sldId xmlns:r="http://schemas.openxmlformats.org/officeDocument/2006/relationships" id="266" r:id="Rb06add907ca14701"/>
    <p:sldId xmlns:r="http://schemas.openxmlformats.org/officeDocument/2006/relationships" id="267" r:id="Rad795ffa7be241e4"/>
    <p:sldId xmlns:r="http://schemas.openxmlformats.org/officeDocument/2006/relationships" id="268" r:id="R21ce8618aa8b4311"/>
    <p:sldId xmlns:r="http://schemas.openxmlformats.org/officeDocument/2006/relationships" id="269" r:id="R834828806bf043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2b2e151e854e2e" /><Relationship Type="http://schemas.openxmlformats.org/officeDocument/2006/relationships/slideMaster" Target="/ppt/slideMasters/slideMaster1.xml" Id="R1a7bd19566a74e41" /><Relationship Type="http://schemas.openxmlformats.org/officeDocument/2006/relationships/notesMaster" Target="/ppt/notesMasters/notesMaster1.xml" Id="R920c0a41be9e4cf9" /><Relationship Type="http://schemas.openxmlformats.org/officeDocument/2006/relationships/presProps" Target="/ppt/presProps.xml" Id="R6fe1d972e7f840a4" /><Relationship Type="http://schemas.openxmlformats.org/officeDocument/2006/relationships/tableStyles" Target="/ppt/tableStyles.xml" Id="R4a3eed727dc544c6" /><Relationship Type="http://schemas.openxmlformats.org/officeDocument/2006/relationships/slide" Target="/ppt/slides/slide1.xml" Id="R0fe2bff55c824c3e" /><Relationship Type="http://schemas.openxmlformats.org/officeDocument/2006/relationships/slide" Target="/ppt/slides/slide2.xml" Id="R76264c1c62bf4fa0" /><Relationship Type="http://schemas.openxmlformats.org/officeDocument/2006/relationships/slide" Target="/ppt/slides/slide3.xml" Id="Rf132a1db4c794f7b" /><Relationship Type="http://schemas.openxmlformats.org/officeDocument/2006/relationships/slide" Target="/ppt/slides/slide4.xml" Id="Rf141f74ffd5e4e49" /><Relationship Type="http://schemas.openxmlformats.org/officeDocument/2006/relationships/slide" Target="/ppt/slides/slide5.xml" Id="Rc840034bee0d4482" /><Relationship Type="http://schemas.openxmlformats.org/officeDocument/2006/relationships/slide" Target="/ppt/slides/slide6.xml" Id="R6bc3d1f6ee9b46bf" /><Relationship Type="http://schemas.openxmlformats.org/officeDocument/2006/relationships/slide" Target="/ppt/slides/slide7.xml" Id="R0854192f310e4aac" /><Relationship Type="http://schemas.openxmlformats.org/officeDocument/2006/relationships/slide" Target="/ppt/slides/slide8.xml" Id="R0125199f062c4d2f" /><Relationship Type="http://schemas.openxmlformats.org/officeDocument/2006/relationships/slide" Target="/ppt/slides/slide9.xml" Id="R307fc9e05e6f417d" /><Relationship Type="http://schemas.openxmlformats.org/officeDocument/2006/relationships/slide" Target="/ppt/slides/slide10.xml" Id="Rda5392f0e692474c" /><Relationship Type="http://schemas.openxmlformats.org/officeDocument/2006/relationships/slide" Target="/ppt/slides/slide11.xml" Id="Rb06add907ca14701" /><Relationship Type="http://schemas.openxmlformats.org/officeDocument/2006/relationships/slide" Target="/ppt/slides/slide12.xml" Id="Rad795ffa7be241e4" /><Relationship Type="http://schemas.openxmlformats.org/officeDocument/2006/relationships/slide" Target="/ppt/slides/slide13.xml" Id="R21ce8618aa8b4311" /><Relationship Type="http://schemas.openxmlformats.org/officeDocument/2006/relationships/slide" Target="/ppt/slides/slide14.xml" Id="R834828806bf043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975fc7a9d846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df0a7dcf6e4e8b" /><Relationship Type="http://schemas.openxmlformats.org/officeDocument/2006/relationships/notesMaster" Target="/ppt/notesMasters/notesMaster1.xml" Id="R6c032926761442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686dd10af640d5" /><Relationship Type="http://schemas.openxmlformats.org/officeDocument/2006/relationships/notesMaster" Target="/ppt/notesMasters/notesMaster1.xml" Id="Rac9efe1db63e49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a780a7686f4de9" /><Relationship Type="http://schemas.openxmlformats.org/officeDocument/2006/relationships/notesMaster" Target="/ppt/notesMasters/notesMaster1.xml" Id="Rdcdd3108ffc24d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1248417afd4686" /><Relationship Type="http://schemas.openxmlformats.org/officeDocument/2006/relationships/notesMaster" Target="/ppt/notesMasters/notesMaster1.xml" Id="Rfe12d894573b41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1a7b1d97e24cd5" /><Relationship Type="http://schemas.openxmlformats.org/officeDocument/2006/relationships/notesMaster" Target="/ppt/notesMasters/notesMaster1.xml" Id="R99c8e0a2ff0e4e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aec20719524fb5" /><Relationship Type="http://schemas.openxmlformats.org/officeDocument/2006/relationships/notesMaster" Target="/ppt/notesMasters/notesMaster1.xml" Id="Re135956759354c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3969cc4b354f4d" /><Relationship Type="http://schemas.openxmlformats.org/officeDocument/2006/relationships/notesMaster" Target="/ppt/notesMasters/notesMaster1.xml" Id="Rf637f218b27d49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41841930a344ba" /><Relationship Type="http://schemas.openxmlformats.org/officeDocument/2006/relationships/notesMaster" Target="/ppt/notesMasters/notesMaster1.xml" Id="R594e992da35948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b05262cb9346dc" /><Relationship Type="http://schemas.openxmlformats.org/officeDocument/2006/relationships/notesMaster" Target="/ppt/notesMasters/notesMaster1.xml" Id="R1cd47362facf4a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79c93b5c4241e9" /><Relationship Type="http://schemas.openxmlformats.org/officeDocument/2006/relationships/notesMaster" Target="/ppt/notesMasters/notesMaster1.xml" Id="Rd82d7fcdeefd4e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0a07bb10514603" /><Relationship Type="http://schemas.openxmlformats.org/officeDocument/2006/relationships/notesMaster" Target="/ppt/notesMasters/notesMaster1.xml" Id="Re836668ad28043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68877bd37b41d9" /><Relationship Type="http://schemas.openxmlformats.org/officeDocument/2006/relationships/notesMaster" Target="/ppt/notesMasters/notesMaster1.xml" Id="R065f9b439ef64f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a190224eca4806" /><Relationship Type="http://schemas.openxmlformats.org/officeDocument/2006/relationships/notesMaster" Target="/ppt/notesMasters/notesMaster1.xml" Id="Rb6cbd1752f5044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349e8ebb2c4a32" /><Relationship Type="http://schemas.openxmlformats.org/officeDocument/2006/relationships/notesMaster" Target="/ppt/notesMasters/notesMaster1.xml" Id="Recaec9a4fb7e47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simulation/level2_joint_transfer/src/level2c_pickup_survival/survival_engine.py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simulation/level2_joint_transfer/src/level2c_pickup_survival/survival_engine_2d.py</a:t>
            </a:r>
          </a:p>
          <a:p xmlns:a="http://schemas.openxmlformats.org/drawingml/2006/main">
            <a:r>
              <a:t>- simulation/level2_joint_transfer/src/level3_3d_transport_lensing/gaussian_3d.py</a:t>
            </a:r>
          </a:p>
          <a:p xmlns:a="http://schemas.openxmlformats.org/drawingml/2006/main">
            <a:r>
              <a:t>- simulation/level2_joint_transfer/README.md</a:t>
            </a:r>
          </a:p>
          <a:p xmlns:a="http://schemas.openxmlformats.org/drawingml/2006/main">
            <a:r>
              <a:t/>
            </a:r>
          </a:p>
          <a:p xmlns:a="http://schemas.openxmlformats.org/drawingml/2006/main">
            <a:r>
              <a:t>Method note: Repository search found no AWG, bandwidth, low-pass, or transfer-function implementation in src/configs.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simulation/level2_joint_transfer/reference/fig6d_parameters.md</a:t>
            </a:r>
          </a:p>
          <a:p xmlns:a="http://schemas.openxmlformats.org/drawingml/2006/main">
            <a:r>
              <a:t>- simulation/level2_joint_transfer/outputs/level2c_pickup_survival/scan_stage1/fig6c_ml_trajectory_digitized.json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simulation/level2_joint_transfer/configs/scan_stage1/scan_T40.yaml</a:t>
            </a:r>
          </a:p>
          <a:p xmlns:a="http://schemas.openxmlformats.org/drawingml/2006/main">
            <a:r>
              <a:t>- simulation/level2_joint_transfer/configs/scan_stage1/scan_R3e7.yaml</a:t>
            </a:r>
          </a:p>
          <a:p xmlns:a="http://schemas.openxmlformats.org/drawingml/2006/main">
            <a:r>
              <a:t>- simulation/level2_joint_transfer/configs/scan_stage1/scan_A015.yaml</a:t>
            </a:r>
          </a:p>
          <a:p xmlns:a="http://schemas.openxmlformats.org/drawingml/2006/main">
            <a:r>
              <a:t>- simulation/level2_joint_transfer/configs/scan_stage1/scan_A030.yaml</a:t>
            </a:r>
          </a:p>
          <a:p xmlns:a="http://schemas.openxmlformats.org/drawingml/2006/main">
            <a:r>
              <a:t>- simulation/level2_joint_transfer/configs/scan_stage1/scan_J010.yaml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simulation/level2_joint_transfer/outputs/level2c_pickup_survival/scan_stage1/summary_stage1.md</a:t>
            </a:r>
          </a:p>
          <a:p xmlns:a="http://schemas.openxmlformats.org/drawingml/2006/main">
            <a:r>
              <a:t>- Level2_同步波形优化_总结报告.pptx, slides 3 / 4 / 7–9</a:t>
            </a:r>
          </a:p>
          <a:p xmlns:a="http://schemas.openxmlformats.org/drawingml/2006/main">
            <a:r>
              <a:t>- Level2B_移动速度边界与变速剖面验证_总结报告.pptx, slides 3 / 14–16</a:t>
            </a:r>
          </a:p>
          <a:p xmlns:a="http://schemas.openxmlformats.org/drawingml/2006/main">
            <a:r>
              <a:t>- Level3_三维AOD长距离运输与柱面透镜_总结报告.pptx, slides 8 / 14 / 17</a:t>
            </a:r>
          </a:p>
          <a:p xmlns:a="http://schemas.openxmlformats.org/drawingml/2006/main">
            <a:r>
              <a:t>- Level4_端到端往返协议与半经典相干性_总结报告.pptx, slides 18 / 20 / 22</a:t>
            </a:r>
          </a:p>
          <a:p xmlns:a="http://schemas.openxmlformats.org/drawingml/2006/main">
            <a:r>
              <a:t/>
            </a:r>
          </a:p>
          <a:p xmlns:a="http://schemas.openxmlformats.org/drawingml/2006/main">
            <a:r>
              <a:t>Method note: Merged from previous slides 5 and 10. All displayed endpoint values are n=60 rows from raw Stage-1 256-shot scan CSVs, except the paper anchors. T40 and R3e-7 are sensitivity assumptions, not measured or accepted calibration values. The implementation redraws jitter once per pickup/wait/drop-off leg, despite the config field name shot_jitter_alignment_sigma_um.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Fig. 6c replay 0.7578125. Paper endpoints are 0.4135 and 0.6633. Per-transfer loss shown on the slide is the endpoint-equivalent quantity 1-S(60)^(1/60), not the paper's three-parameter fitted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were calculated from PickupSequentialWaveform's documented 48% quadratic depth ramp and constant-jerk position equations at the same time nodes. No simulation result was altered.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6 and 11.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6. This slide does not use the ML curve because the current Fig. 6c replay full curve was not committed.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simulation/level2_joint_transfer/src/level2c_pickup_survival/survival_engine_2d.py</a:t>
            </a:r>
          </a:p>
          <a:p xmlns:a="http://schemas.openxmlformats.org/drawingml/2006/main">
            <a:r>
              <a:t>- simulation/level2_joint_transfer/src/level3_3d_transport_lensing/</a:t>
            </a:r>
          </a:p>
          <a:p xmlns:a="http://schemas.openxmlformats.org/drawingml/2006/main">
            <a:r>
              <a:t>- simulation/level2_joint_transfer/src/level5_finite_pulse_irb/</a:t>
            </a:r>
          </a:p>
          <a:p xmlns:a="http://schemas.openxmlformats.org/drawingml/2006/main">
            <a:r>
              <a:t>- simulation/level2_joint_transfer/configs/level2c_pickup_survival.yaml</a:t>
            </a:r>
          </a:p>
          <a:p xmlns:a="http://schemas.openxmlformats.org/drawingml/2006/main">
            <a:r>
              <a:t>- simulation/level2_joint_transfer/outputs/level2c_pickup_survival/scan_stage1/summary_stage1.md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a:t>
            </a:r>
          </a:p>
          <a:p xmlns:a="http://schemas.openxmlformats.org/drawingml/2006/main">
            <a:r>
              <a:t>- simulation/level2_joint_transfer/outputs/level2c_pickup_survival/demo/summary.md</a:t>
            </a:r>
          </a:p>
          <a:p xmlns:a="http://schemas.openxmlformats.org/drawingml/2006/main">
            <a:r>
              <a:t>- simulation/level2_joint_transfer/outputs/level4_end_to_end_roundtrip/demo/summary.md</a:t>
            </a:r>
          </a:p>
          <a:p xmlns:a="http://schemas.openxmlformats.org/drawingml/2006/main">
            <a:r>
              <a:t>- simulation/level2_joint_transfer/outputs/level5_finite_pulse_irb/demo/summary.md</a:t>
            </a:r>
          </a:p>
          <a:p xmlns:a="http://schemas.openxmlformats.org/drawingml/2006/main">
            <a:r>
              <a:t/>
            </a:r>
          </a:p>
          <a:p xmlns:a="http://schemas.openxmlformats.org/drawingml/2006/main">
            <a:r>
              <a:t>Method note: Maturity labels are a synthesis of the evidence shown in slides 6-12, not a formal external readiness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abe3f1cb4b4e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eccf57d5e341e3" /><Relationship Type="http://schemas.openxmlformats.org/officeDocument/2006/relationships/slideLayout" Target="/ppt/slideLayouts/slideLayout1.xml" Id="Rcda62d2a55cf47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a62d2a55cf47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32c42e91f04ca4" /><Relationship Type="http://schemas.openxmlformats.org/officeDocument/2006/relationships/notesSlide" Target="/ppt/notesSlides/notesSlide1.xml" Id="R6d24c7843c2743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60bbc4ecd64204" /><Relationship Type="http://schemas.openxmlformats.org/officeDocument/2006/relationships/notesSlide" Target="/ppt/notesSlides/notesSlide2.xml" Id="R00d0498c4ede44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62fb7e5b1547bf" /><Relationship Type="http://schemas.openxmlformats.org/officeDocument/2006/relationships/notesSlide" Target="/ppt/notesSlides/notesSlide3.xml" Id="R17cafbd0a9ae44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d572cec215405a" /><Relationship Type="http://schemas.openxmlformats.org/officeDocument/2006/relationships/image" Target="/ppt/media/image.png" Id="R4fe8b084874a4ff4" /><Relationship Type="http://schemas.openxmlformats.org/officeDocument/2006/relationships/notesSlide" Target="/ppt/notesSlides/notesSlide4.xml" Id="R0622687f901f4b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ba23abc1db4091" /><Relationship Type="http://schemas.openxmlformats.org/officeDocument/2006/relationships/notesSlide" Target="/ppt/notesSlides/notesSlide5.xml" Id="Rce0f30d2cde142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cdf418851a4fa0" /><Relationship Type="http://schemas.openxmlformats.org/officeDocument/2006/relationships/chart" Target="/ppt/slides/charts/chart1.xml" Id="Rcbb37e5fc6b14106" /><Relationship Type="http://schemas.openxmlformats.org/officeDocument/2006/relationships/chart" Target="/ppt/slides/charts/chart2.xml" Id="Rb04f93a35a2849c1" /><Relationship Type="http://schemas.openxmlformats.org/officeDocument/2006/relationships/notesSlide" Target="/ppt/notesSlides/notesSlide6.xml" Id="Rca0dd8066db940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329f40df9741b3" /><Relationship Type="http://schemas.openxmlformats.org/officeDocument/2006/relationships/chart" Target="/ppt/slides/charts/chart3.xml" Id="Rba904b349c314bfd" /><Relationship Type="http://schemas.openxmlformats.org/officeDocument/2006/relationships/notesSlide" Target="/ppt/notesSlides/notesSlide7.xml" Id="Ra1c40aed1d1347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b73e5462af4b39" /><Relationship Type="http://schemas.openxmlformats.org/officeDocument/2006/relationships/chart" Target="/ppt/slides/charts/chart4.xml" Id="R78a40263d0964aa0" /><Relationship Type="http://schemas.openxmlformats.org/officeDocument/2006/relationships/chart" Target="/ppt/slides/charts/chart5.xml" Id="Ra995b9de49be43ad" /><Relationship Type="http://schemas.openxmlformats.org/officeDocument/2006/relationships/notesSlide" Target="/ppt/notesSlides/notesSlide8.xml" Id="Re9fa31e8801b49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63666e98164369" /><Relationship Type="http://schemas.openxmlformats.org/officeDocument/2006/relationships/chart" Target="/ppt/slides/charts/chart6.xml" Id="R8a9227c57f10496a" /><Relationship Type="http://schemas.openxmlformats.org/officeDocument/2006/relationships/notesSlide" Target="/ppt/notesSlides/notesSlide9.xml" Id="R862d11cabb2b4d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f4ee6fa75f4910" /><Relationship Type="http://schemas.openxmlformats.org/officeDocument/2006/relationships/notesSlide" Target="/ppt/notesSlides/notesSlide10.xml" Id="Rfe8db36486234e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576f4b2c90483e" /><Relationship Type="http://schemas.openxmlformats.org/officeDocument/2006/relationships/chart" Target="/ppt/slides/charts/chart7.xml" Id="R3af7117de1cf469e" /><Relationship Type="http://schemas.openxmlformats.org/officeDocument/2006/relationships/chart" Target="/ppt/slides/charts/chart8.xml" Id="R5703683a63d44b06" /><Relationship Type="http://schemas.openxmlformats.org/officeDocument/2006/relationships/notesSlide" Target="/ppt/notesSlides/notesSlide11.xml" Id="R3e6dd5a46e9240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1225ba52014832" /><Relationship Type="http://schemas.openxmlformats.org/officeDocument/2006/relationships/notesSlide" Target="/ppt/notesSlides/notesSlide12.xml" Id="R7f1b002dc80643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ef4a51cb594198" /><Relationship Type="http://schemas.openxmlformats.org/officeDocument/2006/relationships/notesSlide" Target="/ppt/notesSlides/notesSlide13.xml" Id="R4b2a58e91f254c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d3860c574149a0" /><Relationship Type="http://schemas.openxmlformats.org/officeDocument/2006/relationships/notesSlide" Target="/ppt/notesSlides/notesSlide14.xml" Id="R604def2fa16f4f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BEF578-08C4-4CFF-B034-9F93AEB68EC7}"/>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1A0BF4DE-7B71-4073-8855-AC26B7D5D9E1}"/>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8F643F75-1B11-4426-884C-E421D4EBA53A}"/>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11586228-7390-4D27-9445-A5BA22400DAD}"/>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Current Progress and Comparison with Experiment</a:t>
            </a:r>
          </a:p>
        </p:txBody>
      </p:sp>
      <p:sp>
        <p:nvSpPr>
          <p:cNvPr id="5" name="">
            <a:extLst xmlns:a="http://schemas.openxmlformats.org/drawingml/2006/main">
              <a:ext uri="{FF2B5EF4-FFF2-40B4-BE49-F238E27FC236}">
                <a16:creationId xmlns:a16="http://schemas.microsoft.com/office/drawing/2014/main" id="{0C198D9F-0B47-4D43-9F6C-59E7A68CB061}"/>
              </a:ext>
            </a:extLst>
          </p:cNvPr>
          <p:cNvSpPr>
            <a:spLocks xmlns:a="http://schemas.openxmlformats.org/drawingml/2006/main" noGrp="1"/>
          </p:cNvSpPr>
          <p:nvPr/>
        </p:nvSpPr>
        <p:spPr>
          <a:xfrm xmlns:a="http://schemas.openxmlformats.org/drawingml/2006/main">
            <a:off x="723900" y="377190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阶段性复盘 · 以当前仓库代码和实际产物为依据</a:t>
            </a:r>
          </a:p>
        </p:txBody>
      </p:sp>
      <p:sp>
        <p:nvSpPr>
          <p:cNvPr id="6" name="">
            <a:extLst xmlns:a="http://schemas.openxmlformats.org/drawingml/2006/main">
              <a:ext uri="{FF2B5EF4-FFF2-40B4-BE49-F238E27FC236}">
                <a16:creationId xmlns:a16="http://schemas.microsoft.com/office/drawing/2014/main" id="{F93BFDE6-98DC-47E2-99B1-1B848148761F}"/>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05425AC0-AE3B-4A71-8288-343239B1B207}"/>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2026-09-08  ·  gpt_level4_5  ·  commit 5e55bb0</a:t>
            </a:r>
          </a:p>
        </p:txBody>
      </p:sp>
      <p:sp>
        <p:nvSpPr>
          <p:cNvPr id="8" name="">
            <a:extLst xmlns:a="http://schemas.openxmlformats.org/drawingml/2006/main">
              <a:ext uri="{FF2B5EF4-FFF2-40B4-BE49-F238E27FC236}">
                <a16:creationId xmlns:a16="http://schemas.microsoft.com/office/drawing/2014/main" id="{5179A7C2-8062-4824-8CEC-329C2FF8AB65}"/>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Fig. 6c / 6d</a:t>
            </a:r>
          </a:p>
        </p:txBody>
      </p:sp>
    </p:spTree>
    <p:extLst>
      <p:ext uri="{BB962C8B-B14F-4D97-AF65-F5344CB8AC3E}">
        <p14:creationId xmlns:p14="http://schemas.microsoft.com/office/powerpoint/2010/main" val="982269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130786C-859C-4BAE-8E16-C25114E4573A}"/>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复现目标是重复单程转移的原子存活率</a:t>
            </a:r>
          </a:p>
        </p:txBody>
      </p:sp>
      <p:sp>
        <p:nvSpPr>
          <p:cNvPr id="2" name="">
            <a:extLst xmlns:a="http://schemas.openxmlformats.org/drawingml/2006/main">
              <a:ext uri="{FF2B5EF4-FFF2-40B4-BE49-F238E27FC236}">
                <a16:creationId xmlns:a16="http://schemas.microsoft.com/office/drawing/2014/main" id="{84C77EE9-B369-4A3F-923D-C4FE9D1358E5}"/>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B68E8CBE-744C-4CA0-BD9B-856008C97E5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论文 Fig. 6d 顶图；不要与 IRB fidelity 混用</a:t>
            </a:r>
          </a:p>
        </p:txBody>
      </p:sp>
      <p:sp>
        <p:nvSpPr>
          <p:cNvPr id="4" name="">
            <a:extLst xmlns:a="http://schemas.openxmlformats.org/drawingml/2006/main">
              <a:ext uri="{FF2B5EF4-FFF2-40B4-BE49-F238E27FC236}">
                <a16:creationId xmlns:a16="http://schemas.microsoft.com/office/drawing/2014/main" id="{5184FB5D-5417-4DA1-B034-79917275DF88}"/>
              </a:ext>
            </a:extLst>
          </p:cNvPr>
          <p:cNvSpPr>
            <a:spLocks xmlns:a="http://schemas.openxmlformats.org/drawingml/2006/main" noGrp="1"/>
          </p:cNvSpPr>
          <p:nvPr/>
        </p:nvSpPr>
        <p:spPr>
          <a:xfrm xmlns:a="http://schemas.openxmlformats.org/drawingml/2006/main">
            <a:off x="609600" y="1257300"/>
            <a:ext cx="50482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EAECF0"/>
            </a:solidFill>
          </a:ln>
        </p:spPr>
      </p:sp>
      <p:sp>
        <p:nvSpPr>
          <p:cNvPr id="5" name="">
            <a:extLst xmlns:a="http://schemas.openxmlformats.org/drawingml/2006/main">
              <a:ext uri="{FF2B5EF4-FFF2-40B4-BE49-F238E27FC236}">
                <a16:creationId xmlns:a16="http://schemas.microsoft.com/office/drawing/2014/main" id="{EAC142BF-8F5C-45DB-9807-00B97A031876}"/>
              </a:ext>
            </a:extLst>
          </p:cNvPr>
          <p:cNvSpPr>
            <a:spLocks xmlns:a="http://schemas.openxmlformats.org/drawingml/2006/main" noGrp="1"/>
          </p:cNvSpPr>
          <p:nvPr/>
        </p:nvSpPr>
        <p:spPr>
          <a:xfrm xmlns:a="http://schemas.openxmlformats.org/drawingml/2006/main">
            <a:off x="876300" y="14859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实验序列</a:t>
            </a:r>
          </a:p>
        </p:txBody>
      </p:sp>
      <p:sp>
        <p:nvSpPr>
          <p:cNvPr id="6" name="">
            <a:extLst xmlns:a="http://schemas.openxmlformats.org/drawingml/2006/main">
              <a:ext uri="{FF2B5EF4-FFF2-40B4-BE49-F238E27FC236}">
                <a16:creationId xmlns:a16="http://schemas.microsoft.com/office/drawing/2014/main" id="{AE586C98-710D-48D2-A5F4-0349BFEA3D74}"/>
              </a:ext>
            </a:extLst>
          </p:cNvPr>
          <p:cNvSpPr>
            <a:spLocks xmlns:a="http://schemas.openxmlformats.org/drawingml/2006/main" noGrp="1"/>
          </p:cNvSpPr>
          <p:nvPr/>
        </p:nvSpPr>
        <p:spPr>
          <a:xfrm xmlns:a="http://schemas.openxmlformats.org/drawingml/2006/main">
            <a:off x="914400" y="201930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7" name="">
            <a:extLst xmlns:a="http://schemas.openxmlformats.org/drawingml/2006/main">
              <a:ext uri="{FF2B5EF4-FFF2-40B4-BE49-F238E27FC236}">
                <a16:creationId xmlns:a16="http://schemas.microsoft.com/office/drawing/2014/main" id="{E0167FBE-754C-4B86-8A06-D4387F7C525A}"/>
              </a:ext>
            </a:extLst>
          </p:cNvPr>
          <p:cNvSpPr>
            <a:spLocks xmlns:a="http://schemas.openxmlformats.org/drawingml/2006/main" noGrp="1"/>
          </p:cNvSpPr>
          <p:nvPr/>
        </p:nvSpPr>
        <p:spPr>
          <a:xfrm xmlns:a="http://schemas.openxmlformats.org/drawingml/2006/main">
            <a:off x="914400" y="20669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1</a:t>
            </a:r>
          </a:p>
        </p:txBody>
      </p:sp>
      <p:sp>
        <p:nvSpPr>
          <p:cNvPr id="8" name="">
            <a:extLst xmlns:a="http://schemas.openxmlformats.org/drawingml/2006/main">
              <a:ext uri="{FF2B5EF4-FFF2-40B4-BE49-F238E27FC236}">
                <a16:creationId xmlns:a16="http://schemas.microsoft.com/office/drawing/2014/main" id="{1FC55ACC-E50A-4D57-97FC-5979A157E4B2}"/>
              </a:ext>
            </a:extLst>
          </p:cNvPr>
          <p:cNvSpPr>
            <a:spLocks xmlns:a="http://schemas.openxmlformats.org/drawingml/2006/main" noGrp="1"/>
          </p:cNvSpPr>
          <p:nvPr/>
        </p:nvSpPr>
        <p:spPr>
          <a:xfrm xmlns:a="http://schemas.openxmlformats.org/drawingml/2006/main">
            <a:off x="1504950" y="204787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SLM 中制备初态</a:t>
            </a:r>
          </a:p>
        </p:txBody>
      </p:sp>
      <p:sp>
        <p:nvSpPr>
          <p:cNvPr id="9" name="">
            <a:extLst xmlns:a="http://schemas.openxmlformats.org/drawingml/2006/main">
              <a:ext uri="{FF2B5EF4-FFF2-40B4-BE49-F238E27FC236}">
                <a16:creationId xmlns:a16="http://schemas.microsoft.com/office/drawing/2014/main" id="{2E48F1FC-DE9A-411B-B2A3-5DC2C3EB688B}"/>
              </a:ext>
            </a:extLst>
          </p:cNvPr>
          <p:cNvSpPr>
            <a:spLocks xmlns:a="http://schemas.openxmlformats.org/drawingml/2006/main" noGrp="1"/>
          </p:cNvSpPr>
          <p:nvPr/>
        </p:nvSpPr>
        <p:spPr>
          <a:xfrm xmlns:a="http://schemas.openxmlformats.org/drawingml/2006/main">
            <a:off x="914400" y="268605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10" name="">
            <a:extLst xmlns:a="http://schemas.openxmlformats.org/drawingml/2006/main">
              <a:ext uri="{FF2B5EF4-FFF2-40B4-BE49-F238E27FC236}">
                <a16:creationId xmlns:a16="http://schemas.microsoft.com/office/drawing/2014/main" id="{22A97D76-C239-4715-BA44-A54450DB5D97}"/>
              </a:ext>
            </a:extLst>
          </p:cNvPr>
          <p:cNvSpPr>
            <a:spLocks xmlns:a="http://schemas.openxmlformats.org/drawingml/2006/main" noGrp="1"/>
          </p:cNvSpPr>
          <p:nvPr/>
        </p:nvSpPr>
        <p:spPr>
          <a:xfrm xmlns:a="http://schemas.openxmlformats.org/drawingml/2006/main">
            <a:off x="914400" y="27336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2</a:t>
            </a:r>
          </a:p>
        </p:txBody>
      </p:sp>
      <p:sp>
        <p:nvSpPr>
          <p:cNvPr id="11" name="">
            <a:extLst xmlns:a="http://schemas.openxmlformats.org/drawingml/2006/main">
              <a:ext uri="{FF2B5EF4-FFF2-40B4-BE49-F238E27FC236}">
                <a16:creationId xmlns:a16="http://schemas.microsoft.com/office/drawing/2014/main" id="{7E892DA6-14F2-422A-BFD3-DEB1FFC38CE6}"/>
              </a:ext>
            </a:extLst>
          </p:cNvPr>
          <p:cNvSpPr>
            <a:spLocks xmlns:a="http://schemas.openxmlformats.org/drawingml/2006/main" noGrp="1"/>
          </p:cNvSpPr>
          <p:nvPr/>
        </p:nvSpPr>
        <p:spPr>
          <a:xfrm xmlns:a="http://schemas.openxmlformats.org/drawingml/2006/main">
            <a:off x="1504950" y="27146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AOD pick-up 并分离 2.4 µm</a:t>
            </a:r>
          </a:p>
        </p:txBody>
      </p:sp>
      <p:sp>
        <p:nvSpPr>
          <p:cNvPr id="12" name="">
            <a:extLst xmlns:a="http://schemas.openxmlformats.org/drawingml/2006/main">
              <a:ext uri="{FF2B5EF4-FFF2-40B4-BE49-F238E27FC236}">
                <a16:creationId xmlns:a16="http://schemas.microsoft.com/office/drawing/2014/main" id="{CC967919-1A78-4BFD-98C6-1BDF96AC67C8}"/>
              </a:ext>
            </a:extLst>
          </p:cNvPr>
          <p:cNvSpPr>
            <a:spLocks xmlns:a="http://schemas.openxmlformats.org/drawingml/2006/main" noGrp="1"/>
          </p:cNvSpPr>
          <p:nvPr/>
        </p:nvSpPr>
        <p:spPr>
          <a:xfrm xmlns:a="http://schemas.openxmlformats.org/drawingml/2006/main">
            <a:off x="914400" y="335280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13" name="">
            <a:extLst xmlns:a="http://schemas.openxmlformats.org/drawingml/2006/main">
              <a:ext uri="{FF2B5EF4-FFF2-40B4-BE49-F238E27FC236}">
                <a16:creationId xmlns:a16="http://schemas.microsoft.com/office/drawing/2014/main" id="{44D9E614-635C-4600-A16D-675431D6A402}"/>
              </a:ext>
            </a:extLst>
          </p:cNvPr>
          <p:cNvSpPr>
            <a:spLocks xmlns:a="http://schemas.openxmlformats.org/drawingml/2006/main" noGrp="1"/>
          </p:cNvSpPr>
          <p:nvPr/>
        </p:nvSpPr>
        <p:spPr>
          <a:xfrm xmlns:a="http://schemas.openxmlformats.org/drawingml/2006/main">
            <a:off x="914400" y="34004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3</a:t>
            </a:r>
          </a:p>
        </p:txBody>
      </p:sp>
      <p:sp>
        <p:nvSpPr>
          <p:cNvPr id="14" name="">
            <a:extLst xmlns:a="http://schemas.openxmlformats.org/drawingml/2006/main">
              <a:ext uri="{FF2B5EF4-FFF2-40B4-BE49-F238E27FC236}">
                <a16:creationId xmlns:a16="http://schemas.microsoft.com/office/drawing/2014/main" id="{1886F191-2F00-4192-8408-44BCCEF8C153}"/>
              </a:ext>
            </a:extLst>
          </p:cNvPr>
          <p:cNvSpPr>
            <a:spLocks xmlns:a="http://schemas.openxmlformats.org/drawingml/2006/main" noGrp="1"/>
          </p:cNvSpPr>
          <p:nvPr/>
        </p:nvSpPr>
        <p:spPr>
          <a:xfrm xmlns:a="http://schemas.openxmlformats.org/drawingml/2006/main">
            <a:off x="1504950" y="338137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关闭 SLM，等待 100 µs</a:t>
            </a:r>
          </a:p>
        </p:txBody>
      </p:sp>
      <p:sp>
        <p:nvSpPr>
          <p:cNvPr id="15" name="">
            <a:extLst xmlns:a="http://schemas.openxmlformats.org/drawingml/2006/main">
              <a:ext uri="{FF2B5EF4-FFF2-40B4-BE49-F238E27FC236}">
                <a16:creationId xmlns:a16="http://schemas.microsoft.com/office/drawing/2014/main" id="{C2C8AC50-BF6F-4CF0-97EB-52E081B0D7FD}"/>
              </a:ext>
            </a:extLst>
          </p:cNvPr>
          <p:cNvSpPr>
            <a:spLocks xmlns:a="http://schemas.openxmlformats.org/drawingml/2006/main" noGrp="1"/>
          </p:cNvSpPr>
          <p:nvPr/>
        </p:nvSpPr>
        <p:spPr>
          <a:xfrm xmlns:a="http://schemas.openxmlformats.org/drawingml/2006/main">
            <a:off x="914400" y="401955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16" name="">
            <a:extLst xmlns:a="http://schemas.openxmlformats.org/drawingml/2006/main">
              <a:ext uri="{FF2B5EF4-FFF2-40B4-BE49-F238E27FC236}">
                <a16:creationId xmlns:a16="http://schemas.microsoft.com/office/drawing/2014/main" id="{61890D85-D521-4B8E-A845-7FD72C92ED73}"/>
              </a:ext>
            </a:extLst>
          </p:cNvPr>
          <p:cNvSpPr>
            <a:spLocks xmlns:a="http://schemas.openxmlformats.org/drawingml/2006/main" noGrp="1"/>
          </p:cNvSpPr>
          <p:nvPr/>
        </p:nvSpPr>
        <p:spPr>
          <a:xfrm xmlns:a="http://schemas.openxmlformats.org/drawingml/2006/main">
            <a:off x="914400" y="4067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4</a:t>
            </a:r>
          </a:p>
        </p:txBody>
      </p:sp>
      <p:sp>
        <p:nvSpPr>
          <p:cNvPr id="17" name="">
            <a:extLst xmlns:a="http://schemas.openxmlformats.org/drawingml/2006/main">
              <a:ext uri="{FF2B5EF4-FFF2-40B4-BE49-F238E27FC236}">
                <a16:creationId xmlns:a16="http://schemas.microsoft.com/office/drawing/2014/main" id="{41B48EF2-D701-4516-B3D7-CD9806BB2174}"/>
              </a:ext>
            </a:extLst>
          </p:cNvPr>
          <p:cNvSpPr>
            <a:spLocks xmlns:a="http://schemas.openxmlformats.org/drawingml/2006/main" noGrp="1"/>
          </p:cNvSpPr>
          <p:nvPr/>
        </p:nvSpPr>
        <p:spPr>
          <a:xfrm xmlns:a="http://schemas.openxmlformats.org/drawingml/2006/main">
            <a:off x="1504950" y="40481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时间反演 drop-off</a:t>
            </a:r>
          </a:p>
        </p:txBody>
      </p:sp>
      <p:sp>
        <p:nvSpPr>
          <p:cNvPr id="18" name="">
            <a:extLst xmlns:a="http://schemas.openxmlformats.org/drawingml/2006/main">
              <a:ext uri="{FF2B5EF4-FFF2-40B4-BE49-F238E27FC236}">
                <a16:creationId xmlns:a16="http://schemas.microsoft.com/office/drawing/2014/main" id="{478097F0-F690-41C9-9869-3604BA8A3638}"/>
              </a:ext>
            </a:extLst>
          </p:cNvPr>
          <p:cNvSpPr>
            <a:spLocks xmlns:a="http://schemas.openxmlformats.org/drawingml/2006/main" noGrp="1"/>
          </p:cNvSpPr>
          <p:nvPr/>
        </p:nvSpPr>
        <p:spPr>
          <a:xfrm xmlns:a="http://schemas.openxmlformats.org/drawingml/2006/main">
            <a:off x="914400" y="4686300"/>
            <a:ext cx="400050" cy="400050"/>
          </a:xfrm>
          <a:prstGeom xmlns:a="http://schemas.openxmlformats.org/drawingml/2006/main" prst="ellipse">
            <a:avLst/>
          </a:prstGeom>
          <a:solidFill xmlns:a="http://schemas.openxmlformats.org/drawingml/2006/main">
            <a:srgbClr val="0E9384"/>
          </a:solidFill>
          <a:ln xmlns:a="http://schemas.openxmlformats.org/drawingml/2006/main" w="9525">
            <a:solidFill>
              <a:srgbClr val="0E9384"/>
            </a:solidFill>
          </a:ln>
        </p:spPr>
      </p:sp>
      <p:sp>
        <p:nvSpPr>
          <p:cNvPr id="19" name="">
            <a:extLst xmlns:a="http://schemas.openxmlformats.org/drawingml/2006/main">
              <a:ext uri="{FF2B5EF4-FFF2-40B4-BE49-F238E27FC236}">
                <a16:creationId xmlns:a16="http://schemas.microsoft.com/office/drawing/2014/main" id="{C1B82583-6763-47CA-8709-E71644B64497}"/>
              </a:ext>
            </a:extLst>
          </p:cNvPr>
          <p:cNvSpPr>
            <a:spLocks xmlns:a="http://schemas.openxmlformats.org/drawingml/2006/main" noGrp="1"/>
          </p:cNvSpPr>
          <p:nvPr/>
        </p:nvSpPr>
        <p:spPr>
          <a:xfrm xmlns:a="http://schemas.openxmlformats.org/drawingml/2006/main">
            <a:off x="914400" y="47339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5</a:t>
            </a:r>
          </a:p>
        </p:txBody>
      </p:sp>
      <p:sp>
        <p:nvSpPr>
          <p:cNvPr id="20" name="">
            <a:extLst xmlns:a="http://schemas.openxmlformats.org/drawingml/2006/main">
              <a:ext uri="{FF2B5EF4-FFF2-40B4-BE49-F238E27FC236}">
                <a16:creationId xmlns:a16="http://schemas.microsoft.com/office/drawing/2014/main" id="{33C86689-F6C7-4233-ACBC-1EEBF046B66D}"/>
              </a:ext>
            </a:extLst>
          </p:cNvPr>
          <p:cNvSpPr>
            <a:spLocks xmlns:a="http://schemas.openxmlformats.org/drawingml/2006/main" noGrp="1"/>
          </p:cNvSpPr>
          <p:nvPr/>
        </p:nvSpPr>
        <p:spPr>
          <a:xfrm xmlns:a="http://schemas.openxmlformats.org/drawingml/2006/main">
            <a:off x="1504950" y="471487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重复至 60 次 one-way transfer</a:t>
            </a:r>
          </a:p>
        </p:txBody>
      </p:sp>
      <p:sp>
        <p:nvSpPr>
          <p:cNvPr id="21" name="">
            <a:extLst xmlns:a="http://schemas.openxmlformats.org/drawingml/2006/main">
              <a:ext uri="{FF2B5EF4-FFF2-40B4-BE49-F238E27FC236}">
                <a16:creationId xmlns:a16="http://schemas.microsoft.com/office/drawing/2014/main" id="{2BE79401-F151-4E07-8150-4303EF66131B}"/>
              </a:ext>
            </a:extLst>
          </p:cNvPr>
          <p:cNvSpPr>
            <a:spLocks xmlns:a="http://schemas.openxmlformats.org/drawingml/2006/main" noGrp="1"/>
          </p:cNvSpPr>
          <p:nvPr/>
        </p:nvSpPr>
        <p:spPr>
          <a:xfrm xmlns:a="http://schemas.openxmlformats.org/drawingml/2006/main">
            <a:off x="6000750" y="1257300"/>
            <a:ext cx="55816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EAECF0"/>
            </a:solidFill>
          </a:ln>
        </p:spPr>
      </p:sp>
      <p:sp>
        <p:nvSpPr>
          <p:cNvPr id="22" name="">
            <a:extLst xmlns:a="http://schemas.openxmlformats.org/drawingml/2006/main">
              <a:ext uri="{FF2B5EF4-FFF2-40B4-BE49-F238E27FC236}">
                <a16:creationId xmlns:a16="http://schemas.microsoft.com/office/drawing/2014/main" id="{B6A5B72C-0C9A-4ACD-9EE3-091B797A0EAD}"/>
              </a:ext>
            </a:extLst>
          </p:cNvPr>
          <p:cNvSpPr>
            <a:spLocks xmlns:a="http://schemas.openxmlformats.org/drawingml/2006/main" noGrp="1"/>
          </p:cNvSpPr>
          <p:nvPr/>
        </p:nvSpPr>
        <p:spPr>
          <a:xfrm xmlns:a="http://schemas.openxmlformats.org/drawingml/2006/main">
            <a:off x="6286500" y="14859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四条对标曲线</a:t>
            </a:r>
          </a:p>
        </p:txBody>
      </p:sp>
      <p:graphicFrame>
        <p:nvGraphicFramePr>
          <p:cNvPr id="51" name=""/>
          <p:cNvGraphicFramePr/>
          <p:nvPr/>
        </p:nvGraphicFramePr>
        <p:xfrm>
          <a:off xmlns:a="http://schemas.openxmlformats.org/drawingml/2006/main" x="6286500" y="2000250"/>
          <a:ext xmlns:a="http://schemas.openxmlformats.org/drawingml/2006/main" cx="4972050" cy="2324100"/>
        </p:xfrm>
        <a:graphic xmlns:a="http://schemas.openxmlformats.org/drawingml/2006/main">
          <a:graphicData uri="http://schemas.openxmlformats.org/drawingml/2006/table">
            <a:tbl>
              <a:tblPr/>
              <a:tblGrid>
                <a:gridCol w="1657350"/>
                <a:gridCol w="1193292"/>
                <a:gridCol w="2121408"/>
              </a:tblGrid>
              <a:tr h="464820">
                <a:tc>
                  <a:txBody>
                    <a:bodyPr>
                      <a:noAutofit/>
                    </a:bodyPr>
                    <a:lstStyle/>
                    <a:p>
                      <a:pPr algn="l"/>
                      <a:r>
                        <a:rPr sz="112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Paper observable</a:t>
                      </a:r>
                    </a:p>
                  </a:txBody>
                  <a:tcPr marL="91440" marR="91440" marT="45720" marB="45720" anchor="ctr">
                    <a:solidFill>
                      <a:srgbClr val="102A43"/>
                    </a:solidFill>
                  </a:tcPr>
                </a:tc>
              </a:tr>
              <a:tr h="464820">
                <a:tc>
                  <a:txBody>
                    <a:bodyPr>
                      <a:noAutofit/>
                    </a:bodyPr>
                    <a:lstStyle/>
                    <a:p>
                      <a:pPr algn="l"/>
                      <a:r>
                        <a:rPr sz="1125" b="0">
                          <a:solidFill>
                            <a:srgbClr val="344054"/>
                          </a:solidFill>
                          <a:latin typeface="Microsoft YaHei"/>
                          <a:ea typeface="Microsoft YaHei"/>
                          <a:cs typeface="Microsoft YaHei"/>
                        </a:rPr>
                        <a:t>Manual</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200 µs</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S(n), n≤31 可见</a:t>
                      </a:r>
                    </a:p>
                  </a:txBody>
                  <a:tcPr marL="91440" marR="91440" marT="45720" marB="45720" anchor="ctr">
                    <a:solidFill>
                      <a:srgbClr val="FFFFFF"/>
                    </a:solidFill>
                  </a:tcPr>
                </a:tc>
              </a:tr>
              <a:tr h="464820">
                <a:tc>
                  <a:txBody>
                    <a:bodyPr>
                      <a:noAutofit/>
                    </a:bodyPr>
                    <a:lstStyle/>
                    <a:p>
                      <a:pPr algn="l"/>
                      <a:r>
                        <a:rPr sz="1125" b="0">
                          <a:solidFill>
                            <a:srgbClr val="344054"/>
                          </a:solidFill>
                          <a:latin typeface="Microsoft YaHei"/>
                          <a:ea typeface="Microsoft YaHei"/>
                          <a:cs typeface="Microsoft YaHei"/>
                        </a:rPr>
                        <a:t>Manual</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400 µs</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S(n), n≤60</a:t>
                      </a:r>
                    </a:p>
                  </a:txBody>
                  <a:tcPr marL="91440" marR="91440" marT="45720" marB="45720" anchor="ctr">
                    <a:solidFill>
                      <a:srgbClr val="F8FAFC"/>
                    </a:solidFill>
                  </a:tcPr>
                </a:tc>
              </a:tr>
              <a:tr h="464820">
                <a:tc>
                  <a:txBody>
                    <a:bodyPr>
                      <a:noAutofit/>
                    </a:bodyPr>
                    <a:lstStyle/>
                    <a:p>
                      <a:pPr algn="l"/>
                      <a:r>
                        <a:rPr sz="1125" b="0">
                          <a:solidFill>
                            <a:srgbClr val="344054"/>
                          </a:solidFill>
                          <a:latin typeface="Microsoft YaHei"/>
                          <a:ea typeface="Microsoft YaHei"/>
                          <a:cs typeface="Microsoft YaHei"/>
                        </a:rPr>
                        <a:t>Manual</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600 µs</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S(n), n≤60</a:t>
                      </a:r>
                    </a:p>
                  </a:txBody>
                  <a:tcPr marL="91440" marR="91440" marT="45720" marB="45720" anchor="ctr">
                    <a:solidFill>
                      <a:srgbClr val="FFFFFF"/>
                    </a:solidFill>
                  </a:tcPr>
                </a:tc>
              </a:tr>
              <a:tr h="464820">
                <a:tc>
                  <a:txBody>
                    <a:bodyPr>
                      <a:noAutofit/>
                    </a:bodyPr>
                    <a:lstStyle/>
                    <a:p>
                      <a:pPr algn="l"/>
                      <a:r>
                        <a:rPr sz="1125" b="0">
                          <a:solidFill>
                            <a:srgbClr val="344054"/>
                          </a:solidFill>
                          <a:latin typeface="Microsoft YaHei"/>
                          <a:ea typeface="Microsoft YaHei"/>
                          <a:cs typeface="Microsoft YaHei"/>
                        </a:rPr>
                        <a:t>ML optimized</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400 µs</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S(n), n≤60</a:t>
                      </a:r>
                    </a:p>
                  </a:txBody>
                  <a:tcPr marL="91440" marR="91440" marT="45720" marB="45720" anchor="ctr">
                    <a:solidFill>
                      <a:srgbClr val="F8FAFC"/>
                    </a:solidFill>
                  </a:tcPr>
                </a:tc>
              </a:tr>
            </a:tbl>
          </a:graphicData>
        </a:graphic>
      </p:graphicFrame>
      <p:sp>
        <p:nvSpPr>
          <p:cNvPr id="24" name="">
            <a:extLst xmlns:a="http://schemas.openxmlformats.org/drawingml/2006/main">
              <a:ext uri="{FF2B5EF4-FFF2-40B4-BE49-F238E27FC236}">
                <a16:creationId xmlns:a16="http://schemas.microsoft.com/office/drawing/2014/main" id="{2AC5EF0E-4634-4225-8B6B-C6B053F0D54C}"/>
              </a:ext>
            </a:extLst>
          </p:cNvPr>
          <p:cNvSpPr>
            <a:spLocks xmlns:a="http://schemas.openxmlformats.org/drawingml/2006/main" noGrp="1"/>
          </p:cNvSpPr>
          <p:nvPr/>
        </p:nvSpPr>
        <p:spPr>
          <a:xfrm xmlns:a="http://schemas.openxmlformats.org/drawingml/2006/main">
            <a:off x="6286500" y="45910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核心口径</a:t>
            </a:r>
          </a:p>
        </p:txBody>
      </p:sp>
      <p:sp>
        <p:nvSpPr>
          <p:cNvPr id="25" name="">
            <a:extLst xmlns:a="http://schemas.openxmlformats.org/drawingml/2006/main">
              <a:ext uri="{FF2B5EF4-FFF2-40B4-BE49-F238E27FC236}">
                <a16:creationId xmlns:a16="http://schemas.microsoft.com/office/drawing/2014/main" id="{9651FE44-12CD-4701-820D-7F90DBACB9FE}"/>
              </a:ext>
            </a:extLst>
          </p:cNvPr>
          <p:cNvSpPr>
            <a:spLocks xmlns:a="http://schemas.openxmlformats.org/drawingml/2006/main" noGrp="1"/>
          </p:cNvSpPr>
          <p:nvPr/>
        </p:nvSpPr>
        <p:spPr>
          <a:xfrm xmlns:a="http://schemas.openxmlformats.org/drawingml/2006/main">
            <a:off x="6286500" y="4933950"/>
            <a:ext cx="493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lgn="l">
              <a:spcAft>
                <a:spcPts val="500"/>
              </a:spcAft>
              <a:buChar char="•"/>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Survival 表示转移后仍满足束缚判据的原子比例。</a:t>
            </a:r>
          </a:p>
          <a:p xmlns:a="http://schemas.openxmlformats.org/drawingml/2006/main">
            <a:pPr marL="228600" indent="-114300" algn="l">
              <a:spcAft>
                <a:spcPts val="500"/>
              </a:spcAft>
              <a:buChar char="•"/>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一次往返包含两次 one-way transfer。</a:t>
            </a:r>
          </a:p>
          <a:p xmlns:a="http://schemas.openxmlformats.org/drawingml/2006/main">
            <a:pPr marL="228600" indent="-114300" algn="l">
              <a:spcAft>
                <a:spcPts val="500"/>
              </a:spcAft>
              <a:buChar char="•"/>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论文 99.81(3)% 属于 IRB，未作为 Level 2C 验收指标。</a:t>
            </a:r>
          </a:p>
        </p:txBody>
      </p:sp>
      <p:sp>
        <p:nvSpPr>
          <p:cNvPr id="26" name="">
            <a:extLst xmlns:a="http://schemas.openxmlformats.org/drawingml/2006/main">
              <a:ext uri="{FF2B5EF4-FFF2-40B4-BE49-F238E27FC236}">
                <a16:creationId xmlns:a16="http://schemas.microsoft.com/office/drawing/2014/main" id="{49F7E72C-723F-4ACF-8569-0672E879278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27" name="">
            <a:extLst xmlns:a="http://schemas.openxmlformats.org/drawingml/2006/main">
              <a:ext uri="{FF2B5EF4-FFF2-40B4-BE49-F238E27FC236}">
                <a16:creationId xmlns:a16="http://schemas.microsoft.com/office/drawing/2014/main" id="{DB572377-7E64-4B50-A60F-92E0128C290D}"/>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reference/fig6d_parameters.md</a:t>
            </a:r>
          </a:p>
        </p:txBody>
      </p:sp>
      <p:sp>
        <p:nvSpPr>
          <p:cNvPr id="28" name="">
            <a:extLst xmlns:a="http://schemas.openxmlformats.org/drawingml/2006/main">
              <a:ext uri="{FF2B5EF4-FFF2-40B4-BE49-F238E27FC236}">
                <a16:creationId xmlns:a16="http://schemas.microsoft.com/office/drawing/2014/main" id="{03A3022A-F8BE-465F-A317-DCC4809885D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59639315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EF25DD2-B23F-4BA9-BBAB-4B79BA845BD3}"/>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2C 已形成可追溯的重复转移 Monte Carlo 链路</a:t>
            </a:r>
          </a:p>
        </p:txBody>
      </p:sp>
      <p:sp>
        <p:nvSpPr>
          <p:cNvPr id="2" name="">
            <a:extLst xmlns:a="http://schemas.openxmlformats.org/drawingml/2006/main">
              <a:ext uri="{FF2B5EF4-FFF2-40B4-BE49-F238E27FC236}">
                <a16:creationId xmlns:a16="http://schemas.microsoft.com/office/drawing/2014/main" id="{2B8D5F19-9CCC-4F48-9355-83B7CF726AB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1155E1CC-EC93-4918-90FD-4C8485D861F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更高维与量子模块已在仓库中实现，但不属于本页 Fig. 6d 主比较链路</a:t>
            </a:r>
          </a:p>
        </p:txBody>
      </p:sp>
      <p:sp>
        <p:nvSpPr>
          <p:cNvPr id="4" name="">
            <a:extLst xmlns:a="http://schemas.openxmlformats.org/drawingml/2006/main">
              <a:ext uri="{FF2B5EF4-FFF2-40B4-BE49-F238E27FC236}">
                <a16:creationId xmlns:a16="http://schemas.microsoft.com/office/drawing/2014/main" id="{00BD2E43-EDD7-43DA-9641-69FFA822CD7E}"/>
              </a:ext>
            </a:extLst>
          </p:cNvPr>
          <p:cNvSpPr>
            <a:spLocks xmlns:a="http://schemas.openxmlformats.org/drawingml/2006/main" noGrp="1"/>
          </p:cNvSpPr>
          <p:nvPr/>
        </p:nvSpPr>
        <p:spPr>
          <a:xfrm xmlns:a="http://schemas.openxmlformats.org/drawingml/2006/main">
            <a:off x="5238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5" name="">
            <a:extLst xmlns:a="http://schemas.openxmlformats.org/drawingml/2006/main">
              <a:ext uri="{FF2B5EF4-FFF2-40B4-BE49-F238E27FC236}">
                <a16:creationId xmlns:a16="http://schemas.microsoft.com/office/drawing/2014/main" id="{5186F06B-96F4-4596-8411-7B8507383D0F}"/>
              </a:ext>
            </a:extLst>
          </p:cNvPr>
          <p:cNvSpPr>
            <a:spLocks xmlns:a="http://schemas.openxmlformats.org/drawingml/2006/main" noGrp="1"/>
          </p:cNvSpPr>
          <p:nvPr/>
        </p:nvSpPr>
        <p:spPr>
          <a:xfrm xmlns:a="http://schemas.openxmlformats.org/drawingml/2006/main">
            <a:off x="6953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初始系综</a:t>
            </a:r>
          </a:p>
        </p:txBody>
      </p:sp>
      <p:sp>
        <p:nvSpPr>
          <p:cNvPr id="6" name="">
            <a:extLst xmlns:a="http://schemas.openxmlformats.org/drawingml/2006/main">
              <a:ext uri="{FF2B5EF4-FFF2-40B4-BE49-F238E27FC236}">
                <a16:creationId xmlns:a16="http://schemas.microsoft.com/office/drawing/2014/main" id="{CAF1779A-15CE-4AC9-BDF6-867348DDAFA9}"/>
              </a:ext>
            </a:extLst>
          </p:cNvPr>
          <p:cNvSpPr>
            <a:spLocks xmlns:a="http://schemas.openxmlformats.org/drawingml/2006/main" noGrp="1"/>
          </p:cNvSpPr>
          <p:nvPr/>
        </p:nvSpPr>
        <p:spPr>
          <a:xfrm xmlns:a="http://schemas.openxmlformats.org/drawingml/2006/main">
            <a:off x="6572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SLM 谐振近似</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+束缚拒绝采样</a:t>
            </a:r>
          </a:p>
        </p:txBody>
      </p:sp>
      <p:sp>
        <p:nvSpPr>
          <p:cNvPr id="7" name="">
            <a:extLst xmlns:a="http://schemas.openxmlformats.org/drawingml/2006/main">
              <a:ext uri="{FF2B5EF4-FFF2-40B4-BE49-F238E27FC236}">
                <a16:creationId xmlns:a16="http://schemas.microsoft.com/office/drawing/2014/main" id="{A1FBC1F0-ADA2-4792-BE35-3F01DE0F2A79}"/>
              </a:ext>
            </a:extLst>
          </p:cNvPr>
          <p:cNvSpPr>
            <a:spLocks xmlns:a="http://schemas.openxmlformats.org/drawingml/2006/main" noGrp="1"/>
          </p:cNvSpPr>
          <p:nvPr/>
        </p:nvSpPr>
        <p:spPr>
          <a:xfrm xmlns:a="http://schemas.openxmlformats.org/drawingml/2006/main" rot="0">
            <a:off x="25241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8" name="">
            <a:extLst xmlns:a="http://schemas.openxmlformats.org/drawingml/2006/main">
              <a:ext uri="{FF2B5EF4-FFF2-40B4-BE49-F238E27FC236}">
                <a16:creationId xmlns:a16="http://schemas.microsoft.com/office/drawing/2014/main" id="{A1EA769B-5B2D-4BBA-921B-97F6E3B9D254}"/>
              </a:ext>
            </a:extLst>
          </p:cNvPr>
          <p:cNvSpPr>
            <a:spLocks xmlns:a="http://schemas.openxmlformats.org/drawingml/2006/main" noGrp="1"/>
          </p:cNvSpPr>
          <p:nvPr/>
        </p:nvSpPr>
        <p:spPr>
          <a:xfrm xmlns:a="http://schemas.openxmlformats.org/drawingml/2006/main">
            <a:off x="28479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9" name="">
            <a:extLst xmlns:a="http://schemas.openxmlformats.org/drawingml/2006/main">
              <a:ext uri="{FF2B5EF4-FFF2-40B4-BE49-F238E27FC236}">
                <a16:creationId xmlns:a16="http://schemas.microsoft.com/office/drawing/2014/main" id="{50FBB62E-3F22-49E2-886F-38303296DE5D}"/>
              </a:ext>
            </a:extLst>
          </p:cNvPr>
          <p:cNvSpPr>
            <a:spLocks xmlns:a="http://schemas.openxmlformats.org/drawingml/2006/main" noGrp="1"/>
          </p:cNvSpPr>
          <p:nvPr/>
        </p:nvSpPr>
        <p:spPr>
          <a:xfrm xmlns:a="http://schemas.openxmlformats.org/drawingml/2006/main">
            <a:off x="30194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时变势</a:t>
            </a:r>
          </a:p>
        </p:txBody>
      </p:sp>
      <p:sp>
        <p:nvSpPr>
          <p:cNvPr id="10" name="">
            <a:extLst xmlns:a="http://schemas.openxmlformats.org/drawingml/2006/main">
              <a:ext uri="{FF2B5EF4-FFF2-40B4-BE49-F238E27FC236}">
                <a16:creationId xmlns:a16="http://schemas.microsoft.com/office/drawing/2014/main" id="{249715DD-572C-4597-856D-C6465DDE67EF}"/>
              </a:ext>
            </a:extLst>
          </p:cNvPr>
          <p:cNvSpPr>
            <a:spLocks xmlns:a="http://schemas.openxmlformats.org/drawingml/2006/main" noGrp="1"/>
          </p:cNvSpPr>
          <p:nvPr/>
        </p:nvSpPr>
        <p:spPr>
          <a:xfrm xmlns:a="http://schemas.openxmlformats.org/drawingml/2006/main">
            <a:off x="29813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SLM + AOD</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+Gaussian potential</a:t>
            </a:r>
          </a:p>
        </p:txBody>
      </p:sp>
      <p:sp>
        <p:nvSpPr>
          <p:cNvPr id="11" name="">
            <a:extLst xmlns:a="http://schemas.openxmlformats.org/drawingml/2006/main">
              <a:ext uri="{FF2B5EF4-FFF2-40B4-BE49-F238E27FC236}">
                <a16:creationId xmlns:a16="http://schemas.microsoft.com/office/drawing/2014/main" id="{ADB2581E-2B8F-46F5-A489-48E1C4186E73}"/>
              </a:ext>
            </a:extLst>
          </p:cNvPr>
          <p:cNvSpPr>
            <a:spLocks xmlns:a="http://schemas.openxmlformats.org/drawingml/2006/main" noGrp="1"/>
          </p:cNvSpPr>
          <p:nvPr/>
        </p:nvSpPr>
        <p:spPr>
          <a:xfrm xmlns:a="http://schemas.openxmlformats.org/drawingml/2006/main" rot="0">
            <a:off x="48482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12" name="">
            <a:extLst xmlns:a="http://schemas.openxmlformats.org/drawingml/2006/main">
              <a:ext uri="{FF2B5EF4-FFF2-40B4-BE49-F238E27FC236}">
                <a16:creationId xmlns:a16="http://schemas.microsoft.com/office/drawing/2014/main" id="{1E2FB9CA-3B5B-49A4-97AD-410681BBBAD1}"/>
              </a:ext>
            </a:extLst>
          </p:cNvPr>
          <p:cNvSpPr>
            <a:spLocks xmlns:a="http://schemas.openxmlformats.org/drawingml/2006/main" noGrp="1"/>
          </p:cNvSpPr>
          <p:nvPr/>
        </p:nvSpPr>
        <p:spPr>
          <a:xfrm xmlns:a="http://schemas.openxmlformats.org/drawingml/2006/main">
            <a:off x="51720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4BA20600-2A01-44E7-9466-73491EE956CD}"/>
              </a:ext>
            </a:extLst>
          </p:cNvPr>
          <p:cNvSpPr>
            <a:spLocks xmlns:a="http://schemas.openxmlformats.org/drawingml/2006/main" noGrp="1"/>
          </p:cNvSpPr>
          <p:nvPr/>
        </p:nvSpPr>
        <p:spPr>
          <a:xfrm xmlns:a="http://schemas.openxmlformats.org/drawingml/2006/main">
            <a:off x="53435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轨迹传播</a:t>
            </a:r>
          </a:p>
        </p:txBody>
      </p:sp>
      <p:sp>
        <p:nvSpPr>
          <p:cNvPr id="14" name="">
            <a:extLst xmlns:a="http://schemas.openxmlformats.org/drawingml/2006/main">
              <a:ext uri="{FF2B5EF4-FFF2-40B4-BE49-F238E27FC236}">
                <a16:creationId xmlns:a16="http://schemas.microsoft.com/office/drawing/2014/main" id="{520B590C-4D52-4C3D-B8E7-3AF72C826BF8}"/>
              </a:ext>
            </a:extLst>
          </p:cNvPr>
          <p:cNvSpPr>
            <a:spLocks xmlns:a="http://schemas.openxmlformats.org/drawingml/2006/main" noGrp="1"/>
          </p:cNvSpPr>
          <p:nvPr/>
        </p:nvSpPr>
        <p:spPr>
          <a:xfrm xmlns:a="http://schemas.openxmlformats.org/drawingml/2006/main">
            <a:off x="53054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velocity-Verlet</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+dt = 0.05 µs</a:t>
            </a:r>
          </a:p>
        </p:txBody>
      </p:sp>
      <p:sp>
        <p:nvSpPr>
          <p:cNvPr id="15" name="">
            <a:extLst xmlns:a="http://schemas.openxmlformats.org/drawingml/2006/main">
              <a:ext uri="{FF2B5EF4-FFF2-40B4-BE49-F238E27FC236}">
                <a16:creationId xmlns:a16="http://schemas.microsoft.com/office/drawing/2014/main" id="{F247EB00-8C26-418B-9A18-DB354F66ACC7}"/>
              </a:ext>
            </a:extLst>
          </p:cNvPr>
          <p:cNvSpPr>
            <a:spLocks xmlns:a="http://schemas.openxmlformats.org/drawingml/2006/main" noGrp="1"/>
          </p:cNvSpPr>
          <p:nvPr/>
        </p:nvSpPr>
        <p:spPr>
          <a:xfrm xmlns:a="http://schemas.openxmlformats.org/drawingml/2006/main" rot="0">
            <a:off x="71723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16" name="">
            <a:extLst xmlns:a="http://schemas.openxmlformats.org/drawingml/2006/main">
              <a:ext uri="{FF2B5EF4-FFF2-40B4-BE49-F238E27FC236}">
                <a16:creationId xmlns:a16="http://schemas.microsoft.com/office/drawing/2014/main" id="{96C4F131-E4BC-4288-B0A3-BEBC845A7C2D}"/>
              </a:ext>
            </a:extLst>
          </p:cNvPr>
          <p:cNvSpPr>
            <a:spLocks xmlns:a="http://schemas.openxmlformats.org/drawingml/2006/main" noGrp="1"/>
          </p:cNvSpPr>
          <p:nvPr/>
        </p:nvSpPr>
        <p:spPr>
          <a:xfrm xmlns:a="http://schemas.openxmlformats.org/drawingml/2006/main">
            <a:off x="74961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17" name="">
            <a:extLst xmlns:a="http://schemas.openxmlformats.org/drawingml/2006/main">
              <a:ext uri="{FF2B5EF4-FFF2-40B4-BE49-F238E27FC236}">
                <a16:creationId xmlns:a16="http://schemas.microsoft.com/office/drawing/2014/main" id="{76053764-F2E3-4401-AA5E-A9DAAA5318C0}"/>
              </a:ext>
            </a:extLst>
          </p:cNvPr>
          <p:cNvSpPr>
            <a:spLocks xmlns:a="http://schemas.openxmlformats.org/drawingml/2006/main" noGrp="1"/>
          </p:cNvSpPr>
          <p:nvPr/>
        </p:nvSpPr>
        <p:spPr>
          <a:xfrm xmlns:a="http://schemas.openxmlformats.org/drawingml/2006/main">
            <a:off x="76676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判定</a:t>
            </a:r>
          </a:p>
        </p:txBody>
      </p:sp>
      <p:sp>
        <p:nvSpPr>
          <p:cNvPr id="18" name="">
            <a:extLst xmlns:a="http://schemas.openxmlformats.org/drawingml/2006/main">
              <a:ext uri="{FF2B5EF4-FFF2-40B4-BE49-F238E27FC236}">
                <a16:creationId xmlns:a16="http://schemas.microsoft.com/office/drawing/2014/main" id="{913A1B29-FE31-445F-A77B-1E613CCE756C}"/>
              </a:ext>
            </a:extLst>
          </p:cNvPr>
          <p:cNvSpPr>
            <a:spLocks xmlns:a="http://schemas.openxmlformats.org/drawingml/2006/main" noGrp="1"/>
          </p:cNvSpPr>
          <p:nvPr/>
        </p:nvSpPr>
        <p:spPr>
          <a:xfrm xmlns:a="http://schemas.openxmlformats.org/drawingml/2006/main">
            <a:off x="76295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Etrap &lt; 0</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+失败后 early stop</a:t>
            </a:r>
          </a:p>
        </p:txBody>
      </p:sp>
      <p:sp>
        <p:nvSpPr>
          <p:cNvPr id="19" name="">
            <a:extLst xmlns:a="http://schemas.openxmlformats.org/drawingml/2006/main">
              <a:ext uri="{FF2B5EF4-FFF2-40B4-BE49-F238E27FC236}">
                <a16:creationId xmlns:a16="http://schemas.microsoft.com/office/drawing/2014/main" id="{D6940306-2496-456D-A4FE-D9C1AB9C0DCB}"/>
              </a:ext>
            </a:extLst>
          </p:cNvPr>
          <p:cNvSpPr>
            <a:spLocks xmlns:a="http://schemas.openxmlformats.org/drawingml/2006/main" noGrp="1"/>
          </p:cNvSpPr>
          <p:nvPr/>
        </p:nvSpPr>
        <p:spPr>
          <a:xfrm xmlns:a="http://schemas.openxmlformats.org/drawingml/2006/main" rot="0">
            <a:off x="94964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20" name="">
            <a:extLst xmlns:a="http://schemas.openxmlformats.org/drawingml/2006/main">
              <a:ext uri="{FF2B5EF4-FFF2-40B4-BE49-F238E27FC236}">
                <a16:creationId xmlns:a16="http://schemas.microsoft.com/office/drawing/2014/main" id="{9D002809-0074-4FC9-B74F-E5CF9BB064E9}"/>
              </a:ext>
            </a:extLst>
          </p:cNvPr>
          <p:cNvSpPr>
            <a:spLocks xmlns:a="http://schemas.openxmlformats.org/drawingml/2006/main" noGrp="1"/>
          </p:cNvSpPr>
          <p:nvPr/>
        </p:nvSpPr>
        <p:spPr>
          <a:xfrm xmlns:a="http://schemas.openxmlformats.org/drawingml/2006/main">
            <a:off x="98202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0E9384"/>
            </a:solidFill>
          </a:ln>
        </p:spPr>
      </p:sp>
      <p:sp>
        <p:nvSpPr>
          <p:cNvPr id="21" name="">
            <a:extLst xmlns:a="http://schemas.openxmlformats.org/drawingml/2006/main">
              <a:ext uri="{FF2B5EF4-FFF2-40B4-BE49-F238E27FC236}">
                <a16:creationId xmlns:a16="http://schemas.microsoft.com/office/drawing/2014/main" id="{432C507D-1051-412A-942F-A1E21E93607D}"/>
              </a:ext>
            </a:extLst>
          </p:cNvPr>
          <p:cNvSpPr>
            <a:spLocks xmlns:a="http://schemas.openxmlformats.org/drawingml/2006/main" noGrp="1"/>
          </p:cNvSpPr>
          <p:nvPr/>
        </p:nvSpPr>
        <p:spPr>
          <a:xfrm xmlns:a="http://schemas.openxmlformats.org/drawingml/2006/main">
            <a:off x="99917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E9384"/>
                </a:solidFill>
                <a:latin typeface="Microsoft YaHei"/>
                <a:ea typeface="Microsoft YaHei"/>
                <a:cs typeface="Microsoft YaHei"/>
              </a:defRPr>
            </a:pPr>
            <a:r>
              <a:rPr sz="1350" b="1">
                <a:solidFill>
                  <a:srgbClr val="0E9384"/>
                </a:solidFill>
                <a:latin typeface="Microsoft YaHei"/>
                <a:ea typeface="Microsoft YaHei"/>
                <a:cs typeface="Microsoft YaHei"/>
              </a:rPr>
              <a:t>统计</a:t>
            </a:r>
          </a:p>
        </p:txBody>
      </p:sp>
      <p:sp>
        <p:nvSpPr>
          <p:cNvPr id="22" name="">
            <a:extLst xmlns:a="http://schemas.openxmlformats.org/drawingml/2006/main">
              <a:ext uri="{FF2B5EF4-FFF2-40B4-BE49-F238E27FC236}">
                <a16:creationId xmlns:a16="http://schemas.microsoft.com/office/drawing/2014/main" id="{9847E30C-2073-45D1-9DE2-F24F197A13E4}"/>
              </a:ext>
            </a:extLst>
          </p:cNvPr>
          <p:cNvSpPr>
            <a:spLocks xmlns:a="http://schemas.openxmlformats.org/drawingml/2006/main" noGrp="1"/>
          </p:cNvSpPr>
          <p:nvPr/>
        </p:nvSpPr>
        <p:spPr>
          <a:xfrm xmlns:a="http://schemas.openxmlformats.org/drawingml/2006/main">
            <a:off x="99536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S(n), fit, bootstrap</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+CRN paired pools</a:t>
            </a:r>
          </a:p>
        </p:txBody>
      </p:sp>
      <p:sp>
        <p:nvSpPr>
          <p:cNvPr id="23" name="">
            <a:extLst xmlns:a="http://schemas.openxmlformats.org/drawingml/2006/main">
              <a:ext uri="{FF2B5EF4-FFF2-40B4-BE49-F238E27FC236}">
                <a16:creationId xmlns:a16="http://schemas.microsoft.com/office/drawing/2014/main" id="{15B532B2-6FAD-4302-B9C7-95C223D52F9A}"/>
              </a:ext>
            </a:extLst>
          </p:cNvPr>
          <p:cNvSpPr>
            <a:spLocks xmlns:a="http://schemas.openxmlformats.org/drawingml/2006/main" noGrp="1"/>
          </p:cNvSpPr>
          <p:nvPr/>
        </p:nvSpPr>
        <p:spPr>
          <a:xfrm xmlns:a="http://schemas.openxmlformats.org/drawingml/2006/main">
            <a:off x="609600" y="29908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实现状态</a:t>
            </a:r>
          </a:p>
        </p:txBody>
      </p:sp>
      <p:graphicFrame>
        <p:nvGraphicFramePr>
          <p:cNvPr id="51" name=""/>
          <p:cNvGraphicFramePr/>
          <p:nvPr/>
        </p:nvGraphicFramePr>
        <p:xfrm>
          <a:off xmlns:a="http://schemas.openxmlformats.org/drawingml/2006/main" x="609600" y="3390900"/>
          <a:ext xmlns:a="http://schemas.openxmlformats.org/drawingml/2006/main" cx="10972800" cy="2686050"/>
        </p:xfrm>
        <a:graphic xmlns:a="http://schemas.openxmlformats.org/drawingml/2006/main">
          <a:graphicData uri="http://schemas.openxmlformats.org/drawingml/2006/table">
            <a:tbl>
              <a:tblPr/>
              <a:tblGrid>
                <a:gridCol w="1871330"/>
                <a:gridCol w="5528930"/>
                <a:gridCol w="3572540"/>
              </a:tblGrid>
              <a:tr h="537210">
                <a:tc>
                  <a:txBody>
                    <a:bodyPr>
                      <a:noAutofit/>
                    </a:bodyPr>
                    <a:lstStyle/>
                    <a:p>
                      <a:pPr algn="l"/>
                      <a:r>
                        <a:rPr sz="1050" b="1">
                          <a:solidFill>
                            <a:srgbClr val="FFFFFF"/>
                          </a:solidFill>
                          <a:latin typeface="Microsoft YaHei"/>
                          <a:ea typeface="Microsoft YaHei"/>
                          <a:cs typeface="Microsoft YaHei"/>
                        </a:rPr>
                        <a:t>状态</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代码中实际内容</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在当前 Fig. 6d 结果中的角色</a:t>
                      </a:r>
                    </a:p>
                  </a:txBody>
                  <a:tcPr marL="91440" marR="91440" marT="45720" marB="45720" anchor="ctr">
                    <a:solidFill>
                      <a:srgbClr val="102A43"/>
                    </a:solidFill>
                  </a:tcPr>
                </a:tc>
              </a:tr>
              <a:tr h="537210">
                <a:tc>
                  <a:txBody>
                    <a:bodyPr>
                      <a:noAutofit/>
                    </a:bodyPr>
                    <a:lstStyle/>
                    <a:p>
                      <a:pPr algn="l"/>
                      <a:r>
                        <a:rPr sz="1050" b="0">
                          <a:solidFill>
                            <a:srgbClr val="344054"/>
                          </a:solidFill>
                          <a:latin typeface="Microsoft YaHei"/>
                          <a:ea typeface="Microsoft YaHei"/>
                          <a:cs typeface="Microsoft YaHei"/>
                        </a:rPr>
                        <a:t>已实现并使用</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1D 双高斯阱、正反向轨迹、温度采样、重复转移、确定性平均加热、位点差异与对准抖动</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Level 2C baseline / sensitivity</a:t>
                      </a:r>
                    </a:p>
                  </a:txBody>
                  <a:tcPr marL="91440" marR="91440" marT="45720" marB="45720" anchor="ctr">
                    <a:solidFill>
                      <a:srgbClr val="FFFFFF"/>
                    </a:solidFill>
                  </a:tcPr>
                </a:tc>
              </a:tr>
              <a:tr h="537210">
                <a:tc>
                  <a:txBody>
                    <a:bodyPr>
                      <a:noAutofit/>
                    </a:bodyPr>
                    <a:lstStyle/>
                    <a:p>
                      <a:pPr algn="l"/>
                      <a:r>
                        <a:rPr sz="1050" b="0">
                          <a:solidFill>
                            <a:srgbClr val="344054"/>
                          </a:solidFill>
                          <a:latin typeface="Microsoft YaHei"/>
                          <a:ea typeface="Microsoft YaHei"/>
                          <a:cs typeface="Microsoft YaHei"/>
                        </a:rPr>
                        <a:t>已实现但非 baseline</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2D 横向圆对称模型</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不匹配时触发的探索性检查</a:t>
                      </a:r>
                    </a:p>
                  </a:txBody>
                  <a:tcPr marL="91440" marR="91440" marT="45720" marB="45720" anchor="ctr">
                    <a:solidFill>
                      <a:srgbClr val="F8FAFC"/>
                    </a:solidFill>
                  </a:tcPr>
                </a:tc>
              </a:tr>
              <a:tr h="537210">
                <a:tc>
                  <a:txBody>
                    <a:bodyPr>
                      <a:noAutofit/>
                    </a:bodyPr>
                    <a:lstStyle/>
                    <a:p>
                      <a:pPr algn="l"/>
                      <a:r>
                        <a:rPr sz="1050" b="0">
                          <a:solidFill>
                            <a:srgbClr val="344054"/>
                          </a:solidFill>
                          <a:latin typeface="Microsoft YaHei"/>
                          <a:ea typeface="Microsoft YaHei"/>
                          <a:cs typeface="Microsoft YaHei"/>
                        </a:rPr>
                        <a:t>独立模块已实现</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Level 3 三维运输；Level 4 往返与半经典相干；Level 5 有限脉冲 RB/IRB</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没有用于 Fig. 6d survival 主曲线</a:t>
                      </a:r>
                    </a:p>
                  </a:txBody>
                  <a:tcPr marL="91440" marR="91440" marT="45720" marB="45720" anchor="ctr">
                    <a:solidFill>
                      <a:srgbClr val="FFFFFF"/>
                    </a:solidFill>
                  </a:tcPr>
                </a:tc>
              </a:tr>
              <a:tr h="537210">
                <a:tc>
                  <a:txBody>
                    <a:bodyPr>
                      <a:noAutofit/>
                    </a:bodyPr>
                    <a:lstStyle/>
                    <a:p>
                      <a:pPr algn="l"/>
                      <a:r>
                        <a:rPr sz="1050" b="0">
                          <a:solidFill>
                            <a:srgbClr val="344054"/>
                          </a:solidFill>
                          <a:latin typeface="Microsoft YaHei"/>
                          <a:ea typeface="Microsoft YaHei"/>
                          <a:cs typeface="Microsoft YaHei"/>
                        </a:rPr>
                        <a:t>尚未实现</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AWG 带宽/滤波、实测站点映射、校准光学像差、完整实验读出链</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属于当前 abstraction gap</a:t>
                      </a:r>
                    </a:p>
                  </a:txBody>
                  <a:tcPr marL="91440" marR="91440" marT="45720" marB="45720" anchor="ctr">
                    <a:solidFill>
                      <a:srgbClr val="F8FAFC"/>
                    </a:solidFill>
                  </a:tcPr>
                </a:tc>
              </a:tr>
            </a:tbl>
          </a:graphicData>
        </a:graphic>
      </p:graphicFrame>
      <p:sp>
        <p:nvSpPr>
          <p:cNvPr id="25" name="">
            <a:extLst xmlns:a="http://schemas.openxmlformats.org/drawingml/2006/main">
              <a:ext uri="{FF2B5EF4-FFF2-40B4-BE49-F238E27FC236}">
                <a16:creationId xmlns:a16="http://schemas.microsoft.com/office/drawing/2014/main" id="{57725A95-FD1A-46D5-9EFF-4504CF99094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26" name="">
            <a:extLst xmlns:a="http://schemas.openxmlformats.org/drawingml/2006/main">
              <a:ext uri="{FF2B5EF4-FFF2-40B4-BE49-F238E27FC236}">
                <a16:creationId xmlns:a16="http://schemas.microsoft.com/office/drawing/2014/main" id="{3BEE394C-9482-4318-A098-2AB2416FEE2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src/level2c_pickup_survival · src/level3_3d_transport_lensing · README.md</a:t>
            </a:r>
          </a:p>
        </p:txBody>
      </p:sp>
      <p:sp>
        <p:nvSpPr>
          <p:cNvPr id="27" name="">
            <a:extLst xmlns:a="http://schemas.openxmlformats.org/drawingml/2006/main">
              <a:ext uri="{FF2B5EF4-FFF2-40B4-BE49-F238E27FC236}">
                <a16:creationId xmlns:a16="http://schemas.microsoft.com/office/drawing/2014/main" id="{8340D176-A769-4104-BFD3-10C27B4397A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1345933285"/>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7690FC-BF2E-47D9-9A78-BB9FC3D650F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论文曲线和轨迹均来自仓库内固定数字化数据</a:t>
            </a:r>
          </a:p>
        </p:txBody>
      </p:sp>
      <p:sp>
        <p:nvSpPr>
          <p:cNvPr id="2" name="">
            <a:extLst xmlns:a="http://schemas.openxmlformats.org/drawingml/2006/main">
              <a:ext uri="{FF2B5EF4-FFF2-40B4-BE49-F238E27FC236}">
                <a16:creationId xmlns:a16="http://schemas.microsoft.com/office/drawing/2014/main" id="{0BE11F66-08D9-42D0-8B22-8EA3EC8B1625}"/>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7740F60C-DBF9-4961-AA7E-C6571D5E7C4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Fig. 6d 可靠区间 n=5…60；200 µs 曲线仅到 n=31</a:t>
            </a:r>
          </a:p>
        </p:txBody>
      </p:sp>
      <p:sp>
        <p:nvSpPr>
          <p:cNvPr id="4" name="">
            <a:extLst xmlns:a="http://schemas.openxmlformats.org/drawingml/2006/main">
              <a:ext uri="{FF2B5EF4-FFF2-40B4-BE49-F238E27FC236}">
                <a16:creationId xmlns:a16="http://schemas.microsoft.com/office/drawing/2014/main" id="{AF92BDE1-9A26-469D-8876-76B1FFB84228}"/>
              </a:ext>
            </a:extLst>
          </p:cNvPr>
          <p:cNvSpPr>
            <a:spLocks xmlns:a="http://schemas.openxmlformats.org/drawingml/2006/main" noGrp="1"/>
          </p:cNvSpPr>
          <p:nvPr/>
        </p:nvSpPr>
        <p:spPr>
          <a:xfrm xmlns:a="http://schemas.openxmlformats.org/drawingml/2006/main">
            <a:off x="609600" y="1238250"/>
            <a:ext cx="6000750" cy="4686300"/>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EAECF0"/>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fe8b084874a4ff4"/>
          <a:srcRect xmlns:a="http://schemas.openxmlformats.org/drawingml/2006/main" l="7670" t="0" r="7670" b="0"/>
          <a:stretch xmlns:a="http://schemas.openxmlformats.org/drawingml/2006/main">
            <a:fillRect l="0" t="0" r="0" b="0"/>
          </a:stretch>
        </p:blipFill>
        <p:spPr>
          <a:xfrm xmlns:a="http://schemas.openxmlformats.org/drawingml/2006/main">
            <a:off x="781050" y="1409700"/>
            <a:ext cx="5657850" cy="4324350"/>
          </a:xfrm>
          <a:prstGeom xmlns:a="http://schemas.openxmlformats.org/drawingml/2006/main" prst="roundRect">
            <a:avLst>
              <a:gd name="adj" fmla="val 2203"/>
            </a:avLst>
          </a:prstGeom>
        </p:spPr>
      </p:pic>
      <p:sp>
        <p:nvSpPr>
          <p:cNvPr id="6" name="">
            <a:extLst xmlns:a="http://schemas.openxmlformats.org/drawingml/2006/main">
              <a:ext uri="{FF2B5EF4-FFF2-40B4-BE49-F238E27FC236}">
                <a16:creationId xmlns:a16="http://schemas.microsoft.com/office/drawing/2014/main" id="{F03AF11D-F883-4D0A-8A2C-7A60B9417BA1}"/>
              </a:ext>
            </a:extLst>
          </p:cNvPr>
          <p:cNvSpPr>
            <a:spLocks xmlns:a="http://schemas.openxmlformats.org/drawingml/2006/main" noGrp="1"/>
          </p:cNvSpPr>
          <p:nvPr/>
        </p:nvSpPr>
        <p:spPr>
          <a:xfrm xmlns:a="http://schemas.openxmlformats.org/drawingml/2006/main">
            <a:off x="6915150" y="1238250"/>
            <a:ext cx="4667250" cy="468630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F87DA18E-20B5-4CF8-89E6-F3EB984E93E4}"/>
              </a:ext>
            </a:extLst>
          </p:cNvPr>
          <p:cNvSpPr>
            <a:spLocks xmlns:a="http://schemas.openxmlformats.org/drawingml/2006/main" noGrp="1"/>
          </p:cNvSpPr>
          <p:nvPr/>
        </p:nvSpPr>
        <p:spPr>
          <a:xfrm xmlns:a="http://schemas.openxmlformats.org/drawingml/2006/main">
            <a:off x="7181850" y="14668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论文输入与来源</a:t>
            </a:r>
          </a:p>
        </p:txBody>
      </p:sp>
      <p:graphicFrame>
        <p:nvGraphicFramePr>
          <p:cNvPr id="20" name=""/>
          <p:cNvGraphicFramePr/>
          <p:nvPr/>
        </p:nvGraphicFramePr>
        <p:xfrm>
          <a:off xmlns:a="http://schemas.openxmlformats.org/drawingml/2006/main" x="7181850" y="1962150"/>
          <a:ext xmlns:a="http://schemas.openxmlformats.org/drawingml/2006/main" cx="4133850" cy="2857500"/>
        </p:xfrm>
        <a:graphic xmlns:a="http://schemas.openxmlformats.org/drawingml/2006/main">
          <a:graphicData uri="http://schemas.openxmlformats.org/drawingml/2006/table">
            <a:tbl>
              <a:tblPr/>
              <a:tblGrid>
                <a:gridCol w="1308180"/>
                <a:gridCol w="1203526"/>
                <a:gridCol w="1622144"/>
              </a:tblGrid>
              <a:tr h="408214">
                <a:tc>
                  <a:txBody>
                    <a:bodyPr>
                      <a:noAutofit/>
                    </a:bodyPr>
                    <a:lstStyle/>
                    <a:p>
                      <a:pPr algn="l"/>
                      <a:r>
                        <a:rPr sz="975"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Provenance</a:t>
                      </a:r>
                    </a:p>
                  </a:txBody>
                  <a:tcPr marL="91440" marR="91440" marT="45720" marB="45720" anchor="ctr">
                    <a:solidFill>
                      <a:srgbClr val="102A43"/>
                    </a:solidFill>
                  </a:tcPr>
                </a:tc>
              </a:tr>
              <a:tr h="408214">
                <a:tc>
                  <a:txBody>
                    <a:bodyPr>
                      <a:noAutofit/>
                    </a:bodyPr>
                    <a:lstStyle/>
                    <a:p>
                      <a:pPr algn="l"/>
                      <a:r>
                        <a:rPr sz="975" b="0">
                          <a:solidFill>
                            <a:srgbClr val="344054"/>
                          </a:solidFill>
                          <a:latin typeface="Microsoft YaHei"/>
                          <a:ea typeface="Microsoft YaHei"/>
                          <a:cs typeface="Microsoft YaHei"/>
                        </a:rPr>
                        <a:t>SLM depth</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0.14 mK</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Methods</a:t>
                      </a:r>
                    </a:p>
                  </a:txBody>
                  <a:tcPr marL="91440" marR="91440" marT="45720" marB="45720" anchor="ctr">
                    <a:solidFill>
                      <a:srgbClr val="FFFFFF"/>
                    </a:solidFill>
                  </a:tcPr>
                </a:tc>
              </a:tr>
              <a:tr h="408214">
                <a:tc>
                  <a:txBody>
                    <a:bodyPr>
                      <a:noAutofit/>
                    </a:bodyPr>
                    <a:lstStyle/>
                    <a:p>
                      <a:pPr algn="l"/>
                      <a:r>
                        <a:rPr sz="975" b="0">
                          <a:solidFill>
                            <a:srgbClr val="344054"/>
                          </a:solidFill>
                          <a:latin typeface="Microsoft YaHei"/>
                          <a:ea typeface="Microsoft YaHei"/>
                          <a:cs typeface="Microsoft YaHei"/>
                        </a:rPr>
                        <a:t>AOD depth</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0.28 mK</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Methods / Fig. 6</a:t>
                      </a:r>
                    </a:p>
                  </a:txBody>
                  <a:tcPr marL="91440" marR="91440" marT="45720" marB="45720" anchor="ctr">
                    <a:solidFill>
                      <a:srgbClr val="F8FAFC"/>
                    </a:solidFill>
                  </a:tcPr>
                </a:tc>
              </a:tr>
              <a:tr h="408214">
                <a:tc>
                  <a:txBody>
                    <a:bodyPr>
                      <a:noAutofit/>
                    </a:bodyPr>
                    <a:lstStyle/>
                    <a:p>
                      <a:pPr algn="l"/>
                      <a:r>
                        <a:rPr sz="975" b="0">
                          <a:solidFill>
                            <a:srgbClr val="344054"/>
                          </a:solidFill>
                          <a:latin typeface="Microsoft YaHei"/>
                          <a:ea typeface="Microsoft YaHei"/>
                          <a:cs typeface="Microsoft YaHei"/>
                        </a:rPr>
                        <a:t>Separation</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2.4 µm</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Fig. 6 caption</a:t>
                      </a:r>
                    </a:p>
                  </a:txBody>
                  <a:tcPr marL="91440" marR="91440" marT="45720" marB="45720" anchor="ctr">
                    <a:solidFill>
                      <a:srgbClr val="FFFFFF"/>
                    </a:solidFill>
                  </a:tcPr>
                </a:tc>
              </a:tr>
              <a:tr h="408214">
                <a:tc>
                  <a:txBody>
                    <a:bodyPr>
                      <a:noAutofit/>
                    </a:bodyPr>
                    <a:lstStyle/>
                    <a:p>
                      <a:pPr algn="l"/>
                      <a:r>
                        <a:rPr sz="975"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Caption / Methods</a:t>
                      </a:r>
                    </a:p>
                  </a:txBody>
                  <a:tcPr marL="91440" marR="91440" marT="45720" marB="45720" anchor="ctr">
                    <a:solidFill>
                      <a:srgbClr val="F8FAFC"/>
                    </a:solidFill>
                  </a:tcPr>
                </a:tc>
              </a:tr>
              <a:tr h="408214">
                <a:tc>
                  <a:txBody>
                    <a:bodyPr>
                      <a:noAutofit/>
                    </a:bodyPr>
                    <a:lstStyle/>
                    <a:p>
                      <a:pPr algn="l"/>
                      <a:r>
                        <a:rPr sz="975" b="0">
                          <a:solidFill>
                            <a:srgbClr val="344054"/>
                          </a:solidFill>
                          <a:latin typeface="Microsoft YaHei"/>
                          <a:ea typeface="Microsoft YaHei"/>
                          <a:cs typeface="Microsoft YaHei"/>
                        </a:rPr>
                        <a:t>Manual waveform</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48% ramp + 52% move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Methods</a:t>
                      </a:r>
                    </a:p>
                  </a:txBody>
                  <a:tcPr marL="91440" marR="91440" marT="45720" marB="45720" anchor="ctr">
                    <a:solidFill>
                      <a:srgbClr val="FFFFFF"/>
                    </a:solidFill>
                  </a:tcPr>
                </a:tc>
              </a:tr>
              <a:tr h="408214">
                <a:tc>
                  <a:txBody>
                    <a:bodyPr>
                      <a:noAutofit/>
                    </a:bodyPr>
                    <a:lstStyle/>
                    <a:p>
                      <a:pPr algn="l"/>
                      <a:r>
                        <a:rPr sz="975" b="0">
                          <a:solidFill>
                            <a:srgbClr val="344054"/>
                          </a:solidFill>
                          <a:latin typeface="Microsoft YaHei"/>
                          <a:ea typeface="Microsoft YaHei"/>
                          <a:cs typeface="Microsoft YaHei"/>
                        </a:rPr>
                        <a:t>ML waveform</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Fig. 6c vector digitization</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PDF page 7</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F2D5D31A-C0F4-4103-B8F3-BCE807422D8C}"/>
              </a:ext>
            </a:extLst>
          </p:cNvPr>
          <p:cNvSpPr>
            <a:spLocks xmlns:a="http://schemas.openxmlformats.org/drawingml/2006/main" noGrp="1"/>
          </p:cNvSpPr>
          <p:nvPr/>
        </p:nvSpPr>
        <p:spPr>
          <a:xfrm xmlns:a="http://schemas.openxmlformats.org/drawingml/2006/main">
            <a:off x="7181850" y="50292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D92D20"/>
                </a:solidFill>
                <a:latin typeface="Microsoft YaHei"/>
                <a:ea typeface="Microsoft YaHei"/>
                <a:cs typeface="Microsoft YaHei"/>
              </a:defRPr>
            </a:pPr>
            <a:r>
              <a:rPr sz="1125" b="0">
                <a:solidFill>
                  <a:srgbClr val="D92D20"/>
                </a:solidFill>
                <a:latin typeface="Microsoft YaHei"/>
                <a:ea typeface="Microsoft YaHei"/>
                <a:cs typeface="Microsoft YaHei"/>
              </a:rPr>
              <a:t>逐像素结果含标记边缘伪影；对比图使用稳定锚点的单调线性重建。原始 CSV 保留，精度仍按 ±0.01–0.02。</a:t>
            </a:r>
          </a:p>
        </p:txBody>
      </p:sp>
      <p:sp>
        <p:nvSpPr>
          <p:cNvPr id="10" name="">
            <a:extLst xmlns:a="http://schemas.openxmlformats.org/drawingml/2006/main">
              <a:ext uri="{FF2B5EF4-FFF2-40B4-BE49-F238E27FC236}">
                <a16:creationId xmlns:a16="http://schemas.microsoft.com/office/drawing/2014/main" id="{86BE658A-F5DE-4A62-B871-A15F58F8BD7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649FA543-52DB-44FD-9A9F-82EAF70DC4B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reference/fig6d_survival_digitized.csv · reference/fig6d_parameters.md</a:t>
            </a:r>
          </a:p>
        </p:txBody>
      </p:sp>
      <p:sp>
        <p:nvSpPr>
          <p:cNvPr id="12" name="">
            <a:extLst xmlns:a="http://schemas.openxmlformats.org/drawingml/2006/main">
              <a:ext uri="{FF2B5EF4-FFF2-40B4-BE49-F238E27FC236}">
                <a16:creationId xmlns:a16="http://schemas.microsoft.com/office/drawing/2014/main" id="{0E98DFA3-8862-4243-BA74-9DCD48CCEE69}"/>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7567335"/>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43CA50-24D4-4C72-B503-6DB392393A76}"/>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参数不是拟合答案：定义、扫描结果与解释边界</a:t>
            </a:r>
          </a:p>
        </p:txBody>
      </p:sp>
      <p:sp>
        <p:nvSpPr>
          <p:cNvPr id="2" name="">
            <a:extLst xmlns:a="http://schemas.openxmlformats.org/drawingml/2006/main">
              <a:ext uri="{FF2B5EF4-FFF2-40B4-BE49-F238E27FC236}">
                <a16:creationId xmlns:a16="http://schemas.microsoft.com/office/drawing/2014/main" id="{36172375-C9E1-4ACC-BE4F-3D526A58D47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24917E24-F7A0-4CF0-9C04-85C6CD7E21E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合并原第 5 / 10 页；σ 表示标准差；Stage-1 单因素扫描使用 256-shot CRN 随机池</a:t>
            </a:r>
          </a:p>
        </p:txBody>
      </p:sp>
      <p:graphicFrame>
        <p:nvGraphicFramePr>
          <p:cNvPr id="14" name=""/>
          <p:cNvGraphicFramePr/>
          <p:nvPr/>
        </p:nvGraphicFramePr>
        <p:xfrm>
          <a:off xmlns:a="http://schemas.openxmlformats.org/drawingml/2006/main" x="609600" y="1257300"/>
          <a:ext xmlns:a="http://schemas.openxmlformats.org/drawingml/2006/main" cx="10972800" cy="3905250"/>
        </p:xfrm>
        <a:graphic xmlns:a="http://schemas.openxmlformats.org/drawingml/2006/main">
          <a:graphicData uri="http://schemas.openxmlformats.org/drawingml/2006/table">
            <a:tbl>
              <a:tblPr/>
              <a:tblGrid>
                <a:gridCol w="1613647"/>
                <a:gridCol w="3291840"/>
                <a:gridCol w="2000922"/>
                <a:gridCol w="4066391"/>
              </a:tblGrid>
              <a:tr h="557893">
                <a:tc>
                  <a:txBody>
                    <a:bodyPr>
                      <a:noAutofit/>
                    </a:bodyPr>
                    <a:lstStyle/>
                    <a:p>
                      <a:pPr algn="l"/>
                      <a:r>
                        <a:rPr sz="975"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What it means in the current code</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Baseline → scan</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S(60) readout and interpretation</a:t>
                      </a:r>
                    </a:p>
                  </a:txBody>
                  <a:tcPr marL="91440" marR="91440" marT="45720" marB="45720" anchor="ctr">
                    <a:solidFill>
                      <a:srgbClr val="102A43"/>
                    </a:solidFill>
                  </a:tcPr>
                </a:tc>
              </a:tr>
              <a:tr h="557893">
                <a:tc>
                  <a:txBody>
                    <a:bodyPr>
                      <a:noAutofit/>
                    </a:bodyPr>
                    <a:lstStyle/>
                    <a:p>
                      <a:pPr algn="l"/>
                      <a:r>
                        <a:rPr sz="938" b="0">
                          <a:solidFill>
                            <a:srgbClr val="344054"/>
                          </a:solidFill>
                          <a:latin typeface="Microsoft YaHei"/>
                          <a:ea typeface="Microsoft YaHei"/>
                          <a:cs typeface="Microsoft YaHei"/>
                        </a:rPr>
                        <a:t>T</a:t>
                      </a:r>
                    </a:p>
                    <a:p>
                      <a:pPr algn="l"/>
                      <a:r>
                        <a:rPr sz="938" b="0">
                          <a:solidFill>
                            <a:srgbClr val="344054"/>
                          </a:solidFill>
                          <a:latin typeface="Microsoft YaHei"/>
                          <a:ea typeface="Microsoft YaHei"/>
                          <a:cs typeface="Microsoft YaHei"/>
                        </a:rPr>
                        <a:t>(initial ensemble)</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只决定 t=0 的 x、v 热分布宽度；随后连续传播，不逐程重新热化</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5 → 40 µK</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Manual 400: 0.930→0.527；600: 0.996→0.680</a:t>
                      </a:r>
                    </a:p>
                    <a:p>
                      <a:pPr algn="l"/>
                      <a:r>
                        <a:rPr sz="938" b="0">
                          <a:solidFill>
                            <a:srgbClr val="344054"/>
                          </a:solidFill>
                          <a:latin typeface="Microsoft YaHei"/>
                          <a:ea typeface="Microsoft YaHei"/>
                          <a:cs typeface="Microsoft YaHei"/>
                        </a:rPr>
                        <a:t>恢复时长排序；40 µK 只是未标定的有效宽度</a:t>
                      </a:r>
                    </a:p>
                  </a:txBody>
                  <a:tcPr marL="91440" marR="91440" marT="45720" marB="45720" anchor="ctr">
                    <a:solidFill>
                      <a:srgbClr val="EFF8FF"/>
                    </a:solidFill>
                  </a:tcPr>
                </a:tc>
              </a:tr>
              <a:tr h="557893">
                <a:tc>
                  <a:txBody>
                    <a:bodyPr>
                      <a:noAutofit/>
                    </a:bodyPr>
                    <a:lstStyle/>
                    <a:p>
                      <a:pPr algn="l"/>
                      <a:r>
                        <a:rPr sz="938" b="0">
                          <a:solidFill>
                            <a:srgbClr val="344054"/>
                          </a:solidFill>
                          <a:latin typeface="Microsoft YaHei"/>
                          <a:ea typeface="Microsoft YaHei"/>
                          <a:cs typeface="Microsoft YaHei"/>
                        </a:rPr>
                        <a:t>S_RIN(2ν₀)</a:t>
                      </a:r>
                    </a:p>
                    <a:p>
                      <a:pPr algn="l"/>
                      <a:r>
                        <a:rPr sz="938" b="0">
                          <a:solidFill>
                            <a:srgbClr val="344054"/>
                          </a:solidFill>
                          <a:latin typeface="Microsoft YaHei"/>
                          <a:ea typeface="Microsoft YaHei"/>
                          <a:cs typeface="Microsoft YaHei"/>
                        </a:rPr>
                        <a:t>(intensity PSD)</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单边强度噪声 PSD；经 Γpar=(π²/4)ν₀²S 换算为确定性平均加热，不生成随机噪声时间序列</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1×10⁻⁸ → 3×10⁻⁷ Hz⁻¹</a:t>
                      </a:r>
                    </a:p>
                    <a:p>
                      <a:pPr algn="l"/>
                      <a:r>
                        <a:rPr sz="938" b="0">
                          <a:solidFill>
                            <a:srgbClr val="344054"/>
                          </a:solidFill>
                          <a:latin typeface="Microsoft YaHei"/>
                          <a:ea typeface="Microsoft YaHei"/>
                          <a:cs typeface="Microsoft YaHei"/>
                        </a:rPr>
                        <a:t>(×30)</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Manual 400: 0.930→0.359；600: 0.996→0.434</a:t>
                      </a:r>
                    </a:p>
                    <a:p>
                      <a:pPr algn="l"/>
                      <a:r>
                        <a:rPr sz="938" b="0">
                          <a:solidFill>
                            <a:srgbClr val="344054"/>
                          </a:solidFill>
                          <a:latin typeface="Microsoft YaHei"/>
                          <a:ea typeface="Microsoft YaHei"/>
                          <a:cs typeface="Microsoft YaHei"/>
                        </a:rPr>
                        <a:t>损失量级/排序接近；PSD 未由实验标定</a:t>
                      </a:r>
                    </a:p>
                  </a:txBody>
                  <a:tcPr marL="91440" marR="91440" marT="45720" marB="45720" anchor="ctr">
                    <a:solidFill>
                      <a:srgbClr val="EFF8FF"/>
                    </a:solidFill>
                  </a:tcPr>
                </a:tc>
              </a:tr>
              <a:tr h="557893">
                <a:tc>
                  <a:txBody>
                    <a:bodyPr>
                      <a:noAutofit/>
                    </a:bodyPr>
                    <a:lstStyle/>
                    <a:p>
                      <a:pPr algn="l"/>
                      <a:r>
                        <a:rPr sz="938" b="0">
                          <a:solidFill>
                            <a:srgbClr val="344054"/>
                          </a:solidFill>
                          <a:latin typeface="Microsoft YaHei"/>
                          <a:ea typeface="Microsoft YaHei"/>
                          <a:cs typeface="Microsoft YaHei"/>
                        </a:rPr>
                        <a:t>Static alignment σ</a:t>
                      </a:r>
                    </a:p>
                  </a:txBody>
                  <a:tcPr marL="91440" marR="91440" marT="45720" marB="45720" anchor="ctr">
                    <a:solidFill>
                      <a:srgbClr val="FFFAEB"/>
                    </a:solidFill>
                  </a:tcPr>
                </a:tc>
                <a:tc>
                  <a:txBody>
                    <a:bodyPr>
                      <a:noAutofit/>
                    </a:bodyPr>
                    <a:lstStyle/>
                    <a:p>
                      <a:pPr algn="l"/>
                      <a:r>
                        <a:rPr sz="938" b="0">
                          <a:solidFill>
                            <a:srgbClr val="344054"/>
                          </a:solidFill>
                          <a:latin typeface="Microsoft YaHei"/>
                          <a:ea typeface="Microsoft YaHei"/>
                          <a:cs typeface="Microsoft YaHei"/>
                        </a:rPr>
                        <a:t>每个 shot 抽一次 AOD–SLM 中心偏移，并在 60 次转移中保持不变</a:t>
                      </a:r>
                    </a:p>
                  </a:txBody>
                  <a:tcPr marL="91440" marR="91440" marT="45720" marB="45720" anchor="ctr">
                    <a:solidFill>
                      <a:srgbClr val="FFFAEB"/>
                    </a:solidFill>
                  </a:tcPr>
                </a:tc>
                <a:tc>
                  <a:txBody>
                    <a:bodyPr>
                      <a:noAutofit/>
                    </a:bodyPr>
                    <a:lstStyle/>
                    <a:p>
                      <a:pPr algn="l"/>
                      <a:r>
                        <a:rPr sz="938" b="0">
                          <a:solidFill>
                            <a:srgbClr val="344054"/>
                          </a:solidFill>
                          <a:latin typeface="Microsoft YaHei"/>
                          <a:ea typeface="Microsoft YaHei"/>
                          <a:cs typeface="Microsoft YaHei"/>
                        </a:rPr>
                        <a:t>0.05 → 0.15 / 0.30 µm</a:t>
                      </a:r>
                    </a:p>
                  </a:txBody>
                  <a:tcPr marL="91440" marR="91440" marT="45720" marB="45720" anchor="ctr">
                    <a:solidFill>
                      <a:srgbClr val="FFFAEB"/>
                    </a:solidFill>
                  </a:tcPr>
                </a:tc>
                <a:tc>
                  <a:txBody>
                    <a:bodyPr>
                      <a:noAutofit/>
                    </a:bodyPr>
                    <a:lstStyle/>
                    <a:p>
                      <a:pPr algn="l"/>
                      <a:r>
                        <a:rPr sz="938" b="0">
                          <a:solidFill>
                            <a:srgbClr val="344054"/>
                          </a:solidFill>
                          <a:latin typeface="Microsoft YaHei"/>
                          <a:ea typeface="Microsoft YaHei"/>
                          <a:cs typeface="Microsoft YaHei"/>
                        </a:rPr>
                        <a:t>Manual 400: 0.934 / 0.922；600: 0.996 / 0.996</a:t>
                      </a:r>
                    </a:p>
                    <a:p>
                      <a:pPr algn="l"/>
                      <a:r>
                        <a:rPr sz="938" b="0">
                          <a:solidFill>
                            <a:srgbClr val="344054"/>
                          </a:solidFill>
                          <a:latin typeface="Microsoft YaHei"/>
                          <a:ea typeface="Microsoft YaHei"/>
                          <a:cs typeface="Microsoft YaHei"/>
                        </a:rPr>
                        <a:t>当前 1D 几何中几乎无效</a:t>
                      </a:r>
                    </a:p>
                  </a:txBody>
                  <a:tcPr marL="91440" marR="91440" marT="45720" marB="45720" anchor="ctr">
                    <a:solidFill>
                      <a:srgbClr val="FFFAEB"/>
                    </a:solidFill>
                  </a:tcPr>
                </a:tc>
              </a:tr>
              <a:tr h="557893">
                <a:tc>
                  <a:txBody>
                    <a:bodyPr>
                      <a:noAutofit/>
                    </a:bodyPr>
                    <a:lstStyle/>
                    <a:p>
                      <a:pPr algn="l"/>
                      <a:r>
                        <a:rPr sz="938" b="0">
                          <a:solidFill>
                            <a:srgbClr val="344054"/>
                          </a:solidFill>
                          <a:latin typeface="Microsoft YaHei"/>
                          <a:ea typeface="Microsoft YaHei"/>
                          <a:cs typeface="Microsoft YaHei"/>
                        </a:rPr>
                        <a:t>Leg-wise jitter σ</a:t>
                      </a:r>
                    </a:p>
                  </a:txBody>
                  <a:tcPr marL="91440" marR="91440" marT="45720" marB="45720" anchor="ctr">
                    <a:solidFill>
                      <a:srgbClr val="FFFAEB"/>
                    </a:solidFill>
                  </a:tcPr>
                </a:tc>
                <a:tc>
                  <a:txBody>
                    <a:bodyPr>
                      <a:noAutofit/>
                    </a:bodyPr>
                    <a:lstStyle/>
                    <a:p>
                      <a:pPr algn="l"/>
                      <a:r>
                        <a:rPr sz="938" b="0">
                          <a:solidFill>
                            <a:srgbClr val="344054"/>
                          </a:solidFill>
                          <a:latin typeface="Microsoft YaHei"/>
                          <a:ea typeface="Microsoft YaHei"/>
                          <a:cs typeface="Microsoft YaHei"/>
                        </a:rPr>
                        <a:t>在 pickup / wait / drop-off 每一段重抽中心偏移；实现粒度比参数名“per-transfer”更细</a:t>
                      </a:r>
                    </a:p>
                  </a:txBody>
                  <a:tcPr marL="91440" marR="91440" marT="45720" marB="45720" anchor="ctr">
                    <a:solidFill>
                      <a:srgbClr val="FFFAEB"/>
                    </a:solidFill>
                  </a:tcPr>
                </a:tc>
                <a:tc>
                  <a:txBody>
                    <a:bodyPr>
                      <a:noAutofit/>
                    </a:bodyPr>
                    <a:lstStyle/>
                    <a:p>
                      <a:pPr algn="l"/>
                      <a:r>
                        <a:rPr sz="938" b="0">
                          <a:solidFill>
                            <a:srgbClr val="344054"/>
                          </a:solidFill>
                          <a:latin typeface="Microsoft YaHei"/>
                          <a:ea typeface="Microsoft YaHei"/>
                          <a:cs typeface="Microsoft YaHei"/>
                        </a:rPr>
                        <a:t>0.01 → 0.10 µm</a:t>
                      </a:r>
                    </a:p>
                  </a:txBody>
                  <a:tcPr marL="91440" marR="91440" marT="45720" marB="45720" anchor="ctr">
                    <a:solidFill>
                      <a:srgbClr val="FFFAEB"/>
                    </a:solidFill>
                  </a:tcPr>
                </a:tc>
                <a:tc>
                  <a:txBody>
                    <a:bodyPr>
                      <a:noAutofit/>
                    </a:bodyPr>
                    <a:lstStyle/>
                    <a:p>
                      <a:pPr algn="l"/>
                      <a:r>
                        <a:rPr sz="938" b="0">
                          <a:solidFill>
                            <a:srgbClr val="344054"/>
                          </a:solidFill>
                          <a:latin typeface="Microsoft YaHei"/>
                          <a:ea typeface="Microsoft YaHei"/>
                          <a:cs typeface="Microsoft YaHei"/>
                        </a:rPr>
                        <a:t>Manual 400: 0.094；600: 0.105</a:t>
                      </a:r>
                    </a:p>
                    <a:p>
                      <a:pPr algn="l"/>
                      <a:r>
                        <a:rPr sz="938" b="0">
                          <a:solidFill>
                            <a:srgbClr val="344054"/>
                          </a:solidFill>
                          <a:latin typeface="Microsoft YaHei"/>
                          <a:ea typeface="Microsoft YaHei"/>
                          <a:cs typeface="Microsoft YaHei"/>
                        </a:rPr>
                        <a:t>损失很大却近乎不随时长变化，不能解释论文排序</a:t>
                      </a:r>
                    </a:p>
                  </a:txBody>
                  <a:tcPr marL="91440" marR="91440" marT="45720" marB="45720" anchor="ctr">
                    <a:solidFill>
                      <a:srgbClr val="FFFAEB"/>
                    </a:solidFill>
                  </a:tcPr>
                </a:tc>
              </a:tr>
              <a:tr h="557893">
                <a:tc>
                  <a:txBody>
                    <a:bodyPr>
                      <a:noAutofit/>
                    </a:bodyPr>
                    <a:lstStyle/>
                    <a:p>
                      <a:pPr algn="l"/>
                      <a:r>
                        <a:rPr sz="938" b="0">
                          <a:solidFill>
                            <a:srgbClr val="344054"/>
                          </a:solidFill>
                          <a:latin typeface="Microsoft YaHei"/>
                          <a:ea typeface="Microsoft YaHei"/>
                          <a:cs typeface="Microsoft YaHei"/>
                        </a:rPr>
                        <a:t>Depth / waist σ</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shot 固定的乘性高斯散布：SLM depth 11.4% 来自位点实测；AOD depth / waist 各 2% 为假设</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11.4%；2% / 2%</a:t>
                      </a:r>
                    </a:p>
                    <a:p>
                      <a:pPr algn="l"/>
                      <a:r>
                        <a:rPr sz="938" b="0">
                          <a:solidFill>
                            <a:srgbClr val="344054"/>
                          </a:solidFill>
                          <a:latin typeface="Microsoft YaHei"/>
                          <a:ea typeface="Microsoft YaHei"/>
                          <a:cs typeface="Microsoft YaHei"/>
                        </a:rPr>
                        <a:t>本轮保持不变</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本轮未逐项隔离；用于表示位点差异，不能当作单一标称阱的测量误差条</a:t>
                      </a:r>
                    </a:p>
                  </a:txBody>
                  <a:tcPr marL="91440" marR="91440" marT="45720" marB="45720" anchor="ctr">
                    <a:solidFill>
                      <a:srgbClr val="FFFFFF"/>
                    </a:solidFill>
                  </a:tcPr>
                </a:tc>
              </a:tr>
              <a:tr h="557893">
                <a:tc>
                  <a:txBody>
                    <a:bodyPr>
                      <a:noAutofit/>
                    </a:bodyPr>
                    <a:lstStyle/>
                    <a:p>
                      <a:pPr algn="l"/>
                      <a:r>
                        <a:rPr sz="938" b="0">
                          <a:solidFill>
                            <a:srgbClr val="344054"/>
                          </a:solidFill>
                          <a:latin typeface="Microsoft YaHei"/>
                          <a:ea typeface="Microsoft YaHei"/>
                          <a:cs typeface="Microsoft YaHei"/>
                        </a:rPr>
                        <a:t>dt / shots / CRN</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dt 是积分步长；shots 是 Monte Carlo 样本数；CRN 表示场景间复用同一随机抽样以做配对比较</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0.05 µs；0.025 µs 收敛</a:t>
                      </a:r>
                    </a:p>
                    <a:p>
                      <a:pPr algn="l"/>
                      <a:r>
                        <a:rPr sz="938" b="0">
                          <a:solidFill>
                            <a:srgbClr val="344054"/>
                          </a:solidFill>
                          <a:latin typeface="Microsoft YaHei"/>
                          <a:ea typeface="Microsoft YaHei"/>
                          <a:cs typeface="Microsoft YaHei"/>
                        </a:rPr>
                        <a:t>256 scan / 512 validation</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控制数值误差与统计噪声，不是物理损失参数，也不等于实验置信度</a:t>
                      </a:r>
                    </a:p>
                  </a:txBody>
                  <a:tcPr marL="91440" marR="91440" marT="45720" marB="45720" anchor="ctr">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A38DFD30-E994-46A7-8721-5DBE139E7E93}"/>
              </a:ext>
            </a:extLst>
          </p:cNvPr>
          <p:cNvSpPr>
            <a:spLocks xmlns:a="http://schemas.openxmlformats.org/drawingml/2006/main" noGrp="1"/>
          </p:cNvSpPr>
          <p:nvPr/>
        </p:nvSpPr>
        <p:spPr>
          <a:xfrm xmlns:a="http://schemas.openxmlformats.org/drawingml/2006/main">
            <a:off x="609600" y="5276850"/>
            <a:ext cx="10972800" cy="990600"/>
          </a:xfrm>
          <a:prstGeom xmlns:a="http://schemas.openxmlformats.org/drawingml/2006/main" prst="roundRect">
            <a:avLst>
              <a:gd name="adj" fmla="val 7692"/>
            </a:avLst>
          </a:prstGeom>
          <a:solidFill xmlns:a="http://schemas.openxmlformats.org/drawingml/2006/main">
            <a:srgbClr val="EEF4F8"/>
          </a:solidFill>
          <a:ln xmlns:a="http://schemas.openxmlformats.org/drawingml/2006/main" w="9525">
            <a:solidFill>
              <a:srgbClr val="C7D7E5"/>
            </a:solidFill>
          </a:ln>
        </p:spPr>
      </p:sp>
      <p:sp>
        <p:nvSpPr>
          <p:cNvPr id="6" name="">
            <a:extLst xmlns:a="http://schemas.openxmlformats.org/drawingml/2006/main">
              <a:ext uri="{FF2B5EF4-FFF2-40B4-BE49-F238E27FC236}">
                <a16:creationId xmlns:a16="http://schemas.microsoft.com/office/drawing/2014/main" id="{C6A2DED9-0DFF-481B-A8C6-9798BE369636}"/>
              </a:ext>
            </a:extLst>
          </p:cNvPr>
          <p:cNvSpPr>
            <a:spLocks xmlns:a="http://schemas.openxmlformats.org/drawingml/2006/main" noGrp="1"/>
          </p:cNvSpPr>
          <p:nvPr/>
        </p:nvSpPr>
        <p:spPr>
          <a:xfrm xmlns:a="http://schemas.openxmlformats.org/drawingml/2006/main">
            <a:off x="838200" y="5429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如何读这张表</a:t>
            </a:r>
          </a:p>
        </p:txBody>
      </p:sp>
      <p:sp>
        <p:nvSpPr>
          <p:cNvPr id="7" name="">
            <a:extLst xmlns:a="http://schemas.openxmlformats.org/drawingml/2006/main">
              <a:ext uri="{FF2B5EF4-FFF2-40B4-BE49-F238E27FC236}">
                <a16:creationId xmlns:a16="http://schemas.microsoft.com/office/drawing/2014/main" id="{E662940D-FADE-4D7E-86AF-B9844BD26F73}"/>
              </a:ext>
            </a:extLst>
          </p:cNvPr>
          <p:cNvSpPr>
            <a:spLocks xmlns:a="http://schemas.openxmlformats.org/drawingml/2006/main" noGrp="1"/>
          </p:cNvSpPr>
          <p:nvPr/>
        </p:nvSpPr>
        <p:spPr>
          <a:xfrm xmlns:a="http://schemas.openxmlformats.org/drawingml/2006/main">
            <a:off x="2647950" y="5391150"/>
            <a:ext cx="8705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88" b="0">
                <a:solidFill>
                  <a:srgbClr val="344054"/>
                </a:solidFill>
                <a:latin typeface="Microsoft YaHei"/>
                <a:ea typeface="Microsoft YaHei"/>
                <a:cs typeface="Microsoft YaHei"/>
              </a:defRPr>
            </a:pPr>
            <a:r>
              <a:rPr sz="1088" b="0">
                <a:solidFill>
                  <a:srgbClr val="344054"/>
                </a:solidFill>
                <a:latin typeface="Microsoft YaHei"/>
                <a:ea typeface="Microsoft YaHei"/>
                <a:cs typeface="Microsoft YaHei"/>
              </a:rPr>
              <a:t>论文锚点：Manual 400 / 600 µs 的 S(60)=0.414 / 0.573。T40 与 R3e−7 说明两种机制都能把损失推到相近量级，但二者均非独立标定，且没有一条完整曲线通过 ±0.02。</a:t>
            </a:r>
          </a:p>
          <a:p xmlns:a="http://schemas.openxmlformats.org/drawingml/2006/main">
            <a:pPr algn="l">
              <a:defRPr sz="1088" b="0">
                <a:solidFill>
                  <a:srgbClr val="344054"/>
                </a:solidFill>
                <a:latin typeface="Microsoft YaHei"/>
                <a:ea typeface="Microsoft YaHei"/>
                <a:cs typeface="Microsoft YaHei"/>
              </a:defRPr>
            </a:pPr>
            <a:r>
              <a:rPr sz="1088" b="0">
                <a:solidFill>
                  <a:srgbClr val="344054"/>
                </a:solidFill>
                <a:latin typeface="Microsoft YaHei"/>
                <a:ea typeface="Microsoft YaHei"/>
                <a:cs typeface="Microsoft YaHei"/>
              </a:rPr>
              <a:t>跨报告一致口径：Level 2 / 2B 将 RIN 作为确定性平均加热；Level 3 / 4 将 OFAT 结果标为 assumed sensitivity。当前 Level 2C 仍未加入真空寿命背景损失。</a:t>
            </a:r>
          </a:p>
        </p:txBody>
      </p:sp>
      <p:sp>
        <p:nvSpPr>
          <p:cNvPr id="8" name="">
            <a:extLst xmlns:a="http://schemas.openxmlformats.org/drawingml/2006/main">
              <a:ext uri="{FF2B5EF4-FFF2-40B4-BE49-F238E27FC236}">
                <a16:creationId xmlns:a16="http://schemas.microsoft.com/office/drawing/2014/main" id="{31191771-7278-409D-BDAC-FEB4F324CE7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E00F18E6-B774-46DC-BDCC-D3915FF254AC}"/>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 config / engine / Stage-1 CSV · context checked against Level 2 / 2B / 3 / 4 decks</a:t>
            </a:r>
          </a:p>
        </p:txBody>
      </p:sp>
      <p:sp>
        <p:nvSpPr>
          <p:cNvPr id="10" name="">
            <a:extLst xmlns:a="http://schemas.openxmlformats.org/drawingml/2006/main">
              <a:ext uri="{FF2B5EF4-FFF2-40B4-BE49-F238E27FC236}">
                <a16:creationId xmlns:a16="http://schemas.microsoft.com/office/drawing/2014/main" id="{2BA1037D-EC02-4E0D-AE9F-C6BC9982744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8845969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363C65-B513-4ECF-9423-E61B1CC4DFD2}"/>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场景复现了时长排序，但没有闭合曲线形状</a:t>
            </a:r>
          </a:p>
        </p:txBody>
      </p:sp>
      <p:sp>
        <p:nvSpPr>
          <p:cNvPr id="2" name="">
            <a:extLst xmlns:a="http://schemas.openxmlformats.org/drawingml/2006/main">
              <a:ext uri="{FF2B5EF4-FFF2-40B4-BE49-F238E27FC236}">
                <a16:creationId xmlns:a16="http://schemas.microsoft.com/office/drawing/2014/main" id="{F518464A-B2E4-4712-B9C7-8E67DA3C2E0F}"/>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0817DF1E-2730-4AA0-8E9E-F86B97549B5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monotone reconstruction from stable digitization anchors; MC: raw validation, 512 shots</a:t>
            </a:r>
          </a:p>
        </p:txBody>
      </p:sp>
      <p:graphicFrame>
        <p:nvGraphicFramePr>
          <p:cNvPr id="15"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cbb37e5fc6b14106"/>
          </a:graphicData>
        </a:graphic>
      </p:graphicFrame>
      <p:graphicFrame>
        <p:nvGraphicFramePr>
          <p:cNvPr id="16"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b04f93a35a2849c1"/>
          </a:graphicData>
        </a:graphic>
      </p:graphicFrame>
      <p:sp>
        <p:nvSpPr>
          <p:cNvPr id="6" name="">
            <a:extLst xmlns:a="http://schemas.openxmlformats.org/drawingml/2006/main">
              <a:ext uri="{FF2B5EF4-FFF2-40B4-BE49-F238E27FC236}">
                <a16:creationId xmlns:a16="http://schemas.microsoft.com/office/drawing/2014/main" id="{83026C5C-9AFE-4249-9AAE-5CEA2630D7F7}"/>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8D5FA2BF-9AF4-4AAD-8275-785F9CEE8A52}"/>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8" name="">
            <a:extLst xmlns:a="http://schemas.openxmlformats.org/drawingml/2006/main">
              <a:ext uri="{FF2B5EF4-FFF2-40B4-BE49-F238E27FC236}">
                <a16:creationId xmlns:a16="http://schemas.microsoft.com/office/drawing/2014/main" id="{28BA7CD5-DE4C-4296-B0A3-96E44D1207E3}"/>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9" name="">
            <a:extLst xmlns:a="http://schemas.openxmlformats.org/drawingml/2006/main">
              <a:ext uri="{FF2B5EF4-FFF2-40B4-BE49-F238E27FC236}">
                <a16:creationId xmlns:a16="http://schemas.microsoft.com/office/drawing/2014/main" id="{F703F0DC-15FA-40F8-8C5C-435E2C3B74B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8775FFA9-3EC2-4337-BCA8-85BA5DD8CCC7}"/>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1" name="">
            <a:extLst xmlns:a="http://schemas.openxmlformats.org/drawingml/2006/main">
              <a:ext uri="{FF2B5EF4-FFF2-40B4-BE49-F238E27FC236}">
                <a16:creationId xmlns:a16="http://schemas.microsoft.com/office/drawing/2014/main" id="{E0B134E4-EEF2-4B10-81F2-0EF09FA3483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115112870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E90545F-CDFD-4D03-803B-5137DD56011D}"/>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正确的 Fig. 6c 轨迹在模型中恢复了 ML 优势</a:t>
            </a:r>
          </a:p>
        </p:txBody>
      </p:sp>
      <p:sp>
        <p:nvSpPr>
          <p:cNvPr id="2" name="">
            <a:extLst xmlns:a="http://schemas.openxmlformats.org/drawingml/2006/main">
              <a:ext uri="{FF2B5EF4-FFF2-40B4-BE49-F238E27FC236}">
                <a16:creationId xmlns:a16="http://schemas.microsoft.com/office/drawing/2014/main" id="{AB568E5C-BB86-477C-A6F8-9BF3F76C312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0B60AFF7-129D-470C-8DB4-2904AEBB5F6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Endpoint comparison at n=60; T40 scan pool uses identical initial draws for manual and ML</a:t>
            </a:r>
          </a:p>
        </p:txBody>
      </p:sp>
      <p:graphicFrame>
        <p:nvGraphicFramePr>
          <p:cNvPr id="22"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ba904b349c314bfd"/>
          </a:graphicData>
        </a:graphic>
      </p:graphicFrame>
      <p:sp>
        <p:nvSpPr>
          <p:cNvPr id="5" name="">
            <a:extLst xmlns:a="http://schemas.openxmlformats.org/drawingml/2006/main">
              <a:ext uri="{FF2B5EF4-FFF2-40B4-BE49-F238E27FC236}">
                <a16:creationId xmlns:a16="http://schemas.microsoft.com/office/drawing/2014/main" id="{28C514BF-D99F-430F-85CB-509705FEF8B6}"/>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6" name="">
            <a:extLst xmlns:a="http://schemas.openxmlformats.org/drawingml/2006/main">
              <a:ext uri="{FF2B5EF4-FFF2-40B4-BE49-F238E27FC236}">
                <a16:creationId xmlns:a16="http://schemas.microsoft.com/office/drawing/2014/main" id="{70CFAF85-97D4-4D56-8BEE-E7DFD5DF5D32}"/>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7" name="">
            <a:extLst xmlns:a="http://schemas.openxmlformats.org/drawingml/2006/main">
              <a:ext uri="{FF2B5EF4-FFF2-40B4-BE49-F238E27FC236}">
                <a16:creationId xmlns:a16="http://schemas.microsoft.com/office/drawing/2014/main" id="{FF87F3FE-7911-484D-AC85-841403242B46}"/>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8" name="">
            <a:extLst xmlns:a="http://schemas.openxmlformats.org/drawingml/2006/main">
              <a:ext uri="{FF2B5EF4-FFF2-40B4-BE49-F238E27FC236}">
                <a16:creationId xmlns:a16="http://schemas.microsoft.com/office/drawing/2014/main" id="{CEB74EEA-9F81-49F3-823C-27447C96AFC3}"/>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 66.3%</a:t>
            </a:r>
          </a:p>
        </p:txBody>
      </p:sp>
      <p:sp>
        <p:nvSpPr>
          <p:cNvPr id="9" name="">
            <a:extLst xmlns:a="http://schemas.openxmlformats.org/drawingml/2006/main">
              <a:ext uri="{FF2B5EF4-FFF2-40B4-BE49-F238E27FC236}">
                <a16:creationId xmlns:a16="http://schemas.microsoft.com/office/drawing/2014/main" id="{1D2CC50E-BE47-4638-B269-F0D249660612}"/>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等效单程 loss 1.46% → 0.68%</a:t>
            </a:r>
          </a:p>
        </p:txBody>
      </p:sp>
      <p:sp>
        <p:nvSpPr>
          <p:cNvPr id="10" name="">
            <a:extLst xmlns:a="http://schemas.openxmlformats.org/drawingml/2006/main">
              <a:ext uri="{FF2B5EF4-FFF2-40B4-BE49-F238E27FC236}">
                <a16:creationId xmlns:a16="http://schemas.microsoft.com/office/drawing/2014/main" id="{46B60FED-1597-4968-A4D3-5DE797EE927E}"/>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1" name="">
            <a:extLst xmlns:a="http://schemas.openxmlformats.org/drawingml/2006/main">
              <a:ext uri="{FF2B5EF4-FFF2-40B4-BE49-F238E27FC236}">
                <a16:creationId xmlns:a16="http://schemas.microsoft.com/office/drawing/2014/main" id="{16E2E8CB-41D9-4D50-BF42-465B05B610F1}"/>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2" name="">
            <a:extLst xmlns:a="http://schemas.openxmlformats.org/drawingml/2006/main">
              <a:ext uri="{FF2B5EF4-FFF2-40B4-BE49-F238E27FC236}">
                <a16:creationId xmlns:a16="http://schemas.microsoft.com/office/drawing/2014/main" id="{C25E2FF9-15F8-466D-AE92-F116DC973063}"/>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3" name="">
            <a:extLst xmlns:a="http://schemas.openxmlformats.org/drawingml/2006/main">
              <a:ext uri="{FF2B5EF4-FFF2-40B4-BE49-F238E27FC236}">
                <a16:creationId xmlns:a16="http://schemas.microsoft.com/office/drawing/2014/main" id="{E1E525AE-F719-48C4-ACBC-A0255E20BAE3}"/>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 75.8%</a:t>
            </a:r>
          </a:p>
        </p:txBody>
      </p:sp>
      <p:sp>
        <p:nvSpPr>
          <p:cNvPr id="14" name="">
            <a:extLst xmlns:a="http://schemas.openxmlformats.org/drawingml/2006/main">
              <a:ext uri="{FF2B5EF4-FFF2-40B4-BE49-F238E27FC236}">
                <a16:creationId xmlns:a16="http://schemas.microsoft.com/office/drawing/2014/main" id="{D1C801C4-8DFF-4B1D-9A81-A4733FD2B1BB}"/>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等效单程 loss 1.06% → 0.46%</a:t>
            </a:r>
          </a:p>
        </p:txBody>
      </p:sp>
      <p:sp>
        <p:nvSpPr>
          <p:cNvPr id="15" name="">
            <a:extLst xmlns:a="http://schemas.openxmlformats.org/drawingml/2006/main">
              <a:ext uri="{FF2B5EF4-FFF2-40B4-BE49-F238E27FC236}">
                <a16:creationId xmlns:a16="http://schemas.microsoft.com/office/drawing/2014/main" id="{8C3C61A6-501F-4411-8A76-564909BA1C49}"/>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相对增益接近，但 MC 的两条绝对 survival 仍偏高。</a:t>
            </a:r>
          </a:p>
        </p:txBody>
      </p:sp>
      <p:sp>
        <p:nvSpPr>
          <p:cNvPr id="16" name="">
            <a:extLst xmlns:a="http://schemas.openxmlformats.org/drawingml/2006/main">
              <a:ext uri="{FF2B5EF4-FFF2-40B4-BE49-F238E27FC236}">
                <a16:creationId xmlns:a16="http://schemas.microsoft.com/office/drawing/2014/main" id="{A09BA19F-958C-4F06-8972-986D1C641FF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E3C706EB-8DFA-4439-BD9C-2BE9E7E183F1}"/>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reference/fig6d_survival_digitized.csv</a:t>
            </a:r>
          </a:p>
        </p:txBody>
      </p:sp>
      <p:sp>
        <p:nvSpPr>
          <p:cNvPr id="18" name="">
            <a:extLst xmlns:a="http://schemas.openxmlformats.org/drawingml/2006/main">
              <a:ext uri="{FF2B5EF4-FFF2-40B4-BE49-F238E27FC236}">
                <a16:creationId xmlns:a16="http://schemas.microsoft.com/office/drawing/2014/main" id="{7A7B32C2-1FA6-46C8-B2DE-543C29E22C3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281387938"/>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176225-68E0-453C-89C3-4345F9E7E7A5}"/>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ML 优势依赖真实位置剖面，而不是“同时式”标签</a:t>
            </a:r>
          </a:p>
        </p:txBody>
      </p:sp>
      <p:sp>
        <p:nvSpPr>
          <p:cNvPr id="2" name="">
            <a:extLst xmlns:a="http://schemas.openxmlformats.org/drawingml/2006/main">
              <a:ext uri="{FF2B5EF4-FFF2-40B4-BE49-F238E27FC236}">
                <a16:creationId xmlns:a16="http://schemas.microsoft.com/office/drawing/2014/main" id="{452E4B4F-D0DC-4B59-8C03-41F7DEFC8305}"/>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8E02FD4C-B507-4F55-8DAF-22C0503EAD8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Fig. 6c vector digitization yields 15 plotted nodes; model uses ordinary cubic interpolation</a:t>
            </a:r>
          </a:p>
        </p:txBody>
      </p:sp>
      <p:graphicFrame>
        <p:nvGraphicFramePr>
          <p:cNvPr id="14"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78a40263d0964aa0"/>
          </a:graphicData>
        </a:graphic>
      </p:graphicFrame>
      <p:graphicFrame>
        <p:nvGraphicFramePr>
          <p:cNvPr id="15"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a995b9de49be43ad"/>
          </a:graphicData>
        </a:graphic>
      </p:graphicFrame>
      <p:sp>
        <p:nvSpPr>
          <p:cNvPr id="6" name="">
            <a:extLst xmlns:a="http://schemas.openxmlformats.org/drawingml/2006/main">
              <a:ext uri="{FF2B5EF4-FFF2-40B4-BE49-F238E27FC236}">
                <a16:creationId xmlns:a16="http://schemas.microsoft.com/office/drawing/2014/main" id="{EFE8EFE9-13D6-476F-84B0-30A9EBBAB41A}"/>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DE0CDF6B-54CC-4010-8843-444FDE4E03D1}"/>
              </a:ext>
            </a:extLst>
          </p:cNvPr>
          <p:cNvSpPr>
            <a:spLocks xmlns:a="http://schemas.openxmlformats.org/drawingml/2006/main" noGrp="1"/>
          </p:cNvSpPr>
          <p:nvPr/>
        </p:nvSpPr>
        <p:spPr>
          <a:xfrm xmlns:a="http://schemas.openxmlformats.org/drawingml/2006/main">
            <a:off x="838200" y="5429250"/>
            <a:ext cx="10439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Fig. 6c ML 位置先在约 0.11 µm 平台停留，再在接近满深时加速移动并平缓收尾。原 LHS 增量参数化没有覆盖这一结构化轨迹族。</a:t>
            </a:r>
          </a:p>
        </p:txBody>
      </p:sp>
      <p:sp>
        <p:nvSpPr>
          <p:cNvPr id="8" name="">
            <a:extLst xmlns:a="http://schemas.openxmlformats.org/drawingml/2006/main">
              <a:ext uri="{FF2B5EF4-FFF2-40B4-BE49-F238E27FC236}">
                <a16:creationId xmlns:a16="http://schemas.microsoft.com/office/drawing/2014/main" id="{6936A792-984F-44E1-A0A8-DD6A9B24015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8A51EB61-D89A-4EA2-ACF4-5A1C8C95714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a:t>
            </a:r>
          </a:p>
        </p:txBody>
      </p:sp>
      <p:sp>
        <p:nvSpPr>
          <p:cNvPr id="10" name="">
            <a:extLst xmlns:a="http://schemas.openxmlformats.org/drawingml/2006/main">
              <a:ext uri="{FF2B5EF4-FFF2-40B4-BE49-F238E27FC236}">
                <a16:creationId xmlns:a16="http://schemas.microsoft.com/office/drawing/2014/main" id="{ABAB8BBC-1D08-4921-AB21-D9916800687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1170349346"/>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5DB6F5D-234A-4FC7-B187-D65552A58A5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模型内 ML 增益几乎全部来自 position trajectory</a:t>
            </a:r>
          </a:p>
        </p:txBody>
      </p:sp>
      <p:sp>
        <p:nvSpPr>
          <p:cNvPr id="2" name="">
            <a:extLst xmlns:a="http://schemas.openxmlformats.org/drawingml/2006/main">
              <a:ext uri="{FF2B5EF4-FFF2-40B4-BE49-F238E27FC236}">
                <a16:creationId xmlns:a16="http://schemas.microsoft.com/office/drawing/2014/main" id="{2EB8E7B2-90BA-42C5-8B1A-05E53221B628}"/>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F92EA4E8-4D42-46B8-96F9-81BB3626AF5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T40 validation cross-ablation, 512 shots; simulation-side attribution only</a:t>
            </a:r>
          </a:p>
        </p:txBody>
      </p:sp>
      <p:graphicFrame>
        <p:nvGraphicFramePr>
          <p:cNvPr id="20"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8a9227c57f10496a"/>
          </a:graphicData>
        </a:graphic>
      </p:graphicFrame>
      <p:sp>
        <p:nvSpPr>
          <p:cNvPr id="5" name="">
            <a:extLst xmlns:a="http://schemas.openxmlformats.org/drawingml/2006/main">
              <a:ext uri="{FF2B5EF4-FFF2-40B4-BE49-F238E27FC236}">
                <a16:creationId xmlns:a16="http://schemas.microsoft.com/office/drawing/2014/main" id="{1522DA6F-926A-4136-9E2F-D3493F51882E}"/>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6" name="">
            <a:extLst xmlns:a="http://schemas.openxmlformats.org/drawingml/2006/main">
              <a:ext uri="{FF2B5EF4-FFF2-40B4-BE49-F238E27FC236}">
                <a16:creationId xmlns:a16="http://schemas.microsoft.com/office/drawing/2014/main" id="{ACEFFE58-80FF-4EF5-8D7D-AC37FB874AF2}"/>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7" name="">
            <a:extLst xmlns:a="http://schemas.openxmlformats.org/drawingml/2006/main">
              <a:ext uri="{FF2B5EF4-FFF2-40B4-BE49-F238E27FC236}">
                <a16:creationId xmlns:a16="http://schemas.microsoft.com/office/drawing/2014/main" id="{02FF11B6-18BB-4CE9-A0F3-A26809EEA3C2}"/>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8" name="">
            <a:extLst xmlns:a="http://schemas.openxmlformats.org/drawingml/2006/main">
              <a:ext uri="{FF2B5EF4-FFF2-40B4-BE49-F238E27FC236}">
                <a16:creationId xmlns:a16="http://schemas.microsoft.com/office/drawing/2014/main" id="{104A6908-0AF2-429B-8E79-703F342A7770}"/>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9" name="">
            <a:extLst xmlns:a="http://schemas.openxmlformats.org/drawingml/2006/main">
              <a:ext uri="{FF2B5EF4-FFF2-40B4-BE49-F238E27FC236}">
                <a16:creationId xmlns:a16="http://schemas.microsoft.com/office/drawing/2014/main" id="{F9ECD20E-C860-4F07-818D-BC8BBF3765E1}"/>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4426DB7C-DE05-44F7-9D13-3ECF4102E17C}"/>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1" name="">
            <a:extLst xmlns:a="http://schemas.openxmlformats.org/drawingml/2006/main">
              <a:ext uri="{FF2B5EF4-FFF2-40B4-BE49-F238E27FC236}">
                <a16:creationId xmlns:a16="http://schemas.microsoft.com/office/drawing/2014/main" id="{FF2D54AA-3D99-4724-9DA7-AA3B584EF4DE}"/>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2" name="">
            <a:extLst xmlns:a="http://schemas.openxmlformats.org/drawingml/2006/main">
              <a:ext uri="{FF2B5EF4-FFF2-40B4-BE49-F238E27FC236}">
                <a16:creationId xmlns:a16="http://schemas.microsoft.com/office/drawing/2014/main" id="{D9739C8E-325F-4EC6-9C08-EA8378F7460A}"/>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3" name="">
            <a:extLst xmlns:a="http://schemas.openxmlformats.org/drawingml/2006/main">
              <a:ext uri="{FF2B5EF4-FFF2-40B4-BE49-F238E27FC236}">
                <a16:creationId xmlns:a16="http://schemas.microsoft.com/office/drawing/2014/main" id="{58945515-46CD-46CA-B2BB-10595E582EA6}"/>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4" name="">
            <a:extLst xmlns:a="http://schemas.openxmlformats.org/drawingml/2006/main">
              <a:ext uri="{FF2B5EF4-FFF2-40B4-BE49-F238E27FC236}">
                <a16:creationId xmlns:a16="http://schemas.microsoft.com/office/drawing/2014/main" id="{D70147F4-A935-4670-A90C-75FA69177A3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679908F1-0B29-4E61-BB1A-5F7B4A6F143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reproducible script ablation_cross_2x2.py</a:t>
            </a:r>
          </a:p>
        </p:txBody>
      </p:sp>
      <p:sp>
        <p:nvSpPr>
          <p:cNvPr id="16" name="">
            <a:extLst xmlns:a="http://schemas.openxmlformats.org/drawingml/2006/main">
              <a:ext uri="{FF2B5EF4-FFF2-40B4-BE49-F238E27FC236}">
                <a16:creationId xmlns:a16="http://schemas.microsoft.com/office/drawing/2014/main" id="{F699D1CD-9970-417A-9876-DA8D965A9F6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1448062213"/>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3506C5-0346-4782-B938-4393BCC310A7}"/>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没有一条当前曲线达到 ±0.02 全曲线验收标准</a:t>
            </a:r>
          </a:p>
        </p:txBody>
      </p:sp>
      <p:sp>
        <p:nvSpPr>
          <p:cNvPr id="2" name="">
            <a:extLst xmlns:a="http://schemas.openxmlformats.org/drawingml/2006/main">
              <a:ext uri="{FF2B5EF4-FFF2-40B4-BE49-F238E27FC236}">
                <a16:creationId xmlns:a16="http://schemas.microsoft.com/office/drawing/2014/main" id="{98B91EB4-9271-41B5-B4C8-5CBF9FCEABD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8A632C0C-08C8-4DAC-8C34-25052E58ECF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T40 raw validation for manual curves; Fig. 6c ML uses raw 256-shot endpoint replay</a:t>
            </a:r>
          </a:p>
        </p:txBody>
      </p:sp>
      <p:graphicFrame>
        <p:nvGraphicFramePr>
          <p:cNvPr id="17"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5" name="">
            <a:extLst xmlns:a="http://schemas.openxmlformats.org/drawingml/2006/main">
              <a:ext uri="{FF2B5EF4-FFF2-40B4-BE49-F238E27FC236}">
                <a16:creationId xmlns:a16="http://schemas.microsoft.com/office/drawing/2014/main" id="{6ACE8F27-9923-430A-A51D-2FFB5A4F9893}"/>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6" name="">
            <a:extLst xmlns:a="http://schemas.openxmlformats.org/drawingml/2006/main">
              <a:ext uri="{FF2B5EF4-FFF2-40B4-BE49-F238E27FC236}">
                <a16:creationId xmlns:a16="http://schemas.microsoft.com/office/drawing/2014/main" id="{DBC77C05-6163-474B-9102-9AA34DAF17F0}"/>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7" name="">
            <a:extLst xmlns:a="http://schemas.openxmlformats.org/drawingml/2006/main">
              <a:ext uri="{FF2B5EF4-FFF2-40B4-BE49-F238E27FC236}">
                <a16:creationId xmlns:a16="http://schemas.microsoft.com/office/drawing/2014/main" id="{61032880-8FBB-4268-A3BD-F08726C15D23}"/>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8" name="">
            <a:extLst xmlns:a="http://schemas.openxmlformats.org/drawingml/2006/main">
              <a:ext uri="{FF2B5EF4-FFF2-40B4-BE49-F238E27FC236}">
                <a16:creationId xmlns:a16="http://schemas.microsoft.com/office/drawing/2014/main" id="{10AA4AC0-99DE-4C3F-BB8A-ED5626642E67}"/>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9" name="">
            <a:extLst xmlns:a="http://schemas.openxmlformats.org/drawingml/2006/main">
              <a:ext uri="{FF2B5EF4-FFF2-40B4-BE49-F238E27FC236}">
                <a16:creationId xmlns:a16="http://schemas.microsoft.com/office/drawing/2014/main" id="{7EB1E342-4372-433E-879C-4090806C2686}"/>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0" name="">
            <a:extLst xmlns:a="http://schemas.openxmlformats.org/drawingml/2006/main">
              <a:ext uri="{FF2B5EF4-FFF2-40B4-BE49-F238E27FC236}">
                <a16:creationId xmlns:a16="http://schemas.microsoft.com/office/drawing/2014/main" id="{40C27915-EBB1-40CB-A129-EC76191AB318}"/>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1" name="">
            <a:extLst xmlns:a="http://schemas.openxmlformats.org/drawingml/2006/main">
              <a:ext uri="{FF2B5EF4-FFF2-40B4-BE49-F238E27FC236}">
                <a16:creationId xmlns:a16="http://schemas.microsoft.com/office/drawing/2014/main" id="{B59CF003-0942-46B4-82B1-634712AD29B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7D5C3B59-F1F1-467D-B427-DCB5C6D4E923}"/>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3" name="">
            <a:extLst xmlns:a="http://schemas.openxmlformats.org/drawingml/2006/main">
              <a:ext uri="{FF2B5EF4-FFF2-40B4-BE49-F238E27FC236}">
                <a16:creationId xmlns:a16="http://schemas.microsoft.com/office/drawing/2014/main" id="{016E1058-AE7D-443B-BC2F-BFC5E41AD042}"/>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2052909266"/>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658111-7F8A-4BAE-B3B4-FB60CA8C70D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400/600 µs 的误差会变号，说明 shape mismatch 仍存在</a:t>
            </a:r>
          </a:p>
        </p:txBody>
      </p:sp>
      <p:sp>
        <p:nvSpPr>
          <p:cNvPr id="2" name="">
            <a:extLst xmlns:a="http://schemas.openxmlformats.org/drawingml/2006/main">
              <a:ext uri="{FF2B5EF4-FFF2-40B4-BE49-F238E27FC236}">
                <a16:creationId xmlns:a16="http://schemas.microsoft.com/office/drawing/2014/main" id="{90688425-AD79-4A8A-A0EA-8C487D10195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477DA695-28AD-42CD-B7C7-DAF1114D038A}"/>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monotone paper reconstruction; zero means agreement</a:t>
            </a:r>
          </a:p>
        </p:txBody>
      </p:sp>
      <p:graphicFrame>
        <p:nvGraphicFramePr>
          <p:cNvPr id="14"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3af7117de1cf469e"/>
          </a:graphicData>
        </a:graphic>
      </p:graphicFrame>
      <p:graphicFrame>
        <p:nvGraphicFramePr>
          <p:cNvPr id="15"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5703683a63d44b06"/>
          </a:graphicData>
        </a:graphic>
      </p:graphicFrame>
      <p:sp>
        <p:nvSpPr>
          <p:cNvPr id="6" name="">
            <a:extLst xmlns:a="http://schemas.openxmlformats.org/drawingml/2006/main">
              <a:ext uri="{FF2B5EF4-FFF2-40B4-BE49-F238E27FC236}">
                <a16:creationId xmlns:a16="http://schemas.microsoft.com/office/drawing/2014/main" id="{B8E8459A-40A6-4644-941D-B0D874F4BF2D}"/>
              </a:ext>
            </a:extLst>
          </p:cNvPr>
          <p:cNvSpPr>
            <a:spLocks xmlns:a="http://schemas.openxmlformats.org/drawingml/2006/main" noGrp="1"/>
          </p:cNvSpPr>
          <p:nvPr/>
        </p:nvSpPr>
        <p:spPr>
          <a:xfrm xmlns:a="http://schemas.openxmlformats.org/drawingml/2006/main">
            <a:off x="609600" y="5429250"/>
            <a:ext cx="10972800" cy="666750"/>
          </a:xfrm>
          <a:prstGeom xmlns:a="http://schemas.openxmlformats.org/drawingml/2006/main" prst="roundRect">
            <a:avLst>
              <a:gd name="adj" fmla="val 11429"/>
            </a:avLst>
          </a:prstGeom>
          <a:solidFill xmlns:a="http://schemas.openxmlformats.org/drawingml/2006/main">
            <a:srgbClr val="F2F4F7"/>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6E663F59-2B40-4682-BCE8-DF7E254E3A3B}"/>
              </a:ext>
            </a:extLst>
          </p:cNvPr>
          <p:cNvSpPr>
            <a:spLocks xmlns:a="http://schemas.openxmlformats.org/drawingml/2006/main" noGrp="1"/>
          </p:cNvSpPr>
          <p:nvPr/>
        </p:nvSpPr>
        <p:spPr>
          <a:xfrm xmlns:a="http://schemas.openxmlformats.org/drawingml/2006/main">
            <a:off x="838200" y="56197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200 µs：持续负偏差且早期衰减过快。400/600 µs：早期偏低、后期偏高，模型的 late-time decay 太慢。</a:t>
            </a:r>
          </a:p>
        </p:txBody>
      </p:sp>
      <p:sp>
        <p:nvSpPr>
          <p:cNvPr id="8" name="">
            <a:extLst xmlns:a="http://schemas.openxmlformats.org/drawingml/2006/main">
              <a:ext uri="{FF2B5EF4-FFF2-40B4-BE49-F238E27FC236}">
                <a16:creationId xmlns:a16="http://schemas.microsoft.com/office/drawing/2014/main" id="{E07A6202-6560-48BB-B316-214D8830B50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B9E62E30-1655-4A0B-A45B-D31E27DDE064}"/>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a:t>
            </a:r>
          </a:p>
        </p:txBody>
      </p:sp>
      <p:sp>
        <p:nvSpPr>
          <p:cNvPr id="10" name="">
            <a:extLst xmlns:a="http://schemas.openxmlformats.org/drawingml/2006/main">
              <a:ext uri="{FF2B5EF4-FFF2-40B4-BE49-F238E27FC236}">
                <a16:creationId xmlns:a16="http://schemas.microsoft.com/office/drawing/2014/main" id="{827E0F2A-5ABA-4603-9D62-97B19402F86F}"/>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429463146"/>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5631E8-3F9F-45BF-93C6-8DB9AFE90AC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剩余误差来自校准、波形和实验链路三类 gap</a:t>
            </a:r>
          </a:p>
        </p:txBody>
      </p:sp>
      <p:sp>
        <p:nvSpPr>
          <p:cNvPr id="2" name="">
            <a:extLst xmlns:a="http://schemas.openxmlformats.org/drawingml/2006/main">
              <a:ext uri="{FF2B5EF4-FFF2-40B4-BE49-F238E27FC236}">
                <a16:creationId xmlns:a16="http://schemas.microsoft.com/office/drawing/2014/main" id="{CF51F0EB-B88B-4957-80C0-CF9140904FD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183C985A-4AC9-4227-B655-F853C315620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当前 evidence 不能把某一缺失机制确认为实验主因</a:t>
            </a:r>
          </a:p>
        </p:txBody>
      </p:sp>
      <p:graphicFrame>
        <p:nvGraphicFramePr>
          <p:cNvPr id="13" name=""/>
          <p:cNvGraphicFramePr/>
          <p:nvPr/>
        </p:nvGraphicFramePr>
        <p:xfrm>
          <a:off xmlns:a="http://schemas.openxmlformats.org/drawingml/2006/main" x="609600" y="1352550"/>
          <a:ext xmlns:a="http://schemas.openxmlformats.org/drawingml/2006/main" cx="10972800" cy="4191000"/>
        </p:xfrm>
        <a:graphic xmlns:a="http://schemas.openxmlformats.org/drawingml/2006/main">
          <a:graphicData uri="http://schemas.openxmlformats.org/drawingml/2006/table">
            <a:tbl>
              <a:tblPr/>
              <a:tblGrid>
                <a:gridCol w="1638795"/>
                <a:gridCol w="3063834"/>
                <a:gridCol w="3348842"/>
                <a:gridCol w="2921330"/>
              </a:tblGrid>
              <a:tr h="598714">
                <a:tc>
                  <a:txBody>
                    <a:bodyPr>
                      <a:noAutofit/>
                    </a:bodyPr>
                    <a:lstStyle/>
                    <a:p>
                      <a:pPr algn="l"/>
                      <a:r>
                        <a:rPr sz="975" b="1">
                          <a:solidFill>
                            <a:srgbClr val="FFFFFF"/>
                          </a:solidFill>
                          <a:latin typeface="Microsoft YaHei"/>
                          <a:ea typeface="Microsoft YaHei"/>
                          <a:cs typeface="Microsoft YaHei"/>
                        </a:rPr>
                        <a:t>Dimension</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Current Level 2C comparison</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Experiment / unresolved input</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Impact on claim</a:t>
                      </a:r>
                    </a:p>
                  </a:txBody>
                  <a:tcPr marL="91440" marR="91440" marT="45720" marB="45720" anchor="ctr">
                    <a:solidFill>
                      <a:srgbClr val="102A43"/>
                    </a:solidFill>
                  </a:tcPr>
                </a:tc>
              </a:tr>
              <a:tr h="598714">
                <a:tc>
                  <a:txBody>
                    <a:bodyPr>
                      <a:noAutofit/>
                    </a:bodyPr>
                    <a:lstStyle/>
                    <a:p>
                      <a:pPr algn="l"/>
                      <a:r>
                        <a:rPr sz="975" b="0">
                          <a:solidFill>
                            <a:srgbClr val="344054"/>
                          </a:solidFill>
                          <a:latin typeface="Microsoft YaHei"/>
                          <a:ea typeface="Microsoft YaHei"/>
                          <a:cs typeface="Microsoft YaHei"/>
                        </a:rPr>
                        <a:t>Ensemble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1D harmonic-rejection; T=5 µK baseline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Transfer-time energy distribution not independently known</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T=40 µK is an effective sensitivity parameter</a:t>
                      </a:r>
                    </a:p>
                  </a:txBody>
                  <a:tcPr marL="91440" marR="91440" marT="45720" marB="45720" anchor="ctr">
                    <a:solidFill>
                      <a:srgbClr val="FFFFFF"/>
                    </a:solidFill>
                  </a:tcPr>
                </a:tc>
              </a:tr>
              <a:tr h="598714">
                <a:tc>
                  <a:txBody>
                    <a:bodyPr>
                      <a:noAutofit/>
                    </a:bodyPr>
                    <a:lstStyle/>
                    <a:p>
                      <a:pPr algn="l"/>
                      <a:r>
                        <a:rPr sz="975" b="0">
                          <a:solidFill>
                            <a:srgbClr val="344054"/>
                          </a:solidFill>
                          <a:latin typeface="Microsoft YaHei"/>
                          <a:ea typeface="Microsoft YaHei"/>
                          <a:cs typeface="Microsoft YaHei"/>
                        </a:rPr>
                        <a:t>Sites</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Independent Gaussian depth/waist/alignment draws</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195 real AOD sites with calibrated spatial structure</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No site-resolved absolute prediction</a:t>
                      </a:r>
                    </a:p>
                  </a:txBody>
                  <a:tcPr marL="91440" marR="91440" marT="45720" marB="45720" anchor="ctr">
                    <a:solidFill>
                      <a:srgbClr val="F8FAFC"/>
                    </a:solidFill>
                  </a:tcPr>
                </a:tc>
              </a:tr>
              <a:tr h="598714">
                <a:tc>
                  <a:txBody>
                    <a:bodyPr>
                      <a:noAutofit/>
                    </a:bodyPr>
                    <a:lstStyle/>
                    <a:p>
                      <a:pPr algn="l"/>
                      <a:r>
                        <a:rPr sz="975" b="0">
                          <a:solidFill>
                            <a:srgbClr val="344054"/>
                          </a:solidFill>
                          <a:latin typeface="Microsoft YaHei"/>
                          <a:ea typeface="Microsoft YaHei"/>
                          <a:cs typeface="Microsoft YaHei"/>
                        </a:rPr>
                        <a:t>Waveform</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Fig. 6c digitization + not-a-knot cubic</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Raw AWG commands, bandwidth and optical response unavailable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Ordering robust; gain magnitude depends on interpolation</a:t>
                      </a:r>
                    </a:p>
                  </a:txBody>
                  <a:tcPr marL="91440" marR="91440" marT="45720" marB="45720" anchor="ctr">
                    <a:solidFill>
                      <a:srgbClr val="FFFFFF"/>
                    </a:solidFill>
                  </a:tcPr>
                </a:tc>
              </a:tr>
              <a:tr h="598714">
                <a:tc>
                  <a:txBody>
                    <a:bodyPr>
                      <a:noAutofit/>
                    </a:bodyPr>
                    <a:lstStyle/>
                    <a:p>
                      <a:pPr algn="l"/>
                      <a:r>
                        <a:rPr sz="975" b="0">
                          <a:solidFill>
                            <a:srgbClr val="344054"/>
                          </a:solidFill>
                          <a:latin typeface="Microsoft YaHei"/>
                          <a:ea typeface="Microsoft YaHei"/>
                          <a:cs typeface="Microsoft YaHei"/>
                        </a:rPr>
                        <a:t>Potential</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Ideal Gaussian SLM/AOD</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Aberration, intensity maps, crosstalk and full 3D overlap</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Absolute loss may shift</a:t>
                      </a:r>
                    </a:p>
                  </a:txBody>
                  <a:tcPr marL="91440" marR="91440" marT="45720" marB="45720" anchor="ctr">
                    <a:solidFill>
                      <a:srgbClr val="F8FAFC"/>
                    </a:solidFill>
                  </a:tcPr>
                </a:tc>
              </a:tr>
              <a:tr h="598714">
                <a:tc>
                  <a:txBody>
                    <a:bodyPr>
                      <a:noAutofit/>
                    </a:bodyPr>
                    <a:lstStyle/>
                    <a:p>
                      <a:pPr algn="l"/>
                      <a:r>
                        <a:rPr sz="975" b="0">
                          <a:solidFill>
                            <a:srgbClr val="344054"/>
                          </a:solidFill>
                          <a:latin typeface="Microsoft YaHei"/>
                          <a:ea typeface="Microsoft YaHei"/>
                          <a:cs typeface="Microsoft YaHei"/>
                        </a:rPr>
                        <a:t>Noise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Deterministic mean recoil/RIN/pointing + alignment jitter</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Stochastic spectra, vacuum/Raman and apparatus events</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RIN scenario is sensitivity, not calibration</a:t>
                      </a:r>
                    </a:p>
                  </a:txBody>
                  <a:tcPr marL="91440" marR="91440" marT="45720" marB="45720" anchor="ctr">
                    <a:solidFill>
                      <a:srgbClr val="FFFFFF"/>
                    </a:solidFill>
                  </a:tcPr>
                </a:tc>
              </a:tr>
              <a:tr h="598714">
                <a:tc>
                  <a:txBody>
                    <a:bodyPr>
                      <a:noAutofit/>
                    </a:bodyPr>
                    <a:lstStyle/>
                    <a:p>
                      <a:pPr algn="l"/>
                      <a:r>
                        <a:rPr sz="975" b="0">
                          <a:solidFill>
                            <a:srgbClr val="344054"/>
                          </a:solidFill>
                          <a:latin typeface="Microsoft YaHei"/>
                          <a:ea typeface="Microsoft YaHei"/>
                          <a:cs typeface="Microsoft YaHei"/>
                        </a:rPr>
                        <a:t>Observable</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Etrap&lt;0 after wait/drop-off</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Full preparation, control and imaging sequence</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Survival is not fidelity</a:t>
                      </a:r>
                    </a:p>
                  </a:txBody>
                  <a:tcPr marL="91440" marR="91440" marT="45720" marB="45720" anchor="ctr">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27EA520B-257E-4967-8956-93753358D12F}"/>
              </a:ext>
            </a:extLst>
          </p:cNvPr>
          <p:cNvSpPr>
            <a:spLocks xmlns:a="http://schemas.openxmlformats.org/drawingml/2006/main" noGrp="1"/>
          </p:cNvSpPr>
          <p:nvPr/>
        </p:nvSpPr>
        <p:spPr>
          <a:xfrm xmlns:a="http://schemas.openxmlformats.org/drawingml/2006/main">
            <a:off x="609600" y="5772150"/>
            <a:ext cx="10972800" cy="457200"/>
          </a:xfrm>
          <a:prstGeom xmlns:a="http://schemas.openxmlformats.org/drawingml/2006/main" prst="roundRect">
            <a:avLst>
              <a:gd name="adj" fmla="val 16667"/>
            </a:avLst>
          </a:prstGeom>
          <a:solidFill xmlns:a="http://schemas.openxmlformats.org/drawingml/2006/main">
            <a:srgbClr val="FFF6ED"/>
          </a:solidFill>
          <a:ln xmlns:a="http://schemas.openxmlformats.org/drawingml/2006/main" w="9525">
            <a:solidFill>
              <a:srgbClr val="FEDF89"/>
            </a:solidFill>
          </a:ln>
        </p:spPr>
      </p:sp>
      <p:sp>
        <p:nvSpPr>
          <p:cNvPr id="6" name="">
            <a:extLst xmlns:a="http://schemas.openxmlformats.org/drawingml/2006/main">
              <a:ext uri="{FF2B5EF4-FFF2-40B4-BE49-F238E27FC236}">
                <a16:creationId xmlns:a16="http://schemas.microsoft.com/office/drawing/2014/main" id="{A419CC7B-397F-43F1-8E07-04C6DE8BC338}"/>
              </a:ext>
            </a:extLst>
          </p:cNvPr>
          <p:cNvSpPr>
            <a:spLocks xmlns:a="http://schemas.openxmlformats.org/drawingml/2006/main" noGrp="1"/>
          </p:cNvSpPr>
          <p:nvPr/>
        </p:nvSpPr>
        <p:spPr>
          <a:xfrm xmlns:a="http://schemas.openxmlformats.org/drawingml/2006/main">
            <a:off x="838200" y="5876925"/>
            <a:ext cx="1043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已实现的 2D/3D 和 Level 5 模块不能自动填补本页 gap；Fig. 6d 主比较仍使用 Level 2C 的 1D survival path。</a:t>
            </a:r>
          </a:p>
        </p:txBody>
      </p:sp>
      <p:sp>
        <p:nvSpPr>
          <p:cNvPr id="7" name="">
            <a:extLst xmlns:a="http://schemas.openxmlformats.org/drawingml/2006/main">
              <a:ext uri="{FF2B5EF4-FFF2-40B4-BE49-F238E27FC236}">
                <a16:creationId xmlns:a16="http://schemas.microsoft.com/office/drawing/2014/main" id="{E24FA12F-4631-481B-AD09-6EBEA1AAAF6B}"/>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8" name="">
            <a:extLst xmlns:a="http://schemas.openxmlformats.org/drawingml/2006/main">
              <a:ext uri="{FF2B5EF4-FFF2-40B4-BE49-F238E27FC236}">
                <a16:creationId xmlns:a16="http://schemas.microsoft.com/office/drawing/2014/main" id="{093CDA05-751C-456C-8D8D-48947CE85FF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source code search · level2c config · summary_stage1.md</a:t>
            </a:r>
          </a:p>
        </p:txBody>
      </p:sp>
      <p:sp>
        <p:nvSpPr>
          <p:cNvPr id="9" name="">
            <a:extLst xmlns:a="http://schemas.openxmlformats.org/drawingml/2006/main">
              <a:ext uri="{FF2B5EF4-FFF2-40B4-BE49-F238E27FC236}">
                <a16:creationId xmlns:a16="http://schemas.microsoft.com/office/drawing/2014/main" id="{6E448156-7D2C-40A6-9958-5E37AD23E6E8}"/>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1807666704"/>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46F9349-9545-481D-9817-48DDB13FAFF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项目已达到机制验证阶段，尚未达到绝对定量预测阶段</a:t>
            </a:r>
          </a:p>
        </p:txBody>
      </p:sp>
      <p:sp>
        <p:nvSpPr>
          <p:cNvPr id="2" name="">
            <a:extLst xmlns:a="http://schemas.openxmlformats.org/drawingml/2006/main">
              <a:ext uri="{FF2B5EF4-FFF2-40B4-BE49-F238E27FC236}">
                <a16:creationId xmlns:a16="http://schemas.microsoft.com/office/drawing/2014/main" id="{312A6D14-22CF-4429-9684-FE8DCE340A8F}"/>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B666A817-5034-44C8-A4FF-A34273D2DEB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Assessment based on current repository evidence</a:t>
            </a:r>
          </a:p>
        </p:txBody>
      </p:sp>
      <p:sp>
        <p:nvSpPr>
          <p:cNvPr id="4" name="">
            <a:extLst xmlns:a="http://schemas.openxmlformats.org/drawingml/2006/main">
              <a:ext uri="{FF2B5EF4-FFF2-40B4-BE49-F238E27FC236}">
                <a16:creationId xmlns:a16="http://schemas.microsoft.com/office/drawing/2014/main" id="{A8178EFE-382B-4FC8-AEDC-44FF04E25E96}"/>
              </a:ext>
            </a:extLst>
          </p:cNvPr>
          <p:cNvSpPr>
            <a:spLocks xmlns:a="http://schemas.openxmlformats.org/drawingml/2006/main" noGrp="1"/>
          </p:cNvSpPr>
          <p:nvPr/>
        </p:nvSpPr>
        <p:spPr>
          <a:xfrm xmlns:a="http://schemas.openxmlformats.org/drawingml/2006/main">
            <a:off x="723900" y="14097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Numerical framework</a:t>
            </a:r>
          </a:p>
        </p:txBody>
      </p:sp>
      <p:sp>
        <p:nvSpPr>
          <p:cNvPr id="5" name="">
            <a:extLst xmlns:a="http://schemas.openxmlformats.org/drawingml/2006/main">
              <a:ext uri="{FF2B5EF4-FFF2-40B4-BE49-F238E27FC236}">
                <a16:creationId xmlns:a16="http://schemas.microsoft.com/office/drawing/2014/main" id="{7CD4B954-DC49-4BAF-B978-0F2B9EC54777}"/>
              </a:ext>
            </a:extLst>
          </p:cNvPr>
          <p:cNvSpPr>
            <a:spLocks xmlns:a="http://schemas.openxmlformats.org/drawingml/2006/main" noGrp="1"/>
          </p:cNvSpPr>
          <p:nvPr/>
        </p:nvSpPr>
        <p:spPr>
          <a:xfrm xmlns:a="http://schemas.openxmlformats.org/drawingml/2006/main">
            <a:off x="4095750" y="13906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1D pipeline, CRN pools, energy accounting, convergence checks and tests are implemented</a:t>
            </a:r>
          </a:p>
        </p:txBody>
      </p:sp>
      <p:sp>
        <p:nvSpPr>
          <p:cNvPr id="6" name="">
            <a:extLst xmlns:a="http://schemas.openxmlformats.org/drawingml/2006/main">
              <a:ext uri="{FF2B5EF4-FFF2-40B4-BE49-F238E27FC236}">
                <a16:creationId xmlns:a16="http://schemas.microsoft.com/office/drawing/2014/main" id="{78EA84F6-C573-49E3-8C33-D23E01FF7F47}"/>
              </a:ext>
            </a:extLst>
          </p:cNvPr>
          <p:cNvSpPr>
            <a:spLocks xmlns:a="http://schemas.openxmlformats.org/drawingml/2006/main" noGrp="1"/>
          </p:cNvSpPr>
          <p:nvPr/>
        </p:nvSpPr>
        <p:spPr>
          <a:xfrm xmlns:a="http://schemas.openxmlformats.org/drawingml/2006/main">
            <a:off x="7239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7" name="">
            <a:extLst xmlns:a="http://schemas.openxmlformats.org/drawingml/2006/main">
              <a:ext uri="{FF2B5EF4-FFF2-40B4-BE49-F238E27FC236}">
                <a16:creationId xmlns:a16="http://schemas.microsoft.com/office/drawing/2014/main" id="{F8060BED-27D9-4E62-9B54-C69C3EB8C0FC}"/>
              </a:ext>
            </a:extLst>
          </p:cNvPr>
          <p:cNvSpPr>
            <a:spLocks xmlns:a="http://schemas.openxmlformats.org/drawingml/2006/main" noGrp="1"/>
          </p:cNvSpPr>
          <p:nvPr/>
        </p:nvSpPr>
        <p:spPr>
          <a:xfrm xmlns:a="http://schemas.openxmlformats.org/drawingml/2006/main">
            <a:off x="14097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8" name="">
            <a:extLst xmlns:a="http://schemas.openxmlformats.org/drawingml/2006/main">
              <a:ext uri="{FF2B5EF4-FFF2-40B4-BE49-F238E27FC236}">
                <a16:creationId xmlns:a16="http://schemas.microsoft.com/office/drawing/2014/main" id="{B9D5CDF0-BDF5-459F-90CD-45348A6553B7}"/>
              </a:ext>
            </a:extLst>
          </p:cNvPr>
          <p:cNvSpPr>
            <a:spLocks xmlns:a="http://schemas.openxmlformats.org/drawingml/2006/main" noGrp="1"/>
          </p:cNvSpPr>
          <p:nvPr/>
        </p:nvSpPr>
        <p:spPr>
          <a:xfrm xmlns:a="http://schemas.openxmlformats.org/drawingml/2006/main">
            <a:off x="20955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9" name="">
            <a:extLst xmlns:a="http://schemas.openxmlformats.org/drawingml/2006/main">
              <a:ext uri="{FF2B5EF4-FFF2-40B4-BE49-F238E27FC236}">
                <a16:creationId xmlns:a16="http://schemas.microsoft.com/office/drawing/2014/main" id="{73966D55-2D58-4D87-8B77-3281060BBFE7}"/>
              </a:ext>
            </a:extLst>
          </p:cNvPr>
          <p:cNvSpPr>
            <a:spLocks xmlns:a="http://schemas.openxmlformats.org/drawingml/2006/main" noGrp="1"/>
          </p:cNvSpPr>
          <p:nvPr/>
        </p:nvSpPr>
        <p:spPr>
          <a:xfrm xmlns:a="http://schemas.openxmlformats.org/drawingml/2006/main">
            <a:off x="27813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10" name="">
            <a:extLst xmlns:a="http://schemas.openxmlformats.org/drawingml/2006/main">
              <a:ext uri="{FF2B5EF4-FFF2-40B4-BE49-F238E27FC236}">
                <a16:creationId xmlns:a16="http://schemas.microsoft.com/office/drawing/2014/main" id="{9ED3ADD1-4DE5-4EB3-BFEB-1A78C7B6AF0A}"/>
              </a:ext>
            </a:extLst>
          </p:cNvPr>
          <p:cNvSpPr>
            <a:spLocks xmlns:a="http://schemas.openxmlformats.org/drawingml/2006/main" noGrp="1"/>
          </p:cNvSpPr>
          <p:nvPr/>
        </p:nvSpPr>
        <p:spPr>
          <a:xfrm xmlns:a="http://schemas.openxmlformats.org/drawingml/2006/main">
            <a:off x="3257550" y="1371600"/>
            <a:ext cx="685800" cy="285750"/>
          </a:xfrm>
          <a:prstGeom xmlns:a="http://schemas.openxmlformats.org/drawingml/2006/main" prst="roundRect">
            <a:avLst>
              <a:gd name="adj" fmla="val 26667"/>
            </a:avLst>
          </a:prstGeom>
          <a:solidFill xmlns:a="http://schemas.openxmlformats.org/drawingml/2006/main">
            <a:srgbClr val="17B26A"/>
          </a:solidFill>
          <a:ln xmlns:a="http://schemas.openxmlformats.org/drawingml/2006/main" w="9525">
            <a:solidFill>
              <a:srgbClr val="17B26A"/>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成熟</a:t>
            </a:r>
          </a:p>
        </p:txBody>
      </p:sp>
      <p:sp>
        <p:nvSpPr>
          <p:cNvPr id="11" name="">
            <a:extLst xmlns:a="http://schemas.openxmlformats.org/drawingml/2006/main">
              <a:ext uri="{FF2B5EF4-FFF2-40B4-BE49-F238E27FC236}">
                <a16:creationId xmlns:a16="http://schemas.microsoft.com/office/drawing/2014/main" id="{BF6D98C3-3ABF-490A-8938-B21CCCC97254}"/>
              </a:ext>
            </a:extLst>
          </p:cNvPr>
          <p:cNvSpPr>
            <a:spLocks xmlns:a="http://schemas.openxmlformats.org/drawingml/2006/main" noGrp="1"/>
          </p:cNvSpPr>
          <p:nvPr/>
        </p:nvSpPr>
        <p:spPr>
          <a:xfrm xmlns:a="http://schemas.openxmlformats.org/drawingml/2006/main">
            <a:off x="723900" y="232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Qualitative physics</a:t>
            </a:r>
          </a:p>
        </p:txBody>
      </p:sp>
      <p:sp>
        <p:nvSpPr>
          <p:cNvPr id="12" name="">
            <a:extLst xmlns:a="http://schemas.openxmlformats.org/drawingml/2006/main">
              <a:ext uri="{FF2B5EF4-FFF2-40B4-BE49-F238E27FC236}">
                <a16:creationId xmlns:a16="http://schemas.microsoft.com/office/drawing/2014/main" id="{DD9F9ED2-3B1C-4A33-B26B-AF88CBBEBA5A}"/>
              </a:ext>
            </a:extLst>
          </p:cNvPr>
          <p:cNvSpPr>
            <a:spLocks xmlns:a="http://schemas.openxmlformats.org/drawingml/2006/main" noGrp="1"/>
          </p:cNvSpPr>
          <p:nvPr/>
        </p:nvSpPr>
        <p:spPr>
          <a:xfrm xmlns:a="http://schemas.openxmlformats.org/drawingml/2006/main">
            <a:off x="4095750" y="23050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Duration ordering and ML &gt; manual appear in relevant sensitivity scenarios</a:t>
            </a:r>
          </a:p>
        </p:txBody>
      </p:sp>
      <p:sp>
        <p:nvSpPr>
          <p:cNvPr id="13" name="">
            <a:extLst xmlns:a="http://schemas.openxmlformats.org/drawingml/2006/main">
              <a:ext uri="{FF2B5EF4-FFF2-40B4-BE49-F238E27FC236}">
                <a16:creationId xmlns:a16="http://schemas.microsoft.com/office/drawing/2014/main" id="{4940573B-A06D-402F-8D58-58761E5B9239}"/>
              </a:ext>
            </a:extLst>
          </p:cNvPr>
          <p:cNvSpPr>
            <a:spLocks xmlns:a="http://schemas.openxmlformats.org/drawingml/2006/main" noGrp="1"/>
          </p:cNvSpPr>
          <p:nvPr/>
        </p:nvSpPr>
        <p:spPr>
          <a:xfrm xmlns:a="http://schemas.openxmlformats.org/drawingml/2006/main">
            <a:off x="723900" y="27241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14" name="">
            <a:extLst xmlns:a="http://schemas.openxmlformats.org/drawingml/2006/main">
              <a:ext uri="{FF2B5EF4-FFF2-40B4-BE49-F238E27FC236}">
                <a16:creationId xmlns:a16="http://schemas.microsoft.com/office/drawing/2014/main" id="{042A2504-AE5E-4AD1-B775-5E616E654B82}"/>
              </a:ext>
            </a:extLst>
          </p:cNvPr>
          <p:cNvSpPr>
            <a:spLocks xmlns:a="http://schemas.openxmlformats.org/drawingml/2006/main" noGrp="1"/>
          </p:cNvSpPr>
          <p:nvPr/>
        </p:nvSpPr>
        <p:spPr>
          <a:xfrm xmlns:a="http://schemas.openxmlformats.org/drawingml/2006/main">
            <a:off x="1409700" y="27241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15" name="">
            <a:extLst xmlns:a="http://schemas.openxmlformats.org/drawingml/2006/main">
              <a:ext uri="{FF2B5EF4-FFF2-40B4-BE49-F238E27FC236}">
                <a16:creationId xmlns:a16="http://schemas.microsoft.com/office/drawing/2014/main" id="{012FD1ED-6ADF-474C-9A58-265728A1DD2E}"/>
              </a:ext>
            </a:extLst>
          </p:cNvPr>
          <p:cNvSpPr>
            <a:spLocks xmlns:a="http://schemas.openxmlformats.org/drawingml/2006/main" noGrp="1"/>
          </p:cNvSpPr>
          <p:nvPr/>
        </p:nvSpPr>
        <p:spPr>
          <a:xfrm xmlns:a="http://schemas.openxmlformats.org/drawingml/2006/main">
            <a:off x="2095500" y="27241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16" name="">
            <a:extLst xmlns:a="http://schemas.openxmlformats.org/drawingml/2006/main">
              <a:ext uri="{FF2B5EF4-FFF2-40B4-BE49-F238E27FC236}">
                <a16:creationId xmlns:a16="http://schemas.microsoft.com/office/drawing/2014/main" id="{217154DA-4DC7-40A4-9D01-EB539AF67949}"/>
              </a:ext>
            </a:extLst>
          </p:cNvPr>
          <p:cNvSpPr>
            <a:spLocks xmlns:a="http://schemas.openxmlformats.org/drawingml/2006/main" noGrp="1"/>
          </p:cNvSpPr>
          <p:nvPr/>
        </p:nvSpPr>
        <p:spPr>
          <a:xfrm xmlns:a="http://schemas.openxmlformats.org/drawingml/2006/main">
            <a:off x="2781300" y="27241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17" name="">
            <a:extLst xmlns:a="http://schemas.openxmlformats.org/drawingml/2006/main">
              <a:ext uri="{FF2B5EF4-FFF2-40B4-BE49-F238E27FC236}">
                <a16:creationId xmlns:a16="http://schemas.microsoft.com/office/drawing/2014/main" id="{E6108988-913E-472A-A745-7E1F23084D02}"/>
              </a:ext>
            </a:extLst>
          </p:cNvPr>
          <p:cNvSpPr>
            <a:spLocks xmlns:a="http://schemas.openxmlformats.org/drawingml/2006/main" noGrp="1"/>
          </p:cNvSpPr>
          <p:nvPr/>
        </p:nvSpPr>
        <p:spPr>
          <a:xfrm xmlns:a="http://schemas.openxmlformats.org/drawingml/2006/main">
            <a:off x="3257550" y="2286000"/>
            <a:ext cx="685800" cy="285750"/>
          </a:xfrm>
          <a:prstGeom xmlns:a="http://schemas.openxmlformats.org/drawingml/2006/main" prst="roundRect">
            <a:avLst>
              <a:gd name="adj" fmla="val 26667"/>
            </a:avLst>
          </a:prstGeom>
          <a:solidFill xmlns:a="http://schemas.openxmlformats.org/drawingml/2006/main">
            <a:srgbClr val="1570EF"/>
          </a:solidFill>
          <a:ln xmlns:a="http://schemas.openxmlformats.org/drawingml/2006/main" w="9525">
            <a:solidFill>
              <a:srgbClr val="1570EF"/>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较强</a:t>
            </a:r>
          </a:p>
        </p:txBody>
      </p:sp>
      <p:sp>
        <p:nvSpPr>
          <p:cNvPr id="18" name="">
            <a:extLst xmlns:a="http://schemas.openxmlformats.org/drawingml/2006/main">
              <a:ext uri="{FF2B5EF4-FFF2-40B4-BE49-F238E27FC236}">
                <a16:creationId xmlns:a16="http://schemas.microsoft.com/office/drawing/2014/main" id="{2E84F7E8-87C7-40A7-8A7E-A973CEE4A2F2}"/>
              </a:ext>
            </a:extLst>
          </p:cNvPr>
          <p:cNvSpPr>
            <a:spLocks xmlns:a="http://schemas.openxmlformats.org/drawingml/2006/main" noGrp="1"/>
          </p:cNvSpPr>
          <p:nvPr/>
        </p:nvSpPr>
        <p:spPr>
          <a:xfrm xmlns:a="http://schemas.openxmlformats.org/drawingml/2006/main">
            <a:off x="723900" y="3238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Relative quantitative agreement</a:t>
            </a:r>
          </a:p>
        </p:txBody>
      </p:sp>
      <p:sp>
        <p:nvSpPr>
          <p:cNvPr id="19" name="">
            <a:extLst xmlns:a="http://schemas.openxmlformats.org/drawingml/2006/main">
              <a:ext uri="{FF2B5EF4-FFF2-40B4-BE49-F238E27FC236}">
                <a16:creationId xmlns:a16="http://schemas.microsoft.com/office/drawing/2014/main" id="{7E2CAE32-EA7F-4E62-A184-E0F4C768B3AC}"/>
              </a:ext>
            </a:extLst>
          </p:cNvPr>
          <p:cNvSpPr>
            <a:spLocks xmlns:a="http://schemas.openxmlformats.org/drawingml/2006/main" noGrp="1"/>
          </p:cNvSpPr>
          <p:nvPr/>
        </p:nvSpPr>
        <p:spPr>
          <a:xfrm xmlns:a="http://schemas.openxmlformats.org/drawingml/2006/main">
            <a:off x="4095750" y="32194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T40 raw endpoint ΔS=+0.231 vs paper +0.250</a:t>
            </a:r>
          </a:p>
        </p:txBody>
      </p:sp>
      <p:sp>
        <p:nvSpPr>
          <p:cNvPr id="20" name="">
            <a:extLst xmlns:a="http://schemas.openxmlformats.org/drawingml/2006/main">
              <a:ext uri="{FF2B5EF4-FFF2-40B4-BE49-F238E27FC236}">
                <a16:creationId xmlns:a16="http://schemas.microsoft.com/office/drawing/2014/main" id="{BEF05238-ABEB-4385-AA0F-2469B1BFA0D0}"/>
              </a:ext>
            </a:extLst>
          </p:cNvPr>
          <p:cNvSpPr>
            <a:spLocks xmlns:a="http://schemas.openxmlformats.org/drawingml/2006/main" noGrp="1"/>
          </p:cNvSpPr>
          <p:nvPr/>
        </p:nvSpPr>
        <p:spPr>
          <a:xfrm xmlns:a="http://schemas.openxmlformats.org/drawingml/2006/main">
            <a:off x="723900" y="36385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21" name="">
            <a:extLst xmlns:a="http://schemas.openxmlformats.org/drawingml/2006/main">
              <a:ext uri="{FF2B5EF4-FFF2-40B4-BE49-F238E27FC236}">
                <a16:creationId xmlns:a16="http://schemas.microsoft.com/office/drawing/2014/main" id="{B1481A05-D856-4510-82AF-0CFFCF5B6DB9}"/>
              </a:ext>
            </a:extLst>
          </p:cNvPr>
          <p:cNvSpPr>
            <a:spLocks xmlns:a="http://schemas.openxmlformats.org/drawingml/2006/main" noGrp="1"/>
          </p:cNvSpPr>
          <p:nvPr/>
        </p:nvSpPr>
        <p:spPr>
          <a:xfrm xmlns:a="http://schemas.openxmlformats.org/drawingml/2006/main">
            <a:off x="1409700" y="36385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22" name="">
            <a:extLst xmlns:a="http://schemas.openxmlformats.org/drawingml/2006/main">
              <a:ext uri="{FF2B5EF4-FFF2-40B4-BE49-F238E27FC236}">
                <a16:creationId xmlns:a16="http://schemas.microsoft.com/office/drawing/2014/main" id="{85EBD28E-C769-434B-B448-B17D50EFE3E4}"/>
              </a:ext>
            </a:extLst>
          </p:cNvPr>
          <p:cNvSpPr>
            <a:spLocks xmlns:a="http://schemas.openxmlformats.org/drawingml/2006/main" noGrp="1"/>
          </p:cNvSpPr>
          <p:nvPr/>
        </p:nvSpPr>
        <p:spPr>
          <a:xfrm xmlns:a="http://schemas.openxmlformats.org/drawingml/2006/main">
            <a:off x="2095500" y="36385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23" name="">
            <a:extLst xmlns:a="http://schemas.openxmlformats.org/drawingml/2006/main">
              <a:ext uri="{FF2B5EF4-FFF2-40B4-BE49-F238E27FC236}">
                <a16:creationId xmlns:a16="http://schemas.microsoft.com/office/drawing/2014/main" id="{5DB85D39-D6D5-4C50-AB69-521F21A85EAE}"/>
              </a:ext>
            </a:extLst>
          </p:cNvPr>
          <p:cNvSpPr>
            <a:spLocks xmlns:a="http://schemas.openxmlformats.org/drawingml/2006/main" noGrp="1"/>
          </p:cNvSpPr>
          <p:nvPr/>
        </p:nvSpPr>
        <p:spPr>
          <a:xfrm xmlns:a="http://schemas.openxmlformats.org/drawingml/2006/main">
            <a:off x="2781300" y="36385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24" name="">
            <a:extLst xmlns:a="http://schemas.openxmlformats.org/drawingml/2006/main">
              <a:ext uri="{FF2B5EF4-FFF2-40B4-BE49-F238E27FC236}">
                <a16:creationId xmlns:a16="http://schemas.microsoft.com/office/drawing/2014/main" id="{A14FEC76-B5F5-45BE-8E4E-95BCCB197B29}"/>
              </a:ext>
            </a:extLst>
          </p:cNvPr>
          <p:cNvSpPr>
            <a:spLocks xmlns:a="http://schemas.openxmlformats.org/drawingml/2006/main" noGrp="1"/>
          </p:cNvSpPr>
          <p:nvPr/>
        </p:nvSpPr>
        <p:spPr>
          <a:xfrm xmlns:a="http://schemas.openxmlformats.org/drawingml/2006/main">
            <a:off x="3257550" y="3200400"/>
            <a:ext cx="685800" cy="285750"/>
          </a:xfrm>
          <a:prstGeom xmlns:a="http://schemas.openxmlformats.org/drawingml/2006/main" prst="roundRect">
            <a:avLst>
              <a:gd name="adj" fmla="val 26667"/>
            </a:avLst>
          </a:prstGeom>
          <a:solidFill xmlns:a="http://schemas.openxmlformats.org/drawingml/2006/main">
            <a:srgbClr val="1570EF"/>
          </a:solidFill>
          <a:ln xmlns:a="http://schemas.openxmlformats.org/drawingml/2006/main" w="9525">
            <a:solidFill>
              <a:srgbClr val="1570EF"/>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中等</a:t>
            </a:r>
          </a:p>
        </p:txBody>
      </p:sp>
      <p:sp>
        <p:nvSpPr>
          <p:cNvPr id="25" name="">
            <a:extLst xmlns:a="http://schemas.openxmlformats.org/drawingml/2006/main">
              <a:ext uri="{FF2B5EF4-FFF2-40B4-BE49-F238E27FC236}">
                <a16:creationId xmlns:a16="http://schemas.microsoft.com/office/drawing/2014/main" id="{723A3C1C-DBD2-45FC-AE6E-B681D8442E60}"/>
              </a:ext>
            </a:extLst>
          </p:cNvPr>
          <p:cNvSpPr>
            <a:spLocks xmlns:a="http://schemas.openxmlformats.org/drawingml/2006/main" noGrp="1"/>
          </p:cNvSpPr>
          <p:nvPr/>
        </p:nvSpPr>
        <p:spPr>
          <a:xfrm xmlns:a="http://schemas.openxmlformats.org/drawingml/2006/main">
            <a:off x="723900" y="41529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Absolute survival / curve shape</a:t>
            </a:r>
          </a:p>
        </p:txBody>
      </p:sp>
      <p:sp>
        <p:nvSpPr>
          <p:cNvPr id="26" name="">
            <a:extLst xmlns:a="http://schemas.openxmlformats.org/drawingml/2006/main">
              <a:ext uri="{FF2B5EF4-FFF2-40B4-BE49-F238E27FC236}">
                <a16:creationId xmlns:a16="http://schemas.microsoft.com/office/drawing/2014/main" id="{984526FF-70E5-4BC2-9E7A-1F8EF48AA059}"/>
              </a:ext>
            </a:extLst>
          </p:cNvPr>
          <p:cNvSpPr>
            <a:spLocks xmlns:a="http://schemas.openxmlformats.org/drawingml/2006/main" noGrp="1"/>
          </p:cNvSpPr>
          <p:nvPr/>
        </p:nvSpPr>
        <p:spPr>
          <a:xfrm xmlns:a="http://schemas.openxmlformats.org/drawingml/2006/main">
            <a:off x="4095750" y="41338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No curve meets ±0.02; 200 µs and late-time slopes remain mismatched</a:t>
            </a:r>
          </a:p>
        </p:txBody>
      </p:sp>
      <p:sp>
        <p:nvSpPr>
          <p:cNvPr id="27" name="">
            <a:extLst xmlns:a="http://schemas.openxmlformats.org/drawingml/2006/main">
              <a:ext uri="{FF2B5EF4-FFF2-40B4-BE49-F238E27FC236}">
                <a16:creationId xmlns:a16="http://schemas.microsoft.com/office/drawing/2014/main" id="{BEE12C99-4212-4027-9EAC-0E6D9C02B10F}"/>
              </a:ext>
            </a:extLst>
          </p:cNvPr>
          <p:cNvSpPr>
            <a:spLocks xmlns:a="http://schemas.openxmlformats.org/drawingml/2006/main" noGrp="1"/>
          </p:cNvSpPr>
          <p:nvPr/>
        </p:nvSpPr>
        <p:spPr>
          <a:xfrm xmlns:a="http://schemas.openxmlformats.org/drawingml/2006/main">
            <a:off x="723900" y="4552950"/>
            <a:ext cx="571500" cy="133350"/>
          </a:xfrm>
          <a:prstGeom xmlns:a="http://schemas.openxmlformats.org/drawingml/2006/main" prst="roundRect">
            <a:avLst>
              <a:gd name="adj" fmla="val 50000"/>
            </a:avLst>
          </a:prstGeom>
          <a:solidFill xmlns:a="http://schemas.openxmlformats.org/drawingml/2006/main">
            <a:srgbClr val="D92D20"/>
          </a:solidFill>
          <a:ln xmlns:a="http://schemas.openxmlformats.org/drawingml/2006/main" w="9525">
            <a:solidFill>
              <a:srgbClr val="D92D20"/>
            </a:solidFill>
          </a:ln>
        </p:spPr>
      </p:sp>
      <p:sp>
        <p:nvSpPr>
          <p:cNvPr id="28" name="">
            <a:extLst xmlns:a="http://schemas.openxmlformats.org/drawingml/2006/main">
              <a:ext uri="{FF2B5EF4-FFF2-40B4-BE49-F238E27FC236}">
                <a16:creationId xmlns:a16="http://schemas.microsoft.com/office/drawing/2014/main" id="{207199C6-11F1-469E-94B2-830D632A0345}"/>
              </a:ext>
            </a:extLst>
          </p:cNvPr>
          <p:cNvSpPr>
            <a:spLocks xmlns:a="http://schemas.openxmlformats.org/drawingml/2006/main" noGrp="1"/>
          </p:cNvSpPr>
          <p:nvPr/>
        </p:nvSpPr>
        <p:spPr>
          <a:xfrm xmlns:a="http://schemas.openxmlformats.org/drawingml/2006/main">
            <a:off x="1409700" y="45529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29" name="">
            <a:extLst xmlns:a="http://schemas.openxmlformats.org/drawingml/2006/main">
              <a:ext uri="{FF2B5EF4-FFF2-40B4-BE49-F238E27FC236}">
                <a16:creationId xmlns:a16="http://schemas.microsoft.com/office/drawing/2014/main" id="{D7B9BE29-1DA7-46F6-8494-5E4DE36777A5}"/>
              </a:ext>
            </a:extLst>
          </p:cNvPr>
          <p:cNvSpPr>
            <a:spLocks xmlns:a="http://schemas.openxmlformats.org/drawingml/2006/main" noGrp="1"/>
          </p:cNvSpPr>
          <p:nvPr/>
        </p:nvSpPr>
        <p:spPr>
          <a:xfrm xmlns:a="http://schemas.openxmlformats.org/drawingml/2006/main">
            <a:off x="2095500" y="45529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0" name="">
            <a:extLst xmlns:a="http://schemas.openxmlformats.org/drawingml/2006/main">
              <a:ext uri="{FF2B5EF4-FFF2-40B4-BE49-F238E27FC236}">
                <a16:creationId xmlns:a16="http://schemas.microsoft.com/office/drawing/2014/main" id="{0A85901D-5E24-4FE3-99CA-23FCF24E90FA}"/>
              </a:ext>
            </a:extLst>
          </p:cNvPr>
          <p:cNvSpPr>
            <a:spLocks xmlns:a="http://schemas.openxmlformats.org/drawingml/2006/main" noGrp="1"/>
          </p:cNvSpPr>
          <p:nvPr/>
        </p:nvSpPr>
        <p:spPr>
          <a:xfrm xmlns:a="http://schemas.openxmlformats.org/drawingml/2006/main">
            <a:off x="2781300" y="45529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1" name="">
            <a:extLst xmlns:a="http://schemas.openxmlformats.org/drawingml/2006/main">
              <a:ext uri="{FF2B5EF4-FFF2-40B4-BE49-F238E27FC236}">
                <a16:creationId xmlns:a16="http://schemas.microsoft.com/office/drawing/2014/main" id="{4779FDEE-E33A-429D-8D41-BE9F5401D049}"/>
              </a:ext>
            </a:extLst>
          </p:cNvPr>
          <p:cNvSpPr>
            <a:spLocks xmlns:a="http://schemas.openxmlformats.org/drawingml/2006/main" noGrp="1"/>
          </p:cNvSpPr>
          <p:nvPr/>
        </p:nvSpPr>
        <p:spPr>
          <a:xfrm xmlns:a="http://schemas.openxmlformats.org/drawingml/2006/main">
            <a:off x="3257550" y="4114800"/>
            <a:ext cx="685800" cy="285750"/>
          </a:xfrm>
          <a:prstGeom xmlns:a="http://schemas.openxmlformats.org/drawingml/2006/main" prst="roundRect">
            <a:avLst>
              <a:gd name="adj" fmla="val 26667"/>
            </a:avLst>
          </a:prstGeom>
          <a:solidFill xmlns:a="http://schemas.openxmlformats.org/drawingml/2006/main">
            <a:srgbClr val="D92D20"/>
          </a:solidFill>
          <a:ln xmlns:a="http://schemas.openxmlformats.org/drawingml/2006/main" w="9525">
            <a:solidFill>
              <a:srgbClr val="D92D20"/>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未闭合</a:t>
            </a:r>
          </a:p>
        </p:txBody>
      </p:sp>
      <p:sp>
        <p:nvSpPr>
          <p:cNvPr id="32" name="">
            <a:extLst xmlns:a="http://schemas.openxmlformats.org/drawingml/2006/main">
              <a:ext uri="{FF2B5EF4-FFF2-40B4-BE49-F238E27FC236}">
                <a16:creationId xmlns:a16="http://schemas.microsoft.com/office/drawing/2014/main" id="{32797629-88BC-4BE6-B990-F915E5B12224}"/>
              </a:ext>
            </a:extLst>
          </p:cNvPr>
          <p:cNvSpPr>
            <a:spLocks xmlns:a="http://schemas.openxmlformats.org/drawingml/2006/main" noGrp="1"/>
          </p:cNvSpPr>
          <p:nvPr/>
        </p:nvSpPr>
        <p:spPr>
          <a:xfrm xmlns:a="http://schemas.openxmlformats.org/drawingml/2006/main">
            <a:off x="723900" y="5067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Experimental mechanism attribution</a:t>
            </a:r>
          </a:p>
        </p:txBody>
      </p:sp>
      <p:sp>
        <p:nvSpPr>
          <p:cNvPr id="33" name="">
            <a:extLst xmlns:a="http://schemas.openxmlformats.org/drawingml/2006/main">
              <a:ext uri="{FF2B5EF4-FFF2-40B4-BE49-F238E27FC236}">
                <a16:creationId xmlns:a16="http://schemas.microsoft.com/office/drawing/2014/main" id="{B0BCD43F-DF0F-4D17-A482-8A09DBE3B2B9}"/>
              </a:ext>
            </a:extLst>
          </p:cNvPr>
          <p:cNvSpPr>
            <a:spLocks xmlns:a="http://schemas.openxmlformats.org/drawingml/2006/main" noGrp="1"/>
          </p:cNvSpPr>
          <p:nvPr/>
        </p:nvSpPr>
        <p:spPr>
          <a:xfrm xmlns:a="http://schemas.openxmlformats.org/drawingml/2006/main">
            <a:off x="4095750" y="50482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Position attribution is model-side; calibration and hardware data remain missing</a:t>
            </a:r>
          </a:p>
        </p:txBody>
      </p:sp>
      <p:sp>
        <p:nvSpPr>
          <p:cNvPr id="34" name="">
            <a:extLst xmlns:a="http://schemas.openxmlformats.org/drawingml/2006/main">
              <a:ext uri="{FF2B5EF4-FFF2-40B4-BE49-F238E27FC236}">
                <a16:creationId xmlns:a16="http://schemas.microsoft.com/office/drawing/2014/main" id="{51C737AC-204D-427C-98BE-07372E240887}"/>
              </a:ext>
            </a:extLst>
          </p:cNvPr>
          <p:cNvSpPr>
            <a:spLocks xmlns:a="http://schemas.openxmlformats.org/drawingml/2006/main" noGrp="1"/>
          </p:cNvSpPr>
          <p:nvPr/>
        </p:nvSpPr>
        <p:spPr>
          <a:xfrm xmlns:a="http://schemas.openxmlformats.org/drawingml/2006/main">
            <a:off x="723900" y="5467350"/>
            <a:ext cx="571500" cy="133350"/>
          </a:xfrm>
          <a:prstGeom xmlns:a="http://schemas.openxmlformats.org/drawingml/2006/main" prst="roundRect">
            <a:avLst>
              <a:gd name="adj" fmla="val 50000"/>
            </a:avLst>
          </a:prstGeom>
          <a:solidFill xmlns:a="http://schemas.openxmlformats.org/drawingml/2006/main">
            <a:srgbClr val="F79009"/>
          </a:solidFill>
          <a:ln xmlns:a="http://schemas.openxmlformats.org/drawingml/2006/main" w="9525">
            <a:solidFill>
              <a:srgbClr val="F79009"/>
            </a:solidFill>
          </a:ln>
        </p:spPr>
      </p:sp>
      <p:sp>
        <p:nvSpPr>
          <p:cNvPr id="35" name="">
            <a:extLst xmlns:a="http://schemas.openxmlformats.org/drawingml/2006/main">
              <a:ext uri="{FF2B5EF4-FFF2-40B4-BE49-F238E27FC236}">
                <a16:creationId xmlns:a16="http://schemas.microsoft.com/office/drawing/2014/main" id="{FFF74661-C7CA-432B-BF41-75B47113A3EE}"/>
              </a:ext>
            </a:extLst>
          </p:cNvPr>
          <p:cNvSpPr>
            <a:spLocks xmlns:a="http://schemas.openxmlformats.org/drawingml/2006/main" noGrp="1"/>
          </p:cNvSpPr>
          <p:nvPr/>
        </p:nvSpPr>
        <p:spPr>
          <a:xfrm xmlns:a="http://schemas.openxmlformats.org/drawingml/2006/main">
            <a:off x="1409700" y="5467350"/>
            <a:ext cx="571500" cy="133350"/>
          </a:xfrm>
          <a:prstGeom xmlns:a="http://schemas.openxmlformats.org/drawingml/2006/main" prst="roundRect">
            <a:avLst>
              <a:gd name="adj" fmla="val 50000"/>
            </a:avLst>
          </a:prstGeom>
          <a:solidFill xmlns:a="http://schemas.openxmlformats.org/drawingml/2006/main">
            <a:srgbClr val="F79009"/>
          </a:solidFill>
          <a:ln xmlns:a="http://schemas.openxmlformats.org/drawingml/2006/main" w="9525">
            <a:solidFill>
              <a:srgbClr val="F79009"/>
            </a:solidFill>
          </a:ln>
        </p:spPr>
      </p:sp>
      <p:sp>
        <p:nvSpPr>
          <p:cNvPr id="36" name="">
            <a:extLst xmlns:a="http://schemas.openxmlformats.org/drawingml/2006/main">
              <a:ext uri="{FF2B5EF4-FFF2-40B4-BE49-F238E27FC236}">
                <a16:creationId xmlns:a16="http://schemas.microsoft.com/office/drawing/2014/main" id="{C9630906-6DC2-4BFF-BB2D-FB050AE71322}"/>
              </a:ext>
            </a:extLst>
          </p:cNvPr>
          <p:cNvSpPr>
            <a:spLocks xmlns:a="http://schemas.openxmlformats.org/drawingml/2006/main" noGrp="1"/>
          </p:cNvSpPr>
          <p:nvPr/>
        </p:nvSpPr>
        <p:spPr>
          <a:xfrm xmlns:a="http://schemas.openxmlformats.org/drawingml/2006/main">
            <a:off x="2095500" y="54673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7" name="">
            <a:extLst xmlns:a="http://schemas.openxmlformats.org/drawingml/2006/main">
              <a:ext uri="{FF2B5EF4-FFF2-40B4-BE49-F238E27FC236}">
                <a16:creationId xmlns:a16="http://schemas.microsoft.com/office/drawing/2014/main" id="{3C726B45-C2EB-485A-B7B5-DDD4DBDFCA44}"/>
              </a:ext>
            </a:extLst>
          </p:cNvPr>
          <p:cNvSpPr>
            <a:spLocks xmlns:a="http://schemas.openxmlformats.org/drawingml/2006/main" noGrp="1"/>
          </p:cNvSpPr>
          <p:nvPr/>
        </p:nvSpPr>
        <p:spPr>
          <a:xfrm xmlns:a="http://schemas.openxmlformats.org/drawingml/2006/main">
            <a:off x="2781300" y="54673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8" name="">
            <a:extLst xmlns:a="http://schemas.openxmlformats.org/drawingml/2006/main">
              <a:ext uri="{FF2B5EF4-FFF2-40B4-BE49-F238E27FC236}">
                <a16:creationId xmlns:a16="http://schemas.microsoft.com/office/drawing/2014/main" id="{08297871-8374-44A7-961A-5ACADC9ED825}"/>
              </a:ext>
            </a:extLst>
          </p:cNvPr>
          <p:cNvSpPr>
            <a:spLocks xmlns:a="http://schemas.openxmlformats.org/drawingml/2006/main" noGrp="1"/>
          </p:cNvSpPr>
          <p:nvPr/>
        </p:nvSpPr>
        <p:spPr>
          <a:xfrm xmlns:a="http://schemas.openxmlformats.org/drawingml/2006/main">
            <a:off x="3257550" y="5029200"/>
            <a:ext cx="685800" cy="285750"/>
          </a:xfrm>
          <a:prstGeom xmlns:a="http://schemas.openxmlformats.org/drawingml/2006/main" prst="roundRect">
            <a:avLst>
              <a:gd name="adj" fmla="val 26667"/>
            </a:avLst>
          </a:prstGeom>
          <a:solidFill xmlns:a="http://schemas.openxmlformats.org/drawingml/2006/main">
            <a:srgbClr val="F79009"/>
          </a:solidFill>
          <a:ln xmlns:a="http://schemas.openxmlformats.org/drawingml/2006/main" w="9525">
            <a:solidFill>
              <a:srgbClr val="F79009"/>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受限</a:t>
            </a:r>
          </a:p>
        </p:txBody>
      </p:sp>
      <p:sp>
        <p:nvSpPr>
          <p:cNvPr id="39" name="">
            <a:extLst xmlns:a="http://schemas.openxmlformats.org/drawingml/2006/main">
              <a:ext uri="{FF2B5EF4-FFF2-40B4-BE49-F238E27FC236}">
                <a16:creationId xmlns:a16="http://schemas.microsoft.com/office/drawing/2014/main" id="{07EDEB20-ACCE-454E-B208-8167222415EA}"/>
              </a:ext>
            </a:extLst>
          </p:cNvPr>
          <p:cNvSpPr>
            <a:spLocks xmlns:a="http://schemas.openxmlformats.org/drawingml/2006/main" noGrp="1"/>
          </p:cNvSpPr>
          <p:nvPr/>
        </p:nvSpPr>
        <p:spPr>
          <a:xfrm xmlns:a="http://schemas.openxmlformats.org/drawingml/2006/main">
            <a:off x="609600" y="5924550"/>
            <a:ext cx="10972800" cy="361950"/>
          </a:xfrm>
          <a:prstGeom xmlns:a="http://schemas.openxmlformats.org/drawingml/2006/main" prst="roundRect">
            <a:avLst>
              <a:gd name="adj" fmla="val 21053"/>
            </a:avLst>
          </a:prstGeom>
          <a:solidFill xmlns:a="http://schemas.openxmlformats.org/drawingml/2006/main">
            <a:srgbClr val="EFF8FF"/>
          </a:solidFill>
          <a:ln xmlns:a="http://schemas.openxmlformats.org/drawingml/2006/main" w="9525">
            <a:solidFill>
              <a:srgbClr val="B2DDFF"/>
            </a:solidFill>
          </a:ln>
        </p:spPr>
      </p:sp>
      <p:sp>
        <p:nvSpPr>
          <p:cNvPr id="40" name="">
            <a:extLst xmlns:a="http://schemas.openxmlformats.org/drawingml/2006/main">
              <a:ext uri="{FF2B5EF4-FFF2-40B4-BE49-F238E27FC236}">
                <a16:creationId xmlns:a16="http://schemas.microsoft.com/office/drawing/2014/main" id="{4D1FC9F6-1EE3-4025-93DE-901E5115306D}"/>
              </a:ext>
            </a:extLst>
          </p:cNvPr>
          <p:cNvSpPr>
            <a:spLocks xmlns:a="http://schemas.openxmlformats.org/drawingml/2006/main" noGrp="1"/>
          </p:cNvSpPr>
          <p:nvPr/>
        </p:nvSpPr>
        <p:spPr>
          <a:xfrm xmlns:a="http://schemas.openxmlformats.org/drawingml/2006/main">
            <a:off x="819150" y="5991225"/>
            <a:ext cx="10553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1570EF"/>
                </a:solidFill>
                <a:latin typeface="Microsoft YaHei"/>
                <a:ea typeface="Microsoft YaHei"/>
                <a:cs typeface="Microsoft YaHei"/>
              </a:defRPr>
            </a:pPr>
            <a:r>
              <a:rPr sz="1050" b="0">
                <a:solidFill>
                  <a:srgbClr val="1570EF"/>
                </a:solidFill>
                <a:latin typeface="Microsoft YaHei"/>
                <a:ea typeface="Microsoft YaHei"/>
                <a:cs typeface="Microsoft YaHei"/>
              </a:rPr>
              <a:t>Broader repository: Level 3 transport, Level 4 roundtrip coherence and Level 5 finite-pulse RB/IRB are implemented, but their simulated fidelities are separate claims.</a:t>
            </a:r>
          </a:p>
        </p:txBody>
      </p:sp>
      <p:sp>
        <p:nvSpPr>
          <p:cNvPr id="41" name="">
            <a:extLst xmlns:a="http://schemas.openxmlformats.org/drawingml/2006/main">
              <a:ext uri="{FF2B5EF4-FFF2-40B4-BE49-F238E27FC236}">
                <a16:creationId xmlns:a16="http://schemas.microsoft.com/office/drawing/2014/main" id="{B9DA9517-F30F-445D-8143-4A5FD76E478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42" name="">
            <a:extLst xmlns:a="http://schemas.openxmlformats.org/drawingml/2006/main">
              <a:ext uri="{FF2B5EF4-FFF2-40B4-BE49-F238E27FC236}">
                <a16:creationId xmlns:a16="http://schemas.microsoft.com/office/drawing/2014/main" id="{FF1D4C21-E765-4E04-9F85-4DD45100C8A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README.md · Level 2C / Level 4 / Level 5 output summaries</a:t>
            </a:r>
          </a:p>
        </p:txBody>
      </p:sp>
      <p:sp>
        <p:nvSpPr>
          <p:cNvPr id="43" name="">
            <a:extLst xmlns:a="http://schemas.openxmlformats.org/drawingml/2006/main">
              <a:ext uri="{FF2B5EF4-FFF2-40B4-BE49-F238E27FC236}">
                <a16:creationId xmlns:a16="http://schemas.microsoft.com/office/drawing/2014/main" id="{3DD9BC90-69E9-46AA-93C0-C292CA61C50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118128874"/>
      </p:ext>
    </p:extLst>
  </p:cSld>
</p:sld>
</file>

<file path=ppt/slides/slide1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4F2E86E-C13A-4ABD-B068-FE04C28E2E2B}"/>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Current takeaway</a:t>
            </a:r>
          </a:p>
        </p:txBody>
      </p:sp>
      <p:sp>
        <p:nvSpPr>
          <p:cNvPr id="2" name="">
            <a:extLst xmlns:a="http://schemas.openxmlformats.org/drawingml/2006/main">
              <a:ext uri="{FF2B5EF4-FFF2-40B4-BE49-F238E27FC236}">
                <a16:creationId xmlns:a16="http://schemas.microsoft.com/office/drawing/2014/main" id="{47E4306F-E771-4956-9D95-4C29CD19A657}"/>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EA6DD9EC-D836-4FCD-A840-F5845324D646}"/>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D1315525-C301-4808-8CED-F3A7C11EB520}"/>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已经做成</a:t>
            </a:r>
          </a:p>
        </p:txBody>
      </p:sp>
      <p:sp>
        <p:nvSpPr>
          <p:cNvPr id="5" name="">
            <a:extLst xmlns:a="http://schemas.openxmlformats.org/drawingml/2006/main">
              <a:ext uri="{FF2B5EF4-FFF2-40B4-BE49-F238E27FC236}">
                <a16:creationId xmlns:a16="http://schemas.microsoft.com/office/drawing/2014/main" id="{7962B1CE-3B81-49AF-8555-EEA8325AD563}"/>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重复转移 Monte Carlo、论文曲线数字化、真实 Fig. 6c 轨迹回放和机制消融形成了可追溯链路。</a:t>
            </a:r>
          </a:p>
        </p:txBody>
      </p:sp>
      <p:sp>
        <p:nvSpPr>
          <p:cNvPr id="6" name="">
            <a:extLst xmlns:a="http://schemas.openxmlformats.org/drawingml/2006/main">
              <a:ext uri="{FF2B5EF4-FFF2-40B4-BE49-F238E27FC236}">
                <a16:creationId xmlns:a16="http://schemas.microsoft.com/office/drawing/2014/main" id="{D324CBE8-ABA1-4A41-9221-A26717F9DE24}"/>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E2BC0FFB-9425-44CE-AC9D-9B63EF00003A}"/>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586A10E5-AD7B-4BBD-97DF-2D7F0F5B2FB2}"/>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相对物理已捕捉</a:t>
            </a:r>
          </a:p>
        </p:txBody>
      </p:sp>
      <p:sp>
        <p:nvSpPr>
          <p:cNvPr id="9" name="">
            <a:extLst xmlns:a="http://schemas.openxmlformats.org/drawingml/2006/main">
              <a:ext uri="{FF2B5EF4-FFF2-40B4-BE49-F238E27FC236}">
                <a16:creationId xmlns:a16="http://schemas.microsoft.com/office/drawing/2014/main" id="{9181B012-C92F-45E7-9BE6-63F7F48C97B6}"/>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T40 raw endpoint 的 ML gain 为 +0.231，论文为 +0.250；模型内增益主要来自 position trajectory。</a:t>
            </a:r>
          </a:p>
        </p:txBody>
      </p:sp>
      <p:sp>
        <p:nvSpPr>
          <p:cNvPr id="10" name="">
            <a:extLst xmlns:a="http://schemas.openxmlformats.org/drawingml/2006/main">
              <a:ext uri="{FF2B5EF4-FFF2-40B4-BE49-F238E27FC236}">
                <a16:creationId xmlns:a16="http://schemas.microsoft.com/office/drawing/2014/main" id="{A73532B2-5CE7-4008-9E10-C7374CBD8E19}"/>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06FDE258-9F28-41F4-82D9-28E7724AC9FE}"/>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F1915D7F-A1F0-4926-89CA-69C487741A23}"/>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绝对定量仍未闭合</a:t>
            </a:r>
          </a:p>
        </p:txBody>
      </p:sp>
      <p:sp>
        <p:nvSpPr>
          <p:cNvPr id="13" name="">
            <a:extLst xmlns:a="http://schemas.openxmlformats.org/drawingml/2006/main">
              <a:ext uri="{FF2B5EF4-FFF2-40B4-BE49-F238E27FC236}">
                <a16:creationId xmlns:a16="http://schemas.microsoft.com/office/drawing/2014/main" id="{B7FFBB78-93A2-4001-8F09-7D8991802644}"/>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当前所有 manual 曲线都未通过 ±0.02；200 µs 和 400/600 µs late-time shape 仍有系统误差。</a:t>
            </a:r>
          </a:p>
        </p:txBody>
      </p:sp>
      <p:sp>
        <p:nvSpPr>
          <p:cNvPr id="14" name="">
            <a:extLst xmlns:a="http://schemas.openxmlformats.org/drawingml/2006/main">
              <a:ext uri="{FF2B5EF4-FFF2-40B4-BE49-F238E27FC236}">
                <a16:creationId xmlns:a16="http://schemas.microsoft.com/office/drawing/2014/main" id="{275BAC5F-593F-422C-A857-CD15DD5C3F44}"/>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4522F29B-2884-4557-821D-F51D1E06EDB4}"/>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8D69D47D-7CBC-4F23-ACAC-C279B86D0E60}"/>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当前可回答的边界</a:t>
            </a:r>
          </a:p>
        </p:txBody>
      </p:sp>
      <p:sp>
        <p:nvSpPr>
          <p:cNvPr id="17" name="">
            <a:extLst xmlns:a="http://schemas.openxmlformats.org/drawingml/2006/main">
              <a:ext uri="{FF2B5EF4-FFF2-40B4-BE49-F238E27FC236}">
                <a16:creationId xmlns:a16="http://schemas.microsoft.com/office/drawing/2014/main" id="{36FC5E6B-037E-41AD-96C5-0089F4BF796C}"/>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模型可以比较轨迹和排除部分简单机制，但不能给出实验级 absolute loss 或把 survival 称为 fidelity。</a:t>
            </a:r>
          </a:p>
        </p:txBody>
      </p:sp>
      <p:sp>
        <p:nvSpPr>
          <p:cNvPr id="18" name="">
            <a:extLst xmlns:a="http://schemas.openxmlformats.org/drawingml/2006/main">
              <a:ext uri="{FF2B5EF4-FFF2-40B4-BE49-F238E27FC236}">
                <a16:creationId xmlns:a16="http://schemas.microsoft.com/office/drawing/2014/main" id="{08CC53EC-030F-417F-8A3E-FD0E8FEDB705}"/>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Further model extensions are intentionally outside the scope of this progress review.</a:t>
            </a:r>
          </a:p>
        </p:txBody>
      </p:sp>
      <p:sp>
        <p:nvSpPr>
          <p:cNvPr id="19" name="">
            <a:extLst xmlns:a="http://schemas.openxmlformats.org/drawingml/2006/main">
              <a:ext uri="{FF2B5EF4-FFF2-40B4-BE49-F238E27FC236}">
                <a16:creationId xmlns:a16="http://schemas.microsoft.com/office/drawing/2014/main" id="{2ABE42CE-C5B5-4119-B803-08B77BC289D7}"/>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14</a:t>
            </a:r>
          </a:p>
        </p:txBody>
      </p:sp>
    </p:spTree>
    <p:extLst>
      <p:ext uri="{BB962C8B-B14F-4D97-AF65-F5344CB8AC3E}">
        <p14:creationId xmlns:p14="http://schemas.microsoft.com/office/powerpoint/2010/main" val="1926078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2026-09-10T03:39:10.2120000Z</dcterms:created>
  <dcterms:modified xsi:type="dcterms:W3CDTF">2026-09-10T03:39:10.2120000Z</dcterms:modified>
</coreProperties>
</file>