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da92f4cc1824d41" /><Relationship Type="http://schemas.openxmlformats.org/officeDocument/2006/relationships/extended-properties" Target="/docProps/app.xml" Id="R3bfe32c3ece44d89" /><Relationship Type="http://schemas.openxmlformats.org/officeDocument/2006/relationships/officeDocument" Target="/ppt/presentation.xml" Id="R9bfd9169655d4991" /></Relationships>
</file>

<file path=ppt/presentation.xml><?xml version="1.0" encoding="utf-8"?>
<p:presentation xmlns:p="http://schemas.openxmlformats.org/presentationml/2006/main">
  <p:sldMasterIdLst>
    <p:sldMasterId xmlns:r="http://schemas.openxmlformats.org/officeDocument/2006/relationships" id="2147483648" r:id="R0e9166b4de2f46ff"/>
  </p:sldMasterIdLst>
  <p:notesMasterIdLst>
    <p:notesMasterId xmlns:r="http://schemas.openxmlformats.org/officeDocument/2006/relationships" r:id="R8617b46cfccb4f20"/>
  </p:notesMasterIdLst>
  <p:sldIdLst>
    <p:sldId xmlns:r="http://schemas.openxmlformats.org/officeDocument/2006/relationships" id="256" r:id="Rf8b1f8e398fa4cd1"/>
    <p:sldId xmlns:r="http://schemas.openxmlformats.org/officeDocument/2006/relationships" id="257" r:id="Rf67cf064f53e4e9c"/>
    <p:sldId xmlns:r="http://schemas.openxmlformats.org/officeDocument/2006/relationships" id="258" r:id="Re99db333d69c40aa"/>
    <p:sldId xmlns:r="http://schemas.openxmlformats.org/officeDocument/2006/relationships" id="259" r:id="R764796ad55e64306"/>
    <p:sldId xmlns:r="http://schemas.openxmlformats.org/officeDocument/2006/relationships" id="260" r:id="R5517bb4989154ddd"/>
    <p:sldId xmlns:r="http://schemas.openxmlformats.org/officeDocument/2006/relationships" id="261" r:id="Rb2c689a088c84fbc"/>
    <p:sldId xmlns:r="http://schemas.openxmlformats.org/officeDocument/2006/relationships" id="262" r:id="R1e98c3143b6f43d1"/>
    <p:sldId xmlns:r="http://schemas.openxmlformats.org/officeDocument/2006/relationships" id="263" r:id="R1e383066e6f848ba"/>
    <p:sldId xmlns:r="http://schemas.openxmlformats.org/officeDocument/2006/relationships" id="264" r:id="Rff539ded3bd54f26"/>
    <p:sldId xmlns:r="http://schemas.openxmlformats.org/officeDocument/2006/relationships" id="265" r:id="R7ead6018b2344e27"/>
    <p:sldId xmlns:r="http://schemas.openxmlformats.org/officeDocument/2006/relationships" id="266" r:id="Rc0347c933caf431a"/>
    <p:sldId xmlns:r="http://schemas.openxmlformats.org/officeDocument/2006/relationships" id="267" r:id="R1e27e5ee3f6d40cf"/>
    <p:sldId xmlns:r="http://schemas.openxmlformats.org/officeDocument/2006/relationships" id="268" r:id="R9e10ab3d6dbe46fc"/>
    <p:sldId xmlns:r="http://schemas.openxmlformats.org/officeDocument/2006/relationships" id="269" r:id="R889bb3f23bce43d0"/>
    <p:sldId xmlns:r="http://schemas.openxmlformats.org/officeDocument/2006/relationships" id="270" r:id="Rfdd9ed36ea464f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e57a070e444b28" /><Relationship Type="http://schemas.openxmlformats.org/officeDocument/2006/relationships/slideMaster" Target="/ppt/slideMasters/slideMaster1.xml" Id="R0e9166b4de2f46ff" /><Relationship Type="http://schemas.openxmlformats.org/officeDocument/2006/relationships/notesMaster" Target="/ppt/notesMasters/notesMaster1.xml" Id="R8617b46cfccb4f20" /><Relationship Type="http://schemas.openxmlformats.org/officeDocument/2006/relationships/presProps" Target="/ppt/presProps.xml" Id="R5b8f75b77f1945e7" /><Relationship Type="http://schemas.openxmlformats.org/officeDocument/2006/relationships/tableStyles" Target="/ppt/tableStyles.xml" Id="R5127af7d8f1a4097" /><Relationship Type="http://schemas.openxmlformats.org/officeDocument/2006/relationships/slide" Target="/ppt/slides/slide1.xml" Id="Rf8b1f8e398fa4cd1" /><Relationship Type="http://schemas.openxmlformats.org/officeDocument/2006/relationships/slide" Target="/ppt/slides/slide2.xml" Id="Rf67cf064f53e4e9c" /><Relationship Type="http://schemas.openxmlformats.org/officeDocument/2006/relationships/slide" Target="/ppt/slides/slide3.xml" Id="Re99db333d69c40aa" /><Relationship Type="http://schemas.openxmlformats.org/officeDocument/2006/relationships/slide" Target="/ppt/slides/slide4.xml" Id="R764796ad55e64306" /><Relationship Type="http://schemas.openxmlformats.org/officeDocument/2006/relationships/slide" Target="/ppt/slides/slide5.xml" Id="R5517bb4989154ddd" /><Relationship Type="http://schemas.openxmlformats.org/officeDocument/2006/relationships/slide" Target="/ppt/slides/slide6.xml" Id="Rb2c689a088c84fbc" /><Relationship Type="http://schemas.openxmlformats.org/officeDocument/2006/relationships/slide" Target="/ppt/slides/slide7.xml" Id="R1e98c3143b6f43d1" /><Relationship Type="http://schemas.openxmlformats.org/officeDocument/2006/relationships/slide" Target="/ppt/slides/slide8.xml" Id="R1e383066e6f848ba" /><Relationship Type="http://schemas.openxmlformats.org/officeDocument/2006/relationships/slide" Target="/ppt/slides/slide9.xml" Id="Rff539ded3bd54f26" /><Relationship Type="http://schemas.openxmlformats.org/officeDocument/2006/relationships/slide" Target="/ppt/slides/slide10.xml" Id="R7ead6018b2344e27" /><Relationship Type="http://schemas.openxmlformats.org/officeDocument/2006/relationships/slide" Target="/ppt/slides/slide11.xml" Id="Rc0347c933caf431a" /><Relationship Type="http://schemas.openxmlformats.org/officeDocument/2006/relationships/slide" Target="/ppt/slides/slide12.xml" Id="R1e27e5ee3f6d40cf" /><Relationship Type="http://schemas.openxmlformats.org/officeDocument/2006/relationships/slide" Target="/ppt/slides/slide13.xml" Id="R9e10ab3d6dbe46fc" /><Relationship Type="http://schemas.openxmlformats.org/officeDocument/2006/relationships/slide" Target="/ppt/slides/slide14.xml" Id="R889bb3f23bce43d0" /><Relationship Type="http://schemas.openxmlformats.org/officeDocument/2006/relationships/slide" Target="/ppt/slides/slide15.xml" Id="Rfdd9ed36ea464f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3bf3f0888646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083c66925c4333" /><Relationship Type="http://schemas.openxmlformats.org/officeDocument/2006/relationships/notesMaster" Target="/ppt/notesMasters/notesMaster1.xml" Id="R44ee11a34dbe49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190a123e124a03" /><Relationship Type="http://schemas.openxmlformats.org/officeDocument/2006/relationships/notesMaster" Target="/ppt/notesMasters/notesMaster1.xml" Id="Rb8695f5ddd614c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b86a7261234320" /><Relationship Type="http://schemas.openxmlformats.org/officeDocument/2006/relationships/notesMaster" Target="/ppt/notesMasters/notesMaster1.xml" Id="Rea4b5bcd0e2844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024c9ea3b74bca" /><Relationship Type="http://schemas.openxmlformats.org/officeDocument/2006/relationships/notesMaster" Target="/ppt/notesMasters/notesMaster1.xml" Id="R061ce683c28942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c9f2547ccf49d0" /><Relationship Type="http://schemas.openxmlformats.org/officeDocument/2006/relationships/notesMaster" Target="/ppt/notesMasters/notesMaster1.xml" Id="R30276d55f5204e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43b4edc4ef4c7c" /><Relationship Type="http://schemas.openxmlformats.org/officeDocument/2006/relationships/notesMaster" Target="/ppt/notesMasters/notesMaster1.xml" Id="Re29e55fa1ba24c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468c73f7d44a5a" /><Relationship Type="http://schemas.openxmlformats.org/officeDocument/2006/relationships/notesMaster" Target="/ppt/notesMasters/notesMaster1.xml" Id="R14c7cbe5aa844d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5829b2982347b3" /><Relationship Type="http://schemas.openxmlformats.org/officeDocument/2006/relationships/notesMaster" Target="/ppt/notesMasters/notesMaster1.xml" Id="R05c8b6abf7e540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4d01d66c4f40f2" /><Relationship Type="http://schemas.openxmlformats.org/officeDocument/2006/relationships/notesMaster" Target="/ppt/notesMasters/notesMaster1.xml" Id="R2b0c6d6d278d49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e7587ddf694100" /><Relationship Type="http://schemas.openxmlformats.org/officeDocument/2006/relationships/notesMaster" Target="/ppt/notesMasters/notesMaster1.xml" Id="R4cc0ac347e0842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9d9acbdfec4435" /><Relationship Type="http://schemas.openxmlformats.org/officeDocument/2006/relationships/notesMaster" Target="/ppt/notesMasters/notesMaster1.xml" Id="R66bb792799d240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327c5bb9a4427e" /><Relationship Type="http://schemas.openxmlformats.org/officeDocument/2006/relationships/notesMaster" Target="/ppt/notesMasters/notesMaster1.xml" Id="R828f2b22eb8446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f246ba824c4671" /><Relationship Type="http://schemas.openxmlformats.org/officeDocument/2006/relationships/notesMaster" Target="/ppt/notesMasters/notesMaster1.xml" Id="R2925966c59894a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a5750d9f4745af" /><Relationship Type="http://schemas.openxmlformats.org/officeDocument/2006/relationships/notesMaster" Target="/ppt/notesMasters/notesMaster1.xml" Id="R940f693a71b74b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c2b50f58a84e7d" /><Relationship Type="http://schemas.openxmlformats.org/officeDocument/2006/relationships/notesMaster" Target="/ppt/notesMasters/notesMaster1.xml" Id="Rfa037af68cd44f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simulation/level2_joint_transfer/src/level2c_pickup_survival/survival_engine.py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simulation/level2_joint_transfer/src/level2c_pickup_survival/survival_engine_2d.py</a:t>
            </a:r>
          </a:p>
          <a:p xmlns:a="http://schemas.openxmlformats.org/drawingml/2006/main">
            <a:r>
              <a:t>- simulation/level2_joint_transfer/src/level3_3d_transport_lensing/gaussian_3d.py</a:t>
            </a:r>
          </a:p>
          <a:p xmlns:a="http://schemas.openxmlformats.org/drawingml/2006/main">
            <a:r>
              <a:t>- simulation/level2_joint_transfer/README.md</a:t>
            </a:r>
          </a:p>
          <a:p xmlns:a="http://schemas.openxmlformats.org/drawingml/2006/main">
            <a:r>
              <a:t/>
            </a:r>
          </a:p>
          <a:p xmlns:a="http://schemas.openxmlformats.org/drawingml/2006/main">
            <a:r>
              <a:t>Method note: Repository search found no AWG, bandwidth, low-pass, or transfer-function implementation in src/configs.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simulation/level2_joint_transfer/reference/fig6d_parameters.md</a:t>
            </a:r>
          </a:p>
          <a:p xmlns:a="http://schemas.openxmlformats.org/drawingml/2006/main">
            <a:r>
              <a:t>- simulation/level2_joint_transfer/outputs/level2c_pickup_survival/scan_stage1/fig6c_ml_trajectory_digitized.json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simulation/level2_joint_transfer/configs/scan_stage1/scan_T40.yaml</a:t>
            </a:r>
          </a:p>
          <a:p xmlns:a="http://schemas.openxmlformats.org/drawingml/2006/main">
            <a:r>
              <a:t>- simulation/level2_joint_transfer/configs/scan_stage1/scan_R3e7.yaml</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T40 and R3e-7 are sensitivity assumptions, not measured or accepted calibration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Fig. 6c replay 0.7578125. Paper endpoints are 0.4135 and 0.6633. Per-transfer loss shown on the slide is the endpoint-equivalent quantity 1-S(60)^(1/60), not the paper's three-parameter fitted 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were calculated from PickupSequentialWaveform's documented 48% quadratic depth ramp and constant-jerk position equations at the same time nodes. No simulation result was altered.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simulation/level2_joint_transfer/outputs/level2c_pickup_survival/scan_stage1/*/survival_scan_results.csv</a:t>
            </a:r>
          </a:p>
          <a:p xmlns:a="http://schemas.openxmlformats.org/drawingml/2006/main">
            <a:r>
              <a:t>- simulation/level2_joint_transfer/outputs/level2c_pickup_survival/scan_stage1/summary_stage1.md</a:t>
            </a:r>
          </a:p>
          <a:p xmlns:a="http://schemas.openxmlformats.org/drawingml/2006/main">
            <a:r>
              <a:t>- simulation/level2_joint_transfer/configs/scan_stage1/*.yaml</a:t>
            </a:r>
          </a:p>
          <a:p xmlns:a="http://schemas.openxmlformats.org/drawingml/2006/main">
            <a:r>
              <a:t/>
            </a:r>
          </a:p>
          <a:p xmlns:a="http://schemas.openxmlformats.org/drawingml/2006/main">
            <a:r>
              <a:t>Method note: All MC endpoint values on this slide come from the n=60 row of the raw stage-1 scan CSVs. The paper row comes from fig6d_survival_digitized.csv.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6 and 12.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6. This slide does not use the ML curve because the current Fig. 6c replay full curve was not committed.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simulation/level2_joint_transfer/src/level2c_pickup_survival/survival_engine_2d.py</a:t>
            </a:r>
          </a:p>
          <a:p xmlns:a="http://schemas.openxmlformats.org/drawingml/2006/main">
            <a:r>
              <a:t>- simulation/level2_joint_transfer/src/level3_3d_transport_lensing/</a:t>
            </a:r>
          </a:p>
          <a:p xmlns:a="http://schemas.openxmlformats.org/drawingml/2006/main">
            <a:r>
              <a:t>- simulation/level2_joint_transfer/src/level5_finite_pulse_irb/</a:t>
            </a:r>
          </a:p>
          <a:p xmlns:a="http://schemas.openxmlformats.org/drawingml/2006/main">
            <a:r>
              <a:t>- simulation/level2_joint_transfer/configs/level2c_pickup_survival.yaml</a:t>
            </a:r>
          </a:p>
          <a:p xmlns:a="http://schemas.openxmlformats.org/drawingml/2006/main">
            <a:r>
              <a:t>- simulation/level2_joint_transfer/outputs/level2c_pickup_survival/scan_stage1/summary_stage1.md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a:t>
            </a:r>
          </a:p>
          <a:p xmlns:a="http://schemas.openxmlformats.org/drawingml/2006/main">
            <a:r>
              <a:t>- simulation/level2_joint_transfer/outputs/level2c_pickup_survival/demo/summary.md</a:t>
            </a:r>
          </a:p>
          <a:p xmlns:a="http://schemas.openxmlformats.org/drawingml/2006/main">
            <a:r>
              <a:t>- simulation/level2_joint_transfer/outputs/level4_end_to_end_roundtrip/demo/summary.md</a:t>
            </a:r>
          </a:p>
          <a:p xmlns:a="http://schemas.openxmlformats.org/drawingml/2006/main">
            <a:r>
              <a:t>- simulation/level2_joint_transfer/outputs/level5_finite_pulse_irb/demo/summary.md</a:t>
            </a:r>
          </a:p>
          <a:p xmlns:a="http://schemas.openxmlformats.org/drawingml/2006/main">
            <a:r>
              <a:t/>
            </a:r>
          </a:p>
          <a:p xmlns:a="http://schemas.openxmlformats.org/drawingml/2006/main">
            <a:r>
              <a:t>Method note: Maturity labels are a synthesis of the evidence shown in slides 6-13, not a formal external readiness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203a00b8a648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29bc9aad0643a6" /><Relationship Type="http://schemas.openxmlformats.org/officeDocument/2006/relationships/slideLayout" Target="/ppt/slideLayouts/slideLayout1.xml" Id="R347232c59bd749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7232c59bd749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156fad8be64bb1" /><Relationship Type="http://schemas.openxmlformats.org/officeDocument/2006/relationships/notesSlide" Target="/ppt/notesSlides/notesSlide1.xml" Id="R23cad9475de94f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4d78dce8e54c00" /><Relationship Type="http://schemas.openxmlformats.org/officeDocument/2006/relationships/notesSlide" Target="/ppt/notesSlides/notesSlide2.xml" Id="Rdc470dd48f8049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141c03ec7349f0" /><Relationship Type="http://schemas.openxmlformats.org/officeDocument/2006/relationships/notesSlide" Target="/ppt/notesSlides/notesSlide3.xml" Id="Rfd73f14397b048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8c5b09afba4772" /><Relationship Type="http://schemas.openxmlformats.org/officeDocument/2006/relationships/image" Target="/ppt/media/image.png" Id="R5faf98f59617493a" /><Relationship Type="http://schemas.openxmlformats.org/officeDocument/2006/relationships/notesSlide" Target="/ppt/notesSlides/notesSlide4.xml" Id="R2b7403be949547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e75809f9c84d53" /><Relationship Type="http://schemas.openxmlformats.org/officeDocument/2006/relationships/notesSlide" Target="/ppt/notesSlides/notesSlide5.xml" Id="R528491e368e345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dfc134494f4b1e" /><Relationship Type="http://schemas.openxmlformats.org/officeDocument/2006/relationships/chart" Target="/ppt/slides/charts/chart1.xml" Id="R30187ff6be444207" /><Relationship Type="http://schemas.openxmlformats.org/officeDocument/2006/relationships/chart" Target="/ppt/slides/charts/chart2.xml" Id="R4d8de9d2a6794e31" /><Relationship Type="http://schemas.openxmlformats.org/officeDocument/2006/relationships/notesSlide" Target="/ppt/notesSlides/notesSlide6.xml" Id="R09521238ba1047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c57536a17f4c65" /><Relationship Type="http://schemas.openxmlformats.org/officeDocument/2006/relationships/chart" Target="/ppt/slides/charts/chart3.xml" Id="Rd6d5d75a6f214de0" /><Relationship Type="http://schemas.openxmlformats.org/officeDocument/2006/relationships/notesSlide" Target="/ppt/notesSlides/notesSlide7.xml" Id="R0508283a77c041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8a77616eea477a" /><Relationship Type="http://schemas.openxmlformats.org/officeDocument/2006/relationships/chart" Target="/ppt/slides/charts/chart4.xml" Id="R932464c425ff48fa" /><Relationship Type="http://schemas.openxmlformats.org/officeDocument/2006/relationships/chart" Target="/ppt/slides/charts/chart5.xml" Id="Re16ec4ca8d9147b4" /><Relationship Type="http://schemas.openxmlformats.org/officeDocument/2006/relationships/notesSlide" Target="/ppt/notesSlides/notesSlide8.xml" Id="R863f5c399c6f49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7fb9e444f64096" /><Relationship Type="http://schemas.openxmlformats.org/officeDocument/2006/relationships/chart" Target="/ppt/slides/charts/chart6.xml" Id="R536dd9ab488d4de2" /><Relationship Type="http://schemas.openxmlformats.org/officeDocument/2006/relationships/notesSlide" Target="/ppt/notesSlides/notesSlide9.xml" Id="R464ed77db68d4c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80b0bbcbb1499f" /><Relationship Type="http://schemas.openxmlformats.org/officeDocument/2006/relationships/notesSlide" Target="/ppt/notesSlides/notesSlide10.xml" Id="R94e61a9e8f5949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c67abbc5ba4b65" /><Relationship Type="http://schemas.openxmlformats.org/officeDocument/2006/relationships/notesSlide" Target="/ppt/notesSlides/notesSlide11.xml" Id="R870a5d369190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ad4acc63e3406b" /><Relationship Type="http://schemas.openxmlformats.org/officeDocument/2006/relationships/chart" Target="/ppt/slides/charts/chart7.xml" Id="Rf29ea19f1c33477b" /><Relationship Type="http://schemas.openxmlformats.org/officeDocument/2006/relationships/chart" Target="/ppt/slides/charts/chart8.xml" Id="R95f1a14a3b1642f6" /><Relationship Type="http://schemas.openxmlformats.org/officeDocument/2006/relationships/notesSlide" Target="/ppt/notesSlides/notesSlide12.xml" Id="Recc887bcad354a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66fdf5a8264001" /><Relationship Type="http://schemas.openxmlformats.org/officeDocument/2006/relationships/notesSlide" Target="/ppt/notesSlides/notesSlide13.xml" Id="Re0c89f2af2764f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52ca6d17314a6d" /><Relationship Type="http://schemas.openxmlformats.org/officeDocument/2006/relationships/notesSlide" Target="/ppt/notesSlides/notesSlide14.xml" Id="Ra9601000d7f444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38313a070e4ff1" /><Relationship Type="http://schemas.openxmlformats.org/officeDocument/2006/relationships/notesSlide" Target="/ppt/notesSlides/notesSlide15.xml" Id="R453ce1a5ced64be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CD1D16-A8EC-4422-8B0D-9026B2136C60}"/>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73ED20EC-0453-4F59-8A9C-15BACC4E71A9}"/>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A1214BAE-A964-4FC9-A7B0-FEC4492EFB21}"/>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F7886929-CFB0-482E-88DD-193B489B365B}"/>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Current Progress and Comparison with Experiment</a:t>
            </a:r>
          </a:p>
        </p:txBody>
      </p:sp>
      <p:sp>
        <p:nvSpPr>
          <p:cNvPr id="5" name="">
            <a:extLst xmlns:a="http://schemas.openxmlformats.org/drawingml/2006/main">
              <a:ext uri="{FF2B5EF4-FFF2-40B4-BE49-F238E27FC236}">
                <a16:creationId xmlns:a16="http://schemas.microsoft.com/office/drawing/2014/main" id="{8733CBB8-85AF-4446-BE1F-FD01CABEC6A3}"/>
              </a:ext>
            </a:extLst>
          </p:cNvPr>
          <p:cNvSpPr>
            <a:spLocks xmlns:a="http://schemas.openxmlformats.org/drawingml/2006/main" noGrp="1"/>
          </p:cNvSpPr>
          <p:nvPr/>
        </p:nvSpPr>
        <p:spPr>
          <a:xfrm xmlns:a="http://schemas.openxmlformats.org/drawingml/2006/main">
            <a:off x="723900" y="377190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阶段性复盘 · 以当前仓库代码和实际产物为依据</a:t>
            </a:r>
          </a:p>
        </p:txBody>
      </p:sp>
      <p:sp>
        <p:nvSpPr>
          <p:cNvPr id="6" name="">
            <a:extLst xmlns:a="http://schemas.openxmlformats.org/drawingml/2006/main">
              <a:ext uri="{FF2B5EF4-FFF2-40B4-BE49-F238E27FC236}">
                <a16:creationId xmlns:a16="http://schemas.microsoft.com/office/drawing/2014/main" id="{857A23A4-A434-41BA-B1D4-D1582FB0A30A}"/>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3FF7DCE5-FBE4-4ABC-9E7D-370064649895}"/>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2026-09-08  ·  gpt_level4_5  ·  commit 5e55bb0</a:t>
            </a:r>
          </a:p>
        </p:txBody>
      </p:sp>
      <p:sp>
        <p:nvSpPr>
          <p:cNvPr id="8" name="">
            <a:extLst xmlns:a="http://schemas.openxmlformats.org/drawingml/2006/main">
              <a:ext uri="{FF2B5EF4-FFF2-40B4-BE49-F238E27FC236}">
                <a16:creationId xmlns:a16="http://schemas.microsoft.com/office/drawing/2014/main" id="{569E7621-E37F-462D-A202-5C855B27AD69}"/>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Fig. 6c / 6d</a:t>
            </a:r>
          </a:p>
        </p:txBody>
      </p:sp>
    </p:spTree>
    <p:extLst>
      <p:ext uri="{BB962C8B-B14F-4D97-AF65-F5344CB8AC3E}">
        <p14:creationId xmlns:p14="http://schemas.microsoft.com/office/powerpoint/2010/main" val="1689451049"/>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8DFB937-DDB0-4D48-839F-E16ED3F9D324}"/>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复现目标是重复单程转移的原子存活率</a:t>
            </a:r>
          </a:p>
        </p:txBody>
      </p:sp>
      <p:sp>
        <p:nvSpPr>
          <p:cNvPr id="2" name="">
            <a:extLst xmlns:a="http://schemas.openxmlformats.org/drawingml/2006/main">
              <a:ext uri="{FF2B5EF4-FFF2-40B4-BE49-F238E27FC236}">
                <a16:creationId xmlns:a16="http://schemas.microsoft.com/office/drawing/2014/main" id="{1AFCCD47-AAF0-4BF8-850B-0D3DE690C99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AA39E650-9100-4F2C-ACEC-4EA0181C65F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论文 Fig. 6d 顶图；不要与 IRB fidelity 混用</a:t>
            </a:r>
          </a:p>
        </p:txBody>
      </p:sp>
      <p:sp>
        <p:nvSpPr>
          <p:cNvPr id="4" name="">
            <a:extLst xmlns:a="http://schemas.openxmlformats.org/drawingml/2006/main">
              <a:ext uri="{FF2B5EF4-FFF2-40B4-BE49-F238E27FC236}">
                <a16:creationId xmlns:a16="http://schemas.microsoft.com/office/drawing/2014/main" id="{0530A054-83E4-413F-BF5D-3B7F02110C25}"/>
              </a:ext>
            </a:extLst>
          </p:cNvPr>
          <p:cNvSpPr>
            <a:spLocks xmlns:a="http://schemas.openxmlformats.org/drawingml/2006/main" noGrp="1"/>
          </p:cNvSpPr>
          <p:nvPr/>
        </p:nvSpPr>
        <p:spPr>
          <a:xfrm xmlns:a="http://schemas.openxmlformats.org/drawingml/2006/main">
            <a:off x="609600" y="1257300"/>
            <a:ext cx="50482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EAECF0"/>
            </a:solidFill>
          </a:ln>
        </p:spPr>
      </p:sp>
      <p:sp>
        <p:nvSpPr>
          <p:cNvPr id="5" name="">
            <a:extLst xmlns:a="http://schemas.openxmlformats.org/drawingml/2006/main">
              <a:ext uri="{FF2B5EF4-FFF2-40B4-BE49-F238E27FC236}">
                <a16:creationId xmlns:a16="http://schemas.microsoft.com/office/drawing/2014/main" id="{66DE61F0-C48F-4665-8E68-FE5D87AA8DFB}"/>
              </a:ext>
            </a:extLst>
          </p:cNvPr>
          <p:cNvSpPr>
            <a:spLocks xmlns:a="http://schemas.openxmlformats.org/drawingml/2006/main" noGrp="1"/>
          </p:cNvSpPr>
          <p:nvPr/>
        </p:nvSpPr>
        <p:spPr>
          <a:xfrm xmlns:a="http://schemas.openxmlformats.org/drawingml/2006/main">
            <a:off x="876300" y="14859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实验序列</a:t>
            </a:r>
          </a:p>
        </p:txBody>
      </p:sp>
      <p:sp>
        <p:nvSpPr>
          <p:cNvPr id="6" name="">
            <a:extLst xmlns:a="http://schemas.openxmlformats.org/drawingml/2006/main">
              <a:ext uri="{FF2B5EF4-FFF2-40B4-BE49-F238E27FC236}">
                <a16:creationId xmlns:a16="http://schemas.microsoft.com/office/drawing/2014/main" id="{CFFA59A9-16CA-49C5-8832-492BFABD40E4}"/>
              </a:ext>
            </a:extLst>
          </p:cNvPr>
          <p:cNvSpPr>
            <a:spLocks xmlns:a="http://schemas.openxmlformats.org/drawingml/2006/main" noGrp="1"/>
          </p:cNvSpPr>
          <p:nvPr/>
        </p:nvSpPr>
        <p:spPr>
          <a:xfrm xmlns:a="http://schemas.openxmlformats.org/drawingml/2006/main">
            <a:off x="914400" y="201930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7" name="">
            <a:extLst xmlns:a="http://schemas.openxmlformats.org/drawingml/2006/main">
              <a:ext uri="{FF2B5EF4-FFF2-40B4-BE49-F238E27FC236}">
                <a16:creationId xmlns:a16="http://schemas.microsoft.com/office/drawing/2014/main" id="{B73D2FC4-616E-4319-B4E3-7BE273F8EC53}"/>
              </a:ext>
            </a:extLst>
          </p:cNvPr>
          <p:cNvSpPr>
            <a:spLocks xmlns:a="http://schemas.openxmlformats.org/drawingml/2006/main" noGrp="1"/>
          </p:cNvSpPr>
          <p:nvPr/>
        </p:nvSpPr>
        <p:spPr>
          <a:xfrm xmlns:a="http://schemas.openxmlformats.org/drawingml/2006/main">
            <a:off x="914400" y="20669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1</a:t>
            </a:r>
          </a:p>
        </p:txBody>
      </p:sp>
      <p:sp>
        <p:nvSpPr>
          <p:cNvPr id="8" name="">
            <a:extLst xmlns:a="http://schemas.openxmlformats.org/drawingml/2006/main">
              <a:ext uri="{FF2B5EF4-FFF2-40B4-BE49-F238E27FC236}">
                <a16:creationId xmlns:a16="http://schemas.microsoft.com/office/drawing/2014/main" id="{1F0CE63F-2614-43E3-83A6-C816A9C7B389}"/>
              </a:ext>
            </a:extLst>
          </p:cNvPr>
          <p:cNvSpPr>
            <a:spLocks xmlns:a="http://schemas.openxmlformats.org/drawingml/2006/main" noGrp="1"/>
          </p:cNvSpPr>
          <p:nvPr/>
        </p:nvSpPr>
        <p:spPr>
          <a:xfrm xmlns:a="http://schemas.openxmlformats.org/drawingml/2006/main">
            <a:off x="1504950" y="204787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SLM 中制备初态</a:t>
            </a:r>
          </a:p>
        </p:txBody>
      </p:sp>
      <p:sp>
        <p:nvSpPr>
          <p:cNvPr id="9" name="">
            <a:extLst xmlns:a="http://schemas.openxmlformats.org/drawingml/2006/main">
              <a:ext uri="{FF2B5EF4-FFF2-40B4-BE49-F238E27FC236}">
                <a16:creationId xmlns:a16="http://schemas.microsoft.com/office/drawing/2014/main" id="{2EFF6331-54FC-476D-A40D-775855F3B1F0}"/>
              </a:ext>
            </a:extLst>
          </p:cNvPr>
          <p:cNvSpPr>
            <a:spLocks xmlns:a="http://schemas.openxmlformats.org/drawingml/2006/main" noGrp="1"/>
          </p:cNvSpPr>
          <p:nvPr/>
        </p:nvSpPr>
        <p:spPr>
          <a:xfrm xmlns:a="http://schemas.openxmlformats.org/drawingml/2006/main">
            <a:off x="914400" y="268605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10" name="">
            <a:extLst xmlns:a="http://schemas.openxmlformats.org/drawingml/2006/main">
              <a:ext uri="{FF2B5EF4-FFF2-40B4-BE49-F238E27FC236}">
                <a16:creationId xmlns:a16="http://schemas.microsoft.com/office/drawing/2014/main" id="{88CEBE01-B2CE-4267-8ADC-842DD3D23AF0}"/>
              </a:ext>
            </a:extLst>
          </p:cNvPr>
          <p:cNvSpPr>
            <a:spLocks xmlns:a="http://schemas.openxmlformats.org/drawingml/2006/main" noGrp="1"/>
          </p:cNvSpPr>
          <p:nvPr/>
        </p:nvSpPr>
        <p:spPr>
          <a:xfrm xmlns:a="http://schemas.openxmlformats.org/drawingml/2006/main">
            <a:off x="914400" y="27336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2</a:t>
            </a:r>
          </a:p>
        </p:txBody>
      </p:sp>
      <p:sp>
        <p:nvSpPr>
          <p:cNvPr id="11" name="">
            <a:extLst xmlns:a="http://schemas.openxmlformats.org/drawingml/2006/main">
              <a:ext uri="{FF2B5EF4-FFF2-40B4-BE49-F238E27FC236}">
                <a16:creationId xmlns:a16="http://schemas.microsoft.com/office/drawing/2014/main" id="{D78AFA4B-584B-4C76-B0C2-7F020305DDC4}"/>
              </a:ext>
            </a:extLst>
          </p:cNvPr>
          <p:cNvSpPr>
            <a:spLocks xmlns:a="http://schemas.openxmlformats.org/drawingml/2006/main" noGrp="1"/>
          </p:cNvSpPr>
          <p:nvPr/>
        </p:nvSpPr>
        <p:spPr>
          <a:xfrm xmlns:a="http://schemas.openxmlformats.org/drawingml/2006/main">
            <a:off x="1504950" y="27146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AOD pick-up 并分离 2.4 µm</a:t>
            </a:r>
          </a:p>
        </p:txBody>
      </p:sp>
      <p:sp>
        <p:nvSpPr>
          <p:cNvPr id="12" name="">
            <a:extLst xmlns:a="http://schemas.openxmlformats.org/drawingml/2006/main">
              <a:ext uri="{FF2B5EF4-FFF2-40B4-BE49-F238E27FC236}">
                <a16:creationId xmlns:a16="http://schemas.microsoft.com/office/drawing/2014/main" id="{2AD8525E-CCAB-4E18-B392-AF5EC6AC573B}"/>
              </a:ext>
            </a:extLst>
          </p:cNvPr>
          <p:cNvSpPr>
            <a:spLocks xmlns:a="http://schemas.openxmlformats.org/drawingml/2006/main" noGrp="1"/>
          </p:cNvSpPr>
          <p:nvPr/>
        </p:nvSpPr>
        <p:spPr>
          <a:xfrm xmlns:a="http://schemas.openxmlformats.org/drawingml/2006/main">
            <a:off x="914400" y="335280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13" name="">
            <a:extLst xmlns:a="http://schemas.openxmlformats.org/drawingml/2006/main">
              <a:ext uri="{FF2B5EF4-FFF2-40B4-BE49-F238E27FC236}">
                <a16:creationId xmlns:a16="http://schemas.microsoft.com/office/drawing/2014/main" id="{F976BF22-734E-49C0-BDFF-46DCF4481763}"/>
              </a:ext>
            </a:extLst>
          </p:cNvPr>
          <p:cNvSpPr>
            <a:spLocks xmlns:a="http://schemas.openxmlformats.org/drawingml/2006/main" noGrp="1"/>
          </p:cNvSpPr>
          <p:nvPr/>
        </p:nvSpPr>
        <p:spPr>
          <a:xfrm xmlns:a="http://schemas.openxmlformats.org/drawingml/2006/main">
            <a:off x="914400" y="34004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3</a:t>
            </a:r>
          </a:p>
        </p:txBody>
      </p:sp>
      <p:sp>
        <p:nvSpPr>
          <p:cNvPr id="14" name="">
            <a:extLst xmlns:a="http://schemas.openxmlformats.org/drawingml/2006/main">
              <a:ext uri="{FF2B5EF4-FFF2-40B4-BE49-F238E27FC236}">
                <a16:creationId xmlns:a16="http://schemas.microsoft.com/office/drawing/2014/main" id="{5FF274B2-08EA-498F-8382-CC78173E919E}"/>
              </a:ext>
            </a:extLst>
          </p:cNvPr>
          <p:cNvSpPr>
            <a:spLocks xmlns:a="http://schemas.openxmlformats.org/drawingml/2006/main" noGrp="1"/>
          </p:cNvSpPr>
          <p:nvPr/>
        </p:nvSpPr>
        <p:spPr>
          <a:xfrm xmlns:a="http://schemas.openxmlformats.org/drawingml/2006/main">
            <a:off x="1504950" y="338137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关闭 SLM，等待 100 µs</a:t>
            </a:r>
          </a:p>
        </p:txBody>
      </p:sp>
      <p:sp>
        <p:nvSpPr>
          <p:cNvPr id="15" name="">
            <a:extLst xmlns:a="http://schemas.openxmlformats.org/drawingml/2006/main">
              <a:ext uri="{FF2B5EF4-FFF2-40B4-BE49-F238E27FC236}">
                <a16:creationId xmlns:a16="http://schemas.microsoft.com/office/drawing/2014/main" id="{84321FC9-6E93-4C2E-90B5-2FB384D4542D}"/>
              </a:ext>
            </a:extLst>
          </p:cNvPr>
          <p:cNvSpPr>
            <a:spLocks xmlns:a="http://schemas.openxmlformats.org/drawingml/2006/main" noGrp="1"/>
          </p:cNvSpPr>
          <p:nvPr/>
        </p:nvSpPr>
        <p:spPr>
          <a:xfrm xmlns:a="http://schemas.openxmlformats.org/drawingml/2006/main">
            <a:off x="914400" y="4019550"/>
            <a:ext cx="400050" cy="400050"/>
          </a:xfrm>
          <a:prstGeom xmlns:a="http://schemas.openxmlformats.org/drawingml/2006/main" prst="ellipse">
            <a:avLst/>
          </a:prstGeom>
          <a:solidFill xmlns:a="http://schemas.openxmlformats.org/drawingml/2006/main">
            <a:srgbClr val="1570EF"/>
          </a:solidFill>
          <a:ln xmlns:a="http://schemas.openxmlformats.org/drawingml/2006/main" w="9525">
            <a:solidFill>
              <a:srgbClr val="1570EF"/>
            </a:solidFill>
          </a:ln>
        </p:spPr>
      </p:sp>
      <p:sp>
        <p:nvSpPr>
          <p:cNvPr id="16" name="">
            <a:extLst xmlns:a="http://schemas.openxmlformats.org/drawingml/2006/main">
              <a:ext uri="{FF2B5EF4-FFF2-40B4-BE49-F238E27FC236}">
                <a16:creationId xmlns:a16="http://schemas.microsoft.com/office/drawing/2014/main" id="{EA73888A-F85A-49E0-AB14-D0AD48DC5A01}"/>
              </a:ext>
            </a:extLst>
          </p:cNvPr>
          <p:cNvSpPr>
            <a:spLocks xmlns:a="http://schemas.openxmlformats.org/drawingml/2006/main" noGrp="1"/>
          </p:cNvSpPr>
          <p:nvPr/>
        </p:nvSpPr>
        <p:spPr>
          <a:xfrm xmlns:a="http://schemas.openxmlformats.org/drawingml/2006/main">
            <a:off x="914400" y="4067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4</a:t>
            </a:r>
          </a:p>
        </p:txBody>
      </p:sp>
      <p:sp>
        <p:nvSpPr>
          <p:cNvPr id="17" name="">
            <a:extLst xmlns:a="http://schemas.openxmlformats.org/drawingml/2006/main">
              <a:ext uri="{FF2B5EF4-FFF2-40B4-BE49-F238E27FC236}">
                <a16:creationId xmlns:a16="http://schemas.microsoft.com/office/drawing/2014/main" id="{09BB559A-B394-4F38-AE09-4D7B5B7A78C8}"/>
              </a:ext>
            </a:extLst>
          </p:cNvPr>
          <p:cNvSpPr>
            <a:spLocks xmlns:a="http://schemas.openxmlformats.org/drawingml/2006/main" noGrp="1"/>
          </p:cNvSpPr>
          <p:nvPr/>
        </p:nvSpPr>
        <p:spPr>
          <a:xfrm xmlns:a="http://schemas.openxmlformats.org/drawingml/2006/main">
            <a:off x="1504950" y="40481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时间反演 drop-off</a:t>
            </a:r>
          </a:p>
        </p:txBody>
      </p:sp>
      <p:sp>
        <p:nvSpPr>
          <p:cNvPr id="18" name="">
            <a:extLst xmlns:a="http://schemas.openxmlformats.org/drawingml/2006/main">
              <a:ext uri="{FF2B5EF4-FFF2-40B4-BE49-F238E27FC236}">
                <a16:creationId xmlns:a16="http://schemas.microsoft.com/office/drawing/2014/main" id="{732B087B-BF98-4710-99A1-18ED119E850E}"/>
              </a:ext>
            </a:extLst>
          </p:cNvPr>
          <p:cNvSpPr>
            <a:spLocks xmlns:a="http://schemas.openxmlformats.org/drawingml/2006/main" noGrp="1"/>
          </p:cNvSpPr>
          <p:nvPr/>
        </p:nvSpPr>
        <p:spPr>
          <a:xfrm xmlns:a="http://schemas.openxmlformats.org/drawingml/2006/main">
            <a:off x="914400" y="4686300"/>
            <a:ext cx="400050" cy="400050"/>
          </a:xfrm>
          <a:prstGeom xmlns:a="http://schemas.openxmlformats.org/drawingml/2006/main" prst="ellipse">
            <a:avLst/>
          </a:prstGeom>
          <a:solidFill xmlns:a="http://schemas.openxmlformats.org/drawingml/2006/main">
            <a:srgbClr val="0E9384"/>
          </a:solidFill>
          <a:ln xmlns:a="http://schemas.openxmlformats.org/drawingml/2006/main" w="9525">
            <a:solidFill>
              <a:srgbClr val="0E9384"/>
            </a:solidFill>
          </a:ln>
        </p:spPr>
      </p:sp>
      <p:sp>
        <p:nvSpPr>
          <p:cNvPr id="19" name="">
            <a:extLst xmlns:a="http://schemas.openxmlformats.org/drawingml/2006/main">
              <a:ext uri="{FF2B5EF4-FFF2-40B4-BE49-F238E27FC236}">
                <a16:creationId xmlns:a16="http://schemas.microsoft.com/office/drawing/2014/main" id="{CC427321-69F7-4BEF-9CD7-34B4AAF03A58}"/>
              </a:ext>
            </a:extLst>
          </p:cNvPr>
          <p:cNvSpPr>
            <a:spLocks xmlns:a="http://schemas.openxmlformats.org/drawingml/2006/main" noGrp="1"/>
          </p:cNvSpPr>
          <p:nvPr/>
        </p:nvSpPr>
        <p:spPr>
          <a:xfrm xmlns:a="http://schemas.openxmlformats.org/drawingml/2006/main">
            <a:off x="914400" y="47339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5</a:t>
            </a:r>
          </a:p>
        </p:txBody>
      </p:sp>
      <p:sp>
        <p:nvSpPr>
          <p:cNvPr id="20" name="">
            <a:extLst xmlns:a="http://schemas.openxmlformats.org/drawingml/2006/main">
              <a:ext uri="{FF2B5EF4-FFF2-40B4-BE49-F238E27FC236}">
                <a16:creationId xmlns:a16="http://schemas.microsoft.com/office/drawing/2014/main" id="{092E6FAD-7E06-461A-A43C-16E19FCE1F71}"/>
              </a:ext>
            </a:extLst>
          </p:cNvPr>
          <p:cNvSpPr>
            <a:spLocks xmlns:a="http://schemas.openxmlformats.org/drawingml/2006/main" noGrp="1"/>
          </p:cNvSpPr>
          <p:nvPr/>
        </p:nvSpPr>
        <p:spPr>
          <a:xfrm xmlns:a="http://schemas.openxmlformats.org/drawingml/2006/main">
            <a:off x="1504950" y="471487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344054"/>
                </a:solidFill>
                <a:latin typeface="Microsoft YaHei"/>
                <a:ea typeface="Microsoft YaHei"/>
                <a:cs typeface="Microsoft YaHei"/>
              </a:defRPr>
            </a:pPr>
            <a:r>
              <a:rPr sz="1425" b="0">
                <a:solidFill>
                  <a:srgbClr val="344054"/>
                </a:solidFill>
                <a:latin typeface="Microsoft YaHei"/>
                <a:ea typeface="Microsoft YaHei"/>
                <a:cs typeface="Microsoft YaHei"/>
              </a:rPr>
              <a:t>重复至 60 次 one-way transfer</a:t>
            </a:r>
          </a:p>
        </p:txBody>
      </p:sp>
      <p:sp>
        <p:nvSpPr>
          <p:cNvPr id="21" name="">
            <a:extLst xmlns:a="http://schemas.openxmlformats.org/drawingml/2006/main">
              <a:ext uri="{FF2B5EF4-FFF2-40B4-BE49-F238E27FC236}">
                <a16:creationId xmlns:a16="http://schemas.microsoft.com/office/drawing/2014/main" id="{6885D38A-8998-4E17-A3B0-E1E817BCC3E9}"/>
              </a:ext>
            </a:extLst>
          </p:cNvPr>
          <p:cNvSpPr>
            <a:spLocks xmlns:a="http://schemas.openxmlformats.org/drawingml/2006/main" noGrp="1"/>
          </p:cNvSpPr>
          <p:nvPr/>
        </p:nvSpPr>
        <p:spPr>
          <a:xfrm xmlns:a="http://schemas.openxmlformats.org/drawingml/2006/main">
            <a:off x="6000750" y="1257300"/>
            <a:ext cx="55816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EAECF0"/>
            </a:solidFill>
          </a:ln>
        </p:spPr>
      </p:sp>
      <p:sp>
        <p:nvSpPr>
          <p:cNvPr id="22" name="">
            <a:extLst xmlns:a="http://schemas.openxmlformats.org/drawingml/2006/main">
              <a:ext uri="{FF2B5EF4-FFF2-40B4-BE49-F238E27FC236}">
                <a16:creationId xmlns:a16="http://schemas.microsoft.com/office/drawing/2014/main" id="{2871CE83-4889-4E43-AA75-DC7A8F6700BF}"/>
              </a:ext>
            </a:extLst>
          </p:cNvPr>
          <p:cNvSpPr>
            <a:spLocks xmlns:a="http://schemas.openxmlformats.org/drawingml/2006/main" noGrp="1"/>
          </p:cNvSpPr>
          <p:nvPr/>
        </p:nvSpPr>
        <p:spPr>
          <a:xfrm xmlns:a="http://schemas.openxmlformats.org/drawingml/2006/main">
            <a:off x="6286500" y="14859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四条对标曲线</a:t>
            </a:r>
          </a:p>
        </p:txBody>
      </p:sp>
      <p:graphicFrame>
        <p:nvGraphicFramePr>
          <p:cNvPr id="51" name=""/>
          <p:cNvGraphicFramePr/>
          <p:nvPr/>
        </p:nvGraphicFramePr>
        <p:xfrm>
          <a:off xmlns:a="http://schemas.openxmlformats.org/drawingml/2006/main" x="6286500" y="2000250"/>
          <a:ext xmlns:a="http://schemas.openxmlformats.org/drawingml/2006/main" cx="4972050" cy="2324100"/>
        </p:xfrm>
        <a:graphic xmlns:a="http://schemas.openxmlformats.org/drawingml/2006/main">
          <a:graphicData uri="http://schemas.openxmlformats.org/drawingml/2006/table">
            <a:tbl>
              <a:tblPr/>
              <a:tblGrid>
                <a:gridCol w="1657350"/>
                <a:gridCol w="1193292"/>
                <a:gridCol w="2121408"/>
              </a:tblGrid>
              <a:tr h="464820">
                <a:tc>
                  <a:txBody>
                    <a:bodyPr>
                      <a:noAutofit/>
                    </a:bodyPr>
                    <a:lstStyle/>
                    <a:p>
                      <a:pPr algn="l"/>
                      <a:r>
                        <a:rPr sz="112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Paper observable</a:t>
                      </a:r>
                    </a:p>
                  </a:txBody>
                  <a:tcPr marL="91440" marR="91440" marT="45720" marB="45720" anchor="ctr">
                    <a:solidFill>
                      <a:srgbClr val="102A43"/>
                    </a:solidFill>
                  </a:tcPr>
                </a:tc>
              </a:tr>
              <a:tr h="464820">
                <a:tc>
                  <a:txBody>
                    <a:bodyPr>
                      <a:noAutofit/>
                    </a:bodyPr>
                    <a:lstStyle/>
                    <a:p>
                      <a:pPr algn="l"/>
                      <a:r>
                        <a:rPr sz="1125" b="0">
                          <a:solidFill>
                            <a:srgbClr val="344054"/>
                          </a:solidFill>
                          <a:latin typeface="Microsoft YaHei"/>
                          <a:ea typeface="Microsoft YaHei"/>
                          <a:cs typeface="Microsoft YaHei"/>
                        </a:rPr>
                        <a:t>Manual</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200 µs</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S(n), n≤31 可见</a:t>
                      </a:r>
                    </a:p>
                  </a:txBody>
                  <a:tcPr marL="91440" marR="91440" marT="45720" marB="45720" anchor="ctr">
                    <a:solidFill>
                      <a:srgbClr val="FFFFFF"/>
                    </a:solidFill>
                  </a:tcPr>
                </a:tc>
              </a:tr>
              <a:tr h="464820">
                <a:tc>
                  <a:txBody>
                    <a:bodyPr>
                      <a:noAutofit/>
                    </a:bodyPr>
                    <a:lstStyle/>
                    <a:p>
                      <a:pPr algn="l"/>
                      <a:r>
                        <a:rPr sz="1125" b="0">
                          <a:solidFill>
                            <a:srgbClr val="344054"/>
                          </a:solidFill>
                          <a:latin typeface="Microsoft YaHei"/>
                          <a:ea typeface="Microsoft YaHei"/>
                          <a:cs typeface="Microsoft YaHei"/>
                        </a:rPr>
                        <a:t>Manual</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400 µs</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S(n), n≤60</a:t>
                      </a:r>
                    </a:p>
                  </a:txBody>
                  <a:tcPr marL="91440" marR="91440" marT="45720" marB="45720" anchor="ctr">
                    <a:solidFill>
                      <a:srgbClr val="F8FAFC"/>
                    </a:solidFill>
                  </a:tcPr>
                </a:tc>
              </a:tr>
              <a:tr h="464820">
                <a:tc>
                  <a:txBody>
                    <a:bodyPr>
                      <a:noAutofit/>
                    </a:bodyPr>
                    <a:lstStyle/>
                    <a:p>
                      <a:pPr algn="l"/>
                      <a:r>
                        <a:rPr sz="1125" b="0">
                          <a:solidFill>
                            <a:srgbClr val="344054"/>
                          </a:solidFill>
                          <a:latin typeface="Microsoft YaHei"/>
                          <a:ea typeface="Microsoft YaHei"/>
                          <a:cs typeface="Microsoft YaHei"/>
                        </a:rPr>
                        <a:t>Manual</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600 µs</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S(n), n≤60</a:t>
                      </a:r>
                    </a:p>
                  </a:txBody>
                  <a:tcPr marL="91440" marR="91440" marT="45720" marB="45720" anchor="ctr">
                    <a:solidFill>
                      <a:srgbClr val="FFFFFF"/>
                    </a:solidFill>
                  </a:tcPr>
                </a:tc>
              </a:tr>
              <a:tr h="464820">
                <a:tc>
                  <a:txBody>
                    <a:bodyPr>
                      <a:noAutofit/>
                    </a:bodyPr>
                    <a:lstStyle/>
                    <a:p>
                      <a:pPr algn="l"/>
                      <a:r>
                        <a:rPr sz="1125" b="0">
                          <a:solidFill>
                            <a:srgbClr val="344054"/>
                          </a:solidFill>
                          <a:latin typeface="Microsoft YaHei"/>
                          <a:ea typeface="Microsoft YaHei"/>
                          <a:cs typeface="Microsoft YaHei"/>
                        </a:rPr>
                        <a:t>ML optimized</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400 µs</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S(n), n≤60</a:t>
                      </a:r>
                    </a:p>
                  </a:txBody>
                  <a:tcPr marL="91440" marR="91440" marT="45720" marB="45720" anchor="ctr">
                    <a:solidFill>
                      <a:srgbClr val="F8FAFC"/>
                    </a:solidFill>
                  </a:tcPr>
                </a:tc>
              </a:tr>
            </a:tbl>
          </a:graphicData>
        </a:graphic>
      </p:graphicFrame>
      <p:sp>
        <p:nvSpPr>
          <p:cNvPr id="24" name="">
            <a:extLst xmlns:a="http://schemas.openxmlformats.org/drawingml/2006/main">
              <a:ext uri="{FF2B5EF4-FFF2-40B4-BE49-F238E27FC236}">
                <a16:creationId xmlns:a16="http://schemas.microsoft.com/office/drawing/2014/main" id="{E1B2DC9E-418A-45E9-BE7D-096E86040EAC}"/>
              </a:ext>
            </a:extLst>
          </p:cNvPr>
          <p:cNvSpPr>
            <a:spLocks xmlns:a="http://schemas.openxmlformats.org/drawingml/2006/main" noGrp="1"/>
          </p:cNvSpPr>
          <p:nvPr/>
        </p:nvSpPr>
        <p:spPr>
          <a:xfrm xmlns:a="http://schemas.openxmlformats.org/drawingml/2006/main">
            <a:off x="6286500" y="45910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核心口径</a:t>
            </a:r>
          </a:p>
        </p:txBody>
      </p:sp>
      <p:sp>
        <p:nvSpPr>
          <p:cNvPr id="25" name="">
            <a:extLst xmlns:a="http://schemas.openxmlformats.org/drawingml/2006/main">
              <a:ext uri="{FF2B5EF4-FFF2-40B4-BE49-F238E27FC236}">
                <a16:creationId xmlns:a16="http://schemas.microsoft.com/office/drawing/2014/main" id="{9E7931D8-8113-4148-B3BF-3796CB33B17C}"/>
              </a:ext>
            </a:extLst>
          </p:cNvPr>
          <p:cNvSpPr>
            <a:spLocks xmlns:a="http://schemas.openxmlformats.org/drawingml/2006/main" noGrp="1"/>
          </p:cNvSpPr>
          <p:nvPr/>
        </p:nvSpPr>
        <p:spPr>
          <a:xfrm xmlns:a="http://schemas.openxmlformats.org/drawingml/2006/main">
            <a:off x="6286500" y="4933950"/>
            <a:ext cx="4933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28600" indent="-114300" algn="l">
              <a:spcAft>
                <a:spcPts val="500"/>
              </a:spcAft>
              <a:buChar char="•"/>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Survival 表示转移后仍满足束缚判据的原子比例。</a:t>
            </a:r>
          </a:p>
          <a:p xmlns:a="http://schemas.openxmlformats.org/drawingml/2006/main">
            <a:pPr marL="228600" indent="-114300" algn="l">
              <a:spcAft>
                <a:spcPts val="500"/>
              </a:spcAft>
              <a:buChar char="•"/>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一次往返包含两次 one-way transfer。</a:t>
            </a:r>
          </a:p>
          <a:p xmlns:a="http://schemas.openxmlformats.org/drawingml/2006/main">
            <a:pPr marL="228600" indent="-114300" algn="l">
              <a:spcAft>
                <a:spcPts val="500"/>
              </a:spcAft>
              <a:buChar char="•"/>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论文 99.81(3)% 属于 IRB，未作为 Level 2C 验收指标。</a:t>
            </a:r>
          </a:p>
        </p:txBody>
      </p:sp>
      <p:sp>
        <p:nvSpPr>
          <p:cNvPr id="26" name="">
            <a:extLst xmlns:a="http://schemas.openxmlformats.org/drawingml/2006/main">
              <a:ext uri="{FF2B5EF4-FFF2-40B4-BE49-F238E27FC236}">
                <a16:creationId xmlns:a16="http://schemas.microsoft.com/office/drawing/2014/main" id="{18FE94E6-8EAB-4C0D-ACBF-D24E3B2BC83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27" name="">
            <a:extLst xmlns:a="http://schemas.openxmlformats.org/drawingml/2006/main">
              <a:ext uri="{FF2B5EF4-FFF2-40B4-BE49-F238E27FC236}">
                <a16:creationId xmlns:a16="http://schemas.microsoft.com/office/drawing/2014/main" id="{71BBBCDE-B0E3-4BDD-BF58-A90BFE9B983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reference/fig6d_parameters.md</a:t>
            </a:r>
          </a:p>
        </p:txBody>
      </p:sp>
      <p:sp>
        <p:nvSpPr>
          <p:cNvPr id="28" name="">
            <a:extLst xmlns:a="http://schemas.openxmlformats.org/drawingml/2006/main">
              <a:ext uri="{FF2B5EF4-FFF2-40B4-BE49-F238E27FC236}">
                <a16:creationId xmlns:a16="http://schemas.microsoft.com/office/drawing/2014/main" id="{E9B46BD6-E3E7-446E-A1CD-3B13FBD8C9D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5030148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A31DA2B-A9AC-49F4-A825-16A55015F745}"/>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Level 2C 已形成可追溯的重复转移 Monte Carlo 链路</a:t>
            </a:r>
          </a:p>
        </p:txBody>
      </p:sp>
      <p:sp>
        <p:nvSpPr>
          <p:cNvPr id="2" name="">
            <a:extLst xmlns:a="http://schemas.openxmlformats.org/drawingml/2006/main">
              <a:ext uri="{FF2B5EF4-FFF2-40B4-BE49-F238E27FC236}">
                <a16:creationId xmlns:a16="http://schemas.microsoft.com/office/drawing/2014/main" id="{7D496D3F-B12E-4DC8-A56F-0D4CA12446F3}"/>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BB71828A-E661-4144-A2A2-F1E005B9AFCC}"/>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更高维与量子模块已在仓库中实现，但不属于本页 Fig. 6d 主比较链路</a:t>
            </a:r>
          </a:p>
        </p:txBody>
      </p:sp>
      <p:sp>
        <p:nvSpPr>
          <p:cNvPr id="4" name="">
            <a:extLst xmlns:a="http://schemas.openxmlformats.org/drawingml/2006/main">
              <a:ext uri="{FF2B5EF4-FFF2-40B4-BE49-F238E27FC236}">
                <a16:creationId xmlns:a16="http://schemas.microsoft.com/office/drawing/2014/main" id="{9BC3C4CF-056F-4F34-B8AF-B453C4E5064A}"/>
              </a:ext>
            </a:extLst>
          </p:cNvPr>
          <p:cNvSpPr>
            <a:spLocks xmlns:a="http://schemas.openxmlformats.org/drawingml/2006/main" noGrp="1"/>
          </p:cNvSpPr>
          <p:nvPr/>
        </p:nvSpPr>
        <p:spPr>
          <a:xfrm xmlns:a="http://schemas.openxmlformats.org/drawingml/2006/main">
            <a:off x="5238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5" name="">
            <a:extLst xmlns:a="http://schemas.openxmlformats.org/drawingml/2006/main">
              <a:ext uri="{FF2B5EF4-FFF2-40B4-BE49-F238E27FC236}">
                <a16:creationId xmlns:a16="http://schemas.microsoft.com/office/drawing/2014/main" id="{7FF25924-BE1B-41D1-863C-7E8B9C4AD794}"/>
              </a:ext>
            </a:extLst>
          </p:cNvPr>
          <p:cNvSpPr>
            <a:spLocks xmlns:a="http://schemas.openxmlformats.org/drawingml/2006/main" noGrp="1"/>
          </p:cNvSpPr>
          <p:nvPr/>
        </p:nvSpPr>
        <p:spPr>
          <a:xfrm xmlns:a="http://schemas.openxmlformats.org/drawingml/2006/main">
            <a:off x="6953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初始系综</a:t>
            </a:r>
          </a:p>
        </p:txBody>
      </p:sp>
      <p:sp>
        <p:nvSpPr>
          <p:cNvPr id="6" name="">
            <a:extLst xmlns:a="http://schemas.openxmlformats.org/drawingml/2006/main">
              <a:ext uri="{FF2B5EF4-FFF2-40B4-BE49-F238E27FC236}">
                <a16:creationId xmlns:a16="http://schemas.microsoft.com/office/drawing/2014/main" id="{28681A3E-1FC0-4EA4-9764-BEBA60F67331}"/>
              </a:ext>
            </a:extLst>
          </p:cNvPr>
          <p:cNvSpPr>
            <a:spLocks xmlns:a="http://schemas.openxmlformats.org/drawingml/2006/main" noGrp="1"/>
          </p:cNvSpPr>
          <p:nvPr/>
        </p:nvSpPr>
        <p:spPr>
          <a:xfrm xmlns:a="http://schemas.openxmlformats.org/drawingml/2006/main">
            <a:off x="6572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SLM 谐振近似</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+束缚拒绝采样</a:t>
            </a:r>
          </a:p>
        </p:txBody>
      </p:sp>
      <p:sp>
        <p:nvSpPr>
          <p:cNvPr id="7" name="">
            <a:extLst xmlns:a="http://schemas.openxmlformats.org/drawingml/2006/main">
              <a:ext uri="{FF2B5EF4-FFF2-40B4-BE49-F238E27FC236}">
                <a16:creationId xmlns:a16="http://schemas.microsoft.com/office/drawing/2014/main" id="{EB7300B9-469F-4B6D-8239-EFDC32447D61}"/>
              </a:ext>
            </a:extLst>
          </p:cNvPr>
          <p:cNvSpPr>
            <a:spLocks xmlns:a="http://schemas.openxmlformats.org/drawingml/2006/main" noGrp="1"/>
          </p:cNvSpPr>
          <p:nvPr/>
        </p:nvSpPr>
        <p:spPr>
          <a:xfrm xmlns:a="http://schemas.openxmlformats.org/drawingml/2006/main" rot="0">
            <a:off x="25241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8" name="">
            <a:extLst xmlns:a="http://schemas.openxmlformats.org/drawingml/2006/main">
              <a:ext uri="{FF2B5EF4-FFF2-40B4-BE49-F238E27FC236}">
                <a16:creationId xmlns:a16="http://schemas.microsoft.com/office/drawing/2014/main" id="{C5E72DEE-0066-44A5-B995-095F3EA7A12B}"/>
              </a:ext>
            </a:extLst>
          </p:cNvPr>
          <p:cNvSpPr>
            <a:spLocks xmlns:a="http://schemas.openxmlformats.org/drawingml/2006/main" noGrp="1"/>
          </p:cNvSpPr>
          <p:nvPr/>
        </p:nvSpPr>
        <p:spPr>
          <a:xfrm xmlns:a="http://schemas.openxmlformats.org/drawingml/2006/main">
            <a:off x="28479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9" name="">
            <a:extLst xmlns:a="http://schemas.openxmlformats.org/drawingml/2006/main">
              <a:ext uri="{FF2B5EF4-FFF2-40B4-BE49-F238E27FC236}">
                <a16:creationId xmlns:a16="http://schemas.microsoft.com/office/drawing/2014/main" id="{DF3C262E-35B3-45F1-BF3C-E0C34489E2FC}"/>
              </a:ext>
            </a:extLst>
          </p:cNvPr>
          <p:cNvSpPr>
            <a:spLocks xmlns:a="http://schemas.openxmlformats.org/drawingml/2006/main" noGrp="1"/>
          </p:cNvSpPr>
          <p:nvPr/>
        </p:nvSpPr>
        <p:spPr>
          <a:xfrm xmlns:a="http://schemas.openxmlformats.org/drawingml/2006/main">
            <a:off x="30194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时变势</a:t>
            </a:r>
          </a:p>
        </p:txBody>
      </p:sp>
      <p:sp>
        <p:nvSpPr>
          <p:cNvPr id="10" name="">
            <a:extLst xmlns:a="http://schemas.openxmlformats.org/drawingml/2006/main">
              <a:ext uri="{FF2B5EF4-FFF2-40B4-BE49-F238E27FC236}">
                <a16:creationId xmlns:a16="http://schemas.microsoft.com/office/drawing/2014/main" id="{29D08768-EA42-4EC9-A035-E26907EFB652}"/>
              </a:ext>
            </a:extLst>
          </p:cNvPr>
          <p:cNvSpPr>
            <a:spLocks xmlns:a="http://schemas.openxmlformats.org/drawingml/2006/main" noGrp="1"/>
          </p:cNvSpPr>
          <p:nvPr/>
        </p:nvSpPr>
        <p:spPr>
          <a:xfrm xmlns:a="http://schemas.openxmlformats.org/drawingml/2006/main">
            <a:off x="29813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SLM + AOD</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+Gaussian potential</a:t>
            </a:r>
          </a:p>
        </p:txBody>
      </p:sp>
      <p:sp>
        <p:nvSpPr>
          <p:cNvPr id="11" name="">
            <a:extLst xmlns:a="http://schemas.openxmlformats.org/drawingml/2006/main">
              <a:ext uri="{FF2B5EF4-FFF2-40B4-BE49-F238E27FC236}">
                <a16:creationId xmlns:a16="http://schemas.microsoft.com/office/drawing/2014/main" id="{EE5CAC2C-826D-4597-87D8-3CEBCF989162}"/>
              </a:ext>
            </a:extLst>
          </p:cNvPr>
          <p:cNvSpPr>
            <a:spLocks xmlns:a="http://schemas.openxmlformats.org/drawingml/2006/main" noGrp="1"/>
          </p:cNvSpPr>
          <p:nvPr/>
        </p:nvSpPr>
        <p:spPr>
          <a:xfrm xmlns:a="http://schemas.openxmlformats.org/drawingml/2006/main" rot="0">
            <a:off x="48482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12" name="">
            <a:extLst xmlns:a="http://schemas.openxmlformats.org/drawingml/2006/main">
              <a:ext uri="{FF2B5EF4-FFF2-40B4-BE49-F238E27FC236}">
                <a16:creationId xmlns:a16="http://schemas.microsoft.com/office/drawing/2014/main" id="{83F03F0C-0B01-4E0D-B46B-4CD279105AF0}"/>
              </a:ext>
            </a:extLst>
          </p:cNvPr>
          <p:cNvSpPr>
            <a:spLocks xmlns:a="http://schemas.openxmlformats.org/drawingml/2006/main" noGrp="1"/>
          </p:cNvSpPr>
          <p:nvPr/>
        </p:nvSpPr>
        <p:spPr>
          <a:xfrm xmlns:a="http://schemas.openxmlformats.org/drawingml/2006/main">
            <a:off x="51720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C1ACFF23-D885-4A48-AC0D-2E1D3997BA6E}"/>
              </a:ext>
            </a:extLst>
          </p:cNvPr>
          <p:cNvSpPr>
            <a:spLocks xmlns:a="http://schemas.openxmlformats.org/drawingml/2006/main" noGrp="1"/>
          </p:cNvSpPr>
          <p:nvPr/>
        </p:nvSpPr>
        <p:spPr>
          <a:xfrm xmlns:a="http://schemas.openxmlformats.org/drawingml/2006/main">
            <a:off x="53435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轨迹传播</a:t>
            </a:r>
          </a:p>
        </p:txBody>
      </p:sp>
      <p:sp>
        <p:nvSpPr>
          <p:cNvPr id="14" name="">
            <a:extLst xmlns:a="http://schemas.openxmlformats.org/drawingml/2006/main">
              <a:ext uri="{FF2B5EF4-FFF2-40B4-BE49-F238E27FC236}">
                <a16:creationId xmlns:a16="http://schemas.microsoft.com/office/drawing/2014/main" id="{E77074D5-C132-499F-BA42-FAE92702CBEB}"/>
              </a:ext>
            </a:extLst>
          </p:cNvPr>
          <p:cNvSpPr>
            <a:spLocks xmlns:a="http://schemas.openxmlformats.org/drawingml/2006/main" noGrp="1"/>
          </p:cNvSpPr>
          <p:nvPr/>
        </p:nvSpPr>
        <p:spPr>
          <a:xfrm xmlns:a="http://schemas.openxmlformats.org/drawingml/2006/main">
            <a:off x="53054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velocity-Verlet</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+dt = 0.05 µs</a:t>
            </a:r>
          </a:p>
        </p:txBody>
      </p:sp>
      <p:sp>
        <p:nvSpPr>
          <p:cNvPr id="15" name="">
            <a:extLst xmlns:a="http://schemas.openxmlformats.org/drawingml/2006/main">
              <a:ext uri="{FF2B5EF4-FFF2-40B4-BE49-F238E27FC236}">
                <a16:creationId xmlns:a16="http://schemas.microsoft.com/office/drawing/2014/main" id="{10C8AD30-5047-461D-BD52-EE11FE5105B8}"/>
              </a:ext>
            </a:extLst>
          </p:cNvPr>
          <p:cNvSpPr>
            <a:spLocks xmlns:a="http://schemas.openxmlformats.org/drawingml/2006/main" noGrp="1"/>
          </p:cNvSpPr>
          <p:nvPr/>
        </p:nvSpPr>
        <p:spPr>
          <a:xfrm xmlns:a="http://schemas.openxmlformats.org/drawingml/2006/main" rot="0">
            <a:off x="71723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16" name="">
            <a:extLst xmlns:a="http://schemas.openxmlformats.org/drawingml/2006/main">
              <a:ext uri="{FF2B5EF4-FFF2-40B4-BE49-F238E27FC236}">
                <a16:creationId xmlns:a16="http://schemas.microsoft.com/office/drawing/2014/main" id="{1FC95868-D96C-4EAA-B9FD-12862AD3B187}"/>
              </a:ext>
            </a:extLst>
          </p:cNvPr>
          <p:cNvSpPr>
            <a:spLocks xmlns:a="http://schemas.openxmlformats.org/drawingml/2006/main" noGrp="1"/>
          </p:cNvSpPr>
          <p:nvPr/>
        </p:nvSpPr>
        <p:spPr>
          <a:xfrm xmlns:a="http://schemas.openxmlformats.org/drawingml/2006/main">
            <a:off x="74961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EAECF0"/>
            </a:solidFill>
          </a:ln>
        </p:spPr>
      </p:sp>
      <p:sp>
        <p:nvSpPr>
          <p:cNvPr id="17" name="">
            <a:extLst xmlns:a="http://schemas.openxmlformats.org/drawingml/2006/main">
              <a:ext uri="{FF2B5EF4-FFF2-40B4-BE49-F238E27FC236}">
                <a16:creationId xmlns:a16="http://schemas.microsoft.com/office/drawing/2014/main" id="{A81B3874-813F-4AE8-824B-E94DC1FF730D}"/>
              </a:ext>
            </a:extLst>
          </p:cNvPr>
          <p:cNvSpPr>
            <a:spLocks xmlns:a="http://schemas.openxmlformats.org/drawingml/2006/main" noGrp="1"/>
          </p:cNvSpPr>
          <p:nvPr/>
        </p:nvSpPr>
        <p:spPr>
          <a:xfrm xmlns:a="http://schemas.openxmlformats.org/drawingml/2006/main">
            <a:off x="76676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判定</a:t>
            </a:r>
          </a:p>
        </p:txBody>
      </p:sp>
      <p:sp>
        <p:nvSpPr>
          <p:cNvPr id="18" name="">
            <a:extLst xmlns:a="http://schemas.openxmlformats.org/drawingml/2006/main">
              <a:ext uri="{FF2B5EF4-FFF2-40B4-BE49-F238E27FC236}">
                <a16:creationId xmlns:a16="http://schemas.microsoft.com/office/drawing/2014/main" id="{8559E71E-1006-4AF7-B5DC-3EAB4B6F3EBC}"/>
              </a:ext>
            </a:extLst>
          </p:cNvPr>
          <p:cNvSpPr>
            <a:spLocks xmlns:a="http://schemas.openxmlformats.org/drawingml/2006/main" noGrp="1"/>
          </p:cNvSpPr>
          <p:nvPr/>
        </p:nvSpPr>
        <p:spPr>
          <a:xfrm xmlns:a="http://schemas.openxmlformats.org/drawingml/2006/main">
            <a:off x="76295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Etrap &lt; 0</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+失败后 early stop</a:t>
            </a:r>
          </a:p>
        </p:txBody>
      </p:sp>
      <p:sp>
        <p:nvSpPr>
          <p:cNvPr id="19" name="">
            <a:extLst xmlns:a="http://schemas.openxmlformats.org/drawingml/2006/main">
              <a:ext uri="{FF2B5EF4-FFF2-40B4-BE49-F238E27FC236}">
                <a16:creationId xmlns:a16="http://schemas.microsoft.com/office/drawing/2014/main" id="{8057BA8D-AAE0-4FCB-B947-8EE2BF271D40}"/>
              </a:ext>
            </a:extLst>
          </p:cNvPr>
          <p:cNvSpPr>
            <a:spLocks xmlns:a="http://schemas.openxmlformats.org/drawingml/2006/main" noGrp="1"/>
          </p:cNvSpPr>
          <p:nvPr/>
        </p:nvSpPr>
        <p:spPr>
          <a:xfrm xmlns:a="http://schemas.openxmlformats.org/drawingml/2006/main" rot="0">
            <a:off x="9496425" y="1809750"/>
            <a:ext cx="266700" cy="266700"/>
          </a:xfrm>
          <a:prstGeom xmlns:a="http://schemas.openxmlformats.org/drawingml/2006/main" prst="rightArrow">
            <a:avLst/>
          </a:prstGeom>
          <a:solidFill xmlns:a="http://schemas.openxmlformats.org/drawingml/2006/main">
            <a:srgbClr val="D0D5DD"/>
          </a:solidFill>
          <a:ln xmlns:a="http://schemas.openxmlformats.org/drawingml/2006/main" w="0">
            <a:solidFill>
              <a:srgbClr val="D0D5DD"/>
            </a:solidFill>
          </a:ln>
        </p:spPr>
      </p:sp>
      <p:sp>
        <p:nvSpPr>
          <p:cNvPr id="20" name="">
            <a:extLst xmlns:a="http://schemas.openxmlformats.org/drawingml/2006/main">
              <a:ext uri="{FF2B5EF4-FFF2-40B4-BE49-F238E27FC236}">
                <a16:creationId xmlns:a16="http://schemas.microsoft.com/office/drawing/2014/main" id="{99A7477F-94D3-4A0A-9FE6-27CE945C7BAE}"/>
              </a:ext>
            </a:extLst>
          </p:cNvPr>
          <p:cNvSpPr>
            <a:spLocks xmlns:a="http://schemas.openxmlformats.org/drawingml/2006/main" noGrp="1"/>
          </p:cNvSpPr>
          <p:nvPr/>
        </p:nvSpPr>
        <p:spPr>
          <a:xfrm xmlns:a="http://schemas.openxmlformats.org/drawingml/2006/main">
            <a:off x="9820275" y="1409700"/>
            <a:ext cx="194310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0E9384"/>
            </a:solidFill>
          </a:ln>
        </p:spPr>
      </p:sp>
      <p:sp>
        <p:nvSpPr>
          <p:cNvPr id="21" name="">
            <a:extLst xmlns:a="http://schemas.openxmlformats.org/drawingml/2006/main">
              <a:ext uri="{FF2B5EF4-FFF2-40B4-BE49-F238E27FC236}">
                <a16:creationId xmlns:a16="http://schemas.microsoft.com/office/drawing/2014/main" id="{E7723A74-7B6F-4DED-9CB1-0A2981EAB339}"/>
              </a:ext>
            </a:extLst>
          </p:cNvPr>
          <p:cNvSpPr>
            <a:spLocks xmlns:a="http://schemas.openxmlformats.org/drawingml/2006/main" noGrp="1"/>
          </p:cNvSpPr>
          <p:nvPr/>
        </p:nvSpPr>
        <p:spPr>
          <a:xfrm xmlns:a="http://schemas.openxmlformats.org/drawingml/2006/main">
            <a:off x="9991725" y="1581150"/>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E9384"/>
                </a:solidFill>
                <a:latin typeface="Microsoft YaHei"/>
                <a:ea typeface="Microsoft YaHei"/>
                <a:cs typeface="Microsoft YaHei"/>
              </a:defRPr>
            </a:pPr>
            <a:r>
              <a:rPr sz="1350" b="1">
                <a:solidFill>
                  <a:srgbClr val="0E9384"/>
                </a:solidFill>
                <a:latin typeface="Microsoft YaHei"/>
                <a:ea typeface="Microsoft YaHei"/>
                <a:cs typeface="Microsoft YaHei"/>
              </a:rPr>
              <a:t>统计</a:t>
            </a:r>
          </a:p>
        </p:txBody>
      </p:sp>
      <p:sp>
        <p:nvSpPr>
          <p:cNvPr id="22" name="">
            <a:extLst xmlns:a="http://schemas.openxmlformats.org/drawingml/2006/main">
              <a:ext uri="{FF2B5EF4-FFF2-40B4-BE49-F238E27FC236}">
                <a16:creationId xmlns:a16="http://schemas.microsoft.com/office/drawing/2014/main" id="{928D8DC7-AC15-43B2-8CEC-7E4B7DCD2FA5}"/>
              </a:ext>
            </a:extLst>
          </p:cNvPr>
          <p:cNvSpPr>
            <a:spLocks xmlns:a="http://schemas.openxmlformats.org/drawingml/2006/main" noGrp="1"/>
          </p:cNvSpPr>
          <p:nvPr/>
        </p:nvSpPr>
        <p:spPr>
          <a:xfrm xmlns:a="http://schemas.openxmlformats.org/drawingml/2006/main">
            <a:off x="9953625" y="1981200"/>
            <a:ext cx="1676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S(n), fit, bootstrap</a:t>
            </a:r>
          </a:p>
          <a:p xmlns:a="http://schemas.openxmlformats.org/drawingml/2006/main">
            <a:pPr algn="ctr">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+CRN paired pools</a:t>
            </a:r>
          </a:p>
        </p:txBody>
      </p:sp>
      <p:sp>
        <p:nvSpPr>
          <p:cNvPr id="23" name="">
            <a:extLst xmlns:a="http://schemas.openxmlformats.org/drawingml/2006/main">
              <a:ext uri="{FF2B5EF4-FFF2-40B4-BE49-F238E27FC236}">
                <a16:creationId xmlns:a16="http://schemas.microsoft.com/office/drawing/2014/main" id="{E7A18ED2-7FF2-47F0-9810-C00F0CE60AAD}"/>
              </a:ext>
            </a:extLst>
          </p:cNvPr>
          <p:cNvSpPr>
            <a:spLocks xmlns:a="http://schemas.openxmlformats.org/drawingml/2006/main" noGrp="1"/>
          </p:cNvSpPr>
          <p:nvPr/>
        </p:nvSpPr>
        <p:spPr>
          <a:xfrm xmlns:a="http://schemas.openxmlformats.org/drawingml/2006/main">
            <a:off x="609600" y="29908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实现状态</a:t>
            </a:r>
          </a:p>
        </p:txBody>
      </p:sp>
      <p:graphicFrame>
        <p:nvGraphicFramePr>
          <p:cNvPr id="51" name=""/>
          <p:cNvGraphicFramePr/>
          <p:nvPr/>
        </p:nvGraphicFramePr>
        <p:xfrm>
          <a:off xmlns:a="http://schemas.openxmlformats.org/drawingml/2006/main" x="609600" y="3390900"/>
          <a:ext xmlns:a="http://schemas.openxmlformats.org/drawingml/2006/main" cx="10972800" cy="2686050"/>
        </p:xfrm>
        <a:graphic xmlns:a="http://schemas.openxmlformats.org/drawingml/2006/main">
          <a:graphicData uri="http://schemas.openxmlformats.org/drawingml/2006/table">
            <a:tbl>
              <a:tblPr/>
              <a:tblGrid>
                <a:gridCol w="1871330"/>
                <a:gridCol w="5528930"/>
                <a:gridCol w="3572540"/>
              </a:tblGrid>
              <a:tr h="537210">
                <a:tc>
                  <a:txBody>
                    <a:bodyPr>
                      <a:noAutofit/>
                    </a:bodyPr>
                    <a:lstStyle/>
                    <a:p>
                      <a:pPr algn="l"/>
                      <a:r>
                        <a:rPr sz="1050" b="1">
                          <a:solidFill>
                            <a:srgbClr val="FFFFFF"/>
                          </a:solidFill>
                          <a:latin typeface="Microsoft YaHei"/>
                          <a:ea typeface="Microsoft YaHei"/>
                          <a:cs typeface="Microsoft YaHei"/>
                        </a:rPr>
                        <a:t>状态</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代码中实际内容</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在当前 Fig. 6d 结果中的角色</a:t>
                      </a:r>
                    </a:p>
                  </a:txBody>
                  <a:tcPr marL="91440" marR="91440" marT="45720" marB="45720" anchor="ctr">
                    <a:solidFill>
                      <a:srgbClr val="102A43"/>
                    </a:solidFill>
                  </a:tcPr>
                </a:tc>
              </a:tr>
              <a:tr h="537210">
                <a:tc>
                  <a:txBody>
                    <a:bodyPr>
                      <a:noAutofit/>
                    </a:bodyPr>
                    <a:lstStyle/>
                    <a:p>
                      <a:pPr algn="l"/>
                      <a:r>
                        <a:rPr sz="1050" b="0">
                          <a:solidFill>
                            <a:srgbClr val="344054"/>
                          </a:solidFill>
                          <a:latin typeface="Microsoft YaHei"/>
                          <a:ea typeface="Microsoft YaHei"/>
                          <a:cs typeface="Microsoft YaHei"/>
                        </a:rPr>
                        <a:t>已实现并使用</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1D 双高斯阱、正反向轨迹、温度采样、重复转移、确定性平均加热、位点差异与对准抖动</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Level 2C baseline / sensitivity</a:t>
                      </a:r>
                    </a:p>
                  </a:txBody>
                  <a:tcPr marL="91440" marR="91440" marT="45720" marB="45720" anchor="ctr">
                    <a:solidFill>
                      <a:srgbClr val="FFFFFF"/>
                    </a:solidFill>
                  </a:tcPr>
                </a:tc>
              </a:tr>
              <a:tr h="537210">
                <a:tc>
                  <a:txBody>
                    <a:bodyPr>
                      <a:noAutofit/>
                    </a:bodyPr>
                    <a:lstStyle/>
                    <a:p>
                      <a:pPr algn="l"/>
                      <a:r>
                        <a:rPr sz="1050" b="0">
                          <a:solidFill>
                            <a:srgbClr val="344054"/>
                          </a:solidFill>
                          <a:latin typeface="Microsoft YaHei"/>
                          <a:ea typeface="Microsoft YaHei"/>
                          <a:cs typeface="Microsoft YaHei"/>
                        </a:rPr>
                        <a:t>已实现但非 baseline</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2D 横向圆对称模型</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不匹配时触发的探索性检查</a:t>
                      </a:r>
                    </a:p>
                  </a:txBody>
                  <a:tcPr marL="91440" marR="91440" marT="45720" marB="45720" anchor="ctr">
                    <a:solidFill>
                      <a:srgbClr val="F8FAFC"/>
                    </a:solidFill>
                  </a:tcPr>
                </a:tc>
              </a:tr>
              <a:tr h="537210">
                <a:tc>
                  <a:txBody>
                    <a:bodyPr>
                      <a:noAutofit/>
                    </a:bodyPr>
                    <a:lstStyle/>
                    <a:p>
                      <a:pPr algn="l"/>
                      <a:r>
                        <a:rPr sz="1050" b="0">
                          <a:solidFill>
                            <a:srgbClr val="344054"/>
                          </a:solidFill>
                          <a:latin typeface="Microsoft YaHei"/>
                          <a:ea typeface="Microsoft YaHei"/>
                          <a:cs typeface="Microsoft YaHei"/>
                        </a:rPr>
                        <a:t>独立模块已实现</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Level 3 三维运输；Level 4 往返与半经典相干；Level 5 有限脉冲 RB/IRB</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没有用于 Fig. 6d survival 主曲线</a:t>
                      </a:r>
                    </a:p>
                  </a:txBody>
                  <a:tcPr marL="91440" marR="91440" marT="45720" marB="45720" anchor="ctr">
                    <a:solidFill>
                      <a:srgbClr val="FFFFFF"/>
                    </a:solidFill>
                  </a:tcPr>
                </a:tc>
              </a:tr>
              <a:tr h="537210">
                <a:tc>
                  <a:txBody>
                    <a:bodyPr>
                      <a:noAutofit/>
                    </a:bodyPr>
                    <a:lstStyle/>
                    <a:p>
                      <a:pPr algn="l"/>
                      <a:r>
                        <a:rPr sz="1050" b="0">
                          <a:solidFill>
                            <a:srgbClr val="344054"/>
                          </a:solidFill>
                          <a:latin typeface="Microsoft YaHei"/>
                          <a:ea typeface="Microsoft YaHei"/>
                          <a:cs typeface="Microsoft YaHei"/>
                        </a:rPr>
                        <a:t>尚未实现</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AWG 带宽/滤波、实测站点映射、校准光学像差、完整实验读出链</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属于当前 abstraction gap</a:t>
                      </a:r>
                    </a:p>
                  </a:txBody>
                  <a:tcPr marL="91440" marR="91440" marT="45720" marB="45720" anchor="ctr">
                    <a:solidFill>
                      <a:srgbClr val="F8FAFC"/>
                    </a:solidFill>
                  </a:tcPr>
                </a:tc>
              </a:tr>
            </a:tbl>
          </a:graphicData>
        </a:graphic>
      </p:graphicFrame>
      <p:sp>
        <p:nvSpPr>
          <p:cNvPr id="25" name="">
            <a:extLst xmlns:a="http://schemas.openxmlformats.org/drawingml/2006/main">
              <a:ext uri="{FF2B5EF4-FFF2-40B4-BE49-F238E27FC236}">
                <a16:creationId xmlns:a16="http://schemas.microsoft.com/office/drawing/2014/main" id="{AA51D874-62E9-4BCB-BBC1-18F66B06B4E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26" name="">
            <a:extLst xmlns:a="http://schemas.openxmlformats.org/drawingml/2006/main">
              <a:ext uri="{FF2B5EF4-FFF2-40B4-BE49-F238E27FC236}">
                <a16:creationId xmlns:a16="http://schemas.microsoft.com/office/drawing/2014/main" id="{2DD15DEC-C1AF-4258-A416-D8D0FCB7F15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src/level2c_pickup_survival · src/level3_3d_transport_lensing · README.md</a:t>
            </a:r>
          </a:p>
        </p:txBody>
      </p:sp>
      <p:sp>
        <p:nvSpPr>
          <p:cNvPr id="27" name="">
            <a:extLst xmlns:a="http://schemas.openxmlformats.org/drawingml/2006/main">
              <a:ext uri="{FF2B5EF4-FFF2-40B4-BE49-F238E27FC236}">
                <a16:creationId xmlns:a16="http://schemas.microsoft.com/office/drawing/2014/main" id="{F3A88256-FB4E-4D68-8FEB-15D3E73ED3A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152410200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5EAEEC-56FD-47B9-899B-112549EF033B}"/>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论文曲线和轨迹均来自仓库内固定数字化数据</a:t>
            </a:r>
          </a:p>
        </p:txBody>
      </p:sp>
      <p:sp>
        <p:nvSpPr>
          <p:cNvPr id="2" name="">
            <a:extLst xmlns:a="http://schemas.openxmlformats.org/drawingml/2006/main">
              <a:ext uri="{FF2B5EF4-FFF2-40B4-BE49-F238E27FC236}">
                <a16:creationId xmlns:a16="http://schemas.microsoft.com/office/drawing/2014/main" id="{DC802293-37A7-4FDD-9358-2BF0267C9595}"/>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4CC6DEB1-2F91-41AE-A214-9083165C6F3D}"/>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Fig. 6d 可靠区间 n=5…60；200 µs 曲线仅到 n=31</a:t>
            </a:r>
          </a:p>
        </p:txBody>
      </p:sp>
      <p:sp>
        <p:nvSpPr>
          <p:cNvPr id="4" name="">
            <a:extLst xmlns:a="http://schemas.openxmlformats.org/drawingml/2006/main">
              <a:ext uri="{FF2B5EF4-FFF2-40B4-BE49-F238E27FC236}">
                <a16:creationId xmlns:a16="http://schemas.microsoft.com/office/drawing/2014/main" id="{C5B791FB-FB34-421A-98BD-6EBDCCE706A9}"/>
              </a:ext>
            </a:extLst>
          </p:cNvPr>
          <p:cNvSpPr>
            <a:spLocks xmlns:a="http://schemas.openxmlformats.org/drawingml/2006/main" noGrp="1"/>
          </p:cNvSpPr>
          <p:nvPr/>
        </p:nvSpPr>
        <p:spPr>
          <a:xfrm xmlns:a="http://schemas.openxmlformats.org/drawingml/2006/main">
            <a:off x="609600" y="1238250"/>
            <a:ext cx="6000750" cy="4686300"/>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EAECF0"/>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faf98f59617493a"/>
          <a:srcRect xmlns:a="http://schemas.openxmlformats.org/drawingml/2006/main" l="7670" t="0" r="7670" b="0"/>
          <a:stretch xmlns:a="http://schemas.openxmlformats.org/drawingml/2006/main">
            <a:fillRect l="0" t="0" r="0" b="0"/>
          </a:stretch>
        </p:blipFill>
        <p:spPr>
          <a:xfrm xmlns:a="http://schemas.openxmlformats.org/drawingml/2006/main">
            <a:off x="781050" y="1409700"/>
            <a:ext cx="5657850" cy="4324350"/>
          </a:xfrm>
          <a:prstGeom xmlns:a="http://schemas.openxmlformats.org/drawingml/2006/main" prst="roundRect">
            <a:avLst>
              <a:gd name="adj" fmla="val 2203"/>
            </a:avLst>
          </a:prstGeom>
        </p:spPr>
      </p:pic>
      <p:sp>
        <p:nvSpPr>
          <p:cNvPr id="6" name="">
            <a:extLst xmlns:a="http://schemas.openxmlformats.org/drawingml/2006/main">
              <a:ext uri="{FF2B5EF4-FFF2-40B4-BE49-F238E27FC236}">
                <a16:creationId xmlns:a16="http://schemas.microsoft.com/office/drawing/2014/main" id="{9B083CF5-833E-4A52-B6CF-88B748EA956F}"/>
              </a:ext>
            </a:extLst>
          </p:cNvPr>
          <p:cNvSpPr>
            <a:spLocks xmlns:a="http://schemas.openxmlformats.org/drawingml/2006/main" noGrp="1"/>
          </p:cNvSpPr>
          <p:nvPr/>
        </p:nvSpPr>
        <p:spPr>
          <a:xfrm xmlns:a="http://schemas.openxmlformats.org/drawingml/2006/main">
            <a:off x="6915150" y="1238250"/>
            <a:ext cx="4667250" cy="468630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2FA7AA90-21D2-4603-8ED6-57255E1ADA57}"/>
              </a:ext>
            </a:extLst>
          </p:cNvPr>
          <p:cNvSpPr>
            <a:spLocks xmlns:a="http://schemas.openxmlformats.org/drawingml/2006/main" noGrp="1"/>
          </p:cNvSpPr>
          <p:nvPr/>
        </p:nvSpPr>
        <p:spPr>
          <a:xfrm xmlns:a="http://schemas.openxmlformats.org/drawingml/2006/main">
            <a:off x="7181850" y="14668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论文输入与来源</a:t>
            </a:r>
          </a:p>
        </p:txBody>
      </p:sp>
      <p:graphicFrame>
        <p:nvGraphicFramePr>
          <p:cNvPr id="20" name=""/>
          <p:cNvGraphicFramePr/>
          <p:nvPr/>
        </p:nvGraphicFramePr>
        <p:xfrm>
          <a:off xmlns:a="http://schemas.openxmlformats.org/drawingml/2006/main" x="7181850" y="1962150"/>
          <a:ext xmlns:a="http://schemas.openxmlformats.org/drawingml/2006/main" cx="4133850" cy="2857500"/>
        </p:xfrm>
        <a:graphic xmlns:a="http://schemas.openxmlformats.org/drawingml/2006/main">
          <a:graphicData uri="http://schemas.openxmlformats.org/drawingml/2006/table">
            <a:tbl>
              <a:tblPr/>
              <a:tblGrid>
                <a:gridCol w="1308180"/>
                <a:gridCol w="1203526"/>
                <a:gridCol w="1622144"/>
              </a:tblGrid>
              <a:tr h="408214">
                <a:tc>
                  <a:txBody>
                    <a:bodyPr>
                      <a:noAutofit/>
                    </a:bodyPr>
                    <a:lstStyle/>
                    <a:p>
                      <a:pPr algn="l"/>
                      <a:r>
                        <a:rPr sz="975"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Provenance</a:t>
                      </a:r>
                    </a:p>
                  </a:txBody>
                  <a:tcPr marL="91440" marR="91440" marT="45720" marB="45720" anchor="ctr">
                    <a:solidFill>
                      <a:srgbClr val="102A43"/>
                    </a:solidFill>
                  </a:tcPr>
                </a:tc>
              </a:tr>
              <a:tr h="408214">
                <a:tc>
                  <a:txBody>
                    <a:bodyPr>
                      <a:noAutofit/>
                    </a:bodyPr>
                    <a:lstStyle/>
                    <a:p>
                      <a:pPr algn="l"/>
                      <a:r>
                        <a:rPr sz="975" b="0">
                          <a:solidFill>
                            <a:srgbClr val="344054"/>
                          </a:solidFill>
                          <a:latin typeface="Microsoft YaHei"/>
                          <a:ea typeface="Microsoft YaHei"/>
                          <a:cs typeface="Microsoft YaHei"/>
                        </a:rPr>
                        <a:t>SLM depth</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0.14 mK</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Methods</a:t>
                      </a:r>
                    </a:p>
                  </a:txBody>
                  <a:tcPr marL="91440" marR="91440" marT="45720" marB="45720" anchor="ctr">
                    <a:solidFill>
                      <a:srgbClr val="FFFFFF"/>
                    </a:solidFill>
                  </a:tcPr>
                </a:tc>
              </a:tr>
              <a:tr h="408214">
                <a:tc>
                  <a:txBody>
                    <a:bodyPr>
                      <a:noAutofit/>
                    </a:bodyPr>
                    <a:lstStyle/>
                    <a:p>
                      <a:pPr algn="l"/>
                      <a:r>
                        <a:rPr sz="975" b="0">
                          <a:solidFill>
                            <a:srgbClr val="344054"/>
                          </a:solidFill>
                          <a:latin typeface="Microsoft YaHei"/>
                          <a:ea typeface="Microsoft YaHei"/>
                          <a:cs typeface="Microsoft YaHei"/>
                        </a:rPr>
                        <a:t>AOD depth</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0.28 mK</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Methods / Fig. 6</a:t>
                      </a:r>
                    </a:p>
                  </a:txBody>
                  <a:tcPr marL="91440" marR="91440" marT="45720" marB="45720" anchor="ctr">
                    <a:solidFill>
                      <a:srgbClr val="F8FAFC"/>
                    </a:solidFill>
                  </a:tcPr>
                </a:tc>
              </a:tr>
              <a:tr h="408214">
                <a:tc>
                  <a:txBody>
                    <a:bodyPr>
                      <a:noAutofit/>
                    </a:bodyPr>
                    <a:lstStyle/>
                    <a:p>
                      <a:pPr algn="l"/>
                      <a:r>
                        <a:rPr sz="975" b="0">
                          <a:solidFill>
                            <a:srgbClr val="344054"/>
                          </a:solidFill>
                          <a:latin typeface="Microsoft YaHei"/>
                          <a:ea typeface="Microsoft YaHei"/>
                          <a:cs typeface="Microsoft YaHei"/>
                        </a:rPr>
                        <a:t>Separation</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2.4 µm</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Fig. 6 caption</a:t>
                      </a:r>
                    </a:p>
                  </a:txBody>
                  <a:tcPr marL="91440" marR="91440" marT="45720" marB="45720" anchor="ctr">
                    <a:solidFill>
                      <a:srgbClr val="FFFFFF"/>
                    </a:solidFill>
                  </a:tcPr>
                </a:tc>
              </a:tr>
              <a:tr h="408214">
                <a:tc>
                  <a:txBody>
                    <a:bodyPr>
                      <a:noAutofit/>
                    </a:bodyPr>
                    <a:lstStyle/>
                    <a:p>
                      <a:pPr algn="l"/>
                      <a:r>
                        <a:rPr sz="975"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Caption / Methods</a:t>
                      </a:r>
                    </a:p>
                  </a:txBody>
                  <a:tcPr marL="91440" marR="91440" marT="45720" marB="45720" anchor="ctr">
                    <a:solidFill>
                      <a:srgbClr val="F8FAFC"/>
                    </a:solidFill>
                  </a:tcPr>
                </a:tc>
              </a:tr>
              <a:tr h="408214">
                <a:tc>
                  <a:txBody>
                    <a:bodyPr>
                      <a:noAutofit/>
                    </a:bodyPr>
                    <a:lstStyle/>
                    <a:p>
                      <a:pPr algn="l"/>
                      <a:r>
                        <a:rPr sz="975" b="0">
                          <a:solidFill>
                            <a:srgbClr val="344054"/>
                          </a:solidFill>
                          <a:latin typeface="Microsoft YaHei"/>
                          <a:ea typeface="Microsoft YaHei"/>
                          <a:cs typeface="Microsoft YaHei"/>
                        </a:rPr>
                        <a:t>Manual waveform</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48% ramp + 52% move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Methods</a:t>
                      </a:r>
                    </a:p>
                  </a:txBody>
                  <a:tcPr marL="91440" marR="91440" marT="45720" marB="45720" anchor="ctr">
                    <a:solidFill>
                      <a:srgbClr val="FFFFFF"/>
                    </a:solidFill>
                  </a:tcPr>
                </a:tc>
              </a:tr>
              <a:tr h="408214">
                <a:tc>
                  <a:txBody>
                    <a:bodyPr>
                      <a:noAutofit/>
                    </a:bodyPr>
                    <a:lstStyle/>
                    <a:p>
                      <a:pPr algn="l"/>
                      <a:r>
                        <a:rPr sz="975" b="0">
                          <a:solidFill>
                            <a:srgbClr val="344054"/>
                          </a:solidFill>
                          <a:latin typeface="Microsoft YaHei"/>
                          <a:ea typeface="Microsoft YaHei"/>
                          <a:cs typeface="Microsoft YaHei"/>
                        </a:rPr>
                        <a:t>ML waveform</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Fig. 6c vector digitization</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PDF page 7</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0767A7FD-9EF7-4FF9-98FE-35D3C45F34CE}"/>
              </a:ext>
            </a:extLst>
          </p:cNvPr>
          <p:cNvSpPr>
            <a:spLocks xmlns:a="http://schemas.openxmlformats.org/drawingml/2006/main" noGrp="1"/>
          </p:cNvSpPr>
          <p:nvPr/>
        </p:nvSpPr>
        <p:spPr>
          <a:xfrm xmlns:a="http://schemas.openxmlformats.org/drawingml/2006/main">
            <a:off x="7181850" y="50292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D92D20"/>
                </a:solidFill>
                <a:latin typeface="Microsoft YaHei"/>
                <a:ea typeface="Microsoft YaHei"/>
                <a:cs typeface="Microsoft YaHei"/>
              </a:defRPr>
            </a:pPr>
            <a:r>
              <a:rPr sz="1125" b="0">
                <a:solidFill>
                  <a:srgbClr val="D92D20"/>
                </a:solidFill>
                <a:latin typeface="Microsoft YaHei"/>
                <a:ea typeface="Microsoft YaHei"/>
                <a:cs typeface="Microsoft YaHei"/>
              </a:rPr>
              <a:t>逐像素结果含标记边缘伪影；对比图使用稳定锚点的单调线性重建。原始 CSV 保留，精度仍按 ±0.01–0.02。</a:t>
            </a:r>
          </a:p>
        </p:txBody>
      </p:sp>
      <p:sp>
        <p:nvSpPr>
          <p:cNvPr id="10" name="">
            <a:extLst xmlns:a="http://schemas.openxmlformats.org/drawingml/2006/main">
              <a:ext uri="{FF2B5EF4-FFF2-40B4-BE49-F238E27FC236}">
                <a16:creationId xmlns:a16="http://schemas.microsoft.com/office/drawing/2014/main" id="{651A0CAE-878E-4580-8F98-49996A23619E}"/>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FD718C18-B592-4E14-BBDC-D0B5B3AC567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reference/fig6d_survival_digitized.csv · reference/fig6d_parameters.md</a:t>
            </a:r>
          </a:p>
        </p:txBody>
      </p:sp>
      <p:sp>
        <p:nvSpPr>
          <p:cNvPr id="12" name="">
            <a:extLst xmlns:a="http://schemas.openxmlformats.org/drawingml/2006/main">
              <a:ext uri="{FF2B5EF4-FFF2-40B4-BE49-F238E27FC236}">
                <a16:creationId xmlns:a16="http://schemas.microsoft.com/office/drawing/2014/main" id="{1048006A-5F8C-4336-B040-2AE22EC99D0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39366927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51314B-5347-4F2A-BD5F-C488433A8BE9}"/>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当前没有通过验收的“最佳拟合配置”</a:t>
            </a:r>
          </a:p>
        </p:txBody>
      </p:sp>
      <p:sp>
        <p:nvSpPr>
          <p:cNvPr id="2" name="">
            <a:extLst xmlns:a="http://schemas.openxmlformats.org/drawingml/2006/main">
              <a:ext uri="{FF2B5EF4-FFF2-40B4-BE49-F238E27FC236}">
                <a16:creationId xmlns:a16="http://schemas.microsoft.com/office/drawing/2014/main" id="{EA783979-6858-4676-AA86-B6F66DBC47F7}"/>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D54FB732-DFF0-46D8-A240-BD12CD1F900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默认 baseline、T40 与 R3e−7 都有明确角色；后两者是未标定敏感性场景</a:t>
            </a:r>
          </a:p>
        </p:txBody>
      </p:sp>
      <p:graphicFrame>
        <p:nvGraphicFramePr>
          <p:cNvPr id="17" name=""/>
          <p:cNvGraphicFramePr/>
          <p:nvPr/>
        </p:nvGraphicFramePr>
        <p:xfrm>
          <a:off xmlns:a="http://schemas.openxmlformats.org/drawingml/2006/main" x="609600" y="1352550"/>
          <a:ext xmlns:a="http://schemas.openxmlformats.org/drawingml/2006/main" cx="10972800" cy="3448050"/>
        </p:xfrm>
        <a:graphic xmlns:a="http://schemas.openxmlformats.org/drawingml/2006/main">
          <a:graphicData uri="http://schemas.openxmlformats.org/drawingml/2006/table">
            <a:tbl>
              <a:tblPr/>
              <a:tblGrid>
                <a:gridCol w="2493818"/>
                <a:gridCol w="2660073"/>
                <a:gridCol w="2909455"/>
                <a:gridCol w="2909455"/>
              </a:tblGrid>
              <a:tr h="431006">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Default baseline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T40 scenario</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R3e−7 scenario</a:t>
                      </a:r>
                    </a:p>
                  </a:txBody>
                  <a:tcPr marL="91440" marR="91440" marT="45720" marB="45720" anchor="ctr">
                    <a:solidFill>
                      <a:srgbClr val="102A43"/>
                    </a:solidFill>
                  </a:tcPr>
                </a:tc>
              </a:tr>
              <a:tr h="431006">
                <a:tc>
                  <a:txBody>
                    <a:bodyPr>
                      <a:noAutofit/>
                    </a:bodyPr>
                    <a:lstStyle/>
                    <a:p>
                      <a:pPr algn="l"/>
                      <a:r>
                        <a:rPr sz="1050" b="0">
                          <a:solidFill>
                            <a:srgbClr val="344054"/>
                          </a:solidFill>
                          <a:latin typeface="Microsoft YaHei"/>
                          <a:ea typeface="Microsoft YaHei"/>
                          <a:cs typeface="Microsoft YaHei"/>
                        </a:rPr>
                        <a:t>Temperature</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40 µK effective width</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r>
              <a:tr h="431006">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3×10⁻⁷ Hz⁻¹</a:t>
                      </a:r>
                    </a:p>
                  </a:txBody>
                  <a:tcPr marL="91440" marR="91440" marT="45720" marB="45720" anchor="ctr">
                    <a:solidFill>
                      <a:srgbClr val="F8FAFC"/>
                    </a:solidFill>
                  </a:tcPr>
                </a:tc>
              </a:tr>
              <a:tr h="431006">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r>
              <a:tr h="431006">
                <a:tc>
                  <a:txBody>
                    <a:bodyPr>
                      <a:noAutofit/>
                    </a:bodyPr>
                    <a:lstStyle/>
                    <a:p>
                      <a:pPr algn="l"/>
                      <a:r>
                        <a:rPr sz="1050" b="0">
                          <a:solidFill>
                            <a:srgbClr val="344054"/>
                          </a:solidFill>
                          <a:latin typeface="Microsoft YaHei"/>
                          <a:ea typeface="Microsoft YaHei"/>
                          <a:cs typeface="Microsoft YaHei"/>
                        </a:rPr>
                        <a:t>Per-transfer jitter σ</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r>
              <a:tr h="431006">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r>
              <a:tr h="431006">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r>
              <a:tr h="431006">
                <a:tc>
                  <a:txBody>
                    <a:bodyPr>
                      <a:noAutofit/>
                    </a:bodyPr>
                    <a:lstStyle/>
                    <a:p>
                      <a:pPr algn="l"/>
                      <a:r>
                        <a:rPr sz="1050" b="0">
                          <a:solidFill>
                            <a:srgbClr val="344054"/>
                          </a:solidFill>
                          <a:latin typeface="Microsoft YaHei"/>
                          <a:ea typeface="Microsoft YaHei"/>
                          <a:cs typeface="Microsoft YaHei"/>
                        </a:rPr>
                        <a:t>Purpose</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Repository baseline</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tests ensemble broadening</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tests deterministic heating</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0B2CAD6-768E-4A7F-AA1A-CFDC6A68F85B}"/>
              </a:ext>
            </a:extLst>
          </p:cNvPr>
          <p:cNvSpPr>
            <a:spLocks xmlns:a="http://schemas.openxmlformats.org/drawingml/2006/main" noGrp="1"/>
          </p:cNvSpPr>
          <p:nvPr/>
        </p:nvSpPr>
        <p:spPr>
          <a:xfrm xmlns:a="http://schemas.openxmlformats.org/drawingml/2006/main">
            <a:off x="609600" y="5067300"/>
            <a:ext cx="5238750" cy="1066800"/>
          </a:xfrm>
          <a:prstGeom xmlns:a="http://schemas.openxmlformats.org/drawingml/2006/main" prst="roundRect">
            <a:avLst>
              <a:gd name="adj" fmla="val 7143"/>
            </a:avLst>
          </a:prstGeom>
          <a:solidFill xmlns:a="http://schemas.openxmlformats.org/drawingml/2006/main">
            <a:srgbClr val="EFF8FF"/>
          </a:solidFill>
          <a:ln xmlns:a="http://schemas.openxmlformats.org/drawingml/2006/main" w="9525">
            <a:solidFill>
              <a:srgbClr val="B2DDFF"/>
            </a:solidFill>
          </a:ln>
        </p:spPr>
      </p:sp>
      <p:sp>
        <p:nvSpPr>
          <p:cNvPr id="6" name="">
            <a:extLst xmlns:a="http://schemas.openxmlformats.org/drawingml/2006/main">
              <a:ext uri="{FF2B5EF4-FFF2-40B4-BE49-F238E27FC236}">
                <a16:creationId xmlns:a16="http://schemas.microsoft.com/office/drawing/2014/main" id="{A0B52DC5-C0C1-470B-8572-59A546786398}"/>
              </a:ext>
            </a:extLst>
          </p:cNvPr>
          <p:cNvSpPr>
            <a:spLocks xmlns:a="http://schemas.openxmlformats.org/drawingml/2006/main" noGrp="1"/>
          </p:cNvSpPr>
          <p:nvPr/>
        </p:nvSpPr>
        <p:spPr>
          <a:xfrm xmlns:a="http://schemas.openxmlformats.org/drawingml/2006/main">
            <a:off x="838200" y="52387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Numerics</a:t>
            </a:r>
          </a:p>
        </p:txBody>
      </p:sp>
      <p:sp>
        <p:nvSpPr>
          <p:cNvPr id="7" name="">
            <a:extLst xmlns:a="http://schemas.openxmlformats.org/drawingml/2006/main">
              <a:ext uri="{FF2B5EF4-FFF2-40B4-BE49-F238E27FC236}">
                <a16:creationId xmlns:a16="http://schemas.microsoft.com/office/drawing/2014/main" id="{A7002E2C-9CE0-4A2D-9356-C9E5E9D92F7C}"/>
              </a:ext>
            </a:extLst>
          </p:cNvPr>
          <p:cNvSpPr>
            <a:spLocks xmlns:a="http://schemas.openxmlformats.org/drawingml/2006/main" noGrp="1"/>
          </p:cNvSpPr>
          <p:nvPr/>
        </p:nvSpPr>
        <p:spPr>
          <a:xfrm xmlns:a="http://schemas.openxmlformats.org/drawingml/2006/main">
            <a:off x="838200" y="5562600"/>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dt = 0.05 µs validation; 0.025 µs convergence</a:t>
            </a:r>
          </a:p>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256-shot scan; 512-shot validation; 60 one-way transfers</a:t>
            </a:r>
          </a:p>
        </p:txBody>
      </p:sp>
      <p:sp>
        <p:nvSpPr>
          <p:cNvPr id="8" name="">
            <a:extLst xmlns:a="http://schemas.openxmlformats.org/drawingml/2006/main">
              <a:ext uri="{FF2B5EF4-FFF2-40B4-BE49-F238E27FC236}">
                <a16:creationId xmlns:a16="http://schemas.microsoft.com/office/drawing/2014/main" id="{D79829A9-99F8-44C4-9D7C-BCFDD134C328}"/>
              </a:ext>
            </a:extLst>
          </p:cNvPr>
          <p:cNvSpPr>
            <a:spLocks xmlns:a="http://schemas.openxmlformats.org/drawingml/2006/main" noGrp="1"/>
          </p:cNvSpPr>
          <p:nvPr/>
        </p:nvSpPr>
        <p:spPr>
          <a:xfrm xmlns:a="http://schemas.openxmlformats.org/drawingml/2006/main">
            <a:off x="6115050" y="5067300"/>
            <a:ext cx="5467350" cy="1066800"/>
          </a:xfrm>
          <a:prstGeom xmlns:a="http://schemas.openxmlformats.org/drawingml/2006/main" prst="roundRect">
            <a:avLst>
              <a:gd name="adj" fmla="val 7143"/>
            </a:avLst>
          </a:prstGeom>
          <a:solidFill xmlns:a="http://schemas.openxmlformats.org/drawingml/2006/main">
            <a:srgbClr val="FFF6ED"/>
          </a:solidFill>
          <a:ln xmlns:a="http://schemas.openxmlformats.org/drawingml/2006/main" w="9525">
            <a:solidFill>
              <a:srgbClr val="FEDF89"/>
            </a:solidFill>
          </a:ln>
        </p:spPr>
      </p:sp>
      <p:sp>
        <p:nvSpPr>
          <p:cNvPr id="9" name="">
            <a:extLst xmlns:a="http://schemas.openxmlformats.org/drawingml/2006/main">
              <a:ext uri="{FF2B5EF4-FFF2-40B4-BE49-F238E27FC236}">
                <a16:creationId xmlns:a16="http://schemas.microsoft.com/office/drawing/2014/main" id="{7391052D-33E9-431E-A4F8-2CB41E3D1F58}"/>
              </a:ext>
            </a:extLst>
          </p:cNvPr>
          <p:cNvSpPr>
            <a:spLocks xmlns:a="http://schemas.openxmlformats.org/drawingml/2006/main" noGrp="1"/>
          </p:cNvSpPr>
          <p:nvPr/>
        </p:nvSpPr>
        <p:spPr>
          <a:xfrm xmlns:a="http://schemas.openxmlformats.org/drawingml/2006/main">
            <a:off x="6343650" y="52387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当前 best-known trajectory</a:t>
            </a:r>
          </a:p>
        </p:txBody>
      </p:sp>
      <p:sp>
        <p:nvSpPr>
          <p:cNvPr id="10" name="">
            <a:extLst xmlns:a="http://schemas.openxmlformats.org/drawingml/2006/main">
              <a:ext uri="{FF2B5EF4-FFF2-40B4-BE49-F238E27FC236}">
                <a16:creationId xmlns:a16="http://schemas.microsoft.com/office/drawing/2014/main" id="{7D48C3DC-97D4-41AA-A70D-D84AE2EA1142}"/>
              </a:ext>
            </a:extLst>
          </p:cNvPr>
          <p:cNvSpPr>
            <a:spLocks xmlns:a="http://schemas.openxmlformats.org/drawingml/2006/main" noGrp="1"/>
          </p:cNvSpPr>
          <p:nvPr/>
        </p:nvSpPr>
        <p:spPr>
          <a:xfrm xmlns:a="http://schemas.openxmlformats.org/drawingml/2006/main">
            <a:off x="6343650" y="5562600"/>
            <a:ext cx="4914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Fig. 6c 矢量数字化 ML 波形；它优于仓库内原 LHS 搜索所得冻结候选。</a:t>
            </a:r>
          </a:p>
        </p:txBody>
      </p:sp>
      <p:sp>
        <p:nvSpPr>
          <p:cNvPr id="11" name="">
            <a:extLst xmlns:a="http://schemas.openxmlformats.org/drawingml/2006/main">
              <a:ext uri="{FF2B5EF4-FFF2-40B4-BE49-F238E27FC236}">
                <a16:creationId xmlns:a16="http://schemas.microsoft.com/office/drawing/2014/main" id="{AA70CC97-9DA4-48F3-984B-CE6B53B4DC0D}"/>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DD722218-EF68-4D3B-801F-51ACF1A9124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configs/level2c_pickup_survival.yaml · configs/scan_stage1/scan_T40.yaml · scan_R3e7.yaml</a:t>
            </a:r>
          </a:p>
        </p:txBody>
      </p:sp>
      <p:sp>
        <p:nvSpPr>
          <p:cNvPr id="13" name="">
            <a:extLst xmlns:a="http://schemas.openxmlformats.org/drawingml/2006/main">
              <a:ext uri="{FF2B5EF4-FFF2-40B4-BE49-F238E27FC236}">
                <a16:creationId xmlns:a16="http://schemas.microsoft.com/office/drawing/2014/main" id="{A9B9A269-7399-42EB-B728-687D8F7475CF}"/>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1815535938"/>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25837FA-5166-46D9-AC53-C7A9BF599A9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场景复现了时长排序，但没有闭合曲线形状</a:t>
            </a:r>
          </a:p>
        </p:txBody>
      </p:sp>
      <p:sp>
        <p:nvSpPr>
          <p:cNvPr id="2" name="">
            <a:extLst xmlns:a="http://schemas.openxmlformats.org/drawingml/2006/main">
              <a:ext uri="{FF2B5EF4-FFF2-40B4-BE49-F238E27FC236}">
                <a16:creationId xmlns:a16="http://schemas.microsoft.com/office/drawing/2014/main" id="{09804D07-13CE-48D3-91D2-EE46A9BC6BC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235DF23A-58A6-47DB-A875-C8D95B31DD0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monotone reconstruction from stable digitization anchors; MC: raw validation, 512 shots</a:t>
            </a:r>
          </a:p>
        </p:txBody>
      </p:sp>
      <p:graphicFrame>
        <p:nvGraphicFramePr>
          <p:cNvPr id="15"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30187ff6be444207"/>
          </a:graphicData>
        </a:graphic>
      </p:graphicFrame>
      <p:graphicFrame>
        <p:nvGraphicFramePr>
          <p:cNvPr id="16"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4d8de9d2a6794e31"/>
          </a:graphicData>
        </a:graphic>
      </p:graphicFrame>
      <p:sp>
        <p:nvSpPr>
          <p:cNvPr id="6" name="">
            <a:extLst xmlns:a="http://schemas.openxmlformats.org/drawingml/2006/main">
              <a:ext uri="{FF2B5EF4-FFF2-40B4-BE49-F238E27FC236}">
                <a16:creationId xmlns:a16="http://schemas.microsoft.com/office/drawing/2014/main" id="{419399A2-43C3-47D0-BE58-665D256E75CE}"/>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EEA54487-F31A-482A-8656-F7107DB09473}"/>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8" name="">
            <a:extLst xmlns:a="http://schemas.openxmlformats.org/drawingml/2006/main">
              <a:ext uri="{FF2B5EF4-FFF2-40B4-BE49-F238E27FC236}">
                <a16:creationId xmlns:a16="http://schemas.microsoft.com/office/drawing/2014/main" id="{09A6C644-36A1-4C56-A661-0D820A6F0A0B}"/>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9" name="">
            <a:extLst xmlns:a="http://schemas.openxmlformats.org/drawingml/2006/main">
              <a:ext uri="{FF2B5EF4-FFF2-40B4-BE49-F238E27FC236}">
                <a16:creationId xmlns:a16="http://schemas.microsoft.com/office/drawing/2014/main" id="{B1CF1D52-CE17-4964-97DF-E61294ABDB5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02C04B37-9BDB-4469-A1B5-DBF6BEA7ABFE}"/>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1" name="">
            <a:extLst xmlns:a="http://schemas.openxmlformats.org/drawingml/2006/main">
              <a:ext uri="{FF2B5EF4-FFF2-40B4-BE49-F238E27FC236}">
                <a16:creationId xmlns:a16="http://schemas.microsoft.com/office/drawing/2014/main" id="{A819BC03-40FF-4A7B-B2E7-05C440918AA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158916257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BB9386-E702-4DF6-BC3A-380F32BE8BCF}"/>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正确的 Fig. 6c 轨迹在模型中恢复了 ML 优势</a:t>
            </a:r>
          </a:p>
        </p:txBody>
      </p:sp>
      <p:sp>
        <p:nvSpPr>
          <p:cNvPr id="2" name="">
            <a:extLst xmlns:a="http://schemas.openxmlformats.org/drawingml/2006/main">
              <a:ext uri="{FF2B5EF4-FFF2-40B4-BE49-F238E27FC236}">
                <a16:creationId xmlns:a16="http://schemas.microsoft.com/office/drawing/2014/main" id="{57CC604A-927B-441F-82B5-9570FB3A338E}"/>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CF45892D-F699-4D30-A88C-D37C94D2B6F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Endpoint comparison at n=60; T40 scan pool uses identical initial draws for manual and ML</a:t>
            </a:r>
          </a:p>
        </p:txBody>
      </p:sp>
      <p:graphicFrame>
        <p:nvGraphicFramePr>
          <p:cNvPr id="22"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d6d5d75a6f214de0"/>
          </a:graphicData>
        </a:graphic>
      </p:graphicFrame>
      <p:sp>
        <p:nvSpPr>
          <p:cNvPr id="5" name="">
            <a:extLst xmlns:a="http://schemas.openxmlformats.org/drawingml/2006/main">
              <a:ext uri="{FF2B5EF4-FFF2-40B4-BE49-F238E27FC236}">
                <a16:creationId xmlns:a16="http://schemas.microsoft.com/office/drawing/2014/main" id="{4E9E1167-EFE7-4C9F-8D44-50F9D81A045F}"/>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6" name="">
            <a:extLst xmlns:a="http://schemas.openxmlformats.org/drawingml/2006/main">
              <a:ext uri="{FF2B5EF4-FFF2-40B4-BE49-F238E27FC236}">
                <a16:creationId xmlns:a16="http://schemas.microsoft.com/office/drawing/2014/main" id="{047B14CB-E1ED-4281-B949-F0507266D7F9}"/>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7" name="">
            <a:extLst xmlns:a="http://schemas.openxmlformats.org/drawingml/2006/main">
              <a:ext uri="{FF2B5EF4-FFF2-40B4-BE49-F238E27FC236}">
                <a16:creationId xmlns:a16="http://schemas.microsoft.com/office/drawing/2014/main" id="{D4BCFF18-01E7-4C64-BC7D-A59DB31C6096}"/>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8" name="">
            <a:extLst xmlns:a="http://schemas.openxmlformats.org/drawingml/2006/main">
              <a:ext uri="{FF2B5EF4-FFF2-40B4-BE49-F238E27FC236}">
                <a16:creationId xmlns:a16="http://schemas.microsoft.com/office/drawing/2014/main" id="{681150A4-D1A6-421B-A102-D6FE5D06D181}"/>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 66.3%</a:t>
            </a:r>
          </a:p>
        </p:txBody>
      </p:sp>
      <p:sp>
        <p:nvSpPr>
          <p:cNvPr id="9" name="">
            <a:extLst xmlns:a="http://schemas.openxmlformats.org/drawingml/2006/main">
              <a:ext uri="{FF2B5EF4-FFF2-40B4-BE49-F238E27FC236}">
                <a16:creationId xmlns:a16="http://schemas.microsoft.com/office/drawing/2014/main" id="{632415EA-F78C-4347-A132-F4368DB6C95C}"/>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等效单程 loss 1.46% → 0.68%</a:t>
            </a:r>
          </a:p>
        </p:txBody>
      </p:sp>
      <p:sp>
        <p:nvSpPr>
          <p:cNvPr id="10" name="">
            <a:extLst xmlns:a="http://schemas.openxmlformats.org/drawingml/2006/main">
              <a:ext uri="{FF2B5EF4-FFF2-40B4-BE49-F238E27FC236}">
                <a16:creationId xmlns:a16="http://schemas.microsoft.com/office/drawing/2014/main" id="{958D0071-B016-4196-BAC6-ADCD4085D21C}"/>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1" name="">
            <a:extLst xmlns:a="http://schemas.openxmlformats.org/drawingml/2006/main">
              <a:ext uri="{FF2B5EF4-FFF2-40B4-BE49-F238E27FC236}">
                <a16:creationId xmlns:a16="http://schemas.microsoft.com/office/drawing/2014/main" id="{6AA50421-9228-4588-A1FB-ED8F8ED0549D}"/>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2" name="">
            <a:extLst xmlns:a="http://schemas.openxmlformats.org/drawingml/2006/main">
              <a:ext uri="{FF2B5EF4-FFF2-40B4-BE49-F238E27FC236}">
                <a16:creationId xmlns:a16="http://schemas.microsoft.com/office/drawing/2014/main" id="{FE71C8CC-1DB3-4C9C-A55B-8E7B9E64BCF7}"/>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3" name="">
            <a:extLst xmlns:a="http://schemas.openxmlformats.org/drawingml/2006/main">
              <a:ext uri="{FF2B5EF4-FFF2-40B4-BE49-F238E27FC236}">
                <a16:creationId xmlns:a16="http://schemas.microsoft.com/office/drawing/2014/main" id="{17550940-088E-45AF-AEBB-73D5C3EA6CE6}"/>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 75.8%</a:t>
            </a:r>
          </a:p>
        </p:txBody>
      </p:sp>
      <p:sp>
        <p:nvSpPr>
          <p:cNvPr id="14" name="">
            <a:extLst xmlns:a="http://schemas.openxmlformats.org/drawingml/2006/main">
              <a:ext uri="{FF2B5EF4-FFF2-40B4-BE49-F238E27FC236}">
                <a16:creationId xmlns:a16="http://schemas.microsoft.com/office/drawing/2014/main" id="{2CCEEA6C-9BE6-429A-B2A5-DEA0CCA1CDD0}"/>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等效单程 loss 1.06% → 0.46%</a:t>
            </a:r>
          </a:p>
        </p:txBody>
      </p:sp>
      <p:sp>
        <p:nvSpPr>
          <p:cNvPr id="15" name="">
            <a:extLst xmlns:a="http://schemas.openxmlformats.org/drawingml/2006/main">
              <a:ext uri="{FF2B5EF4-FFF2-40B4-BE49-F238E27FC236}">
                <a16:creationId xmlns:a16="http://schemas.microsoft.com/office/drawing/2014/main" id="{3EBCF7A0-83CF-4A9B-A0A6-609055258794}"/>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相对增益接近，但 MC 的两条绝对 survival 仍偏高。</a:t>
            </a:r>
          </a:p>
        </p:txBody>
      </p:sp>
      <p:sp>
        <p:nvSpPr>
          <p:cNvPr id="16" name="">
            <a:extLst xmlns:a="http://schemas.openxmlformats.org/drawingml/2006/main">
              <a:ext uri="{FF2B5EF4-FFF2-40B4-BE49-F238E27FC236}">
                <a16:creationId xmlns:a16="http://schemas.microsoft.com/office/drawing/2014/main" id="{92C56C62-E2C1-4DEA-8234-4B5EBF45961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EC77B47F-0389-46F2-81CF-E3ADFDB21C8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reference/fig6d_survival_digitized.csv</a:t>
            </a:r>
          </a:p>
        </p:txBody>
      </p:sp>
      <p:sp>
        <p:nvSpPr>
          <p:cNvPr id="18" name="">
            <a:extLst xmlns:a="http://schemas.openxmlformats.org/drawingml/2006/main">
              <a:ext uri="{FF2B5EF4-FFF2-40B4-BE49-F238E27FC236}">
                <a16:creationId xmlns:a16="http://schemas.microsoft.com/office/drawing/2014/main" id="{DF022BF1-5920-4A16-8799-800B74FA37E6}"/>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51835298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3174EB-3DAF-47AD-B7B7-0A27BFF00F3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ML 优势依赖真实位置剖面，而不是“同时式”标签</a:t>
            </a:r>
          </a:p>
        </p:txBody>
      </p:sp>
      <p:sp>
        <p:nvSpPr>
          <p:cNvPr id="2" name="">
            <a:extLst xmlns:a="http://schemas.openxmlformats.org/drawingml/2006/main">
              <a:ext uri="{FF2B5EF4-FFF2-40B4-BE49-F238E27FC236}">
                <a16:creationId xmlns:a16="http://schemas.microsoft.com/office/drawing/2014/main" id="{04C5908A-C884-4A0F-95A9-83BEA9BB05FD}"/>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C07EF4C1-08BD-4A3C-8D65-A736D095AE4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Fig. 6c vector digitization yields 15 plotted nodes; model uses ordinary cubic interpolation</a:t>
            </a:r>
          </a:p>
        </p:txBody>
      </p:sp>
      <p:graphicFrame>
        <p:nvGraphicFramePr>
          <p:cNvPr id="14"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932464c425ff48fa"/>
          </a:graphicData>
        </a:graphic>
      </p:graphicFrame>
      <p:graphicFrame>
        <p:nvGraphicFramePr>
          <p:cNvPr id="15"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e16ec4ca8d9147b4"/>
          </a:graphicData>
        </a:graphic>
      </p:graphicFrame>
      <p:sp>
        <p:nvSpPr>
          <p:cNvPr id="6" name="">
            <a:extLst xmlns:a="http://schemas.openxmlformats.org/drawingml/2006/main">
              <a:ext uri="{FF2B5EF4-FFF2-40B4-BE49-F238E27FC236}">
                <a16:creationId xmlns:a16="http://schemas.microsoft.com/office/drawing/2014/main" id="{389236C9-3DE1-45DC-9D77-8B4F0AA3DD88}"/>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450E70C7-BDEA-440F-B073-4524E538EB7C}"/>
              </a:ext>
            </a:extLst>
          </p:cNvPr>
          <p:cNvSpPr>
            <a:spLocks xmlns:a="http://schemas.openxmlformats.org/drawingml/2006/main" noGrp="1"/>
          </p:cNvSpPr>
          <p:nvPr/>
        </p:nvSpPr>
        <p:spPr>
          <a:xfrm xmlns:a="http://schemas.openxmlformats.org/drawingml/2006/main">
            <a:off x="838200" y="5429250"/>
            <a:ext cx="10439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Fig. 6c ML 位置先在约 0.11 µm 平台停留，再在接近满深时加速移动并平缓收尾。原 LHS 增量参数化没有覆盖这一结构化轨迹族。</a:t>
            </a:r>
          </a:p>
        </p:txBody>
      </p:sp>
      <p:sp>
        <p:nvSpPr>
          <p:cNvPr id="8" name="">
            <a:extLst xmlns:a="http://schemas.openxmlformats.org/drawingml/2006/main">
              <a:ext uri="{FF2B5EF4-FFF2-40B4-BE49-F238E27FC236}">
                <a16:creationId xmlns:a16="http://schemas.microsoft.com/office/drawing/2014/main" id="{A5F94743-802F-4905-94A5-1A91D1EA90E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64564676-B10C-4C8A-9E77-22E7CFB38548}"/>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a:t>
            </a:r>
          </a:p>
        </p:txBody>
      </p:sp>
      <p:sp>
        <p:nvSpPr>
          <p:cNvPr id="10" name="">
            <a:extLst xmlns:a="http://schemas.openxmlformats.org/drawingml/2006/main">
              <a:ext uri="{FF2B5EF4-FFF2-40B4-BE49-F238E27FC236}">
                <a16:creationId xmlns:a16="http://schemas.microsoft.com/office/drawing/2014/main" id="{26D5B77A-4691-42EC-A6E2-06190CA19E7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66845831"/>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1931BF-5021-4A74-A66C-D810089B5EE1}"/>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模型内 ML 增益几乎全部来自 position trajectory</a:t>
            </a:r>
          </a:p>
        </p:txBody>
      </p:sp>
      <p:sp>
        <p:nvSpPr>
          <p:cNvPr id="2" name="">
            <a:extLst xmlns:a="http://schemas.openxmlformats.org/drawingml/2006/main">
              <a:ext uri="{FF2B5EF4-FFF2-40B4-BE49-F238E27FC236}">
                <a16:creationId xmlns:a16="http://schemas.microsoft.com/office/drawing/2014/main" id="{E2E8A134-2442-4383-9BBA-7B870FDF23B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92C55080-FDE9-4C0E-AA78-6A65658F52D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T40 validation cross-ablation, 512 shots; simulation-side attribution only</a:t>
            </a:r>
          </a:p>
        </p:txBody>
      </p:sp>
      <p:graphicFrame>
        <p:nvGraphicFramePr>
          <p:cNvPr id="20"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536dd9ab488d4de2"/>
          </a:graphicData>
        </a:graphic>
      </p:graphicFrame>
      <p:sp>
        <p:nvSpPr>
          <p:cNvPr id="5" name="">
            <a:extLst xmlns:a="http://schemas.openxmlformats.org/drawingml/2006/main">
              <a:ext uri="{FF2B5EF4-FFF2-40B4-BE49-F238E27FC236}">
                <a16:creationId xmlns:a16="http://schemas.microsoft.com/office/drawing/2014/main" id="{6310CB65-4614-4A1E-B3F8-0E0D5849D21A}"/>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6" name="">
            <a:extLst xmlns:a="http://schemas.openxmlformats.org/drawingml/2006/main">
              <a:ext uri="{FF2B5EF4-FFF2-40B4-BE49-F238E27FC236}">
                <a16:creationId xmlns:a16="http://schemas.microsoft.com/office/drawing/2014/main" id="{7AEAAFDC-D169-4E8F-87B0-61A187D50EB0}"/>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7" name="">
            <a:extLst xmlns:a="http://schemas.openxmlformats.org/drawingml/2006/main">
              <a:ext uri="{FF2B5EF4-FFF2-40B4-BE49-F238E27FC236}">
                <a16:creationId xmlns:a16="http://schemas.microsoft.com/office/drawing/2014/main" id="{ACDD34E7-F0BF-4B7E-A525-6FADD192FDF3}"/>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8" name="">
            <a:extLst xmlns:a="http://schemas.openxmlformats.org/drawingml/2006/main">
              <a:ext uri="{FF2B5EF4-FFF2-40B4-BE49-F238E27FC236}">
                <a16:creationId xmlns:a16="http://schemas.microsoft.com/office/drawing/2014/main" id="{3A5AF961-B51C-4D0B-B918-6E15E48A079A}"/>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9" name="">
            <a:extLst xmlns:a="http://schemas.openxmlformats.org/drawingml/2006/main">
              <a:ext uri="{FF2B5EF4-FFF2-40B4-BE49-F238E27FC236}">
                <a16:creationId xmlns:a16="http://schemas.microsoft.com/office/drawing/2014/main" id="{55DA06CC-C5FD-421E-9E35-2ABF3677C907}"/>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44606176-0C3F-41B7-B4FE-D4CF9EA6F085}"/>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1" name="">
            <a:extLst xmlns:a="http://schemas.openxmlformats.org/drawingml/2006/main">
              <a:ext uri="{FF2B5EF4-FFF2-40B4-BE49-F238E27FC236}">
                <a16:creationId xmlns:a16="http://schemas.microsoft.com/office/drawing/2014/main" id="{2F98D8DB-C1B1-4294-96C1-6226A870A00D}"/>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2" name="">
            <a:extLst xmlns:a="http://schemas.openxmlformats.org/drawingml/2006/main">
              <a:ext uri="{FF2B5EF4-FFF2-40B4-BE49-F238E27FC236}">
                <a16:creationId xmlns:a16="http://schemas.microsoft.com/office/drawing/2014/main" id="{052CE9AF-1AB3-4727-9346-A2D86484F8C0}"/>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3" name="">
            <a:extLst xmlns:a="http://schemas.openxmlformats.org/drawingml/2006/main">
              <a:ext uri="{FF2B5EF4-FFF2-40B4-BE49-F238E27FC236}">
                <a16:creationId xmlns:a16="http://schemas.microsoft.com/office/drawing/2014/main" id="{04275868-3258-4BA3-A5AE-3DDC5C743D6F}"/>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4" name="">
            <a:extLst xmlns:a="http://schemas.openxmlformats.org/drawingml/2006/main">
              <a:ext uri="{FF2B5EF4-FFF2-40B4-BE49-F238E27FC236}">
                <a16:creationId xmlns:a16="http://schemas.microsoft.com/office/drawing/2014/main" id="{F4E2D5B4-0732-4653-8A58-45A1CB90D466}"/>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68EE16EF-A87D-4EC4-9DE4-371888BFF6DC}"/>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reproducible script ablation_cross_2x2.py</a:t>
            </a:r>
          </a:p>
        </p:txBody>
      </p:sp>
      <p:sp>
        <p:nvSpPr>
          <p:cNvPr id="16" name="">
            <a:extLst xmlns:a="http://schemas.openxmlformats.org/drawingml/2006/main">
              <a:ext uri="{FF2B5EF4-FFF2-40B4-BE49-F238E27FC236}">
                <a16:creationId xmlns:a16="http://schemas.microsoft.com/office/drawing/2014/main" id="{8184204F-82BD-40F0-A2F4-0F2BC6DD39C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656092531"/>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BF6CD8-9681-41C9-BF4D-DAD7C0074637}"/>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扫描已排除静态对准和均匀抖动作为唯一解释</a:t>
            </a:r>
          </a:p>
        </p:txBody>
      </p:sp>
      <p:sp>
        <p:nvSpPr>
          <p:cNvPr id="2" name="">
            <a:extLst xmlns:a="http://schemas.openxmlformats.org/drawingml/2006/main">
              <a:ext uri="{FF2B5EF4-FFF2-40B4-BE49-F238E27FC236}">
                <a16:creationId xmlns:a16="http://schemas.microsoft.com/office/drawing/2014/main" id="{CE10DF71-7304-4B84-85AA-AC0424A3F94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88A5EA30-8204-4B95-B22E-52969EE0E8AD}"/>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Stage-1 one-factor scans, 256-shot common-random-number pool</a:t>
            </a:r>
          </a:p>
        </p:txBody>
      </p:sp>
      <p:graphicFrame>
        <p:nvGraphicFramePr>
          <p:cNvPr id="14" name=""/>
          <p:cNvGraphicFramePr/>
          <p:nvPr/>
        </p:nvGraphicFramePr>
        <p:xfrm>
          <a:off xmlns:a="http://schemas.openxmlformats.org/drawingml/2006/main" x="609600" y="1390650"/>
          <a:ext xmlns:a="http://schemas.openxmlformats.org/drawingml/2006/main" cx="10972800" cy="3390900"/>
        </p:xfrm>
        <a:graphic xmlns:a="http://schemas.openxmlformats.org/drawingml/2006/main">
          <a:graphicData uri="http://schemas.openxmlformats.org/drawingml/2006/table">
            <a:tbl>
              <a:tblPr/>
              <a:tblGrid>
                <a:gridCol w="2237874"/>
                <a:gridCol w="1949116"/>
                <a:gridCol w="1949116"/>
                <a:gridCol w="4836695"/>
              </a:tblGrid>
              <a:tr h="484414">
                <a:tc>
                  <a:txBody>
                    <a:bodyPr>
                      <a:noAutofit/>
                    </a:bodyPr>
                    <a:lstStyle/>
                    <a:p>
                      <a:pPr algn="l"/>
                      <a:r>
                        <a:rPr sz="1050" b="1">
                          <a:solidFill>
                            <a:srgbClr val="FFFFFF"/>
                          </a:solidFill>
                          <a:latin typeface="Microsoft YaHei"/>
                          <a:ea typeface="Microsoft YaHei"/>
                          <a:cs typeface="Microsoft YaHei"/>
                        </a:rPr>
                        <a:t>Scenario</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Manual 400 S(60)</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Manual 600 S(60)</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What the scan supports</a:t>
                      </a:r>
                    </a:p>
                  </a:txBody>
                  <a:tcPr marL="91440" marR="91440" marT="45720" marB="45720" anchor="ctr">
                    <a:solidFill>
                      <a:srgbClr val="102A43"/>
                    </a:solidFill>
                  </a:tcPr>
                </a:tc>
              </a:tr>
              <a:tr h="484414">
                <a:tc>
                  <a:txBody>
                    <a:bodyPr>
                      <a:noAutofit/>
                    </a:bodyPr>
                    <a:lstStyle/>
                    <a:p>
                      <a:pPr algn="l"/>
                      <a:r>
                        <a:rPr sz="1050" b="0">
                          <a:solidFill>
                            <a:srgbClr val="344054"/>
                          </a:solidFill>
                          <a:latin typeface="Microsoft YaHei"/>
                          <a:ea typeface="Microsoft YaHei"/>
                          <a:cs typeface="Microsoft YaHei"/>
                        </a:rPr>
                        <a:t>Paper</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0.414</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0.573</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Reference endpoints</a:t>
                      </a:r>
                    </a:p>
                  </a:txBody>
                  <a:tcPr marL="91440" marR="91440" marT="45720" marB="45720" anchor="ctr">
                    <a:solidFill>
                      <a:srgbClr val="FFFFFF"/>
                    </a:solidFill>
                  </a:tcPr>
                </a:tc>
              </a:tr>
              <a:tr h="484414">
                <a:tc>
                  <a:txBody>
                    <a:bodyPr>
                      <a:noAutofit/>
                    </a:bodyPr>
                    <a:lstStyle/>
                    <a:p>
                      <a:pPr algn="l"/>
                      <a:r>
                        <a:rPr sz="1050" b="0">
                          <a:solidFill>
                            <a:srgbClr val="344054"/>
                          </a:solidFill>
                          <a:latin typeface="Microsoft YaHei"/>
                          <a:ea typeface="Microsoft YaHei"/>
                          <a:cs typeface="Microsoft YaHei"/>
                        </a:rPr>
                        <a:t>Default T=5 µK</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0.930</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0.996</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Absolute loss far too small</a:t>
                      </a:r>
                    </a:p>
                  </a:txBody>
                  <a:tcPr marL="91440" marR="91440" marT="45720" marB="45720" anchor="ctr">
                    <a:solidFill>
                      <a:srgbClr val="F8FAFC"/>
                    </a:solidFill>
                  </a:tcPr>
                </a:tc>
              </a:tr>
              <a:tr h="484414">
                <a:tc>
                  <a:txBody>
                    <a:bodyPr>
                      <a:noAutofit/>
                    </a:bodyPr>
                    <a:lstStyle/>
                    <a:p>
                      <a:pPr algn="l"/>
                      <a:r>
                        <a:rPr sz="1050" b="0">
                          <a:solidFill>
                            <a:srgbClr val="344054"/>
                          </a:solidFill>
                          <a:latin typeface="Microsoft YaHei"/>
                          <a:ea typeface="Microsoft YaHei"/>
                          <a:cs typeface="Microsoft YaHei"/>
                        </a:rPr>
                        <a:t>T=40 µK</a:t>
                      </a:r>
                    </a:p>
                  </a:txBody>
                  <a:tcPr marL="91440" marR="91440" marT="45720" marB="45720" anchor="ctr">
                    <a:solidFill>
                      <a:srgbClr val="ECFDF3"/>
                    </a:solidFill>
                  </a:tcPr>
                </a:tc>
                <a:tc>
                  <a:txBody>
                    <a:bodyPr>
                      <a:noAutofit/>
                    </a:bodyPr>
                    <a:lstStyle/>
                    <a:p>
                      <a:pPr algn="l"/>
                      <a:r>
                        <a:rPr sz="1050" b="0">
                          <a:solidFill>
                            <a:srgbClr val="344054"/>
                          </a:solidFill>
                          <a:latin typeface="Microsoft YaHei"/>
                          <a:ea typeface="Microsoft YaHei"/>
                          <a:cs typeface="Microsoft YaHei"/>
                        </a:rPr>
                        <a:t>0.527</a:t>
                      </a:r>
                    </a:p>
                  </a:txBody>
                  <a:tcPr marL="91440" marR="91440" marT="45720" marB="45720" anchor="ctr">
                    <a:solidFill>
                      <a:srgbClr val="ECFDF3"/>
                    </a:solidFill>
                  </a:tcPr>
                </a:tc>
                <a:tc>
                  <a:txBody>
                    <a:bodyPr>
                      <a:noAutofit/>
                    </a:bodyPr>
                    <a:lstStyle/>
                    <a:p>
                      <a:pPr algn="l"/>
                      <a:r>
                        <a:rPr sz="1050" b="0">
                          <a:solidFill>
                            <a:srgbClr val="344054"/>
                          </a:solidFill>
                          <a:latin typeface="Microsoft YaHei"/>
                          <a:ea typeface="Microsoft YaHei"/>
                          <a:cs typeface="Microsoft YaHei"/>
                        </a:rPr>
                        <a:t>0.680</a:t>
                      </a:r>
                    </a:p>
                  </a:txBody>
                  <a:tcPr marL="91440" marR="91440" marT="45720" marB="45720" anchor="ctr">
                    <a:solidFill>
                      <a:srgbClr val="ECFDF3"/>
                    </a:solidFill>
                  </a:tcPr>
                </a:tc>
                <a:tc>
                  <a:txBody>
                    <a:bodyPr>
                      <a:noAutofit/>
                    </a:bodyPr>
                    <a:lstStyle/>
                    <a:p>
                      <a:pPr algn="l"/>
                      <a:r>
                        <a:rPr sz="1050" b="0">
                          <a:solidFill>
                            <a:srgbClr val="344054"/>
                          </a:solidFill>
                          <a:latin typeface="Microsoft YaHei"/>
                          <a:ea typeface="Microsoft YaHei"/>
                          <a:cs typeface="Microsoft YaHei"/>
                        </a:rPr>
                        <a:t>Correct duration order; temperature is uncalibrated</a:t>
                      </a:r>
                    </a:p>
                  </a:txBody>
                  <a:tcPr marL="91440" marR="91440" marT="45720" marB="45720" anchor="ctr">
                    <a:solidFill>
                      <a:srgbClr val="ECFDF3"/>
                    </a:solidFill>
                  </a:tcPr>
                </a:tc>
              </a:tr>
              <a:tr h="484414">
                <a:tc>
                  <a:txBody>
                    <a:bodyPr>
                      <a:noAutofit/>
                    </a:bodyPr>
                    <a:lstStyle/>
                    <a:p>
                      <a:pPr algn="l"/>
                      <a:r>
                        <a:rPr sz="1050" b="0">
                          <a:solidFill>
                            <a:srgbClr val="344054"/>
                          </a:solidFill>
                          <a:latin typeface="Microsoft YaHei"/>
                          <a:ea typeface="Microsoft YaHei"/>
                          <a:cs typeface="Microsoft YaHei"/>
                        </a:rPr>
                        <a:t>RIN=3×10⁻⁷ Hz⁻¹</a:t>
                      </a:r>
                    </a:p>
                  </a:txBody>
                  <a:tcPr marL="91440" marR="91440" marT="45720" marB="45720" anchor="ctr">
                    <a:solidFill>
                      <a:srgbClr val="ECFDF3"/>
                    </a:solidFill>
                  </a:tcPr>
                </a:tc>
                <a:tc>
                  <a:txBody>
                    <a:bodyPr>
                      <a:noAutofit/>
                    </a:bodyPr>
                    <a:lstStyle/>
                    <a:p>
                      <a:pPr algn="l"/>
                      <a:r>
                        <a:rPr sz="1050" b="0">
                          <a:solidFill>
                            <a:srgbClr val="344054"/>
                          </a:solidFill>
                          <a:latin typeface="Microsoft YaHei"/>
                          <a:ea typeface="Microsoft YaHei"/>
                          <a:cs typeface="Microsoft YaHei"/>
                        </a:rPr>
                        <a:t>0.359</a:t>
                      </a:r>
                    </a:p>
                  </a:txBody>
                  <a:tcPr marL="91440" marR="91440" marT="45720" marB="45720" anchor="ctr">
                    <a:solidFill>
                      <a:srgbClr val="ECFDF3"/>
                    </a:solidFill>
                  </a:tcPr>
                </a:tc>
                <a:tc>
                  <a:txBody>
                    <a:bodyPr>
                      <a:noAutofit/>
                    </a:bodyPr>
                    <a:lstStyle/>
                    <a:p>
                      <a:pPr algn="l"/>
                      <a:r>
                        <a:rPr sz="1050" b="0">
                          <a:solidFill>
                            <a:srgbClr val="344054"/>
                          </a:solidFill>
                          <a:latin typeface="Microsoft YaHei"/>
                          <a:ea typeface="Microsoft YaHei"/>
                          <a:cs typeface="Microsoft YaHei"/>
                        </a:rPr>
                        <a:t>0.434</a:t>
                      </a:r>
                    </a:p>
                  </a:txBody>
                  <a:tcPr marL="91440" marR="91440" marT="45720" marB="45720" anchor="ctr">
                    <a:solidFill>
                      <a:srgbClr val="ECFDF3"/>
                    </a:solidFill>
                  </a:tcPr>
                </a:tc>
                <a:tc>
                  <a:txBody>
                    <a:bodyPr>
                      <a:noAutofit/>
                    </a:bodyPr>
                    <a:lstStyle/>
                    <a:p>
                      <a:pPr algn="l"/>
                      <a:r>
                        <a:rPr sz="1050" b="0">
                          <a:solidFill>
                            <a:srgbClr val="344054"/>
                          </a:solidFill>
                          <a:latin typeface="Microsoft YaHei"/>
                          <a:ea typeface="Microsoft YaHei"/>
                          <a:cs typeface="Microsoft YaHei"/>
                        </a:rPr>
                        <a:t>Correct order and loss scale; RIN is unanchored</a:t>
                      </a:r>
                    </a:p>
                  </a:txBody>
                  <a:tcPr marL="91440" marR="91440" marT="45720" marB="45720" anchor="ctr">
                    <a:solidFill>
                      <a:srgbClr val="ECFDF3"/>
                    </a:solidFill>
                  </a:tcPr>
                </a:tc>
              </a:tr>
              <a:tr h="484414">
                <a:tc>
                  <a:txBody>
                    <a:bodyPr>
                      <a:noAutofit/>
                    </a:bodyPr>
                    <a:lstStyle/>
                    <a:p>
                      <a:pPr algn="l"/>
                      <a:r>
                        <a:rPr sz="1050" b="0">
                          <a:solidFill>
                            <a:srgbClr val="344054"/>
                          </a:solidFill>
                          <a:latin typeface="Microsoft YaHei"/>
                          <a:ea typeface="Microsoft YaHei"/>
                          <a:cs typeface="Microsoft YaHei"/>
                        </a:rPr>
                        <a:t>Static alignment σ=0.15–0.30 µm</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0.934 / 0.922</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0.996 / 0.996</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Almost no effect in the 1D model</a:t>
                      </a:r>
                    </a:p>
                  </a:txBody>
                  <a:tcPr marL="91440" marR="91440" marT="45720" marB="45720" anchor="ctr">
                    <a:solidFill>
                      <a:srgbClr val="F8FAFC"/>
                    </a:solidFill>
                  </a:tcPr>
                </a:tc>
              </a:tr>
              <a:tr h="484414">
                <a:tc>
                  <a:txBody>
                    <a:bodyPr>
                      <a:noAutofit/>
                    </a:bodyPr>
                    <a:lstStyle/>
                    <a:p>
                      <a:pPr algn="l"/>
                      <a:r>
                        <a:rPr sz="1050" b="0">
                          <a:solidFill>
                            <a:srgbClr val="344054"/>
                          </a:solidFill>
                          <a:latin typeface="Microsoft YaHei"/>
                          <a:ea typeface="Microsoft YaHei"/>
                          <a:cs typeface="Microsoft YaHei"/>
                        </a:rPr>
                        <a:t>Per-transfer jitter σ=0.10 µm</a:t>
                      </a:r>
                    </a:p>
                  </a:txBody>
                  <a:tcPr marL="91440" marR="91440" marT="45720" marB="45720" anchor="ctr">
                    <a:solidFill>
                      <a:srgbClr val="FEF3F2"/>
                    </a:solidFill>
                  </a:tcPr>
                </a:tc>
                <a:tc>
                  <a:txBody>
                    <a:bodyPr>
                      <a:noAutofit/>
                    </a:bodyPr>
                    <a:lstStyle/>
                    <a:p>
                      <a:pPr algn="l"/>
                      <a:r>
                        <a:rPr sz="1050" b="0">
                          <a:solidFill>
                            <a:srgbClr val="344054"/>
                          </a:solidFill>
                          <a:latin typeface="Microsoft YaHei"/>
                          <a:ea typeface="Microsoft YaHei"/>
                          <a:cs typeface="Microsoft YaHei"/>
                        </a:rPr>
                        <a:t>0.094</a:t>
                      </a:r>
                    </a:p>
                  </a:txBody>
                  <a:tcPr marL="91440" marR="91440" marT="45720" marB="45720" anchor="ctr">
                    <a:solidFill>
                      <a:srgbClr val="FEF3F2"/>
                    </a:solidFill>
                  </a:tcPr>
                </a:tc>
                <a:tc>
                  <a:txBody>
                    <a:bodyPr>
                      <a:noAutofit/>
                    </a:bodyPr>
                    <a:lstStyle/>
                    <a:p>
                      <a:pPr algn="l"/>
                      <a:r>
                        <a:rPr sz="1050" b="0">
                          <a:solidFill>
                            <a:srgbClr val="344054"/>
                          </a:solidFill>
                          <a:latin typeface="Microsoft YaHei"/>
                          <a:ea typeface="Microsoft YaHei"/>
                          <a:cs typeface="Microsoft YaHei"/>
                        </a:rPr>
                        <a:t>0.105</a:t>
                      </a:r>
                    </a:p>
                  </a:txBody>
                  <a:tcPr marL="91440" marR="91440" marT="45720" marB="45720" anchor="ctr">
                    <a:solidFill>
                      <a:srgbClr val="FEF3F2"/>
                    </a:solidFill>
                  </a:tcPr>
                </a:tc>
                <a:tc>
                  <a:txBody>
                    <a:bodyPr>
                      <a:noAutofit/>
                    </a:bodyPr>
                    <a:lstStyle/>
                    <a:p>
                      <a:pPr algn="l"/>
                      <a:r>
                        <a:rPr sz="1050" b="0">
                          <a:solidFill>
                            <a:srgbClr val="344054"/>
                          </a:solidFill>
                          <a:latin typeface="Microsoft YaHei"/>
                          <a:ea typeface="Microsoft YaHei"/>
                          <a:cs typeface="Microsoft YaHei"/>
                        </a:rPr>
                        <a:t>Large loss but nearly duration-independent</a:t>
                      </a:r>
                    </a:p>
                  </a:txBody>
                  <a:tcPr marL="91440" marR="91440" marT="45720" marB="45720" anchor="ctr">
                    <a:solidFill>
                      <a:srgbClr val="FEF3F2"/>
                    </a:solidFill>
                  </a:tcPr>
                </a:tc>
              </a:tr>
            </a:tbl>
          </a:graphicData>
        </a:graphic>
      </p:graphicFrame>
      <p:sp>
        <p:nvSpPr>
          <p:cNvPr id="5" name="">
            <a:extLst xmlns:a="http://schemas.openxmlformats.org/drawingml/2006/main">
              <a:ext uri="{FF2B5EF4-FFF2-40B4-BE49-F238E27FC236}">
                <a16:creationId xmlns:a16="http://schemas.microsoft.com/office/drawing/2014/main" id="{E5B2ED53-714E-4D6E-B3FC-44D1702032A3}"/>
              </a:ext>
            </a:extLst>
          </p:cNvPr>
          <p:cNvSpPr>
            <a:spLocks xmlns:a="http://schemas.openxmlformats.org/drawingml/2006/main" noGrp="1"/>
          </p:cNvSpPr>
          <p:nvPr/>
        </p:nvSpPr>
        <p:spPr>
          <a:xfrm xmlns:a="http://schemas.openxmlformats.org/drawingml/2006/main">
            <a:off x="609600" y="5086350"/>
            <a:ext cx="10972800" cy="1028700"/>
          </a:xfrm>
          <a:prstGeom xmlns:a="http://schemas.openxmlformats.org/drawingml/2006/main" prst="roundRect">
            <a:avLst>
              <a:gd name="adj" fmla="val 7407"/>
            </a:avLst>
          </a:prstGeom>
          <a:solidFill xmlns:a="http://schemas.openxmlformats.org/drawingml/2006/main">
            <a:srgbClr val="F2F4F7"/>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C8638867-1216-4EFD-A9D6-1D65117A1602}"/>
              </a:ext>
            </a:extLst>
          </p:cNvPr>
          <p:cNvSpPr>
            <a:spLocks xmlns:a="http://schemas.openxmlformats.org/drawingml/2006/main" noGrp="1"/>
          </p:cNvSpPr>
          <p:nvPr/>
        </p:nvSpPr>
        <p:spPr>
          <a:xfrm xmlns:a="http://schemas.openxmlformats.org/drawingml/2006/main">
            <a:off x="838200" y="527685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机制结论</a:t>
            </a:r>
          </a:p>
        </p:txBody>
      </p:sp>
      <p:sp>
        <p:nvSpPr>
          <p:cNvPr id="7" name="">
            <a:extLst xmlns:a="http://schemas.openxmlformats.org/drawingml/2006/main">
              <a:ext uri="{FF2B5EF4-FFF2-40B4-BE49-F238E27FC236}">
                <a16:creationId xmlns:a16="http://schemas.microsoft.com/office/drawing/2014/main" id="{8B83AEED-ADFC-4995-8C6A-CD3CD1335374}"/>
              </a:ext>
            </a:extLst>
          </p:cNvPr>
          <p:cNvSpPr>
            <a:spLocks xmlns:a="http://schemas.openxmlformats.org/drawingml/2006/main" noGrp="1"/>
          </p:cNvSpPr>
          <p:nvPr/>
        </p:nvSpPr>
        <p:spPr>
          <a:xfrm xmlns:a="http://schemas.openxmlformats.org/drawingml/2006/main">
            <a:off x="2190750" y="5238750"/>
            <a:ext cx="906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模型需要与轨迹动力学耦合的能量或损失机制才能保留 200 &lt; 400 &lt; 600 的时长排序。T40 和 R3e−7 提供可行量级，但都不是独立实验标定。</a:t>
            </a:r>
          </a:p>
        </p:txBody>
      </p:sp>
      <p:sp>
        <p:nvSpPr>
          <p:cNvPr id="8" name="">
            <a:extLst xmlns:a="http://schemas.openxmlformats.org/drawingml/2006/main">
              <a:ext uri="{FF2B5EF4-FFF2-40B4-BE49-F238E27FC236}">
                <a16:creationId xmlns:a16="http://schemas.microsoft.com/office/drawing/2014/main" id="{47E87E2F-7C35-4C97-89C1-2DD8D488D1C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BF50E995-7C53-49D1-A83E-6DE5B05F5813}"/>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scan_stage1/*/survival_scan_results.csv · summary_stage1.md</a:t>
            </a:r>
          </a:p>
        </p:txBody>
      </p:sp>
      <p:sp>
        <p:nvSpPr>
          <p:cNvPr id="10" name="">
            <a:extLst xmlns:a="http://schemas.openxmlformats.org/drawingml/2006/main">
              <a:ext uri="{FF2B5EF4-FFF2-40B4-BE49-F238E27FC236}">
                <a16:creationId xmlns:a16="http://schemas.microsoft.com/office/drawing/2014/main" id="{5A14FCFF-E9FF-4B70-BEFC-567B01CB881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643503365"/>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92A31D-362A-464D-AF32-5215D96A55E5}"/>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没有一条当前曲线达到 ±0.02 全曲线验收标准</a:t>
            </a:r>
          </a:p>
        </p:txBody>
      </p:sp>
      <p:sp>
        <p:nvSpPr>
          <p:cNvPr id="2" name="">
            <a:extLst xmlns:a="http://schemas.openxmlformats.org/drawingml/2006/main">
              <a:ext uri="{FF2B5EF4-FFF2-40B4-BE49-F238E27FC236}">
                <a16:creationId xmlns:a16="http://schemas.microsoft.com/office/drawing/2014/main" id="{38E67A28-5775-4985-8981-69444ADD6A8D}"/>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80F4853E-0649-4551-B459-A4E43A9F0DD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T40 raw validation for manual curves; Fig. 6c ML uses raw 256-shot endpoint replay</a:t>
            </a:r>
          </a:p>
        </p:txBody>
      </p:sp>
      <p:graphicFrame>
        <p:nvGraphicFramePr>
          <p:cNvPr id="17"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5" name="">
            <a:extLst xmlns:a="http://schemas.openxmlformats.org/drawingml/2006/main">
              <a:ext uri="{FF2B5EF4-FFF2-40B4-BE49-F238E27FC236}">
                <a16:creationId xmlns:a16="http://schemas.microsoft.com/office/drawing/2014/main" id="{32E3288E-E5E2-4ABA-AC47-B02250A5597C}"/>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6" name="">
            <a:extLst xmlns:a="http://schemas.openxmlformats.org/drawingml/2006/main">
              <a:ext uri="{FF2B5EF4-FFF2-40B4-BE49-F238E27FC236}">
                <a16:creationId xmlns:a16="http://schemas.microsoft.com/office/drawing/2014/main" id="{826A1ECF-6618-41A0-9B66-92BA5BE09F24}"/>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7" name="">
            <a:extLst xmlns:a="http://schemas.openxmlformats.org/drawingml/2006/main">
              <a:ext uri="{FF2B5EF4-FFF2-40B4-BE49-F238E27FC236}">
                <a16:creationId xmlns:a16="http://schemas.microsoft.com/office/drawing/2014/main" id="{265CBAC6-6677-4694-91C0-2092FCF6A480}"/>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8" name="">
            <a:extLst xmlns:a="http://schemas.openxmlformats.org/drawingml/2006/main">
              <a:ext uri="{FF2B5EF4-FFF2-40B4-BE49-F238E27FC236}">
                <a16:creationId xmlns:a16="http://schemas.microsoft.com/office/drawing/2014/main" id="{96EAF33E-C2E2-4390-8F6E-C47286F17644}"/>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9" name="">
            <a:extLst xmlns:a="http://schemas.openxmlformats.org/drawingml/2006/main">
              <a:ext uri="{FF2B5EF4-FFF2-40B4-BE49-F238E27FC236}">
                <a16:creationId xmlns:a16="http://schemas.microsoft.com/office/drawing/2014/main" id="{D8E2380C-81FA-4A17-82B6-D1086F17752B}"/>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0" name="">
            <a:extLst xmlns:a="http://schemas.openxmlformats.org/drawingml/2006/main">
              <a:ext uri="{FF2B5EF4-FFF2-40B4-BE49-F238E27FC236}">
                <a16:creationId xmlns:a16="http://schemas.microsoft.com/office/drawing/2014/main" id="{819AD657-8AD8-430A-914E-39692ACCA5F7}"/>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1" name="">
            <a:extLst xmlns:a="http://schemas.openxmlformats.org/drawingml/2006/main">
              <a:ext uri="{FF2B5EF4-FFF2-40B4-BE49-F238E27FC236}">
                <a16:creationId xmlns:a16="http://schemas.microsoft.com/office/drawing/2014/main" id="{B30DCF26-819C-469B-9EB7-5162D3E70DAE}"/>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5A943587-C9F2-4866-A123-1513E5E3E5FA}"/>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3" name="">
            <a:extLst xmlns:a="http://schemas.openxmlformats.org/drawingml/2006/main">
              <a:ext uri="{FF2B5EF4-FFF2-40B4-BE49-F238E27FC236}">
                <a16:creationId xmlns:a16="http://schemas.microsoft.com/office/drawing/2014/main" id="{D6BC6E67-DD8C-40DE-B29C-5B8D0C39F6F3}"/>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1987818989"/>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E215AC-7EC8-4D75-8273-0757EB4E46FA}"/>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400/600 µs 的误差会变号，说明 shape mismatch 仍存在</a:t>
            </a:r>
          </a:p>
        </p:txBody>
      </p:sp>
      <p:sp>
        <p:nvSpPr>
          <p:cNvPr id="2" name="">
            <a:extLst xmlns:a="http://schemas.openxmlformats.org/drawingml/2006/main">
              <a:ext uri="{FF2B5EF4-FFF2-40B4-BE49-F238E27FC236}">
                <a16:creationId xmlns:a16="http://schemas.microsoft.com/office/drawing/2014/main" id="{E0B6F2F6-5D91-4829-9B46-A470DADABFDD}"/>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5B7BDE4C-2F9D-4D16-81AC-20264B7A025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monotone paper reconstruction; zero means agreement</a:t>
            </a:r>
          </a:p>
        </p:txBody>
      </p:sp>
      <p:graphicFrame>
        <p:nvGraphicFramePr>
          <p:cNvPr id="14"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f29ea19f1c33477b"/>
          </a:graphicData>
        </a:graphic>
      </p:graphicFrame>
      <p:graphicFrame>
        <p:nvGraphicFramePr>
          <p:cNvPr id="15"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95f1a14a3b1642f6"/>
          </a:graphicData>
        </a:graphic>
      </p:graphicFrame>
      <p:sp>
        <p:nvSpPr>
          <p:cNvPr id="6" name="">
            <a:extLst xmlns:a="http://schemas.openxmlformats.org/drawingml/2006/main">
              <a:ext uri="{FF2B5EF4-FFF2-40B4-BE49-F238E27FC236}">
                <a16:creationId xmlns:a16="http://schemas.microsoft.com/office/drawing/2014/main" id="{83110185-3382-4B58-9446-C9FF3F9932B1}"/>
              </a:ext>
            </a:extLst>
          </p:cNvPr>
          <p:cNvSpPr>
            <a:spLocks xmlns:a="http://schemas.openxmlformats.org/drawingml/2006/main" noGrp="1"/>
          </p:cNvSpPr>
          <p:nvPr/>
        </p:nvSpPr>
        <p:spPr>
          <a:xfrm xmlns:a="http://schemas.openxmlformats.org/drawingml/2006/main">
            <a:off x="609600" y="5429250"/>
            <a:ext cx="10972800" cy="666750"/>
          </a:xfrm>
          <a:prstGeom xmlns:a="http://schemas.openxmlformats.org/drawingml/2006/main" prst="roundRect">
            <a:avLst>
              <a:gd name="adj" fmla="val 11429"/>
            </a:avLst>
          </a:prstGeom>
          <a:solidFill xmlns:a="http://schemas.openxmlformats.org/drawingml/2006/main">
            <a:srgbClr val="F2F4F7"/>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9CCC2FAC-D15C-4A37-8F31-54BF1C7D704C}"/>
              </a:ext>
            </a:extLst>
          </p:cNvPr>
          <p:cNvSpPr>
            <a:spLocks xmlns:a="http://schemas.openxmlformats.org/drawingml/2006/main" noGrp="1"/>
          </p:cNvSpPr>
          <p:nvPr/>
        </p:nvSpPr>
        <p:spPr>
          <a:xfrm xmlns:a="http://schemas.openxmlformats.org/drawingml/2006/main">
            <a:off x="838200" y="561975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200 µs：持续负偏差且早期衰减过快。400/600 µs：早期偏低、后期偏高，模型的 late-time decay 太慢。</a:t>
            </a:r>
          </a:p>
        </p:txBody>
      </p:sp>
      <p:sp>
        <p:nvSpPr>
          <p:cNvPr id="8" name="">
            <a:extLst xmlns:a="http://schemas.openxmlformats.org/drawingml/2006/main">
              <a:ext uri="{FF2B5EF4-FFF2-40B4-BE49-F238E27FC236}">
                <a16:creationId xmlns:a16="http://schemas.microsoft.com/office/drawing/2014/main" id="{D5D72CB1-259F-49E2-845F-2BB89169579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F92E9496-D426-4AF5-9EBC-62125A9FF6E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a:t>
            </a:r>
          </a:p>
        </p:txBody>
      </p:sp>
      <p:sp>
        <p:nvSpPr>
          <p:cNvPr id="10" name="">
            <a:extLst xmlns:a="http://schemas.openxmlformats.org/drawingml/2006/main">
              <a:ext uri="{FF2B5EF4-FFF2-40B4-BE49-F238E27FC236}">
                <a16:creationId xmlns:a16="http://schemas.microsoft.com/office/drawing/2014/main" id="{301F7616-C2FA-4AB8-9218-E00243A5966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2053413971"/>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4C47FB-E375-43F4-BC32-AA9C0D4EBD27}"/>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剩余误差来自校准、波形和实验链路三类 gap</a:t>
            </a:r>
          </a:p>
        </p:txBody>
      </p:sp>
      <p:sp>
        <p:nvSpPr>
          <p:cNvPr id="2" name="">
            <a:extLst xmlns:a="http://schemas.openxmlformats.org/drawingml/2006/main">
              <a:ext uri="{FF2B5EF4-FFF2-40B4-BE49-F238E27FC236}">
                <a16:creationId xmlns:a16="http://schemas.microsoft.com/office/drawing/2014/main" id="{55E716D5-F2D4-432E-9CF2-7645DCD71B9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531C8D68-C012-47FA-97A4-F2DEBEAEB8D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当前 evidence 不能把某一缺失机制确认为实验主因</a:t>
            </a:r>
          </a:p>
        </p:txBody>
      </p:sp>
      <p:graphicFrame>
        <p:nvGraphicFramePr>
          <p:cNvPr id="13" name=""/>
          <p:cNvGraphicFramePr/>
          <p:nvPr/>
        </p:nvGraphicFramePr>
        <p:xfrm>
          <a:off xmlns:a="http://schemas.openxmlformats.org/drawingml/2006/main" x="609600" y="1352550"/>
          <a:ext xmlns:a="http://schemas.openxmlformats.org/drawingml/2006/main" cx="10972800" cy="4191000"/>
        </p:xfrm>
        <a:graphic xmlns:a="http://schemas.openxmlformats.org/drawingml/2006/main">
          <a:graphicData uri="http://schemas.openxmlformats.org/drawingml/2006/table">
            <a:tbl>
              <a:tblPr/>
              <a:tblGrid>
                <a:gridCol w="1638795"/>
                <a:gridCol w="3063834"/>
                <a:gridCol w="3348842"/>
                <a:gridCol w="2921330"/>
              </a:tblGrid>
              <a:tr h="598714">
                <a:tc>
                  <a:txBody>
                    <a:bodyPr>
                      <a:noAutofit/>
                    </a:bodyPr>
                    <a:lstStyle/>
                    <a:p>
                      <a:pPr algn="l"/>
                      <a:r>
                        <a:rPr sz="975" b="1">
                          <a:solidFill>
                            <a:srgbClr val="FFFFFF"/>
                          </a:solidFill>
                          <a:latin typeface="Microsoft YaHei"/>
                          <a:ea typeface="Microsoft YaHei"/>
                          <a:cs typeface="Microsoft YaHei"/>
                        </a:rPr>
                        <a:t>Dimension</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Current Level 2C comparison</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Experiment / unresolved input</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Impact on claim</a:t>
                      </a:r>
                    </a:p>
                  </a:txBody>
                  <a:tcPr marL="91440" marR="91440" marT="45720" marB="45720" anchor="ctr">
                    <a:solidFill>
                      <a:srgbClr val="102A43"/>
                    </a:solidFill>
                  </a:tcPr>
                </a:tc>
              </a:tr>
              <a:tr h="598714">
                <a:tc>
                  <a:txBody>
                    <a:bodyPr>
                      <a:noAutofit/>
                    </a:bodyPr>
                    <a:lstStyle/>
                    <a:p>
                      <a:pPr algn="l"/>
                      <a:r>
                        <a:rPr sz="975" b="0">
                          <a:solidFill>
                            <a:srgbClr val="344054"/>
                          </a:solidFill>
                          <a:latin typeface="Microsoft YaHei"/>
                          <a:ea typeface="Microsoft YaHei"/>
                          <a:cs typeface="Microsoft YaHei"/>
                        </a:rPr>
                        <a:t>Ensemble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1D harmonic-rejection; T=5 µK baseline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Transfer-time energy distribution not independently known</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T=40 µK is an effective sensitivity parameter</a:t>
                      </a:r>
                    </a:p>
                  </a:txBody>
                  <a:tcPr marL="91440" marR="91440" marT="45720" marB="45720" anchor="ctr">
                    <a:solidFill>
                      <a:srgbClr val="FFFFFF"/>
                    </a:solidFill>
                  </a:tcPr>
                </a:tc>
              </a:tr>
              <a:tr h="598714">
                <a:tc>
                  <a:txBody>
                    <a:bodyPr>
                      <a:noAutofit/>
                    </a:bodyPr>
                    <a:lstStyle/>
                    <a:p>
                      <a:pPr algn="l"/>
                      <a:r>
                        <a:rPr sz="975" b="0">
                          <a:solidFill>
                            <a:srgbClr val="344054"/>
                          </a:solidFill>
                          <a:latin typeface="Microsoft YaHei"/>
                          <a:ea typeface="Microsoft YaHei"/>
                          <a:cs typeface="Microsoft YaHei"/>
                        </a:rPr>
                        <a:t>Sites</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Independent Gaussian depth/waist/alignment draws</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195 real AOD sites with calibrated spatial structure</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No site-resolved absolute prediction</a:t>
                      </a:r>
                    </a:p>
                  </a:txBody>
                  <a:tcPr marL="91440" marR="91440" marT="45720" marB="45720" anchor="ctr">
                    <a:solidFill>
                      <a:srgbClr val="F8FAFC"/>
                    </a:solidFill>
                  </a:tcPr>
                </a:tc>
              </a:tr>
              <a:tr h="598714">
                <a:tc>
                  <a:txBody>
                    <a:bodyPr>
                      <a:noAutofit/>
                    </a:bodyPr>
                    <a:lstStyle/>
                    <a:p>
                      <a:pPr algn="l"/>
                      <a:r>
                        <a:rPr sz="975" b="0">
                          <a:solidFill>
                            <a:srgbClr val="344054"/>
                          </a:solidFill>
                          <a:latin typeface="Microsoft YaHei"/>
                          <a:ea typeface="Microsoft YaHei"/>
                          <a:cs typeface="Microsoft YaHei"/>
                        </a:rPr>
                        <a:t>Waveform</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Fig. 6c digitization + not-a-knot cubic</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Raw AWG commands, bandwidth and optical response unavailable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Ordering robust; gain magnitude depends on interpolation</a:t>
                      </a:r>
                    </a:p>
                  </a:txBody>
                  <a:tcPr marL="91440" marR="91440" marT="45720" marB="45720" anchor="ctr">
                    <a:solidFill>
                      <a:srgbClr val="FFFFFF"/>
                    </a:solidFill>
                  </a:tcPr>
                </a:tc>
              </a:tr>
              <a:tr h="598714">
                <a:tc>
                  <a:txBody>
                    <a:bodyPr>
                      <a:noAutofit/>
                    </a:bodyPr>
                    <a:lstStyle/>
                    <a:p>
                      <a:pPr algn="l"/>
                      <a:r>
                        <a:rPr sz="975" b="0">
                          <a:solidFill>
                            <a:srgbClr val="344054"/>
                          </a:solidFill>
                          <a:latin typeface="Microsoft YaHei"/>
                          <a:ea typeface="Microsoft YaHei"/>
                          <a:cs typeface="Microsoft YaHei"/>
                        </a:rPr>
                        <a:t>Potential</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Ideal Gaussian SLM/AOD</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Aberration, intensity maps, crosstalk and full 3D overlap</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Absolute loss may shift</a:t>
                      </a:r>
                    </a:p>
                  </a:txBody>
                  <a:tcPr marL="91440" marR="91440" marT="45720" marB="45720" anchor="ctr">
                    <a:solidFill>
                      <a:srgbClr val="F8FAFC"/>
                    </a:solidFill>
                  </a:tcPr>
                </a:tc>
              </a:tr>
              <a:tr h="598714">
                <a:tc>
                  <a:txBody>
                    <a:bodyPr>
                      <a:noAutofit/>
                    </a:bodyPr>
                    <a:lstStyle/>
                    <a:p>
                      <a:pPr algn="l"/>
                      <a:r>
                        <a:rPr sz="975" b="0">
                          <a:solidFill>
                            <a:srgbClr val="344054"/>
                          </a:solidFill>
                          <a:latin typeface="Microsoft YaHei"/>
                          <a:ea typeface="Microsoft YaHei"/>
                          <a:cs typeface="Microsoft YaHei"/>
                        </a:rPr>
                        <a:t>Noise</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Deterministic mean recoil/RIN/pointing + alignment jitter</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Stochastic spectra, vacuum/Raman and apparatus events</a:t>
                      </a:r>
                    </a:p>
                  </a:txBody>
                  <a:tcPr marL="91440" marR="91440" marT="45720" marB="45720" anchor="ctr">
                    <a:solidFill>
                      <a:srgbClr val="FFFFFF"/>
                    </a:solidFill>
                  </a:tcPr>
                </a:tc>
                <a:tc>
                  <a:txBody>
                    <a:bodyPr>
                      <a:noAutofit/>
                    </a:bodyPr>
                    <a:lstStyle/>
                    <a:p>
                      <a:pPr algn="l"/>
                      <a:r>
                        <a:rPr sz="975" b="0">
                          <a:solidFill>
                            <a:srgbClr val="344054"/>
                          </a:solidFill>
                          <a:latin typeface="Microsoft YaHei"/>
                          <a:ea typeface="Microsoft YaHei"/>
                          <a:cs typeface="Microsoft YaHei"/>
                        </a:rPr>
                        <a:t>RIN scenario is sensitivity, not calibration</a:t>
                      </a:r>
                    </a:p>
                  </a:txBody>
                  <a:tcPr marL="91440" marR="91440" marT="45720" marB="45720" anchor="ctr">
                    <a:solidFill>
                      <a:srgbClr val="FFFFFF"/>
                    </a:solidFill>
                  </a:tcPr>
                </a:tc>
              </a:tr>
              <a:tr h="598714">
                <a:tc>
                  <a:txBody>
                    <a:bodyPr>
                      <a:noAutofit/>
                    </a:bodyPr>
                    <a:lstStyle/>
                    <a:p>
                      <a:pPr algn="l"/>
                      <a:r>
                        <a:rPr sz="975" b="0">
                          <a:solidFill>
                            <a:srgbClr val="344054"/>
                          </a:solidFill>
                          <a:latin typeface="Microsoft YaHei"/>
                          <a:ea typeface="Microsoft YaHei"/>
                          <a:cs typeface="Microsoft YaHei"/>
                        </a:rPr>
                        <a:t>Observable</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Etrap&lt;0 after wait/drop-off</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Full preparation, control and imaging sequence</a:t>
                      </a:r>
                    </a:p>
                  </a:txBody>
                  <a:tcPr marL="91440" marR="91440" marT="45720" marB="45720" anchor="ctr">
                    <a:solidFill>
                      <a:srgbClr val="F8FAFC"/>
                    </a:solidFill>
                  </a:tcPr>
                </a:tc>
                <a:tc>
                  <a:txBody>
                    <a:bodyPr>
                      <a:noAutofit/>
                    </a:bodyPr>
                    <a:lstStyle/>
                    <a:p>
                      <a:pPr algn="l"/>
                      <a:r>
                        <a:rPr sz="975" b="0">
                          <a:solidFill>
                            <a:srgbClr val="344054"/>
                          </a:solidFill>
                          <a:latin typeface="Microsoft YaHei"/>
                          <a:ea typeface="Microsoft YaHei"/>
                          <a:cs typeface="Microsoft YaHei"/>
                        </a:rPr>
                        <a:t>Survival is not fidelity</a:t>
                      </a:r>
                    </a:p>
                  </a:txBody>
                  <a:tcPr marL="91440" marR="91440" marT="45720" marB="45720" anchor="ctr">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41E169C1-2CFF-40FD-AAFE-F97E218AED68}"/>
              </a:ext>
            </a:extLst>
          </p:cNvPr>
          <p:cNvSpPr>
            <a:spLocks xmlns:a="http://schemas.openxmlformats.org/drawingml/2006/main" noGrp="1"/>
          </p:cNvSpPr>
          <p:nvPr/>
        </p:nvSpPr>
        <p:spPr>
          <a:xfrm xmlns:a="http://schemas.openxmlformats.org/drawingml/2006/main">
            <a:off x="609600" y="5772150"/>
            <a:ext cx="10972800" cy="457200"/>
          </a:xfrm>
          <a:prstGeom xmlns:a="http://schemas.openxmlformats.org/drawingml/2006/main" prst="roundRect">
            <a:avLst>
              <a:gd name="adj" fmla="val 16667"/>
            </a:avLst>
          </a:prstGeom>
          <a:solidFill xmlns:a="http://schemas.openxmlformats.org/drawingml/2006/main">
            <a:srgbClr val="FFF6ED"/>
          </a:solidFill>
          <a:ln xmlns:a="http://schemas.openxmlformats.org/drawingml/2006/main" w="9525">
            <a:solidFill>
              <a:srgbClr val="FEDF89"/>
            </a:solidFill>
          </a:ln>
        </p:spPr>
      </p:sp>
      <p:sp>
        <p:nvSpPr>
          <p:cNvPr id="6" name="">
            <a:extLst xmlns:a="http://schemas.openxmlformats.org/drawingml/2006/main">
              <a:ext uri="{FF2B5EF4-FFF2-40B4-BE49-F238E27FC236}">
                <a16:creationId xmlns:a16="http://schemas.microsoft.com/office/drawing/2014/main" id="{D0B48FB4-6E62-4465-B271-9D85FB1C7018}"/>
              </a:ext>
            </a:extLst>
          </p:cNvPr>
          <p:cNvSpPr>
            <a:spLocks xmlns:a="http://schemas.openxmlformats.org/drawingml/2006/main" noGrp="1"/>
          </p:cNvSpPr>
          <p:nvPr/>
        </p:nvSpPr>
        <p:spPr>
          <a:xfrm xmlns:a="http://schemas.openxmlformats.org/drawingml/2006/main">
            <a:off x="838200" y="5876925"/>
            <a:ext cx="10439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已实现的 2D/3D 和 Level 5 模块不能自动填补本页 gap；Fig. 6d 主比较仍使用 Level 2C 的 1D survival path。</a:t>
            </a:r>
          </a:p>
        </p:txBody>
      </p:sp>
      <p:sp>
        <p:nvSpPr>
          <p:cNvPr id="7" name="">
            <a:extLst xmlns:a="http://schemas.openxmlformats.org/drawingml/2006/main">
              <a:ext uri="{FF2B5EF4-FFF2-40B4-BE49-F238E27FC236}">
                <a16:creationId xmlns:a16="http://schemas.microsoft.com/office/drawing/2014/main" id="{BD268294-25A7-41C6-947E-EAC200A468A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8" name="">
            <a:extLst xmlns:a="http://schemas.openxmlformats.org/drawingml/2006/main">
              <a:ext uri="{FF2B5EF4-FFF2-40B4-BE49-F238E27FC236}">
                <a16:creationId xmlns:a16="http://schemas.microsoft.com/office/drawing/2014/main" id="{9DA00F3B-06B9-4FA4-95A6-6C770CCCF91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source code search · level2c config · summary_stage1.md</a:t>
            </a:r>
          </a:p>
        </p:txBody>
      </p:sp>
      <p:sp>
        <p:nvSpPr>
          <p:cNvPr id="9" name="">
            <a:extLst xmlns:a="http://schemas.openxmlformats.org/drawingml/2006/main">
              <a:ext uri="{FF2B5EF4-FFF2-40B4-BE49-F238E27FC236}">
                <a16:creationId xmlns:a16="http://schemas.microsoft.com/office/drawing/2014/main" id="{87765449-072C-4C19-8F9D-14C3911C257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553570137"/>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DDB703D-E956-4420-9FB6-C86CE9F38483}"/>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项目已达到机制验证阶段，尚未达到绝对定量预测阶段</a:t>
            </a:r>
          </a:p>
        </p:txBody>
      </p:sp>
      <p:sp>
        <p:nvSpPr>
          <p:cNvPr id="2" name="">
            <a:extLst xmlns:a="http://schemas.openxmlformats.org/drawingml/2006/main">
              <a:ext uri="{FF2B5EF4-FFF2-40B4-BE49-F238E27FC236}">
                <a16:creationId xmlns:a16="http://schemas.microsoft.com/office/drawing/2014/main" id="{1508C7BD-889C-4329-8889-7F0CC7CC4085}"/>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AA1E7A42-62AE-4F1A-BEDB-473C0EBEB1A9}"/>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Assessment based on current repository evidence</a:t>
            </a:r>
          </a:p>
        </p:txBody>
      </p:sp>
      <p:sp>
        <p:nvSpPr>
          <p:cNvPr id="4" name="">
            <a:extLst xmlns:a="http://schemas.openxmlformats.org/drawingml/2006/main">
              <a:ext uri="{FF2B5EF4-FFF2-40B4-BE49-F238E27FC236}">
                <a16:creationId xmlns:a16="http://schemas.microsoft.com/office/drawing/2014/main" id="{855545DD-8F30-42BF-90BE-42593A86A807}"/>
              </a:ext>
            </a:extLst>
          </p:cNvPr>
          <p:cNvSpPr>
            <a:spLocks xmlns:a="http://schemas.openxmlformats.org/drawingml/2006/main" noGrp="1"/>
          </p:cNvSpPr>
          <p:nvPr/>
        </p:nvSpPr>
        <p:spPr>
          <a:xfrm xmlns:a="http://schemas.openxmlformats.org/drawingml/2006/main">
            <a:off x="723900" y="14097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Numerical framework</a:t>
            </a:r>
          </a:p>
        </p:txBody>
      </p:sp>
      <p:sp>
        <p:nvSpPr>
          <p:cNvPr id="5" name="">
            <a:extLst xmlns:a="http://schemas.openxmlformats.org/drawingml/2006/main">
              <a:ext uri="{FF2B5EF4-FFF2-40B4-BE49-F238E27FC236}">
                <a16:creationId xmlns:a16="http://schemas.microsoft.com/office/drawing/2014/main" id="{716B0017-460C-4A2A-99F7-65F6524951D0}"/>
              </a:ext>
            </a:extLst>
          </p:cNvPr>
          <p:cNvSpPr>
            <a:spLocks xmlns:a="http://schemas.openxmlformats.org/drawingml/2006/main" noGrp="1"/>
          </p:cNvSpPr>
          <p:nvPr/>
        </p:nvSpPr>
        <p:spPr>
          <a:xfrm xmlns:a="http://schemas.openxmlformats.org/drawingml/2006/main">
            <a:off x="4095750" y="13906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1D pipeline, CRN pools, energy accounting, convergence checks and tests are implemented</a:t>
            </a:r>
          </a:p>
        </p:txBody>
      </p:sp>
      <p:sp>
        <p:nvSpPr>
          <p:cNvPr id="6" name="">
            <a:extLst xmlns:a="http://schemas.openxmlformats.org/drawingml/2006/main">
              <a:ext uri="{FF2B5EF4-FFF2-40B4-BE49-F238E27FC236}">
                <a16:creationId xmlns:a16="http://schemas.microsoft.com/office/drawing/2014/main" id="{F33180E1-1356-4136-8260-758B047CFC32}"/>
              </a:ext>
            </a:extLst>
          </p:cNvPr>
          <p:cNvSpPr>
            <a:spLocks xmlns:a="http://schemas.openxmlformats.org/drawingml/2006/main" noGrp="1"/>
          </p:cNvSpPr>
          <p:nvPr/>
        </p:nvSpPr>
        <p:spPr>
          <a:xfrm xmlns:a="http://schemas.openxmlformats.org/drawingml/2006/main">
            <a:off x="7239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7" name="">
            <a:extLst xmlns:a="http://schemas.openxmlformats.org/drawingml/2006/main">
              <a:ext uri="{FF2B5EF4-FFF2-40B4-BE49-F238E27FC236}">
                <a16:creationId xmlns:a16="http://schemas.microsoft.com/office/drawing/2014/main" id="{1DCFE86B-2D9B-431F-9BE8-4F78EED8B3FA}"/>
              </a:ext>
            </a:extLst>
          </p:cNvPr>
          <p:cNvSpPr>
            <a:spLocks xmlns:a="http://schemas.openxmlformats.org/drawingml/2006/main" noGrp="1"/>
          </p:cNvSpPr>
          <p:nvPr/>
        </p:nvSpPr>
        <p:spPr>
          <a:xfrm xmlns:a="http://schemas.openxmlformats.org/drawingml/2006/main">
            <a:off x="14097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8" name="">
            <a:extLst xmlns:a="http://schemas.openxmlformats.org/drawingml/2006/main">
              <a:ext uri="{FF2B5EF4-FFF2-40B4-BE49-F238E27FC236}">
                <a16:creationId xmlns:a16="http://schemas.microsoft.com/office/drawing/2014/main" id="{4ACFE088-2D49-4A38-89BA-AD1C9BB830F7}"/>
              </a:ext>
            </a:extLst>
          </p:cNvPr>
          <p:cNvSpPr>
            <a:spLocks xmlns:a="http://schemas.openxmlformats.org/drawingml/2006/main" noGrp="1"/>
          </p:cNvSpPr>
          <p:nvPr/>
        </p:nvSpPr>
        <p:spPr>
          <a:xfrm xmlns:a="http://schemas.openxmlformats.org/drawingml/2006/main">
            <a:off x="20955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9" name="">
            <a:extLst xmlns:a="http://schemas.openxmlformats.org/drawingml/2006/main">
              <a:ext uri="{FF2B5EF4-FFF2-40B4-BE49-F238E27FC236}">
                <a16:creationId xmlns:a16="http://schemas.microsoft.com/office/drawing/2014/main" id="{360A6A7C-070C-499E-8A4F-0CDAEE31368C}"/>
              </a:ext>
            </a:extLst>
          </p:cNvPr>
          <p:cNvSpPr>
            <a:spLocks xmlns:a="http://schemas.openxmlformats.org/drawingml/2006/main" noGrp="1"/>
          </p:cNvSpPr>
          <p:nvPr/>
        </p:nvSpPr>
        <p:spPr>
          <a:xfrm xmlns:a="http://schemas.openxmlformats.org/drawingml/2006/main">
            <a:off x="2781300" y="1809750"/>
            <a:ext cx="571500" cy="133350"/>
          </a:xfrm>
          <a:prstGeom xmlns:a="http://schemas.openxmlformats.org/drawingml/2006/main" prst="roundRect">
            <a:avLst>
              <a:gd name="adj" fmla="val 50000"/>
            </a:avLst>
          </a:prstGeom>
          <a:solidFill xmlns:a="http://schemas.openxmlformats.org/drawingml/2006/main">
            <a:srgbClr val="17B26A"/>
          </a:solidFill>
          <a:ln xmlns:a="http://schemas.openxmlformats.org/drawingml/2006/main" w="9525">
            <a:solidFill>
              <a:srgbClr val="17B26A"/>
            </a:solidFill>
          </a:ln>
        </p:spPr>
      </p:sp>
      <p:sp>
        <p:nvSpPr>
          <p:cNvPr id="10" name="">
            <a:extLst xmlns:a="http://schemas.openxmlformats.org/drawingml/2006/main">
              <a:ext uri="{FF2B5EF4-FFF2-40B4-BE49-F238E27FC236}">
                <a16:creationId xmlns:a16="http://schemas.microsoft.com/office/drawing/2014/main" id="{B2718E0F-823E-4840-AFAC-6E92AA3290E3}"/>
              </a:ext>
            </a:extLst>
          </p:cNvPr>
          <p:cNvSpPr>
            <a:spLocks xmlns:a="http://schemas.openxmlformats.org/drawingml/2006/main" noGrp="1"/>
          </p:cNvSpPr>
          <p:nvPr/>
        </p:nvSpPr>
        <p:spPr>
          <a:xfrm xmlns:a="http://schemas.openxmlformats.org/drawingml/2006/main">
            <a:off x="3257550" y="1371600"/>
            <a:ext cx="685800" cy="285750"/>
          </a:xfrm>
          <a:prstGeom xmlns:a="http://schemas.openxmlformats.org/drawingml/2006/main" prst="roundRect">
            <a:avLst>
              <a:gd name="adj" fmla="val 26667"/>
            </a:avLst>
          </a:prstGeom>
          <a:solidFill xmlns:a="http://schemas.openxmlformats.org/drawingml/2006/main">
            <a:srgbClr val="17B26A"/>
          </a:solidFill>
          <a:ln xmlns:a="http://schemas.openxmlformats.org/drawingml/2006/main" w="9525">
            <a:solidFill>
              <a:srgbClr val="17B26A"/>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成熟</a:t>
            </a:r>
          </a:p>
        </p:txBody>
      </p:sp>
      <p:sp>
        <p:nvSpPr>
          <p:cNvPr id="11" name="">
            <a:extLst xmlns:a="http://schemas.openxmlformats.org/drawingml/2006/main">
              <a:ext uri="{FF2B5EF4-FFF2-40B4-BE49-F238E27FC236}">
                <a16:creationId xmlns:a16="http://schemas.microsoft.com/office/drawing/2014/main" id="{A6645190-392C-4D6A-9165-2E08CF99FB70}"/>
              </a:ext>
            </a:extLst>
          </p:cNvPr>
          <p:cNvSpPr>
            <a:spLocks xmlns:a="http://schemas.openxmlformats.org/drawingml/2006/main" noGrp="1"/>
          </p:cNvSpPr>
          <p:nvPr/>
        </p:nvSpPr>
        <p:spPr>
          <a:xfrm xmlns:a="http://schemas.openxmlformats.org/drawingml/2006/main">
            <a:off x="723900" y="232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Qualitative physics</a:t>
            </a:r>
          </a:p>
        </p:txBody>
      </p:sp>
      <p:sp>
        <p:nvSpPr>
          <p:cNvPr id="12" name="">
            <a:extLst xmlns:a="http://schemas.openxmlformats.org/drawingml/2006/main">
              <a:ext uri="{FF2B5EF4-FFF2-40B4-BE49-F238E27FC236}">
                <a16:creationId xmlns:a16="http://schemas.microsoft.com/office/drawing/2014/main" id="{969B6C09-2270-479E-B0A8-1E6829CBE3D4}"/>
              </a:ext>
            </a:extLst>
          </p:cNvPr>
          <p:cNvSpPr>
            <a:spLocks xmlns:a="http://schemas.openxmlformats.org/drawingml/2006/main" noGrp="1"/>
          </p:cNvSpPr>
          <p:nvPr/>
        </p:nvSpPr>
        <p:spPr>
          <a:xfrm xmlns:a="http://schemas.openxmlformats.org/drawingml/2006/main">
            <a:off x="4095750" y="23050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Duration ordering and ML &gt; manual appear in relevant sensitivity scenarios</a:t>
            </a:r>
          </a:p>
        </p:txBody>
      </p:sp>
      <p:sp>
        <p:nvSpPr>
          <p:cNvPr id="13" name="">
            <a:extLst xmlns:a="http://schemas.openxmlformats.org/drawingml/2006/main">
              <a:ext uri="{FF2B5EF4-FFF2-40B4-BE49-F238E27FC236}">
                <a16:creationId xmlns:a16="http://schemas.microsoft.com/office/drawing/2014/main" id="{9DA9ED5F-3EF6-4B55-A15A-AA5F0826F98C}"/>
              </a:ext>
            </a:extLst>
          </p:cNvPr>
          <p:cNvSpPr>
            <a:spLocks xmlns:a="http://schemas.openxmlformats.org/drawingml/2006/main" noGrp="1"/>
          </p:cNvSpPr>
          <p:nvPr/>
        </p:nvSpPr>
        <p:spPr>
          <a:xfrm xmlns:a="http://schemas.openxmlformats.org/drawingml/2006/main">
            <a:off x="723900" y="27241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14" name="">
            <a:extLst xmlns:a="http://schemas.openxmlformats.org/drawingml/2006/main">
              <a:ext uri="{FF2B5EF4-FFF2-40B4-BE49-F238E27FC236}">
                <a16:creationId xmlns:a16="http://schemas.microsoft.com/office/drawing/2014/main" id="{BD2BDEDE-0F45-417C-818B-BC45AD29F586}"/>
              </a:ext>
            </a:extLst>
          </p:cNvPr>
          <p:cNvSpPr>
            <a:spLocks xmlns:a="http://schemas.openxmlformats.org/drawingml/2006/main" noGrp="1"/>
          </p:cNvSpPr>
          <p:nvPr/>
        </p:nvSpPr>
        <p:spPr>
          <a:xfrm xmlns:a="http://schemas.openxmlformats.org/drawingml/2006/main">
            <a:off x="1409700" y="27241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15" name="">
            <a:extLst xmlns:a="http://schemas.openxmlformats.org/drawingml/2006/main">
              <a:ext uri="{FF2B5EF4-FFF2-40B4-BE49-F238E27FC236}">
                <a16:creationId xmlns:a16="http://schemas.microsoft.com/office/drawing/2014/main" id="{F213D510-91A1-42F4-8D94-F9FD8D11C5C0}"/>
              </a:ext>
            </a:extLst>
          </p:cNvPr>
          <p:cNvSpPr>
            <a:spLocks xmlns:a="http://schemas.openxmlformats.org/drawingml/2006/main" noGrp="1"/>
          </p:cNvSpPr>
          <p:nvPr/>
        </p:nvSpPr>
        <p:spPr>
          <a:xfrm xmlns:a="http://schemas.openxmlformats.org/drawingml/2006/main">
            <a:off x="2095500" y="27241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16" name="">
            <a:extLst xmlns:a="http://schemas.openxmlformats.org/drawingml/2006/main">
              <a:ext uri="{FF2B5EF4-FFF2-40B4-BE49-F238E27FC236}">
                <a16:creationId xmlns:a16="http://schemas.microsoft.com/office/drawing/2014/main" id="{B4E67689-7497-41BF-81A4-DA8B2C6AB404}"/>
              </a:ext>
            </a:extLst>
          </p:cNvPr>
          <p:cNvSpPr>
            <a:spLocks xmlns:a="http://schemas.openxmlformats.org/drawingml/2006/main" noGrp="1"/>
          </p:cNvSpPr>
          <p:nvPr/>
        </p:nvSpPr>
        <p:spPr>
          <a:xfrm xmlns:a="http://schemas.openxmlformats.org/drawingml/2006/main">
            <a:off x="2781300" y="27241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17" name="">
            <a:extLst xmlns:a="http://schemas.openxmlformats.org/drawingml/2006/main">
              <a:ext uri="{FF2B5EF4-FFF2-40B4-BE49-F238E27FC236}">
                <a16:creationId xmlns:a16="http://schemas.microsoft.com/office/drawing/2014/main" id="{8B4EC19C-D433-48C8-84AC-5B1DBB9A2C7D}"/>
              </a:ext>
            </a:extLst>
          </p:cNvPr>
          <p:cNvSpPr>
            <a:spLocks xmlns:a="http://schemas.openxmlformats.org/drawingml/2006/main" noGrp="1"/>
          </p:cNvSpPr>
          <p:nvPr/>
        </p:nvSpPr>
        <p:spPr>
          <a:xfrm xmlns:a="http://schemas.openxmlformats.org/drawingml/2006/main">
            <a:off x="3257550" y="2286000"/>
            <a:ext cx="685800" cy="285750"/>
          </a:xfrm>
          <a:prstGeom xmlns:a="http://schemas.openxmlformats.org/drawingml/2006/main" prst="roundRect">
            <a:avLst>
              <a:gd name="adj" fmla="val 26667"/>
            </a:avLst>
          </a:prstGeom>
          <a:solidFill xmlns:a="http://schemas.openxmlformats.org/drawingml/2006/main">
            <a:srgbClr val="1570EF"/>
          </a:solidFill>
          <a:ln xmlns:a="http://schemas.openxmlformats.org/drawingml/2006/main" w="9525">
            <a:solidFill>
              <a:srgbClr val="1570EF"/>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较强</a:t>
            </a:r>
          </a:p>
        </p:txBody>
      </p:sp>
      <p:sp>
        <p:nvSpPr>
          <p:cNvPr id="18" name="">
            <a:extLst xmlns:a="http://schemas.openxmlformats.org/drawingml/2006/main">
              <a:ext uri="{FF2B5EF4-FFF2-40B4-BE49-F238E27FC236}">
                <a16:creationId xmlns:a16="http://schemas.microsoft.com/office/drawing/2014/main" id="{5ED70F05-0E3F-4AFE-AA23-019D92AC758C}"/>
              </a:ext>
            </a:extLst>
          </p:cNvPr>
          <p:cNvSpPr>
            <a:spLocks xmlns:a="http://schemas.openxmlformats.org/drawingml/2006/main" noGrp="1"/>
          </p:cNvSpPr>
          <p:nvPr/>
        </p:nvSpPr>
        <p:spPr>
          <a:xfrm xmlns:a="http://schemas.openxmlformats.org/drawingml/2006/main">
            <a:off x="723900" y="3238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Relative quantitative agreement</a:t>
            </a:r>
          </a:p>
        </p:txBody>
      </p:sp>
      <p:sp>
        <p:nvSpPr>
          <p:cNvPr id="19" name="">
            <a:extLst xmlns:a="http://schemas.openxmlformats.org/drawingml/2006/main">
              <a:ext uri="{FF2B5EF4-FFF2-40B4-BE49-F238E27FC236}">
                <a16:creationId xmlns:a16="http://schemas.microsoft.com/office/drawing/2014/main" id="{FF3EE899-C48A-4A43-BF86-C33DA11151EF}"/>
              </a:ext>
            </a:extLst>
          </p:cNvPr>
          <p:cNvSpPr>
            <a:spLocks xmlns:a="http://schemas.openxmlformats.org/drawingml/2006/main" noGrp="1"/>
          </p:cNvSpPr>
          <p:nvPr/>
        </p:nvSpPr>
        <p:spPr>
          <a:xfrm xmlns:a="http://schemas.openxmlformats.org/drawingml/2006/main">
            <a:off x="4095750" y="32194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T40 raw endpoint ΔS=+0.231 vs paper +0.250</a:t>
            </a:r>
          </a:p>
        </p:txBody>
      </p:sp>
      <p:sp>
        <p:nvSpPr>
          <p:cNvPr id="20" name="">
            <a:extLst xmlns:a="http://schemas.openxmlformats.org/drawingml/2006/main">
              <a:ext uri="{FF2B5EF4-FFF2-40B4-BE49-F238E27FC236}">
                <a16:creationId xmlns:a16="http://schemas.microsoft.com/office/drawing/2014/main" id="{1C1EDA49-A7BF-419D-BD74-EE8AD7DC790C}"/>
              </a:ext>
            </a:extLst>
          </p:cNvPr>
          <p:cNvSpPr>
            <a:spLocks xmlns:a="http://schemas.openxmlformats.org/drawingml/2006/main" noGrp="1"/>
          </p:cNvSpPr>
          <p:nvPr/>
        </p:nvSpPr>
        <p:spPr>
          <a:xfrm xmlns:a="http://schemas.openxmlformats.org/drawingml/2006/main">
            <a:off x="723900" y="36385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21" name="">
            <a:extLst xmlns:a="http://schemas.openxmlformats.org/drawingml/2006/main">
              <a:ext uri="{FF2B5EF4-FFF2-40B4-BE49-F238E27FC236}">
                <a16:creationId xmlns:a16="http://schemas.microsoft.com/office/drawing/2014/main" id="{B6A5311E-4F41-4755-8650-45C59B2EF57E}"/>
              </a:ext>
            </a:extLst>
          </p:cNvPr>
          <p:cNvSpPr>
            <a:spLocks xmlns:a="http://schemas.openxmlformats.org/drawingml/2006/main" noGrp="1"/>
          </p:cNvSpPr>
          <p:nvPr/>
        </p:nvSpPr>
        <p:spPr>
          <a:xfrm xmlns:a="http://schemas.openxmlformats.org/drawingml/2006/main">
            <a:off x="1409700" y="36385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22" name="">
            <a:extLst xmlns:a="http://schemas.openxmlformats.org/drawingml/2006/main">
              <a:ext uri="{FF2B5EF4-FFF2-40B4-BE49-F238E27FC236}">
                <a16:creationId xmlns:a16="http://schemas.microsoft.com/office/drawing/2014/main" id="{36E8A0DE-A187-49DA-AEB1-89A8FC18860D}"/>
              </a:ext>
            </a:extLst>
          </p:cNvPr>
          <p:cNvSpPr>
            <a:spLocks xmlns:a="http://schemas.openxmlformats.org/drawingml/2006/main" noGrp="1"/>
          </p:cNvSpPr>
          <p:nvPr/>
        </p:nvSpPr>
        <p:spPr>
          <a:xfrm xmlns:a="http://schemas.openxmlformats.org/drawingml/2006/main">
            <a:off x="2095500" y="3638550"/>
            <a:ext cx="571500" cy="133350"/>
          </a:xfrm>
          <a:prstGeom xmlns:a="http://schemas.openxmlformats.org/drawingml/2006/main" prst="roundRect">
            <a:avLst>
              <a:gd name="adj" fmla="val 50000"/>
            </a:avLst>
          </a:prstGeom>
          <a:solidFill xmlns:a="http://schemas.openxmlformats.org/drawingml/2006/main">
            <a:srgbClr val="1570EF"/>
          </a:solidFill>
          <a:ln xmlns:a="http://schemas.openxmlformats.org/drawingml/2006/main" w="9525">
            <a:solidFill>
              <a:srgbClr val="1570EF"/>
            </a:solidFill>
          </a:ln>
        </p:spPr>
      </p:sp>
      <p:sp>
        <p:nvSpPr>
          <p:cNvPr id="23" name="">
            <a:extLst xmlns:a="http://schemas.openxmlformats.org/drawingml/2006/main">
              <a:ext uri="{FF2B5EF4-FFF2-40B4-BE49-F238E27FC236}">
                <a16:creationId xmlns:a16="http://schemas.microsoft.com/office/drawing/2014/main" id="{D58D8394-4EC3-4C5D-B8A7-7FB8A71F5A04}"/>
              </a:ext>
            </a:extLst>
          </p:cNvPr>
          <p:cNvSpPr>
            <a:spLocks xmlns:a="http://schemas.openxmlformats.org/drawingml/2006/main" noGrp="1"/>
          </p:cNvSpPr>
          <p:nvPr/>
        </p:nvSpPr>
        <p:spPr>
          <a:xfrm xmlns:a="http://schemas.openxmlformats.org/drawingml/2006/main">
            <a:off x="2781300" y="36385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24" name="">
            <a:extLst xmlns:a="http://schemas.openxmlformats.org/drawingml/2006/main">
              <a:ext uri="{FF2B5EF4-FFF2-40B4-BE49-F238E27FC236}">
                <a16:creationId xmlns:a16="http://schemas.microsoft.com/office/drawing/2014/main" id="{F9DC4E25-300E-4A9B-8985-7A096E3EDBE5}"/>
              </a:ext>
            </a:extLst>
          </p:cNvPr>
          <p:cNvSpPr>
            <a:spLocks xmlns:a="http://schemas.openxmlformats.org/drawingml/2006/main" noGrp="1"/>
          </p:cNvSpPr>
          <p:nvPr/>
        </p:nvSpPr>
        <p:spPr>
          <a:xfrm xmlns:a="http://schemas.openxmlformats.org/drawingml/2006/main">
            <a:off x="3257550" y="3200400"/>
            <a:ext cx="685800" cy="285750"/>
          </a:xfrm>
          <a:prstGeom xmlns:a="http://schemas.openxmlformats.org/drawingml/2006/main" prst="roundRect">
            <a:avLst>
              <a:gd name="adj" fmla="val 26667"/>
            </a:avLst>
          </a:prstGeom>
          <a:solidFill xmlns:a="http://schemas.openxmlformats.org/drawingml/2006/main">
            <a:srgbClr val="1570EF"/>
          </a:solidFill>
          <a:ln xmlns:a="http://schemas.openxmlformats.org/drawingml/2006/main" w="9525">
            <a:solidFill>
              <a:srgbClr val="1570EF"/>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中等</a:t>
            </a:r>
          </a:p>
        </p:txBody>
      </p:sp>
      <p:sp>
        <p:nvSpPr>
          <p:cNvPr id="25" name="">
            <a:extLst xmlns:a="http://schemas.openxmlformats.org/drawingml/2006/main">
              <a:ext uri="{FF2B5EF4-FFF2-40B4-BE49-F238E27FC236}">
                <a16:creationId xmlns:a16="http://schemas.microsoft.com/office/drawing/2014/main" id="{099B65B2-F706-4265-8FAD-2C5DD26CDB23}"/>
              </a:ext>
            </a:extLst>
          </p:cNvPr>
          <p:cNvSpPr>
            <a:spLocks xmlns:a="http://schemas.openxmlformats.org/drawingml/2006/main" noGrp="1"/>
          </p:cNvSpPr>
          <p:nvPr/>
        </p:nvSpPr>
        <p:spPr>
          <a:xfrm xmlns:a="http://schemas.openxmlformats.org/drawingml/2006/main">
            <a:off x="723900" y="41529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Absolute survival / curve shape</a:t>
            </a:r>
          </a:p>
        </p:txBody>
      </p:sp>
      <p:sp>
        <p:nvSpPr>
          <p:cNvPr id="26" name="">
            <a:extLst xmlns:a="http://schemas.openxmlformats.org/drawingml/2006/main">
              <a:ext uri="{FF2B5EF4-FFF2-40B4-BE49-F238E27FC236}">
                <a16:creationId xmlns:a16="http://schemas.microsoft.com/office/drawing/2014/main" id="{A5CEE631-5DAE-412F-AD8C-F2E2E42A82D7}"/>
              </a:ext>
            </a:extLst>
          </p:cNvPr>
          <p:cNvSpPr>
            <a:spLocks xmlns:a="http://schemas.openxmlformats.org/drawingml/2006/main" noGrp="1"/>
          </p:cNvSpPr>
          <p:nvPr/>
        </p:nvSpPr>
        <p:spPr>
          <a:xfrm xmlns:a="http://schemas.openxmlformats.org/drawingml/2006/main">
            <a:off x="4095750" y="41338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No curve meets ±0.02; 200 µs and late-time slopes remain mismatched</a:t>
            </a:r>
          </a:p>
        </p:txBody>
      </p:sp>
      <p:sp>
        <p:nvSpPr>
          <p:cNvPr id="27" name="">
            <a:extLst xmlns:a="http://schemas.openxmlformats.org/drawingml/2006/main">
              <a:ext uri="{FF2B5EF4-FFF2-40B4-BE49-F238E27FC236}">
                <a16:creationId xmlns:a16="http://schemas.microsoft.com/office/drawing/2014/main" id="{B5BC2BE6-B099-4289-8BAF-1AC2DB421C76}"/>
              </a:ext>
            </a:extLst>
          </p:cNvPr>
          <p:cNvSpPr>
            <a:spLocks xmlns:a="http://schemas.openxmlformats.org/drawingml/2006/main" noGrp="1"/>
          </p:cNvSpPr>
          <p:nvPr/>
        </p:nvSpPr>
        <p:spPr>
          <a:xfrm xmlns:a="http://schemas.openxmlformats.org/drawingml/2006/main">
            <a:off x="723900" y="4552950"/>
            <a:ext cx="571500" cy="133350"/>
          </a:xfrm>
          <a:prstGeom xmlns:a="http://schemas.openxmlformats.org/drawingml/2006/main" prst="roundRect">
            <a:avLst>
              <a:gd name="adj" fmla="val 50000"/>
            </a:avLst>
          </a:prstGeom>
          <a:solidFill xmlns:a="http://schemas.openxmlformats.org/drawingml/2006/main">
            <a:srgbClr val="D92D20"/>
          </a:solidFill>
          <a:ln xmlns:a="http://schemas.openxmlformats.org/drawingml/2006/main" w="9525">
            <a:solidFill>
              <a:srgbClr val="D92D20"/>
            </a:solidFill>
          </a:ln>
        </p:spPr>
      </p:sp>
      <p:sp>
        <p:nvSpPr>
          <p:cNvPr id="28" name="">
            <a:extLst xmlns:a="http://schemas.openxmlformats.org/drawingml/2006/main">
              <a:ext uri="{FF2B5EF4-FFF2-40B4-BE49-F238E27FC236}">
                <a16:creationId xmlns:a16="http://schemas.microsoft.com/office/drawing/2014/main" id="{5A66F465-3307-4374-9834-0414A20693C8}"/>
              </a:ext>
            </a:extLst>
          </p:cNvPr>
          <p:cNvSpPr>
            <a:spLocks xmlns:a="http://schemas.openxmlformats.org/drawingml/2006/main" noGrp="1"/>
          </p:cNvSpPr>
          <p:nvPr/>
        </p:nvSpPr>
        <p:spPr>
          <a:xfrm xmlns:a="http://schemas.openxmlformats.org/drawingml/2006/main">
            <a:off x="1409700" y="45529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29" name="">
            <a:extLst xmlns:a="http://schemas.openxmlformats.org/drawingml/2006/main">
              <a:ext uri="{FF2B5EF4-FFF2-40B4-BE49-F238E27FC236}">
                <a16:creationId xmlns:a16="http://schemas.microsoft.com/office/drawing/2014/main" id="{0ABF409E-A0CA-4776-9D95-6F6F4D77FB32}"/>
              </a:ext>
            </a:extLst>
          </p:cNvPr>
          <p:cNvSpPr>
            <a:spLocks xmlns:a="http://schemas.openxmlformats.org/drawingml/2006/main" noGrp="1"/>
          </p:cNvSpPr>
          <p:nvPr/>
        </p:nvSpPr>
        <p:spPr>
          <a:xfrm xmlns:a="http://schemas.openxmlformats.org/drawingml/2006/main">
            <a:off x="2095500" y="45529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0" name="">
            <a:extLst xmlns:a="http://schemas.openxmlformats.org/drawingml/2006/main">
              <a:ext uri="{FF2B5EF4-FFF2-40B4-BE49-F238E27FC236}">
                <a16:creationId xmlns:a16="http://schemas.microsoft.com/office/drawing/2014/main" id="{3DED26BB-B0D5-4B4C-9F5B-BFE10BA16DF5}"/>
              </a:ext>
            </a:extLst>
          </p:cNvPr>
          <p:cNvSpPr>
            <a:spLocks xmlns:a="http://schemas.openxmlformats.org/drawingml/2006/main" noGrp="1"/>
          </p:cNvSpPr>
          <p:nvPr/>
        </p:nvSpPr>
        <p:spPr>
          <a:xfrm xmlns:a="http://schemas.openxmlformats.org/drawingml/2006/main">
            <a:off x="2781300" y="45529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1" name="">
            <a:extLst xmlns:a="http://schemas.openxmlformats.org/drawingml/2006/main">
              <a:ext uri="{FF2B5EF4-FFF2-40B4-BE49-F238E27FC236}">
                <a16:creationId xmlns:a16="http://schemas.microsoft.com/office/drawing/2014/main" id="{C81B486B-426D-443E-841F-6E658E4FB526}"/>
              </a:ext>
            </a:extLst>
          </p:cNvPr>
          <p:cNvSpPr>
            <a:spLocks xmlns:a="http://schemas.openxmlformats.org/drawingml/2006/main" noGrp="1"/>
          </p:cNvSpPr>
          <p:nvPr/>
        </p:nvSpPr>
        <p:spPr>
          <a:xfrm xmlns:a="http://schemas.openxmlformats.org/drawingml/2006/main">
            <a:off x="3257550" y="4114800"/>
            <a:ext cx="685800" cy="285750"/>
          </a:xfrm>
          <a:prstGeom xmlns:a="http://schemas.openxmlformats.org/drawingml/2006/main" prst="roundRect">
            <a:avLst>
              <a:gd name="adj" fmla="val 26667"/>
            </a:avLst>
          </a:prstGeom>
          <a:solidFill xmlns:a="http://schemas.openxmlformats.org/drawingml/2006/main">
            <a:srgbClr val="D92D20"/>
          </a:solidFill>
          <a:ln xmlns:a="http://schemas.openxmlformats.org/drawingml/2006/main" w="9525">
            <a:solidFill>
              <a:srgbClr val="D92D20"/>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未闭合</a:t>
            </a:r>
          </a:p>
        </p:txBody>
      </p:sp>
      <p:sp>
        <p:nvSpPr>
          <p:cNvPr id="32" name="">
            <a:extLst xmlns:a="http://schemas.openxmlformats.org/drawingml/2006/main">
              <a:ext uri="{FF2B5EF4-FFF2-40B4-BE49-F238E27FC236}">
                <a16:creationId xmlns:a16="http://schemas.microsoft.com/office/drawing/2014/main" id="{B5D9EC41-4F4D-4B28-95A5-4F37D28BE24D}"/>
              </a:ext>
            </a:extLst>
          </p:cNvPr>
          <p:cNvSpPr>
            <a:spLocks xmlns:a="http://schemas.openxmlformats.org/drawingml/2006/main" noGrp="1"/>
          </p:cNvSpPr>
          <p:nvPr/>
        </p:nvSpPr>
        <p:spPr>
          <a:xfrm xmlns:a="http://schemas.openxmlformats.org/drawingml/2006/main">
            <a:off x="723900" y="5067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Experimental mechanism attribution</a:t>
            </a:r>
          </a:p>
        </p:txBody>
      </p:sp>
      <p:sp>
        <p:nvSpPr>
          <p:cNvPr id="33" name="">
            <a:extLst xmlns:a="http://schemas.openxmlformats.org/drawingml/2006/main">
              <a:ext uri="{FF2B5EF4-FFF2-40B4-BE49-F238E27FC236}">
                <a16:creationId xmlns:a16="http://schemas.microsoft.com/office/drawing/2014/main" id="{56120EBD-2849-41C5-8909-4C37B94BCB9E}"/>
              </a:ext>
            </a:extLst>
          </p:cNvPr>
          <p:cNvSpPr>
            <a:spLocks xmlns:a="http://schemas.openxmlformats.org/drawingml/2006/main" noGrp="1"/>
          </p:cNvSpPr>
          <p:nvPr/>
        </p:nvSpPr>
        <p:spPr>
          <a:xfrm xmlns:a="http://schemas.openxmlformats.org/drawingml/2006/main">
            <a:off x="4095750" y="5048250"/>
            <a:ext cx="708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Position attribution is model-side; calibration and hardware data remain missing</a:t>
            </a:r>
          </a:p>
        </p:txBody>
      </p:sp>
      <p:sp>
        <p:nvSpPr>
          <p:cNvPr id="34" name="">
            <a:extLst xmlns:a="http://schemas.openxmlformats.org/drawingml/2006/main">
              <a:ext uri="{FF2B5EF4-FFF2-40B4-BE49-F238E27FC236}">
                <a16:creationId xmlns:a16="http://schemas.microsoft.com/office/drawing/2014/main" id="{64E4DFB8-766B-433C-98BF-BD9FB5EA3377}"/>
              </a:ext>
            </a:extLst>
          </p:cNvPr>
          <p:cNvSpPr>
            <a:spLocks xmlns:a="http://schemas.openxmlformats.org/drawingml/2006/main" noGrp="1"/>
          </p:cNvSpPr>
          <p:nvPr/>
        </p:nvSpPr>
        <p:spPr>
          <a:xfrm xmlns:a="http://schemas.openxmlformats.org/drawingml/2006/main">
            <a:off x="723900" y="5467350"/>
            <a:ext cx="571500" cy="133350"/>
          </a:xfrm>
          <a:prstGeom xmlns:a="http://schemas.openxmlformats.org/drawingml/2006/main" prst="roundRect">
            <a:avLst>
              <a:gd name="adj" fmla="val 50000"/>
            </a:avLst>
          </a:prstGeom>
          <a:solidFill xmlns:a="http://schemas.openxmlformats.org/drawingml/2006/main">
            <a:srgbClr val="F79009"/>
          </a:solidFill>
          <a:ln xmlns:a="http://schemas.openxmlformats.org/drawingml/2006/main" w="9525">
            <a:solidFill>
              <a:srgbClr val="F79009"/>
            </a:solidFill>
          </a:ln>
        </p:spPr>
      </p:sp>
      <p:sp>
        <p:nvSpPr>
          <p:cNvPr id="35" name="">
            <a:extLst xmlns:a="http://schemas.openxmlformats.org/drawingml/2006/main">
              <a:ext uri="{FF2B5EF4-FFF2-40B4-BE49-F238E27FC236}">
                <a16:creationId xmlns:a16="http://schemas.microsoft.com/office/drawing/2014/main" id="{C2E1F9BF-1ED1-41D8-96E5-64CF596A8C50}"/>
              </a:ext>
            </a:extLst>
          </p:cNvPr>
          <p:cNvSpPr>
            <a:spLocks xmlns:a="http://schemas.openxmlformats.org/drawingml/2006/main" noGrp="1"/>
          </p:cNvSpPr>
          <p:nvPr/>
        </p:nvSpPr>
        <p:spPr>
          <a:xfrm xmlns:a="http://schemas.openxmlformats.org/drawingml/2006/main">
            <a:off x="1409700" y="5467350"/>
            <a:ext cx="571500" cy="133350"/>
          </a:xfrm>
          <a:prstGeom xmlns:a="http://schemas.openxmlformats.org/drawingml/2006/main" prst="roundRect">
            <a:avLst>
              <a:gd name="adj" fmla="val 50000"/>
            </a:avLst>
          </a:prstGeom>
          <a:solidFill xmlns:a="http://schemas.openxmlformats.org/drawingml/2006/main">
            <a:srgbClr val="F79009"/>
          </a:solidFill>
          <a:ln xmlns:a="http://schemas.openxmlformats.org/drawingml/2006/main" w="9525">
            <a:solidFill>
              <a:srgbClr val="F79009"/>
            </a:solidFill>
          </a:ln>
        </p:spPr>
      </p:sp>
      <p:sp>
        <p:nvSpPr>
          <p:cNvPr id="36" name="">
            <a:extLst xmlns:a="http://schemas.openxmlformats.org/drawingml/2006/main">
              <a:ext uri="{FF2B5EF4-FFF2-40B4-BE49-F238E27FC236}">
                <a16:creationId xmlns:a16="http://schemas.microsoft.com/office/drawing/2014/main" id="{DF17607B-0C9F-4115-8393-2209675EE37F}"/>
              </a:ext>
            </a:extLst>
          </p:cNvPr>
          <p:cNvSpPr>
            <a:spLocks xmlns:a="http://schemas.openxmlformats.org/drawingml/2006/main" noGrp="1"/>
          </p:cNvSpPr>
          <p:nvPr/>
        </p:nvSpPr>
        <p:spPr>
          <a:xfrm xmlns:a="http://schemas.openxmlformats.org/drawingml/2006/main">
            <a:off x="2095500" y="54673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7" name="">
            <a:extLst xmlns:a="http://schemas.openxmlformats.org/drawingml/2006/main">
              <a:ext uri="{FF2B5EF4-FFF2-40B4-BE49-F238E27FC236}">
                <a16:creationId xmlns:a16="http://schemas.microsoft.com/office/drawing/2014/main" id="{0EA8D69B-CB4C-420D-89F3-3F2D3FA9543F}"/>
              </a:ext>
            </a:extLst>
          </p:cNvPr>
          <p:cNvSpPr>
            <a:spLocks xmlns:a="http://schemas.openxmlformats.org/drawingml/2006/main" noGrp="1"/>
          </p:cNvSpPr>
          <p:nvPr/>
        </p:nvSpPr>
        <p:spPr>
          <a:xfrm xmlns:a="http://schemas.openxmlformats.org/drawingml/2006/main">
            <a:off x="2781300" y="5467350"/>
            <a:ext cx="571500" cy="133350"/>
          </a:xfrm>
          <a:prstGeom xmlns:a="http://schemas.openxmlformats.org/drawingml/2006/main" prst="roundRect">
            <a:avLst>
              <a:gd name="adj" fmla="val 50000"/>
            </a:avLst>
          </a:prstGeom>
          <a:solidFill xmlns:a="http://schemas.openxmlformats.org/drawingml/2006/main">
            <a:srgbClr val="EAECF0"/>
          </a:solidFill>
          <a:ln xmlns:a="http://schemas.openxmlformats.org/drawingml/2006/main" w="9525">
            <a:solidFill>
              <a:srgbClr val="EAECF0"/>
            </a:solidFill>
          </a:ln>
        </p:spPr>
      </p:sp>
      <p:sp>
        <p:nvSpPr>
          <p:cNvPr id="38" name="">
            <a:extLst xmlns:a="http://schemas.openxmlformats.org/drawingml/2006/main">
              <a:ext uri="{FF2B5EF4-FFF2-40B4-BE49-F238E27FC236}">
                <a16:creationId xmlns:a16="http://schemas.microsoft.com/office/drawing/2014/main" id="{502E2FC5-6366-4880-817E-EB9472861221}"/>
              </a:ext>
            </a:extLst>
          </p:cNvPr>
          <p:cNvSpPr>
            <a:spLocks xmlns:a="http://schemas.openxmlformats.org/drawingml/2006/main" noGrp="1"/>
          </p:cNvSpPr>
          <p:nvPr/>
        </p:nvSpPr>
        <p:spPr>
          <a:xfrm xmlns:a="http://schemas.openxmlformats.org/drawingml/2006/main">
            <a:off x="3257550" y="5029200"/>
            <a:ext cx="685800" cy="285750"/>
          </a:xfrm>
          <a:prstGeom xmlns:a="http://schemas.openxmlformats.org/drawingml/2006/main" prst="roundRect">
            <a:avLst>
              <a:gd name="adj" fmla="val 26667"/>
            </a:avLst>
          </a:prstGeom>
          <a:solidFill xmlns:a="http://schemas.openxmlformats.org/drawingml/2006/main">
            <a:srgbClr val="F79009"/>
          </a:solidFill>
          <a:ln xmlns:a="http://schemas.openxmlformats.org/drawingml/2006/main" w="9525">
            <a:solidFill>
              <a:srgbClr val="F79009"/>
            </a:solid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受限</a:t>
            </a:r>
          </a:p>
        </p:txBody>
      </p:sp>
      <p:sp>
        <p:nvSpPr>
          <p:cNvPr id="39" name="">
            <a:extLst xmlns:a="http://schemas.openxmlformats.org/drawingml/2006/main">
              <a:ext uri="{FF2B5EF4-FFF2-40B4-BE49-F238E27FC236}">
                <a16:creationId xmlns:a16="http://schemas.microsoft.com/office/drawing/2014/main" id="{1E15782F-A415-486E-9315-B4EC7462B8B9}"/>
              </a:ext>
            </a:extLst>
          </p:cNvPr>
          <p:cNvSpPr>
            <a:spLocks xmlns:a="http://schemas.openxmlformats.org/drawingml/2006/main" noGrp="1"/>
          </p:cNvSpPr>
          <p:nvPr/>
        </p:nvSpPr>
        <p:spPr>
          <a:xfrm xmlns:a="http://schemas.openxmlformats.org/drawingml/2006/main">
            <a:off x="609600" y="5924550"/>
            <a:ext cx="10972800" cy="361950"/>
          </a:xfrm>
          <a:prstGeom xmlns:a="http://schemas.openxmlformats.org/drawingml/2006/main" prst="roundRect">
            <a:avLst>
              <a:gd name="adj" fmla="val 21053"/>
            </a:avLst>
          </a:prstGeom>
          <a:solidFill xmlns:a="http://schemas.openxmlformats.org/drawingml/2006/main">
            <a:srgbClr val="EFF8FF"/>
          </a:solidFill>
          <a:ln xmlns:a="http://schemas.openxmlformats.org/drawingml/2006/main" w="9525">
            <a:solidFill>
              <a:srgbClr val="B2DDFF"/>
            </a:solidFill>
          </a:ln>
        </p:spPr>
      </p:sp>
      <p:sp>
        <p:nvSpPr>
          <p:cNvPr id="40" name="">
            <a:extLst xmlns:a="http://schemas.openxmlformats.org/drawingml/2006/main">
              <a:ext uri="{FF2B5EF4-FFF2-40B4-BE49-F238E27FC236}">
                <a16:creationId xmlns:a16="http://schemas.microsoft.com/office/drawing/2014/main" id="{7F385FF1-6319-4661-9568-26A84531654A}"/>
              </a:ext>
            </a:extLst>
          </p:cNvPr>
          <p:cNvSpPr>
            <a:spLocks xmlns:a="http://schemas.openxmlformats.org/drawingml/2006/main" noGrp="1"/>
          </p:cNvSpPr>
          <p:nvPr/>
        </p:nvSpPr>
        <p:spPr>
          <a:xfrm xmlns:a="http://schemas.openxmlformats.org/drawingml/2006/main">
            <a:off x="819150" y="5991225"/>
            <a:ext cx="10553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1570EF"/>
                </a:solidFill>
                <a:latin typeface="Microsoft YaHei"/>
                <a:ea typeface="Microsoft YaHei"/>
                <a:cs typeface="Microsoft YaHei"/>
              </a:defRPr>
            </a:pPr>
            <a:r>
              <a:rPr sz="1050" b="0">
                <a:solidFill>
                  <a:srgbClr val="1570EF"/>
                </a:solidFill>
                <a:latin typeface="Microsoft YaHei"/>
                <a:ea typeface="Microsoft YaHei"/>
                <a:cs typeface="Microsoft YaHei"/>
              </a:rPr>
              <a:t>Broader repository: Level 3 transport, Level 4 roundtrip coherence and Level 5 finite-pulse RB/IRB are implemented, but their simulated fidelities are separate claims.</a:t>
            </a:r>
          </a:p>
        </p:txBody>
      </p:sp>
      <p:sp>
        <p:nvSpPr>
          <p:cNvPr id="41" name="">
            <a:extLst xmlns:a="http://schemas.openxmlformats.org/drawingml/2006/main">
              <a:ext uri="{FF2B5EF4-FFF2-40B4-BE49-F238E27FC236}">
                <a16:creationId xmlns:a16="http://schemas.microsoft.com/office/drawing/2014/main" id="{755A88B9-1E83-412F-8481-834793C7734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42" name="">
            <a:extLst xmlns:a="http://schemas.openxmlformats.org/drawingml/2006/main">
              <a:ext uri="{FF2B5EF4-FFF2-40B4-BE49-F238E27FC236}">
                <a16:creationId xmlns:a16="http://schemas.microsoft.com/office/drawing/2014/main" id="{224A8F79-A9B8-4BC6-A754-6CA886AA8B4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README.md · Level 2C / Level 4 / Level 5 output summaries</a:t>
            </a:r>
          </a:p>
        </p:txBody>
      </p:sp>
      <p:sp>
        <p:nvSpPr>
          <p:cNvPr id="43" name="">
            <a:extLst xmlns:a="http://schemas.openxmlformats.org/drawingml/2006/main">
              <a:ext uri="{FF2B5EF4-FFF2-40B4-BE49-F238E27FC236}">
                <a16:creationId xmlns:a16="http://schemas.microsoft.com/office/drawing/2014/main" id="{E363DBEF-D151-4F46-95FE-8538258D975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14</a:t>
            </a:r>
          </a:p>
        </p:txBody>
      </p:sp>
    </p:spTree>
    <p:extLst>
      <p:ext uri="{BB962C8B-B14F-4D97-AF65-F5344CB8AC3E}">
        <p14:creationId xmlns:p14="http://schemas.microsoft.com/office/powerpoint/2010/main" val="578552305"/>
      </p:ext>
    </p:extLst>
  </p:cSld>
</p:sld>
</file>

<file path=ppt/slides/slide15.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51D871F-ED26-42D6-A80D-2D2C616CFCA1}"/>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Current takeaway</a:t>
            </a:r>
          </a:p>
        </p:txBody>
      </p:sp>
      <p:sp>
        <p:nvSpPr>
          <p:cNvPr id="2" name="">
            <a:extLst xmlns:a="http://schemas.openxmlformats.org/drawingml/2006/main">
              <a:ext uri="{FF2B5EF4-FFF2-40B4-BE49-F238E27FC236}">
                <a16:creationId xmlns:a16="http://schemas.microsoft.com/office/drawing/2014/main" id="{9A938E4C-2000-459F-97FC-0A4CE680424A}"/>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86161A92-726F-4219-A0E7-CC9130904DCA}"/>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3599657A-30A5-4A77-A7CD-E16BB30A8428}"/>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已经做成</a:t>
            </a:r>
          </a:p>
        </p:txBody>
      </p:sp>
      <p:sp>
        <p:nvSpPr>
          <p:cNvPr id="5" name="">
            <a:extLst xmlns:a="http://schemas.openxmlformats.org/drawingml/2006/main">
              <a:ext uri="{FF2B5EF4-FFF2-40B4-BE49-F238E27FC236}">
                <a16:creationId xmlns:a16="http://schemas.microsoft.com/office/drawing/2014/main" id="{B85DAFBD-91B2-4CFB-B45E-4B2D63C7A630}"/>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重复转移 Monte Carlo、论文曲线数字化、真实 Fig. 6c 轨迹回放和机制消融形成了可追溯链路。</a:t>
            </a:r>
          </a:p>
        </p:txBody>
      </p:sp>
      <p:sp>
        <p:nvSpPr>
          <p:cNvPr id="6" name="">
            <a:extLst xmlns:a="http://schemas.openxmlformats.org/drawingml/2006/main">
              <a:ext uri="{FF2B5EF4-FFF2-40B4-BE49-F238E27FC236}">
                <a16:creationId xmlns:a16="http://schemas.microsoft.com/office/drawing/2014/main" id="{303430E0-9562-4F71-AFD5-78F932FD9D91}"/>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EE45BD99-1783-4647-AF52-10C53344EB41}"/>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DA798E13-C619-4C1F-9FB1-D37D5FF28070}"/>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相对物理已捕捉</a:t>
            </a:r>
          </a:p>
        </p:txBody>
      </p:sp>
      <p:sp>
        <p:nvSpPr>
          <p:cNvPr id="9" name="">
            <a:extLst xmlns:a="http://schemas.openxmlformats.org/drawingml/2006/main">
              <a:ext uri="{FF2B5EF4-FFF2-40B4-BE49-F238E27FC236}">
                <a16:creationId xmlns:a16="http://schemas.microsoft.com/office/drawing/2014/main" id="{96A6B8EB-73B8-4BA3-B3E6-D24EF66FBCA0}"/>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T40 raw endpoint 的 ML gain 为 +0.231，论文为 +0.250；模型内增益主要来自 position trajectory。</a:t>
            </a:r>
          </a:p>
        </p:txBody>
      </p:sp>
      <p:sp>
        <p:nvSpPr>
          <p:cNvPr id="10" name="">
            <a:extLst xmlns:a="http://schemas.openxmlformats.org/drawingml/2006/main">
              <a:ext uri="{FF2B5EF4-FFF2-40B4-BE49-F238E27FC236}">
                <a16:creationId xmlns:a16="http://schemas.microsoft.com/office/drawing/2014/main" id="{E970119F-264A-4898-BE62-3BEE6F5DD202}"/>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60A1E05B-FF13-4CC1-9396-9912CB8AB82F}"/>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BAEB26F0-5A31-43A4-B6A4-BE34B9C85D19}"/>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绝对定量仍未闭合</a:t>
            </a:r>
          </a:p>
        </p:txBody>
      </p:sp>
      <p:sp>
        <p:nvSpPr>
          <p:cNvPr id="13" name="">
            <a:extLst xmlns:a="http://schemas.openxmlformats.org/drawingml/2006/main">
              <a:ext uri="{FF2B5EF4-FFF2-40B4-BE49-F238E27FC236}">
                <a16:creationId xmlns:a16="http://schemas.microsoft.com/office/drawing/2014/main" id="{75DC8F59-27FC-4893-B768-D3DF9396A399}"/>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当前所有 manual 曲线都未通过 ±0.02；200 µs 和 400/600 µs late-time shape 仍有系统误差。</a:t>
            </a:r>
          </a:p>
        </p:txBody>
      </p:sp>
      <p:sp>
        <p:nvSpPr>
          <p:cNvPr id="14" name="">
            <a:extLst xmlns:a="http://schemas.openxmlformats.org/drawingml/2006/main">
              <a:ext uri="{FF2B5EF4-FFF2-40B4-BE49-F238E27FC236}">
                <a16:creationId xmlns:a16="http://schemas.microsoft.com/office/drawing/2014/main" id="{930DCF12-C717-4AC6-B4C8-AAC1D616A258}"/>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54FEC488-9196-42B7-9304-495C0699DF0D}"/>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51D1B1F7-7F52-434A-844E-96DBAB61D499}"/>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当前可回答的边界</a:t>
            </a:r>
          </a:p>
        </p:txBody>
      </p:sp>
      <p:sp>
        <p:nvSpPr>
          <p:cNvPr id="17" name="">
            <a:extLst xmlns:a="http://schemas.openxmlformats.org/drawingml/2006/main">
              <a:ext uri="{FF2B5EF4-FFF2-40B4-BE49-F238E27FC236}">
                <a16:creationId xmlns:a16="http://schemas.microsoft.com/office/drawing/2014/main" id="{2D4C52A0-8CC1-4453-BCF4-0F55A14883F1}"/>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模型可以比较轨迹和排除部分简单机制，但不能给出实验级 absolute loss 或把 survival 称为 fidelity。</a:t>
            </a:r>
          </a:p>
        </p:txBody>
      </p:sp>
      <p:sp>
        <p:nvSpPr>
          <p:cNvPr id="18" name="">
            <a:extLst xmlns:a="http://schemas.openxmlformats.org/drawingml/2006/main">
              <a:ext uri="{FF2B5EF4-FFF2-40B4-BE49-F238E27FC236}">
                <a16:creationId xmlns:a16="http://schemas.microsoft.com/office/drawing/2014/main" id="{CC453324-9B72-4F8C-8617-49129B2FB169}"/>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Further model extensions are intentionally outside the scope of this progress review.</a:t>
            </a:r>
          </a:p>
        </p:txBody>
      </p:sp>
      <p:sp>
        <p:nvSpPr>
          <p:cNvPr id="19" name="">
            <a:extLst xmlns:a="http://schemas.openxmlformats.org/drawingml/2006/main">
              <a:ext uri="{FF2B5EF4-FFF2-40B4-BE49-F238E27FC236}">
                <a16:creationId xmlns:a16="http://schemas.microsoft.com/office/drawing/2014/main" id="{8FF232B5-0BE6-42B4-A570-494E30975BBF}"/>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15</a:t>
            </a:r>
          </a:p>
        </p:txBody>
      </p:sp>
    </p:spTree>
    <p:extLst>
      <p:ext uri="{BB962C8B-B14F-4D97-AF65-F5344CB8AC3E}">
        <p14:creationId xmlns:p14="http://schemas.microsoft.com/office/powerpoint/2010/main" val="1984358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2026-09-09T03:22:15.0750000Z</dcterms:created>
  <dcterms:modified xsi:type="dcterms:W3CDTF">2026-09-09T03:22:15.0750000Z</dcterms:modified>
</coreProperties>
</file>