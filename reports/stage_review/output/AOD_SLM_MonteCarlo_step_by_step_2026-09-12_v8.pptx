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cdf3fc5aa9a4429" /><Relationship Type="http://schemas.openxmlformats.org/officeDocument/2006/relationships/extended-properties" Target="/docProps/app.xml" Id="R480caba976b64ddf" /><Relationship Type="http://schemas.openxmlformats.org/officeDocument/2006/relationships/officeDocument" Target="/ppt/presentation.xml" Id="R556ad606dfce43bf" /></Relationships>
</file>

<file path=ppt/presentation.xml><?xml version="1.0" encoding="utf-8"?>
<p:presentation xmlns:p="http://schemas.openxmlformats.org/presentationml/2006/main">
  <p:sldMasterIdLst>
    <p:sldMasterId xmlns:r="http://schemas.openxmlformats.org/officeDocument/2006/relationships" id="2147483648" r:id="Rb4e9bfc6b8de4e06"/>
  </p:sldMasterIdLst>
  <p:notesMasterIdLst>
    <p:notesMasterId xmlns:r="http://schemas.openxmlformats.org/officeDocument/2006/relationships" r:id="R392ca62eb1c44764"/>
  </p:notesMasterIdLst>
  <p:sldIdLst>
    <p:sldId xmlns:r="http://schemas.openxmlformats.org/officeDocument/2006/relationships" id="256" r:id="Refd77e4d2aec4182"/>
    <p:sldId xmlns:r="http://schemas.openxmlformats.org/officeDocument/2006/relationships" id="257" r:id="R753f49f0c9d04b26"/>
    <p:sldId xmlns:r="http://schemas.openxmlformats.org/officeDocument/2006/relationships" id="258" r:id="Rdf05e05a662a44ce"/>
    <p:sldId xmlns:r="http://schemas.openxmlformats.org/officeDocument/2006/relationships" id="259" r:id="Ra39d094162d44326"/>
    <p:sldId xmlns:r="http://schemas.openxmlformats.org/officeDocument/2006/relationships" id="260" r:id="R69380bb238e94f91"/>
    <p:sldId xmlns:r="http://schemas.openxmlformats.org/officeDocument/2006/relationships" id="261" r:id="Rfe616074d0f7439f"/>
    <p:sldId xmlns:r="http://schemas.openxmlformats.org/officeDocument/2006/relationships" id="262" r:id="R8074b12306aa4903"/>
    <p:sldId xmlns:r="http://schemas.openxmlformats.org/officeDocument/2006/relationships" id="263" r:id="Rf848bd59cc984b5f"/>
    <p:sldId xmlns:r="http://schemas.openxmlformats.org/officeDocument/2006/relationships" id="264" r:id="R03ad32932a954e47"/>
    <p:sldId xmlns:r="http://schemas.openxmlformats.org/officeDocument/2006/relationships" id="265" r:id="Ra7ada68b2a0d4d09"/>
    <p:sldId xmlns:r="http://schemas.openxmlformats.org/officeDocument/2006/relationships" id="266" r:id="R09b8e85b7a754e17"/>
    <p:sldId xmlns:r="http://schemas.openxmlformats.org/officeDocument/2006/relationships" id="267" r:id="R9ba703650e554b51"/>
    <p:sldId xmlns:r="http://schemas.openxmlformats.org/officeDocument/2006/relationships" id="268" r:id="R089cb4e50e72485e"/>
    <p:sldId xmlns:r="http://schemas.openxmlformats.org/officeDocument/2006/relationships" id="269" r:id="R4b07f33c4bf44609"/>
    <p:sldId xmlns:r="http://schemas.openxmlformats.org/officeDocument/2006/relationships" id="270" r:id="R81b2d343995446b9"/>
    <p:sldId xmlns:r="http://schemas.openxmlformats.org/officeDocument/2006/relationships" id="271" r:id="Rca290624dd394cb4"/>
    <p:sldId xmlns:r="http://schemas.openxmlformats.org/officeDocument/2006/relationships" id="272" r:id="R10037b95980c4eec"/>
    <p:sldId xmlns:r="http://schemas.openxmlformats.org/officeDocument/2006/relationships" id="273" r:id="R0525a8edc1664f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ff04a6b73044f6" /><Relationship Type="http://schemas.openxmlformats.org/officeDocument/2006/relationships/slideMaster" Target="/ppt/slideMasters/slideMaster1.xml" Id="Rb4e9bfc6b8de4e06" /><Relationship Type="http://schemas.openxmlformats.org/officeDocument/2006/relationships/notesMaster" Target="/ppt/notesMasters/notesMaster1.xml" Id="R392ca62eb1c44764" /><Relationship Type="http://schemas.openxmlformats.org/officeDocument/2006/relationships/presProps" Target="/ppt/presProps.xml" Id="R8d07899a27f14e20" /><Relationship Type="http://schemas.openxmlformats.org/officeDocument/2006/relationships/tableStyles" Target="/ppt/tableStyles.xml" Id="Rc6b7e62ed4aa4dbb" /><Relationship Type="http://schemas.openxmlformats.org/officeDocument/2006/relationships/slide" Target="/ppt/slides/slide1.xml" Id="Refd77e4d2aec4182" /><Relationship Type="http://schemas.openxmlformats.org/officeDocument/2006/relationships/slide" Target="/ppt/slides/slide2.xml" Id="R753f49f0c9d04b26" /><Relationship Type="http://schemas.openxmlformats.org/officeDocument/2006/relationships/slide" Target="/ppt/slides/slide3.xml" Id="Rdf05e05a662a44ce" /><Relationship Type="http://schemas.openxmlformats.org/officeDocument/2006/relationships/slide" Target="/ppt/slides/slide4.xml" Id="Ra39d094162d44326" /><Relationship Type="http://schemas.openxmlformats.org/officeDocument/2006/relationships/slide" Target="/ppt/slides/slide5.xml" Id="R69380bb238e94f91" /><Relationship Type="http://schemas.openxmlformats.org/officeDocument/2006/relationships/slide" Target="/ppt/slides/slide6.xml" Id="Rfe616074d0f7439f" /><Relationship Type="http://schemas.openxmlformats.org/officeDocument/2006/relationships/slide" Target="/ppt/slides/slide7.xml" Id="R8074b12306aa4903" /><Relationship Type="http://schemas.openxmlformats.org/officeDocument/2006/relationships/slide" Target="/ppt/slides/slide8.xml" Id="Rf848bd59cc984b5f" /><Relationship Type="http://schemas.openxmlformats.org/officeDocument/2006/relationships/slide" Target="/ppt/slides/slide9.xml" Id="R03ad32932a954e47" /><Relationship Type="http://schemas.openxmlformats.org/officeDocument/2006/relationships/slide" Target="/ppt/slides/slide10.xml" Id="Ra7ada68b2a0d4d09" /><Relationship Type="http://schemas.openxmlformats.org/officeDocument/2006/relationships/slide" Target="/ppt/slides/slide11.xml" Id="R09b8e85b7a754e17" /><Relationship Type="http://schemas.openxmlformats.org/officeDocument/2006/relationships/slide" Target="/ppt/slides/slide12.xml" Id="R9ba703650e554b51" /><Relationship Type="http://schemas.openxmlformats.org/officeDocument/2006/relationships/slide" Target="/ppt/slides/slide13.xml" Id="R089cb4e50e72485e" /><Relationship Type="http://schemas.openxmlformats.org/officeDocument/2006/relationships/slide" Target="/ppt/slides/slide14.xml" Id="R4b07f33c4bf44609" /><Relationship Type="http://schemas.openxmlformats.org/officeDocument/2006/relationships/slide" Target="/ppt/slides/slide15.xml" Id="R81b2d343995446b9" /><Relationship Type="http://schemas.openxmlformats.org/officeDocument/2006/relationships/slide" Target="/ppt/slides/slide16.xml" Id="Rca290624dd394cb4" /><Relationship Type="http://schemas.openxmlformats.org/officeDocument/2006/relationships/slide" Target="/ppt/slides/slide17.xml" Id="R10037b95980c4eec" /><Relationship Type="http://schemas.openxmlformats.org/officeDocument/2006/relationships/slide" Target="/ppt/slides/slide18.xml" Id="R0525a8edc1664f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717641ed1943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131aa0b48c420c" /><Relationship Type="http://schemas.openxmlformats.org/officeDocument/2006/relationships/notesMaster" Target="/ppt/notesMasters/notesMaster1.xml" Id="Rd2bce9857dfd41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485b38a2c545d5" /><Relationship Type="http://schemas.openxmlformats.org/officeDocument/2006/relationships/notesMaster" Target="/ppt/notesMasters/notesMaster1.xml" Id="R42695fa797354b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2f027a11c246c6" /><Relationship Type="http://schemas.openxmlformats.org/officeDocument/2006/relationships/notesMaster" Target="/ppt/notesMasters/notesMaster1.xml" Id="Rb90deff528b842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47a2e1ed004a04" /><Relationship Type="http://schemas.openxmlformats.org/officeDocument/2006/relationships/notesMaster" Target="/ppt/notesMasters/notesMaster1.xml" Id="R66c8c71684f641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2ef66ac6bf45c6" /><Relationship Type="http://schemas.openxmlformats.org/officeDocument/2006/relationships/notesMaster" Target="/ppt/notesMasters/notesMaster1.xml" Id="Rd1545baaf6424d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8bd51eece24299" /><Relationship Type="http://schemas.openxmlformats.org/officeDocument/2006/relationships/notesMaster" Target="/ppt/notesMasters/notesMaster1.xml" Id="Re1e47f229a264d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c4f0c4db714f56" /><Relationship Type="http://schemas.openxmlformats.org/officeDocument/2006/relationships/notesMaster" Target="/ppt/notesMasters/notesMaster1.xml" Id="Rfc0c7f941e6e46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2b828e98ce43ba" /><Relationship Type="http://schemas.openxmlformats.org/officeDocument/2006/relationships/notesMaster" Target="/ppt/notesMasters/notesMaster1.xml" Id="R27d3f2352467420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1b6ec2568a4064" /><Relationship Type="http://schemas.openxmlformats.org/officeDocument/2006/relationships/notesMaster" Target="/ppt/notesMasters/notesMaster1.xml" Id="R6435f6f8fce64f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cb521e70d0454a" /><Relationship Type="http://schemas.openxmlformats.org/officeDocument/2006/relationships/notesMaster" Target="/ppt/notesMasters/notesMaster1.xml" Id="R29bc41c4b7fd42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15f85f3d514b59" /><Relationship Type="http://schemas.openxmlformats.org/officeDocument/2006/relationships/notesMaster" Target="/ppt/notesMasters/notesMaster1.xml" Id="R144464ff0d0b4e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d49740e05e4cc0" /><Relationship Type="http://schemas.openxmlformats.org/officeDocument/2006/relationships/notesMaster" Target="/ppt/notesMasters/notesMaster1.xml" Id="R938f9d1a1bc34c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e22bb3f2af44d3" /><Relationship Type="http://schemas.openxmlformats.org/officeDocument/2006/relationships/notesMaster" Target="/ppt/notesMasters/notesMaster1.xml" Id="R94b4e9f5e4c048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1103282a8334215" /><Relationship Type="http://schemas.openxmlformats.org/officeDocument/2006/relationships/notesMaster" Target="/ppt/notesMasters/notesMaster1.xml" Id="Rf7ba17bad5da49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2e0d065fb0442a" /><Relationship Type="http://schemas.openxmlformats.org/officeDocument/2006/relationships/notesMaster" Target="/ppt/notesMasters/notesMaster1.xml" Id="Rfdcc34db5c51425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3aef9def0343c5" /><Relationship Type="http://schemas.openxmlformats.org/officeDocument/2006/relationships/notesMaster" Target="/ppt/notesMasters/notesMaster1.xml" Id="R69531329884342d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43306df857d419b" /><Relationship Type="http://schemas.openxmlformats.org/officeDocument/2006/relationships/notesMaster" Target="/ppt/notesMasters/notesMaster1.xml" Id="Rc8f048fbbcbd4e2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36ce790b5cb42d4" /><Relationship Type="http://schemas.openxmlformats.org/officeDocument/2006/relationships/notesMaster" Target="/ppt/notesMasters/notesMaster1.xml" Id="R6e9b5830fdb34d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git branch gpt_level4_5, commit 5e55bb0dcc4d9c1be07c6d39d9e8d74d45bca9f8</a:t>
            </a:r>
          </a:p>
          <a:p xmlns:a="http://schemas.openxmlformats.org/drawingml/2006/main">
            <a:r>
              <a:t>- simulation/level2_joint_transfer/README.md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simulation/level2_joint_transfer/README.md, Level 2C section</a:t>
            </a:r>
          </a:p>
          <a:p xmlns:a="http://schemas.openxmlformats.org/drawingml/2006/main">
            <a:r>
              <a:t>- simulation/level2_joint_transfer/reference/fig6d_parameters.md</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The report distinguishes repository computations already present from comparison metrics recomputed for presentation. No Monte Carlo parameter was refit during deck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simulation/level2_joint_transfer/reference/fig6d_parameters.md</a:t>
            </a:r>
          </a:p>
          <a:p xmlns:a="http://schemas.openxmlformats.org/drawingml/2006/main">
            <a:r>
              <a:t>- simulation/level2_joint_transfer/reference/fig6d_survival_digitized.csv</a:t>
            </a:r>
          </a:p>
          <a:p xmlns:a="http://schemas.openxmlformats.org/drawingml/2006/main">
            <a:r>
              <a:t>- simulation/level2_joint_transfer/reference/fig6d_digitize_check.png</a:t>
            </a:r>
          </a:p>
          <a:p xmlns:a="http://schemas.openxmlformats.org/drawingml/2006/main">
            <a:r>
              <a:t>- simulation/level2_joint_transfer/tools/digitize_fig6d.py</a:t>
            </a:r>
          </a:p>
          <a:p xmlns:a="http://schemas.openxmlformats.org/drawingml/2006/main">
            <a:r>
              <a:t/>
            </a:r>
          </a:p>
          <a:p xmlns:a="http://schemas.openxmlformats.org/drawingml/2006/main">
            <a:r>
              <a:t>Method note: Paper display curves use monotone linear interpolation through stable anchors. The source CSV remains unchanged. Manual 200 µs ends at n=31 because the plotted curve leaves the visible panel.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simulation/level2_joint_transfer/reference/fig6d_parameters.md</a:t>
            </a:r>
          </a:p>
          <a:p xmlns:a="http://schemas.openxmlformats.org/drawingml/2006/main">
            <a:r>
              <a:t>- simulation/level2_joint_transfer/configs/level2c_pickup_survival.yaml</a:t>
            </a:r>
          </a:p>
          <a:p xmlns:a="http://schemas.openxmlformats.org/drawingml/2006/main">
            <a:r>
              <a:t>- simulation/level2_joint_transfer/src/level0_static_trap/potentials.py</a:t>
            </a:r>
          </a:p>
          <a:p xmlns:a="http://schemas.openxmlformats.org/drawingml/2006/main">
            <a:r>
              <a:t>- simulation/level2_joint_transfer/src/level2c_pickup_survival/survival_engine.py</a:t>
            </a:r>
          </a:p>
          <a:p xmlns:a="http://schemas.openxmlformats.org/drawingml/2006/main">
            <a:r>
              <a:t/>
            </a:r>
          </a:p>
          <a:p xmlns:a="http://schemas.openxmlformats.org/drawingml/2006/main">
            <a:r>
              <a:t>Method note: AOD waist 1.17 µm is an assumed match to the SLM back-aperture value. The Level 2C main comparison uses one spatial dimension.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simulation/level2_joint_transfer/configs/level2c_pickup_survival.yaml</a:t>
            </a:r>
          </a:p>
          <a:p xmlns:a="http://schemas.openxmlformats.org/drawingml/2006/main">
            <a:r>
              <a:t>- simulation/level2_joint_transfer/src/level2c_pickup_survival/survival_engine.py</a:t>
            </a:r>
          </a:p>
          <a:p xmlns:a="http://schemas.openxmlformats.org/drawingml/2006/main">
            <a:r>
              <a:t>- simulation/level2_joint_transfer/src/level2_joint_transfer/noise_heating.py</a:t>
            </a:r>
          </a:p>
          <a:p xmlns:a="http://schemas.openxmlformats.org/drawingml/2006/main">
            <a:r>
              <a:t/>
            </a:r>
          </a:p>
          <a:p xmlns:a="http://schemas.openxmlformats.org/drawingml/2006/main">
            <a:r>
              <a:t>Method note: The config field shot_jitter_alignment_sigma_um is described as per-transfer, but survival_engine.py redraws it once for each pickup, wait, and drop-off leg. RIN is deterministic mean-rate heating rather than a random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simulation/level2_joint_transfer/src/level2_joint_transfer/waveforms.py</a:t>
            </a:r>
          </a:p>
          <a:p xmlns:a="http://schemas.openxmlformats.org/drawingml/2006/main">
            <a:r>
              <a:t>- simulation/level2_joint_transfer/reference/fig6d_parameters.md</a:t>
            </a:r>
          </a:p>
          <a:p xmlns:a="http://schemas.openxmlformats.org/drawingml/2006/main">
            <a:r>
              <a:t>- simulation/level2_joint_transfer/configs/level2c_pickup_survival.yaml</a:t>
            </a:r>
          </a:p>
          <a:p xmlns:a="http://schemas.openxmlformats.org/drawingml/2006/main">
            <a:r>
              <a:t/>
            </a:r>
          </a:p>
          <a:p xmlns:a="http://schemas.openxmlformats.org/drawingml/2006/main">
            <a:r>
              <a:t>Method note: Charts show the 400 µs manual waveform. The 200 and 600 µs cases use the same normalized shape with different time scaling.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simulation/level2_joint_transfer/src/level2c_pickup_survival/survival_engine.py</a:t>
            </a:r>
          </a:p>
          <a:p xmlns:a="http://schemas.openxmlformats.org/drawingml/2006/main">
            <a:r>
              <a:t>- simulation/level2_joint_transfer/src/level2_joint_transfer/noise_heating.py</a:t>
            </a:r>
          </a:p>
          <a:p xmlns:a="http://schemas.openxmlformats.org/drawingml/2006/main">
            <a:r>
              <a:t>- simulation/level2_joint_transfer/src/level2_joint_transfer/work_energy.py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simulation/level2_joint_transfer/src/level2c_pickup_survival/survival_engine.py</a:t>
            </a:r>
          </a:p>
          <a:p xmlns:a="http://schemas.openxmlformats.org/drawingml/2006/main">
            <a:r>
              <a:t>- simulation/level2_joint_transfer/src/level2_joint_transfer/statistics.py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Baseline values are raw 256-shot full-variant counts: Manual 400 S(60)=0.9296875 and Manual 600 S(60)=0.9921875.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simulation/level2_joint_transfer/configs/scan_stage1/</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All scan values are sensitivity assumptions. They were not fit on the validation pool and do not constitute measured apparatus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simulation/level2_joint_transfer/outputs/level2c_pickup_survival/demo/survival_scan_results.csv</a:t>
            </a:r>
          </a:p>
          <a:p xmlns:a="http://schemas.openxmlformats.org/drawingml/2006/main">
            <a:r>
              <a:t>- simulation/level2_joint_transfer/outputs/level2c_pickup_survival/scan_stage1/*/survival_scan_results.csv</a:t>
            </a:r>
          </a:p>
          <a:p xmlns:a="http://schemas.openxmlformats.org/drawingml/2006/main">
            <a:r>
              <a:t/>
            </a:r>
          </a:p>
          <a:p xmlns:a="http://schemas.openxmlformats.org/drawingml/2006/main">
            <a:r>
              <a:t>Method note: All displayed scan values are raw n=60 full-variant results from the 256-shot common-random-number pool.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simulation/level2_joint_transfer/tools/digitize_fig6d.py</a:t>
            </a:r>
          </a:p>
          <a:p xmlns:a="http://schemas.openxmlformats.org/drawingml/2006/main">
            <a:r>
              <a:t/>
            </a:r>
          </a:p>
          <a:p xmlns:a="http://schemas.openxmlformats.org/drawingml/2006/main">
            <a:r>
              <a:t>Method note: MC lines use the raw 512-shot validation arrays. Paper lines use linear interpolation through stable digitization anchors at n=5, 8, 12, 16, 20, 30, 40, 50 and 60; the 200 µs series ends at n=31. This presentation-only reconstruction removes rasterized diamond-marker edge artifacts while preserving the source CSV and quoted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simulation/level2_joint_transfer/outputs/level2c_pickup_survival/scan_stage1/fig6c_ml_trajectory_digitized.json</a:t>
            </a:r>
          </a:p>
          <a:p xmlns:a="http://schemas.openxmlformats.org/drawingml/2006/main">
            <a:r>
              <a:t>- simulation/level2_joint_transfer/src/level2_joint_transfer/waveforms.py</a:t>
            </a:r>
          </a:p>
          <a:p xmlns:a="http://schemas.openxmlformats.org/drawingml/2006/main">
            <a:r>
              <a:t>- simulation/level2_joint_transfer/outputs/level2c_pickup_survival/scan_stage1/summary_stage1.md</a:t>
            </a:r>
          </a:p>
          <a:p xmlns:a="http://schemas.openxmlformats.org/drawingml/2006/main">
            <a:r>
              <a:t/>
            </a:r>
          </a:p>
          <a:p xmlns:a="http://schemas.openxmlformats.org/drawingml/2006/main">
            <a:r>
              <a:t>Method note: Manual curves are evaluated at the same nodes. The digitized curve is not the raw AWG command waveform; interpolation boundary conditions and hardware response remain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MC T40 values are raw 256-shot scan-pool endpoints: manual 0.52734375 and Fig. 6c replay 0.7578125. Paper endpoints are 0.4135 and 0.6633. Equivalent per-transfer loss is 1-S(60)^(1/60).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 section 6.1</a:t>
            </a:r>
          </a:p>
          <a:p xmlns:a="http://schemas.openxmlformats.org/drawingml/2006/main">
            <a:r>
              <a:t>- simulation/level2_joint_transfer/outputs/level2c_pickup_survival/scan_stage1/ablation_cross_2x2.py</a:t>
            </a:r>
          </a:p>
          <a:p xmlns:a="http://schemas.openxmlformats.org/drawingml/2006/main">
            <a:r>
              <a:t/>
            </a:r>
          </a:p>
          <a:p xmlns:a="http://schemas.openxmlformats.org/drawingml/2006/main">
            <a:r>
              <a:t>Method note: The repository commits the reproducible script and the reported values in summary_stage1.md, but no separate raw JSON/CSV for this cross-ablation. These numbers are therefore kept distinct from raw-output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simulation/level2_joint_transfer/outputs/level2c_pickup_survival/scan_stage1/paper_ml_eval.json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Manual curve-error metrics are recomputed against the same monotone paper reconstruction used on slides 12 and 17. Endpoints are unchanged. The ML endpoint row uses the raw T40 scan-pool value 0.7578125. The later 512-shot summary contains inconsistent 0.8047 and 0.822 values without a committed full curve, so neither is used as the main quantitative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simulation/level2_joint_transfer/outputs/level2c_pickup_survival/scan_stage1/T40/comparison_to_paper.json</a:t>
            </a:r>
          </a:p>
          <a:p xmlns:a="http://schemas.openxmlformats.org/drawingml/2006/main">
            <a:r>
              <a:t>- simulation/level2_joint_transfer/reference/fig6d_survival_digitized.csv</a:t>
            </a:r>
          </a:p>
          <a:p xmlns:a="http://schemas.openxmlformats.org/drawingml/2006/main">
            <a:r>
              <a:t/>
            </a:r>
          </a:p>
          <a:p xmlns:a="http://schemas.openxmlformats.org/drawingml/2006/main">
            <a:r>
              <a:t>Method note: Deviations are recomputed from raw MC values against the monotone paper reconstruction used on slide 12. This slide does not use the ML curve because the current Fig. 6c replay full curve was not committed. Vacuum lifetime and apparatus loss channels are absent from the current Level 2C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simulation/level2_joint_transfer/outputs/level2c_pickup_survival/scan_stage1/summary_stage1.md</a:t>
            </a:r>
          </a:p>
          <a:p xmlns:a="http://schemas.openxmlformats.org/drawingml/2006/main">
            <a:r>
              <a:t>- simulation/level2_joint_transfer/outputs/level2c_pickup_survival/scan_stage1/paper_ml_eval.json</a:t>
            </a:r>
          </a:p>
          <a:p xmlns:a="http://schemas.openxmlformats.org/drawingml/2006/main">
            <a:r>
              <a:t>- simulation/level2_joint_transfer/outputs/level2c_pickup_survival/scan_stage1/T40/comparison_to_paper.json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1d247545024d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1862acdcea45c6" /><Relationship Type="http://schemas.openxmlformats.org/officeDocument/2006/relationships/slideLayout" Target="/ppt/slideLayouts/slideLayout1.xml" Id="R5aca323512d548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ca323512d548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3da46255d64e33" /><Relationship Type="http://schemas.openxmlformats.org/officeDocument/2006/relationships/notesSlide" Target="/ppt/notesSlides/notesSlide1.xml" Id="R6efd9ebedabd48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5d07cbe76c45b4" /><Relationship Type="http://schemas.openxmlformats.org/officeDocument/2006/relationships/notesSlide" Target="/ppt/notesSlides/notesSlide2.xml" Id="Rd5b3f622a93145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c1544358b54f8e" /><Relationship Type="http://schemas.openxmlformats.org/officeDocument/2006/relationships/image" Target="/ppt/media/image.png" Id="R5f6111341f1545cb" /><Relationship Type="http://schemas.openxmlformats.org/officeDocument/2006/relationships/notesSlide" Target="/ppt/notesSlides/notesSlide3.xml" Id="Rf5004970031e4a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ff5762f2ea4424" /><Relationship Type="http://schemas.openxmlformats.org/officeDocument/2006/relationships/notesSlide" Target="/ppt/notesSlides/notesSlide4.xml" Id="R9baa32e0a2344d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f92de661774785" /><Relationship Type="http://schemas.openxmlformats.org/officeDocument/2006/relationships/notesSlide" Target="/ppt/notesSlides/notesSlide5.xml" Id="Rd7975b27376c45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9cdd3e4bdd44ff" /><Relationship Type="http://schemas.openxmlformats.org/officeDocument/2006/relationships/chart" Target="/ppt/slides/charts/chart1.xml" Id="R468f1520607e4cb3" /><Relationship Type="http://schemas.openxmlformats.org/officeDocument/2006/relationships/chart" Target="/ppt/slides/charts/chart2.xml" Id="R7bb2e17676624a32" /><Relationship Type="http://schemas.openxmlformats.org/officeDocument/2006/relationships/notesSlide" Target="/ppt/notesSlides/notesSlide6.xml" Id="Raec5fc14f9394a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5aa03a5841c4aef" /><Relationship Type="http://schemas.openxmlformats.org/officeDocument/2006/relationships/notesSlide" Target="/ppt/notesSlides/notesSlide7.xml" Id="R531a600fa7574b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010e793c0884379" /><Relationship Type="http://schemas.openxmlformats.org/officeDocument/2006/relationships/chart" Target="/ppt/slides/charts/chart3.xml" Id="R269d2691027e4931" /><Relationship Type="http://schemas.openxmlformats.org/officeDocument/2006/relationships/notesSlide" Target="/ppt/notesSlides/notesSlide8.xml" Id="Rc607b48a628a4f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a76b88622e64916" /><Relationship Type="http://schemas.openxmlformats.org/officeDocument/2006/relationships/chart" Target="/ppt/slides/charts/chart4.xml" Id="R2e3dcd5e71b54d64" /><Relationship Type="http://schemas.openxmlformats.org/officeDocument/2006/relationships/notesSlide" Target="/ppt/notesSlides/notesSlide9.xml" Id="R6fe5285e0dc94e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10db539559546ed" /><Relationship Type="http://schemas.openxmlformats.org/officeDocument/2006/relationships/notesSlide" Target="/ppt/notesSlides/notesSlide10.xml" Id="R3af1c8b733cc42c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105a6e019c14840" /><Relationship Type="http://schemas.openxmlformats.org/officeDocument/2006/relationships/chart" Target="/ppt/slides/charts/chart5.xml" Id="R3194e155d9bf4975" /><Relationship Type="http://schemas.openxmlformats.org/officeDocument/2006/relationships/chart" Target="/ppt/slides/charts/chart6.xml" Id="Rb84ef348503d4efe" /><Relationship Type="http://schemas.openxmlformats.org/officeDocument/2006/relationships/notesSlide" Target="/ppt/notesSlides/notesSlide11.xml" Id="R24bfde9ca36f46c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9a06f69f0bc453f" /><Relationship Type="http://schemas.openxmlformats.org/officeDocument/2006/relationships/chart" Target="/ppt/slides/charts/chart7.xml" Id="R61716fdff81d4217" /><Relationship Type="http://schemas.openxmlformats.org/officeDocument/2006/relationships/chart" Target="/ppt/slides/charts/chart8.xml" Id="Re32c09730b544a43" /><Relationship Type="http://schemas.openxmlformats.org/officeDocument/2006/relationships/notesSlide" Target="/ppt/notesSlides/notesSlide12.xml" Id="R074d587258194f0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340800e6ece4a6e" /><Relationship Type="http://schemas.openxmlformats.org/officeDocument/2006/relationships/chart" Target="/ppt/slides/charts/chart9.xml" Id="R2fb98fd0d61d4028" /><Relationship Type="http://schemas.openxmlformats.org/officeDocument/2006/relationships/chart" Target="/ppt/slides/charts/chart10.xml" Id="Rdbfeb5de266f4b6e" /><Relationship Type="http://schemas.openxmlformats.org/officeDocument/2006/relationships/notesSlide" Target="/ppt/notesSlides/notesSlide13.xml" Id="Rcb418361c6c842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9a2fd1b33f04a19" /><Relationship Type="http://schemas.openxmlformats.org/officeDocument/2006/relationships/chart" Target="/ppt/slides/charts/chart11.xml" Id="R97ebd74eca064f91" /><Relationship Type="http://schemas.openxmlformats.org/officeDocument/2006/relationships/notesSlide" Target="/ppt/notesSlides/notesSlide14.xml" Id="Rd41da39693fb4d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08e55c3673c4e9f" /><Relationship Type="http://schemas.openxmlformats.org/officeDocument/2006/relationships/chart" Target="/ppt/slides/charts/chart12.xml" Id="R0872c3a872f64af1" /><Relationship Type="http://schemas.openxmlformats.org/officeDocument/2006/relationships/notesSlide" Target="/ppt/notesSlides/notesSlide15.xml" Id="R23b3aa8c35bd43f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8200fc1a3ec44d8" /><Relationship Type="http://schemas.openxmlformats.org/officeDocument/2006/relationships/notesSlide" Target="/ppt/notesSlides/notesSlide16.xml" Id="Racb986119e84497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5021e700fa0428f" /><Relationship Type="http://schemas.openxmlformats.org/officeDocument/2006/relationships/chart" Target="/ppt/slides/charts/chart13.xml" Id="R926f8254adc44309" /><Relationship Type="http://schemas.openxmlformats.org/officeDocument/2006/relationships/chart" Target="/ppt/slides/charts/chart14.xml" Id="Rb1e0d3fb785144ec" /><Relationship Type="http://schemas.openxmlformats.org/officeDocument/2006/relationships/notesSlide" Target="/ppt/notesSlides/notesSlide17.xml" Id="R6c2ec88a7aaa476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daa24a0b1824b6f" /><Relationship Type="http://schemas.openxmlformats.org/officeDocument/2006/relationships/notesSlide" Target="/ppt/notesSlides/notesSlide18.xml" Id="R514607dd1ac74c2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Manual position</c:v>
          </c:tx>
          <c:spPr>
            <a:ln xmlns:a="http://schemas.openxmlformats.org/drawingml/2006/main" w="28575">
              <a:solidFill>
                <a:srgbClr val="1570EF"/>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c:formatCode>
                <c:ptCount val="15"/>
                <c:pt idx="0">
                  <c:v>0</c:v>
                </c:pt>
                <c:pt idx="1">
                  <c:v>0</c:v>
                </c:pt>
                <c:pt idx="2">
                  <c:v>0</c:v>
                </c:pt>
                <c:pt idx="3">
                  <c:v>0</c:v>
                </c:pt>
                <c:pt idx="4">
                  <c:v>0</c:v>
                </c:pt>
                <c:pt idx="5">
                  <c:v>0</c:v>
                </c:pt>
                <c:pt idx="6">
                  <c:v>0</c:v>
                </c:pt>
                <c:pt idx="7">
                  <c:v>0.000728265817023</c:v>
                </c:pt>
                <c:pt idx="8">
                  <c:v>0.0695738025988</c:v>
                </c:pt>
                <c:pt idx="9">
                  <c:v>0.386747897679</c:v>
                </c:pt>
                <c:pt idx="10">
                  <c:v>0.964185192895</c:v>
                </c:pt>
                <c:pt idx="11">
                  <c:v>1.61328129666</c:v>
                </c:pt>
                <c:pt idx="12">
                  <c:v>2.13498396302</c:v>
                </c:pt>
                <c:pt idx="13">
                  <c:v>2.36682462568</c:v>
                </c:pt>
                <c:pt idx="14">
                  <c:v>2.4</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2.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AOD center (µm)</a:t>
                </a:r>
              </a:p>
            </c:rich>
          </c:tx>
          <c:overlay val="0"/>
        </c:title>
        <c:numFmt formatCode="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Manual depth</c:v>
          </c:tx>
          <c:spPr>
            <a:ln xmlns:a="http://schemas.openxmlformats.org/drawingml/2006/main" w="28575">
              <a:solidFill>
                <a:srgbClr val="0E9384"/>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0.00</c:formatCode>
                <c:ptCount val="15"/>
                <c:pt idx="0">
                  <c:v>0</c:v>
                </c:pt>
                <c:pt idx="1">
                  <c:v>0.00620039682538</c:v>
                </c:pt>
                <c:pt idx="2">
                  <c:v>0.0248015873016</c:v>
                </c:pt>
                <c:pt idx="3">
                  <c:v>0.0558035714286</c:v>
                </c:pt>
                <c:pt idx="4">
                  <c:v>0.0992063492068</c:v>
                </c:pt>
                <c:pt idx="5">
                  <c:v>0.155009920635</c:v>
                </c:pt>
                <c:pt idx="6">
                  <c:v>0.223214285715</c:v>
                </c:pt>
                <c:pt idx="7">
                  <c:v>0.28</c:v>
                </c:pt>
                <c:pt idx="8">
                  <c:v>0.28</c:v>
                </c:pt>
                <c:pt idx="9">
                  <c:v>0.28</c:v>
                </c:pt>
                <c:pt idx="10">
                  <c:v>0.28</c:v>
                </c:pt>
                <c:pt idx="11">
                  <c:v>0.28</c:v>
                </c:pt>
                <c:pt idx="12">
                  <c:v>0.28</c:v>
                </c:pt>
                <c:pt idx="13">
                  <c:v>0.28</c:v>
                </c:pt>
                <c:pt idx="14">
                  <c:v>0.28</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3"/>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AOD depth (mK)</a:t>
                </a:r>
              </a:p>
            </c:rich>
          </c:tx>
          <c:overlay val="0"/>
        </c:title>
        <c:numFmt formatCode="0.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Baseline manual 400</c:v>
          </c:tx>
          <c:spPr>
            <a:ln xmlns:a="http://schemas.openxmlformats.org/drawingml/2006/main" w="28575">
              <a:solidFill>
                <a:srgbClr val="1570EF"/>
              </a:solidFill>
            </a:ln>
          </c:spPr>
          <c:marker>
            <c:symbol val="none"/>
          </c:marker>
          <c:cat>
            <c:numRef>
              <c:f>'Chart Data'!$A$2:$A$62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cat>
          <c:val>
            <c:numRef>
              <c:f>'Chart Data'!$B$2:$B$62</c:f>
              <c:numCache>
                <c:formatCode>0%</c:formatCode>
                <c:ptCount val="61"/>
                <c:pt idx="0">
                  <c:v>1</c:v>
                </c:pt>
                <c:pt idx="1">
                  <c:v>1</c:v>
                </c:pt>
                <c:pt idx="2">
                  <c:v>1</c:v>
                </c:pt>
                <c:pt idx="3">
                  <c:v>1</c:v>
                </c:pt>
                <c:pt idx="4">
                  <c:v>1</c:v>
                </c:pt>
                <c:pt idx="5">
                  <c:v>1</c:v>
                </c:pt>
                <c:pt idx="6">
                  <c:v>1</c:v>
                </c:pt>
                <c:pt idx="7">
                  <c:v>1</c:v>
                </c:pt>
                <c:pt idx="8">
                  <c:v>1</c:v>
                </c:pt>
                <c:pt idx="9">
                  <c:v>1</c:v>
                </c:pt>
                <c:pt idx="10">
                  <c:v>1</c:v>
                </c:pt>
                <c:pt idx="11">
                  <c:v>1</c:v>
                </c:pt>
                <c:pt idx="12">
                  <c:v>1</c:v>
                </c:pt>
                <c:pt idx="13">
                  <c:v>0.99609375</c:v>
                </c:pt>
                <c:pt idx="14">
                  <c:v>0.99609375</c:v>
                </c:pt>
                <c:pt idx="15">
                  <c:v>0.99609375</c:v>
                </c:pt>
                <c:pt idx="16">
                  <c:v>0.99609375</c:v>
                </c:pt>
                <c:pt idx="17">
                  <c:v>0.99609375</c:v>
                </c:pt>
                <c:pt idx="18">
                  <c:v>0.99609375</c:v>
                </c:pt>
                <c:pt idx="19">
                  <c:v>0.9921875</c:v>
                </c:pt>
                <c:pt idx="20">
                  <c:v>0.9921875</c:v>
                </c:pt>
                <c:pt idx="21">
                  <c:v>0.984375</c:v>
                </c:pt>
                <c:pt idx="22">
                  <c:v>0.984375</c:v>
                </c:pt>
                <c:pt idx="23">
                  <c:v>0.984375</c:v>
                </c:pt>
                <c:pt idx="24">
                  <c:v>0.984375</c:v>
                </c:pt>
                <c:pt idx="25">
                  <c:v>0.984375</c:v>
                </c:pt>
                <c:pt idx="26">
                  <c:v>0.984375</c:v>
                </c:pt>
                <c:pt idx="27">
                  <c:v>0.9765625</c:v>
                </c:pt>
                <c:pt idx="28">
                  <c:v>0.9765625</c:v>
                </c:pt>
                <c:pt idx="29">
                  <c:v>0.96875</c:v>
                </c:pt>
                <c:pt idx="30">
                  <c:v>0.96875</c:v>
                </c:pt>
                <c:pt idx="31">
                  <c:v>0.96484375</c:v>
                </c:pt>
                <c:pt idx="32">
                  <c:v>0.96484375</c:v>
                </c:pt>
                <c:pt idx="33">
                  <c:v>0.9609375</c:v>
                </c:pt>
                <c:pt idx="34">
                  <c:v>0.9609375</c:v>
                </c:pt>
                <c:pt idx="35">
                  <c:v>0.95703125</c:v>
                </c:pt>
                <c:pt idx="36">
                  <c:v>0.95703125</c:v>
                </c:pt>
                <c:pt idx="37">
                  <c:v>0.94921875</c:v>
                </c:pt>
                <c:pt idx="38">
                  <c:v>0.94921875</c:v>
                </c:pt>
                <c:pt idx="39">
                  <c:v>0.9453125</c:v>
                </c:pt>
                <c:pt idx="40">
                  <c:v>0.9453125</c:v>
                </c:pt>
                <c:pt idx="41">
                  <c:v>0.9453125</c:v>
                </c:pt>
                <c:pt idx="42">
                  <c:v>0.9453125</c:v>
                </c:pt>
                <c:pt idx="43">
                  <c:v>0.9453125</c:v>
                </c:pt>
                <c:pt idx="44">
                  <c:v>0.94140625</c:v>
                </c:pt>
                <c:pt idx="45">
                  <c:v>0.94140625</c:v>
                </c:pt>
                <c:pt idx="46">
                  <c:v>0.94140625</c:v>
                </c:pt>
                <c:pt idx="47">
                  <c:v>0.94140625</c:v>
                </c:pt>
                <c:pt idx="48">
                  <c:v>0.94140625</c:v>
                </c:pt>
                <c:pt idx="49">
                  <c:v>0.94140625</c:v>
                </c:pt>
                <c:pt idx="50">
                  <c:v>0.94140625</c:v>
                </c:pt>
                <c:pt idx="51">
                  <c:v>0.94140625</c:v>
                </c:pt>
                <c:pt idx="52">
                  <c:v>0.94140625</c:v>
                </c:pt>
                <c:pt idx="53">
                  <c:v>0.94140625</c:v>
                </c:pt>
                <c:pt idx="54">
                  <c:v>0.94140625</c:v>
                </c:pt>
                <c:pt idx="55">
                  <c:v>0.9375</c:v>
                </c:pt>
                <c:pt idx="56">
                  <c:v>0.9375</c:v>
                </c:pt>
                <c:pt idx="57">
                  <c:v>0.93359375</c:v>
                </c:pt>
                <c:pt idx="58">
                  <c:v>0.93359375</c:v>
                </c:pt>
                <c:pt idx="59">
                  <c:v>0.9296875</c:v>
                </c:pt>
                <c:pt idx="60">
                  <c:v>0.9296875</c:v>
                </c:pt>
              </c:numCache>
            </c:numRef>
          </c:val>
        </c:ser>
        <c:ser>
          <c:idx val="1"/>
          <c:order val="1"/>
          <c:tx>
            <c:v>Baseline manual 600</c:v>
          </c:tx>
          <c:spPr>
            <a:ln xmlns:a="http://schemas.openxmlformats.org/drawingml/2006/main" w="28575">
              <a:solidFill>
                <a:srgbClr val="0E9384"/>
              </a:solidFill>
            </a:ln>
          </c:spPr>
          <c:marker>
            <c:symbol val="none"/>
          </c:marker>
          <c:cat>
            <c:numRef>
              <c:f>'Chart Data'!$C$2:$C$62</c:f>
              <c:numCache>
                <c:formatCode>General</c:formatCode>
                <c:ptCount val="6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numCache>
            </c:numRef>
          </c:cat>
          <c:val>
            <c:numRef>
              <c:f>'Chart Data'!$D$2:$D$62</c:f>
              <c:numCache>
                <c:formatCode>0%</c:formatCode>
                <c:ptCount val="6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0.99609375</c:v>
                </c:pt>
                <c:pt idx="52">
                  <c:v>0.99609375</c:v>
                </c:pt>
                <c:pt idx="53">
                  <c:v>0.9921875</c:v>
                </c:pt>
                <c:pt idx="54">
                  <c:v>0.9921875</c:v>
                </c:pt>
                <c:pt idx="55">
                  <c:v>0.9921875</c:v>
                </c:pt>
                <c:pt idx="56">
                  <c:v>0.9921875</c:v>
                </c:pt>
                <c:pt idx="57">
                  <c:v>0.9921875</c:v>
                </c:pt>
                <c:pt idx="58">
                  <c:v>0.9921875</c:v>
                </c:pt>
                <c:pt idx="59">
                  <c:v>0.9921875</c:v>
                </c:pt>
                <c:pt idx="60">
                  <c:v>0.9921875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One-way transfers 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8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c:v>
          </c:tx>
          <c:spPr>
            <a:solidFill xmlns:a="http://schemas.openxmlformats.org/drawingml/2006/main">
              <a:srgbClr val="98A2B3"/>
            </a:solidFill>
          </c:spPr>
          <c:cat>
            <c:strRef>
              <c:f>'Chart Data'!$A$2:$A$4</c:f>
              <c:strCache>
                <c:ptCount val="3"/>
                <c:pt idx="0">
                  <c:v>Manual 200
S(31)</c:v>
                </c:pt>
                <c:pt idx="1">
                  <c:v>Manual 400
S(60)</c:v>
                </c:pt>
                <c:pt idx="2">
                  <c:v>Manual 600
S(60)</c:v>
                </c:pt>
              </c:strCache>
            </c:strRef>
          </c:cat>
          <c:val>
            <c:numRef>
              <c:f>'Chart Data'!$B$2:$B$4</c:f>
              <c:numCache>
                <c:formatCode>0.0%</c:formatCode>
                <c:ptCount val="3"/>
                <c:pt idx="0">
                  <c:v>0.3344</c:v>
                </c:pt>
                <c:pt idx="1">
                  <c:v>0.4135</c:v>
                </c:pt>
                <c:pt idx="2">
                  <c:v>0.5726</c:v>
                </c:pt>
              </c:numCache>
            </c:numRef>
          </c:val>
        </c:ser>
        <c:ser>
          <c:idx val="1"/>
          <c:order val="1"/>
          <c:tx>
            <c:v>Baseline</c:v>
          </c:tx>
          <c:spPr>
            <a:solidFill xmlns:a="http://schemas.openxmlformats.org/drawingml/2006/main">
              <a:srgbClr val="1570EF"/>
            </a:solidFill>
          </c:spPr>
          <c:cat>
            <c:strRef>
              <c:f>'Chart Data'!$C$2:$C$4</c:f>
              <c:strCache>
                <c:ptCount val="3"/>
                <c:pt idx="0">
                  <c:v>Manual 200
S(31)</c:v>
                </c:pt>
                <c:pt idx="1">
                  <c:v>Manual 400
S(60)</c:v>
                </c:pt>
                <c:pt idx="2">
                  <c:v>Manual 600
S(60)</c:v>
                </c:pt>
              </c:strCache>
            </c:strRef>
          </c:cat>
          <c:val>
            <c:numRef>
              <c:f>'Chart Data'!$D$2:$D$4</c:f>
              <c:numCache>
                <c:formatCode>0.0%</c:formatCode>
                <c:ptCount val="3"/>
                <c:pt idx="0">
                  <c:v>0.484375</c:v>
                </c:pt>
                <c:pt idx="1">
                  <c:v>0.9296875</c:v>
                </c:pt>
                <c:pt idx="2">
                  <c:v>0.9921875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0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ser>
          <c:idx val="0"/>
          <c:order val="0"/>
          <c:tx>
            <c:v>Manual 400</c:v>
          </c:tx>
          <c:spPr>
            <a:ln xmlns:a="http://schemas.openxmlformats.org/drawingml/2006/main" w="28575">
              <a:solidFill>
                <a:srgbClr val="1570EF"/>
              </a:solidFill>
            </a:ln>
          </c:spPr>
          <c:marker>
            <c:symbol val="circle"/>
            <c:size val="6"/>
            <c:spPr>
              <a:solidFill xmlns:a="http://schemas.openxmlformats.org/drawingml/2006/main">
                <a:srgbClr val="1570EF"/>
              </a:solidFill>
            </c:spPr>
          </c:marker>
          <c:cat>
            <c:numRef>
              <c:f>'Chart Data'!$A$2:$A$6</c:f>
              <c:numCache>
                <c:formatCode>General</c:formatCode>
                <c:ptCount val="5"/>
                <c:pt idx="0">
                  <c:v>5</c:v>
                </c:pt>
                <c:pt idx="1">
                  <c:v>10</c:v>
                </c:pt>
                <c:pt idx="2">
                  <c:v>20</c:v>
                </c:pt>
                <c:pt idx="3">
                  <c:v>30</c:v>
                </c:pt>
                <c:pt idx="4">
                  <c:v>40</c:v>
                </c:pt>
              </c:numCache>
            </c:numRef>
          </c:cat>
          <c:val>
            <c:numRef>
              <c:f>'Chart Data'!$B$2:$B$6</c:f>
              <c:numCache>
                <c:formatCode>0%</c:formatCode>
                <c:ptCount val="5"/>
                <c:pt idx="0">
                  <c:v>0.9296875</c:v>
                </c:pt>
                <c:pt idx="1">
                  <c:v>0.9140625</c:v>
                </c:pt>
                <c:pt idx="2">
                  <c:v>0.7578125</c:v>
                </c:pt>
                <c:pt idx="3">
                  <c:v>0.609375</c:v>
                </c:pt>
                <c:pt idx="4">
                  <c:v>0.52734375</c:v>
                </c:pt>
              </c:numCache>
            </c:numRef>
          </c:val>
        </c:ser>
        <c:ser>
          <c:idx val="1"/>
          <c:order val="1"/>
          <c:tx>
            <c:v>Manual 600</c:v>
          </c:tx>
          <c:spPr>
            <a:ln xmlns:a="http://schemas.openxmlformats.org/drawingml/2006/main" w="28575">
              <a:solidFill>
                <a:srgbClr val="0E9384"/>
              </a:solidFill>
            </a:ln>
          </c:spPr>
          <c:marker>
            <c:symbol val="circle"/>
            <c:size val="6"/>
            <c:spPr>
              <a:solidFill xmlns:a="http://schemas.openxmlformats.org/drawingml/2006/main">
                <a:srgbClr val="0E9384"/>
              </a:solidFill>
            </c:spPr>
          </c:marker>
          <c:cat>
            <c:numRef>
              <c:f>'Chart Data'!$C$2:$C$6</c:f>
              <c:numCache>
                <c:formatCode>General</c:formatCode>
                <c:ptCount val="5"/>
                <c:pt idx="0">
                  <c:v>5</c:v>
                </c:pt>
                <c:pt idx="1">
                  <c:v>10</c:v>
                </c:pt>
                <c:pt idx="2">
                  <c:v>20</c:v>
                </c:pt>
                <c:pt idx="3">
                  <c:v>30</c:v>
                </c:pt>
                <c:pt idx="4">
                  <c:v>40</c:v>
                </c:pt>
              </c:numCache>
            </c:numRef>
          </c:cat>
          <c:val>
            <c:numRef>
              <c:f>'Chart Data'!$D$2:$D$6</c:f>
              <c:numCache>
                <c:formatCode>0%</c:formatCode>
                <c:ptCount val="5"/>
                <c:pt idx="0">
                  <c:v>0.9921875</c:v>
                </c:pt>
                <c:pt idx="1">
                  <c:v>0.98828125</c:v>
                </c:pt>
                <c:pt idx="2">
                  <c:v>0.91796875</c:v>
                </c:pt>
                <c:pt idx="3">
                  <c:v>0.79296875</c:v>
                </c:pt>
                <c:pt idx="4">
                  <c:v>0.6796875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Initial temperature (µK)</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400</c:v>
          </c:tx>
          <c:spPr>
            <a:solidFill xmlns:a="http://schemas.openxmlformats.org/drawingml/2006/main">
              <a:srgbClr val="1570EF"/>
            </a:solidFill>
          </c:spPr>
          <c:cat>
            <c:strRef>
              <c:f>'Chart Data'!$A$2:$A$6</c:f>
              <c:strCache>
                <c:ptCount val="5"/>
                <c:pt idx="0">
                  <c:v>Baseline</c:v>
                </c:pt>
                <c:pt idx="1">
                  <c:v>R3e−7</c:v>
                </c:pt>
                <c:pt idx="2">
                  <c:v>A0.15</c:v>
                </c:pt>
                <c:pt idx="3">
                  <c:v>A0.30</c:v>
                </c:pt>
                <c:pt idx="4">
                  <c:v>J0.10</c:v>
                </c:pt>
              </c:strCache>
            </c:strRef>
          </c:cat>
          <c:val>
            <c:numRef>
              <c:f>'Chart Data'!$B$2:$B$6</c:f>
              <c:numCache>
                <c:formatCode>0%</c:formatCode>
                <c:ptCount val="5"/>
                <c:pt idx="0">
                  <c:v>0.9296875</c:v>
                </c:pt>
                <c:pt idx="1">
                  <c:v>0.359375</c:v>
                </c:pt>
                <c:pt idx="2">
                  <c:v>0.93359375</c:v>
                </c:pt>
                <c:pt idx="3">
                  <c:v>0.921875</c:v>
                </c:pt>
                <c:pt idx="4">
                  <c:v>0.09375</c:v>
                </c:pt>
              </c:numCache>
            </c:numRef>
          </c:val>
        </c:ser>
        <c:ser>
          <c:idx val="1"/>
          <c:order val="1"/>
          <c:tx>
            <c:v>Manual 600</c:v>
          </c:tx>
          <c:spPr>
            <a:solidFill xmlns:a="http://schemas.openxmlformats.org/drawingml/2006/main">
              <a:srgbClr val="0E9384"/>
            </a:solidFill>
          </c:spPr>
          <c:cat>
            <c:strRef>
              <c:f>'Chart Data'!$C$2:$C$6</c:f>
              <c:strCache>
                <c:ptCount val="5"/>
                <c:pt idx="0">
                  <c:v>Baseline</c:v>
                </c:pt>
                <c:pt idx="1">
                  <c:v>R3e−7</c:v>
                </c:pt>
                <c:pt idx="2">
                  <c:v>A0.15</c:v>
                </c:pt>
                <c:pt idx="3">
                  <c:v>A0.30</c:v>
                </c:pt>
                <c:pt idx="4">
                  <c:v>J0.10</c:v>
                </c:pt>
              </c:strCache>
            </c:strRef>
          </c:cat>
          <c:val>
            <c:numRef>
              <c:f>'Chart Data'!$D$2:$D$6</c:f>
              <c:numCache>
                <c:formatCode>0%</c:formatCode>
                <c:ptCount val="5"/>
                <c:pt idx="0">
                  <c:v>0.9921875</c:v>
                </c:pt>
                <c:pt idx="1">
                  <c:v>0.43359375</c:v>
                </c:pt>
                <c:pt idx="2">
                  <c:v>0.99609375</c:v>
                </c:pt>
                <c:pt idx="3">
                  <c:v>0.99609375</c:v>
                </c:pt>
                <c:pt idx="4">
                  <c:v>0.10546875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ser>
          <c:idx val="0"/>
          <c:order val="0"/>
          <c:tx>
            <c:v>Paper 200 µs</c:v>
          </c:tx>
          <c:spPr>
            <a:ln xmlns:a="http://schemas.openxmlformats.org/drawingml/2006/main" w="28575">
              <a:solidFill>
                <a:srgbClr val="475467"/>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0.925</c:v>
                </c:pt>
                <c:pt idx="1">
                  <c:v>0.8994</c:v>
                </c:pt>
                <c:pt idx="2">
                  <c:v>0.8738</c:v>
                </c:pt>
                <c:pt idx="3">
                  <c:v>0.8482</c:v>
                </c:pt>
                <c:pt idx="4">
                  <c:v>0.815275</c:v>
                </c:pt>
                <c:pt idx="5">
                  <c:v>0.78235</c:v>
                </c:pt>
                <c:pt idx="6">
                  <c:v>0.749425</c:v>
                </c:pt>
                <c:pt idx="7">
                  <c:v>0.7165</c:v>
                </c:pt>
                <c:pt idx="8">
                  <c:v>0.691825</c:v>
                </c:pt>
                <c:pt idx="9">
                  <c:v>0.66715</c:v>
                </c:pt>
                <c:pt idx="10">
                  <c:v>0.642475</c:v>
                </c:pt>
                <c:pt idx="11">
                  <c:v>0.6178</c:v>
                </c:pt>
                <c:pt idx="12">
                  <c:v>0.594375</c:v>
                </c:pt>
                <c:pt idx="13">
                  <c:v>0.57095</c:v>
                </c:pt>
                <c:pt idx="14">
                  <c:v>0.547525</c:v>
                </c:pt>
                <c:pt idx="15">
                  <c:v>0.5241</c:v>
                </c:pt>
                <c:pt idx="16">
                  <c:v>0.50578</c:v>
                </c:pt>
                <c:pt idx="17">
                  <c:v>0.48746</c:v>
                </c:pt>
                <c:pt idx="18">
                  <c:v>0.46914</c:v>
                </c:pt>
                <c:pt idx="19">
                  <c:v>0.45082</c:v>
                </c:pt>
                <c:pt idx="20">
                  <c:v>0.4325</c:v>
                </c:pt>
                <c:pt idx="21">
                  <c:v>0.41418</c:v>
                </c:pt>
                <c:pt idx="22">
                  <c:v>0.39586</c:v>
                </c:pt>
                <c:pt idx="23">
                  <c:v>0.37754</c:v>
                </c:pt>
                <c:pt idx="24">
                  <c:v>0.35922</c:v>
                </c:pt>
                <c:pt idx="25">
                  <c:v>0.3409</c:v>
                </c:pt>
                <c:pt idx="26">
                  <c:v>0.3344</c:v>
                </c:pt>
              </c:numCache>
            </c:numRef>
          </c:val>
        </c:ser>
        <c:ser>
          <c:idx val="1"/>
          <c:order val="1"/>
          <c:tx>
            <c:v>MC T40 200 µs</c:v>
          </c:tx>
          <c:spPr>
            <a:ln xmlns:a="http://schemas.openxmlformats.org/drawingml/2006/main" w="28575">
              <a:solidFill>
                <a:srgbClr val="D92D20"/>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0.79296875</c:v>
                </c:pt>
                <c:pt idx="1">
                  <c:v>0.7578125</c:v>
                </c:pt>
                <c:pt idx="2">
                  <c:v>0.720703125</c:v>
                </c:pt>
                <c:pt idx="3">
                  <c:v>0.693359375</c:v>
                </c:pt>
                <c:pt idx="4">
                  <c:v>0.6484375</c:v>
                </c:pt>
                <c:pt idx="5">
                  <c:v>0.62109375</c:v>
                </c:pt>
                <c:pt idx="6">
                  <c:v>0.576171875</c:v>
                </c:pt>
                <c:pt idx="7">
                  <c:v>0.548828125</c:v>
                </c:pt>
                <c:pt idx="8">
                  <c:v>0.521484375</c:v>
                </c:pt>
                <c:pt idx="9">
                  <c:v>0.494140625</c:v>
                </c:pt>
                <c:pt idx="10">
                  <c:v>0.474609375</c:v>
                </c:pt>
                <c:pt idx="11">
                  <c:v>0.451171875</c:v>
                </c:pt>
                <c:pt idx="12">
                  <c:v>0.416015625</c:v>
                </c:pt>
                <c:pt idx="13">
                  <c:v>0.404296875</c:v>
                </c:pt>
                <c:pt idx="14">
                  <c:v>0.37890625</c:v>
                </c:pt>
                <c:pt idx="15">
                  <c:v>0.361328125</c:v>
                </c:pt>
                <c:pt idx="16">
                  <c:v>0.349609375</c:v>
                </c:pt>
                <c:pt idx="17">
                  <c:v>0.341796875</c:v>
                </c:pt>
                <c:pt idx="18">
                  <c:v>0.33203125</c:v>
                </c:pt>
                <c:pt idx="19">
                  <c:v>0.326171875</c:v>
                </c:pt>
                <c:pt idx="20">
                  <c:v>0.3046875</c:v>
                </c:pt>
                <c:pt idx="21">
                  <c:v>0.2734375</c:v>
                </c:pt>
                <c:pt idx="22">
                  <c:v>0.271484375</c:v>
                </c:pt>
                <c:pt idx="23">
                  <c:v>0.265625</c:v>
                </c:pt>
                <c:pt idx="24">
                  <c:v>0.255859375</c:v>
                </c:pt>
                <c:pt idx="25">
                  <c:v>0.24609375</c:v>
                </c:pt>
                <c:pt idx="26">
                  <c:v>0.240234375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ser>
          <c:idx val="0"/>
          <c:order val="0"/>
          <c:tx>
            <c:v>Paper 400 µs</c:v>
          </c:tx>
          <c:spPr>
            <a:ln xmlns:a="http://schemas.openxmlformats.org/drawingml/2006/main" w="19050">
              <a:solidFill>
                <a:srgbClr val="98A2B3"/>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0.968</c:v>
                </c:pt>
                <c:pt idx="1">
                  <c:v>0.955966666667</c:v>
                </c:pt>
                <c:pt idx="2">
                  <c:v>0.943933333333</c:v>
                </c:pt>
                <c:pt idx="3">
                  <c:v>0.9319</c:v>
                </c:pt>
                <c:pt idx="4">
                  <c:v>0.92385</c:v>
                </c:pt>
                <c:pt idx="5">
                  <c:v>0.9158</c:v>
                </c:pt>
                <c:pt idx="6">
                  <c:v>0.90775</c:v>
                </c:pt>
                <c:pt idx="7">
                  <c:v>0.8997</c:v>
                </c:pt>
                <c:pt idx="8">
                  <c:v>0.892525</c:v>
                </c:pt>
                <c:pt idx="9">
                  <c:v>0.88535</c:v>
                </c:pt>
                <c:pt idx="10">
                  <c:v>0.878175</c:v>
                </c:pt>
                <c:pt idx="11">
                  <c:v>0.871</c:v>
                </c:pt>
                <c:pt idx="12">
                  <c:v>0.85915</c:v>
                </c:pt>
                <c:pt idx="13">
                  <c:v>0.8473</c:v>
                </c:pt>
                <c:pt idx="14">
                  <c:v>0.83545</c:v>
                </c:pt>
                <c:pt idx="15">
                  <c:v>0.8236</c:v>
                </c:pt>
                <c:pt idx="16">
                  <c:v>0.81013</c:v>
                </c:pt>
                <c:pt idx="17">
                  <c:v>0.79666</c:v>
                </c:pt>
                <c:pt idx="18">
                  <c:v>0.78319</c:v>
                </c:pt>
                <c:pt idx="19">
                  <c:v>0.76972</c:v>
                </c:pt>
                <c:pt idx="20">
                  <c:v>0.75625</c:v>
                </c:pt>
                <c:pt idx="21">
                  <c:v>0.74278</c:v>
                </c:pt>
                <c:pt idx="22">
                  <c:v>0.72931</c:v>
                </c:pt>
                <c:pt idx="23">
                  <c:v>0.71584</c:v>
                </c:pt>
                <c:pt idx="24">
                  <c:v>0.70237</c:v>
                </c:pt>
                <c:pt idx="25">
                  <c:v>0.6889</c:v>
                </c:pt>
                <c:pt idx="26">
                  <c:v>0.67826</c:v>
                </c:pt>
                <c:pt idx="27">
                  <c:v>0.66762</c:v>
                </c:pt>
                <c:pt idx="28">
                  <c:v>0.65698</c:v>
                </c:pt>
                <c:pt idx="29">
                  <c:v>0.64634</c:v>
                </c:pt>
                <c:pt idx="30">
                  <c:v>0.6357</c:v>
                </c:pt>
                <c:pt idx="31">
                  <c:v>0.62506</c:v>
                </c:pt>
                <c:pt idx="32">
                  <c:v>0.61442</c:v>
                </c:pt>
                <c:pt idx="33">
                  <c:v>0.60378</c:v>
                </c:pt>
                <c:pt idx="34">
                  <c:v>0.59314</c:v>
                </c:pt>
                <c:pt idx="35">
                  <c:v>0.5825</c:v>
                </c:pt>
                <c:pt idx="36">
                  <c:v>0.57345</c:v>
                </c:pt>
                <c:pt idx="37">
                  <c:v>0.5644</c:v>
                </c:pt>
                <c:pt idx="38">
                  <c:v>0.55535</c:v>
                </c:pt>
                <c:pt idx="39">
                  <c:v>0.5463</c:v>
                </c:pt>
                <c:pt idx="40">
                  <c:v>0.53725</c:v>
                </c:pt>
                <c:pt idx="41">
                  <c:v>0.5282</c:v>
                </c:pt>
                <c:pt idx="42">
                  <c:v>0.51915</c:v>
                </c:pt>
                <c:pt idx="43">
                  <c:v>0.5101</c:v>
                </c:pt>
                <c:pt idx="44">
                  <c:v>0.50105</c:v>
                </c:pt>
                <c:pt idx="45">
                  <c:v>0.492</c:v>
                </c:pt>
                <c:pt idx="46">
                  <c:v>0.48415</c:v>
                </c:pt>
                <c:pt idx="47">
                  <c:v>0.4763</c:v>
                </c:pt>
                <c:pt idx="48">
                  <c:v>0.46845</c:v>
                </c:pt>
                <c:pt idx="49">
                  <c:v>0.4606</c:v>
                </c:pt>
                <c:pt idx="50">
                  <c:v>0.45275</c:v>
                </c:pt>
                <c:pt idx="51">
                  <c:v>0.4449</c:v>
                </c:pt>
                <c:pt idx="52">
                  <c:v>0.43705</c:v>
                </c:pt>
                <c:pt idx="53">
                  <c:v>0.4292</c:v>
                </c:pt>
                <c:pt idx="54">
                  <c:v>0.42135</c:v>
                </c:pt>
                <c:pt idx="55">
                  <c:v>0.4135</c:v>
                </c:pt>
              </c:numCache>
            </c:numRef>
          </c:val>
        </c:ser>
        <c:ser>
          <c:idx val="1"/>
          <c:order val="1"/>
          <c:tx>
            <c:v>MC T40 400 µs</c:v>
          </c:tx>
          <c:spPr>
            <a:ln xmlns:a="http://schemas.openxmlformats.org/drawingml/2006/main" w="28575">
              <a:solidFill>
                <a:srgbClr val="1570EF"/>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0.9453125</c:v>
                </c:pt>
                <c:pt idx="1">
                  <c:v>0.943359375</c:v>
                </c:pt>
                <c:pt idx="2">
                  <c:v>0.923828125</c:v>
                </c:pt>
                <c:pt idx="3">
                  <c:v>0.923828125</c:v>
                </c:pt>
                <c:pt idx="4">
                  <c:v>0.91015625</c:v>
                </c:pt>
                <c:pt idx="5">
                  <c:v>0.904296875</c:v>
                </c:pt>
                <c:pt idx="6">
                  <c:v>0.8828125</c:v>
                </c:pt>
                <c:pt idx="7">
                  <c:v>0.8828125</c:v>
                </c:pt>
                <c:pt idx="8">
                  <c:v>0.85546875</c:v>
                </c:pt>
                <c:pt idx="9">
                  <c:v>0.85546875</c:v>
                </c:pt>
                <c:pt idx="10">
                  <c:v>0.83203125</c:v>
                </c:pt>
                <c:pt idx="11">
                  <c:v>0.830078125</c:v>
                </c:pt>
                <c:pt idx="12">
                  <c:v>0.8046875</c:v>
                </c:pt>
                <c:pt idx="13">
                  <c:v>0.802734375</c:v>
                </c:pt>
                <c:pt idx="14">
                  <c:v>0.787109375</c:v>
                </c:pt>
                <c:pt idx="15">
                  <c:v>0.787109375</c:v>
                </c:pt>
                <c:pt idx="16">
                  <c:v>0.77734375</c:v>
                </c:pt>
                <c:pt idx="17">
                  <c:v>0.77734375</c:v>
                </c:pt>
                <c:pt idx="18">
                  <c:v>0.76171875</c:v>
                </c:pt>
                <c:pt idx="19">
                  <c:v>0.759765625</c:v>
                </c:pt>
                <c:pt idx="20">
                  <c:v>0.751953125</c:v>
                </c:pt>
                <c:pt idx="21">
                  <c:v>0.751953125</c:v>
                </c:pt>
                <c:pt idx="22">
                  <c:v>0.728515625</c:v>
                </c:pt>
                <c:pt idx="23">
                  <c:v>0.728515625</c:v>
                </c:pt>
                <c:pt idx="24">
                  <c:v>0.72265625</c:v>
                </c:pt>
                <c:pt idx="25">
                  <c:v>0.720703125</c:v>
                </c:pt>
                <c:pt idx="26">
                  <c:v>0.712890625</c:v>
                </c:pt>
                <c:pt idx="27">
                  <c:v>0.712890625</c:v>
                </c:pt>
                <c:pt idx="28">
                  <c:v>0.701171875</c:v>
                </c:pt>
                <c:pt idx="29">
                  <c:v>0.701171875</c:v>
                </c:pt>
                <c:pt idx="30">
                  <c:v>0.6796875</c:v>
                </c:pt>
                <c:pt idx="31">
                  <c:v>0.67578125</c:v>
                </c:pt>
                <c:pt idx="32">
                  <c:v>0.666015625</c:v>
                </c:pt>
                <c:pt idx="33">
                  <c:v>0.6640625</c:v>
                </c:pt>
                <c:pt idx="34">
                  <c:v>0.646484375</c:v>
                </c:pt>
                <c:pt idx="35">
                  <c:v>0.64453125</c:v>
                </c:pt>
                <c:pt idx="36">
                  <c:v>0.62890625</c:v>
                </c:pt>
                <c:pt idx="37">
                  <c:v>0.62890625</c:v>
                </c:pt>
                <c:pt idx="38">
                  <c:v>0.61328125</c:v>
                </c:pt>
                <c:pt idx="39">
                  <c:v>0.61328125</c:v>
                </c:pt>
                <c:pt idx="40">
                  <c:v>0.607421875</c:v>
                </c:pt>
                <c:pt idx="41">
                  <c:v>0.607421875</c:v>
                </c:pt>
                <c:pt idx="42">
                  <c:v>0.603515625</c:v>
                </c:pt>
                <c:pt idx="43">
                  <c:v>0.599609375</c:v>
                </c:pt>
                <c:pt idx="44">
                  <c:v>0.591796875</c:v>
                </c:pt>
                <c:pt idx="45">
                  <c:v>0.58984375</c:v>
                </c:pt>
                <c:pt idx="46">
                  <c:v>0.572265625</c:v>
                </c:pt>
                <c:pt idx="47">
                  <c:v>0.568359375</c:v>
                </c:pt>
                <c:pt idx="48">
                  <c:v>0.5546875</c:v>
                </c:pt>
                <c:pt idx="49">
                  <c:v>0.5546875</c:v>
                </c:pt>
                <c:pt idx="50">
                  <c:v>0.548828125</c:v>
                </c:pt>
                <c:pt idx="51">
                  <c:v>0.546875</c:v>
                </c:pt>
                <c:pt idx="52">
                  <c:v>0.5390625</c:v>
                </c:pt>
                <c:pt idx="53">
                  <c:v>0.5390625</c:v>
                </c:pt>
                <c:pt idx="54">
                  <c:v>0.525390625</c:v>
                </c:pt>
                <c:pt idx="55">
                  <c:v>0.525390625</c:v>
                </c:pt>
              </c:numCache>
            </c:numRef>
          </c:val>
        </c:ser>
        <c:ser>
          <c:idx val="2"/>
          <c:order val="2"/>
          <c:tx>
            <c:v>Paper 600 µs</c:v>
          </c:tx>
          <c:spPr>
            <a:ln xmlns:a="http://schemas.openxmlformats.org/drawingml/2006/main" w="19050">
              <a:solidFill>
                <a:srgbClr val="344054"/>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0.9706</c:v>
                </c:pt>
                <c:pt idx="1">
                  <c:v>0.9698</c:v>
                </c:pt>
                <c:pt idx="2">
                  <c:v>0.969</c:v>
                </c:pt>
                <c:pt idx="3">
                  <c:v>0.9682</c:v>
                </c:pt>
                <c:pt idx="4">
                  <c:v>0.957625</c:v>
                </c:pt>
                <c:pt idx="5">
                  <c:v>0.94705</c:v>
                </c:pt>
                <c:pt idx="6">
                  <c:v>0.936475</c:v>
                </c:pt>
                <c:pt idx="7">
                  <c:v>0.9259</c:v>
                </c:pt>
                <c:pt idx="8">
                  <c:v>0.9229</c:v>
                </c:pt>
                <c:pt idx="9">
                  <c:v>0.9199</c:v>
                </c:pt>
                <c:pt idx="10">
                  <c:v>0.9169</c:v>
                </c:pt>
                <c:pt idx="11">
                  <c:v>0.9139</c:v>
                </c:pt>
                <c:pt idx="12">
                  <c:v>0.907575</c:v>
                </c:pt>
                <c:pt idx="13">
                  <c:v>0.90125</c:v>
                </c:pt>
                <c:pt idx="14">
                  <c:v>0.894925</c:v>
                </c:pt>
                <c:pt idx="15">
                  <c:v>0.8886</c:v>
                </c:pt>
                <c:pt idx="16">
                  <c:v>0.88126</c:v>
                </c:pt>
                <c:pt idx="17">
                  <c:v>0.87392</c:v>
                </c:pt>
                <c:pt idx="18">
                  <c:v>0.86658</c:v>
                </c:pt>
                <c:pt idx="19">
                  <c:v>0.85924</c:v>
                </c:pt>
                <c:pt idx="20">
                  <c:v>0.8519</c:v>
                </c:pt>
                <c:pt idx="21">
                  <c:v>0.84456</c:v>
                </c:pt>
                <c:pt idx="22">
                  <c:v>0.83722</c:v>
                </c:pt>
                <c:pt idx="23">
                  <c:v>0.82988</c:v>
                </c:pt>
                <c:pt idx="24">
                  <c:v>0.82254</c:v>
                </c:pt>
                <c:pt idx="25">
                  <c:v>0.8152</c:v>
                </c:pt>
                <c:pt idx="26">
                  <c:v>0.80627</c:v>
                </c:pt>
                <c:pt idx="27">
                  <c:v>0.79734</c:v>
                </c:pt>
                <c:pt idx="28">
                  <c:v>0.78841</c:v>
                </c:pt>
                <c:pt idx="29">
                  <c:v>0.77948</c:v>
                </c:pt>
                <c:pt idx="30">
                  <c:v>0.77055</c:v>
                </c:pt>
                <c:pt idx="31">
                  <c:v>0.76162</c:v>
                </c:pt>
                <c:pt idx="32">
                  <c:v>0.75269</c:v>
                </c:pt>
                <c:pt idx="33">
                  <c:v>0.74376</c:v>
                </c:pt>
                <c:pt idx="34">
                  <c:v>0.73483</c:v>
                </c:pt>
                <c:pt idx="35">
                  <c:v>0.7259</c:v>
                </c:pt>
                <c:pt idx="36">
                  <c:v>0.71829</c:v>
                </c:pt>
                <c:pt idx="37">
                  <c:v>0.71068</c:v>
                </c:pt>
                <c:pt idx="38">
                  <c:v>0.70307</c:v>
                </c:pt>
                <c:pt idx="39">
                  <c:v>0.69546</c:v>
                </c:pt>
                <c:pt idx="40">
                  <c:v>0.68785</c:v>
                </c:pt>
                <c:pt idx="41">
                  <c:v>0.68024</c:v>
                </c:pt>
                <c:pt idx="42">
                  <c:v>0.67263</c:v>
                </c:pt>
                <c:pt idx="43">
                  <c:v>0.66502</c:v>
                </c:pt>
                <c:pt idx="44">
                  <c:v>0.65741</c:v>
                </c:pt>
                <c:pt idx="45">
                  <c:v>0.6498</c:v>
                </c:pt>
                <c:pt idx="46">
                  <c:v>0.64208</c:v>
                </c:pt>
                <c:pt idx="47">
                  <c:v>0.63436</c:v>
                </c:pt>
                <c:pt idx="48">
                  <c:v>0.62664</c:v>
                </c:pt>
                <c:pt idx="49">
                  <c:v>0.61892</c:v>
                </c:pt>
                <c:pt idx="50">
                  <c:v>0.6112</c:v>
                </c:pt>
                <c:pt idx="51">
                  <c:v>0.60348</c:v>
                </c:pt>
                <c:pt idx="52">
                  <c:v>0.59576</c:v>
                </c:pt>
                <c:pt idx="53">
                  <c:v>0.58804</c:v>
                </c:pt>
                <c:pt idx="54">
                  <c:v>0.58032</c:v>
                </c:pt>
                <c:pt idx="55">
                  <c:v>0.5726</c:v>
                </c:pt>
              </c:numCache>
            </c:numRef>
          </c:val>
        </c:ser>
        <c:ser>
          <c:idx val="3"/>
          <c:order val="3"/>
          <c:tx>
            <c:v>MC T40 600 µs</c:v>
          </c:tx>
          <c:spPr>
            <a:ln xmlns:a="http://schemas.openxmlformats.org/drawingml/2006/main" w="28575">
              <a:solidFill>
                <a:srgbClr val="0E9384"/>
              </a:solidFill>
            </a:ln>
          </c:spPr>
          <c:marker>
            <c:symbol val="none"/>
          </c:marker>
          <c:cat>
            <c:numRef>
              <c:f>'Chart Data'!$G$2:$G$57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Data'!$H$2:$H$57</c:f>
              <c:numCache>
                <c:formatCode>0%</c:formatCode>
                <c:ptCount val="56"/>
                <c:pt idx="0">
                  <c:v>0.94921875</c:v>
                </c:pt>
                <c:pt idx="1">
                  <c:v>0.94921875</c:v>
                </c:pt>
                <c:pt idx="2">
                  <c:v>0.93359375</c:v>
                </c:pt>
                <c:pt idx="3">
                  <c:v>0.93359375</c:v>
                </c:pt>
                <c:pt idx="4">
                  <c:v>0.92578125</c:v>
                </c:pt>
                <c:pt idx="5">
                  <c:v>0.92578125</c:v>
                </c:pt>
                <c:pt idx="6">
                  <c:v>0.91796875</c:v>
                </c:pt>
                <c:pt idx="7">
                  <c:v>0.91796875</c:v>
                </c:pt>
                <c:pt idx="8">
                  <c:v>0.90625</c:v>
                </c:pt>
                <c:pt idx="9">
                  <c:v>0.90625</c:v>
                </c:pt>
                <c:pt idx="10">
                  <c:v>0.896484375</c:v>
                </c:pt>
                <c:pt idx="11">
                  <c:v>0.896484375</c:v>
                </c:pt>
                <c:pt idx="12">
                  <c:v>0.890625</c:v>
                </c:pt>
                <c:pt idx="13">
                  <c:v>0.890625</c:v>
                </c:pt>
                <c:pt idx="14">
                  <c:v>0.88671875</c:v>
                </c:pt>
                <c:pt idx="15">
                  <c:v>0.884765625</c:v>
                </c:pt>
                <c:pt idx="16">
                  <c:v>0.876953125</c:v>
                </c:pt>
                <c:pt idx="17">
                  <c:v>0.876953125</c:v>
                </c:pt>
                <c:pt idx="18">
                  <c:v>0.87109375</c:v>
                </c:pt>
                <c:pt idx="19">
                  <c:v>0.87109375</c:v>
                </c:pt>
                <c:pt idx="20">
                  <c:v>0.857421875</c:v>
                </c:pt>
                <c:pt idx="21">
                  <c:v>0.857421875</c:v>
                </c:pt>
                <c:pt idx="22">
                  <c:v>0.841796875</c:v>
                </c:pt>
                <c:pt idx="23">
                  <c:v>0.841796875</c:v>
                </c:pt>
                <c:pt idx="24">
                  <c:v>0.837890625</c:v>
                </c:pt>
                <c:pt idx="25">
                  <c:v>0.837890625</c:v>
                </c:pt>
                <c:pt idx="26">
                  <c:v>0.826171875</c:v>
                </c:pt>
                <c:pt idx="27">
                  <c:v>0.82421875</c:v>
                </c:pt>
                <c:pt idx="28">
                  <c:v>0.814453125</c:v>
                </c:pt>
                <c:pt idx="29">
                  <c:v>0.814453125</c:v>
                </c:pt>
                <c:pt idx="30">
                  <c:v>0.806640625</c:v>
                </c:pt>
                <c:pt idx="31">
                  <c:v>0.806640625</c:v>
                </c:pt>
                <c:pt idx="32">
                  <c:v>0.80078125</c:v>
                </c:pt>
                <c:pt idx="33">
                  <c:v>0.80078125</c:v>
                </c:pt>
                <c:pt idx="34">
                  <c:v>0.794921875</c:v>
                </c:pt>
                <c:pt idx="35">
                  <c:v>0.794921875</c:v>
                </c:pt>
                <c:pt idx="36">
                  <c:v>0.783203125</c:v>
                </c:pt>
                <c:pt idx="37">
                  <c:v>0.783203125</c:v>
                </c:pt>
                <c:pt idx="38">
                  <c:v>0.7734375</c:v>
                </c:pt>
                <c:pt idx="39">
                  <c:v>0.7734375</c:v>
                </c:pt>
                <c:pt idx="40">
                  <c:v>0.76171875</c:v>
                </c:pt>
                <c:pt idx="41">
                  <c:v>0.759765625</c:v>
                </c:pt>
                <c:pt idx="42">
                  <c:v>0.744140625</c:v>
                </c:pt>
                <c:pt idx="43">
                  <c:v>0.744140625</c:v>
                </c:pt>
                <c:pt idx="44">
                  <c:v>0.73828125</c:v>
                </c:pt>
                <c:pt idx="45">
                  <c:v>0.73828125</c:v>
                </c:pt>
                <c:pt idx="46">
                  <c:v>0.734375</c:v>
                </c:pt>
                <c:pt idx="47">
                  <c:v>0.732421875</c:v>
                </c:pt>
                <c:pt idx="48">
                  <c:v>0.73046875</c:v>
                </c:pt>
                <c:pt idx="49">
                  <c:v>0.73046875</c:v>
                </c:pt>
                <c:pt idx="50">
                  <c:v>0.720703125</c:v>
                </c:pt>
                <c:pt idx="51">
                  <c:v>0.720703125</c:v>
                </c:pt>
                <c:pt idx="52">
                  <c:v>0.703125</c:v>
                </c:pt>
                <c:pt idx="53">
                  <c:v>0.701171875</c:v>
                </c:pt>
                <c:pt idx="54">
                  <c:v>0.68359375</c:v>
                </c:pt>
                <c:pt idx="55">
                  <c:v>0.68359375</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icrosoft YaHei"/>
                    <a:ea typeface="Microsoft YaHei"/>
                    <a:cs typeface="Microsoft YaHei"/>
                  </a:rPr>
                  <a:t>One-way transfers n</a:t>
                </a:r>
              </a:p>
            </c:rich>
          </c:tx>
          <c:overlay val="0"/>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2"/>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Survival</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lineChart>
        <c:grouping val="standard"/>
        <c:ser>
          <c:idx val="0"/>
          <c:order val="0"/>
          <c:tx>
            <c:v>Manual position</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c:formatCode>
                <c:ptCount val="15"/>
                <c:pt idx="0">
                  <c:v>0</c:v>
                </c:pt>
                <c:pt idx="1">
                  <c:v>0</c:v>
                </c:pt>
                <c:pt idx="2">
                  <c:v>0</c:v>
                </c:pt>
                <c:pt idx="3">
                  <c:v>0</c:v>
                </c:pt>
                <c:pt idx="4">
                  <c:v>0</c:v>
                </c:pt>
                <c:pt idx="5">
                  <c:v>0</c:v>
                </c:pt>
                <c:pt idx="6">
                  <c:v>0</c:v>
                </c:pt>
                <c:pt idx="7">
                  <c:v>0.000728265817023</c:v>
                </c:pt>
                <c:pt idx="8">
                  <c:v>0.0695738025988</c:v>
                </c:pt>
                <c:pt idx="9">
                  <c:v>0.386747897679</c:v>
                </c:pt>
                <c:pt idx="10">
                  <c:v>0.964185192895</c:v>
                </c:pt>
                <c:pt idx="11">
                  <c:v>1.61328129666</c:v>
                </c:pt>
                <c:pt idx="12">
                  <c:v>2.13498396302</c:v>
                </c:pt>
                <c:pt idx="13">
                  <c:v>2.36682462568</c:v>
                </c:pt>
                <c:pt idx="14">
                  <c:v>2.4</c:v>
                </c:pt>
              </c:numCache>
            </c:numRef>
          </c:val>
        </c:ser>
        <c:ser>
          <c:idx val="1"/>
          <c:order val="1"/>
          <c:tx>
            <c:v>Fig. 6c ML position</c:v>
          </c:tx>
          <c:spPr>
            <a:ln xmlns:a="http://schemas.openxmlformats.org/drawingml/2006/main" w="28575">
              <a:solidFill>
                <a:srgbClr val="0E9384"/>
              </a:solidFill>
            </a:ln>
          </c:spPr>
          <c:marker>
            <c:symbol val="circle"/>
            <c:size val="5"/>
            <c:spPr>
              <a:solidFill xmlns:a="http://schemas.openxmlformats.org/drawingml/2006/main">
                <a:srgbClr val="0E9384"/>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c:formatCode>
                <c:ptCount val="15"/>
                <c:pt idx="0">
                  <c:v>0.00413555622832</c:v>
                </c:pt>
                <c:pt idx="1">
                  <c:v>0.0419971063815</c:v>
                </c:pt>
                <c:pt idx="2">
                  <c:v>0.111132648305</c:v>
                </c:pt>
                <c:pt idx="3">
                  <c:v>0.112744730658</c:v>
                </c:pt>
                <c:pt idx="4">
                  <c:v>0.112164973556</c:v>
                </c:pt>
                <c:pt idx="5">
                  <c:v>0.188751715328</c:v>
                </c:pt>
                <c:pt idx="6">
                  <c:v>0.3203341165</c:v>
                </c:pt>
                <c:pt idx="7">
                  <c:v>0.495750877979</c:v>
                </c:pt>
                <c:pt idx="8">
                  <c:v>0.697274505876</c:v>
                </c:pt>
                <c:pt idx="9">
                  <c:v>0.947967362687</c:v>
                </c:pt>
                <c:pt idx="10">
                  <c:v>1.24095377898</c:v>
                </c:pt>
                <c:pt idx="11">
                  <c:v>1.54418662097</c:v>
                </c:pt>
                <c:pt idx="12">
                  <c:v>1.85643053763</c:v>
                </c:pt>
                <c:pt idx="13">
                  <c:v>2.2099389317</c:v>
                </c:pt>
                <c:pt idx="14">
                  <c:v>2.40425070917</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2.5"/>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Position (µm)</a:t>
                </a:r>
              </a:p>
            </c:rich>
          </c:tx>
          <c:overlay val="0"/>
        </c:title>
        <c:numFmt formatCode="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lineChart>
        <c:grouping val="standard"/>
        <c:ser>
          <c:idx val="0"/>
          <c:order val="0"/>
          <c:tx>
            <c:v>Manual depth</c:v>
          </c:tx>
          <c:spPr>
            <a:ln xmlns:a="http://schemas.openxmlformats.org/drawingml/2006/main" w="28575">
              <a:solidFill>
                <a:srgbClr val="475467"/>
              </a:solidFill>
            </a:ln>
          </c:spPr>
          <c:marker>
            <c:symbol val="none"/>
          </c:marker>
          <c:cat>
            <c:numRef>
              <c:f>'Chart Data'!$A$2:$A$16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Data'!$B$2:$B$16</c:f>
              <c:numCache>
                <c:formatCode>0.00</c:formatCode>
                <c:ptCount val="15"/>
                <c:pt idx="0">
                  <c:v>0</c:v>
                </c:pt>
                <c:pt idx="1">
                  <c:v>0.00620039682538</c:v>
                </c:pt>
                <c:pt idx="2">
                  <c:v>0.0248015873016</c:v>
                </c:pt>
                <c:pt idx="3">
                  <c:v>0.0558035714286</c:v>
                </c:pt>
                <c:pt idx="4">
                  <c:v>0.0992063492068</c:v>
                </c:pt>
                <c:pt idx="5">
                  <c:v>0.155009920635</c:v>
                </c:pt>
                <c:pt idx="6">
                  <c:v>0.223214285715</c:v>
                </c:pt>
                <c:pt idx="7">
                  <c:v>0.28</c:v>
                </c:pt>
                <c:pt idx="8">
                  <c:v>0.28</c:v>
                </c:pt>
                <c:pt idx="9">
                  <c:v>0.28</c:v>
                </c:pt>
                <c:pt idx="10">
                  <c:v>0.28</c:v>
                </c:pt>
                <c:pt idx="11">
                  <c:v>0.28</c:v>
                </c:pt>
                <c:pt idx="12">
                  <c:v>0.28</c:v>
                </c:pt>
                <c:pt idx="13">
                  <c:v>0.28</c:v>
                </c:pt>
                <c:pt idx="14">
                  <c:v>0.28</c:v>
                </c:pt>
              </c:numCache>
            </c:numRef>
          </c:val>
        </c:ser>
        <c:ser>
          <c:idx val="1"/>
          <c:order val="1"/>
          <c:tx>
            <c:v>Fig. 6c ML depth</c:v>
          </c:tx>
          <c:spPr>
            <a:ln xmlns:a="http://schemas.openxmlformats.org/drawingml/2006/main" w="28575">
              <a:solidFill>
                <a:srgbClr val="0BA5EC"/>
              </a:solidFill>
            </a:ln>
          </c:spPr>
          <c:marker>
            <c:symbol val="circle"/>
            <c:size val="5"/>
            <c:spPr>
              <a:solidFill xmlns:a="http://schemas.openxmlformats.org/drawingml/2006/main">
                <a:srgbClr val="0BA5EC"/>
              </a:solidFill>
            </c:spPr>
          </c:marker>
          <c:cat>
            <c:numRef>
              <c:f>'Chart Data'!$C$2:$C$16</c:f>
              <c:numCache>
                <c:formatCode>General</c:formatCode>
                <c:ptCount val="15"/>
                <c:pt idx="0">
                  <c:v>0</c:v>
                </c:pt>
                <c:pt idx="1">
                  <c:v>29</c:v>
                </c:pt>
                <c:pt idx="2">
                  <c:v>57</c:v>
                </c:pt>
                <c:pt idx="3">
                  <c:v>86</c:v>
                </c:pt>
                <c:pt idx="4">
                  <c:v>114</c:v>
                </c:pt>
                <c:pt idx="5">
                  <c:v>143</c:v>
                </c:pt>
                <c:pt idx="6">
                  <c:v>171</c:v>
                </c:pt>
                <c:pt idx="7">
                  <c:v>200</c:v>
                </c:pt>
                <c:pt idx="8">
                  <c:v>229</c:v>
                </c:pt>
                <c:pt idx="9">
                  <c:v>257</c:v>
                </c:pt>
                <c:pt idx="10">
                  <c:v>286</c:v>
                </c:pt>
                <c:pt idx="11">
                  <c:v>314</c:v>
                </c:pt>
                <c:pt idx="12">
                  <c:v>343</c:v>
                </c:pt>
                <c:pt idx="13">
                  <c:v>371</c:v>
                </c:pt>
                <c:pt idx="14">
                  <c:v>400</c:v>
                </c:pt>
              </c:numCache>
            </c:numRef>
          </c:cat>
          <c:val>
            <c:numRef>
              <c:f>'Chart Data'!$D$2:$D$16</c:f>
              <c:numCache>
                <c:formatCode>0.00</c:formatCode>
                <c:ptCount val="15"/>
                <c:pt idx="0">
                  <c:v>0.000499713044256</c:v>
                </c:pt>
                <c:pt idx="1">
                  <c:v>0.00414644376358</c:v>
                </c:pt>
                <c:pt idx="2">
                  <c:v>0.0106480724655</c:v>
                </c:pt>
                <c:pt idx="3">
                  <c:v>0.0190312328974</c:v>
                </c:pt>
                <c:pt idx="4">
                  <c:v>0.0379906963848</c:v>
                </c:pt>
                <c:pt idx="5">
                  <c:v>0.076288963437</c:v>
                </c:pt>
                <c:pt idx="6">
                  <c:v>0.134921041123</c:v>
                </c:pt>
                <c:pt idx="7">
                  <c:v>0.212284107178</c:v>
                </c:pt>
                <c:pt idx="8">
                  <c:v>0.268490549952</c:v>
                </c:pt>
                <c:pt idx="9">
                  <c:v>0.280469653025</c:v>
                </c:pt>
                <c:pt idx="10">
                  <c:v>0.280598817921</c:v>
                </c:pt>
                <c:pt idx="11">
                  <c:v>0.28052501195</c:v>
                </c:pt>
                <c:pt idx="12">
                  <c:v>0.280516692702</c:v>
                </c:pt>
                <c:pt idx="13">
                  <c:v>0.280516692702</c:v>
                </c:pt>
                <c:pt idx="14">
                  <c:v>0.280516692702</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Time (µs)</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32"/>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Depth (mK)</a:t>
                </a:r>
              </a:p>
            </c:rich>
          </c:tx>
          <c:overlay val="0"/>
        </c:title>
        <c:numFmt formatCode="0.0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0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Manual 400 µs</c:v>
          </c:tx>
          <c:spPr>
            <a:solidFill xmlns:a="http://schemas.openxmlformats.org/drawingml/2006/main">
              <a:srgbClr val="98A2B3"/>
            </a:solidFill>
          </c:spPr>
          <c:cat>
            <c:strRef>
              <c:f>'Chart Data'!$A$2:$A$3</c:f>
              <c:strCache>
                <c:ptCount val="2"/>
                <c:pt idx="0">
                  <c:v>Paper</c:v>
                </c:pt>
                <c:pt idx="1">
                  <c:v>MC T40</c:v>
                </c:pt>
              </c:strCache>
            </c:strRef>
          </c:cat>
          <c:val>
            <c:numRef>
              <c:f>'Chart Data'!$B$2:$B$3</c:f>
              <c:numCache>
                <c:formatCode>0.0%</c:formatCode>
                <c:ptCount val="2"/>
                <c:pt idx="0">
                  <c:v>0.4135</c:v>
                </c:pt>
                <c:pt idx="1">
                  <c:v>0.52734375</c:v>
                </c:pt>
              </c:numCache>
            </c:numRef>
          </c:val>
        </c:ser>
        <c:ser>
          <c:idx val="1"/>
          <c:order val="1"/>
          <c:tx>
            <c:v>Fig. 6c ML 400 µs</c:v>
          </c:tx>
          <c:spPr>
            <a:solidFill xmlns:a="http://schemas.openxmlformats.org/drawingml/2006/main">
              <a:srgbClr val="0E9384"/>
            </a:solidFill>
          </c:spPr>
          <c:cat>
            <c:strRef>
              <c:f>'Chart Data'!$C$2:$C$3</c:f>
              <c:strCache>
                <c:ptCount val="2"/>
                <c:pt idx="0">
                  <c:v>Paper</c:v>
                </c:pt>
                <c:pt idx="1">
                  <c:v>MC T40</c:v>
                </c:pt>
              </c:strCache>
            </c:strRef>
          </c:cat>
          <c:val>
            <c:numRef>
              <c:f>'Chart Data'!$D$2:$D$3</c:f>
              <c:numCache>
                <c:formatCode>0.0%</c:formatCode>
                <c:ptCount val="2"/>
                <c:pt idx="0">
                  <c:v>0.6633</c:v>
                </c:pt>
                <c:pt idx="1">
                  <c:v>0.7578125</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1"/>
          <c:min val="0"/>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S(60)</c:v>
          </c:tx>
          <c:spPr>
            <a:solidFill xmlns:a="http://schemas.openxmlformats.org/drawingml/2006/main">
              <a:srgbClr val="1570EF"/>
            </a:solidFill>
          </c:spPr>
          <c:dPt>
            <c:idx val="0"/>
            <c:invertIfNegative val="0"/>
            <c:spPr>
              <a:solidFill xmlns:a="http://schemas.openxmlformats.org/drawingml/2006/main">
                <a:srgbClr val="98A2B3"/>
              </a:solidFill>
            </c:spPr>
          </c:dPt>
          <c:dPt>
            <c:idx val="1"/>
            <c:invertIfNegative val="0"/>
            <c:spPr>
              <a:solidFill xmlns:a="http://schemas.openxmlformats.org/drawingml/2006/main">
                <a:srgbClr val="667085"/>
              </a:solidFill>
            </c:spPr>
          </c:dPt>
          <c:dPt>
            <c:idx val="2"/>
            <c:invertIfNegative val="0"/>
            <c:spPr>
              <a:solidFill xmlns:a="http://schemas.openxmlformats.org/drawingml/2006/main">
                <a:srgbClr val="0BA5EC"/>
              </a:solidFill>
            </c:spPr>
          </c:dPt>
          <c:dPt>
            <c:idx val="3"/>
            <c:invertIfNegative val="0"/>
            <c:spPr>
              <a:solidFill xmlns:a="http://schemas.openxmlformats.org/drawingml/2006/main">
                <a:srgbClr val="0E9384"/>
              </a:solidFill>
            </c:spPr>
          </c:dPt>
          <c:cat>
            <c:strRef>
              <c:f>'Chart Data'!$A$2:$A$5</c:f>
              <c:strCache>
                <c:ptCount val="4"/>
                <c:pt idx="0">
                  <c:v>Dman / Pman</c:v>
                </c:pt>
                <c:pt idx="1">
                  <c:v>DML / Pman</c:v>
                </c:pt>
                <c:pt idx="2">
                  <c:v>Dman / PML</c:v>
                </c:pt>
                <c:pt idx="3">
                  <c:v>DML / PML</c:v>
                </c:pt>
              </c:strCache>
            </c:strRef>
          </c:cat>
          <c:val>
            <c:numRef>
              <c:f>'Chart Data'!$B$2:$B$5</c:f>
              <c:numCache>
                <c:formatCode>0.0%</c:formatCode>
                <c:ptCount val="4"/>
                <c:pt idx="0">
                  <c:v>0.5254</c:v>
                </c:pt>
                <c:pt idx="1">
                  <c:v>0.5293</c:v>
                </c:pt>
                <c:pt idx="2">
                  <c:v>0.8086</c:v>
                </c:pt>
                <c:pt idx="3">
                  <c:v>0.8047</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344054"/>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9"/>
          <c:min val="0.4"/>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S(60)</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lineChart>
        <c:grouping val="standard"/>
        <c:ser>
          <c:idx val="0"/>
          <c:order val="0"/>
          <c:tx>
            <c:v>Manual 200 error</c:v>
          </c:tx>
          <c:spPr>
            <a:ln xmlns:a="http://schemas.openxmlformats.org/drawingml/2006/main" w="28575">
              <a:solidFill>
                <a:srgbClr val="D92D20"/>
              </a:solidFill>
            </a:ln>
          </c:spPr>
          <c:marker>
            <c:symbol val="none"/>
          </c:marker>
          <c:cat>
            <c:numRef>
              <c:f>'Chart Data'!$A$2:$A$28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Data'!$B$2:$B$28</c:f>
              <c:numCache>
                <c:formatCode>0%</c:formatCode>
                <c:ptCount val="27"/>
                <c:pt idx="0">
                  <c:v>-0.13203125</c:v>
                </c:pt>
                <c:pt idx="1">
                  <c:v>-0.1415875</c:v>
                </c:pt>
                <c:pt idx="2">
                  <c:v>-0.153096875</c:v>
                </c:pt>
                <c:pt idx="3">
                  <c:v>-0.154840625</c:v>
                </c:pt>
                <c:pt idx="4">
                  <c:v>-0.1668375</c:v>
                </c:pt>
                <c:pt idx="5">
                  <c:v>-0.16125625</c:v>
                </c:pt>
                <c:pt idx="6">
                  <c:v>-0.173253125</c:v>
                </c:pt>
                <c:pt idx="7">
                  <c:v>-0.167671875</c:v>
                </c:pt>
                <c:pt idx="8">
                  <c:v>-0.170340625</c:v>
                </c:pt>
                <c:pt idx="9">
                  <c:v>-0.173009375</c:v>
                </c:pt>
                <c:pt idx="10">
                  <c:v>-0.167865625</c:v>
                </c:pt>
                <c:pt idx="11">
                  <c:v>-0.166628125</c:v>
                </c:pt>
                <c:pt idx="12">
                  <c:v>-0.178359375</c:v>
                </c:pt>
                <c:pt idx="13">
                  <c:v>-0.166653125</c:v>
                </c:pt>
                <c:pt idx="14">
                  <c:v>-0.16861875</c:v>
                </c:pt>
                <c:pt idx="15">
                  <c:v>-0.162771875</c:v>
                </c:pt>
                <c:pt idx="16">
                  <c:v>-0.156170625</c:v>
                </c:pt>
                <c:pt idx="17">
                  <c:v>-0.145663125</c:v>
                </c:pt>
                <c:pt idx="18">
                  <c:v>-0.13710875</c:v>
                </c:pt>
                <c:pt idx="19">
                  <c:v>-0.124648125</c:v>
                </c:pt>
                <c:pt idx="20">
                  <c:v>-0.1278125</c:v>
                </c:pt>
                <c:pt idx="21">
                  <c:v>-0.1407425</c:v>
                </c:pt>
                <c:pt idx="22">
                  <c:v>-0.124375625</c:v>
                </c:pt>
                <c:pt idx="23">
                  <c:v>-0.111915</c:v>
                </c:pt>
                <c:pt idx="24">
                  <c:v>-0.103360625</c:v>
                </c:pt>
                <c:pt idx="25">
                  <c:v>-0.09480625</c:v>
                </c:pt>
                <c:pt idx="26">
                  <c:v>-0.094165625</c:v>
                </c:pt>
              </c:numCache>
            </c:numRef>
          </c:val>
        </c:ser>
        <c:ser>
          <c:idx val="1"/>
          <c:order val="1"/>
          <c:tx>
            <c:v>Zero</c:v>
          </c:tx>
          <c:spPr>
            <a:ln xmlns:a="http://schemas.openxmlformats.org/drawingml/2006/main" w="9525">
              <a:solidFill>
                <a:srgbClr val="D0D5DD"/>
              </a:solidFill>
            </a:ln>
          </c:spPr>
          <c:marker>
            <c:symbol val="none"/>
          </c:marker>
          <c:cat>
            <c:numRef>
              <c:f>'Chart Data'!$C$2:$C$28</c:f>
              <c:numCache>
                <c:formatCode>General</c:formatCode>
                <c:ptCount val="27"/>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numCache>
            </c:numRef>
          </c:cat>
          <c:val>
            <c:numRef>
              <c:f>'Chart Data'!$D$2:$D$28</c:f>
              <c:numCache>
                <c:formatCode>0%</c:formatCode>
                <c:ptCount val="27"/>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lineChart>
        <c:grouping val="standard"/>
        <c:ser>
          <c:idx val="0"/>
          <c:order val="0"/>
          <c:tx>
            <c:v>Manual 400 error</c:v>
          </c:tx>
          <c:spPr>
            <a:ln xmlns:a="http://schemas.openxmlformats.org/drawingml/2006/main" w="28575">
              <a:solidFill>
                <a:srgbClr val="1570EF"/>
              </a:solidFill>
            </a:ln>
          </c:spPr>
          <c:marker>
            <c:symbol val="none"/>
          </c:marker>
          <c:cat>
            <c:numRef>
              <c:f>'Chart Data'!$A$2:$A$57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Data'!$B$2:$B$57</c:f>
              <c:numCache>
                <c:formatCode>0%</c:formatCode>
                <c:ptCount val="56"/>
                <c:pt idx="0">
                  <c:v>-0.0226875</c:v>
                </c:pt>
                <c:pt idx="1">
                  <c:v>-0.012607291667</c:v>
                </c:pt>
                <c:pt idx="2">
                  <c:v>-0.020105208333</c:v>
                </c:pt>
                <c:pt idx="3">
                  <c:v>-0.008071875</c:v>
                </c:pt>
                <c:pt idx="4">
                  <c:v>-0.01369375</c:v>
                </c:pt>
                <c:pt idx="5">
                  <c:v>-0.011503125</c:v>
                </c:pt>
                <c:pt idx="6">
                  <c:v>-0.0249375</c:v>
                </c:pt>
                <c:pt idx="7">
                  <c:v>-0.0168875</c:v>
                </c:pt>
                <c:pt idx="8">
                  <c:v>-0.03705625</c:v>
                </c:pt>
                <c:pt idx="9">
                  <c:v>-0.02988125</c:v>
                </c:pt>
                <c:pt idx="10">
                  <c:v>-0.04614375</c:v>
                </c:pt>
                <c:pt idx="11">
                  <c:v>-0.040921875</c:v>
                </c:pt>
                <c:pt idx="12">
                  <c:v>-0.0544625</c:v>
                </c:pt>
                <c:pt idx="13">
                  <c:v>-0.044565625</c:v>
                </c:pt>
                <c:pt idx="14">
                  <c:v>-0.048340625</c:v>
                </c:pt>
                <c:pt idx="15">
                  <c:v>-0.036490625</c:v>
                </c:pt>
                <c:pt idx="16">
                  <c:v>-0.03278625</c:v>
                </c:pt>
                <c:pt idx="17">
                  <c:v>-0.01931625</c:v>
                </c:pt>
                <c:pt idx="18">
                  <c:v>-0.02147125</c:v>
                </c:pt>
                <c:pt idx="19">
                  <c:v>-0.009954375</c:v>
                </c:pt>
                <c:pt idx="20">
                  <c:v>-0.004296875</c:v>
                </c:pt>
                <c:pt idx="21">
                  <c:v>0.009173125</c:v>
                </c:pt>
                <c:pt idx="22">
                  <c:v>-0.000794375</c:v>
                </c:pt>
                <c:pt idx="23">
                  <c:v>0.012675625</c:v>
                </c:pt>
                <c:pt idx="24">
                  <c:v>0.02028625</c:v>
                </c:pt>
                <c:pt idx="25">
                  <c:v>0.031803125</c:v>
                </c:pt>
                <c:pt idx="26">
                  <c:v>0.034630625</c:v>
                </c:pt>
                <c:pt idx="27">
                  <c:v>0.045270625</c:v>
                </c:pt>
                <c:pt idx="28">
                  <c:v>0.044191875</c:v>
                </c:pt>
                <c:pt idx="29">
                  <c:v>0.054831875</c:v>
                </c:pt>
                <c:pt idx="30">
                  <c:v>0.0439875</c:v>
                </c:pt>
                <c:pt idx="31">
                  <c:v>0.05072125</c:v>
                </c:pt>
                <c:pt idx="32">
                  <c:v>0.051595625</c:v>
                </c:pt>
                <c:pt idx="33">
                  <c:v>0.0602825</c:v>
                </c:pt>
                <c:pt idx="34">
                  <c:v>0.053344375</c:v>
                </c:pt>
                <c:pt idx="35">
                  <c:v>0.06203125</c:v>
                </c:pt>
                <c:pt idx="36">
                  <c:v>0.05545625</c:v>
                </c:pt>
                <c:pt idx="37">
                  <c:v>0.06450625</c:v>
                </c:pt>
                <c:pt idx="38">
                  <c:v>0.05793125</c:v>
                </c:pt>
                <c:pt idx="39">
                  <c:v>0.06698125</c:v>
                </c:pt>
                <c:pt idx="40">
                  <c:v>0.070171875</c:v>
                </c:pt>
                <c:pt idx="41">
                  <c:v>0.079221875</c:v>
                </c:pt>
                <c:pt idx="42">
                  <c:v>0.084365625</c:v>
                </c:pt>
                <c:pt idx="43">
                  <c:v>0.089509375</c:v>
                </c:pt>
                <c:pt idx="44">
                  <c:v>0.090746875</c:v>
                </c:pt>
                <c:pt idx="45">
                  <c:v>0.09784375</c:v>
                </c:pt>
                <c:pt idx="46">
                  <c:v>0.088115625</c:v>
                </c:pt>
                <c:pt idx="47">
                  <c:v>0.092059375</c:v>
                </c:pt>
                <c:pt idx="48">
                  <c:v>0.0862375</c:v>
                </c:pt>
                <c:pt idx="49">
                  <c:v>0.0940875</c:v>
                </c:pt>
                <c:pt idx="50">
                  <c:v>0.096078125</c:v>
                </c:pt>
                <c:pt idx="51">
                  <c:v>0.101975</c:v>
                </c:pt>
                <c:pt idx="52">
                  <c:v>0.1020125</c:v>
                </c:pt>
                <c:pt idx="53">
                  <c:v>0.1098625</c:v>
                </c:pt>
                <c:pt idx="54">
                  <c:v>0.104040625</c:v>
                </c:pt>
                <c:pt idx="55">
                  <c:v>0.111890625</c:v>
                </c:pt>
              </c:numCache>
            </c:numRef>
          </c:val>
        </c:ser>
        <c:ser>
          <c:idx val="1"/>
          <c:order val="1"/>
          <c:tx>
            <c:v>Manual 600 error</c:v>
          </c:tx>
          <c:spPr>
            <a:ln xmlns:a="http://schemas.openxmlformats.org/drawingml/2006/main" w="28575">
              <a:solidFill>
                <a:srgbClr val="0E9384"/>
              </a:solidFill>
            </a:ln>
          </c:spPr>
          <c:marker>
            <c:symbol val="none"/>
          </c:marker>
          <c:cat>
            <c:numRef>
              <c:f>'Chart Data'!$C$2:$C$57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Data'!$D$2:$D$57</c:f>
              <c:numCache>
                <c:formatCode>0%</c:formatCode>
                <c:ptCount val="56"/>
                <c:pt idx="0">
                  <c:v>-0.02138125</c:v>
                </c:pt>
                <c:pt idx="1">
                  <c:v>-0.02058125</c:v>
                </c:pt>
                <c:pt idx="2">
                  <c:v>-0.03540625</c:v>
                </c:pt>
                <c:pt idx="3">
                  <c:v>-0.03460625</c:v>
                </c:pt>
                <c:pt idx="4">
                  <c:v>-0.03184375</c:v>
                </c:pt>
                <c:pt idx="5">
                  <c:v>-0.02126875</c:v>
                </c:pt>
                <c:pt idx="6">
                  <c:v>-0.01850625</c:v>
                </c:pt>
                <c:pt idx="7">
                  <c:v>-0.00793125</c:v>
                </c:pt>
                <c:pt idx="8">
                  <c:v>-0.01665</c:v>
                </c:pt>
                <c:pt idx="9">
                  <c:v>-0.01365</c:v>
                </c:pt>
                <c:pt idx="10">
                  <c:v>-0.020415625</c:v>
                </c:pt>
                <c:pt idx="11">
                  <c:v>-0.017415625</c:v>
                </c:pt>
                <c:pt idx="12">
                  <c:v>-0.01695</c:v>
                </c:pt>
                <c:pt idx="13">
                  <c:v>-0.010625</c:v>
                </c:pt>
                <c:pt idx="14">
                  <c:v>-0.00820625</c:v>
                </c:pt>
                <c:pt idx="15">
                  <c:v>-0.003834375</c:v>
                </c:pt>
                <c:pt idx="16">
                  <c:v>-0.004306875</c:v>
                </c:pt>
                <c:pt idx="17">
                  <c:v>0.003033125</c:v>
                </c:pt>
                <c:pt idx="18">
                  <c:v>0.00451375</c:v>
                </c:pt>
                <c:pt idx="19">
                  <c:v>0.01185375</c:v>
                </c:pt>
                <c:pt idx="20">
                  <c:v>0.005521875</c:v>
                </c:pt>
                <c:pt idx="21">
                  <c:v>0.012861875</c:v>
                </c:pt>
                <c:pt idx="22">
                  <c:v>0.004576875</c:v>
                </c:pt>
                <c:pt idx="23">
                  <c:v>0.011916875</c:v>
                </c:pt>
                <c:pt idx="24">
                  <c:v>0.015350625</c:v>
                </c:pt>
                <c:pt idx="25">
                  <c:v>0.022690625</c:v>
                </c:pt>
                <c:pt idx="26">
                  <c:v>0.019901875</c:v>
                </c:pt>
                <c:pt idx="27">
                  <c:v>0.02687875</c:v>
                </c:pt>
                <c:pt idx="28">
                  <c:v>0.026043125</c:v>
                </c:pt>
                <c:pt idx="29">
                  <c:v>0.034973125</c:v>
                </c:pt>
                <c:pt idx="30">
                  <c:v>0.036090625</c:v>
                </c:pt>
                <c:pt idx="31">
                  <c:v>0.045020625</c:v>
                </c:pt>
                <c:pt idx="32">
                  <c:v>0.04809125</c:v>
                </c:pt>
                <c:pt idx="33">
                  <c:v>0.05702125</c:v>
                </c:pt>
                <c:pt idx="34">
                  <c:v>0.060091875</c:v>
                </c:pt>
                <c:pt idx="35">
                  <c:v>0.069021875</c:v>
                </c:pt>
                <c:pt idx="36">
                  <c:v>0.064913125</c:v>
                </c:pt>
                <c:pt idx="37">
                  <c:v>0.072523125</c:v>
                </c:pt>
                <c:pt idx="38">
                  <c:v>0.0703675</c:v>
                </c:pt>
                <c:pt idx="39">
                  <c:v>0.0779775</c:v>
                </c:pt>
                <c:pt idx="40">
                  <c:v>0.07386875</c:v>
                </c:pt>
                <c:pt idx="41">
                  <c:v>0.079525625</c:v>
                </c:pt>
                <c:pt idx="42">
                  <c:v>0.071510625</c:v>
                </c:pt>
                <c:pt idx="43">
                  <c:v>0.079120625</c:v>
                </c:pt>
                <c:pt idx="44">
                  <c:v>0.08087125</c:v>
                </c:pt>
                <c:pt idx="45">
                  <c:v>0.08848125</c:v>
                </c:pt>
                <c:pt idx="46">
                  <c:v>0.092295</c:v>
                </c:pt>
                <c:pt idx="47">
                  <c:v>0.098061875</c:v>
                </c:pt>
                <c:pt idx="48">
                  <c:v>0.10382875</c:v>
                </c:pt>
                <c:pt idx="49">
                  <c:v>0.11154875</c:v>
                </c:pt>
                <c:pt idx="50">
                  <c:v>0.109503125</c:v>
                </c:pt>
                <c:pt idx="51">
                  <c:v>0.117223125</c:v>
                </c:pt>
                <c:pt idx="52">
                  <c:v>0.107365</c:v>
                </c:pt>
                <c:pt idx="53">
                  <c:v>0.113131875</c:v>
                </c:pt>
                <c:pt idx="54">
                  <c:v>0.10327375</c:v>
                </c:pt>
                <c:pt idx="55">
                  <c:v>0.11099375</c:v>
                </c:pt>
              </c:numCache>
            </c:numRef>
          </c:val>
        </c:ser>
        <c:ser>
          <c:idx val="2"/>
          <c:order val="2"/>
          <c:tx>
            <c:v>Zero</c:v>
          </c:tx>
          <c:spPr>
            <a:ln xmlns:a="http://schemas.openxmlformats.org/drawingml/2006/main" w="9525">
              <a:solidFill>
                <a:srgbClr val="D0D5DD"/>
              </a:solidFill>
            </a:ln>
          </c:spPr>
          <c:marker>
            <c:symbol val="none"/>
          </c:marker>
          <c:cat>
            <c:numRef>
              <c:f>'Chart Data'!$E$2:$E$57</c:f>
              <c:numCache>
                <c:formatCode>General</c:formatCode>
                <c:ptCount val="56"/>
                <c:pt idx="0">
                  <c:v>5</c:v>
                </c:pt>
                <c:pt idx="1">
                  <c:v>6</c:v>
                </c:pt>
                <c:pt idx="2">
                  <c:v>7</c:v>
                </c:pt>
                <c:pt idx="3">
                  <c:v>8</c:v>
                </c:pt>
                <c:pt idx="4">
                  <c:v>9</c:v>
                </c:pt>
                <c:pt idx="5">
                  <c:v>10</c:v>
                </c:pt>
                <c:pt idx="6">
                  <c:v>11</c:v>
                </c:pt>
                <c:pt idx="7">
                  <c:v>12</c:v>
                </c:pt>
                <c:pt idx="8">
                  <c:v>13</c:v>
                </c:pt>
                <c:pt idx="9">
                  <c:v>14</c:v>
                </c:pt>
                <c:pt idx="10">
                  <c:v>15</c:v>
                </c:pt>
                <c:pt idx="11">
                  <c:v>16</c:v>
                </c:pt>
                <c:pt idx="12">
                  <c:v>17</c:v>
                </c:pt>
                <c:pt idx="13">
                  <c:v>18</c:v>
                </c:pt>
                <c:pt idx="14">
                  <c:v>19</c:v>
                </c:pt>
                <c:pt idx="15">
                  <c:v>20</c:v>
                </c:pt>
                <c:pt idx="16">
                  <c:v>21</c:v>
                </c:pt>
                <c:pt idx="17">
                  <c:v>22</c:v>
                </c:pt>
                <c:pt idx="18">
                  <c:v>23</c:v>
                </c:pt>
                <c:pt idx="19">
                  <c:v>24</c:v>
                </c:pt>
                <c:pt idx="20">
                  <c:v>25</c:v>
                </c:pt>
                <c:pt idx="21">
                  <c:v>26</c:v>
                </c:pt>
                <c:pt idx="22">
                  <c:v>27</c:v>
                </c:pt>
                <c:pt idx="23">
                  <c:v>28</c:v>
                </c:pt>
                <c:pt idx="24">
                  <c:v>29</c:v>
                </c:pt>
                <c:pt idx="25">
                  <c:v>30</c:v>
                </c:pt>
                <c:pt idx="26">
                  <c:v>31</c:v>
                </c:pt>
                <c:pt idx="27">
                  <c:v>32</c:v>
                </c:pt>
                <c:pt idx="28">
                  <c:v>33</c:v>
                </c:pt>
                <c:pt idx="29">
                  <c:v>34</c:v>
                </c:pt>
                <c:pt idx="30">
                  <c:v>35</c:v>
                </c:pt>
                <c:pt idx="31">
                  <c:v>36</c:v>
                </c:pt>
                <c:pt idx="32">
                  <c:v>37</c:v>
                </c:pt>
                <c:pt idx="33">
                  <c:v>38</c:v>
                </c:pt>
                <c:pt idx="34">
                  <c:v>39</c:v>
                </c:pt>
                <c:pt idx="35">
                  <c:v>40</c:v>
                </c:pt>
                <c:pt idx="36">
                  <c:v>41</c:v>
                </c:pt>
                <c:pt idx="37">
                  <c:v>42</c:v>
                </c:pt>
                <c:pt idx="38">
                  <c:v>43</c:v>
                </c:pt>
                <c:pt idx="39">
                  <c:v>44</c:v>
                </c:pt>
                <c:pt idx="40">
                  <c:v>45</c:v>
                </c:pt>
                <c:pt idx="41">
                  <c:v>46</c:v>
                </c:pt>
                <c:pt idx="42">
                  <c:v>47</c:v>
                </c:pt>
                <c:pt idx="43">
                  <c:v>48</c:v>
                </c:pt>
                <c:pt idx="44">
                  <c:v>49</c:v>
                </c:pt>
                <c:pt idx="45">
                  <c:v>50</c:v>
                </c:pt>
                <c:pt idx="46">
                  <c:v>51</c:v>
                </c:pt>
                <c:pt idx="47">
                  <c:v>52</c:v>
                </c:pt>
                <c:pt idx="48">
                  <c:v>53</c:v>
                </c:pt>
                <c:pt idx="49">
                  <c:v>54</c:v>
                </c:pt>
                <c:pt idx="50">
                  <c:v>55</c:v>
                </c:pt>
                <c:pt idx="51">
                  <c:v>56</c:v>
                </c:pt>
                <c:pt idx="52">
                  <c:v>57</c:v>
                </c:pt>
                <c:pt idx="53">
                  <c:v>58</c:v>
                </c:pt>
                <c:pt idx="54">
                  <c:v>59</c:v>
                </c:pt>
                <c:pt idx="55">
                  <c:v>60</c:v>
                </c:pt>
              </c:numCache>
            </c:numRef>
          </c:cat>
          <c:val>
            <c:numRef>
              <c:f>'Chart Data'!$F$2:$F$57</c:f>
              <c:numCache>
                <c:formatCode>0%</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n</a:t>
                </a:r>
              </a:p>
            </c:rich>
          </c:tx>
          <c:overlay val="0"/>
        </c:title>
        <c:numFmt formatCode="General"/>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72768"/>
      </c:catAx>
      <c:valAx>
        <c:axId val="48672768"/>
        <c:scaling>
          <c:orientation val="minMax"/>
          <c:max val="0.15"/>
          <c:min val="-0.25"/>
        </c:scaling>
        <c:delete val="0"/>
        <c:axPos val="l"/>
        <c:majorGridlines>
          <c:spPr>
            <a:ln xmlns:a="http://schemas.openxmlformats.org/drawingml/2006/main" w="9525">
              <a:solidFill>
                <a:srgbClr val="EAECF0"/>
              </a:solidFill>
            </a:ln>
          </c:spPr>
        </c:majorGridlines>
        <c:title>
          <c:tx>
            <c:rich>
              <a:bodyPr xmlns:a="http://schemas.openxmlformats.org/drawingml/2006/main"/>
              <a:lstStyle xmlns:a="http://schemas.openxmlformats.org/drawingml/2006/main"/>
              <a:p xmlns:a="http://schemas.openxmlformats.org/drawingml/2006/main">
                <a:r>
                  <a:t>MC − Paper</a:t>
                </a:r>
              </a:p>
            </c:rich>
          </c:tx>
          <c:overlay val="0"/>
        </c:title>
        <c:numFmt formatCode="0%"/>
        <c:majorTickMark val="none"/>
        <c:minorTickMark val="none"/>
        <c:spPr>
          <a:ln xmlns:a="http://schemas.openxmlformats.org/drawingml/2006/main" w="9525">
            <a:solidFill>
              <a:srgbClr val="D0D5DD"/>
            </a:solidFill>
          </a:ln>
        </c:spPr>
        <c:txPr>
          <a:bodyPr xmlns:a="http://schemas.openxmlformats.org/drawingml/2006/main" anchorCtr="1"/>
          <a:lstStyle xmlns:a="http://schemas.openxmlformats.org/drawingml/2006/main"/>
          <a:p xmlns:a="http://schemas.openxmlformats.org/drawingml/2006/main">
            <a:pPr>
              <a:defRPr sz="900">
                <a:solidFill>
                  <a:srgbClr val="667085"/>
                </a:solidFill>
                <a:latin typeface="Microsoft YaHei"/>
                <a:ea typeface="Microsoft YaHei"/>
                <a:cs typeface="Microsoft YaHei"/>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667085"/>
              </a:solidFill>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6893BF-76B4-400B-9157-B76FCF87357F}"/>
              </a:ext>
            </a:extLst>
          </p:cNvPr>
          <p:cNvSpPr>
            <a:spLocks xmlns:a="http://schemas.openxmlformats.org/drawingml/2006/main" noGrp="1"/>
          </p:cNvSpPr>
          <p:nvPr/>
        </p:nvSpPr>
        <p:spPr>
          <a:xfrm xmlns:a="http://schemas.openxmlformats.org/drawingml/2006/main">
            <a:off x="0" y="5810250"/>
            <a:ext cx="12192000" cy="1047750"/>
          </a:xfrm>
          <a:prstGeom xmlns:a="http://schemas.openxmlformats.org/drawingml/2006/main" prst="rect">
            <a:avLst/>
          </a:prstGeom>
          <a:solidFill xmlns:a="http://schemas.openxmlformats.org/drawingml/2006/main">
            <a:srgbClr val="0B1F33"/>
          </a:solidFill>
          <a:ln xmlns:a="http://schemas.openxmlformats.org/drawingml/2006/main" w="0">
            <a:solidFill>
              <a:srgbClr val="0B1F33"/>
            </a:solidFill>
          </a:ln>
        </p:spPr>
      </p:sp>
      <p:sp>
        <p:nvSpPr>
          <p:cNvPr id="2" name="">
            <a:extLst xmlns:a="http://schemas.openxmlformats.org/drawingml/2006/main">
              <a:ext uri="{FF2B5EF4-FFF2-40B4-BE49-F238E27FC236}">
                <a16:creationId xmlns:a16="http://schemas.microsoft.com/office/drawing/2014/main" id="{14DBF410-E09D-4133-817A-06399A862039}"/>
              </a:ext>
            </a:extLst>
          </p:cNvPr>
          <p:cNvSpPr>
            <a:spLocks xmlns:a="http://schemas.openxmlformats.org/drawingml/2006/main" noGrp="1"/>
          </p:cNvSpPr>
          <p:nvPr/>
        </p:nvSpPr>
        <p:spPr>
          <a:xfrm xmlns:a="http://schemas.openxmlformats.org/drawingml/2006/main">
            <a:off x="685800" y="933450"/>
            <a:ext cx="838200" cy="57150"/>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3670808B-C6C6-4198-A471-5AEFB7047F4E}"/>
              </a:ext>
            </a:extLst>
          </p:cNvPr>
          <p:cNvSpPr>
            <a:spLocks xmlns:a="http://schemas.openxmlformats.org/drawingml/2006/main" noGrp="1"/>
          </p:cNvSpPr>
          <p:nvPr/>
        </p:nvSpPr>
        <p:spPr>
          <a:xfrm xmlns:a="http://schemas.openxmlformats.org/drawingml/2006/main">
            <a:off x="685800" y="1257300"/>
            <a:ext cx="933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Monte Carlo Simulation for</a:t>
            </a:r>
          </a:p>
          <a:p xmlns:a="http://schemas.openxmlformats.org/drawingml/2006/main">
            <a:pPr algn="l">
              <a:defRPr sz="3675" b="1">
                <a:solidFill>
                  <a:srgbClr val="FFFFFF"/>
                </a:solidFill>
                <a:latin typeface="Microsoft YaHei"/>
                <a:ea typeface="Microsoft YaHei"/>
                <a:cs typeface="Microsoft YaHei"/>
              </a:defRPr>
            </a:pPr>
            <a:r>
              <a:rPr sz="3675" b="1">
                <a:solidFill>
                  <a:srgbClr val="FFFFFF"/>
                </a:solidFill>
                <a:latin typeface="Microsoft YaHei"/>
                <a:ea typeface="Microsoft YaHei"/>
                <a:cs typeface="Microsoft YaHei"/>
              </a:rPr>
              <a:t>AOD–SLM Atom Transfer</a:t>
            </a:r>
          </a:p>
        </p:txBody>
      </p:sp>
      <p:sp>
        <p:nvSpPr>
          <p:cNvPr id="4" name="">
            <a:extLst xmlns:a="http://schemas.openxmlformats.org/drawingml/2006/main">
              <a:ext uri="{FF2B5EF4-FFF2-40B4-BE49-F238E27FC236}">
                <a16:creationId xmlns:a16="http://schemas.microsoft.com/office/drawing/2014/main" id="{74332BE0-ED3D-4246-9BE3-A34348497E21}"/>
              </a:ext>
            </a:extLst>
          </p:cNvPr>
          <p:cNvSpPr>
            <a:spLocks xmlns:a="http://schemas.openxmlformats.org/drawingml/2006/main" noGrp="1"/>
          </p:cNvSpPr>
          <p:nvPr/>
        </p:nvSpPr>
        <p:spPr>
          <a:xfrm xmlns:a="http://schemas.openxmlformats.org/drawingml/2006/main">
            <a:off x="723900" y="3143250"/>
            <a:ext cx="895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B9D7F5"/>
                </a:solidFill>
                <a:latin typeface="Microsoft YaHei"/>
                <a:ea typeface="Microsoft YaHei"/>
                <a:cs typeface="Microsoft YaHei"/>
              </a:defRPr>
            </a:pPr>
            <a:r>
              <a:rPr sz="1875" b="0">
                <a:solidFill>
                  <a:srgbClr val="B9D7F5"/>
                </a:solidFill>
                <a:latin typeface="Microsoft YaHei"/>
                <a:ea typeface="Microsoft YaHei"/>
                <a:cs typeface="Microsoft YaHei"/>
              </a:rPr>
              <a:t>Step-by-step Calculation and Evidence Report</a:t>
            </a:r>
          </a:p>
        </p:txBody>
      </p:sp>
      <p:sp>
        <p:nvSpPr>
          <p:cNvPr id="5" name="">
            <a:extLst xmlns:a="http://schemas.openxmlformats.org/drawingml/2006/main">
              <a:ext uri="{FF2B5EF4-FFF2-40B4-BE49-F238E27FC236}">
                <a16:creationId xmlns:a16="http://schemas.microsoft.com/office/drawing/2014/main" id="{1E2F9AC1-AC45-48FF-8C4C-96A86068E52E}"/>
              </a:ext>
            </a:extLst>
          </p:cNvPr>
          <p:cNvSpPr>
            <a:spLocks xmlns:a="http://schemas.openxmlformats.org/drawingml/2006/main" noGrp="1"/>
          </p:cNvSpPr>
          <p:nvPr/>
        </p:nvSpPr>
        <p:spPr>
          <a:xfrm xmlns:a="http://schemas.openxmlformats.org/drawingml/2006/main">
            <a:off x="723900" y="3771900"/>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D0DFF0"/>
                </a:solidFill>
                <a:latin typeface="Microsoft YaHei"/>
                <a:ea typeface="Microsoft YaHei"/>
                <a:cs typeface="Microsoft YaHei"/>
              </a:defRPr>
            </a:pPr>
            <a:r>
              <a:rPr sz="1500" b="0">
                <a:solidFill>
                  <a:srgbClr val="D0DFF0"/>
                </a:solidFill>
                <a:latin typeface="Microsoft YaHei"/>
                <a:ea typeface="Microsoft YaHei"/>
                <a:cs typeface="Microsoft YaHei"/>
              </a:rPr>
              <a:t>从论文数据、物理输入到存活曲线、敏感性扫描和验收</a:t>
            </a:r>
          </a:p>
        </p:txBody>
      </p:sp>
      <p:sp>
        <p:nvSpPr>
          <p:cNvPr id="6" name="">
            <a:extLst xmlns:a="http://schemas.openxmlformats.org/drawingml/2006/main">
              <a:ext uri="{FF2B5EF4-FFF2-40B4-BE49-F238E27FC236}">
                <a16:creationId xmlns:a16="http://schemas.microsoft.com/office/drawing/2014/main" id="{D00C5AA0-D4F7-4FF0-A832-4C7C9DACA06B}"/>
              </a:ext>
            </a:extLst>
          </p:cNvPr>
          <p:cNvSpPr>
            <a:spLocks xmlns:a="http://schemas.openxmlformats.org/drawingml/2006/main" noGrp="1"/>
          </p:cNvSpPr>
          <p:nvPr/>
        </p:nvSpPr>
        <p:spPr>
          <a:xfrm xmlns:a="http://schemas.openxmlformats.org/drawingml/2006/main">
            <a:off x="723900" y="59436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98AFC7"/>
                </a:solidFill>
                <a:latin typeface="Microsoft YaHei"/>
                <a:ea typeface="Microsoft YaHei"/>
                <a:cs typeface="Microsoft YaHei"/>
              </a:defRPr>
            </a:pPr>
            <a:r>
              <a:rPr sz="1200" b="0">
                <a:solidFill>
                  <a:srgbClr val="98AFC7"/>
                </a:solidFill>
                <a:latin typeface="Microsoft YaHei"/>
                <a:ea typeface="Microsoft YaHei"/>
                <a:cs typeface="Microsoft YaHei"/>
              </a:rPr>
              <a:t>MonteCarloForQC / monte-carlo-for-aodslm</a:t>
            </a:r>
          </a:p>
        </p:txBody>
      </p:sp>
      <p:sp>
        <p:nvSpPr>
          <p:cNvPr id="7" name="">
            <a:extLst xmlns:a="http://schemas.openxmlformats.org/drawingml/2006/main">
              <a:ext uri="{FF2B5EF4-FFF2-40B4-BE49-F238E27FC236}">
                <a16:creationId xmlns:a16="http://schemas.microsoft.com/office/drawing/2014/main" id="{D8146900-4DF3-40CD-8E8A-0BE741D5D399}"/>
              </a:ext>
            </a:extLst>
          </p:cNvPr>
          <p:cNvSpPr>
            <a:spLocks xmlns:a="http://schemas.openxmlformats.org/drawingml/2006/main" noGrp="1"/>
          </p:cNvSpPr>
          <p:nvPr/>
        </p:nvSpPr>
        <p:spPr>
          <a:xfrm xmlns:a="http://schemas.openxmlformats.org/drawingml/2006/main">
            <a:off x="723900" y="6229350"/>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2026-09-11  ·  gpt_level4_5  ·  commit 5e55bb0</a:t>
            </a:r>
          </a:p>
        </p:txBody>
      </p:sp>
      <p:sp>
        <p:nvSpPr>
          <p:cNvPr id="8" name="">
            <a:extLst xmlns:a="http://schemas.openxmlformats.org/drawingml/2006/main">
              <a:ext uri="{FF2B5EF4-FFF2-40B4-BE49-F238E27FC236}">
                <a16:creationId xmlns:a16="http://schemas.microsoft.com/office/drawing/2014/main" id="{6464B554-DD58-406C-B418-CAC7E638FC8D}"/>
              </a:ext>
            </a:extLst>
          </p:cNvPr>
          <p:cNvSpPr>
            <a:spLocks xmlns:a="http://schemas.openxmlformats.org/drawingml/2006/main" noGrp="1"/>
          </p:cNvSpPr>
          <p:nvPr/>
        </p:nvSpPr>
        <p:spPr>
          <a:xfrm xmlns:a="http://schemas.openxmlformats.org/drawingml/2006/main">
            <a:off x="9525000" y="592455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800" b="1">
                <a:solidFill>
                  <a:srgbClr val="0BA5EC"/>
                </a:solidFill>
                <a:latin typeface="Microsoft YaHei"/>
                <a:ea typeface="Microsoft YaHei"/>
                <a:cs typeface="Microsoft YaHei"/>
              </a:defRPr>
            </a:pPr>
            <a:r>
              <a:rPr sz="1800" b="1">
                <a:solidFill>
                  <a:srgbClr val="0BA5EC"/>
                </a:solidFill>
                <a:latin typeface="Microsoft YaHei"/>
                <a:ea typeface="Microsoft YaHei"/>
                <a:cs typeface="Microsoft YaHei"/>
              </a:rPr>
              <a:t>Fig. 6c / 6d</a:t>
            </a:r>
          </a:p>
        </p:txBody>
      </p:sp>
    </p:spTree>
    <p:extLst>
      <p:ext uri="{BB962C8B-B14F-4D97-AF65-F5344CB8AC3E}">
        <p14:creationId xmlns:p14="http://schemas.microsoft.com/office/powerpoint/2010/main" val="89403832"/>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693FF2-D52F-4501-BF23-0E8B7091D058}"/>
              </a:ext>
            </a:extLst>
          </p:cNvPr>
          <p:cNvSpPr>
            <a:spLocks xmlns:a="http://schemas.openxmlformats.org/drawingml/2006/main" noGrp="1"/>
          </p:cNvSpPr>
          <p:nvPr/>
        </p:nvSpPr>
        <p:spPr>
          <a:xfrm xmlns:a="http://schemas.openxmlformats.org/drawingml/2006/main">
            <a:off x="609600" y="3238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本次工作的计算顺序</a:t>
            </a:r>
          </a:p>
        </p:txBody>
      </p:sp>
      <p:sp>
        <p:nvSpPr>
          <p:cNvPr id="2" name="">
            <a:extLst xmlns:a="http://schemas.openxmlformats.org/drawingml/2006/main">
              <a:ext uri="{FF2B5EF4-FFF2-40B4-BE49-F238E27FC236}">
                <a16:creationId xmlns:a16="http://schemas.microsoft.com/office/drawing/2014/main" id="{1BC59B45-8843-4D4D-98CE-666EA13B7739}"/>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3" name="">
            <a:extLst xmlns:a="http://schemas.openxmlformats.org/drawingml/2006/main">
              <a:ext uri="{FF2B5EF4-FFF2-40B4-BE49-F238E27FC236}">
                <a16:creationId xmlns:a16="http://schemas.microsoft.com/office/drawing/2014/main" id="{6367255D-4A90-4DA0-A66E-93678B25C810}"/>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每一步都回答五个问题：算什么、输入什么、怎样计算、输出什么、结论能走多远</a:t>
            </a:r>
          </a:p>
        </p:txBody>
      </p:sp>
      <p:graphicFrame>
        <p:nvGraphicFramePr>
          <p:cNvPr id="14" name=""/>
          <p:cNvGraphicFramePr/>
          <p:nvPr/>
        </p:nvGraphicFramePr>
        <p:xfrm>
          <a:off xmlns:a="http://schemas.openxmlformats.org/drawingml/2006/main" x="609600" y="1295400"/>
          <a:ext xmlns:a="http://schemas.openxmlformats.org/drawingml/2006/main" cx="5238750" cy="4267200"/>
        </p:xfrm>
        <a:graphic xmlns:a="http://schemas.openxmlformats.org/drawingml/2006/main">
          <a:graphicData uri="http://schemas.openxmlformats.org/drawingml/2006/table">
            <a:tbl>
              <a:tblPr/>
              <a:tblGrid>
                <a:gridCol w="801221"/>
                <a:gridCol w="2896721"/>
                <a:gridCol w="1540809"/>
              </a:tblGrid>
              <a:tr h="533400">
                <a:tc>
                  <a:txBody>
                    <a:bodyPr>
                      <a:noAutofit/>
                    </a:bodyPr>
                    <a:lstStyle/>
                    <a:p>
                      <a:pPr algn="l"/>
                      <a:r>
                        <a:rPr sz="1125" b="1">
                          <a:solidFill>
                            <a:srgbClr val="FFFFFF"/>
                          </a:solidFill>
                          <a:latin typeface="Microsoft YaHei"/>
                          <a:ea typeface="Microsoft YaHei"/>
                          <a:cs typeface="Microsoft YaHei"/>
                        </a:rPr>
                        <a:t>Step</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计算内容</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主要输出</a:t>
                      </a:r>
                    </a:p>
                  </a:txBody>
                  <a:tcPr marL="91440" marR="91440" marT="45720" marB="45720" anchor="ctr">
                    <a:solidFill>
                      <a:srgbClr val="102A43"/>
                    </a:solidFill>
                  </a:tcPr>
                </a:tc>
              </a:tr>
              <a:tr h="533400">
                <a:tc>
                  <a:txBody>
                    <a:bodyPr>
                      <a:noAutofit/>
                    </a:bodyPr>
                    <a:lstStyle/>
                    <a:p>
                      <a:pPr algn="l"/>
                      <a:r>
                        <a:rPr sz="1200" b="0">
                          <a:solidFill>
                            <a:srgbClr val="344054"/>
                          </a:solidFill>
                          <a:latin typeface="Microsoft YaHei"/>
                          <a:ea typeface="Microsoft YaHei"/>
                          <a:cs typeface="Microsoft YaHei"/>
                        </a:rPr>
                        <a:t>01</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固定论文曲线和验收口径</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Paper S(n)</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02</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建立 Cs 与双高斯阱模型</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U(x,t), F(x,t)</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03</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生成初态、位点散布和加热</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每个 shot 的参数</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04</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构造手工 pick-up / drop-off</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c(t), D(t)</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05</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逐时间步传播单个原子</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x(t), v(t), E(t)</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06</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连续重复 60 次单程转移</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S(n), loss stage</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07</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运行仓库 baseline</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默认参考曲线</a:t>
                      </a:r>
                    </a:p>
                  </a:txBody>
                  <a:tcPr marL="91440" marR="91440" marT="45720" marB="45720" anchor="ctr">
                    <a:solidFill>
                      <a:srgbClr val="FFFFFF"/>
                    </a:solidFill>
                  </a:tcPr>
                </a:tc>
              </a:tr>
            </a:tbl>
          </a:graphicData>
        </a:graphic>
      </p:graphicFrame>
      <p:graphicFrame>
        <p:nvGraphicFramePr>
          <p:cNvPr id="15" name=""/>
          <p:cNvGraphicFramePr/>
          <p:nvPr/>
        </p:nvGraphicFramePr>
        <p:xfrm>
          <a:off xmlns:a="http://schemas.openxmlformats.org/drawingml/2006/main" x="6343650" y="1295400"/>
          <a:ext xmlns:a="http://schemas.openxmlformats.org/drawingml/2006/main" cx="5238750" cy="4267200"/>
        </p:xfrm>
        <a:graphic xmlns:a="http://schemas.openxmlformats.org/drawingml/2006/main">
          <a:graphicData uri="http://schemas.openxmlformats.org/drawingml/2006/table">
            <a:tbl>
              <a:tblPr/>
              <a:tblGrid>
                <a:gridCol w="801221"/>
                <a:gridCol w="2896721"/>
                <a:gridCol w="1540809"/>
              </a:tblGrid>
              <a:tr h="533400">
                <a:tc>
                  <a:txBody>
                    <a:bodyPr>
                      <a:noAutofit/>
                    </a:bodyPr>
                    <a:lstStyle/>
                    <a:p>
                      <a:pPr algn="l"/>
                      <a:r>
                        <a:rPr sz="1125" b="1">
                          <a:solidFill>
                            <a:srgbClr val="FFFFFF"/>
                          </a:solidFill>
                          <a:latin typeface="Microsoft YaHei"/>
                          <a:ea typeface="Microsoft YaHei"/>
                          <a:cs typeface="Microsoft YaHei"/>
                        </a:rPr>
                        <a:t>Step</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计算内容</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主要输出</a:t>
                      </a:r>
                    </a:p>
                  </a:txBody>
                  <a:tcPr marL="91440" marR="91440" marT="45720" marB="45720" anchor="ctr">
                    <a:solidFill>
                      <a:srgbClr val="102A43"/>
                    </a:solidFill>
                  </a:tcPr>
                </a:tc>
              </a:tr>
              <a:tr h="533400">
                <a:tc>
                  <a:txBody>
                    <a:bodyPr>
                      <a:noAutofit/>
                    </a:bodyPr>
                    <a:lstStyle/>
                    <a:p>
                      <a:pPr algn="l"/>
                      <a:r>
                        <a:rPr sz="1200" b="0">
                          <a:solidFill>
                            <a:srgbClr val="344054"/>
                          </a:solidFill>
                          <a:latin typeface="Microsoft YaHei"/>
                          <a:ea typeface="Microsoft YaHei"/>
                          <a:cs typeface="Microsoft YaHei"/>
                        </a:rPr>
                        <a:t>08</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设计单因素敏感性扫描</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T / RIN / alignment / jitter</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09</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读取扫描端点并比较机制</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S(60) sensitivity</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10</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检查 T40 的完整时长曲线</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200 / 400 / 600 µs</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11</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数字化 Fig. 6c ML 波形</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15-node trajectory</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12</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比较 Manual 与 ML</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endpoint gain</a:t>
                      </a:r>
                    </a:p>
                  </a:txBody>
                  <a:tcPr marL="91440" marR="91440" marT="45720" marB="45720" anchor="ctr">
                    <a:solidFill>
                      <a:srgbClr val="FFFFFF"/>
                    </a:solidFill>
                  </a:tcPr>
                </a:tc>
              </a:tr>
              <a:tr h="533400">
                <a:tc>
                  <a:txBody>
                    <a:bodyPr>
                      <a:noAutofit/>
                    </a:bodyPr>
                    <a:lstStyle/>
                    <a:p>
                      <a:pPr algn="l"/>
                      <a:r>
                        <a:rPr sz="1200" b="0">
                          <a:solidFill>
                            <a:srgbClr val="344054"/>
                          </a:solidFill>
                          <a:latin typeface="Microsoft YaHei"/>
                          <a:ea typeface="Microsoft YaHei"/>
                          <a:cs typeface="Microsoft YaHei"/>
                        </a:rPr>
                        <a:t>13</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分离位置和深度贡献</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2×2 ablation</a:t>
                      </a:r>
                    </a:p>
                  </a:txBody>
                  <a:tcPr marL="91440" marR="91440" marT="45720" marB="45720" anchor="ctr">
                    <a:solidFill>
                      <a:srgbClr val="F8FAFC"/>
                    </a:solidFill>
                  </a:tcPr>
                </a:tc>
              </a:tr>
              <a:tr h="533400">
                <a:tc>
                  <a:txBody>
                    <a:bodyPr>
                      <a:noAutofit/>
                    </a:bodyPr>
                    <a:lstStyle/>
                    <a:p>
                      <a:pPr algn="l"/>
                      <a:r>
                        <a:rPr sz="1200" b="0">
                          <a:solidFill>
                            <a:srgbClr val="344054"/>
                          </a:solidFill>
                          <a:latin typeface="Microsoft YaHei"/>
                          <a:ea typeface="Microsoft YaHei"/>
                          <a:cs typeface="Microsoft YaHei"/>
                        </a:rPr>
                        <a:t>14–15</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逐点验收并界定模型边界</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curve error / gaps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905DB00-75C5-47D3-8569-871C949B953A}"/>
              </a:ext>
            </a:extLst>
          </p:cNvPr>
          <p:cNvSpPr>
            <a:spLocks xmlns:a="http://schemas.openxmlformats.org/drawingml/2006/main" noGrp="1"/>
          </p:cNvSpPr>
          <p:nvPr/>
        </p:nvSpPr>
        <p:spPr>
          <a:xfrm xmlns:a="http://schemas.openxmlformats.org/drawingml/2006/main">
            <a:off x="609600" y="5772150"/>
            <a:ext cx="10972800" cy="476250"/>
          </a:xfrm>
          <a:prstGeom xmlns:a="http://schemas.openxmlformats.org/drawingml/2006/main" prst="roundRect">
            <a:avLst>
              <a:gd name="adj" fmla="val 16000"/>
            </a:avLst>
          </a:prstGeom>
          <a:solidFill xmlns:a="http://schemas.openxmlformats.org/drawingml/2006/main">
            <a:srgbClr val="EFF8FF"/>
          </a:solidFill>
          <a:ln xmlns:a="http://schemas.openxmlformats.org/drawingml/2006/main" w="9525">
            <a:solidFill>
              <a:srgbClr val="B2DDFF"/>
            </a:solidFill>
          </a:ln>
        </p:spPr>
      </p:sp>
      <p:sp>
        <p:nvSpPr>
          <p:cNvPr id="7" name="">
            <a:extLst xmlns:a="http://schemas.openxmlformats.org/drawingml/2006/main">
              <a:ext uri="{FF2B5EF4-FFF2-40B4-BE49-F238E27FC236}">
                <a16:creationId xmlns:a16="http://schemas.microsoft.com/office/drawing/2014/main" id="{A704F5D7-A56B-400B-B76E-7435C1530274}"/>
              </a:ext>
            </a:extLst>
          </p:cNvPr>
          <p:cNvSpPr>
            <a:spLocks xmlns:a="http://schemas.openxmlformats.org/drawingml/2006/main" noGrp="1"/>
          </p:cNvSpPr>
          <p:nvPr/>
        </p:nvSpPr>
        <p:spPr>
          <a:xfrm xmlns:a="http://schemas.openxmlformats.org/drawingml/2006/main">
            <a:off x="838200" y="5876925"/>
            <a:ext cx="1051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1570EF"/>
                </a:solidFill>
                <a:latin typeface="Microsoft YaHei"/>
                <a:ea typeface="Microsoft YaHei"/>
                <a:cs typeface="Microsoft YaHei"/>
              </a:defRPr>
            </a:pPr>
            <a:r>
              <a:rPr sz="1163" b="0">
                <a:solidFill>
                  <a:srgbClr val="1570EF"/>
                </a:solidFill>
                <a:latin typeface="Microsoft YaHei"/>
                <a:ea typeface="Microsoft YaHei"/>
                <a:cs typeface="Microsoft YaHei"/>
              </a:rPr>
              <a:t>工作边界：仓库已经包含 Monte Carlo 原始输出。本报告复核这些输出，并重新计算单调论文参考线、逐点偏差和验收指标，没有为匹配论文重新拟合参数。</a:t>
            </a:r>
          </a:p>
        </p:txBody>
      </p:sp>
      <p:sp>
        <p:nvSpPr>
          <p:cNvPr id="8" name="">
            <a:extLst xmlns:a="http://schemas.openxmlformats.org/drawingml/2006/main">
              <a:ext uri="{FF2B5EF4-FFF2-40B4-BE49-F238E27FC236}">
                <a16:creationId xmlns:a16="http://schemas.microsoft.com/office/drawing/2014/main" id="{5558F064-528A-4771-B037-6B1289038032}"/>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BB904038-DD9E-4D05-BBC6-9E801C2BA802}"/>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 2C README · configs · Stage-1 outputs · report recomputation</a:t>
            </a:r>
          </a:p>
        </p:txBody>
      </p:sp>
      <p:sp>
        <p:nvSpPr>
          <p:cNvPr id="10" name="">
            <a:extLst xmlns:a="http://schemas.openxmlformats.org/drawingml/2006/main">
              <a:ext uri="{FF2B5EF4-FFF2-40B4-BE49-F238E27FC236}">
                <a16:creationId xmlns:a16="http://schemas.microsoft.com/office/drawing/2014/main" id="{CC1C8CD9-DF5B-4BA0-ACC8-76CACC71DADE}"/>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02</a:t>
            </a:r>
          </a:p>
        </p:txBody>
      </p:sp>
    </p:spTree>
    <p:extLst>
      <p:ext uri="{BB962C8B-B14F-4D97-AF65-F5344CB8AC3E}">
        <p14:creationId xmlns:p14="http://schemas.microsoft.com/office/powerpoint/2010/main" val="473448953"/>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52CDCDE-B3EB-496B-BCD6-99EBB5B9DECB}"/>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01</a:t>
            </a:r>
          </a:p>
        </p:txBody>
      </p:sp>
      <p:sp>
        <p:nvSpPr>
          <p:cNvPr id="2" name="">
            <a:extLst xmlns:a="http://schemas.openxmlformats.org/drawingml/2006/main">
              <a:ext uri="{FF2B5EF4-FFF2-40B4-BE49-F238E27FC236}">
                <a16:creationId xmlns:a16="http://schemas.microsoft.com/office/drawing/2014/main" id="{42420B70-725A-4EF4-827B-BB2B37099E7A}"/>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论文数据与验收目标</a:t>
            </a:r>
          </a:p>
        </p:txBody>
      </p:sp>
      <p:sp>
        <p:nvSpPr>
          <p:cNvPr id="3" name="">
            <a:extLst xmlns:a="http://schemas.openxmlformats.org/drawingml/2006/main">
              <a:ext uri="{FF2B5EF4-FFF2-40B4-BE49-F238E27FC236}">
                <a16:creationId xmlns:a16="http://schemas.microsoft.com/office/drawing/2014/main" id="{5ECDB16E-5470-48C2-93B9-D49D6626D87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58D74C7-1E42-4E2C-9EB7-F202F08CC088}"/>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先固定比较对象，再查看模拟结果；Fig. 6d survival 与 IRB fidelity 分开处理</a:t>
            </a:r>
          </a:p>
        </p:txBody>
      </p:sp>
      <p:sp>
        <p:nvSpPr>
          <p:cNvPr id="5" name="">
            <a:extLst xmlns:a="http://schemas.openxmlformats.org/drawingml/2006/main">
              <a:ext uri="{FF2B5EF4-FFF2-40B4-BE49-F238E27FC236}">
                <a16:creationId xmlns:a16="http://schemas.microsoft.com/office/drawing/2014/main" id="{CB53B790-E8BA-44D4-82E7-D6AF76382387}"/>
              </a:ext>
            </a:extLst>
          </p:cNvPr>
          <p:cNvSpPr>
            <a:spLocks xmlns:a="http://schemas.openxmlformats.org/drawingml/2006/main" noGrp="1"/>
          </p:cNvSpPr>
          <p:nvPr/>
        </p:nvSpPr>
        <p:spPr>
          <a:xfrm xmlns:a="http://schemas.openxmlformats.org/drawingml/2006/main">
            <a:off x="609600" y="1257300"/>
            <a:ext cx="6000750" cy="4229100"/>
          </a:xfrm>
          <a:prstGeom xmlns:a="http://schemas.openxmlformats.org/drawingml/2006/main" prst="roundRect">
            <a:avLst>
              <a:gd name="adj" fmla="val 1802"/>
            </a:avLst>
          </a:prstGeom>
          <a:solidFill xmlns:a="http://schemas.openxmlformats.org/drawingml/2006/main">
            <a:srgbClr val="FFFFFF"/>
          </a:solidFill>
          <a:ln xmlns:a="http://schemas.openxmlformats.org/drawingml/2006/main" w="9525">
            <a:solidFill>
              <a:srgbClr val="EAECF0"/>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f6111341f1545cb"/>
          <a:srcRect xmlns:a="http://schemas.openxmlformats.org/drawingml/2006/main" l="2898" t="0" r="2898" b="0"/>
          <a:stretch xmlns:a="http://schemas.openxmlformats.org/drawingml/2006/main">
            <a:fillRect l="0" t="0" r="0" b="0"/>
          </a:stretch>
        </p:blipFill>
        <p:spPr>
          <a:xfrm xmlns:a="http://schemas.openxmlformats.org/drawingml/2006/main">
            <a:off x="781050" y="1428750"/>
            <a:ext cx="5657850" cy="3886200"/>
          </a:xfrm>
          <a:prstGeom xmlns:a="http://schemas.openxmlformats.org/drawingml/2006/main" prst="roundRect">
            <a:avLst>
              <a:gd name="adj" fmla="val 2451"/>
            </a:avLst>
          </a:prstGeom>
        </p:spPr>
      </p:pic>
      <p:sp>
        <p:nvSpPr>
          <p:cNvPr id="7" name="">
            <a:extLst xmlns:a="http://schemas.openxmlformats.org/drawingml/2006/main">
              <a:ext uri="{FF2B5EF4-FFF2-40B4-BE49-F238E27FC236}">
                <a16:creationId xmlns:a16="http://schemas.microsoft.com/office/drawing/2014/main" id="{BCE67121-8BE3-4447-9415-A1771E26D1E4}"/>
              </a:ext>
            </a:extLst>
          </p:cNvPr>
          <p:cNvSpPr>
            <a:spLocks xmlns:a="http://schemas.openxmlformats.org/drawingml/2006/main" noGrp="1"/>
          </p:cNvSpPr>
          <p:nvPr/>
        </p:nvSpPr>
        <p:spPr>
          <a:xfrm xmlns:a="http://schemas.openxmlformats.org/drawingml/2006/main">
            <a:off x="6915150" y="1257300"/>
            <a:ext cx="4667250" cy="4229100"/>
          </a:xfrm>
          <a:prstGeom xmlns:a="http://schemas.openxmlformats.org/drawingml/2006/main" prst="roundRect">
            <a:avLst>
              <a:gd name="adj" fmla="val 1802"/>
            </a:avLst>
          </a:prstGeom>
          <a:solidFill xmlns:a="http://schemas.openxmlformats.org/drawingml/2006/main">
            <a:srgbClr val="FFFFFF"/>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9184EEE9-9726-4556-AF54-B4863A427188}"/>
              </a:ext>
            </a:extLst>
          </p:cNvPr>
          <p:cNvSpPr>
            <a:spLocks xmlns:a="http://schemas.openxmlformats.org/drawingml/2006/main" noGrp="1"/>
          </p:cNvSpPr>
          <p:nvPr/>
        </p:nvSpPr>
        <p:spPr>
          <a:xfrm xmlns:a="http://schemas.openxmlformats.org/drawingml/2006/main">
            <a:off x="7162800" y="14668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需要复现的四条曲线</a:t>
            </a:r>
          </a:p>
        </p:txBody>
      </p:sp>
      <p:graphicFrame>
        <p:nvGraphicFramePr>
          <p:cNvPr id="25" name=""/>
          <p:cNvGraphicFramePr/>
          <p:nvPr/>
        </p:nvGraphicFramePr>
        <p:xfrm>
          <a:off xmlns:a="http://schemas.openxmlformats.org/drawingml/2006/main" x="7162800" y="1924050"/>
          <a:ext xmlns:a="http://schemas.openxmlformats.org/drawingml/2006/main" cx="4171950" cy="2247900"/>
        </p:xfrm>
        <a:graphic xmlns:a="http://schemas.openxmlformats.org/drawingml/2006/main">
          <a:graphicData uri="http://schemas.openxmlformats.org/drawingml/2006/table">
            <a:tbl>
              <a:tblPr/>
              <a:tblGrid>
                <a:gridCol w="2029597"/>
                <a:gridCol w="1127554"/>
                <a:gridCol w="1014799"/>
              </a:tblGrid>
              <a:tr h="449580">
                <a:tc>
                  <a:txBody>
                    <a:bodyPr>
                      <a:noAutofit/>
                    </a:bodyPr>
                    <a:lstStyle/>
                    <a:p>
                      <a:pPr algn="l"/>
                      <a:r>
                        <a:rPr sz="1050"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Endpoint</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Paper</a:t>
                      </a:r>
                    </a:p>
                  </a:txBody>
                  <a:tcPr marL="91440" marR="91440" marT="45720" marB="45720" anchor="ctr">
                    <a:solidFill>
                      <a:srgbClr val="102A43"/>
                    </a:solidFill>
                  </a:tcPr>
                </a:tc>
              </a:tr>
              <a:tr h="449580">
                <a:tc>
                  <a:txBody>
                    <a:bodyPr>
                      <a:noAutofit/>
                    </a:bodyPr>
                    <a:lstStyle/>
                    <a:p>
                      <a:pPr algn="l"/>
                      <a:r>
                        <a:rPr sz="1125" b="0">
                          <a:solidFill>
                            <a:srgbClr val="344054"/>
                          </a:solidFill>
                          <a:latin typeface="Microsoft YaHei"/>
                          <a:ea typeface="Microsoft YaHei"/>
                          <a:cs typeface="Microsoft YaHei"/>
                        </a:rPr>
                        <a:t>Manual 200 µs</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S(31)</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0.334</a:t>
                      </a:r>
                    </a:p>
                  </a:txBody>
                  <a:tcPr marL="91440" marR="91440" marT="45720" marB="45720" anchor="ctr">
                    <a:solidFill>
                      <a:srgbClr val="FFFFFF"/>
                    </a:solidFill>
                  </a:tcPr>
                </a:tc>
              </a:tr>
              <a:tr h="449580">
                <a:tc>
                  <a:txBody>
                    <a:bodyPr>
                      <a:noAutofit/>
                    </a:bodyPr>
                    <a:lstStyle/>
                    <a:p>
                      <a:pPr algn="l"/>
                      <a:r>
                        <a:rPr sz="1125" b="0">
                          <a:solidFill>
                            <a:srgbClr val="344054"/>
                          </a:solidFill>
                          <a:latin typeface="Microsoft YaHei"/>
                          <a:ea typeface="Microsoft YaHei"/>
                          <a:cs typeface="Microsoft YaHei"/>
                        </a:rPr>
                        <a:t>Manual 400 µs</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0.414</a:t>
                      </a:r>
                    </a:p>
                  </a:txBody>
                  <a:tcPr marL="91440" marR="91440" marT="45720" marB="45720" anchor="ctr">
                    <a:solidFill>
                      <a:srgbClr val="F8FAFC"/>
                    </a:solidFill>
                  </a:tcPr>
                </a:tc>
              </a:tr>
              <a:tr h="449580">
                <a:tc>
                  <a:txBody>
                    <a:bodyPr>
                      <a:noAutofit/>
                    </a:bodyPr>
                    <a:lstStyle/>
                    <a:p>
                      <a:pPr algn="l"/>
                      <a:r>
                        <a:rPr sz="1125" b="0">
                          <a:solidFill>
                            <a:srgbClr val="344054"/>
                          </a:solidFill>
                          <a:latin typeface="Microsoft YaHei"/>
                          <a:ea typeface="Microsoft YaHei"/>
                          <a:cs typeface="Microsoft YaHei"/>
                        </a:rPr>
                        <a:t>Manual 600 µs</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S(60)</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0.573</a:t>
                      </a:r>
                    </a:p>
                  </a:txBody>
                  <a:tcPr marL="91440" marR="91440" marT="45720" marB="45720" anchor="ctr">
                    <a:solidFill>
                      <a:srgbClr val="FFFFFF"/>
                    </a:solidFill>
                  </a:tcPr>
                </a:tc>
              </a:tr>
              <a:tr h="449580">
                <a:tc>
                  <a:txBody>
                    <a:bodyPr>
                      <a:noAutofit/>
                    </a:bodyPr>
                    <a:lstStyle/>
                    <a:p>
                      <a:pPr algn="l"/>
                      <a:r>
                        <a:rPr sz="1125" b="0">
                          <a:solidFill>
                            <a:srgbClr val="344054"/>
                          </a:solidFill>
                          <a:latin typeface="Microsoft YaHei"/>
                          <a:ea typeface="Microsoft YaHei"/>
                          <a:cs typeface="Microsoft YaHei"/>
                        </a:rPr>
                        <a:t>ML 400 µs</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0.663</a:t>
                      </a:r>
                    </a:p>
                  </a:txBody>
                  <a:tcPr marL="91440" marR="91440" marT="45720" marB="45720" anchor="ctr">
                    <a:solidFill>
                      <a:srgbClr val="F8FAFC"/>
                    </a:solidFill>
                  </a:tcPr>
                </a:tc>
              </a:tr>
            </a:tbl>
          </a:graphicData>
        </a:graphic>
      </p:graphicFrame>
      <p:sp>
        <p:nvSpPr>
          <p:cNvPr id="10" name="">
            <a:extLst xmlns:a="http://schemas.openxmlformats.org/drawingml/2006/main">
              <a:ext uri="{FF2B5EF4-FFF2-40B4-BE49-F238E27FC236}">
                <a16:creationId xmlns:a16="http://schemas.microsoft.com/office/drawing/2014/main" id="{A1C47FF6-C634-43F8-B88D-FFDC5DDE1F6D}"/>
              </a:ext>
            </a:extLst>
          </p:cNvPr>
          <p:cNvSpPr>
            <a:spLocks xmlns:a="http://schemas.openxmlformats.org/drawingml/2006/main" noGrp="1"/>
          </p:cNvSpPr>
          <p:nvPr/>
        </p:nvSpPr>
        <p:spPr>
          <a:xfrm xmlns:a="http://schemas.openxmlformats.org/drawingml/2006/main">
            <a:off x="7162800" y="4419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计算口径</a:t>
            </a:r>
          </a:p>
        </p:txBody>
      </p:sp>
      <p:sp>
        <p:nvSpPr>
          <p:cNvPr id="11" name="">
            <a:extLst xmlns:a="http://schemas.openxmlformats.org/drawingml/2006/main">
              <a:ext uri="{FF2B5EF4-FFF2-40B4-BE49-F238E27FC236}">
                <a16:creationId xmlns:a16="http://schemas.microsoft.com/office/drawing/2014/main" id="{096131F6-3845-40DB-B5F2-076A60B2998F}"/>
              </a:ext>
            </a:extLst>
          </p:cNvPr>
          <p:cNvSpPr>
            <a:spLocks xmlns:a="http://schemas.openxmlformats.org/drawingml/2006/main" noGrp="1"/>
          </p:cNvSpPr>
          <p:nvPr/>
        </p:nvSpPr>
        <p:spPr>
          <a:xfrm xmlns:a="http://schemas.openxmlformats.org/drawingml/2006/main">
            <a:off x="7162800" y="4743450"/>
            <a:ext cx="4114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S(n) 是完成至少 n 次单程转移后仍满足束缚条件的原子比例。200 µs 曲线只在 n≤31 可辨。</a:t>
            </a:r>
          </a:p>
        </p:txBody>
      </p:sp>
      <p:sp>
        <p:nvSpPr>
          <p:cNvPr id="12" name="">
            <a:extLst xmlns:a="http://schemas.openxmlformats.org/drawingml/2006/main">
              <a:ext uri="{FF2B5EF4-FFF2-40B4-BE49-F238E27FC236}">
                <a16:creationId xmlns:a16="http://schemas.microsoft.com/office/drawing/2014/main" id="{55D069D6-E42E-4157-8602-5C38084907DC}"/>
              </a:ext>
            </a:extLst>
          </p:cNvPr>
          <p:cNvSpPr>
            <a:spLocks xmlns:a="http://schemas.openxmlformats.org/drawingml/2006/main" noGrp="1"/>
          </p:cNvSpPr>
          <p:nvPr/>
        </p:nvSpPr>
        <p:spPr>
          <a:xfrm xmlns:a="http://schemas.openxmlformats.org/drawingml/2006/main">
            <a:off x="609600" y="5676900"/>
            <a:ext cx="10972800" cy="571500"/>
          </a:xfrm>
          <a:prstGeom xmlns:a="http://schemas.openxmlformats.org/drawingml/2006/main" prst="roundRect">
            <a:avLst>
              <a:gd name="adj" fmla="val 13333"/>
            </a:avLst>
          </a:prstGeom>
          <a:solidFill xmlns:a="http://schemas.openxmlformats.org/drawingml/2006/main">
            <a:srgbClr val="FEF3F2"/>
          </a:solidFill>
          <a:ln xmlns:a="http://schemas.openxmlformats.org/drawingml/2006/main" w="9525">
            <a:solidFill>
              <a:srgbClr val="FECDCA"/>
            </a:solidFill>
          </a:ln>
        </p:spPr>
      </p:sp>
      <p:sp>
        <p:nvSpPr>
          <p:cNvPr id="13" name="">
            <a:extLst xmlns:a="http://schemas.openxmlformats.org/drawingml/2006/main">
              <a:ext uri="{FF2B5EF4-FFF2-40B4-BE49-F238E27FC236}">
                <a16:creationId xmlns:a16="http://schemas.microsoft.com/office/drawing/2014/main" id="{AD87D75B-B177-48E5-B247-71E8DDEC280E}"/>
              </a:ext>
            </a:extLst>
          </p:cNvPr>
          <p:cNvSpPr>
            <a:spLocks xmlns:a="http://schemas.openxmlformats.org/drawingml/2006/main" noGrp="1"/>
          </p:cNvSpPr>
          <p:nvPr/>
        </p:nvSpPr>
        <p:spPr>
          <a:xfrm xmlns:a="http://schemas.openxmlformats.org/drawingml/2006/main">
            <a:off x="838200" y="5800725"/>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D92D20"/>
                </a:solidFill>
                <a:latin typeface="Microsoft YaHei"/>
                <a:ea typeface="Microsoft YaHei"/>
                <a:cs typeface="Microsoft YaHei"/>
              </a:defRPr>
            </a:pPr>
            <a:r>
              <a:rPr sz="1200" b="0">
                <a:solidFill>
                  <a:srgbClr val="D92D20"/>
                </a:solidFill>
                <a:latin typeface="Microsoft YaHei"/>
                <a:ea typeface="Microsoft YaHei"/>
                <a:cs typeface="Microsoft YaHei"/>
              </a:rPr>
              <a:t>验收标准：模拟曲线逐点落入论文数字化曲线 ±0.02。报告保留原始 CSV，并用稳定锚点生成单调参考线，避免把标记边缘像素解释成存活率振荡。</a:t>
            </a:r>
          </a:p>
        </p:txBody>
      </p:sp>
      <p:sp>
        <p:nvSpPr>
          <p:cNvPr id="14" name="">
            <a:extLst xmlns:a="http://schemas.openxmlformats.org/drawingml/2006/main">
              <a:ext uri="{FF2B5EF4-FFF2-40B4-BE49-F238E27FC236}">
                <a16:creationId xmlns:a16="http://schemas.microsoft.com/office/drawing/2014/main" id="{1F295353-C185-4E8B-B995-B638B656990C}"/>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5" name="">
            <a:extLst xmlns:a="http://schemas.openxmlformats.org/drawingml/2006/main">
              <a:ext uri="{FF2B5EF4-FFF2-40B4-BE49-F238E27FC236}">
                <a16:creationId xmlns:a16="http://schemas.microsoft.com/office/drawing/2014/main" id="{6C817A2B-A916-44D7-98A3-7AAB15F13C40}"/>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fig6d_parameters.md · fig6d_survival_digitized.csv · digitize_fig6d.py</a:t>
            </a:r>
          </a:p>
        </p:txBody>
      </p:sp>
      <p:sp>
        <p:nvSpPr>
          <p:cNvPr id="16" name="">
            <a:extLst xmlns:a="http://schemas.openxmlformats.org/drawingml/2006/main">
              <a:ext uri="{FF2B5EF4-FFF2-40B4-BE49-F238E27FC236}">
                <a16:creationId xmlns:a16="http://schemas.microsoft.com/office/drawing/2014/main" id="{2F74C9EE-43EE-44F3-8A04-53FD55F29D3F}"/>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03</a:t>
            </a:r>
          </a:p>
        </p:txBody>
      </p:sp>
    </p:spTree>
    <p:extLst>
      <p:ext uri="{BB962C8B-B14F-4D97-AF65-F5344CB8AC3E}">
        <p14:creationId xmlns:p14="http://schemas.microsoft.com/office/powerpoint/2010/main" val="314740247"/>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B63EF28-067B-4A50-A7D1-D8C032EFB67B}"/>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02</a:t>
            </a:r>
          </a:p>
        </p:txBody>
      </p:sp>
      <p:sp>
        <p:nvSpPr>
          <p:cNvPr id="2" name="">
            <a:extLst xmlns:a="http://schemas.openxmlformats.org/drawingml/2006/main">
              <a:ext uri="{FF2B5EF4-FFF2-40B4-BE49-F238E27FC236}">
                <a16:creationId xmlns:a16="http://schemas.microsoft.com/office/drawing/2014/main" id="{2B58F47C-D25F-455E-923F-9C27D1DFF076}"/>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Cs 原子与双高斯阱模型</a:t>
            </a:r>
          </a:p>
        </p:txBody>
      </p:sp>
      <p:sp>
        <p:nvSpPr>
          <p:cNvPr id="3" name="">
            <a:extLst xmlns:a="http://schemas.openxmlformats.org/drawingml/2006/main">
              <a:ext uri="{FF2B5EF4-FFF2-40B4-BE49-F238E27FC236}">
                <a16:creationId xmlns:a16="http://schemas.microsoft.com/office/drawing/2014/main" id="{12B6CFF5-029E-4DA1-B356-17BCB9C27442}"/>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CA7CEF29-6638-437C-A1CF-8574A8878EB2}"/>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本步计算任意时间和位置的势能 U(x,t)、力 F(x,t)，为后续轨迹积分提供输入</a:t>
            </a:r>
          </a:p>
        </p:txBody>
      </p:sp>
      <p:sp>
        <p:nvSpPr>
          <p:cNvPr id="5" name="">
            <a:extLst xmlns:a="http://schemas.openxmlformats.org/drawingml/2006/main">
              <a:ext uri="{FF2B5EF4-FFF2-40B4-BE49-F238E27FC236}">
                <a16:creationId xmlns:a16="http://schemas.microsoft.com/office/drawing/2014/main" id="{A5576C42-2E34-44D5-A08C-48079D7BA0A4}"/>
              </a:ext>
            </a:extLst>
          </p:cNvPr>
          <p:cNvSpPr>
            <a:spLocks xmlns:a="http://schemas.openxmlformats.org/drawingml/2006/main" noGrp="1"/>
          </p:cNvSpPr>
          <p:nvPr/>
        </p:nvSpPr>
        <p:spPr>
          <a:xfrm xmlns:a="http://schemas.openxmlformats.org/drawingml/2006/main">
            <a:off x="609600" y="1257300"/>
            <a:ext cx="4171950" cy="4248150"/>
          </a:xfrm>
          <a:prstGeom xmlns:a="http://schemas.openxmlformats.org/drawingml/2006/main" prst="roundRect">
            <a:avLst>
              <a:gd name="adj" fmla="val 1826"/>
            </a:avLst>
          </a:prstGeom>
          <a:solidFill xmlns:a="http://schemas.openxmlformats.org/drawingml/2006/main">
            <a:srgbClr val="FFFFFF"/>
          </a:solidFill>
          <a:ln xmlns:a="http://schemas.openxmlformats.org/drawingml/2006/main" w="9525">
            <a:solidFill>
              <a:srgbClr val="EAECF0"/>
            </a:solidFill>
          </a:ln>
        </p:spPr>
      </p:sp>
      <p:sp>
        <p:nvSpPr>
          <p:cNvPr id="6" name="">
            <a:extLst xmlns:a="http://schemas.openxmlformats.org/drawingml/2006/main">
              <a:ext uri="{FF2B5EF4-FFF2-40B4-BE49-F238E27FC236}">
                <a16:creationId xmlns:a16="http://schemas.microsoft.com/office/drawing/2014/main" id="{FE7CCE31-6B61-497D-946E-892C14064A9E}"/>
              </a:ext>
            </a:extLst>
          </p:cNvPr>
          <p:cNvSpPr>
            <a:spLocks xmlns:a="http://schemas.openxmlformats.org/drawingml/2006/main" noGrp="1"/>
          </p:cNvSpPr>
          <p:nvPr/>
        </p:nvSpPr>
        <p:spPr>
          <a:xfrm xmlns:a="http://schemas.openxmlformats.org/drawingml/2006/main">
            <a:off x="876300" y="15049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一维时变势</a:t>
            </a:r>
          </a:p>
        </p:txBody>
      </p:sp>
      <p:sp>
        <p:nvSpPr>
          <p:cNvPr id="7" name="">
            <a:extLst xmlns:a="http://schemas.openxmlformats.org/drawingml/2006/main">
              <a:ext uri="{FF2B5EF4-FFF2-40B4-BE49-F238E27FC236}">
                <a16:creationId xmlns:a16="http://schemas.microsoft.com/office/drawing/2014/main" id="{0DB8B522-FF6A-4E1F-A93E-0B6DA7FF22B8}"/>
              </a:ext>
            </a:extLst>
          </p:cNvPr>
          <p:cNvSpPr>
            <a:spLocks xmlns:a="http://schemas.openxmlformats.org/drawingml/2006/main" noGrp="1"/>
          </p:cNvSpPr>
          <p:nvPr/>
        </p:nvSpPr>
        <p:spPr>
          <a:xfrm xmlns:a="http://schemas.openxmlformats.org/drawingml/2006/main">
            <a:off x="876300" y="2038350"/>
            <a:ext cx="3638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1570EF"/>
                </a:solidFill>
                <a:latin typeface="Microsoft YaHei"/>
                <a:ea typeface="Microsoft YaHei"/>
                <a:cs typeface="Microsoft YaHei"/>
              </a:defRPr>
            </a:pPr>
            <a:r>
              <a:rPr sz="1650" b="1">
                <a:solidFill>
                  <a:srgbClr val="1570EF"/>
                </a:solidFill>
                <a:latin typeface="Microsoft YaHei"/>
                <a:ea typeface="Microsoft YaHei"/>
                <a:cs typeface="Microsoft YaHei"/>
              </a:rPr>
              <a:t>U(x,t) = −D(t) exp[−2(x−c(t))² / w²]</a:t>
            </a:r>
          </a:p>
        </p:txBody>
      </p:sp>
      <p:sp>
        <p:nvSpPr>
          <p:cNvPr id="8" name="">
            <a:extLst xmlns:a="http://schemas.openxmlformats.org/drawingml/2006/main">
              <a:ext uri="{FF2B5EF4-FFF2-40B4-BE49-F238E27FC236}">
                <a16:creationId xmlns:a16="http://schemas.microsoft.com/office/drawing/2014/main" id="{F6CB0917-526F-42DA-A700-EB477F939F82}"/>
              </a:ext>
            </a:extLst>
          </p:cNvPr>
          <p:cNvSpPr>
            <a:spLocks xmlns:a="http://schemas.openxmlformats.org/drawingml/2006/main" noGrp="1"/>
          </p:cNvSpPr>
          <p:nvPr/>
        </p:nvSpPr>
        <p:spPr>
          <a:xfrm xmlns:a="http://schemas.openxmlformats.org/drawingml/2006/main">
            <a:off x="876300" y="2705100"/>
            <a:ext cx="3638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E9384"/>
                </a:solidFill>
                <a:latin typeface="Microsoft YaHei"/>
                <a:ea typeface="Microsoft YaHei"/>
                <a:cs typeface="Microsoft YaHei"/>
              </a:defRPr>
            </a:pPr>
            <a:r>
              <a:rPr sz="1575" b="1">
                <a:solidFill>
                  <a:srgbClr val="0E9384"/>
                </a:solidFill>
                <a:latin typeface="Microsoft YaHei"/>
                <a:ea typeface="Microsoft YaHei"/>
                <a:cs typeface="Microsoft YaHei"/>
              </a:rPr>
              <a:t>F(x,t) = −∂U/∂x</a:t>
            </a:r>
          </a:p>
        </p:txBody>
      </p:sp>
      <p:sp>
        <p:nvSpPr>
          <p:cNvPr id="9" name="">
            <a:extLst xmlns:a="http://schemas.openxmlformats.org/drawingml/2006/main">
              <a:ext uri="{FF2B5EF4-FFF2-40B4-BE49-F238E27FC236}">
                <a16:creationId xmlns:a16="http://schemas.microsoft.com/office/drawing/2014/main" id="{EEA7CB6D-C736-4FBE-A1BB-512A01CC0541}"/>
              </a:ext>
            </a:extLst>
          </p:cNvPr>
          <p:cNvSpPr>
            <a:spLocks xmlns:a="http://schemas.openxmlformats.org/drawingml/2006/main" noGrp="1"/>
          </p:cNvSpPr>
          <p:nvPr/>
        </p:nvSpPr>
        <p:spPr>
          <a:xfrm xmlns:a="http://schemas.openxmlformats.org/drawingml/2006/main">
            <a:off x="876300" y="3352800"/>
            <a:ext cx="3638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SLM 势和 AOD 势在同一坐标轴上相加。SLM 固定在 x=0；AOD 的中心 c(t) 和深度 D(t) 随控制波形变化。</a:t>
            </a:r>
          </a:p>
        </p:txBody>
      </p:sp>
      <p:sp>
        <p:nvSpPr>
          <p:cNvPr id="10" name="">
            <a:extLst xmlns:a="http://schemas.openxmlformats.org/drawingml/2006/main">
              <a:ext uri="{FF2B5EF4-FFF2-40B4-BE49-F238E27FC236}">
                <a16:creationId xmlns:a16="http://schemas.microsoft.com/office/drawing/2014/main" id="{43F481A7-FCA9-4096-A0D3-180710254811}"/>
              </a:ext>
            </a:extLst>
          </p:cNvPr>
          <p:cNvSpPr>
            <a:spLocks xmlns:a="http://schemas.openxmlformats.org/drawingml/2006/main" noGrp="1"/>
          </p:cNvSpPr>
          <p:nvPr/>
        </p:nvSpPr>
        <p:spPr>
          <a:xfrm xmlns:a="http://schemas.openxmlformats.org/drawingml/2006/main">
            <a:off x="876300" y="4419600"/>
            <a:ext cx="133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模型输出</a:t>
            </a:r>
          </a:p>
        </p:txBody>
      </p:sp>
      <p:sp>
        <p:nvSpPr>
          <p:cNvPr id="11" name="">
            <a:extLst xmlns:a="http://schemas.openxmlformats.org/drawingml/2006/main">
              <a:ext uri="{FF2B5EF4-FFF2-40B4-BE49-F238E27FC236}">
                <a16:creationId xmlns:a16="http://schemas.microsoft.com/office/drawing/2014/main" id="{9B4DBC1A-1D7A-439D-A312-5A17A3C699C8}"/>
              </a:ext>
            </a:extLst>
          </p:cNvPr>
          <p:cNvSpPr>
            <a:spLocks xmlns:a="http://schemas.openxmlformats.org/drawingml/2006/main" noGrp="1"/>
          </p:cNvSpPr>
          <p:nvPr/>
        </p:nvSpPr>
        <p:spPr>
          <a:xfrm xmlns:a="http://schemas.openxmlformats.org/drawingml/2006/main">
            <a:off x="876300" y="4762500"/>
            <a:ext cx="3638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每个时间点的总势能、总力、AOD/SLM 单阱能量，以及后续束缚判定需要的参考阱深。</a:t>
            </a:r>
          </a:p>
        </p:txBody>
      </p:sp>
      <p:sp>
        <p:nvSpPr>
          <p:cNvPr id="12" name="">
            <a:extLst xmlns:a="http://schemas.openxmlformats.org/drawingml/2006/main">
              <a:ext uri="{FF2B5EF4-FFF2-40B4-BE49-F238E27FC236}">
                <a16:creationId xmlns:a16="http://schemas.microsoft.com/office/drawing/2014/main" id="{DA417DFF-37A4-4402-8AC8-D9324BBD2DDB}"/>
              </a:ext>
            </a:extLst>
          </p:cNvPr>
          <p:cNvSpPr>
            <a:spLocks xmlns:a="http://schemas.openxmlformats.org/drawingml/2006/main" noGrp="1"/>
          </p:cNvSpPr>
          <p:nvPr/>
        </p:nvSpPr>
        <p:spPr>
          <a:xfrm xmlns:a="http://schemas.openxmlformats.org/drawingml/2006/main">
            <a:off x="5086350" y="1257300"/>
            <a:ext cx="6496050" cy="4248150"/>
          </a:xfrm>
          <a:prstGeom xmlns:a="http://schemas.openxmlformats.org/drawingml/2006/main" prst="roundRect">
            <a:avLst>
              <a:gd name="adj" fmla="val 1794"/>
            </a:avLst>
          </a:prstGeom>
          <a:solidFill xmlns:a="http://schemas.openxmlformats.org/drawingml/2006/main">
            <a:srgbClr val="FFFFFF"/>
          </a:solidFill>
          <a:ln xmlns:a="http://schemas.openxmlformats.org/drawingml/2006/main" w="9525">
            <a:solidFill>
              <a:srgbClr val="EAECF0"/>
            </a:solidFill>
          </a:ln>
        </p:spPr>
      </p:sp>
      <p:sp>
        <p:nvSpPr>
          <p:cNvPr id="13" name="">
            <a:extLst xmlns:a="http://schemas.openxmlformats.org/drawingml/2006/main">
              <a:ext uri="{FF2B5EF4-FFF2-40B4-BE49-F238E27FC236}">
                <a16:creationId xmlns:a16="http://schemas.microsoft.com/office/drawing/2014/main" id="{B8931EE1-9D6B-4D1F-9F0E-66DB744D5A60}"/>
              </a:ext>
            </a:extLst>
          </p:cNvPr>
          <p:cNvSpPr>
            <a:spLocks xmlns:a="http://schemas.openxmlformats.org/drawingml/2006/main" noGrp="1"/>
          </p:cNvSpPr>
          <p:nvPr/>
        </p:nvSpPr>
        <p:spPr>
          <a:xfrm xmlns:a="http://schemas.openxmlformats.org/drawingml/2006/main">
            <a:off x="5353050" y="15049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固定物理输入</a:t>
            </a:r>
          </a:p>
        </p:txBody>
      </p:sp>
      <p:graphicFrame>
        <p:nvGraphicFramePr>
          <p:cNvPr id="33" name=""/>
          <p:cNvGraphicFramePr/>
          <p:nvPr/>
        </p:nvGraphicFramePr>
        <p:xfrm>
          <a:off xmlns:a="http://schemas.openxmlformats.org/drawingml/2006/main" x="5353050" y="1962150"/>
          <a:ext xmlns:a="http://schemas.openxmlformats.org/drawingml/2006/main" cx="5962650" cy="3067050"/>
        </p:xfrm>
        <a:graphic xmlns:a="http://schemas.openxmlformats.org/drawingml/2006/main">
          <a:graphicData uri="http://schemas.openxmlformats.org/drawingml/2006/table">
            <a:tbl>
              <a:tblPr/>
              <a:tblGrid>
                <a:gridCol w="1522379"/>
                <a:gridCol w="1268649"/>
                <a:gridCol w="1902973"/>
                <a:gridCol w="1268649"/>
              </a:tblGrid>
              <a:tr h="438150">
                <a:tc>
                  <a:txBody>
                    <a:bodyPr>
                      <a:noAutofit/>
                    </a:bodyPr>
                    <a:lstStyle/>
                    <a:p>
                      <a:pPr algn="l"/>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Role</a:t>
                      </a:r>
                    </a:p>
                  </a:txBody>
                  <a:tcPr marL="91440" marR="91440" marT="45720" marB="45720" anchor="ctr">
                    <a:solidFill>
                      <a:srgbClr val="102A43"/>
                    </a:solidFill>
                  </a:tcPr>
                </a:tc>
                <a:tc>
                  <a:txBody>
                    <a:bodyPr>
                      <a:noAutofit/>
                    </a:bodyPr>
                    <a:lstStyle/>
                    <a:p>
                      <a:pPr algn="ctr"/>
                      <a:r>
                        <a:rPr sz="1050" b="1">
                          <a:solidFill>
                            <a:srgbClr val="FFFFFF"/>
                          </a:solidFill>
                          <a:latin typeface="Microsoft YaHei"/>
                          <a:ea typeface="Microsoft YaHei"/>
                          <a:cs typeface="Microsoft YaHei"/>
                        </a:rPr>
                        <a:t>Source</a:t>
                      </a:r>
                    </a:p>
                  </a:txBody>
                  <a:tcPr marL="91440" marR="91440" marT="45720" marB="45720" anchor="ctr">
                    <a:solidFill>
                      <a:srgbClr val="102A43"/>
                    </a:solidFill>
                  </a:tcPr>
                </a:tc>
              </a:tr>
              <a:tr h="438150">
                <a:tc>
                  <a:txBody>
                    <a:bodyPr>
                      <a:noAutofit/>
                    </a:bodyPr>
                    <a:lstStyle/>
                    <a:p>
                      <a:pPr algn="l"/>
                      <a:r>
                        <a:rPr sz="1125" b="0">
                          <a:solidFill>
                            <a:srgbClr val="344054"/>
                          </a:solidFill>
                          <a:latin typeface="Microsoft YaHei"/>
                          <a:ea typeface="Microsoft YaHei"/>
                          <a:cs typeface="Microsoft YaHei"/>
                        </a:rPr>
                        <a:t>Atom</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Cs-133</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质量 m</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config</a:t>
                      </a:r>
                    </a:p>
                  </a:txBody>
                  <a:tcPr marL="91440" marR="91440" marT="45720" marB="45720" anchor="ctr">
                    <a:solidFill>
                      <a:srgbClr val="FFFFFF"/>
                    </a:solidFill>
                  </a:tcPr>
                </a:tc>
              </a:tr>
              <a:tr h="438150">
                <a:tc>
                  <a:txBody>
                    <a:bodyPr>
                      <a:noAutofit/>
                    </a:bodyPr>
                    <a:lstStyle/>
                    <a:p>
                      <a:pPr algn="l"/>
                      <a:r>
                        <a:rPr sz="1125" b="0">
                          <a:solidFill>
                            <a:srgbClr val="344054"/>
                          </a:solidFill>
                          <a:latin typeface="Microsoft YaHei"/>
                          <a:ea typeface="Microsoft YaHei"/>
                          <a:cs typeface="Microsoft YaHei"/>
                        </a:rPr>
                        <a:t>SLM depth</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140 µK</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最终束缚阱</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r h="438150">
                <a:tc>
                  <a:txBody>
                    <a:bodyPr>
                      <a:noAutofit/>
                    </a:bodyPr>
                    <a:lstStyle/>
                    <a:p>
                      <a:pPr algn="l"/>
                      <a:r>
                        <a:rPr sz="1125" b="0">
                          <a:solidFill>
                            <a:srgbClr val="344054"/>
                          </a:solidFill>
                          <a:latin typeface="Microsoft YaHei"/>
                          <a:ea typeface="Microsoft YaHei"/>
                          <a:cs typeface="Microsoft YaHei"/>
                        </a:rPr>
                        <a:t>AOD depth</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280 µK</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移动束缚阱</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FFFFF"/>
                    </a:solidFill>
                  </a:tcPr>
                </a:tc>
              </a:tr>
              <a:tr h="438150">
                <a:tc>
                  <a:txBody>
                    <a:bodyPr>
                      <a:noAutofit/>
                    </a:bodyPr>
                    <a:lstStyle/>
                    <a:p>
                      <a:pPr algn="l"/>
                      <a:r>
                        <a:rPr sz="1125" b="0">
                          <a:solidFill>
                            <a:srgbClr val="344054"/>
                          </a:solidFill>
                          <a:latin typeface="Microsoft YaHei"/>
                          <a:ea typeface="Microsoft YaHei"/>
                          <a:cs typeface="Microsoft YaHei"/>
                        </a:rPr>
                        <a:t>SLM waist</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1.17 µm</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横向尺度 w</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r h="438150">
                <a:tc>
                  <a:txBody>
                    <a:bodyPr>
                      <a:noAutofit/>
                    </a:bodyPr>
                    <a:lstStyle/>
                    <a:p>
                      <a:pPr algn="l"/>
                      <a:r>
                        <a:rPr sz="1125" b="0">
                          <a:solidFill>
                            <a:srgbClr val="344054"/>
                          </a:solidFill>
                          <a:latin typeface="Microsoft YaHei"/>
                          <a:ea typeface="Microsoft YaHei"/>
                          <a:cs typeface="Microsoft YaHei"/>
                        </a:rPr>
                        <a:t>AOD waist</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1.17 µm</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当前取值</a:t>
                      </a:r>
                    </a:p>
                  </a:txBody>
                  <a:tcPr marL="91440" marR="91440" marT="45720" marB="45720" anchor="ctr">
                    <a:solidFill>
                      <a:srgbClr val="FFFFFF"/>
                    </a:solidFill>
                  </a:tcPr>
                </a:tc>
                <a:tc>
                  <a:txBody>
                    <a:bodyPr>
                      <a:noAutofit/>
                    </a:bodyPr>
                    <a:lstStyle/>
                    <a:p>
                      <a:pPr algn="ctr"/>
                      <a:r>
                        <a:rPr sz="1125"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38150">
                <a:tc>
                  <a:txBody>
                    <a:bodyPr>
                      <a:noAutofit/>
                    </a:bodyPr>
                    <a:lstStyle/>
                    <a:p>
                      <a:pPr algn="l"/>
                      <a:r>
                        <a:rPr sz="1125" b="0">
                          <a:solidFill>
                            <a:srgbClr val="344054"/>
                          </a:solidFill>
                          <a:latin typeface="Microsoft YaHei"/>
                          <a:ea typeface="Microsoft YaHei"/>
                          <a:cs typeface="Microsoft YaHei"/>
                        </a:rPr>
                        <a:t>Separation</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2.4 µm</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中心位移</a:t>
                      </a:r>
                    </a:p>
                  </a:txBody>
                  <a:tcPr marL="91440" marR="91440" marT="45720" marB="45720" anchor="ctr">
                    <a:solidFill>
                      <a:srgbClr val="F8FAFC"/>
                    </a:solidFill>
                  </a:tcPr>
                </a:tc>
                <a:tc>
                  <a:txBody>
                    <a:bodyPr>
                      <a:noAutofit/>
                    </a:bodyPr>
                    <a:lstStyle/>
                    <a:p>
                      <a:pPr algn="ctr"/>
                      <a:r>
                        <a:rPr sz="1125" b="0">
                          <a:solidFill>
                            <a:srgbClr val="344054"/>
                          </a:solidFill>
                          <a:latin typeface="Microsoft YaHei"/>
                          <a:ea typeface="Microsoft YaHei"/>
                          <a:cs typeface="Microsoft YaHei"/>
                        </a:rPr>
                        <a:t>paper</a:t>
                      </a:r>
                    </a:p>
                  </a:txBody>
                  <a:tcPr marL="91440" marR="91440" marT="45720" marB="45720" anchor="ctr">
                    <a:solidFill>
                      <a:srgbClr val="F8FAFC"/>
                    </a:solidFill>
                  </a:tcPr>
                </a:tc>
              </a:tr>
            </a:tbl>
          </a:graphicData>
        </a:graphic>
      </p:graphicFrame>
      <p:sp>
        <p:nvSpPr>
          <p:cNvPr id="15" name="">
            <a:extLst xmlns:a="http://schemas.openxmlformats.org/drawingml/2006/main">
              <a:ext uri="{FF2B5EF4-FFF2-40B4-BE49-F238E27FC236}">
                <a16:creationId xmlns:a16="http://schemas.microsoft.com/office/drawing/2014/main" id="{7EA2385B-2F46-47A5-B411-958E114CDE61}"/>
              </a:ext>
            </a:extLst>
          </p:cNvPr>
          <p:cNvSpPr>
            <a:spLocks xmlns:a="http://schemas.openxmlformats.org/drawingml/2006/main" noGrp="1"/>
          </p:cNvSpPr>
          <p:nvPr/>
        </p:nvSpPr>
        <p:spPr>
          <a:xfrm xmlns:a="http://schemas.openxmlformats.org/drawingml/2006/main">
            <a:off x="609600" y="5715000"/>
            <a:ext cx="10972800" cy="533400"/>
          </a:xfrm>
          <a:prstGeom xmlns:a="http://schemas.openxmlformats.org/drawingml/2006/main" prst="roundRect">
            <a:avLst>
              <a:gd name="adj" fmla="val 14286"/>
            </a:avLst>
          </a:prstGeom>
          <a:solidFill xmlns:a="http://schemas.openxmlformats.org/drawingml/2006/main">
            <a:srgbClr val="FFF6ED"/>
          </a:solidFill>
          <a:ln xmlns:a="http://schemas.openxmlformats.org/drawingml/2006/main" w="9525">
            <a:solidFill>
              <a:srgbClr val="FEDF89"/>
            </a:solidFill>
          </a:ln>
        </p:spPr>
      </p:sp>
      <p:sp>
        <p:nvSpPr>
          <p:cNvPr id="16" name="">
            <a:extLst xmlns:a="http://schemas.openxmlformats.org/drawingml/2006/main">
              <a:ext uri="{FF2B5EF4-FFF2-40B4-BE49-F238E27FC236}">
                <a16:creationId xmlns:a16="http://schemas.microsoft.com/office/drawing/2014/main" id="{55DBE209-E1E5-4C54-A751-F3730A474CA5}"/>
              </a:ext>
            </a:extLst>
          </p:cNvPr>
          <p:cNvSpPr>
            <a:spLocks xmlns:a="http://schemas.openxmlformats.org/drawingml/2006/main" noGrp="1"/>
          </p:cNvSpPr>
          <p:nvPr/>
        </p:nvSpPr>
        <p:spPr>
          <a:xfrm xmlns:a="http://schemas.openxmlformats.org/drawingml/2006/main">
            <a:off x="838200" y="5838825"/>
            <a:ext cx="10515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F79009"/>
                </a:solidFill>
                <a:latin typeface="Microsoft YaHei"/>
                <a:ea typeface="Microsoft YaHei"/>
                <a:cs typeface="Microsoft YaHei"/>
              </a:defRPr>
            </a:pPr>
            <a:r>
              <a:rPr sz="1200" b="0">
                <a:solidFill>
                  <a:srgbClr val="F79009"/>
                </a:solidFill>
                <a:latin typeface="Microsoft YaHei"/>
                <a:ea typeface="Microsoft YaHei"/>
                <a:cs typeface="Microsoft YaHei"/>
              </a:rPr>
              <a:t>边界：Fig. 6d 主比较只使用这一维理想高斯势。仓库中的 2D、3D 和量子模块没有自动并入本计算。</a:t>
            </a:r>
          </a:p>
        </p:txBody>
      </p:sp>
      <p:sp>
        <p:nvSpPr>
          <p:cNvPr id="17" name="">
            <a:extLst xmlns:a="http://schemas.openxmlformats.org/drawingml/2006/main">
              <a:ext uri="{FF2B5EF4-FFF2-40B4-BE49-F238E27FC236}">
                <a16:creationId xmlns:a16="http://schemas.microsoft.com/office/drawing/2014/main" id="{A18AAD89-C702-49A8-B187-81A87FF1AA29}"/>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8" name="">
            <a:extLst xmlns:a="http://schemas.openxmlformats.org/drawingml/2006/main">
              <a:ext uri="{FF2B5EF4-FFF2-40B4-BE49-F238E27FC236}">
                <a16:creationId xmlns:a16="http://schemas.microsoft.com/office/drawing/2014/main" id="{50961301-4B48-4761-B071-B51894D237AF}"/>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level2c_pickup_survival.yaml · gaussian potential implementation</a:t>
            </a:r>
          </a:p>
        </p:txBody>
      </p:sp>
      <p:sp>
        <p:nvSpPr>
          <p:cNvPr id="19" name="">
            <a:extLst xmlns:a="http://schemas.openxmlformats.org/drawingml/2006/main">
              <a:ext uri="{FF2B5EF4-FFF2-40B4-BE49-F238E27FC236}">
                <a16:creationId xmlns:a16="http://schemas.microsoft.com/office/drawing/2014/main" id="{5E54CC41-A2DE-4226-8FAF-2EDC8A4CE920}"/>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04</a:t>
            </a:r>
          </a:p>
        </p:txBody>
      </p:sp>
    </p:spTree>
    <p:extLst>
      <p:ext uri="{BB962C8B-B14F-4D97-AF65-F5344CB8AC3E}">
        <p14:creationId xmlns:p14="http://schemas.microsoft.com/office/powerpoint/2010/main" val="212384772"/>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E49C4DA-8B7E-4C20-A5C2-53AFB11025E3}"/>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03</a:t>
            </a:r>
          </a:p>
        </p:txBody>
      </p:sp>
      <p:sp>
        <p:nvSpPr>
          <p:cNvPr id="2" name="">
            <a:extLst xmlns:a="http://schemas.openxmlformats.org/drawingml/2006/main">
              <a:ext uri="{FF2B5EF4-FFF2-40B4-BE49-F238E27FC236}">
                <a16:creationId xmlns:a16="http://schemas.microsoft.com/office/drawing/2014/main" id="{9C45561C-7527-4E51-8C10-95EA36E81B8A}"/>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初态采样、位点散布与平均加热</a:t>
            </a:r>
          </a:p>
        </p:txBody>
      </p:sp>
      <p:sp>
        <p:nvSpPr>
          <p:cNvPr id="3" name="">
            <a:extLst xmlns:a="http://schemas.openxmlformats.org/drawingml/2006/main">
              <a:ext uri="{FF2B5EF4-FFF2-40B4-BE49-F238E27FC236}">
                <a16:creationId xmlns:a16="http://schemas.microsoft.com/office/drawing/2014/main" id="{663A3210-C667-4A8B-B3FA-5783B48F7441}"/>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1AAB66E6-5B6F-4496-A5E8-643453CA1B55}"/>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本步分别说明参数的物理意义、抽样频率和它在代码中的具体作用</a:t>
            </a:r>
          </a:p>
        </p:txBody>
      </p:sp>
      <p:graphicFrame>
        <p:nvGraphicFramePr>
          <p:cNvPr id="19" name=""/>
          <p:cNvGraphicFramePr/>
          <p:nvPr/>
        </p:nvGraphicFramePr>
        <p:xfrm>
          <a:off xmlns:a="http://schemas.openxmlformats.org/drawingml/2006/main" x="609600" y="1257300"/>
          <a:ext xmlns:a="http://schemas.openxmlformats.org/drawingml/2006/main" cx="10972800" cy="3848100"/>
        </p:xfrm>
        <a:graphic xmlns:a="http://schemas.openxmlformats.org/drawingml/2006/main">
          <a:graphicData uri="http://schemas.openxmlformats.org/drawingml/2006/table">
            <a:tbl>
              <a:tblPr/>
              <a:tblGrid>
                <a:gridCol w="1774046"/>
                <a:gridCol w="1248402"/>
                <a:gridCol w="2825332"/>
                <a:gridCol w="3745207"/>
                <a:gridCol w="1379813"/>
              </a:tblGrid>
              <a:tr h="481013">
                <a:tc>
                  <a:txBody>
                    <a:bodyPr>
                      <a:noAutofit/>
                    </a:bodyPr>
                    <a:lstStyle/>
                    <a:p>
                      <a:pPr algn="l"/>
                      <a:r>
                        <a:rPr sz="975" b="1">
                          <a:solidFill>
                            <a:srgbClr val="FFFFFF"/>
                          </a:solidFill>
                          <a:latin typeface="Microsoft YaHei"/>
                          <a:ea typeface="Microsoft YaHei"/>
                          <a:cs typeface="Microsoft YaHei"/>
                        </a:rPr>
                        <a:t>参数</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Baseline</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参数意义</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代码中的具体处理</a:t>
                      </a:r>
                    </a:p>
                  </a:txBody>
                  <a:tcPr marL="91440" marR="91440" marT="45720" marB="45720" anchor="ctr">
                    <a:solidFill>
                      <a:srgbClr val="102A43"/>
                    </a:solidFill>
                  </a:tcPr>
                </a:tc>
                <a:tc>
                  <a:txBody>
                    <a:bodyPr>
                      <a:noAutofit/>
                    </a:bodyPr>
                    <a:lstStyle/>
                    <a:p>
                      <a:pPr algn="l"/>
                      <a:r>
                        <a:rPr sz="975" b="1">
                          <a:solidFill>
                            <a:srgbClr val="FFFFFF"/>
                          </a:solidFill>
                          <a:latin typeface="Microsoft YaHei"/>
                          <a:ea typeface="Microsoft YaHei"/>
                          <a:cs typeface="Microsoft YaHei"/>
                        </a:rPr>
                        <a:t>来源</a:t>
                      </a:r>
                    </a:p>
                  </a:txBody>
                  <a:tcPr marL="91440" marR="91440" marT="45720" marB="45720" anchor="ctr">
                    <a:solidFill>
                      <a:srgbClr val="102A43"/>
                    </a:solidFill>
                  </a:tcPr>
                </a:tc>
              </a:tr>
              <a:tr h="481013">
                <a:tc>
                  <a:txBody>
                    <a:bodyPr>
                      <a:noAutofit/>
                    </a:bodyPr>
                    <a:lstStyle/>
                    <a:p>
                      <a:pPr algn="l"/>
                      <a:r>
                        <a:rPr sz="938" b="0">
                          <a:solidFill>
                            <a:srgbClr val="344054"/>
                          </a:solidFill>
                          <a:latin typeface="Microsoft YaHei"/>
                          <a:ea typeface="Microsoft YaHei"/>
                          <a:cs typeface="Microsoft YaHei"/>
                        </a:rPr>
                        <a:t>初始温度 T</a:t>
                      </a:r>
                    </a:p>
                  </a:txBody>
                  <a:tcPr marL="91440" marR="91440" marT="45720" marB="45720" anchor="ctr">
                    <a:solidFill>
                      <a:srgbClr val="EFF8FF"/>
                    </a:solidFill>
                  </a:tcPr>
                </a:tc>
                <a:tc>
                  <a:txBody>
                    <a:bodyPr>
                      <a:noAutofit/>
                    </a:bodyPr>
                    <a:lstStyle/>
                    <a:p>
                      <a:pPr algn="l"/>
                      <a:r>
                        <a:rPr sz="938" b="0">
                          <a:solidFill>
                            <a:srgbClr val="344054"/>
                          </a:solidFill>
                          <a:latin typeface="Microsoft YaHei"/>
                          <a:ea typeface="Microsoft YaHei"/>
                          <a:cs typeface="Microsoft YaHei"/>
                        </a:rPr>
                        <a:t>5 µK</a:t>
                      </a:r>
                    </a:p>
                  </a:txBody>
                  <a:tcPr marL="91440" marR="91440" marT="45720" marB="45720" anchor="ctr">
                    <a:solidFill>
                      <a:srgbClr val="EFF8FF"/>
                    </a:solidFill>
                  </a:tcPr>
                </a:tc>
                <a:tc>
                  <a:txBody>
                    <a:bodyPr>
                      <a:noAutofit/>
                    </a:bodyPr>
                    <a:lstStyle/>
                    <a:p>
                      <a:pPr algn="l"/>
                      <a:r>
                        <a:rPr sz="938" b="0">
                          <a:solidFill>
                            <a:srgbClr val="344054"/>
                          </a:solidFill>
                          <a:latin typeface="Microsoft YaHei"/>
                          <a:ea typeface="Microsoft YaHei"/>
                          <a:cs typeface="Microsoft YaHei"/>
                        </a:rPr>
                        <a:t>初始系综的热运动能量尺度</a:t>
                      </a:r>
                    </a:p>
                  </a:txBody>
                  <a:tcPr marL="91440" marR="91440" marT="45720" marB="45720" anchor="ctr">
                    <a:solidFill>
                      <a:srgbClr val="EFF8FF"/>
                    </a:solidFill>
                  </a:tcPr>
                </a:tc>
                <a:tc>
                  <a:txBody>
                    <a:bodyPr>
                      <a:noAutofit/>
                    </a:bodyPr>
                    <a:lstStyle/>
                    <a:p>
                      <a:pPr algn="l"/>
                      <a:r>
                        <a:rPr sz="938" b="0">
                          <a:solidFill>
                            <a:srgbClr val="344054"/>
                          </a:solidFill>
                          <a:latin typeface="Microsoft YaHei"/>
                          <a:ea typeface="Microsoft YaHei"/>
                          <a:cs typeface="Microsoft YaHei"/>
                        </a:rPr>
                        <a:t>只在 t=0 采样 x、v，E₀&lt;0 才接受</a:t>
                      </a:r>
                    </a:p>
                  </a:txBody>
                  <a:tcPr marL="91440" marR="91440" marT="45720" marB="45720" anchor="ctr">
                    <a:solidFill>
                      <a:srgbClr val="EFF8FF"/>
                    </a:solidFill>
                  </a:tcPr>
                </a:tc>
                <a:tc>
                  <a:txBody>
                    <a:bodyPr>
                      <a:noAutofit/>
                    </a:bodyPr>
                    <a:lstStyle/>
                    <a:p>
                      <a:pPr algn="l"/>
                      <a:r>
                        <a:rPr sz="938" b="0">
                          <a:solidFill>
                            <a:srgbClr val="344054"/>
                          </a:solidFill>
                          <a:latin typeface="Microsoft YaHei"/>
                          <a:ea typeface="Microsoft YaHei"/>
                          <a:cs typeface="Microsoft YaHei"/>
                        </a:rPr>
                        <a:t>未标定假设</a:t>
                      </a:r>
                    </a:p>
                  </a:txBody>
                  <a:tcPr marL="91440" marR="91440" marT="45720" marB="45720" anchor="ctr">
                    <a:solidFill>
                      <a:srgbClr val="EFF8FF"/>
                    </a:solidFill>
                  </a:tcPr>
                </a:tc>
              </a:tr>
              <a:tr h="481013">
                <a:tc>
                  <a:txBody>
                    <a:bodyPr>
                      <a:noAutofit/>
                    </a:bodyPr>
                    <a:lstStyle/>
                    <a:p>
                      <a:pPr algn="l"/>
                      <a:r>
                        <a:rPr sz="938" b="0">
                          <a:solidFill>
                            <a:srgbClr val="344054"/>
                          </a:solidFill>
                          <a:latin typeface="Microsoft YaHei"/>
                          <a:ea typeface="Microsoft YaHei"/>
                          <a:cs typeface="Microsoft YaHei"/>
                        </a:rPr>
                        <a:t>静态对准 σalign</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0.05 µm</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AOD–SLM 准静态中心偏差的标准差</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每个 shot 抽一次，60 次转移保持不变</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assumed</a:t>
                      </a:r>
                    </a:p>
                  </a:txBody>
                  <a:tcPr marL="91440" marR="91440" marT="45720" marB="45720" anchor="ctr">
                    <a:solidFill>
                      <a:srgbClr val="F8FAFC"/>
                    </a:solidFill>
                  </a:tcPr>
                </a:tc>
              </a:tr>
              <a:tr h="481013">
                <a:tc>
                  <a:txBody>
                    <a:bodyPr>
                      <a:noAutofit/>
                    </a:bodyPr>
                    <a:lstStyle/>
                    <a:p>
                      <a:pPr algn="l"/>
                      <a:r>
                        <a:rPr sz="938" b="0">
                          <a:solidFill>
                            <a:srgbClr val="344054"/>
                          </a:solidFill>
                          <a:latin typeface="Microsoft YaHei"/>
                          <a:ea typeface="Microsoft YaHei"/>
                          <a:cs typeface="Microsoft YaHei"/>
                        </a:rPr>
                        <a:t>分段抖动 σjitter</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0.01 µm</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各阶段 AOD 中心随机跳变的尺度</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pickup、wait、drop-off 各重抽一次，段内固定</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81013">
                <a:tc>
                  <a:txBody>
                    <a:bodyPr>
                      <a:noAutofit/>
                    </a:bodyPr>
                    <a:lstStyle/>
                    <a:p>
                      <a:pPr algn="l"/>
                      <a:r>
                        <a:rPr sz="938" b="0">
                          <a:solidFill>
                            <a:srgbClr val="344054"/>
                          </a:solidFill>
                          <a:latin typeface="Microsoft YaHei"/>
                          <a:ea typeface="Microsoft YaHei"/>
                          <a:cs typeface="Microsoft YaHei"/>
                        </a:rPr>
                        <a:t>SLM 阱深 σrel</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11.4%</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SLM 位点间阱深的相对标准差</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每个 shot 生成 DSLM 乘性因子，全程固定</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论文位点散布</a:t>
                      </a:r>
                    </a:p>
                  </a:txBody>
                  <a:tcPr marL="91440" marR="91440" marT="45720" marB="45720" anchor="ctr">
                    <a:solidFill>
                      <a:srgbClr val="F8FAFC"/>
                    </a:solidFill>
                  </a:tcPr>
                </a:tc>
              </a:tr>
              <a:tr h="481013">
                <a:tc>
                  <a:txBody>
                    <a:bodyPr>
                      <a:noAutofit/>
                    </a:bodyPr>
                    <a:lstStyle/>
                    <a:p>
                      <a:pPr algn="l"/>
                      <a:r>
                        <a:rPr sz="938" b="0">
                          <a:solidFill>
                            <a:srgbClr val="344054"/>
                          </a:solidFill>
                          <a:latin typeface="Microsoft YaHei"/>
                          <a:ea typeface="Microsoft YaHei"/>
                          <a:cs typeface="Microsoft YaHei"/>
                        </a:rPr>
                        <a:t>AOD 深度 / 束腰 σrel</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2% / 2%</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AOD 阱深与束腰标定误差的相对标准差</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两个乘性因子每个 shot 各抽一次，全程固定</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assumed</a:t>
                      </a:r>
                    </a:p>
                  </a:txBody>
                  <a:tcPr marL="91440" marR="91440" marT="45720" marB="45720" anchor="ctr">
                    <a:solidFill>
                      <a:srgbClr val="FFFFFF"/>
                    </a:solidFill>
                  </a:tcPr>
                </a:tc>
              </a:tr>
              <a:tr h="481013">
                <a:tc>
                  <a:txBody>
                    <a:bodyPr>
                      <a:noAutofit/>
                    </a:bodyPr>
                    <a:lstStyle/>
                    <a:p>
                      <a:pPr algn="l"/>
                      <a:r>
                        <a:rPr sz="938"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1×10⁻⁸ Hz⁻¹</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激光相对强度噪声的功率谱密度</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按参考频率换算为平均参量加热，不生成随机时序</a:t>
                      </a:r>
                    </a:p>
                  </a:txBody>
                  <a:tcPr marL="91440" marR="91440" marT="45720" marB="45720" anchor="ctr">
                    <a:solidFill>
                      <a:srgbClr val="F8FAFC"/>
                    </a:solidFill>
                  </a:tcPr>
                </a:tc>
                <a:tc>
                  <a:txBody>
                    <a:bodyPr>
                      <a:noAutofit/>
                    </a:bodyPr>
                    <a:lstStyle/>
                    <a:p>
                      <a:pPr algn="l"/>
                      <a:r>
                        <a:rPr sz="938" b="0">
                          <a:solidFill>
                            <a:srgbClr val="344054"/>
                          </a:solidFill>
                          <a:latin typeface="Microsoft YaHei"/>
                          <a:ea typeface="Microsoft YaHei"/>
                          <a:cs typeface="Microsoft YaHei"/>
                        </a:rPr>
                        <a:t>assumed</a:t>
                      </a:r>
                    </a:p>
                  </a:txBody>
                  <a:tcPr marL="91440" marR="91440" marT="45720" marB="45720" anchor="ctr">
                    <a:solidFill>
                      <a:srgbClr val="F8FAFC"/>
                    </a:solidFill>
                  </a:tcPr>
                </a:tc>
              </a:tr>
              <a:tr h="481013">
                <a:tc>
                  <a:txBody>
                    <a:bodyPr>
                      <a:noAutofit/>
                    </a:bodyPr>
                    <a:lstStyle/>
                    <a:p>
                      <a:pPr algn="l"/>
                      <a:r>
                        <a:rPr sz="938" b="0">
                          <a:solidFill>
                            <a:srgbClr val="344054"/>
                          </a:solidFill>
                          <a:latin typeface="Microsoft YaHei"/>
                          <a:ea typeface="Microsoft YaHei"/>
                          <a:cs typeface="Microsoft YaHei"/>
                        </a:rPr>
                        <a:t>Recoil / pointing</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4.23 s⁻¹ /</a:t>
                      </a:r>
                    </a:p>
                    <a:p>
                      <a:pPr algn="l"/>
                      <a:r>
                        <a:rPr sz="938" b="0">
                          <a:solidFill>
                            <a:srgbClr val="344054"/>
                          </a:solidFill>
                          <a:latin typeface="Microsoft YaHei"/>
                          <a:ea typeface="Microsoft YaHei"/>
                          <a:cs typeface="Microsoft YaHei"/>
                        </a:rPr>
                        <a:t>1 pm² Hz⁻¹</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光子反冲率与光束位置噪声 PSD</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每个 dt 换算并注入平均能量</a:t>
                      </a:r>
                    </a:p>
                  </a:txBody>
                  <a:tcPr marL="91440" marR="91440" marT="45720" marB="45720" anchor="ctr">
                    <a:solidFill>
                      <a:srgbClr val="FFFFFF"/>
                    </a:solidFill>
                  </a:tcPr>
                </a:tc>
                <a:tc>
                  <a:txBody>
                    <a:bodyPr>
                      <a:noAutofit/>
                    </a:bodyPr>
                    <a:lstStyle/>
                    <a:p>
                      <a:pPr algn="l"/>
                      <a:r>
                        <a:rPr sz="938" b="0">
                          <a:solidFill>
                            <a:srgbClr val="344054"/>
                          </a:solidFill>
                          <a:latin typeface="Microsoft YaHei"/>
                          <a:ea typeface="Microsoft YaHei"/>
                          <a:cs typeface="Microsoft YaHei"/>
                        </a:rPr>
                        <a:t>模型 / 假设</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495A442-6DE0-4AB6-93F7-4AF0A5B767C0}"/>
              </a:ext>
            </a:extLst>
          </p:cNvPr>
          <p:cNvSpPr>
            <a:spLocks xmlns:a="http://schemas.openxmlformats.org/drawingml/2006/main" noGrp="1"/>
          </p:cNvSpPr>
          <p:nvPr/>
        </p:nvSpPr>
        <p:spPr>
          <a:xfrm xmlns:a="http://schemas.openxmlformats.org/drawingml/2006/main">
            <a:off x="609600" y="5162550"/>
            <a:ext cx="5257800" cy="1066800"/>
          </a:xfrm>
          <a:prstGeom xmlns:a="http://schemas.openxmlformats.org/drawingml/2006/main" prst="roundRect">
            <a:avLst>
              <a:gd name="adj" fmla="val 7143"/>
            </a:avLst>
          </a:prstGeom>
          <a:solidFill xmlns:a="http://schemas.openxmlformats.org/drawingml/2006/main">
            <a:srgbClr val="EFF8FF"/>
          </a:solidFill>
          <a:ln xmlns:a="http://schemas.openxmlformats.org/drawingml/2006/main" w="9525">
            <a:solidFill>
              <a:srgbClr val="B2DDFF"/>
            </a:solidFill>
          </a:ln>
        </p:spPr>
      </p:sp>
      <p:sp>
        <p:nvSpPr>
          <p:cNvPr id="7" name="">
            <a:extLst xmlns:a="http://schemas.openxmlformats.org/drawingml/2006/main">
              <a:ext uri="{FF2B5EF4-FFF2-40B4-BE49-F238E27FC236}">
                <a16:creationId xmlns:a16="http://schemas.microsoft.com/office/drawing/2014/main" id="{5D0887BA-622F-4267-9447-9ACC468D9981}"/>
              </a:ext>
            </a:extLst>
          </p:cNvPr>
          <p:cNvSpPr>
            <a:spLocks xmlns:a="http://schemas.openxmlformats.org/drawingml/2006/main" noGrp="1"/>
          </p:cNvSpPr>
          <p:nvPr/>
        </p:nvSpPr>
        <p:spPr>
          <a:xfrm xmlns:a="http://schemas.openxmlformats.org/drawingml/2006/main">
            <a:off x="838200" y="53340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70EF"/>
                </a:solidFill>
                <a:latin typeface="Microsoft YaHei"/>
                <a:ea typeface="Microsoft YaHei"/>
                <a:cs typeface="Microsoft YaHei"/>
              </a:defRPr>
            </a:pPr>
            <a:r>
              <a:rPr sz="1350" b="1">
                <a:solidFill>
                  <a:srgbClr val="1570EF"/>
                </a:solidFill>
                <a:latin typeface="Microsoft YaHei"/>
                <a:ea typeface="Microsoft YaHei"/>
                <a:cs typeface="Microsoft YaHei"/>
              </a:rPr>
              <a:t>σ 如何理解</a:t>
            </a:r>
          </a:p>
        </p:txBody>
      </p:sp>
      <p:sp>
        <p:nvSpPr>
          <p:cNvPr id="8" name="">
            <a:extLst xmlns:a="http://schemas.openxmlformats.org/drawingml/2006/main">
              <a:ext uri="{FF2B5EF4-FFF2-40B4-BE49-F238E27FC236}">
                <a16:creationId xmlns:a16="http://schemas.microsoft.com/office/drawing/2014/main" id="{3FDB9CAB-347D-4F7B-AE14-127D4DEB30F0}"/>
              </a:ext>
            </a:extLst>
          </p:cNvPr>
          <p:cNvSpPr>
            <a:spLocks xmlns:a="http://schemas.openxmlformats.org/drawingml/2006/main" noGrp="1"/>
          </p:cNvSpPr>
          <p:nvPr/>
        </p:nvSpPr>
        <p:spPr>
          <a:xfrm xmlns:a="http://schemas.openxmlformats.org/drawingml/2006/main">
            <a:off x="838200" y="56578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88" b="0">
                <a:solidFill>
                  <a:srgbClr val="344054"/>
                </a:solidFill>
                <a:latin typeface="Microsoft YaHei"/>
                <a:ea typeface="Microsoft YaHei"/>
                <a:cs typeface="Microsoft YaHei"/>
              </a:defRPr>
            </a:pPr>
            <a:r>
              <a:rPr sz="1088" b="0">
                <a:solidFill>
                  <a:srgbClr val="344054"/>
                </a:solidFill>
                <a:latin typeface="Microsoft YaHei"/>
                <a:ea typeface="Microsoft YaHei"/>
                <a:cs typeface="Microsoft YaHei"/>
              </a:rPr>
              <a:t>σ 是高斯分布的标准差，不代表所有 shot 都采用固定偏移。Static alignment 每个 shot 固定，leg-wise jitter 每个阶段重新抽取。</a:t>
            </a:r>
          </a:p>
        </p:txBody>
      </p:sp>
      <p:sp>
        <p:nvSpPr>
          <p:cNvPr id="9" name="">
            <a:extLst xmlns:a="http://schemas.openxmlformats.org/drawingml/2006/main">
              <a:ext uri="{FF2B5EF4-FFF2-40B4-BE49-F238E27FC236}">
                <a16:creationId xmlns:a16="http://schemas.microsoft.com/office/drawing/2014/main" id="{6F5D45A7-98A7-4607-A4E6-291FE1E04A0D}"/>
              </a:ext>
            </a:extLst>
          </p:cNvPr>
          <p:cNvSpPr>
            <a:spLocks xmlns:a="http://schemas.openxmlformats.org/drawingml/2006/main" noGrp="1"/>
          </p:cNvSpPr>
          <p:nvPr/>
        </p:nvSpPr>
        <p:spPr>
          <a:xfrm xmlns:a="http://schemas.openxmlformats.org/drawingml/2006/main">
            <a:off x="6115050" y="5162550"/>
            <a:ext cx="5467350" cy="1066800"/>
          </a:xfrm>
          <a:prstGeom xmlns:a="http://schemas.openxmlformats.org/drawingml/2006/main" prst="roundRect">
            <a:avLst>
              <a:gd name="adj" fmla="val 7143"/>
            </a:avLst>
          </a:prstGeom>
          <a:solidFill xmlns:a="http://schemas.openxmlformats.org/drawingml/2006/main">
            <a:srgbClr val="FEF3F2"/>
          </a:solidFill>
          <a:ln xmlns:a="http://schemas.openxmlformats.org/drawingml/2006/main" w="9525">
            <a:solidFill>
              <a:srgbClr val="FECDCA"/>
            </a:solidFill>
          </a:ln>
        </p:spPr>
      </p:sp>
      <p:sp>
        <p:nvSpPr>
          <p:cNvPr id="10" name="">
            <a:extLst xmlns:a="http://schemas.openxmlformats.org/drawingml/2006/main">
              <a:ext uri="{FF2B5EF4-FFF2-40B4-BE49-F238E27FC236}">
                <a16:creationId xmlns:a16="http://schemas.microsoft.com/office/drawing/2014/main" id="{D3A6D083-4D4C-4E40-B76F-AC232697EE99}"/>
              </a:ext>
            </a:extLst>
          </p:cNvPr>
          <p:cNvSpPr>
            <a:spLocks xmlns:a="http://schemas.openxmlformats.org/drawingml/2006/main" noGrp="1"/>
          </p:cNvSpPr>
          <p:nvPr/>
        </p:nvSpPr>
        <p:spPr>
          <a:xfrm xmlns:a="http://schemas.openxmlformats.org/drawingml/2006/main">
            <a:off x="6343650" y="53340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当前未建模</a:t>
            </a:r>
          </a:p>
        </p:txBody>
      </p:sp>
      <p:sp>
        <p:nvSpPr>
          <p:cNvPr id="11" name="">
            <a:extLst xmlns:a="http://schemas.openxmlformats.org/drawingml/2006/main">
              <a:ext uri="{FF2B5EF4-FFF2-40B4-BE49-F238E27FC236}">
                <a16:creationId xmlns:a16="http://schemas.microsoft.com/office/drawing/2014/main" id="{576AEFED-954C-4EF8-B343-8D14AEBF795D}"/>
              </a:ext>
            </a:extLst>
          </p:cNvPr>
          <p:cNvSpPr>
            <a:spLocks xmlns:a="http://schemas.openxmlformats.org/drawingml/2006/main" noGrp="1"/>
          </p:cNvSpPr>
          <p:nvPr/>
        </p:nvSpPr>
        <p:spPr>
          <a:xfrm xmlns:a="http://schemas.openxmlformats.org/drawingml/2006/main">
            <a:off x="6343650" y="5657850"/>
            <a:ext cx="4933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Level 2C 没有真空寿命、Raman 损失、成像误差或随机 RIN 时间序列。RIN 在当前实现中是平均功率注入。</a:t>
            </a:r>
          </a:p>
        </p:txBody>
      </p:sp>
      <p:sp>
        <p:nvSpPr>
          <p:cNvPr id="12" name="">
            <a:extLst xmlns:a="http://schemas.openxmlformats.org/drawingml/2006/main">
              <a:ext uri="{FF2B5EF4-FFF2-40B4-BE49-F238E27FC236}">
                <a16:creationId xmlns:a16="http://schemas.microsoft.com/office/drawing/2014/main" id="{CF9C25A1-A394-4E70-8C31-C51D909BC4C5}"/>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3" name="">
            <a:extLst xmlns:a="http://schemas.openxmlformats.org/drawingml/2006/main">
              <a:ext uri="{FF2B5EF4-FFF2-40B4-BE49-F238E27FC236}">
                <a16:creationId xmlns:a16="http://schemas.microsoft.com/office/drawing/2014/main" id="{C47F3FD5-1171-4424-9851-C6B1FCCBB28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level2c_pickup_survival.yaml · survival_engine.py · noise_heating.py</a:t>
            </a:r>
          </a:p>
        </p:txBody>
      </p:sp>
      <p:sp>
        <p:nvSpPr>
          <p:cNvPr id="14" name="">
            <a:extLst xmlns:a="http://schemas.openxmlformats.org/drawingml/2006/main">
              <a:ext uri="{FF2B5EF4-FFF2-40B4-BE49-F238E27FC236}">
                <a16:creationId xmlns:a16="http://schemas.microsoft.com/office/drawing/2014/main" id="{BF23FA7D-B01F-4775-B4F8-729EAE20867D}"/>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05</a:t>
            </a:r>
          </a:p>
        </p:txBody>
      </p:sp>
    </p:spTree>
    <p:extLst>
      <p:ext uri="{BB962C8B-B14F-4D97-AF65-F5344CB8AC3E}">
        <p14:creationId xmlns:p14="http://schemas.microsoft.com/office/powerpoint/2010/main" val="1331348897"/>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55387E0-EEF2-4227-B67F-8600E7AB23D8}"/>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04</a:t>
            </a:r>
          </a:p>
        </p:txBody>
      </p:sp>
      <p:sp>
        <p:nvSpPr>
          <p:cNvPr id="2" name="">
            <a:extLst xmlns:a="http://schemas.openxmlformats.org/drawingml/2006/main">
              <a:ext uri="{FF2B5EF4-FFF2-40B4-BE49-F238E27FC236}">
                <a16:creationId xmlns:a16="http://schemas.microsoft.com/office/drawing/2014/main" id="{668B72D2-2074-447D-86F5-D0E8339802AD}"/>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手工波形与一次往返协议</a:t>
            </a:r>
          </a:p>
        </p:txBody>
      </p:sp>
      <p:sp>
        <p:nvSpPr>
          <p:cNvPr id="3" name="">
            <a:extLst xmlns:a="http://schemas.openxmlformats.org/drawingml/2006/main">
              <a:ext uri="{FF2B5EF4-FFF2-40B4-BE49-F238E27FC236}">
                <a16:creationId xmlns:a16="http://schemas.microsoft.com/office/drawing/2014/main" id="{D7E42C2E-3BE1-48F7-8BD1-9EE6A0C70A69}"/>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97421C65-76D2-439F-803A-697412E5E0E3}"/>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本步把论文 Methods 转成 AOD 中心 c(t)、深度 D(t) 和三个连续阶段</a:t>
            </a:r>
          </a:p>
        </p:txBody>
      </p:sp>
      <p:graphicFrame>
        <p:nvGraphicFramePr>
          <p:cNvPr id="16" name="Chart"/>
          <p:cNvGraphicFramePr/>
          <p:nvPr/>
        </p:nvGraphicFramePr>
        <p:xfrm>
          <a:off xmlns:a="http://schemas.openxmlformats.org/drawingml/2006/main" x="609600" y="1314450"/>
          <a:ext xmlns:a="http://schemas.openxmlformats.org/drawingml/2006/main" cx="5143500" cy="2781300"/>
        </p:xfrm>
        <a:graphic xmlns:a="http://schemas.openxmlformats.org/drawingml/2006/main">
          <a:graphicData uri="http://schemas.openxmlformats.org/drawingml/2006/chart">
            <c:chart xmlns:r="http://schemas.openxmlformats.org/officeDocument/2006/relationships" xmlns:c="http://schemas.openxmlformats.org/drawingml/2006/chart" r:id="R468f1520607e4cb3"/>
          </a:graphicData>
        </a:graphic>
      </p:graphicFrame>
      <p:graphicFrame>
        <p:nvGraphicFramePr>
          <p:cNvPr id="17" name="Chart"/>
          <p:cNvGraphicFramePr/>
          <p:nvPr/>
        </p:nvGraphicFramePr>
        <p:xfrm>
          <a:off xmlns:a="http://schemas.openxmlformats.org/drawingml/2006/main" x="6096000" y="1314450"/>
          <a:ext xmlns:a="http://schemas.openxmlformats.org/drawingml/2006/main" cx="5486400" cy="2781300"/>
        </p:xfrm>
        <a:graphic xmlns:a="http://schemas.openxmlformats.org/drawingml/2006/main">
          <a:graphicData uri="http://schemas.openxmlformats.org/drawingml/2006/chart">
            <c:chart xmlns:r="http://schemas.openxmlformats.org/officeDocument/2006/relationships" xmlns:c="http://schemas.openxmlformats.org/drawingml/2006/chart" r:id="R7bb2e17676624a32"/>
          </a:graphicData>
        </a:graphic>
      </p:graphicFrame>
      <p:graphicFrame>
        <p:nvGraphicFramePr>
          <p:cNvPr id="18" name=""/>
          <p:cNvGraphicFramePr/>
          <p:nvPr/>
        </p:nvGraphicFramePr>
        <p:xfrm>
          <a:off xmlns:a="http://schemas.openxmlformats.org/drawingml/2006/main" x="609600" y="4362450"/>
          <a:ext xmlns:a="http://schemas.openxmlformats.org/drawingml/2006/main" cx="10972800" cy="1562100"/>
        </p:xfrm>
        <a:graphic xmlns:a="http://schemas.openxmlformats.org/drawingml/2006/main">
          <a:graphicData uri="http://schemas.openxmlformats.org/drawingml/2006/table">
            <a:tbl>
              <a:tblPr/>
              <a:tblGrid>
                <a:gridCol w="1600200"/>
                <a:gridCol w="2057400"/>
                <a:gridCol w="4800600"/>
                <a:gridCol w="2514600"/>
              </a:tblGrid>
              <a:tr h="390525">
                <a:tc>
                  <a:txBody>
                    <a:bodyPr>
                      <a:noAutofit/>
                    </a:bodyPr>
                    <a:lstStyle/>
                    <a:p>
                      <a:pPr algn="l"/>
                      <a:r>
                        <a:rPr sz="1050" b="1">
                          <a:solidFill>
                            <a:srgbClr val="FFFFFF"/>
                          </a:solidFill>
                          <a:latin typeface="Microsoft YaHei"/>
                          <a:ea typeface="Microsoft YaHei"/>
                          <a:cs typeface="Microsoft YaHei"/>
                        </a:rPr>
                        <a:t>Phase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Duration</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Control operation</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End-of-phase calculation</a:t>
                      </a:r>
                    </a:p>
                  </a:txBody>
                  <a:tcPr marL="91440" marR="91440" marT="45720" marB="45720" anchor="ctr">
                    <a:solidFill>
                      <a:srgbClr val="102A43"/>
                    </a:solidFill>
                  </a:tcPr>
                </a:tc>
              </a:tr>
              <a:tr h="390525">
                <a:tc>
                  <a:txBody>
                    <a:bodyPr>
                      <a:noAutofit/>
                    </a:bodyPr>
                    <a:lstStyle/>
                    <a:p>
                      <a:pPr algn="l"/>
                      <a:r>
                        <a:rPr sz="1050" b="0">
                          <a:solidFill>
                            <a:srgbClr val="344054"/>
                          </a:solidFill>
                          <a:latin typeface="Microsoft YaHei"/>
                          <a:ea typeface="Microsoft YaHei"/>
                          <a:cs typeface="Microsoft YaHei"/>
                        </a:rPr>
                        <a:t>Pick-up</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200 / 400 / 600 µs</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前 48% 二次升深，后 52% constant-jerk 移动 2.4 µm</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进入 100 µs wait</a:t>
                      </a:r>
                    </a:p>
                  </a:txBody>
                  <a:tcPr marL="91440" marR="91440" marT="45720" marB="45720" anchor="ctr">
                    <a:solidFill>
                      <a:srgbClr val="FFFFFF"/>
                    </a:solidFill>
                  </a:tcPr>
                </a:tc>
              </a:tr>
              <a:tr h="390525">
                <a:tc>
                  <a:txBody>
                    <a:bodyPr>
                      <a:noAutofit/>
                    </a:bodyPr>
                    <a:lstStyle/>
                    <a:p>
                      <a:pPr algn="l"/>
                      <a:r>
                        <a:rPr sz="1050" b="0">
                          <a:solidFill>
                            <a:srgbClr val="344054"/>
                          </a:solidFill>
                          <a:latin typeface="Microsoft YaHei"/>
                          <a:ea typeface="Microsoft YaHei"/>
                          <a:cs typeface="Microsoft YaHei"/>
                        </a:rPr>
                        <a:t>Wait</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100 µs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SLM 关闭，AOD 保持原子</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计算 E_AOD&lt;0</a:t>
                      </a:r>
                    </a:p>
                  </a:txBody>
                  <a:tcPr marL="91440" marR="91440" marT="45720" marB="45720" anchor="ctr">
                    <a:solidFill>
                      <a:srgbClr val="F8FAFC"/>
                    </a:solidFill>
                  </a:tcPr>
                </a:tc>
              </a:tr>
              <a:tr h="390525">
                <a:tc>
                  <a:txBody>
                    <a:bodyPr>
                      <a:noAutofit/>
                    </a:bodyPr>
                    <a:lstStyle/>
                    <a:p>
                      <a:pPr algn="l"/>
                      <a:r>
                        <a:rPr sz="1050" b="0">
                          <a:solidFill>
                            <a:srgbClr val="344054"/>
                          </a:solidFill>
                          <a:latin typeface="Microsoft YaHei"/>
                          <a:ea typeface="Microsoft YaHei"/>
                          <a:cs typeface="Microsoft YaHei"/>
                        </a:rPr>
                        <a:t>Drop-off</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与 pick-up 相同</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使用 pick-up 的严格时间反演</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计算 E_SLM&lt;0</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47E333A-0C01-40A1-8D47-023BCABC6FF2}"/>
              </a:ext>
            </a:extLst>
          </p:cNvPr>
          <p:cNvSpPr>
            <a:spLocks xmlns:a="http://schemas.openxmlformats.org/drawingml/2006/main" noGrp="1"/>
          </p:cNvSpPr>
          <p:nvPr/>
        </p:nvSpPr>
        <p:spPr>
          <a:xfrm xmlns:a="http://schemas.openxmlformats.org/drawingml/2006/main">
            <a:off x="819150" y="60483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344054"/>
                </a:solidFill>
                <a:latin typeface="Microsoft YaHei"/>
                <a:ea typeface="Microsoft YaHei"/>
                <a:cs typeface="Microsoft YaHei"/>
              </a:defRPr>
            </a:pPr>
            <a:r>
              <a:rPr sz="1163" b="0">
                <a:solidFill>
                  <a:srgbClr val="344054"/>
                </a:solidFill>
                <a:latin typeface="Microsoft YaHei"/>
                <a:ea typeface="Microsoft YaHei"/>
                <a:cs typeface="Microsoft YaHei"/>
              </a:rPr>
              <a:t>一个 pick-up 判定和一个 drop-off 判定构成两次 one-way transfer；60 次单程对应最多 30 次完整往返。</a:t>
            </a:r>
          </a:p>
        </p:txBody>
      </p:sp>
      <p:sp>
        <p:nvSpPr>
          <p:cNvPr id="9" name="">
            <a:extLst xmlns:a="http://schemas.openxmlformats.org/drawingml/2006/main">
              <a:ext uri="{FF2B5EF4-FFF2-40B4-BE49-F238E27FC236}">
                <a16:creationId xmlns:a16="http://schemas.microsoft.com/office/drawing/2014/main" id="{EFA3F7CC-269D-4BE4-AE99-4613454503D1}"/>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0" name="">
            <a:extLst xmlns:a="http://schemas.openxmlformats.org/drawingml/2006/main">
              <a:ext uri="{FF2B5EF4-FFF2-40B4-BE49-F238E27FC236}">
                <a16:creationId xmlns:a16="http://schemas.microsoft.com/office/drawing/2014/main" id="{A816B7A7-C690-444B-91CB-B3B4BBFF6C63}"/>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waveforms.py · fig6d_parameters.md · level2c config</a:t>
            </a:r>
          </a:p>
        </p:txBody>
      </p:sp>
      <p:sp>
        <p:nvSpPr>
          <p:cNvPr id="11" name="">
            <a:extLst xmlns:a="http://schemas.openxmlformats.org/drawingml/2006/main">
              <a:ext uri="{FF2B5EF4-FFF2-40B4-BE49-F238E27FC236}">
                <a16:creationId xmlns:a16="http://schemas.microsoft.com/office/drawing/2014/main" id="{7F8AB732-1429-4F7A-8D0B-D276C61CC6ED}"/>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06</a:t>
            </a:r>
          </a:p>
        </p:txBody>
      </p:sp>
    </p:spTree>
    <p:extLst>
      <p:ext uri="{BB962C8B-B14F-4D97-AF65-F5344CB8AC3E}">
        <p14:creationId xmlns:p14="http://schemas.microsoft.com/office/powerpoint/2010/main" val="870899679"/>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AC1A227-4704-41A9-BB67-468E61439C39}"/>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05</a:t>
            </a:r>
          </a:p>
        </p:txBody>
      </p:sp>
      <p:sp>
        <p:nvSpPr>
          <p:cNvPr id="2" name="">
            <a:extLst xmlns:a="http://schemas.openxmlformats.org/drawingml/2006/main">
              <a:ext uri="{FF2B5EF4-FFF2-40B4-BE49-F238E27FC236}">
                <a16:creationId xmlns:a16="http://schemas.microsoft.com/office/drawing/2014/main" id="{980B0C1A-AFB3-45B2-A4B0-C35E01D36183}"/>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单个原子的数值传播与束缚判定</a:t>
            </a:r>
          </a:p>
        </p:txBody>
      </p:sp>
      <p:sp>
        <p:nvSpPr>
          <p:cNvPr id="3" name="">
            <a:extLst xmlns:a="http://schemas.openxmlformats.org/drawingml/2006/main">
              <a:ext uri="{FF2B5EF4-FFF2-40B4-BE49-F238E27FC236}">
                <a16:creationId xmlns:a16="http://schemas.microsoft.com/office/drawing/2014/main" id="{81F8D6F1-1995-441A-BE64-8883B2BE1B28}"/>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401B8D82-5CB8-4BF7-AD0F-2B6290ACCEFB}"/>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本步按 dt 更新 x、v 和注入能量；原子失败后立即退出后续计算</a:t>
            </a:r>
          </a:p>
        </p:txBody>
      </p:sp>
      <p:sp>
        <p:nvSpPr>
          <p:cNvPr id="5" name="">
            <a:extLst xmlns:a="http://schemas.openxmlformats.org/drawingml/2006/main">
              <a:ext uri="{FF2B5EF4-FFF2-40B4-BE49-F238E27FC236}">
                <a16:creationId xmlns:a16="http://schemas.microsoft.com/office/drawing/2014/main" id="{90C9AA44-0E12-4B57-831A-388500845674}"/>
              </a:ext>
            </a:extLst>
          </p:cNvPr>
          <p:cNvSpPr>
            <a:spLocks xmlns:a="http://schemas.openxmlformats.org/drawingml/2006/main" noGrp="1"/>
          </p:cNvSpPr>
          <p:nvPr/>
        </p:nvSpPr>
        <p:spPr>
          <a:xfrm xmlns:a="http://schemas.openxmlformats.org/drawingml/2006/main">
            <a:off x="609600" y="1257300"/>
            <a:ext cx="4762500" cy="3028950"/>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9525">
            <a:solidFill>
              <a:srgbClr val="EAECF0"/>
            </a:solidFill>
          </a:ln>
        </p:spPr>
      </p:sp>
      <p:sp>
        <p:nvSpPr>
          <p:cNvPr id="6" name="">
            <a:extLst xmlns:a="http://schemas.openxmlformats.org/drawingml/2006/main">
              <a:ext uri="{FF2B5EF4-FFF2-40B4-BE49-F238E27FC236}">
                <a16:creationId xmlns:a16="http://schemas.microsoft.com/office/drawing/2014/main" id="{392EA226-70C9-440B-B040-C08B5A1392A0}"/>
              </a:ext>
            </a:extLst>
          </p:cNvPr>
          <p:cNvSpPr>
            <a:spLocks xmlns:a="http://schemas.openxmlformats.org/drawingml/2006/main" noGrp="1"/>
          </p:cNvSpPr>
          <p:nvPr/>
        </p:nvSpPr>
        <p:spPr>
          <a:xfrm xmlns:a="http://schemas.openxmlformats.org/drawingml/2006/main">
            <a:off x="876300" y="15049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Velocity-Verlet 更新</a:t>
            </a:r>
          </a:p>
        </p:txBody>
      </p:sp>
      <p:sp>
        <p:nvSpPr>
          <p:cNvPr id="7" name="">
            <a:extLst xmlns:a="http://schemas.openxmlformats.org/drawingml/2006/main">
              <a:ext uri="{FF2B5EF4-FFF2-40B4-BE49-F238E27FC236}">
                <a16:creationId xmlns:a16="http://schemas.microsoft.com/office/drawing/2014/main" id="{3DFADC28-E18C-4248-A1B0-3C15D999F696}"/>
              </a:ext>
            </a:extLst>
          </p:cNvPr>
          <p:cNvSpPr>
            <a:spLocks xmlns:a="http://schemas.openxmlformats.org/drawingml/2006/main" noGrp="1"/>
          </p:cNvSpPr>
          <p:nvPr/>
        </p:nvSpPr>
        <p:spPr>
          <a:xfrm xmlns:a="http://schemas.openxmlformats.org/drawingml/2006/main">
            <a:off x="876300" y="20383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1570EF"/>
                </a:solidFill>
                <a:latin typeface="Microsoft YaHei"/>
                <a:ea typeface="Microsoft YaHei"/>
                <a:cs typeface="Microsoft YaHei"/>
              </a:defRPr>
            </a:pPr>
            <a:r>
              <a:rPr sz="1500" b="1">
                <a:solidFill>
                  <a:srgbClr val="1570EF"/>
                </a:solidFill>
                <a:latin typeface="Microsoft YaHei"/>
                <a:ea typeface="Microsoft YaHei"/>
                <a:cs typeface="Microsoft YaHei"/>
              </a:rPr>
              <a:t>a(t) = [F_SLM + F_AOD] / m</a:t>
            </a:r>
          </a:p>
        </p:txBody>
      </p:sp>
      <p:sp>
        <p:nvSpPr>
          <p:cNvPr id="8" name="">
            <a:extLst xmlns:a="http://schemas.openxmlformats.org/drawingml/2006/main">
              <a:ext uri="{FF2B5EF4-FFF2-40B4-BE49-F238E27FC236}">
                <a16:creationId xmlns:a16="http://schemas.microsoft.com/office/drawing/2014/main" id="{32FC860C-BE80-49D4-989B-11C5A4ED3304}"/>
              </a:ext>
            </a:extLst>
          </p:cNvPr>
          <p:cNvSpPr>
            <a:spLocks xmlns:a="http://schemas.openxmlformats.org/drawingml/2006/main" noGrp="1"/>
          </p:cNvSpPr>
          <p:nvPr/>
        </p:nvSpPr>
        <p:spPr>
          <a:xfrm xmlns:a="http://schemas.openxmlformats.org/drawingml/2006/main">
            <a:off x="876300" y="25717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x(t+dt) = x + v·dt + ½a·dt²</a:t>
            </a:r>
          </a:p>
        </p:txBody>
      </p:sp>
      <p:sp>
        <p:nvSpPr>
          <p:cNvPr id="9" name="">
            <a:extLst xmlns:a="http://schemas.openxmlformats.org/drawingml/2006/main">
              <a:ext uri="{FF2B5EF4-FFF2-40B4-BE49-F238E27FC236}">
                <a16:creationId xmlns:a16="http://schemas.microsoft.com/office/drawing/2014/main" id="{7B0EE745-939C-4490-AA70-03BB06304496}"/>
              </a:ext>
            </a:extLst>
          </p:cNvPr>
          <p:cNvSpPr>
            <a:spLocks xmlns:a="http://schemas.openxmlformats.org/drawingml/2006/main" noGrp="1"/>
          </p:cNvSpPr>
          <p:nvPr/>
        </p:nvSpPr>
        <p:spPr>
          <a:xfrm xmlns:a="http://schemas.openxmlformats.org/drawingml/2006/main">
            <a:off x="876300" y="310515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v(t+dt) = v + ½[a(t)+a(t+dt)]·dt</a:t>
            </a:r>
          </a:p>
        </p:txBody>
      </p:sp>
      <p:sp>
        <p:nvSpPr>
          <p:cNvPr id="10" name="">
            <a:extLst xmlns:a="http://schemas.openxmlformats.org/drawingml/2006/main">
              <a:ext uri="{FF2B5EF4-FFF2-40B4-BE49-F238E27FC236}">
                <a16:creationId xmlns:a16="http://schemas.microsoft.com/office/drawing/2014/main" id="{975ACA25-D485-4A60-9963-B37A1E33A597}"/>
              </a:ext>
            </a:extLst>
          </p:cNvPr>
          <p:cNvSpPr>
            <a:spLocks xmlns:a="http://schemas.openxmlformats.org/drawingml/2006/main" noGrp="1"/>
          </p:cNvSpPr>
          <p:nvPr/>
        </p:nvSpPr>
        <p:spPr>
          <a:xfrm xmlns:a="http://schemas.openxmlformats.org/drawingml/2006/main">
            <a:off x="876300" y="3695700"/>
            <a:ext cx="4229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状态在相邻阶段和相邻往返之间连续继承。代码不会在每次 transfer 前重新采样或重新热化。</a:t>
            </a:r>
          </a:p>
        </p:txBody>
      </p:sp>
      <p:sp>
        <p:nvSpPr>
          <p:cNvPr id="11" name="">
            <a:extLst xmlns:a="http://schemas.openxmlformats.org/drawingml/2006/main">
              <a:ext uri="{FF2B5EF4-FFF2-40B4-BE49-F238E27FC236}">
                <a16:creationId xmlns:a16="http://schemas.microsoft.com/office/drawing/2014/main" id="{4BBAE728-DD5D-46AA-95B2-96411E38EF58}"/>
              </a:ext>
            </a:extLst>
          </p:cNvPr>
          <p:cNvSpPr>
            <a:spLocks xmlns:a="http://schemas.openxmlformats.org/drawingml/2006/main" noGrp="1"/>
          </p:cNvSpPr>
          <p:nvPr/>
        </p:nvSpPr>
        <p:spPr>
          <a:xfrm xmlns:a="http://schemas.openxmlformats.org/drawingml/2006/main">
            <a:off x="5695950" y="1257300"/>
            <a:ext cx="5886450" cy="3028950"/>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9525">
            <a:solidFill>
              <a:srgbClr val="EAECF0"/>
            </a:solidFill>
          </a:ln>
        </p:spPr>
      </p:sp>
      <p:sp>
        <p:nvSpPr>
          <p:cNvPr id="12" name="">
            <a:extLst xmlns:a="http://schemas.openxmlformats.org/drawingml/2006/main">
              <a:ext uri="{FF2B5EF4-FFF2-40B4-BE49-F238E27FC236}">
                <a16:creationId xmlns:a16="http://schemas.microsoft.com/office/drawing/2014/main" id="{CA2B0A41-5488-4EA2-840A-C95E9E371033}"/>
              </a:ext>
            </a:extLst>
          </p:cNvPr>
          <p:cNvSpPr>
            <a:spLocks xmlns:a="http://schemas.openxmlformats.org/drawingml/2006/main" noGrp="1"/>
          </p:cNvSpPr>
          <p:nvPr/>
        </p:nvSpPr>
        <p:spPr>
          <a:xfrm xmlns:a="http://schemas.openxmlformats.org/drawingml/2006/main">
            <a:off x="5962650" y="15049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数值与加热参数</a:t>
            </a:r>
          </a:p>
        </p:txBody>
      </p:sp>
      <p:graphicFrame>
        <p:nvGraphicFramePr>
          <p:cNvPr id="31" name=""/>
          <p:cNvGraphicFramePr/>
          <p:nvPr/>
        </p:nvGraphicFramePr>
        <p:xfrm>
          <a:off xmlns:a="http://schemas.openxmlformats.org/drawingml/2006/main" x="5962650" y="1962150"/>
          <a:ext xmlns:a="http://schemas.openxmlformats.org/drawingml/2006/main" cx="5353050" cy="2076450"/>
        </p:xfrm>
        <a:graphic xmlns:a="http://schemas.openxmlformats.org/drawingml/2006/main">
          <a:graphicData uri="http://schemas.openxmlformats.org/drawingml/2006/table">
            <a:tbl>
              <a:tblPr/>
              <a:tblGrid>
                <a:gridCol w="1655582"/>
                <a:gridCol w="1269280"/>
                <a:gridCol w="2428188"/>
              </a:tblGrid>
              <a:tr h="346075">
                <a:tc>
                  <a:txBody>
                    <a:bodyPr>
                      <a:noAutofit/>
                    </a:bodyPr>
                    <a:lstStyle/>
                    <a:p>
                      <a:pPr algn="l"/>
                      <a:r>
                        <a:rPr sz="1050" b="1">
                          <a:solidFill>
                            <a:srgbClr val="FFFFFF"/>
                          </a:solidFill>
                          <a:latin typeface="Microsoft YaHei"/>
                          <a:ea typeface="Microsoft YaHei"/>
                          <a:cs typeface="Microsoft YaHei"/>
                        </a:rPr>
                        <a:t>Parameter</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Meaning</a:t>
                      </a:r>
                    </a:p>
                  </a:txBody>
                  <a:tcPr marL="91440" marR="91440" marT="45720" marB="45720" anchor="ctr">
                    <a:solidFill>
                      <a:srgbClr val="102A43"/>
                    </a:solidFill>
                  </a:tcPr>
                </a:tc>
              </a:tr>
              <a:tr h="346075">
                <a:tc>
                  <a:txBody>
                    <a:bodyPr>
                      <a:noAutofit/>
                    </a:bodyPr>
                    <a:lstStyle/>
                    <a:p>
                      <a:pPr algn="l"/>
                      <a:r>
                        <a:rPr sz="1050" b="0">
                          <a:solidFill>
                            <a:srgbClr val="344054"/>
                          </a:solidFill>
                          <a:latin typeface="Microsoft YaHei"/>
                          <a:ea typeface="Microsoft YaHei"/>
                          <a:cs typeface="Microsoft YaHei"/>
                        </a:rPr>
                        <a:t>Main dt</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0.05 µs</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主扫描积分步长</a:t>
                      </a:r>
                    </a:p>
                  </a:txBody>
                  <a:tcPr marL="91440" marR="91440" marT="45720" marB="45720" anchor="ctr">
                    <a:solidFill>
                      <a:srgbClr val="FFFFFF"/>
                    </a:solidFill>
                  </a:tcPr>
                </a:tc>
              </a:tr>
              <a:tr h="346075">
                <a:tc>
                  <a:txBody>
                    <a:bodyPr>
                      <a:noAutofit/>
                    </a:bodyPr>
                    <a:lstStyle/>
                    <a:p>
                      <a:pPr algn="l"/>
                      <a:r>
                        <a:rPr sz="1050" b="0">
                          <a:solidFill>
                            <a:srgbClr val="344054"/>
                          </a:solidFill>
                          <a:latin typeface="Microsoft YaHei"/>
                          <a:ea typeface="Microsoft YaHei"/>
                          <a:cs typeface="Microsoft YaHei"/>
                        </a:rPr>
                        <a:t>Convergence dt</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0.025 µs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步长减半复算</a:t>
                      </a:r>
                    </a:p>
                  </a:txBody>
                  <a:tcPr marL="91440" marR="91440" marT="45720" marB="45720" anchor="ctr">
                    <a:solidFill>
                      <a:srgbClr val="F8FAFC"/>
                    </a:solidFill>
                  </a:tcPr>
                </a:tc>
              </a:tr>
              <a:tr h="346075">
                <a:tc>
                  <a:txBody>
                    <a:bodyPr>
                      <a:noAutofit/>
                    </a:bodyPr>
                    <a:lstStyle/>
                    <a:p>
                      <a:pPr algn="l"/>
                      <a:r>
                        <a:rPr sz="1050" b="0">
                          <a:solidFill>
                            <a:srgbClr val="344054"/>
                          </a:solidFill>
                          <a:latin typeface="Microsoft YaHei"/>
                          <a:ea typeface="Microsoft YaHei"/>
                          <a:cs typeface="Microsoft YaHei"/>
                        </a:rPr>
                        <a:t>Recoil rate</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4.23 s⁻¹</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平均反冲加热</a:t>
                      </a:r>
                    </a:p>
                  </a:txBody>
                  <a:tcPr marL="91440" marR="91440" marT="45720" marB="45720" anchor="ctr">
                    <a:solidFill>
                      <a:srgbClr val="FFFFFF"/>
                    </a:solidFill>
                  </a:tcPr>
                </a:tc>
              </a:tr>
              <a:tr h="346075">
                <a:tc>
                  <a:txBody>
                    <a:bodyPr>
                      <a:noAutofit/>
                    </a:bodyPr>
                    <a:lstStyle/>
                    <a:p>
                      <a:pPr algn="l"/>
                      <a:r>
                        <a:rPr sz="1050" b="0">
                          <a:solidFill>
                            <a:srgbClr val="344054"/>
                          </a:solidFill>
                          <a:latin typeface="Microsoft YaHei"/>
                          <a:ea typeface="Microsoft YaHei"/>
                          <a:cs typeface="Microsoft YaHei"/>
                        </a:rPr>
                        <a:t>RIN reference ν₀</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36.007 kHz</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参量加热参考频率</a:t>
                      </a:r>
                    </a:p>
                  </a:txBody>
                  <a:tcPr marL="91440" marR="91440" marT="45720" marB="45720" anchor="ctr">
                    <a:solidFill>
                      <a:srgbClr val="F8FAFC"/>
                    </a:solidFill>
                  </a:tcPr>
                </a:tc>
              </a:tr>
              <a:tr h="346075">
                <a:tc>
                  <a:txBody>
                    <a:bodyPr>
                      <a:noAutofit/>
                    </a:bodyPr>
                    <a:lstStyle/>
                    <a:p>
                      <a:pPr algn="l"/>
                      <a:r>
                        <a:rPr sz="1050" b="0">
                          <a:solidFill>
                            <a:srgbClr val="344054"/>
                          </a:solidFill>
                          <a:latin typeface="Microsoft YaHei"/>
                          <a:ea typeface="Microsoft YaHei"/>
                          <a:cs typeface="Microsoft YaHei"/>
                        </a:rPr>
                        <a:t>Noise update</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every dt</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将平均功率转换为动能增量</a:t>
                      </a:r>
                    </a:p>
                  </a:txBody>
                  <a:tcPr marL="91440" marR="91440" marT="45720" marB="45720" anchor="ctr">
                    <a:solidFill>
                      <a:srgbClr val="FFFFFF"/>
                    </a:solidFill>
                  </a:tcPr>
                </a:tc>
              </a:tr>
            </a:tbl>
          </a:graphicData>
        </a:graphic>
      </p:graphicFrame>
      <p:graphicFrame>
        <p:nvGraphicFramePr>
          <p:cNvPr id="32" name=""/>
          <p:cNvGraphicFramePr/>
          <p:nvPr/>
        </p:nvGraphicFramePr>
        <p:xfrm>
          <a:off xmlns:a="http://schemas.openxmlformats.org/drawingml/2006/main" x="609600" y="4572000"/>
          <a:ext xmlns:a="http://schemas.openxmlformats.org/drawingml/2006/main" cx="10972800" cy="1352550"/>
        </p:xfrm>
        <a:graphic xmlns:a="http://schemas.openxmlformats.org/drawingml/2006/main">
          <a:graphicData uri="http://schemas.openxmlformats.org/drawingml/2006/table">
            <a:tbl>
              <a:tblPr/>
              <a:tblGrid>
                <a:gridCol w="2545690"/>
                <a:gridCol w="5266944"/>
                <a:gridCol w="3160166"/>
              </a:tblGrid>
              <a:tr h="450850">
                <a:tc>
                  <a:txBody>
                    <a:bodyPr>
                      <a:noAutofit/>
                    </a:bodyPr>
                    <a:lstStyle/>
                    <a:p>
                      <a:pPr algn="l"/>
                      <a:r>
                        <a:rPr sz="1125" b="1">
                          <a:solidFill>
                            <a:srgbClr val="FFFFFF"/>
                          </a:solidFill>
                          <a:latin typeface="Microsoft YaHei"/>
                          <a:ea typeface="Microsoft YaHei"/>
                          <a:cs typeface="Microsoft YaHei"/>
                        </a:rPr>
                        <a:t>Checkpoint</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Energy used for decision</a:t>
                      </a:r>
                    </a:p>
                  </a:txBody>
                  <a:tcPr marL="91440" marR="91440" marT="45720" marB="45720" anchor="ctr">
                    <a:solidFill>
                      <a:srgbClr val="102A43"/>
                    </a:solidFill>
                  </a:tcPr>
                </a:tc>
                <a:tc>
                  <a:txBody>
                    <a:bodyPr>
                      <a:noAutofit/>
                    </a:bodyPr>
                    <a:lstStyle/>
                    <a:p>
                      <a:pPr algn="l"/>
                      <a:r>
                        <a:rPr sz="1125" b="1">
                          <a:solidFill>
                            <a:srgbClr val="FFFFFF"/>
                          </a:solidFill>
                          <a:latin typeface="Microsoft YaHei"/>
                          <a:ea typeface="Microsoft YaHei"/>
                          <a:cs typeface="Microsoft YaHei"/>
                        </a:rPr>
                        <a:t>Decision</a:t>
                      </a:r>
                    </a:p>
                  </a:txBody>
                  <a:tcPr marL="91440" marR="91440" marT="45720" marB="45720" anchor="ctr">
                    <a:solidFill>
                      <a:srgbClr val="102A43"/>
                    </a:solidFill>
                  </a:tcPr>
                </a:tc>
              </a:tr>
              <a:tr h="450850">
                <a:tc>
                  <a:txBody>
                    <a:bodyPr>
                      <a:noAutofit/>
                    </a:bodyPr>
                    <a:lstStyle/>
                    <a:p>
                      <a:pPr algn="l"/>
                      <a:r>
                        <a:rPr sz="1200" b="0">
                          <a:solidFill>
                            <a:srgbClr val="344054"/>
                          </a:solidFill>
                          <a:latin typeface="Microsoft YaHei"/>
                          <a:ea typeface="Microsoft YaHei"/>
                          <a:cs typeface="Microsoft YaHei"/>
                        </a:rPr>
                        <a:t>After pickup wait</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E_AOD = ½mv² + U_AOD(x)</a:t>
                      </a:r>
                    </a:p>
                  </a:txBody>
                  <a:tcPr marL="91440" marR="91440" marT="45720" marB="45720" anchor="ctr">
                    <a:solidFill>
                      <a:srgbClr val="FFFFFF"/>
                    </a:solidFill>
                  </a:tcPr>
                </a:tc>
                <a:tc>
                  <a:txBody>
                    <a:bodyPr>
                      <a:noAutofit/>
                    </a:bodyPr>
                    <a:lstStyle/>
                    <a:p>
                      <a:pPr algn="l"/>
                      <a:r>
                        <a:rPr sz="1200" b="0">
                          <a:solidFill>
                            <a:srgbClr val="344054"/>
                          </a:solidFill>
                          <a:latin typeface="Microsoft YaHei"/>
                          <a:ea typeface="Microsoft YaHei"/>
                          <a:cs typeface="Microsoft YaHei"/>
                        </a:rPr>
                        <a:t>E_AOD&lt;0 才保留</a:t>
                      </a:r>
                    </a:p>
                  </a:txBody>
                  <a:tcPr marL="91440" marR="91440" marT="45720" marB="45720" anchor="ctr">
                    <a:solidFill>
                      <a:srgbClr val="FFFFFF"/>
                    </a:solidFill>
                  </a:tcPr>
                </a:tc>
              </a:tr>
              <a:tr h="450850">
                <a:tc>
                  <a:txBody>
                    <a:bodyPr>
                      <a:noAutofit/>
                    </a:bodyPr>
                    <a:lstStyle/>
                    <a:p>
                      <a:pPr algn="l"/>
                      <a:r>
                        <a:rPr sz="1200" b="0">
                          <a:solidFill>
                            <a:srgbClr val="344054"/>
                          </a:solidFill>
                          <a:latin typeface="Microsoft YaHei"/>
                          <a:ea typeface="Microsoft YaHei"/>
                          <a:cs typeface="Microsoft YaHei"/>
                        </a:rPr>
                        <a:t>After drop-off</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E_SLM = ½mv² + U_SLM(x)</a:t>
                      </a:r>
                    </a:p>
                  </a:txBody>
                  <a:tcPr marL="91440" marR="91440" marT="45720" marB="45720" anchor="ctr">
                    <a:solidFill>
                      <a:srgbClr val="F8FAFC"/>
                    </a:solidFill>
                  </a:tcPr>
                </a:tc>
                <a:tc>
                  <a:txBody>
                    <a:bodyPr>
                      <a:noAutofit/>
                    </a:bodyPr>
                    <a:lstStyle/>
                    <a:p>
                      <a:pPr algn="l"/>
                      <a:r>
                        <a:rPr sz="1200" b="0">
                          <a:solidFill>
                            <a:srgbClr val="344054"/>
                          </a:solidFill>
                          <a:latin typeface="Microsoft YaHei"/>
                          <a:ea typeface="Microsoft YaHei"/>
                          <a:cs typeface="Microsoft YaHei"/>
                        </a:rPr>
                        <a:t>E_SLM&lt;0 才保留</a:t>
                      </a:r>
                    </a:p>
                  </a:txBody>
                  <a:tcPr marL="91440" marR="91440" marT="45720" marB="45720" anchor="ctr">
                    <a:solidFill>
                      <a:srgbClr val="F8FAFC"/>
                    </a:solidFill>
                  </a:tcPr>
                </a:tc>
              </a:tr>
            </a:tbl>
          </a:graphicData>
        </a:graphic>
      </p:graphicFrame>
      <p:sp>
        <p:nvSpPr>
          <p:cNvPr id="15" name="">
            <a:extLst xmlns:a="http://schemas.openxmlformats.org/drawingml/2006/main">
              <a:ext uri="{FF2B5EF4-FFF2-40B4-BE49-F238E27FC236}">
                <a16:creationId xmlns:a16="http://schemas.microsoft.com/office/drawing/2014/main" id="{F52DFF94-AE4A-43B4-A56C-7C4B30BCB782}"/>
              </a:ext>
            </a:extLst>
          </p:cNvPr>
          <p:cNvSpPr>
            <a:spLocks xmlns:a="http://schemas.openxmlformats.org/drawingml/2006/main" noGrp="1"/>
          </p:cNvSpPr>
          <p:nvPr/>
        </p:nvSpPr>
        <p:spPr>
          <a:xfrm xmlns:a="http://schemas.openxmlformats.org/drawingml/2006/main">
            <a:off x="838200" y="6057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D92D20"/>
                </a:solidFill>
                <a:latin typeface="Microsoft YaHei"/>
                <a:ea typeface="Microsoft YaHei"/>
                <a:cs typeface="Microsoft YaHei"/>
              </a:defRPr>
            </a:pPr>
            <a:r>
              <a:rPr sz="1163" b="0">
                <a:solidFill>
                  <a:srgbClr val="D92D20"/>
                </a:solidFill>
                <a:latin typeface="Microsoft YaHei"/>
                <a:ea typeface="Microsoft YaHei"/>
                <a:cs typeface="Microsoft YaHei"/>
              </a:rPr>
              <a:t>Early stop：某个 shot 首次失败后从活跃池移除，不允许在后续阶段偶然重新俘获。</a:t>
            </a:r>
          </a:p>
        </p:txBody>
      </p:sp>
      <p:sp>
        <p:nvSpPr>
          <p:cNvPr id="16" name="">
            <a:extLst xmlns:a="http://schemas.openxmlformats.org/drawingml/2006/main">
              <a:ext uri="{FF2B5EF4-FFF2-40B4-BE49-F238E27FC236}">
                <a16:creationId xmlns:a16="http://schemas.microsoft.com/office/drawing/2014/main" id="{51A7593C-00E8-4B24-8728-6AFCBE73004A}"/>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7" name="">
            <a:extLst xmlns:a="http://schemas.openxmlformats.org/drawingml/2006/main">
              <a:ext uri="{FF2B5EF4-FFF2-40B4-BE49-F238E27FC236}">
                <a16:creationId xmlns:a16="http://schemas.microsoft.com/office/drawing/2014/main" id="{BF9D40A3-667F-4659-B17A-666570CC2CA0}"/>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survival_engine.py · noise_heating.py · work-energy implementation</a:t>
            </a:r>
          </a:p>
        </p:txBody>
      </p:sp>
      <p:sp>
        <p:nvSpPr>
          <p:cNvPr id="18" name="">
            <a:extLst xmlns:a="http://schemas.openxmlformats.org/drawingml/2006/main">
              <a:ext uri="{FF2B5EF4-FFF2-40B4-BE49-F238E27FC236}">
                <a16:creationId xmlns:a16="http://schemas.microsoft.com/office/drawing/2014/main" id="{C6425FCA-4703-427A-9194-F3953F01E88E}"/>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07</a:t>
            </a:r>
          </a:p>
        </p:txBody>
      </p:sp>
    </p:spTree>
    <p:extLst>
      <p:ext uri="{BB962C8B-B14F-4D97-AF65-F5344CB8AC3E}">
        <p14:creationId xmlns:p14="http://schemas.microsoft.com/office/powerpoint/2010/main" val="1797530926"/>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1DAC05B-04DC-4ABB-B8DD-F432C2BE56BD}"/>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06</a:t>
            </a:r>
          </a:p>
        </p:txBody>
      </p:sp>
      <p:sp>
        <p:nvSpPr>
          <p:cNvPr id="2" name="">
            <a:extLst xmlns:a="http://schemas.openxmlformats.org/drawingml/2006/main">
              <a:ext uri="{FF2B5EF4-FFF2-40B4-BE49-F238E27FC236}">
                <a16:creationId xmlns:a16="http://schemas.microsoft.com/office/drawing/2014/main" id="{31A36BB1-BCAB-46B5-84C7-00EC9B31C5AE}"/>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从逐原子判定到存活曲线 S(n)</a:t>
            </a:r>
          </a:p>
        </p:txBody>
      </p:sp>
      <p:sp>
        <p:nvSpPr>
          <p:cNvPr id="3" name="">
            <a:extLst xmlns:a="http://schemas.openxmlformats.org/drawingml/2006/main">
              <a:ext uri="{FF2B5EF4-FFF2-40B4-BE49-F238E27FC236}">
                <a16:creationId xmlns:a16="http://schemas.microsoft.com/office/drawing/2014/main" id="{97DA5C20-DD7D-4E3B-932E-E8DA080EFEE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0CE72A5-E534-41BE-A4EB-5E4C03F2ED36}"/>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每个 n 统计仍在活跃池中的 shot；图中阶梯来自有限样本计数</a:t>
            </a:r>
          </a:p>
        </p:txBody>
      </p:sp>
      <p:graphicFrame>
        <p:nvGraphicFramePr>
          <p:cNvPr id="22" name="Chart"/>
          <p:cNvGraphicFramePr/>
          <p:nvPr/>
        </p:nvGraphicFramePr>
        <p:xfrm>
          <a:off xmlns:a="http://schemas.openxmlformats.org/drawingml/2006/main" x="609600" y="1352550"/>
          <a:ext xmlns:a="http://schemas.openxmlformats.org/drawingml/2006/main" cx="6953250" cy="3981450"/>
        </p:xfrm>
        <a:graphic xmlns:a="http://schemas.openxmlformats.org/drawingml/2006/main">
          <a:graphicData uri="http://schemas.openxmlformats.org/drawingml/2006/chart">
            <c:chart xmlns:r="http://schemas.openxmlformats.org/officeDocument/2006/relationships" xmlns:c="http://schemas.openxmlformats.org/drawingml/2006/chart" r:id="R269d2691027e4931"/>
          </a:graphicData>
        </a:graphic>
      </p:graphicFrame>
      <p:sp>
        <p:nvSpPr>
          <p:cNvPr id="6" name="">
            <a:extLst xmlns:a="http://schemas.openxmlformats.org/drawingml/2006/main">
              <a:ext uri="{FF2B5EF4-FFF2-40B4-BE49-F238E27FC236}">
                <a16:creationId xmlns:a16="http://schemas.microsoft.com/office/drawing/2014/main" id="{D6C67D3B-ECB5-4B74-BB39-33BE21301791}"/>
              </a:ext>
            </a:extLst>
          </p:cNvPr>
          <p:cNvSpPr>
            <a:spLocks xmlns:a="http://schemas.openxmlformats.org/drawingml/2006/main" noGrp="1"/>
          </p:cNvSpPr>
          <p:nvPr/>
        </p:nvSpPr>
        <p:spPr>
          <a:xfrm xmlns:a="http://schemas.openxmlformats.org/drawingml/2006/main">
            <a:off x="7867650" y="1352550"/>
            <a:ext cx="3714750" cy="39814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8CB6FF85-6A8F-421D-A677-1ECAB788918D}"/>
              </a:ext>
            </a:extLst>
          </p:cNvPr>
          <p:cNvSpPr>
            <a:spLocks xmlns:a="http://schemas.openxmlformats.org/drawingml/2006/main" noGrp="1"/>
          </p:cNvSpPr>
          <p:nvPr/>
        </p:nvSpPr>
        <p:spPr>
          <a:xfrm xmlns:a="http://schemas.openxmlformats.org/drawingml/2006/main">
            <a:off x="8134350" y="16002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统计量</a:t>
            </a:r>
          </a:p>
        </p:txBody>
      </p:sp>
      <p:sp>
        <p:nvSpPr>
          <p:cNvPr id="8" name="">
            <a:extLst xmlns:a="http://schemas.openxmlformats.org/drawingml/2006/main">
              <a:ext uri="{FF2B5EF4-FFF2-40B4-BE49-F238E27FC236}">
                <a16:creationId xmlns:a16="http://schemas.microsoft.com/office/drawing/2014/main" id="{35E1C092-20EE-4C2B-BD08-7C235EE77E1F}"/>
              </a:ext>
            </a:extLst>
          </p:cNvPr>
          <p:cNvSpPr>
            <a:spLocks xmlns:a="http://schemas.openxmlformats.org/drawingml/2006/main" noGrp="1"/>
          </p:cNvSpPr>
          <p:nvPr/>
        </p:nvSpPr>
        <p:spPr>
          <a:xfrm xmlns:a="http://schemas.openxmlformats.org/drawingml/2006/main">
            <a:off x="8134350" y="2095500"/>
            <a:ext cx="318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1570EF"/>
                </a:solidFill>
                <a:latin typeface="Microsoft YaHei"/>
                <a:ea typeface="Microsoft YaHei"/>
                <a:cs typeface="Microsoft YaHei"/>
              </a:defRPr>
            </a:pPr>
            <a:r>
              <a:rPr sz="1650" b="1">
                <a:solidFill>
                  <a:srgbClr val="1570EF"/>
                </a:solidFill>
                <a:latin typeface="Microsoft YaHei"/>
                <a:ea typeface="Microsoft YaHei"/>
                <a:cs typeface="Microsoft YaHei"/>
              </a:rPr>
              <a:t>S(n) = N_survive(n) / N₀</a:t>
            </a:r>
          </a:p>
        </p:txBody>
      </p:sp>
      <p:sp>
        <p:nvSpPr>
          <p:cNvPr id="9" name="">
            <a:extLst xmlns:a="http://schemas.openxmlformats.org/drawingml/2006/main">
              <a:ext uri="{FF2B5EF4-FFF2-40B4-BE49-F238E27FC236}">
                <a16:creationId xmlns:a16="http://schemas.microsoft.com/office/drawing/2014/main" id="{71E5BE6C-9FB5-482F-8E12-AEAB50E8A683}"/>
              </a:ext>
            </a:extLst>
          </p:cNvPr>
          <p:cNvSpPr>
            <a:spLocks xmlns:a="http://schemas.openxmlformats.org/drawingml/2006/main" noGrp="1"/>
          </p:cNvSpPr>
          <p:nvPr/>
        </p:nvSpPr>
        <p:spPr>
          <a:xfrm xmlns:a="http://schemas.openxmlformats.org/drawingml/2006/main">
            <a:off x="8134350" y="27813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02A43"/>
                </a:solidFill>
                <a:latin typeface="Microsoft YaHei"/>
                <a:ea typeface="Microsoft YaHei"/>
                <a:cs typeface="Microsoft YaHei"/>
              </a:defRPr>
            </a:pPr>
            <a:r>
              <a:rPr sz="1275" b="1">
                <a:solidFill>
                  <a:srgbClr val="102A43"/>
                </a:solidFill>
                <a:latin typeface="Microsoft YaHei"/>
                <a:ea typeface="Microsoft YaHei"/>
                <a:cs typeface="Microsoft YaHei"/>
              </a:rPr>
              <a:t>几何等效每程损失</a:t>
            </a:r>
          </a:p>
        </p:txBody>
      </p:sp>
      <p:sp>
        <p:nvSpPr>
          <p:cNvPr id="10" name="">
            <a:extLst xmlns:a="http://schemas.openxmlformats.org/drawingml/2006/main">
              <a:ext uri="{FF2B5EF4-FFF2-40B4-BE49-F238E27FC236}">
                <a16:creationId xmlns:a16="http://schemas.microsoft.com/office/drawing/2014/main" id="{A4829359-C95A-4B45-A83A-7A6D17322321}"/>
              </a:ext>
            </a:extLst>
          </p:cNvPr>
          <p:cNvSpPr>
            <a:spLocks xmlns:a="http://schemas.openxmlformats.org/drawingml/2006/main" noGrp="1"/>
          </p:cNvSpPr>
          <p:nvPr/>
        </p:nvSpPr>
        <p:spPr>
          <a:xfrm xmlns:a="http://schemas.openxmlformats.org/drawingml/2006/main">
            <a:off x="8134350" y="3143250"/>
            <a:ext cx="3181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344054"/>
                </a:solidFill>
                <a:latin typeface="Microsoft YaHei"/>
                <a:ea typeface="Microsoft YaHei"/>
                <a:cs typeface="Microsoft YaHei"/>
              </a:defRPr>
            </a:pPr>
            <a:r>
              <a:rPr sz="1500" b="0">
                <a:solidFill>
                  <a:srgbClr val="344054"/>
                </a:solidFill>
                <a:latin typeface="Microsoft YaHei"/>
                <a:ea typeface="Microsoft YaHei"/>
                <a:cs typeface="Microsoft YaHei"/>
              </a:rPr>
              <a:t>L_eq = 1 − S(n)^(1/n)</a:t>
            </a:r>
          </a:p>
        </p:txBody>
      </p:sp>
      <p:sp>
        <p:nvSpPr>
          <p:cNvPr id="11" name="">
            <a:extLst xmlns:a="http://schemas.openxmlformats.org/drawingml/2006/main">
              <a:ext uri="{FF2B5EF4-FFF2-40B4-BE49-F238E27FC236}">
                <a16:creationId xmlns:a16="http://schemas.microsoft.com/office/drawing/2014/main" id="{BFF3DEE9-C7AB-4FBE-9288-805A144EC89C}"/>
              </a:ext>
            </a:extLst>
          </p:cNvPr>
          <p:cNvSpPr>
            <a:spLocks xmlns:a="http://schemas.openxmlformats.org/drawingml/2006/main" noGrp="1"/>
          </p:cNvSpPr>
          <p:nvPr/>
        </p:nvSpPr>
        <p:spPr>
          <a:xfrm xmlns:a="http://schemas.openxmlformats.org/drawingml/2006/main">
            <a:off x="8134350" y="3867150"/>
            <a:ext cx="314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扫描池：256 shots，seed 23001</a:t>
            </a:r>
          </a:p>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复核池：512 shots，seed 23002</a:t>
            </a:r>
          </a:p>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场景间使用同一随机池做 CRN 配对。</a:t>
            </a:r>
          </a:p>
        </p:txBody>
      </p:sp>
      <p:sp>
        <p:nvSpPr>
          <p:cNvPr id="12" name="">
            <a:extLst xmlns:a="http://schemas.openxmlformats.org/drawingml/2006/main">
              <a:ext uri="{FF2B5EF4-FFF2-40B4-BE49-F238E27FC236}">
                <a16:creationId xmlns:a16="http://schemas.microsoft.com/office/drawing/2014/main" id="{A9C043FC-0C8E-49B6-931C-205E2A9BCCAF}"/>
              </a:ext>
            </a:extLst>
          </p:cNvPr>
          <p:cNvSpPr>
            <a:spLocks xmlns:a="http://schemas.openxmlformats.org/drawingml/2006/main" noGrp="1"/>
          </p:cNvSpPr>
          <p:nvPr/>
        </p:nvSpPr>
        <p:spPr>
          <a:xfrm xmlns:a="http://schemas.openxmlformats.org/drawingml/2006/main">
            <a:off x="8134350" y="483870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13" b="0">
                <a:solidFill>
                  <a:srgbClr val="D92D20"/>
                </a:solidFill>
                <a:latin typeface="Microsoft YaHei"/>
                <a:ea typeface="Microsoft YaHei"/>
                <a:cs typeface="Microsoft YaHei"/>
              </a:defRPr>
            </a:pPr>
            <a:r>
              <a:rPr sz="1013" b="0">
                <a:solidFill>
                  <a:srgbClr val="D92D20"/>
                </a:solidFill>
                <a:latin typeface="Microsoft YaHei"/>
                <a:ea typeface="Microsoft YaHei"/>
                <a:cs typeface="Microsoft YaHei"/>
              </a:rPr>
              <a:t>L_eq 仅为端点换算，不是论文三参数拟合的瞬时损失。</a:t>
            </a:r>
          </a:p>
        </p:txBody>
      </p:sp>
      <p:sp>
        <p:nvSpPr>
          <p:cNvPr id="13" name="">
            <a:extLst xmlns:a="http://schemas.openxmlformats.org/drawingml/2006/main">
              <a:ext uri="{FF2B5EF4-FFF2-40B4-BE49-F238E27FC236}">
                <a16:creationId xmlns:a16="http://schemas.microsoft.com/office/drawing/2014/main" id="{08DE63C8-96F2-43F8-8EB2-1388117E9196}"/>
              </a:ext>
            </a:extLst>
          </p:cNvPr>
          <p:cNvSpPr>
            <a:spLocks xmlns:a="http://schemas.openxmlformats.org/drawingml/2006/main" noGrp="1"/>
          </p:cNvSpPr>
          <p:nvPr/>
        </p:nvSpPr>
        <p:spPr>
          <a:xfrm xmlns:a="http://schemas.openxmlformats.org/drawingml/2006/main">
            <a:off x="609600" y="5619750"/>
            <a:ext cx="10972800" cy="609600"/>
          </a:xfrm>
          <a:prstGeom xmlns:a="http://schemas.openxmlformats.org/drawingml/2006/main" prst="roundRect">
            <a:avLst>
              <a:gd name="adj" fmla="val 12500"/>
            </a:avLst>
          </a:prstGeom>
          <a:solidFill xmlns:a="http://schemas.openxmlformats.org/drawingml/2006/main">
            <a:srgbClr val="F2F4F7"/>
          </a:solidFill>
          <a:ln xmlns:a="http://schemas.openxmlformats.org/drawingml/2006/main" w="9525">
            <a:solidFill>
              <a:srgbClr val="EAECF0"/>
            </a:solidFill>
          </a:ln>
        </p:spPr>
      </p:sp>
      <p:sp>
        <p:nvSpPr>
          <p:cNvPr id="14" name="">
            <a:extLst xmlns:a="http://schemas.openxmlformats.org/drawingml/2006/main">
              <a:ext uri="{FF2B5EF4-FFF2-40B4-BE49-F238E27FC236}">
                <a16:creationId xmlns:a16="http://schemas.microsoft.com/office/drawing/2014/main" id="{EE31CCC1-B49E-4F1D-9D8B-13924499F047}"/>
              </a:ext>
            </a:extLst>
          </p:cNvPr>
          <p:cNvSpPr>
            <a:spLocks xmlns:a="http://schemas.openxmlformats.org/drawingml/2006/main" noGrp="1"/>
          </p:cNvSpPr>
          <p:nvPr/>
        </p:nvSpPr>
        <p:spPr>
          <a:xfrm xmlns:a="http://schemas.openxmlformats.org/drawingml/2006/main">
            <a:off x="838200" y="5772150"/>
            <a:ext cx="1051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图中 baseline 的离散小台阶由 256 个 shot 的整数计数产生。它们应当单调不增，但不代表连续概率曲线的真实细纹。</a:t>
            </a:r>
          </a:p>
        </p:txBody>
      </p:sp>
      <p:sp>
        <p:nvSpPr>
          <p:cNvPr id="15" name="">
            <a:extLst xmlns:a="http://schemas.openxmlformats.org/drawingml/2006/main">
              <a:ext uri="{FF2B5EF4-FFF2-40B4-BE49-F238E27FC236}">
                <a16:creationId xmlns:a16="http://schemas.microsoft.com/office/drawing/2014/main" id="{E398DAD4-D050-41C9-8B26-558DE6AB9244}"/>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6" name="">
            <a:extLst xmlns:a="http://schemas.openxmlformats.org/drawingml/2006/main">
              <a:ext uri="{FF2B5EF4-FFF2-40B4-BE49-F238E27FC236}">
                <a16:creationId xmlns:a16="http://schemas.microsoft.com/office/drawing/2014/main" id="{C7C96C3C-AE51-47B0-8E01-FADEF09F880F}"/>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demo/survival_scan_results.csv · survival_engine.py · statistics.py</a:t>
            </a:r>
          </a:p>
        </p:txBody>
      </p:sp>
      <p:sp>
        <p:nvSpPr>
          <p:cNvPr id="17" name="">
            <a:extLst xmlns:a="http://schemas.openxmlformats.org/drawingml/2006/main">
              <a:ext uri="{FF2B5EF4-FFF2-40B4-BE49-F238E27FC236}">
                <a16:creationId xmlns:a16="http://schemas.microsoft.com/office/drawing/2014/main" id="{40EC6F8D-851F-4E1D-ADB4-7499C35096B5}"/>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08</a:t>
            </a:r>
          </a:p>
        </p:txBody>
      </p:sp>
    </p:spTree>
    <p:extLst>
      <p:ext uri="{BB962C8B-B14F-4D97-AF65-F5344CB8AC3E}">
        <p14:creationId xmlns:p14="http://schemas.microsoft.com/office/powerpoint/2010/main" val="1858418795"/>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667D1BF-FDE2-4E33-B7C9-B9F5493520F8}"/>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07</a:t>
            </a:r>
          </a:p>
        </p:txBody>
      </p:sp>
      <p:sp>
        <p:nvSpPr>
          <p:cNvPr id="2" name="">
            <a:extLst xmlns:a="http://schemas.openxmlformats.org/drawingml/2006/main">
              <a:ext uri="{FF2B5EF4-FFF2-40B4-BE49-F238E27FC236}">
                <a16:creationId xmlns:a16="http://schemas.microsoft.com/office/drawing/2014/main" id="{F236F9E7-925C-48F4-9663-926826ED8E86}"/>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Baseline 计算结果</a:t>
            </a:r>
          </a:p>
        </p:txBody>
      </p:sp>
      <p:sp>
        <p:nvSpPr>
          <p:cNvPr id="3" name="">
            <a:extLst xmlns:a="http://schemas.openxmlformats.org/drawingml/2006/main">
              <a:ext uri="{FF2B5EF4-FFF2-40B4-BE49-F238E27FC236}">
                <a16:creationId xmlns:a16="http://schemas.microsoft.com/office/drawing/2014/main" id="{8B188224-621D-42BD-8E8C-1B14C8A98D40}"/>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2D19014D-4EAD-4C2F-870A-CE63C0DB6AE9}"/>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先用仓库默认参数建立参照，再决定需要扫描哪些机制</a:t>
            </a:r>
          </a:p>
        </p:txBody>
      </p:sp>
      <p:graphicFrame>
        <p:nvGraphicFramePr>
          <p:cNvPr id="20" name="Chart"/>
          <p:cNvGraphicFramePr/>
          <p:nvPr/>
        </p:nvGraphicFramePr>
        <p:xfrm>
          <a:off xmlns:a="http://schemas.openxmlformats.org/drawingml/2006/main" x="609600" y="1371600"/>
          <a:ext xmlns:a="http://schemas.openxmlformats.org/drawingml/2006/main" cx="6858000" cy="3905250"/>
        </p:xfrm>
        <a:graphic xmlns:a="http://schemas.openxmlformats.org/drawingml/2006/main">
          <a:graphicData uri="http://schemas.openxmlformats.org/drawingml/2006/chart">
            <c:chart xmlns:r="http://schemas.openxmlformats.org/officeDocument/2006/relationships" xmlns:c="http://schemas.openxmlformats.org/drawingml/2006/chart" r:id="R2e3dcd5e71b54d64"/>
          </a:graphicData>
        </a:graphic>
      </p:graphicFrame>
      <p:sp>
        <p:nvSpPr>
          <p:cNvPr id="6" name="">
            <a:extLst xmlns:a="http://schemas.openxmlformats.org/drawingml/2006/main">
              <a:ext uri="{FF2B5EF4-FFF2-40B4-BE49-F238E27FC236}">
                <a16:creationId xmlns:a16="http://schemas.microsoft.com/office/drawing/2014/main" id="{AAB6BA17-1D08-470F-A8C5-BD3D64B2DD61}"/>
              </a:ext>
            </a:extLst>
          </p:cNvPr>
          <p:cNvSpPr>
            <a:spLocks xmlns:a="http://schemas.openxmlformats.org/drawingml/2006/main" noGrp="1"/>
          </p:cNvSpPr>
          <p:nvPr/>
        </p:nvSpPr>
        <p:spPr>
          <a:xfrm xmlns:a="http://schemas.openxmlformats.org/drawingml/2006/main">
            <a:off x="7810500" y="1371600"/>
            <a:ext cx="3771900" cy="3905250"/>
          </a:xfrm>
          <a:prstGeom xmlns:a="http://schemas.openxmlformats.org/drawingml/2006/main" prst="roundRect">
            <a:avLst>
              <a:gd name="adj" fmla="val 2020"/>
            </a:avLst>
          </a:prstGeom>
          <a:solidFill xmlns:a="http://schemas.openxmlformats.org/drawingml/2006/main">
            <a:srgbClr val="FFFFFF"/>
          </a:solidFill>
          <a:ln xmlns:a="http://schemas.openxmlformats.org/drawingml/2006/main" w="9525">
            <a:solidFill>
              <a:srgbClr val="EAECF0"/>
            </a:solidFill>
          </a:ln>
        </p:spPr>
      </p:sp>
      <p:sp>
        <p:nvSpPr>
          <p:cNvPr id="7" name="">
            <a:extLst xmlns:a="http://schemas.openxmlformats.org/drawingml/2006/main">
              <a:ext uri="{FF2B5EF4-FFF2-40B4-BE49-F238E27FC236}">
                <a16:creationId xmlns:a16="http://schemas.microsoft.com/office/drawing/2014/main" id="{1381CC50-47FA-4DEB-8B81-EF8DE2ECA89B}"/>
              </a:ext>
            </a:extLst>
          </p:cNvPr>
          <p:cNvSpPr>
            <a:spLocks xmlns:a="http://schemas.openxmlformats.org/drawingml/2006/main" noGrp="1"/>
          </p:cNvSpPr>
          <p:nvPr/>
        </p:nvSpPr>
        <p:spPr>
          <a:xfrm xmlns:a="http://schemas.openxmlformats.org/drawingml/2006/main">
            <a:off x="8077200" y="16192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02A43"/>
                </a:solidFill>
                <a:latin typeface="Microsoft YaHei"/>
                <a:ea typeface="Microsoft YaHei"/>
                <a:cs typeface="Microsoft YaHei"/>
              </a:defRPr>
            </a:pPr>
            <a:r>
              <a:rPr sz="1500" b="1">
                <a:solidFill>
                  <a:srgbClr val="102A43"/>
                </a:solidFill>
                <a:latin typeface="Microsoft YaHei"/>
                <a:ea typeface="Microsoft YaHei"/>
                <a:cs typeface="Microsoft YaHei"/>
              </a:rPr>
              <a:t>Baseline 参数</a:t>
            </a:r>
          </a:p>
        </p:txBody>
      </p:sp>
      <p:graphicFrame>
        <p:nvGraphicFramePr>
          <p:cNvPr id="23" name=""/>
          <p:cNvGraphicFramePr/>
          <p:nvPr/>
        </p:nvGraphicFramePr>
        <p:xfrm>
          <a:off xmlns:a="http://schemas.openxmlformats.org/drawingml/2006/main" x="8077200" y="2038350"/>
          <a:ext xmlns:a="http://schemas.openxmlformats.org/drawingml/2006/main" cx="3238500" cy="2476500"/>
        </p:xfrm>
        <a:graphic xmlns:a="http://schemas.openxmlformats.org/drawingml/2006/main">
          <a:graphicData uri="http://schemas.openxmlformats.org/drawingml/2006/table">
            <a:tbl>
              <a:tblPr/>
              <a:tblGrid>
                <a:gridCol w="1673225"/>
                <a:gridCol w="1565275"/>
              </a:tblGrid>
              <a:tr h="353786">
                <a:tc>
                  <a:txBody>
                    <a:bodyPr>
                      <a:noAutofit/>
                    </a:bodyPr>
                    <a:lstStyle/>
                    <a:p>
                      <a:pPr algn="l"/>
                      <a:r>
                        <a:rPr sz="1050" b="1">
                          <a:solidFill>
                            <a:srgbClr val="FFFFFF"/>
                          </a:solidFill>
                          <a:latin typeface="Microsoft YaHei"/>
                          <a:ea typeface="Microsoft YaHei"/>
                          <a:cs typeface="Microsoft YaHei"/>
                        </a:rPr>
                        <a:t>Input</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Value</a:t>
                      </a:r>
                    </a:p>
                  </a:txBody>
                  <a:tcPr marL="91440" marR="91440" marT="45720" marB="45720" anchor="ctr">
                    <a:solidFill>
                      <a:srgbClr val="102A43"/>
                    </a:solidFill>
                  </a:tcPr>
                </a:tc>
              </a:tr>
              <a:tr h="353786">
                <a:tc>
                  <a:txBody>
                    <a:bodyPr>
                      <a:noAutofit/>
                    </a:bodyPr>
                    <a:lstStyle/>
                    <a:p>
                      <a:pPr algn="l"/>
                      <a:r>
                        <a:rPr sz="1050" b="0">
                          <a:solidFill>
                            <a:srgbClr val="344054"/>
                          </a:solidFill>
                          <a:latin typeface="Microsoft YaHei"/>
                          <a:ea typeface="Microsoft YaHei"/>
                          <a:cs typeface="Microsoft YaHei"/>
                        </a:rPr>
                        <a:t>Temperature</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5 µK</a:t>
                      </a:r>
                    </a:p>
                  </a:txBody>
                  <a:tcPr marL="91440" marR="91440" marT="45720" marB="45720" anchor="ctr">
                    <a:solidFill>
                      <a:srgbClr val="FFFFFF"/>
                    </a:solidFill>
                  </a:tcPr>
                </a:tc>
              </a:tr>
              <a:tr h="353786">
                <a:tc>
                  <a:txBody>
                    <a:bodyPr>
                      <a:noAutofit/>
                    </a:bodyPr>
                    <a:lstStyle/>
                    <a:p>
                      <a:pPr algn="l"/>
                      <a:r>
                        <a:rPr sz="1050"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1×10⁻⁸ Hz⁻¹</a:t>
                      </a:r>
                    </a:p>
                  </a:txBody>
                  <a:tcPr marL="91440" marR="91440" marT="45720" marB="45720" anchor="ctr">
                    <a:solidFill>
                      <a:srgbClr val="F8FAFC"/>
                    </a:solidFill>
                  </a:tcPr>
                </a:tc>
              </a:tr>
              <a:tr h="353786">
                <a:tc>
                  <a:txBody>
                    <a:bodyPr>
                      <a:noAutofit/>
                    </a:bodyPr>
                    <a:lstStyle/>
                    <a:p>
                      <a:pPr algn="l"/>
                      <a:r>
                        <a:rPr sz="1050" b="0">
                          <a:solidFill>
                            <a:srgbClr val="344054"/>
                          </a:solidFill>
                          <a:latin typeface="Microsoft YaHei"/>
                          <a:ea typeface="Microsoft YaHei"/>
                          <a:cs typeface="Microsoft YaHei"/>
                        </a:rPr>
                        <a:t>Static alignment 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0.05 µm</a:t>
                      </a:r>
                    </a:p>
                  </a:txBody>
                  <a:tcPr marL="91440" marR="91440" marT="45720" marB="45720" anchor="ctr">
                    <a:solidFill>
                      <a:srgbClr val="FFFFFF"/>
                    </a:solidFill>
                  </a:tcPr>
                </a:tc>
              </a:tr>
              <a:tr h="353786">
                <a:tc>
                  <a:txBody>
                    <a:bodyPr>
                      <a:noAutofit/>
                    </a:bodyPr>
                    <a:lstStyle/>
                    <a:p>
                      <a:pPr algn="l"/>
                      <a:r>
                        <a:rPr sz="1050" b="0">
                          <a:solidFill>
                            <a:srgbClr val="344054"/>
                          </a:solidFill>
                          <a:latin typeface="Microsoft YaHei"/>
                          <a:ea typeface="Microsoft YaHei"/>
                          <a:cs typeface="Microsoft YaHei"/>
                        </a:rPr>
                        <a:t>Leg-wise jitter 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0.01 µm</a:t>
                      </a:r>
                    </a:p>
                  </a:txBody>
                  <a:tcPr marL="91440" marR="91440" marT="45720" marB="45720" anchor="ctr">
                    <a:solidFill>
                      <a:srgbClr val="F8FAFC"/>
                    </a:solidFill>
                  </a:tcPr>
                </a:tc>
              </a:tr>
              <a:tr h="353786">
                <a:tc>
                  <a:txBody>
                    <a:bodyPr>
                      <a:noAutofit/>
                    </a:bodyPr>
                    <a:lstStyle/>
                    <a:p>
                      <a:pPr algn="l"/>
                      <a:r>
                        <a:rPr sz="1050" b="0">
                          <a:solidFill>
                            <a:srgbClr val="344054"/>
                          </a:solidFill>
                          <a:latin typeface="Microsoft YaHei"/>
                          <a:ea typeface="Microsoft YaHei"/>
                          <a:cs typeface="Microsoft YaHei"/>
                        </a:rPr>
                        <a:t>SLM depth σ</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11.4%</a:t>
                      </a:r>
                    </a:p>
                  </a:txBody>
                  <a:tcPr marL="91440" marR="91440" marT="45720" marB="45720" anchor="ctr">
                    <a:solidFill>
                      <a:srgbClr val="FFFFFF"/>
                    </a:solidFill>
                  </a:tcPr>
                </a:tc>
              </a:tr>
              <a:tr h="353786">
                <a:tc>
                  <a:txBody>
                    <a:bodyPr>
                      <a:noAutofit/>
                    </a:bodyPr>
                    <a:lstStyle/>
                    <a:p>
                      <a:pPr algn="l"/>
                      <a:r>
                        <a:rPr sz="1050" b="0">
                          <a:solidFill>
                            <a:srgbClr val="344054"/>
                          </a:solidFill>
                          <a:latin typeface="Microsoft YaHei"/>
                          <a:ea typeface="Microsoft YaHei"/>
                          <a:cs typeface="Microsoft YaHei"/>
                        </a:rPr>
                        <a:t>AOD depth / waist σ</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2% / 2%</a:t>
                      </a:r>
                    </a:p>
                  </a:txBody>
                  <a:tcPr marL="91440" marR="91440" marT="45720" marB="45720" anchor="ctr">
                    <a:solidFill>
                      <a:srgbClr val="F8FAFC"/>
                    </a:solidFill>
                  </a:tcPr>
                </a:tc>
              </a:tr>
            </a:tbl>
          </a:graphicData>
        </a:graphic>
      </p:graphicFrame>
      <p:sp>
        <p:nvSpPr>
          <p:cNvPr id="9" name="">
            <a:extLst xmlns:a="http://schemas.openxmlformats.org/drawingml/2006/main">
              <a:ext uri="{FF2B5EF4-FFF2-40B4-BE49-F238E27FC236}">
                <a16:creationId xmlns:a16="http://schemas.microsoft.com/office/drawing/2014/main" id="{0AA64700-079A-4BCC-988D-A1C890A1E1A3}"/>
              </a:ext>
            </a:extLst>
          </p:cNvPr>
          <p:cNvSpPr>
            <a:spLocks xmlns:a="http://schemas.openxmlformats.org/drawingml/2006/main" noGrp="1"/>
          </p:cNvSpPr>
          <p:nvPr/>
        </p:nvSpPr>
        <p:spPr>
          <a:xfrm xmlns:a="http://schemas.openxmlformats.org/drawingml/2006/main">
            <a:off x="8077200" y="4629150"/>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D92D20"/>
                </a:solidFill>
                <a:latin typeface="Microsoft YaHei"/>
                <a:ea typeface="Microsoft YaHei"/>
                <a:cs typeface="Microsoft YaHei"/>
              </a:defRPr>
            </a:pPr>
            <a:r>
              <a:rPr sz="1275" b="1">
                <a:solidFill>
                  <a:srgbClr val="D92D20"/>
                </a:solidFill>
                <a:latin typeface="Microsoft YaHei"/>
                <a:ea typeface="Microsoft YaHei"/>
                <a:cs typeface="Microsoft YaHei"/>
              </a:rPr>
              <a:t>主要发现</a:t>
            </a:r>
          </a:p>
        </p:txBody>
      </p:sp>
      <p:sp>
        <p:nvSpPr>
          <p:cNvPr id="10" name="">
            <a:extLst xmlns:a="http://schemas.openxmlformats.org/drawingml/2006/main">
              <a:ext uri="{FF2B5EF4-FFF2-40B4-BE49-F238E27FC236}">
                <a16:creationId xmlns:a16="http://schemas.microsoft.com/office/drawing/2014/main" id="{5128BEDA-94DE-469A-B046-833639981A3E}"/>
              </a:ext>
            </a:extLst>
          </p:cNvPr>
          <p:cNvSpPr>
            <a:spLocks xmlns:a="http://schemas.openxmlformats.org/drawingml/2006/main" noGrp="1"/>
          </p:cNvSpPr>
          <p:nvPr/>
        </p:nvSpPr>
        <p:spPr>
          <a:xfrm xmlns:a="http://schemas.openxmlformats.org/drawingml/2006/main">
            <a:off x="8077200" y="49149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13" b="0">
                <a:solidFill>
                  <a:srgbClr val="344054"/>
                </a:solidFill>
                <a:latin typeface="Microsoft YaHei"/>
                <a:ea typeface="Microsoft YaHei"/>
                <a:cs typeface="Microsoft YaHei"/>
              </a:defRPr>
            </a:pPr>
            <a:r>
              <a:rPr sz="1013" b="0">
                <a:solidFill>
                  <a:srgbClr val="344054"/>
                </a:solidFill>
                <a:latin typeface="Microsoft YaHei"/>
                <a:ea typeface="Microsoft YaHei"/>
                <a:cs typeface="Microsoft YaHei"/>
              </a:rPr>
              <a:t>Manual 400/600 均高于论文，说明默认模型的损失强度不足。</a:t>
            </a:r>
          </a:p>
        </p:txBody>
      </p:sp>
      <p:sp>
        <p:nvSpPr>
          <p:cNvPr id="11" name="">
            <a:extLst xmlns:a="http://schemas.openxmlformats.org/drawingml/2006/main">
              <a:ext uri="{FF2B5EF4-FFF2-40B4-BE49-F238E27FC236}">
                <a16:creationId xmlns:a16="http://schemas.microsoft.com/office/drawing/2014/main" id="{7A936192-DD91-414F-954E-831AF5C362A8}"/>
              </a:ext>
            </a:extLst>
          </p:cNvPr>
          <p:cNvSpPr>
            <a:spLocks xmlns:a="http://schemas.openxmlformats.org/drawingml/2006/main" noGrp="1"/>
          </p:cNvSpPr>
          <p:nvPr/>
        </p:nvSpPr>
        <p:spPr>
          <a:xfrm xmlns:a="http://schemas.openxmlformats.org/drawingml/2006/main">
            <a:off x="609600" y="5715000"/>
            <a:ext cx="10972800" cy="514350"/>
          </a:xfrm>
          <a:prstGeom xmlns:a="http://schemas.openxmlformats.org/drawingml/2006/main" prst="roundRect">
            <a:avLst>
              <a:gd name="adj" fmla="val 14815"/>
            </a:avLst>
          </a:prstGeom>
          <a:solidFill xmlns:a="http://schemas.openxmlformats.org/drawingml/2006/main">
            <a:srgbClr val="FFF6ED"/>
          </a:solidFill>
          <a:ln xmlns:a="http://schemas.openxmlformats.org/drawingml/2006/main" w="9525">
            <a:solidFill>
              <a:srgbClr val="FEDF89"/>
            </a:solidFill>
          </a:ln>
        </p:spPr>
      </p:sp>
      <p:sp>
        <p:nvSpPr>
          <p:cNvPr id="12" name="">
            <a:extLst xmlns:a="http://schemas.openxmlformats.org/drawingml/2006/main">
              <a:ext uri="{FF2B5EF4-FFF2-40B4-BE49-F238E27FC236}">
                <a16:creationId xmlns:a16="http://schemas.microsoft.com/office/drawing/2014/main" id="{B187583E-BEA6-43CD-93A5-6B6492D0113A}"/>
              </a:ext>
            </a:extLst>
          </p:cNvPr>
          <p:cNvSpPr>
            <a:spLocks xmlns:a="http://schemas.openxmlformats.org/drawingml/2006/main" noGrp="1"/>
          </p:cNvSpPr>
          <p:nvPr/>
        </p:nvSpPr>
        <p:spPr>
          <a:xfrm xmlns:a="http://schemas.openxmlformats.org/drawingml/2006/main">
            <a:off x="838200" y="58388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Baseline 是仓库默认参考点，不是实验标定值，也不是通过验收的最佳拟合配置。</a:t>
            </a:r>
          </a:p>
        </p:txBody>
      </p:sp>
      <p:sp>
        <p:nvSpPr>
          <p:cNvPr id="13" name="">
            <a:extLst xmlns:a="http://schemas.openxmlformats.org/drawingml/2006/main">
              <a:ext uri="{FF2B5EF4-FFF2-40B4-BE49-F238E27FC236}">
                <a16:creationId xmlns:a16="http://schemas.microsoft.com/office/drawing/2014/main" id="{164C1171-D5AF-4BC1-AAAE-4EA3778F6FBC}"/>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4" name="">
            <a:extLst xmlns:a="http://schemas.openxmlformats.org/drawingml/2006/main">
              <a:ext uri="{FF2B5EF4-FFF2-40B4-BE49-F238E27FC236}">
                <a16:creationId xmlns:a16="http://schemas.microsoft.com/office/drawing/2014/main" id="{F0E27553-45D9-4B89-8001-3C28CC14AE54}"/>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demo/survival_scan_results.csv · paper monotone reference</a:t>
            </a:r>
          </a:p>
        </p:txBody>
      </p:sp>
      <p:sp>
        <p:nvSpPr>
          <p:cNvPr id="15" name="">
            <a:extLst xmlns:a="http://schemas.openxmlformats.org/drawingml/2006/main">
              <a:ext uri="{FF2B5EF4-FFF2-40B4-BE49-F238E27FC236}">
                <a16:creationId xmlns:a16="http://schemas.microsoft.com/office/drawing/2014/main" id="{4414A20D-CD7E-43B2-BA32-6703E9A4B457}"/>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09</a:t>
            </a:r>
          </a:p>
        </p:txBody>
      </p:sp>
    </p:spTree>
    <p:extLst>
      <p:ext uri="{BB962C8B-B14F-4D97-AF65-F5344CB8AC3E}">
        <p14:creationId xmlns:p14="http://schemas.microsoft.com/office/powerpoint/2010/main" val="613686594"/>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03CAE9-EDC5-43FE-AD22-49674E2FE9BE}"/>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08</a:t>
            </a:r>
          </a:p>
        </p:txBody>
      </p:sp>
      <p:sp>
        <p:nvSpPr>
          <p:cNvPr id="2" name="">
            <a:extLst xmlns:a="http://schemas.openxmlformats.org/drawingml/2006/main">
              <a:ext uri="{FF2B5EF4-FFF2-40B4-BE49-F238E27FC236}">
                <a16:creationId xmlns:a16="http://schemas.microsoft.com/office/drawing/2014/main" id="{9CB5FC15-5DFC-4790-B221-1C62AA0B0B6A}"/>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单因素敏感性扫描设计</a:t>
            </a:r>
          </a:p>
        </p:txBody>
      </p:sp>
      <p:sp>
        <p:nvSpPr>
          <p:cNvPr id="3" name="">
            <a:extLst xmlns:a="http://schemas.openxmlformats.org/drawingml/2006/main">
              <a:ext uri="{FF2B5EF4-FFF2-40B4-BE49-F238E27FC236}">
                <a16:creationId xmlns:a16="http://schemas.microsoft.com/office/drawing/2014/main" id="{92D05030-28AB-4DE2-BA65-45960729EBB4}"/>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5F33ABEB-8802-478A-A3BD-F43CEA8A7410}"/>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每次只改变一个参数；波形、随机池、阱参数和数值步长保持一致</a:t>
            </a:r>
          </a:p>
        </p:txBody>
      </p:sp>
      <p:graphicFrame>
        <p:nvGraphicFramePr>
          <p:cNvPr id="15" name=""/>
          <p:cNvGraphicFramePr/>
          <p:nvPr/>
        </p:nvGraphicFramePr>
        <p:xfrm>
          <a:off xmlns:a="http://schemas.openxmlformats.org/drawingml/2006/main" x="609600" y="1352550"/>
          <a:ext xmlns:a="http://schemas.openxmlformats.org/drawingml/2006/main" cx="10972800" cy="2647950"/>
        </p:xfrm>
        <a:graphic xmlns:a="http://schemas.openxmlformats.org/drawingml/2006/main">
          <a:graphicData uri="http://schemas.openxmlformats.org/drawingml/2006/table">
            <a:tbl>
              <a:tblPr/>
              <a:tblGrid>
                <a:gridCol w="1976467"/>
                <a:gridCol w="1976467"/>
                <a:gridCol w="2862470"/>
                <a:gridCol w="4157396"/>
              </a:tblGrid>
              <a:tr h="529590">
                <a:tc>
                  <a:txBody>
                    <a:bodyPr>
                      <a:noAutofit/>
                    </a:bodyPr>
                    <a:lstStyle/>
                    <a:p>
                      <a:pPr algn="l"/>
                      <a:r>
                        <a:rPr sz="1050" b="1">
                          <a:solidFill>
                            <a:srgbClr val="FFFFFF"/>
                          </a:solidFill>
                          <a:latin typeface="Microsoft YaHei"/>
                          <a:ea typeface="Microsoft YaHei"/>
                          <a:cs typeface="Microsoft YaHei"/>
                        </a:rPr>
                        <a:t>Parameter</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Baseline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Scan values</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What the scan tests</a:t>
                      </a:r>
                    </a:p>
                  </a:txBody>
                  <a:tcPr marL="91440" marR="91440" marT="45720" marB="45720" anchor="ctr">
                    <a:solidFill>
                      <a:srgbClr val="102A43"/>
                    </a:solidFill>
                  </a:tcPr>
                </a:tc>
              </a:tr>
              <a:tr h="529590">
                <a:tc>
                  <a:txBody>
                    <a:bodyPr>
                      <a:noAutofit/>
                    </a:bodyPr>
                    <a:lstStyle/>
                    <a:p>
                      <a:pPr algn="l"/>
                      <a:r>
                        <a:rPr sz="1125" b="0">
                          <a:solidFill>
                            <a:srgbClr val="344054"/>
                          </a:solidFill>
                          <a:latin typeface="Microsoft YaHei"/>
                          <a:ea typeface="Microsoft YaHei"/>
                          <a:cs typeface="Microsoft YaHei"/>
                        </a:rPr>
                        <a:t>Initial T</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5 µK</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10 / 20 / 30 / 40 µK</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初始能量分布是否靠近逃逸阈值</a:t>
                      </a:r>
                    </a:p>
                  </a:txBody>
                  <a:tcPr marL="91440" marR="91440" marT="45720" marB="45720" anchor="ctr">
                    <a:solidFill>
                      <a:srgbClr val="FFFFFF"/>
                    </a:solidFill>
                  </a:tcPr>
                </a:tc>
              </a:tr>
              <a:tr h="529590">
                <a:tc>
                  <a:txBody>
                    <a:bodyPr>
                      <a:noAutofit/>
                    </a:bodyPr>
                    <a:lstStyle/>
                    <a:p>
                      <a:pPr algn="l"/>
                      <a:r>
                        <a:rPr sz="1125" b="0">
                          <a:solidFill>
                            <a:srgbClr val="344054"/>
                          </a:solidFill>
                          <a:latin typeface="Microsoft YaHei"/>
                          <a:ea typeface="Microsoft YaHei"/>
                          <a:cs typeface="Microsoft YaHei"/>
                        </a:rPr>
                        <a:t>RIN PSD</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1×10⁻⁸ Hz⁻¹</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1×10⁻⁷ / 3×10⁻⁷ Hz⁻¹</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传播过程中的平均参量加热</a:t>
                      </a:r>
                    </a:p>
                  </a:txBody>
                  <a:tcPr marL="91440" marR="91440" marT="45720" marB="45720" anchor="ctr">
                    <a:solidFill>
                      <a:srgbClr val="F8FAFC"/>
                    </a:solidFill>
                  </a:tcPr>
                </a:tc>
              </a:tr>
              <a:tr h="529590">
                <a:tc>
                  <a:txBody>
                    <a:bodyPr>
                      <a:noAutofit/>
                    </a:bodyPr>
                    <a:lstStyle/>
                    <a:p>
                      <a:pPr algn="l"/>
                      <a:r>
                        <a:rPr sz="1125" b="0">
                          <a:solidFill>
                            <a:srgbClr val="344054"/>
                          </a:solidFill>
                          <a:latin typeface="Microsoft YaHei"/>
                          <a:ea typeface="Microsoft YaHei"/>
                          <a:cs typeface="Microsoft YaHei"/>
                        </a:rPr>
                        <a:t>Static alignment σ</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0.05 µm</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0.15 / 0.30 µm</a:t>
                      </a:r>
                    </a:p>
                  </a:txBody>
                  <a:tcPr marL="91440" marR="91440" marT="45720" marB="45720" anchor="ctr">
                    <a:solidFill>
                      <a:srgbClr val="FFFFFF"/>
                    </a:solidFill>
                  </a:tcPr>
                </a:tc>
                <a:tc>
                  <a:txBody>
                    <a:bodyPr>
                      <a:noAutofit/>
                    </a:bodyPr>
                    <a:lstStyle/>
                    <a:p>
                      <a:pPr algn="l"/>
                      <a:r>
                        <a:rPr sz="1125" b="0">
                          <a:solidFill>
                            <a:srgbClr val="344054"/>
                          </a:solidFill>
                          <a:latin typeface="Microsoft YaHei"/>
                          <a:ea typeface="Microsoft YaHei"/>
                          <a:cs typeface="Microsoft YaHei"/>
                        </a:rPr>
                        <a:t>全程固定的 AOD–SLM 中心失配</a:t>
                      </a:r>
                    </a:p>
                  </a:txBody>
                  <a:tcPr marL="91440" marR="91440" marT="45720" marB="45720" anchor="ctr">
                    <a:solidFill>
                      <a:srgbClr val="FFFFFF"/>
                    </a:solidFill>
                  </a:tcPr>
                </a:tc>
              </a:tr>
              <a:tr h="529590">
                <a:tc>
                  <a:txBody>
                    <a:bodyPr>
                      <a:noAutofit/>
                    </a:bodyPr>
                    <a:lstStyle/>
                    <a:p>
                      <a:pPr algn="l"/>
                      <a:r>
                        <a:rPr sz="1125" b="0">
                          <a:solidFill>
                            <a:srgbClr val="344054"/>
                          </a:solidFill>
                          <a:latin typeface="Microsoft YaHei"/>
                          <a:ea typeface="Microsoft YaHei"/>
                          <a:cs typeface="Microsoft YaHei"/>
                        </a:rPr>
                        <a:t>Leg-wise jitter σ</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0.01 µm</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0.03 / 0.10 µm</a:t>
                      </a:r>
                    </a:p>
                  </a:txBody>
                  <a:tcPr marL="91440" marR="91440" marT="45720" marB="45720" anchor="ctr">
                    <a:solidFill>
                      <a:srgbClr val="F8FAFC"/>
                    </a:solidFill>
                  </a:tcPr>
                </a:tc>
                <a:tc>
                  <a:txBody>
                    <a:bodyPr>
                      <a:noAutofit/>
                    </a:bodyPr>
                    <a:lstStyle/>
                    <a:p>
                      <a:pPr algn="l"/>
                      <a:r>
                        <a:rPr sz="1125" b="0">
                          <a:solidFill>
                            <a:srgbClr val="344054"/>
                          </a:solidFill>
                          <a:latin typeface="Microsoft YaHei"/>
                          <a:ea typeface="Microsoft YaHei"/>
                          <a:cs typeface="Microsoft YaHei"/>
                        </a:rPr>
                        <a:t>每个阶段重新抽样的对准扰动</a:t>
                      </a:r>
                    </a:p>
                  </a:txBody>
                  <a:tcPr marL="91440" marR="91440" marT="45720" marB="45720" anchor="ctr">
                    <a:solidFill>
                      <a:srgbClr val="F8FAFC"/>
                    </a:solidFill>
                  </a:tcPr>
                </a:tc>
              </a:tr>
            </a:tbl>
          </a:graphicData>
        </a:graphic>
      </p:graphicFrame>
      <p:sp>
        <p:nvSpPr>
          <p:cNvPr id="6" name="">
            <a:extLst xmlns:a="http://schemas.openxmlformats.org/drawingml/2006/main">
              <a:ext uri="{FF2B5EF4-FFF2-40B4-BE49-F238E27FC236}">
                <a16:creationId xmlns:a16="http://schemas.microsoft.com/office/drawing/2014/main" id="{1787D1A6-F01A-44A3-B8A1-766152F3AA25}"/>
              </a:ext>
            </a:extLst>
          </p:cNvPr>
          <p:cNvSpPr>
            <a:spLocks xmlns:a="http://schemas.openxmlformats.org/drawingml/2006/main" noGrp="1"/>
          </p:cNvSpPr>
          <p:nvPr/>
        </p:nvSpPr>
        <p:spPr>
          <a:xfrm xmlns:a="http://schemas.openxmlformats.org/drawingml/2006/main">
            <a:off x="609600" y="4324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102A43"/>
                </a:solidFill>
                <a:latin typeface="Microsoft YaHei"/>
                <a:ea typeface="Microsoft YaHei"/>
                <a:cs typeface="Microsoft YaHei"/>
              </a:defRPr>
            </a:pPr>
            <a:r>
              <a:rPr sz="1575" b="1">
                <a:solidFill>
                  <a:srgbClr val="102A43"/>
                </a:solidFill>
                <a:latin typeface="Microsoft YaHei"/>
                <a:ea typeface="Microsoft YaHei"/>
                <a:cs typeface="Microsoft YaHei"/>
              </a:rPr>
              <a:t>所有场景保持不变的量</a:t>
            </a:r>
          </a:p>
        </p:txBody>
      </p:sp>
      <p:graphicFrame>
        <p:nvGraphicFramePr>
          <p:cNvPr id="17" name=""/>
          <p:cNvGraphicFramePr/>
          <p:nvPr/>
        </p:nvGraphicFramePr>
        <p:xfrm>
          <a:off xmlns:a="http://schemas.openxmlformats.org/drawingml/2006/main" x="609600" y="4724400"/>
          <a:ext xmlns:a="http://schemas.openxmlformats.org/drawingml/2006/main" cx="10972800" cy="1428750"/>
        </p:xfrm>
        <a:graphic xmlns:a="http://schemas.openxmlformats.org/drawingml/2006/main">
          <a:graphicData uri="http://schemas.openxmlformats.org/drawingml/2006/table">
            <a:tbl>
              <a:tblPr/>
              <a:tblGrid>
                <a:gridCol w="2116183"/>
                <a:gridCol w="5094514"/>
                <a:gridCol w="3762103"/>
              </a:tblGrid>
              <a:tr h="285750">
                <a:tc>
                  <a:txBody>
                    <a:bodyPr>
                      <a:noAutofit/>
                    </a:bodyPr>
                    <a:lstStyle/>
                    <a:p>
                      <a:pPr algn="l"/>
                      <a:r>
                        <a:rPr sz="1050" b="1">
                          <a:solidFill>
                            <a:srgbClr val="FFFFFF"/>
                          </a:solidFill>
                          <a:latin typeface="Microsoft YaHei"/>
                          <a:ea typeface="Microsoft YaHei"/>
                          <a:cs typeface="Microsoft YaHei"/>
                        </a:rPr>
                        <a:t>Control</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Fixed value</a:t>
                      </a:r>
                    </a:p>
                  </a:txBody>
                  <a:tcPr marL="91440" marR="91440" marT="45720" marB="45720" anchor="ctr">
                    <a:solidFill>
                      <a:srgbClr val="102A43"/>
                    </a:solidFill>
                  </a:tcPr>
                </a:tc>
                <a:tc>
                  <a:txBody>
                    <a:bodyPr>
                      <a:noAutofit/>
                    </a:bodyPr>
                    <a:lstStyle/>
                    <a:p>
                      <a:pPr algn="l"/>
                      <a:r>
                        <a:rPr sz="1050" b="1">
                          <a:solidFill>
                            <a:srgbClr val="FFFFFF"/>
                          </a:solidFill>
                          <a:latin typeface="Microsoft YaHei"/>
                          <a:ea typeface="Microsoft YaHei"/>
                          <a:cs typeface="Microsoft YaHei"/>
                        </a:rPr>
                        <a:t>Reason</a:t>
                      </a:r>
                    </a:p>
                  </a:txBody>
                  <a:tcPr marL="91440" marR="91440" marT="45720" marB="45720" anchor="ctr">
                    <a:solidFill>
                      <a:srgbClr val="102A43"/>
                    </a:solidFill>
                  </a:tcPr>
                </a:tc>
              </a:tr>
              <a:tr h="285750">
                <a:tc>
                  <a:txBody>
                    <a:bodyPr>
                      <a:noAutofit/>
                    </a:bodyPr>
                    <a:lstStyle/>
                    <a:p>
                      <a:pPr algn="l"/>
                      <a:r>
                        <a:rPr sz="1050" b="0">
                          <a:solidFill>
                            <a:srgbClr val="344054"/>
                          </a:solidFill>
                          <a:latin typeface="Microsoft YaHei"/>
                          <a:ea typeface="Microsoft YaHei"/>
                          <a:cs typeface="Microsoft YaHei"/>
                        </a:rPr>
                        <a:t>Trap geometry</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SLM 140 µK, AOD 280 µK, w=1.17 µm, d=2.4 µm</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避免同时改变势能尺度</a:t>
                      </a:r>
                    </a:p>
                  </a:txBody>
                  <a:tcPr marL="91440" marR="91440" marT="45720" marB="45720" anchor="ctr">
                    <a:solidFill>
                      <a:srgbClr val="FFFFFF"/>
                    </a:solidFill>
                  </a:tcPr>
                </a:tc>
              </a:tr>
              <a:tr h="285750">
                <a:tc>
                  <a:txBody>
                    <a:bodyPr>
                      <a:noAutofit/>
                    </a:bodyPr>
                    <a:lstStyle/>
                    <a:p>
                      <a:pPr algn="l"/>
                      <a:r>
                        <a:rPr sz="1050" b="0">
                          <a:solidFill>
                            <a:srgbClr val="344054"/>
                          </a:solidFill>
                          <a:latin typeface="Microsoft YaHei"/>
                          <a:ea typeface="Microsoft YaHei"/>
                          <a:cs typeface="Microsoft YaHei"/>
                        </a:rPr>
                        <a:t>Numerics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dt=0.05 µs, 256 shots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保持统计和离散化口径</a:t>
                      </a:r>
                    </a:p>
                  </a:txBody>
                  <a:tcPr marL="91440" marR="91440" marT="45720" marB="45720" anchor="ctr">
                    <a:solidFill>
                      <a:srgbClr val="F8FAFC"/>
                    </a:solidFill>
                  </a:tcPr>
                </a:tc>
              </a:tr>
              <a:tr h="285750">
                <a:tc>
                  <a:txBody>
                    <a:bodyPr>
                      <a:noAutofit/>
                    </a:bodyPr>
                    <a:lstStyle/>
                    <a:p>
                      <a:pPr algn="l"/>
                      <a:r>
                        <a:rPr sz="1050" b="0">
                          <a:solidFill>
                            <a:srgbClr val="344054"/>
                          </a:solidFill>
                          <a:latin typeface="Microsoft YaHei"/>
                          <a:ea typeface="Microsoft YaHei"/>
                          <a:cs typeface="Microsoft YaHei"/>
                        </a:rPr>
                        <a:t>Random pool</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scan_seed=23001</a:t>
                      </a:r>
                    </a:p>
                  </a:txBody>
                  <a:tcPr marL="91440" marR="91440" marT="45720" marB="45720" anchor="ctr">
                    <a:solidFill>
                      <a:srgbClr val="FFFFFF"/>
                    </a:solidFill>
                  </a:tcPr>
                </a:tc>
                <a:tc>
                  <a:txBody>
                    <a:bodyPr>
                      <a:noAutofit/>
                    </a:bodyPr>
                    <a:lstStyle/>
                    <a:p>
                      <a:pPr algn="l"/>
                      <a:r>
                        <a:rPr sz="1050" b="0">
                          <a:solidFill>
                            <a:srgbClr val="344054"/>
                          </a:solidFill>
                          <a:latin typeface="Microsoft YaHei"/>
                          <a:ea typeface="Microsoft YaHei"/>
                          <a:cs typeface="Microsoft YaHei"/>
                        </a:rPr>
                        <a:t>跨场景 CRN 配对</a:t>
                      </a:r>
                    </a:p>
                  </a:txBody>
                  <a:tcPr marL="91440" marR="91440" marT="45720" marB="45720" anchor="ctr">
                    <a:solidFill>
                      <a:srgbClr val="FFFFFF"/>
                    </a:solidFill>
                  </a:tcPr>
                </a:tc>
              </a:tr>
              <a:tr h="285750">
                <a:tc>
                  <a:txBody>
                    <a:bodyPr>
                      <a:noAutofit/>
                    </a:bodyPr>
                    <a:lstStyle/>
                    <a:p>
                      <a:pPr algn="l"/>
                      <a:r>
                        <a:rPr sz="1050" b="0">
                          <a:solidFill>
                            <a:srgbClr val="344054"/>
                          </a:solidFill>
                          <a:latin typeface="Microsoft YaHei"/>
                          <a:ea typeface="Microsoft YaHei"/>
                          <a:cs typeface="Microsoft YaHei"/>
                        </a:rPr>
                        <a:t>Waveforms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Manual 200 / 400 / 600 µs</a:t>
                      </a:r>
                    </a:p>
                  </a:txBody>
                  <a:tcPr marL="91440" marR="91440" marT="45720" marB="45720" anchor="ctr">
                    <a:solidFill>
                      <a:srgbClr val="F8FAFC"/>
                    </a:solidFill>
                  </a:tcPr>
                </a:tc>
                <a:tc>
                  <a:txBody>
                    <a:bodyPr>
                      <a:noAutofit/>
                    </a:bodyPr>
                    <a:lstStyle/>
                    <a:p>
                      <a:pPr algn="l"/>
                      <a:r>
                        <a:rPr sz="1050" b="0">
                          <a:solidFill>
                            <a:srgbClr val="344054"/>
                          </a:solidFill>
                          <a:latin typeface="Microsoft YaHei"/>
                          <a:ea typeface="Microsoft YaHei"/>
                          <a:cs typeface="Microsoft YaHei"/>
                        </a:rPr>
                        <a:t>用时长排序区分损失机制</a:t>
                      </a:r>
                    </a:p>
                  </a:txBody>
                  <a:tcPr marL="91440" marR="91440" marT="45720" marB="45720" anchor="ctr">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5B04FCA7-44F2-4E1A-A32F-7EE8D7709EF2}"/>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9" name="">
            <a:extLst xmlns:a="http://schemas.openxmlformats.org/drawingml/2006/main">
              <a:ext uri="{FF2B5EF4-FFF2-40B4-BE49-F238E27FC236}">
                <a16:creationId xmlns:a16="http://schemas.microsoft.com/office/drawing/2014/main" id="{9C1A2D9F-B762-4FC3-A33D-0808249D272F}"/>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configs/scan_stage1/*.yaml · summary_stage1.md</a:t>
            </a:r>
          </a:p>
        </p:txBody>
      </p:sp>
      <p:sp>
        <p:nvSpPr>
          <p:cNvPr id="10" name="">
            <a:extLst xmlns:a="http://schemas.openxmlformats.org/drawingml/2006/main">
              <a:ext uri="{FF2B5EF4-FFF2-40B4-BE49-F238E27FC236}">
                <a16:creationId xmlns:a16="http://schemas.microsoft.com/office/drawing/2014/main" id="{F10F8CFF-2427-4781-AD1F-C6C11DC47145}"/>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10</a:t>
            </a:r>
          </a:p>
        </p:txBody>
      </p:sp>
    </p:spTree>
    <p:extLst>
      <p:ext uri="{BB962C8B-B14F-4D97-AF65-F5344CB8AC3E}">
        <p14:creationId xmlns:p14="http://schemas.microsoft.com/office/powerpoint/2010/main" val="1760242756"/>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B4581AD-EE6D-4D22-833B-6B497016E653}"/>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09</a:t>
            </a:r>
          </a:p>
        </p:txBody>
      </p:sp>
      <p:sp>
        <p:nvSpPr>
          <p:cNvPr id="2" name="">
            <a:extLst xmlns:a="http://schemas.openxmlformats.org/drawingml/2006/main">
              <a:ext uri="{FF2B5EF4-FFF2-40B4-BE49-F238E27FC236}">
                <a16:creationId xmlns:a16="http://schemas.microsoft.com/office/drawing/2014/main" id="{536C7970-0BDB-42A9-B611-E608E1E97079}"/>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单因素扫描结果</a:t>
            </a:r>
          </a:p>
        </p:txBody>
      </p:sp>
      <p:sp>
        <p:nvSpPr>
          <p:cNvPr id="3" name="">
            <a:extLst xmlns:a="http://schemas.openxmlformats.org/drawingml/2006/main">
              <a:ext uri="{FF2B5EF4-FFF2-40B4-BE49-F238E27FC236}">
                <a16:creationId xmlns:a16="http://schemas.microsoft.com/office/drawing/2014/main" id="{4F5A95F2-02B2-4F84-9B77-1491FFE59226}"/>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460596FB-BEE9-405E-8143-AC50CBB19E01}"/>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温度和 RIN 改变损失量级；静态对准影响很小，强抖动产生错误的时长结构</a:t>
            </a:r>
          </a:p>
        </p:txBody>
      </p:sp>
      <p:graphicFrame>
        <p:nvGraphicFramePr>
          <p:cNvPr id="18" name="Chart"/>
          <p:cNvGraphicFramePr/>
          <p:nvPr/>
        </p:nvGraphicFramePr>
        <p:xfrm>
          <a:off xmlns:a="http://schemas.openxmlformats.org/drawingml/2006/main" x="609600" y="1352550"/>
          <a:ext xmlns:a="http://schemas.openxmlformats.org/drawingml/2006/main" cx="5219700" cy="3524250"/>
        </p:xfrm>
        <a:graphic xmlns:a="http://schemas.openxmlformats.org/drawingml/2006/main">
          <a:graphicData uri="http://schemas.openxmlformats.org/drawingml/2006/chart">
            <c:chart xmlns:r="http://schemas.openxmlformats.org/officeDocument/2006/relationships" xmlns:c="http://schemas.openxmlformats.org/drawingml/2006/chart" r:id="R3194e155d9bf4975"/>
          </a:graphicData>
        </a:graphic>
      </p:graphicFrame>
      <p:graphicFrame>
        <p:nvGraphicFramePr>
          <p:cNvPr id="19" name="Chart"/>
          <p:cNvGraphicFramePr/>
          <p:nvPr/>
        </p:nvGraphicFramePr>
        <p:xfrm>
          <a:off xmlns:a="http://schemas.openxmlformats.org/drawingml/2006/main" x="6115050" y="1352550"/>
          <a:ext xmlns:a="http://schemas.openxmlformats.org/drawingml/2006/main" cx="5467350" cy="3524250"/>
        </p:xfrm>
        <a:graphic xmlns:a="http://schemas.openxmlformats.org/drawingml/2006/main">
          <a:graphicData uri="http://schemas.openxmlformats.org/drawingml/2006/chart">
            <c:chart xmlns:r="http://schemas.openxmlformats.org/officeDocument/2006/relationships" xmlns:c="http://schemas.openxmlformats.org/drawingml/2006/chart" r:id="Rb84ef348503d4efe"/>
          </a:graphicData>
        </a:graphic>
      </p:graphicFrame>
      <p:sp>
        <p:nvSpPr>
          <p:cNvPr id="7" name="">
            <a:extLst xmlns:a="http://schemas.openxmlformats.org/drawingml/2006/main">
              <a:ext uri="{FF2B5EF4-FFF2-40B4-BE49-F238E27FC236}">
                <a16:creationId xmlns:a16="http://schemas.microsoft.com/office/drawing/2014/main" id="{9319564B-DFB9-4C70-A8C0-9557F86FC5AF}"/>
              </a:ext>
            </a:extLst>
          </p:cNvPr>
          <p:cNvSpPr>
            <a:spLocks xmlns:a="http://schemas.openxmlformats.org/drawingml/2006/main" noGrp="1"/>
          </p:cNvSpPr>
          <p:nvPr/>
        </p:nvSpPr>
        <p:spPr>
          <a:xfrm xmlns:a="http://schemas.openxmlformats.org/drawingml/2006/main">
            <a:off x="609600" y="5143500"/>
            <a:ext cx="10972800" cy="1085850"/>
          </a:xfrm>
          <a:prstGeom xmlns:a="http://schemas.openxmlformats.org/drawingml/2006/main" prst="roundRect">
            <a:avLst>
              <a:gd name="adj" fmla="val 7018"/>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DEB8C545-11FF-4F86-AFC5-C028C2731B95}"/>
              </a:ext>
            </a:extLst>
          </p:cNvPr>
          <p:cNvSpPr>
            <a:spLocks xmlns:a="http://schemas.openxmlformats.org/drawingml/2006/main" noGrp="1"/>
          </p:cNvSpPr>
          <p:nvPr/>
        </p:nvSpPr>
        <p:spPr>
          <a:xfrm xmlns:a="http://schemas.openxmlformats.org/drawingml/2006/main">
            <a:off x="838200" y="53149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读数</a:t>
            </a:r>
          </a:p>
        </p:txBody>
      </p:sp>
      <p:sp>
        <p:nvSpPr>
          <p:cNvPr id="9" name="">
            <a:extLst xmlns:a="http://schemas.openxmlformats.org/drawingml/2006/main">
              <a:ext uri="{FF2B5EF4-FFF2-40B4-BE49-F238E27FC236}">
                <a16:creationId xmlns:a16="http://schemas.microsoft.com/office/drawing/2014/main" id="{CCA2B77A-61F0-41F6-82BD-49B746220EA4}"/>
              </a:ext>
            </a:extLst>
          </p:cNvPr>
          <p:cNvSpPr>
            <a:spLocks xmlns:a="http://schemas.openxmlformats.org/drawingml/2006/main" noGrp="1"/>
          </p:cNvSpPr>
          <p:nvPr/>
        </p:nvSpPr>
        <p:spPr>
          <a:xfrm xmlns:a="http://schemas.openxmlformats.org/drawingml/2006/main">
            <a:off x="1695450" y="5276850"/>
            <a:ext cx="9601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344054"/>
                </a:solidFill>
                <a:latin typeface="Microsoft YaHei"/>
                <a:ea typeface="Microsoft YaHei"/>
                <a:cs typeface="Microsoft YaHei"/>
              </a:defRPr>
            </a:pPr>
            <a:r>
              <a:rPr sz="1163" b="0">
                <a:solidFill>
                  <a:srgbClr val="344054"/>
                </a:solidFill>
                <a:latin typeface="Microsoft YaHei"/>
                <a:ea typeface="Microsoft YaHei"/>
                <a:cs typeface="Microsoft YaHei"/>
              </a:rPr>
              <a:t>Paper 400 / 600 µs：0.414 / 0.573。T40：0.527 / 0.680。RIN 3×10⁻⁷：0.359 / 0.434。A0.15/A0.30 接近 baseline；J0.10 为 0.094 / 0.105。</a:t>
            </a:r>
          </a:p>
        </p:txBody>
      </p:sp>
      <p:sp>
        <p:nvSpPr>
          <p:cNvPr id="10" name="">
            <a:extLst xmlns:a="http://schemas.openxmlformats.org/drawingml/2006/main">
              <a:ext uri="{FF2B5EF4-FFF2-40B4-BE49-F238E27FC236}">
                <a16:creationId xmlns:a16="http://schemas.microsoft.com/office/drawing/2014/main" id="{DE58BDF8-F225-438E-A316-EB36F06396C4}"/>
              </a:ext>
            </a:extLst>
          </p:cNvPr>
          <p:cNvSpPr>
            <a:spLocks xmlns:a="http://schemas.openxmlformats.org/drawingml/2006/main" noGrp="1"/>
          </p:cNvSpPr>
          <p:nvPr/>
        </p:nvSpPr>
        <p:spPr>
          <a:xfrm xmlns:a="http://schemas.openxmlformats.org/drawingml/2006/main">
            <a:off x="1695450" y="5772150"/>
            <a:ext cx="960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63" b="0">
                <a:solidFill>
                  <a:srgbClr val="D92D20"/>
                </a:solidFill>
                <a:latin typeface="Microsoft YaHei"/>
                <a:ea typeface="Microsoft YaHei"/>
                <a:cs typeface="Microsoft YaHei"/>
              </a:defRPr>
            </a:pPr>
            <a:r>
              <a:rPr sz="1163" b="0">
                <a:solidFill>
                  <a:srgbClr val="D92D20"/>
                </a:solidFill>
                <a:latin typeface="Microsoft YaHei"/>
                <a:ea typeface="Microsoft YaHei"/>
                <a:cs typeface="Microsoft YaHei"/>
              </a:rPr>
              <a:t>解释：T40 和 R3e−7 能把损失推到论文量级附近；J0.10 虽然损失大，但 400/600 几乎同样差，无法解释论文的时长排序。</a:t>
            </a:r>
          </a:p>
        </p:txBody>
      </p:sp>
      <p:sp>
        <p:nvSpPr>
          <p:cNvPr id="11" name="">
            <a:extLst xmlns:a="http://schemas.openxmlformats.org/drawingml/2006/main">
              <a:ext uri="{FF2B5EF4-FFF2-40B4-BE49-F238E27FC236}">
                <a16:creationId xmlns:a16="http://schemas.microsoft.com/office/drawing/2014/main" id="{B6469606-AEE7-496D-8C1D-197BCA666288}"/>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2" name="">
            <a:extLst xmlns:a="http://schemas.openxmlformats.org/drawingml/2006/main">
              <a:ext uri="{FF2B5EF4-FFF2-40B4-BE49-F238E27FC236}">
                <a16:creationId xmlns:a16="http://schemas.microsoft.com/office/drawing/2014/main" id="{0C5C5F6C-2D51-4D7C-A8DD-64CB0D34118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raw Stage-1 survival_scan_results.csv for T / RIN / alignment / jitter</a:t>
            </a:r>
          </a:p>
        </p:txBody>
      </p:sp>
      <p:sp>
        <p:nvSpPr>
          <p:cNvPr id="13" name="">
            <a:extLst xmlns:a="http://schemas.openxmlformats.org/drawingml/2006/main">
              <a:ext uri="{FF2B5EF4-FFF2-40B4-BE49-F238E27FC236}">
                <a16:creationId xmlns:a16="http://schemas.microsoft.com/office/drawing/2014/main" id="{8B6A9541-D4B1-4265-B7A1-BF02E2023BD4}"/>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11</a:t>
            </a:r>
          </a:p>
        </p:txBody>
      </p:sp>
    </p:spTree>
    <p:extLst>
      <p:ext uri="{BB962C8B-B14F-4D97-AF65-F5344CB8AC3E}">
        <p14:creationId xmlns:p14="http://schemas.microsoft.com/office/powerpoint/2010/main" val="213832833"/>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75283D-9B42-4637-8AEB-F6D3918AD111}"/>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10</a:t>
            </a:r>
          </a:p>
        </p:txBody>
      </p:sp>
      <p:sp>
        <p:nvSpPr>
          <p:cNvPr id="2" name="">
            <a:extLst xmlns:a="http://schemas.openxmlformats.org/drawingml/2006/main">
              <a:ext uri="{FF2B5EF4-FFF2-40B4-BE49-F238E27FC236}">
                <a16:creationId xmlns:a16="http://schemas.microsoft.com/office/drawing/2014/main" id="{EC418AC5-D311-4FA1-A7F2-5466E568A94E}"/>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T40 的完整时长曲线</a:t>
            </a:r>
          </a:p>
        </p:txBody>
      </p:sp>
      <p:sp>
        <p:nvSpPr>
          <p:cNvPr id="3" name="">
            <a:extLst xmlns:a="http://schemas.openxmlformats.org/drawingml/2006/main">
              <a:ext uri="{FF2B5EF4-FFF2-40B4-BE49-F238E27FC236}">
                <a16:creationId xmlns:a16="http://schemas.microsoft.com/office/drawing/2014/main" id="{8313B733-2929-4420-A10F-86AAD6CF9DAB}"/>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035F9812-2063-4CD7-88CE-43B72405936F}"/>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Paper 使用单调锚点重建；MC 使用 512-shot 独立复核池</a:t>
            </a:r>
          </a:p>
        </p:txBody>
      </p:sp>
      <p:graphicFrame>
        <p:nvGraphicFramePr>
          <p:cNvPr id="17" name="Chart"/>
          <p:cNvGraphicFramePr/>
          <p:nvPr/>
        </p:nvGraphicFramePr>
        <p:xfrm>
          <a:off xmlns:a="http://schemas.openxmlformats.org/drawingml/2006/main" x="609600" y="1352550"/>
          <a:ext xmlns:a="http://schemas.openxmlformats.org/drawingml/2006/main" cx="4095750" cy="3714750"/>
        </p:xfrm>
        <a:graphic xmlns:a="http://schemas.openxmlformats.org/drawingml/2006/main">
          <a:graphicData uri="http://schemas.openxmlformats.org/drawingml/2006/chart">
            <c:chart xmlns:r="http://schemas.openxmlformats.org/officeDocument/2006/relationships" xmlns:c="http://schemas.openxmlformats.org/drawingml/2006/chart" r:id="R61716fdff81d4217"/>
          </a:graphicData>
        </a:graphic>
      </p:graphicFrame>
      <p:graphicFrame>
        <p:nvGraphicFramePr>
          <p:cNvPr id="18" name="Chart"/>
          <p:cNvGraphicFramePr/>
          <p:nvPr/>
        </p:nvGraphicFramePr>
        <p:xfrm>
          <a:off xmlns:a="http://schemas.openxmlformats.org/drawingml/2006/main" x="4876800" y="1352550"/>
          <a:ext xmlns:a="http://schemas.openxmlformats.org/drawingml/2006/main" cx="6705600" cy="3714750"/>
        </p:xfrm>
        <a:graphic xmlns:a="http://schemas.openxmlformats.org/drawingml/2006/main">
          <a:graphicData uri="http://schemas.openxmlformats.org/drawingml/2006/chart">
            <c:chart xmlns:r="http://schemas.openxmlformats.org/officeDocument/2006/relationships" xmlns:c="http://schemas.openxmlformats.org/drawingml/2006/chart" r:id="Re32c09730b544a43"/>
          </a:graphicData>
        </a:graphic>
      </p:graphicFrame>
      <p:sp>
        <p:nvSpPr>
          <p:cNvPr id="7" name="">
            <a:extLst xmlns:a="http://schemas.openxmlformats.org/drawingml/2006/main">
              <a:ext uri="{FF2B5EF4-FFF2-40B4-BE49-F238E27FC236}">
                <a16:creationId xmlns:a16="http://schemas.microsoft.com/office/drawing/2014/main" id="{B5EB6665-2A88-4A05-BB67-EBED5256F0B6}"/>
              </a:ext>
            </a:extLst>
          </p:cNvPr>
          <p:cNvSpPr>
            <a:spLocks xmlns:a="http://schemas.openxmlformats.org/drawingml/2006/main" noGrp="1"/>
          </p:cNvSpPr>
          <p:nvPr/>
        </p:nvSpPr>
        <p:spPr>
          <a:xfrm xmlns:a="http://schemas.openxmlformats.org/drawingml/2006/main">
            <a:off x="609600" y="5276850"/>
            <a:ext cx="10972800" cy="819150"/>
          </a:xfrm>
          <a:prstGeom xmlns:a="http://schemas.openxmlformats.org/drawingml/2006/main" prst="roundRect">
            <a:avLst>
              <a:gd name="adj" fmla="val 9302"/>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895891F0-CEEF-4054-AC28-2D6D841EBDEE}"/>
              </a:ext>
            </a:extLst>
          </p:cNvPr>
          <p:cNvSpPr>
            <a:spLocks xmlns:a="http://schemas.openxmlformats.org/drawingml/2006/main" noGrp="1"/>
          </p:cNvSpPr>
          <p:nvPr/>
        </p:nvSpPr>
        <p:spPr>
          <a:xfrm xmlns:a="http://schemas.openxmlformats.org/drawingml/2006/main">
            <a:off x="838200" y="5467350"/>
            <a:ext cx="87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结论</a:t>
            </a:r>
          </a:p>
        </p:txBody>
      </p:sp>
      <p:sp>
        <p:nvSpPr>
          <p:cNvPr id="9" name="">
            <a:extLst xmlns:a="http://schemas.openxmlformats.org/drawingml/2006/main">
              <a:ext uri="{FF2B5EF4-FFF2-40B4-BE49-F238E27FC236}">
                <a16:creationId xmlns:a16="http://schemas.microsoft.com/office/drawing/2014/main" id="{5C45A987-BC43-4449-B69B-CCC25DB2F5A0}"/>
              </a:ext>
            </a:extLst>
          </p:cNvPr>
          <p:cNvSpPr>
            <a:spLocks xmlns:a="http://schemas.openxmlformats.org/drawingml/2006/main" noGrp="1"/>
          </p:cNvSpPr>
          <p:nvPr/>
        </p:nvSpPr>
        <p:spPr>
          <a:xfrm xmlns:a="http://schemas.openxmlformats.org/drawingml/2006/main">
            <a:off x="1733550" y="5429250"/>
            <a:ext cx="9544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344054"/>
                </a:solidFill>
                <a:latin typeface="Microsoft YaHei"/>
                <a:ea typeface="Microsoft YaHei"/>
                <a:cs typeface="Microsoft YaHei"/>
              </a:defRPr>
            </a:pPr>
            <a:r>
              <a:rPr sz="1275" b="0">
                <a:solidFill>
                  <a:srgbClr val="344054"/>
                </a:solidFill>
                <a:latin typeface="Microsoft YaHei"/>
                <a:ea typeface="Microsoft YaHei"/>
                <a:cs typeface="Microsoft YaHei"/>
              </a:rPr>
              <a:t>排序 200 &lt; 400 &lt; 600 与论文一致；200 µs 全程偏低，400/600 µs 从早期偏低转为后期偏高，因此误差不是单一 absolute offset。</a:t>
            </a:r>
          </a:p>
        </p:txBody>
      </p:sp>
      <p:sp>
        <p:nvSpPr>
          <p:cNvPr id="10" name="">
            <a:extLst xmlns:a="http://schemas.openxmlformats.org/drawingml/2006/main">
              <a:ext uri="{FF2B5EF4-FFF2-40B4-BE49-F238E27FC236}">
                <a16:creationId xmlns:a16="http://schemas.microsoft.com/office/drawing/2014/main" id="{45F44C9B-A874-43D5-9FCB-D8A915F3317A}"/>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1" name="">
            <a:extLst xmlns:a="http://schemas.openxmlformats.org/drawingml/2006/main">
              <a:ext uri="{FF2B5EF4-FFF2-40B4-BE49-F238E27FC236}">
                <a16:creationId xmlns:a16="http://schemas.microsoft.com/office/drawing/2014/main" id="{721F8274-6D9F-4103-8A0F-A3C13CFC90BA}"/>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fig6d_survival_digitized.csv</a:t>
            </a:r>
          </a:p>
        </p:txBody>
      </p:sp>
      <p:sp>
        <p:nvSpPr>
          <p:cNvPr id="12" name="">
            <a:extLst xmlns:a="http://schemas.openxmlformats.org/drawingml/2006/main">
              <a:ext uri="{FF2B5EF4-FFF2-40B4-BE49-F238E27FC236}">
                <a16:creationId xmlns:a16="http://schemas.microsoft.com/office/drawing/2014/main" id="{C4DDF88F-963B-42A9-8211-EAA9428509E7}"/>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12</a:t>
            </a:r>
          </a:p>
        </p:txBody>
      </p:sp>
    </p:spTree>
    <p:extLst>
      <p:ext uri="{BB962C8B-B14F-4D97-AF65-F5344CB8AC3E}">
        <p14:creationId xmlns:p14="http://schemas.microsoft.com/office/powerpoint/2010/main" val="162718939"/>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E5303D6-AAFB-45CF-9C90-8D2D1E1F1C52}"/>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11</a:t>
            </a:r>
          </a:p>
        </p:txBody>
      </p:sp>
      <p:sp>
        <p:nvSpPr>
          <p:cNvPr id="2" name="">
            <a:extLst xmlns:a="http://schemas.openxmlformats.org/drawingml/2006/main">
              <a:ext uri="{FF2B5EF4-FFF2-40B4-BE49-F238E27FC236}">
                <a16:creationId xmlns:a16="http://schemas.microsoft.com/office/drawing/2014/main" id="{F8C42AF1-280F-457F-A25C-CDDD7EA702D6}"/>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Fig. 6c ML 波形的数字化输入</a:t>
            </a:r>
          </a:p>
        </p:txBody>
      </p:sp>
      <p:sp>
        <p:nvSpPr>
          <p:cNvPr id="3" name="">
            <a:extLst xmlns:a="http://schemas.openxmlformats.org/drawingml/2006/main">
              <a:ext uri="{FF2B5EF4-FFF2-40B4-BE49-F238E27FC236}">
                <a16:creationId xmlns:a16="http://schemas.microsoft.com/office/drawing/2014/main" id="{C60DE573-0378-4F9C-8638-9FD5D065C85D}"/>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A9062A57-0747-4326-BA07-963C12D80B9E}"/>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从 PDF 矢量路径读取位置和深度，再在同一 400 µs 网格上与手工波形比较</a:t>
            </a:r>
          </a:p>
        </p:txBody>
      </p:sp>
      <p:graphicFrame>
        <p:nvGraphicFramePr>
          <p:cNvPr id="17" name="Chart"/>
          <p:cNvGraphicFramePr/>
          <p:nvPr/>
        </p:nvGraphicFramePr>
        <p:xfrm>
          <a:off xmlns:a="http://schemas.openxmlformats.org/drawingml/2006/main" x="6096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2fb98fd0d61d4028"/>
          </a:graphicData>
        </a:graphic>
      </p:graphicFrame>
      <p:graphicFrame>
        <p:nvGraphicFramePr>
          <p:cNvPr id="18" name="Chart"/>
          <p:cNvGraphicFramePr/>
          <p:nvPr/>
        </p:nvGraphicFramePr>
        <p:xfrm>
          <a:off xmlns:a="http://schemas.openxmlformats.org/drawingml/2006/main" x="6248400" y="1352550"/>
          <a:ext xmlns:a="http://schemas.openxmlformats.org/drawingml/2006/main" cx="5334000" cy="3619500"/>
        </p:xfrm>
        <a:graphic xmlns:a="http://schemas.openxmlformats.org/drawingml/2006/main">
          <a:graphicData uri="http://schemas.openxmlformats.org/drawingml/2006/chart">
            <c:chart xmlns:r="http://schemas.openxmlformats.org/officeDocument/2006/relationships" xmlns:c="http://schemas.openxmlformats.org/drawingml/2006/chart" r:id="Rdbfeb5de266f4b6e"/>
          </a:graphicData>
        </a:graphic>
      </p:graphicFrame>
      <p:sp>
        <p:nvSpPr>
          <p:cNvPr id="7" name="">
            <a:extLst xmlns:a="http://schemas.openxmlformats.org/drawingml/2006/main">
              <a:ext uri="{FF2B5EF4-FFF2-40B4-BE49-F238E27FC236}">
                <a16:creationId xmlns:a16="http://schemas.microsoft.com/office/drawing/2014/main" id="{FA47DAC4-B1BC-445C-90F3-99493F646DEE}"/>
              </a:ext>
            </a:extLst>
          </p:cNvPr>
          <p:cNvSpPr>
            <a:spLocks xmlns:a="http://schemas.openxmlformats.org/drawingml/2006/main" noGrp="1"/>
          </p:cNvSpPr>
          <p:nvPr/>
        </p:nvSpPr>
        <p:spPr>
          <a:xfrm xmlns:a="http://schemas.openxmlformats.org/drawingml/2006/main">
            <a:off x="609600" y="5219700"/>
            <a:ext cx="10972800" cy="876300"/>
          </a:xfrm>
          <a:prstGeom xmlns:a="http://schemas.openxmlformats.org/drawingml/2006/main" prst="roundRect">
            <a:avLst>
              <a:gd name="adj" fmla="val 8696"/>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375729A5-58F9-49DE-8A5E-F587F5983313}"/>
              </a:ext>
            </a:extLst>
          </p:cNvPr>
          <p:cNvSpPr>
            <a:spLocks xmlns:a="http://schemas.openxmlformats.org/drawingml/2006/main" noGrp="1"/>
          </p:cNvSpPr>
          <p:nvPr/>
        </p:nvSpPr>
        <p:spPr>
          <a:xfrm xmlns:a="http://schemas.openxmlformats.org/drawingml/2006/main">
            <a:off x="838200" y="54102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02A43"/>
                </a:solidFill>
                <a:latin typeface="Microsoft YaHei"/>
                <a:ea typeface="Microsoft YaHei"/>
                <a:cs typeface="Microsoft YaHei"/>
              </a:defRPr>
            </a:pPr>
            <a:r>
              <a:rPr sz="1350" b="1">
                <a:solidFill>
                  <a:srgbClr val="102A43"/>
                </a:solidFill>
                <a:latin typeface="Microsoft YaHei"/>
                <a:ea typeface="Microsoft YaHei"/>
                <a:cs typeface="Microsoft YaHei"/>
              </a:rPr>
              <a:t>输入构造</a:t>
            </a:r>
          </a:p>
        </p:txBody>
      </p:sp>
      <p:sp>
        <p:nvSpPr>
          <p:cNvPr id="9" name="">
            <a:extLst xmlns:a="http://schemas.openxmlformats.org/drawingml/2006/main">
              <a:ext uri="{FF2B5EF4-FFF2-40B4-BE49-F238E27FC236}">
                <a16:creationId xmlns:a16="http://schemas.microsoft.com/office/drawing/2014/main" id="{9D1CE04E-0AA0-4934-8F39-F81DEC065F3D}"/>
              </a:ext>
            </a:extLst>
          </p:cNvPr>
          <p:cNvSpPr>
            <a:spLocks xmlns:a="http://schemas.openxmlformats.org/drawingml/2006/main" noGrp="1"/>
          </p:cNvSpPr>
          <p:nvPr/>
        </p:nvSpPr>
        <p:spPr>
          <a:xfrm xmlns:a="http://schemas.openxmlformats.org/drawingml/2006/main">
            <a:off x="2095500" y="5353050"/>
            <a:ext cx="922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38" b="0">
                <a:solidFill>
                  <a:srgbClr val="344054"/>
                </a:solidFill>
                <a:latin typeface="Microsoft YaHei"/>
                <a:ea typeface="Microsoft YaHei"/>
                <a:cs typeface="Microsoft YaHei"/>
              </a:defRPr>
            </a:pPr>
            <a:r>
              <a:rPr sz="1238" b="0">
                <a:solidFill>
                  <a:srgbClr val="344054"/>
                </a:solidFill>
                <a:latin typeface="Microsoft YaHei"/>
                <a:ea typeface="Microsoft YaHei"/>
                <a:cs typeface="Microsoft YaHei"/>
              </a:rPr>
              <a:t>矢量提取得到 15 个绘制节点，间隔约 28.57 µs。位置先在约 0.11 µm 停留，待 AOD 接近满深后再加速移动并平缓收尾。普通三次插值连接节点。</a:t>
            </a:r>
          </a:p>
        </p:txBody>
      </p:sp>
      <p:sp>
        <p:nvSpPr>
          <p:cNvPr id="10" name="">
            <a:extLst xmlns:a="http://schemas.openxmlformats.org/drawingml/2006/main">
              <a:ext uri="{FF2B5EF4-FFF2-40B4-BE49-F238E27FC236}">
                <a16:creationId xmlns:a16="http://schemas.microsoft.com/office/drawing/2014/main" id="{4D8493A0-1D89-4518-B4C4-7DDF75BC6B20}"/>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1" name="">
            <a:extLst xmlns:a="http://schemas.openxmlformats.org/drawingml/2006/main">
              <a:ext uri="{FF2B5EF4-FFF2-40B4-BE49-F238E27FC236}">
                <a16:creationId xmlns:a16="http://schemas.microsoft.com/office/drawing/2014/main" id="{C67EEBB9-BC47-4BC2-BB79-ADAE92748B45}"/>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fig6c_ml_trajectory_digitized.json · waveforms.py · PDF page 7</a:t>
            </a:r>
          </a:p>
        </p:txBody>
      </p:sp>
      <p:sp>
        <p:nvSpPr>
          <p:cNvPr id="12" name="">
            <a:extLst xmlns:a="http://schemas.openxmlformats.org/drawingml/2006/main">
              <a:ext uri="{FF2B5EF4-FFF2-40B4-BE49-F238E27FC236}">
                <a16:creationId xmlns:a16="http://schemas.microsoft.com/office/drawing/2014/main" id="{3735BC91-CFA5-4651-AE87-766E46DCD5EA}"/>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13</a:t>
            </a:r>
          </a:p>
        </p:txBody>
      </p:sp>
    </p:spTree>
    <p:extLst>
      <p:ext uri="{BB962C8B-B14F-4D97-AF65-F5344CB8AC3E}">
        <p14:creationId xmlns:p14="http://schemas.microsoft.com/office/powerpoint/2010/main" val="704812125"/>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D52CD93-5D10-4EC4-A24A-DC620C97CA59}"/>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12</a:t>
            </a:r>
          </a:p>
        </p:txBody>
      </p:sp>
      <p:sp>
        <p:nvSpPr>
          <p:cNvPr id="2" name="">
            <a:extLst xmlns:a="http://schemas.openxmlformats.org/drawingml/2006/main">
              <a:ext uri="{FF2B5EF4-FFF2-40B4-BE49-F238E27FC236}">
                <a16:creationId xmlns:a16="http://schemas.microsoft.com/office/drawing/2014/main" id="{79322749-5EE3-484D-BFBF-42BA345017D5}"/>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Manual 与 Fig. 6c ML 的端点比较</a:t>
            </a:r>
          </a:p>
        </p:txBody>
      </p:sp>
      <p:sp>
        <p:nvSpPr>
          <p:cNvPr id="3" name="">
            <a:extLst xmlns:a="http://schemas.openxmlformats.org/drawingml/2006/main">
              <a:ext uri="{FF2B5EF4-FFF2-40B4-BE49-F238E27FC236}">
                <a16:creationId xmlns:a16="http://schemas.microsoft.com/office/drawing/2014/main" id="{7C902246-C78B-438C-A01B-BF223FD41650}"/>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681F0EF5-A15C-400B-B5CB-6F258B0DB3E8}"/>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在 T40 的同一 256-shot CRN 随机池中回放两条 400 µs 波形</a:t>
            </a:r>
          </a:p>
        </p:txBody>
      </p:sp>
      <p:graphicFrame>
        <p:nvGraphicFramePr>
          <p:cNvPr id="24" name="Chart"/>
          <p:cNvGraphicFramePr/>
          <p:nvPr/>
        </p:nvGraphicFramePr>
        <p:xfrm>
          <a:off xmlns:a="http://schemas.openxmlformats.org/drawingml/2006/main" x="666750" y="1381125"/>
          <a:ext xmlns:a="http://schemas.openxmlformats.org/drawingml/2006/main" cx="7048500" cy="4191000"/>
        </p:xfrm>
        <a:graphic xmlns:a="http://schemas.openxmlformats.org/drawingml/2006/main">
          <a:graphicData uri="http://schemas.openxmlformats.org/drawingml/2006/chart">
            <c:chart xmlns:r="http://schemas.openxmlformats.org/officeDocument/2006/relationships" xmlns:c="http://schemas.openxmlformats.org/drawingml/2006/chart" r:id="R97ebd74eca064f91"/>
          </a:graphicData>
        </a:graphic>
      </p:graphicFrame>
      <p:sp>
        <p:nvSpPr>
          <p:cNvPr id="6" name="">
            <a:extLst xmlns:a="http://schemas.openxmlformats.org/drawingml/2006/main">
              <a:ext uri="{FF2B5EF4-FFF2-40B4-BE49-F238E27FC236}">
                <a16:creationId xmlns:a16="http://schemas.microsoft.com/office/drawing/2014/main" id="{9BAA9B96-2E6E-4CD7-989B-39FF449CD0E2}"/>
              </a:ext>
            </a:extLst>
          </p:cNvPr>
          <p:cNvSpPr>
            <a:spLocks xmlns:a="http://schemas.openxmlformats.org/drawingml/2006/main" noGrp="1"/>
          </p:cNvSpPr>
          <p:nvPr/>
        </p:nvSpPr>
        <p:spPr>
          <a:xfrm xmlns:a="http://schemas.openxmlformats.org/drawingml/2006/main">
            <a:off x="8039100" y="1524000"/>
            <a:ext cx="3200400" cy="1581150"/>
          </a:xfrm>
          <a:prstGeom xmlns:a="http://schemas.openxmlformats.org/drawingml/2006/main" prst="roundRect">
            <a:avLst>
              <a:gd name="adj" fmla="val 4819"/>
            </a:avLst>
          </a:prstGeom>
          <a:solidFill xmlns:a="http://schemas.openxmlformats.org/drawingml/2006/main">
            <a:srgbClr val="ECFDF3"/>
          </a:solidFill>
          <a:ln xmlns:a="http://schemas.openxmlformats.org/drawingml/2006/main" w="9525">
            <a:solidFill>
              <a:srgbClr val="ABEFC6"/>
            </a:solidFill>
          </a:ln>
        </p:spPr>
      </p:sp>
      <p:sp>
        <p:nvSpPr>
          <p:cNvPr id="7" name="">
            <a:extLst xmlns:a="http://schemas.openxmlformats.org/drawingml/2006/main">
              <a:ext uri="{FF2B5EF4-FFF2-40B4-BE49-F238E27FC236}">
                <a16:creationId xmlns:a16="http://schemas.microsoft.com/office/drawing/2014/main" id="{1F87D249-2EA4-4F2B-A1A6-CF337A8F3710}"/>
              </a:ext>
            </a:extLst>
          </p:cNvPr>
          <p:cNvSpPr>
            <a:spLocks xmlns:a="http://schemas.openxmlformats.org/drawingml/2006/main" noGrp="1"/>
          </p:cNvSpPr>
          <p:nvPr/>
        </p:nvSpPr>
        <p:spPr>
          <a:xfrm xmlns:a="http://schemas.openxmlformats.org/drawingml/2006/main">
            <a:off x="8286750" y="1752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Paper ΔS</a:t>
            </a:r>
          </a:p>
        </p:txBody>
      </p:sp>
      <p:sp>
        <p:nvSpPr>
          <p:cNvPr id="8" name="">
            <a:extLst xmlns:a="http://schemas.openxmlformats.org/drawingml/2006/main">
              <a:ext uri="{FF2B5EF4-FFF2-40B4-BE49-F238E27FC236}">
                <a16:creationId xmlns:a16="http://schemas.microsoft.com/office/drawing/2014/main" id="{4E4720AE-CCFF-4565-A14C-5EAE0EDACC1A}"/>
              </a:ext>
            </a:extLst>
          </p:cNvPr>
          <p:cNvSpPr>
            <a:spLocks xmlns:a="http://schemas.openxmlformats.org/drawingml/2006/main" noGrp="1"/>
          </p:cNvSpPr>
          <p:nvPr/>
        </p:nvSpPr>
        <p:spPr>
          <a:xfrm xmlns:a="http://schemas.openxmlformats.org/drawingml/2006/main">
            <a:off x="8286750" y="209550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0E9384"/>
                </a:solidFill>
                <a:latin typeface="Microsoft YaHei"/>
                <a:ea typeface="Microsoft YaHei"/>
                <a:cs typeface="Microsoft YaHei"/>
              </a:defRPr>
            </a:pPr>
            <a:r>
              <a:rPr sz="2850" b="1">
                <a:solidFill>
                  <a:srgbClr val="0E9384"/>
                </a:solidFill>
                <a:latin typeface="Microsoft YaHei"/>
                <a:ea typeface="Microsoft YaHei"/>
                <a:cs typeface="Microsoft YaHei"/>
              </a:rPr>
              <a:t>+0.250</a:t>
            </a:r>
          </a:p>
        </p:txBody>
      </p:sp>
      <p:sp>
        <p:nvSpPr>
          <p:cNvPr id="9" name="">
            <a:extLst xmlns:a="http://schemas.openxmlformats.org/drawingml/2006/main">
              <a:ext uri="{FF2B5EF4-FFF2-40B4-BE49-F238E27FC236}">
                <a16:creationId xmlns:a16="http://schemas.microsoft.com/office/drawing/2014/main" id="{89A36DD8-1E18-47FE-B775-F7EA80FE02C4}"/>
              </a:ext>
            </a:extLst>
          </p:cNvPr>
          <p:cNvSpPr>
            <a:spLocks xmlns:a="http://schemas.openxmlformats.org/drawingml/2006/main" noGrp="1"/>
          </p:cNvSpPr>
          <p:nvPr/>
        </p:nvSpPr>
        <p:spPr>
          <a:xfrm xmlns:a="http://schemas.openxmlformats.org/drawingml/2006/main">
            <a:off x="8286750" y="26479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41.3% to 66.3%</a:t>
            </a:r>
          </a:p>
        </p:txBody>
      </p:sp>
      <p:sp>
        <p:nvSpPr>
          <p:cNvPr id="10" name="">
            <a:extLst xmlns:a="http://schemas.openxmlformats.org/drawingml/2006/main">
              <a:ext uri="{FF2B5EF4-FFF2-40B4-BE49-F238E27FC236}">
                <a16:creationId xmlns:a16="http://schemas.microsoft.com/office/drawing/2014/main" id="{D89473E8-DC90-4551-A8D7-813287F5AD43}"/>
              </a:ext>
            </a:extLst>
          </p:cNvPr>
          <p:cNvSpPr>
            <a:spLocks xmlns:a="http://schemas.openxmlformats.org/drawingml/2006/main" noGrp="1"/>
          </p:cNvSpPr>
          <p:nvPr/>
        </p:nvSpPr>
        <p:spPr>
          <a:xfrm xmlns:a="http://schemas.openxmlformats.org/drawingml/2006/main">
            <a:off x="8286750" y="288607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Equivalent loss 1.46% to 0.68%</a:t>
            </a:r>
          </a:p>
        </p:txBody>
      </p:sp>
      <p:sp>
        <p:nvSpPr>
          <p:cNvPr id="11" name="">
            <a:extLst xmlns:a="http://schemas.openxmlformats.org/drawingml/2006/main">
              <a:ext uri="{FF2B5EF4-FFF2-40B4-BE49-F238E27FC236}">
                <a16:creationId xmlns:a16="http://schemas.microsoft.com/office/drawing/2014/main" id="{0BD07B35-F3EE-40F9-9757-89C80A6693AE}"/>
              </a:ext>
            </a:extLst>
          </p:cNvPr>
          <p:cNvSpPr>
            <a:spLocks xmlns:a="http://schemas.openxmlformats.org/drawingml/2006/main" noGrp="1"/>
          </p:cNvSpPr>
          <p:nvPr/>
        </p:nvSpPr>
        <p:spPr>
          <a:xfrm xmlns:a="http://schemas.openxmlformats.org/drawingml/2006/main">
            <a:off x="8039100" y="3333750"/>
            <a:ext cx="3200400" cy="1581150"/>
          </a:xfrm>
          <a:prstGeom xmlns:a="http://schemas.openxmlformats.org/drawingml/2006/main" prst="roundRect">
            <a:avLst>
              <a:gd name="adj" fmla="val 4819"/>
            </a:avLst>
          </a:prstGeom>
          <a:solidFill xmlns:a="http://schemas.openxmlformats.org/drawingml/2006/main">
            <a:srgbClr val="EFF8FF"/>
          </a:solidFill>
          <a:ln xmlns:a="http://schemas.openxmlformats.org/drawingml/2006/main" w="9525">
            <a:solidFill>
              <a:srgbClr val="B2DDFF"/>
            </a:solidFill>
          </a:ln>
        </p:spPr>
      </p:sp>
      <p:sp>
        <p:nvSpPr>
          <p:cNvPr id="12" name="">
            <a:extLst xmlns:a="http://schemas.openxmlformats.org/drawingml/2006/main">
              <a:ext uri="{FF2B5EF4-FFF2-40B4-BE49-F238E27FC236}">
                <a16:creationId xmlns:a16="http://schemas.microsoft.com/office/drawing/2014/main" id="{4393E85B-7597-4494-AB93-B912B147DED4}"/>
              </a:ext>
            </a:extLst>
          </p:cNvPr>
          <p:cNvSpPr>
            <a:spLocks xmlns:a="http://schemas.openxmlformats.org/drawingml/2006/main" noGrp="1"/>
          </p:cNvSpPr>
          <p:nvPr/>
        </p:nvSpPr>
        <p:spPr>
          <a:xfrm xmlns:a="http://schemas.openxmlformats.org/drawingml/2006/main">
            <a:off x="8286750" y="356235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570EF"/>
                </a:solidFill>
                <a:latin typeface="Microsoft YaHei"/>
                <a:ea typeface="Microsoft YaHei"/>
                <a:cs typeface="Microsoft YaHei"/>
              </a:defRPr>
            </a:pPr>
            <a:r>
              <a:rPr sz="1275" b="1">
                <a:solidFill>
                  <a:srgbClr val="1570EF"/>
                </a:solidFill>
                <a:latin typeface="Microsoft YaHei"/>
                <a:ea typeface="Microsoft YaHei"/>
                <a:cs typeface="Microsoft YaHei"/>
              </a:rPr>
              <a:t>MC T40 ΔS</a:t>
            </a:r>
          </a:p>
        </p:txBody>
      </p:sp>
      <p:sp>
        <p:nvSpPr>
          <p:cNvPr id="13" name="">
            <a:extLst xmlns:a="http://schemas.openxmlformats.org/drawingml/2006/main">
              <a:ext uri="{FF2B5EF4-FFF2-40B4-BE49-F238E27FC236}">
                <a16:creationId xmlns:a16="http://schemas.microsoft.com/office/drawing/2014/main" id="{7F6A791C-8625-411F-815F-03F5733EDAA8}"/>
              </a:ext>
            </a:extLst>
          </p:cNvPr>
          <p:cNvSpPr>
            <a:spLocks xmlns:a="http://schemas.openxmlformats.org/drawingml/2006/main" noGrp="1"/>
          </p:cNvSpPr>
          <p:nvPr/>
        </p:nvSpPr>
        <p:spPr>
          <a:xfrm xmlns:a="http://schemas.openxmlformats.org/drawingml/2006/main">
            <a:off x="8286750" y="39052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570EF"/>
                </a:solidFill>
                <a:latin typeface="Microsoft YaHei"/>
                <a:ea typeface="Microsoft YaHei"/>
                <a:cs typeface="Microsoft YaHei"/>
              </a:defRPr>
            </a:pPr>
            <a:r>
              <a:rPr sz="2850" b="1">
                <a:solidFill>
                  <a:srgbClr val="1570EF"/>
                </a:solidFill>
                <a:latin typeface="Microsoft YaHei"/>
                <a:ea typeface="Microsoft YaHei"/>
                <a:cs typeface="Microsoft YaHei"/>
              </a:rPr>
              <a:t>+0.230</a:t>
            </a:r>
          </a:p>
        </p:txBody>
      </p:sp>
      <p:sp>
        <p:nvSpPr>
          <p:cNvPr id="14" name="">
            <a:extLst xmlns:a="http://schemas.openxmlformats.org/drawingml/2006/main">
              <a:ext uri="{FF2B5EF4-FFF2-40B4-BE49-F238E27FC236}">
                <a16:creationId xmlns:a16="http://schemas.microsoft.com/office/drawing/2014/main" id="{A312AF73-7B95-4CD0-A142-42B82A2401A4}"/>
              </a:ext>
            </a:extLst>
          </p:cNvPr>
          <p:cNvSpPr>
            <a:spLocks xmlns:a="http://schemas.openxmlformats.org/drawingml/2006/main" noGrp="1"/>
          </p:cNvSpPr>
          <p:nvPr/>
        </p:nvSpPr>
        <p:spPr>
          <a:xfrm xmlns:a="http://schemas.openxmlformats.org/drawingml/2006/main">
            <a:off x="8286750" y="4457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52.7% to 75.8%</a:t>
            </a:r>
          </a:p>
        </p:txBody>
      </p:sp>
      <p:sp>
        <p:nvSpPr>
          <p:cNvPr id="15" name="">
            <a:extLst xmlns:a="http://schemas.openxmlformats.org/drawingml/2006/main">
              <a:ext uri="{FF2B5EF4-FFF2-40B4-BE49-F238E27FC236}">
                <a16:creationId xmlns:a16="http://schemas.microsoft.com/office/drawing/2014/main" id="{81F44E4B-7D50-4F78-8A30-375A11635636}"/>
              </a:ext>
            </a:extLst>
          </p:cNvPr>
          <p:cNvSpPr>
            <a:spLocks xmlns:a="http://schemas.openxmlformats.org/drawingml/2006/main" noGrp="1"/>
          </p:cNvSpPr>
          <p:nvPr/>
        </p:nvSpPr>
        <p:spPr>
          <a:xfrm xmlns:a="http://schemas.openxmlformats.org/drawingml/2006/main">
            <a:off x="8286750" y="469582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Equivalent loss 1.06% to 0.46%</a:t>
            </a:r>
          </a:p>
        </p:txBody>
      </p:sp>
      <p:sp>
        <p:nvSpPr>
          <p:cNvPr id="16" name="">
            <a:extLst xmlns:a="http://schemas.openxmlformats.org/drawingml/2006/main">
              <a:ext uri="{FF2B5EF4-FFF2-40B4-BE49-F238E27FC236}">
                <a16:creationId xmlns:a16="http://schemas.microsoft.com/office/drawing/2014/main" id="{54834280-DE41-48DE-B837-894F29F4D9B5}"/>
              </a:ext>
            </a:extLst>
          </p:cNvPr>
          <p:cNvSpPr>
            <a:spLocks xmlns:a="http://schemas.openxmlformats.org/drawingml/2006/main" noGrp="1"/>
          </p:cNvSpPr>
          <p:nvPr/>
        </p:nvSpPr>
        <p:spPr>
          <a:xfrm xmlns:a="http://schemas.openxmlformats.org/drawingml/2006/main">
            <a:off x="8039100" y="5257800"/>
            <a:ext cx="320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相对增益接近论文，但 MC 的 Manual 和 ML 绝对存活率仍偏高。</a:t>
            </a:r>
          </a:p>
        </p:txBody>
      </p:sp>
      <p:sp>
        <p:nvSpPr>
          <p:cNvPr id="17" name="">
            <a:extLst xmlns:a="http://schemas.openxmlformats.org/drawingml/2006/main">
              <a:ext uri="{FF2B5EF4-FFF2-40B4-BE49-F238E27FC236}">
                <a16:creationId xmlns:a16="http://schemas.microsoft.com/office/drawing/2014/main" id="{699269C9-1C26-44E1-B3F7-14C323E9A893}"/>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8" name="">
            <a:extLst xmlns:a="http://schemas.openxmlformats.org/drawingml/2006/main">
              <a:ext uri="{FF2B5EF4-FFF2-40B4-BE49-F238E27FC236}">
                <a16:creationId xmlns:a16="http://schemas.microsoft.com/office/drawing/2014/main" id="{49C2046B-1E76-4695-9076-8CD259457109}"/>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paper_ml_eval.json · fig6d_survival_digitized.csv</a:t>
            </a:r>
          </a:p>
        </p:txBody>
      </p:sp>
      <p:sp>
        <p:nvSpPr>
          <p:cNvPr id="19" name="">
            <a:extLst xmlns:a="http://schemas.openxmlformats.org/drawingml/2006/main">
              <a:ext uri="{FF2B5EF4-FFF2-40B4-BE49-F238E27FC236}">
                <a16:creationId xmlns:a16="http://schemas.microsoft.com/office/drawing/2014/main" id="{C84679B1-130A-4F1B-9DFB-BADD658A544B}"/>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14</a:t>
            </a:r>
          </a:p>
        </p:txBody>
      </p:sp>
    </p:spTree>
    <p:extLst>
      <p:ext uri="{BB962C8B-B14F-4D97-AF65-F5344CB8AC3E}">
        <p14:creationId xmlns:p14="http://schemas.microsoft.com/office/powerpoint/2010/main" val="2062077617"/>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E39C000-1208-426D-ADA7-3D4376035FA1}"/>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13</a:t>
            </a:r>
          </a:p>
        </p:txBody>
      </p:sp>
      <p:sp>
        <p:nvSpPr>
          <p:cNvPr id="2" name="">
            <a:extLst xmlns:a="http://schemas.openxmlformats.org/drawingml/2006/main">
              <a:ext uri="{FF2B5EF4-FFF2-40B4-BE49-F238E27FC236}">
                <a16:creationId xmlns:a16="http://schemas.microsoft.com/office/drawing/2014/main" id="{4E7D4BE4-AFF6-4F15-B659-18993110C453}"/>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2×2 交叉消融定位 ML 增益来源</a:t>
            </a:r>
          </a:p>
        </p:txBody>
      </p:sp>
      <p:sp>
        <p:nvSpPr>
          <p:cNvPr id="3" name="">
            <a:extLst xmlns:a="http://schemas.openxmlformats.org/drawingml/2006/main">
              <a:ext uri="{FF2B5EF4-FFF2-40B4-BE49-F238E27FC236}">
                <a16:creationId xmlns:a16="http://schemas.microsoft.com/office/drawing/2014/main" id="{4AE4DEBD-791D-44FC-A0C1-025A82BA1F30}"/>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9F00B59E-91A2-4FE7-83A2-E2982577F224}"/>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分别替换 position 和 depth，在同一 T40、512-shot 条件下计算四个组合</a:t>
            </a:r>
          </a:p>
        </p:txBody>
      </p:sp>
      <p:graphicFrame>
        <p:nvGraphicFramePr>
          <p:cNvPr id="22" name="Chart"/>
          <p:cNvGraphicFramePr/>
          <p:nvPr/>
        </p:nvGraphicFramePr>
        <p:xfrm>
          <a:off xmlns:a="http://schemas.openxmlformats.org/drawingml/2006/main" x="628650" y="1409700"/>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0872c3a872f64af1"/>
          </a:graphicData>
        </a:graphic>
      </p:graphicFrame>
      <p:sp>
        <p:nvSpPr>
          <p:cNvPr id="6" name="">
            <a:extLst xmlns:a="http://schemas.openxmlformats.org/drawingml/2006/main">
              <a:ext uri="{FF2B5EF4-FFF2-40B4-BE49-F238E27FC236}">
                <a16:creationId xmlns:a16="http://schemas.microsoft.com/office/drawing/2014/main" id="{54A0093E-F631-43F7-91AF-170EFBB52375}"/>
              </a:ext>
            </a:extLst>
          </p:cNvPr>
          <p:cNvSpPr>
            <a:spLocks xmlns:a="http://schemas.openxmlformats.org/drawingml/2006/main" noGrp="1"/>
          </p:cNvSpPr>
          <p:nvPr/>
        </p:nvSpPr>
        <p:spPr>
          <a:xfrm xmlns:a="http://schemas.openxmlformats.org/drawingml/2006/main">
            <a:off x="7848600" y="1466850"/>
            <a:ext cx="3429000" cy="1733550"/>
          </a:xfrm>
          <a:prstGeom xmlns:a="http://schemas.openxmlformats.org/drawingml/2006/main" prst="roundRect">
            <a:avLst>
              <a:gd name="adj" fmla="val 4396"/>
            </a:avLst>
          </a:prstGeom>
          <a:solidFill xmlns:a="http://schemas.openxmlformats.org/drawingml/2006/main">
            <a:srgbClr val="ECFDF3"/>
          </a:solidFill>
          <a:ln xmlns:a="http://schemas.openxmlformats.org/drawingml/2006/main" w="9525">
            <a:solidFill>
              <a:srgbClr val="ABEFC6"/>
            </a:solidFill>
          </a:ln>
        </p:spPr>
      </p:sp>
      <p:sp>
        <p:nvSpPr>
          <p:cNvPr id="7" name="">
            <a:extLst xmlns:a="http://schemas.openxmlformats.org/drawingml/2006/main">
              <a:ext uri="{FF2B5EF4-FFF2-40B4-BE49-F238E27FC236}">
                <a16:creationId xmlns:a16="http://schemas.microsoft.com/office/drawing/2014/main" id="{FA0E9D7B-C916-4185-BFAF-8DBC007944A7}"/>
              </a:ext>
            </a:extLst>
          </p:cNvPr>
          <p:cNvSpPr>
            <a:spLocks xmlns:a="http://schemas.openxmlformats.org/drawingml/2006/main" noGrp="1"/>
          </p:cNvSpPr>
          <p:nvPr/>
        </p:nvSpPr>
        <p:spPr>
          <a:xfrm xmlns:a="http://schemas.openxmlformats.org/drawingml/2006/main">
            <a:off x="8096250" y="169545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E9384"/>
                </a:solidFill>
                <a:latin typeface="Microsoft YaHei"/>
                <a:ea typeface="Microsoft YaHei"/>
                <a:cs typeface="Microsoft YaHei"/>
              </a:defRPr>
            </a:pPr>
            <a:r>
              <a:rPr sz="1275" b="1">
                <a:solidFill>
                  <a:srgbClr val="0E9384"/>
                </a:solidFill>
                <a:latin typeface="Microsoft YaHei"/>
                <a:ea typeface="Microsoft YaHei"/>
                <a:cs typeface="Microsoft YaHei"/>
              </a:rPr>
              <a:t>位置替换的增益</a:t>
            </a:r>
          </a:p>
        </p:txBody>
      </p:sp>
      <p:sp>
        <p:nvSpPr>
          <p:cNvPr id="8" name="">
            <a:extLst xmlns:a="http://schemas.openxmlformats.org/drawingml/2006/main">
              <a:ext uri="{FF2B5EF4-FFF2-40B4-BE49-F238E27FC236}">
                <a16:creationId xmlns:a16="http://schemas.microsoft.com/office/drawing/2014/main" id="{F5D07A89-94F7-4EB1-A24B-F377D152826E}"/>
              </a:ext>
            </a:extLst>
          </p:cNvPr>
          <p:cNvSpPr>
            <a:spLocks xmlns:a="http://schemas.openxmlformats.org/drawingml/2006/main" noGrp="1"/>
          </p:cNvSpPr>
          <p:nvPr/>
        </p:nvSpPr>
        <p:spPr>
          <a:xfrm xmlns:a="http://schemas.openxmlformats.org/drawingml/2006/main">
            <a:off x="8096250" y="207645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0E9384"/>
                </a:solidFill>
                <a:latin typeface="Microsoft YaHei"/>
                <a:ea typeface="Microsoft YaHei"/>
                <a:cs typeface="Microsoft YaHei"/>
              </a:defRPr>
            </a:pPr>
            <a:r>
              <a:rPr sz="2250" b="1">
                <a:solidFill>
                  <a:srgbClr val="0E9384"/>
                </a:solidFill>
                <a:latin typeface="Microsoft YaHei"/>
                <a:ea typeface="Microsoft YaHei"/>
                <a:cs typeface="Microsoft YaHei"/>
              </a:rPr>
              <a:t>+0.283 / +0.275</a:t>
            </a:r>
          </a:p>
        </p:txBody>
      </p:sp>
      <p:sp>
        <p:nvSpPr>
          <p:cNvPr id="9" name="">
            <a:extLst xmlns:a="http://schemas.openxmlformats.org/drawingml/2006/main">
              <a:ext uri="{FF2B5EF4-FFF2-40B4-BE49-F238E27FC236}">
                <a16:creationId xmlns:a16="http://schemas.microsoft.com/office/drawing/2014/main" id="{8CE3A120-F35F-43E6-B69E-7A8471CE9509}"/>
              </a:ext>
            </a:extLst>
          </p:cNvPr>
          <p:cNvSpPr>
            <a:spLocks xmlns:a="http://schemas.openxmlformats.org/drawingml/2006/main" noGrp="1"/>
          </p:cNvSpPr>
          <p:nvPr/>
        </p:nvSpPr>
        <p:spPr>
          <a:xfrm xmlns:a="http://schemas.openxmlformats.org/drawingml/2006/main">
            <a:off x="8096250" y="264795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深度来源不同的两组对照均成立</a:t>
            </a:r>
          </a:p>
        </p:txBody>
      </p:sp>
      <p:sp>
        <p:nvSpPr>
          <p:cNvPr id="10" name="">
            <a:extLst xmlns:a="http://schemas.openxmlformats.org/drawingml/2006/main">
              <a:ext uri="{FF2B5EF4-FFF2-40B4-BE49-F238E27FC236}">
                <a16:creationId xmlns:a16="http://schemas.microsoft.com/office/drawing/2014/main" id="{FA8C1F69-1C97-49D6-8E3E-D6AEEE3C3735}"/>
              </a:ext>
            </a:extLst>
          </p:cNvPr>
          <p:cNvSpPr>
            <a:spLocks xmlns:a="http://schemas.openxmlformats.org/drawingml/2006/main" noGrp="1"/>
          </p:cNvSpPr>
          <p:nvPr/>
        </p:nvSpPr>
        <p:spPr>
          <a:xfrm xmlns:a="http://schemas.openxmlformats.org/drawingml/2006/main">
            <a:off x="7848600" y="3429000"/>
            <a:ext cx="3429000" cy="1733550"/>
          </a:xfrm>
          <a:prstGeom xmlns:a="http://schemas.openxmlformats.org/drawingml/2006/main" prst="roundRect">
            <a:avLst>
              <a:gd name="adj" fmla="val 4396"/>
            </a:avLst>
          </a:prstGeom>
          <a:solidFill xmlns:a="http://schemas.openxmlformats.org/drawingml/2006/main">
            <a:srgbClr val="FFF6ED"/>
          </a:solidFill>
          <a:ln xmlns:a="http://schemas.openxmlformats.org/drawingml/2006/main" w="9525">
            <a:solidFill>
              <a:srgbClr val="FEDF89"/>
            </a:solidFill>
          </a:ln>
        </p:spPr>
      </p:sp>
      <p:sp>
        <p:nvSpPr>
          <p:cNvPr id="11" name="">
            <a:extLst xmlns:a="http://schemas.openxmlformats.org/drawingml/2006/main">
              <a:ext uri="{FF2B5EF4-FFF2-40B4-BE49-F238E27FC236}">
                <a16:creationId xmlns:a16="http://schemas.microsoft.com/office/drawing/2014/main" id="{5532CC2D-5EEF-4658-B77A-BA0694F9D8DC}"/>
              </a:ext>
            </a:extLst>
          </p:cNvPr>
          <p:cNvSpPr>
            <a:spLocks xmlns:a="http://schemas.openxmlformats.org/drawingml/2006/main" noGrp="1"/>
          </p:cNvSpPr>
          <p:nvPr/>
        </p:nvSpPr>
        <p:spPr>
          <a:xfrm xmlns:a="http://schemas.openxmlformats.org/drawingml/2006/main">
            <a:off x="8096250" y="3657600"/>
            <a:ext cx="2914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79009"/>
                </a:solidFill>
                <a:latin typeface="Microsoft YaHei"/>
                <a:ea typeface="Microsoft YaHei"/>
                <a:cs typeface="Microsoft YaHei"/>
              </a:defRPr>
            </a:pPr>
            <a:r>
              <a:rPr sz="1275" b="1">
                <a:solidFill>
                  <a:srgbClr val="F79009"/>
                </a:solidFill>
                <a:latin typeface="Microsoft YaHei"/>
                <a:ea typeface="Microsoft YaHei"/>
                <a:cs typeface="Microsoft YaHei"/>
              </a:rPr>
              <a:t>深度替换的增益</a:t>
            </a:r>
          </a:p>
        </p:txBody>
      </p:sp>
      <p:sp>
        <p:nvSpPr>
          <p:cNvPr id="12" name="">
            <a:extLst xmlns:a="http://schemas.openxmlformats.org/drawingml/2006/main">
              <a:ext uri="{FF2B5EF4-FFF2-40B4-BE49-F238E27FC236}">
                <a16:creationId xmlns:a16="http://schemas.microsoft.com/office/drawing/2014/main" id="{B192F024-7BA9-4EDA-B9D5-0D8BBD8C03B7}"/>
              </a:ext>
            </a:extLst>
          </p:cNvPr>
          <p:cNvSpPr>
            <a:spLocks xmlns:a="http://schemas.openxmlformats.org/drawingml/2006/main" noGrp="1"/>
          </p:cNvSpPr>
          <p:nvPr/>
        </p:nvSpPr>
        <p:spPr>
          <a:xfrm xmlns:a="http://schemas.openxmlformats.org/drawingml/2006/main">
            <a:off x="8096250" y="4038600"/>
            <a:ext cx="2914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F79009"/>
                </a:solidFill>
                <a:latin typeface="Microsoft YaHei"/>
                <a:ea typeface="Microsoft YaHei"/>
                <a:cs typeface="Microsoft YaHei"/>
              </a:defRPr>
            </a:pPr>
            <a:r>
              <a:rPr sz="2250" b="1">
                <a:solidFill>
                  <a:srgbClr val="F79009"/>
                </a:solidFill>
                <a:latin typeface="Microsoft YaHei"/>
                <a:ea typeface="Microsoft YaHei"/>
                <a:cs typeface="Microsoft YaHei"/>
              </a:rPr>
              <a:t>+0.004 / −0.004</a:t>
            </a:r>
          </a:p>
        </p:txBody>
      </p:sp>
      <p:sp>
        <p:nvSpPr>
          <p:cNvPr id="13" name="">
            <a:extLst xmlns:a="http://schemas.openxmlformats.org/drawingml/2006/main">
              <a:ext uri="{FF2B5EF4-FFF2-40B4-BE49-F238E27FC236}">
                <a16:creationId xmlns:a16="http://schemas.microsoft.com/office/drawing/2014/main" id="{B64937EF-DE1F-45FA-B174-AAE23BCE1788}"/>
              </a:ext>
            </a:extLst>
          </p:cNvPr>
          <p:cNvSpPr>
            <a:spLocks xmlns:a="http://schemas.openxmlformats.org/drawingml/2006/main" noGrp="1"/>
          </p:cNvSpPr>
          <p:nvPr/>
        </p:nvSpPr>
        <p:spPr>
          <a:xfrm xmlns:a="http://schemas.openxmlformats.org/drawingml/2006/main">
            <a:off x="8096250" y="4610100"/>
            <a:ext cx="2914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344054"/>
                </a:solidFill>
                <a:latin typeface="Microsoft YaHei"/>
                <a:ea typeface="Microsoft YaHei"/>
                <a:cs typeface="Microsoft YaHei"/>
              </a:defRPr>
            </a:pPr>
            <a:r>
              <a:rPr sz="1125" b="0">
                <a:solidFill>
                  <a:srgbClr val="344054"/>
                </a:solidFill>
                <a:latin typeface="Microsoft YaHei"/>
                <a:ea typeface="Microsoft YaHei"/>
                <a:cs typeface="Microsoft YaHei"/>
              </a:rPr>
              <a:t>在该模型和场景下与统计分辨率相当</a:t>
            </a:r>
          </a:p>
        </p:txBody>
      </p:sp>
      <p:sp>
        <p:nvSpPr>
          <p:cNvPr id="14" name="">
            <a:extLst xmlns:a="http://schemas.openxmlformats.org/drawingml/2006/main">
              <a:ext uri="{FF2B5EF4-FFF2-40B4-BE49-F238E27FC236}">
                <a16:creationId xmlns:a16="http://schemas.microsoft.com/office/drawing/2014/main" id="{C35D3703-4D0E-44A3-BC7A-B59A7721A2E9}"/>
              </a:ext>
            </a:extLst>
          </p:cNvPr>
          <p:cNvSpPr>
            <a:spLocks xmlns:a="http://schemas.openxmlformats.org/drawingml/2006/main" noGrp="1"/>
          </p:cNvSpPr>
          <p:nvPr/>
        </p:nvSpPr>
        <p:spPr>
          <a:xfrm xmlns:a="http://schemas.openxmlformats.org/drawingml/2006/main">
            <a:off x="628650" y="57150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92D20"/>
                </a:solidFill>
                <a:latin typeface="Microsoft YaHei"/>
                <a:ea typeface="Microsoft YaHei"/>
                <a:cs typeface="Microsoft YaHei"/>
              </a:defRPr>
            </a:pPr>
            <a:r>
              <a:rPr sz="1275" b="0">
                <a:solidFill>
                  <a:srgbClr val="D92D20"/>
                </a:solidFill>
                <a:latin typeface="Microsoft YaHei"/>
                <a:ea typeface="Microsoft YaHei"/>
                <a:cs typeface="Microsoft YaHei"/>
              </a:rPr>
              <a:t>95% 以上的丢失发生在 pickup_wait 的 AOD 束缚判定，而非 drop-off。</a:t>
            </a:r>
          </a:p>
        </p:txBody>
      </p:sp>
      <p:sp>
        <p:nvSpPr>
          <p:cNvPr id="15" name="">
            <a:extLst xmlns:a="http://schemas.openxmlformats.org/drawingml/2006/main">
              <a:ext uri="{FF2B5EF4-FFF2-40B4-BE49-F238E27FC236}">
                <a16:creationId xmlns:a16="http://schemas.microsoft.com/office/drawing/2014/main" id="{6663B031-5D5B-43F5-B94E-D788EA783674}"/>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6" name="">
            <a:extLst xmlns:a="http://schemas.openxmlformats.org/drawingml/2006/main">
              <a:ext uri="{FF2B5EF4-FFF2-40B4-BE49-F238E27FC236}">
                <a16:creationId xmlns:a16="http://schemas.microsoft.com/office/drawing/2014/main" id="{60DE2539-C0DA-49AD-BDEE-79D5E2AB1BA2}"/>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 summary_stage1.md §6.1 · reproducible script ablation_cross_2x2.py</a:t>
            </a:r>
          </a:p>
        </p:txBody>
      </p:sp>
      <p:sp>
        <p:nvSpPr>
          <p:cNvPr id="17" name="">
            <a:extLst xmlns:a="http://schemas.openxmlformats.org/drawingml/2006/main">
              <a:ext uri="{FF2B5EF4-FFF2-40B4-BE49-F238E27FC236}">
                <a16:creationId xmlns:a16="http://schemas.microsoft.com/office/drawing/2014/main" id="{9011429D-6DE0-41AE-8719-23D57C2948F0}"/>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15</a:t>
            </a:r>
          </a:p>
        </p:txBody>
      </p:sp>
    </p:spTree>
    <p:extLst>
      <p:ext uri="{BB962C8B-B14F-4D97-AF65-F5344CB8AC3E}">
        <p14:creationId xmlns:p14="http://schemas.microsoft.com/office/powerpoint/2010/main" val="792790014"/>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49075B9-6E45-4D25-87D5-B0E487A92B8A}"/>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14</a:t>
            </a:r>
          </a:p>
        </p:txBody>
      </p:sp>
      <p:sp>
        <p:nvSpPr>
          <p:cNvPr id="2" name="">
            <a:extLst xmlns:a="http://schemas.openxmlformats.org/drawingml/2006/main">
              <a:ext uri="{FF2B5EF4-FFF2-40B4-BE49-F238E27FC236}">
                <a16:creationId xmlns:a16="http://schemas.microsoft.com/office/drawing/2014/main" id="{05F1C1B1-31A3-4CB2-99FA-109D39E0A43D}"/>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用逐点误差执行定量验收</a:t>
            </a:r>
          </a:p>
        </p:txBody>
      </p:sp>
      <p:sp>
        <p:nvSpPr>
          <p:cNvPr id="3" name="">
            <a:extLst xmlns:a="http://schemas.openxmlformats.org/drawingml/2006/main">
              <a:ext uri="{FF2B5EF4-FFF2-40B4-BE49-F238E27FC236}">
                <a16:creationId xmlns:a16="http://schemas.microsoft.com/office/drawing/2014/main" id="{9DF19651-536F-4A7A-8847-99E16C762BAC}"/>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C760C904-E7EF-4584-B766-6C0E4CECB667}"/>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Manual 使用 T40 的 512-shot 完整曲线；Fig. 6c ML 只验收已提交的 256-shot 端点</a:t>
            </a:r>
          </a:p>
        </p:txBody>
      </p:sp>
      <p:graphicFrame>
        <p:nvGraphicFramePr>
          <p:cNvPr id="19" name=""/>
          <p:cNvGraphicFramePr/>
          <p:nvPr/>
        </p:nvGraphicFramePr>
        <p:xfrm>
          <a:off xmlns:a="http://schemas.openxmlformats.org/drawingml/2006/main" x="609600" y="1466850"/>
          <a:ext xmlns:a="http://schemas.openxmlformats.org/drawingml/2006/main" cx="10972800" cy="2724150"/>
        </p:xfrm>
        <a:graphic xmlns:a="http://schemas.openxmlformats.org/drawingml/2006/main">
          <a:graphicData uri="http://schemas.openxmlformats.org/drawingml/2006/table">
            <a:tbl>
              <a:tblPr/>
              <a:tblGrid>
                <a:gridCol w="2112775"/>
                <a:gridCol w="1158619"/>
                <a:gridCol w="1226773"/>
                <a:gridCol w="1226773"/>
                <a:gridCol w="1499389"/>
                <a:gridCol w="2112775"/>
                <a:gridCol w="1635697"/>
              </a:tblGrid>
              <a:tr h="544830">
                <a:tc>
                  <a:txBody>
                    <a:bodyPr>
                      <a:noAutofit/>
                    </a:bodyPr>
                    <a:lstStyle/>
                    <a:p>
                      <a:pPr algn="l"/>
                      <a:r>
                        <a:rPr sz="975" b="1">
                          <a:solidFill>
                            <a:srgbClr val="FFFFFF"/>
                          </a:solidFill>
                          <a:latin typeface="Microsoft YaHei"/>
                          <a:ea typeface="Microsoft YaHei"/>
                          <a:cs typeface="Microsoft YaHei"/>
                        </a:rPr>
                        <a:t>Trajectory</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Endpoint</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Paper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MC</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MC−Paper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Max |curve error|</a:t>
                      </a:r>
                    </a:p>
                  </a:txBody>
                  <a:tcPr marL="91440" marR="91440" marT="45720" marB="45720" anchor="ctr">
                    <a:solidFill>
                      <a:srgbClr val="102A43"/>
                    </a:solidFill>
                  </a:tcPr>
                </a:tc>
                <a:tc>
                  <a:txBody>
                    <a:bodyPr>
                      <a:noAutofit/>
                    </a:bodyPr>
                    <a:lstStyle/>
                    <a:p>
                      <a:pPr algn="ctr"/>
                      <a:r>
                        <a:rPr sz="975" b="1">
                          <a:solidFill>
                            <a:srgbClr val="FFFFFF"/>
                          </a:solidFill>
                          <a:latin typeface="Microsoft YaHei"/>
                          <a:ea typeface="Microsoft YaHei"/>
                          <a:cs typeface="Microsoft YaHei"/>
                        </a:rPr>
                        <a:t>Within ±0.02</a:t>
                      </a:r>
                    </a:p>
                  </a:txBody>
                  <a:tcPr marL="91440" marR="91440" marT="45720" marB="45720" anchor="ctr">
                    <a:solidFill>
                      <a:srgbClr val="102A43"/>
                    </a:solidFill>
                  </a:tcPr>
                </a:tc>
              </a:tr>
              <a:tr h="544830">
                <a:tc>
                  <a:txBody>
                    <a:bodyPr>
                      <a:noAutofit/>
                    </a:bodyPr>
                    <a:lstStyle/>
                    <a:p>
                      <a:pPr algn="l"/>
                      <a:r>
                        <a:rPr sz="1050" b="0">
                          <a:solidFill>
                            <a:srgbClr val="344054"/>
                          </a:solidFill>
                          <a:latin typeface="Microsoft YaHei"/>
                          <a:ea typeface="Microsoft YaHei"/>
                          <a:cs typeface="Microsoft YaHei"/>
                        </a:rPr>
                        <a:t>Manual 200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S(31)</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33.4%</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24.0%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-9.4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17.8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0%</a:t>
                      </a:r>
                    </a:p>
                  </a:txBody>
                  <a:tcPr marL="91440" marR="91440" marT="45720" marB="45720" anchor="ctr">
                    <a:solidFill>
                      <a:srgbClr val="FFFFFF"/>
                    </a:solidFill>
                  </a:tcPr>
                </a:tc>
              </a:tr>
              <a:tr h="544830">
                <a:tc>
                  <a:txBody>
                    <a:bodyPr>
                      <a:noAutofit/>
                    </a:bodyPr>
                    <a:lstStyle/>
                    <a:p>
                      <a:pPr algn="l"/>
                      <a:r>
                        <a:rPr sz="1050" b="0">
                          <a:solidFill>
                            <a:srgbClr val="344054"/>
                          </a:solidFill>
                          <a:latin typeface="Microsoft YaHei"/>
                          <a:ea typeface="Microsoft YaHei"/>
                          <a:cs typeface="Microsoft YaHei"/>
                        </a:rPr>
                        <a:t>Manual 400</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41.3%</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52.5%</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11.2 pp</a:t>
                      </a:r>
                    </a:p>
                  </a:txBody>
                  <a:tcPr marL="91440" marR="91440" marT="45720" marB="45720" anchor="ctr">
                    <a:solidFill>
                      <a:srgbClr val="F8FAFC"/>
                    </a:solidFill>
                  </a:tcPr>
                </a:tc>
                <a:tc>
                  <a:txBody>
                    <a:bodyPr>
                      <a:noAutofit/>
                    </a:bodyPr>
                    <a:lstStyle/>
                    <a:p>
                      <a:pPr algn="ctr"/>
                      <a:r>
                        <a:rPr sz="1050" b="0">
                          <a:solidFill>
                            <a:srgbClr val="344054"/>
                          </a:solidFill>
                          <a:latin typeface="Microsoft YaHei"/>
                          <a:ea typeface="Microsoft YaHei"/>
                          <a:cs typeface="Microsoft YaHei"/>
                        </a:rPr>
                        <a:t>20%</a:t>
                      </a:r>
                    </a:p>
                  </a:txBody>
                  <a:tcPr marL="91440" marR="91440" marT="45720" marB="45720" anchor="ctr">
                    <a:solidFill>
                      <a:srgbClr val="F8FAFC"/>
                    </a:solidFill>
                  </a:tcPr>
                </a:tc>
              </a:tr>
              <a:tr h="544830">
                <a:tc>
                  <a:txBody>
                    <a:bodyPr>
                      <a:noAutofit/>
                    </a:bodyPr>
                    <a:lstStyle/>
                    <a:p>
                      <a:pPr algn="l"/>
                      <a:r>
                        <a:rPr sz="1050" b="0">
                          <a:solidFill>
                            <a:srgbClr val="344054"/>
                          </a:solidFill>
                          <a:latin typeface="Microsoft YaHei"/>
                          <a:ea typeface="Microsoft YaHei"/>
                          <a:cs typeface="Microsoft YaHei"/>
                        </a:rPr>
                        <a:t>Manual 600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57.3%</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68.4%</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11.1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11.7 pp</a:t>
                      </a:r>
                    </a:p>
                  </a:txBody>
                  <a:tcPr marL="91440" marR="91440" marT="45720" marB="45720" anchor="ctr">
                    <a:solidFill>
                      <a:srgbClr val="FFFFFF"/>
                    </a:solidFill>
                  </a:tcPr>
                </a:tc>
                <a:tc>
                  <a:txBody>
                    <a:bodyPr>
                      <a:noAutofit/>
                    </a:bodyPr>
                    <a:lstStyle/>
                    <a:p>
                      <a:pPr algn="ctr"/>
                      <a:r>
                        <a:rPr sz="1050" b="0">
                          <a:solidFill>
                            <a:srgbClr val="344054"/>
                          </a:solidFill>
                          <a:latin typeface="Microsoft YaHei"/>
                          <a:ea typeface="Microsoft YaHei"/>
                          <a:cs typeface="Microsoft YaHei"/>
                        </a:rPr>
                        <a:t>34%</a:t>
                      </a:r>
                    </a:p>
                  </a:txBody>
                  <a:tcPr marL="91440" marR="91440" marT="45720" marB="45720" anchor="ctr">
                    <a:solidFill>
                      <a:srgbClr val="FFFFFF"/>
                    </a:solidFill>
                  </a:tcPr>
                </a:tc>
              </a:tr>
              <a:tr h="544830">
                <a:tc>
                  <a:txBody>
                    <a:bodyPr>
                      <a:noAutofit/>
                    </a:bodyPr>
                    <a:lstStyle/>
                    <a:p>
                      <a:pPr algn="l"/>
                      <a:r>
                        <a:rPr sz="1050" b="0">
                          <a:solidFill>
                            <a:srgbClr val="344054"/>
                          </a:solidFill>
                          <a:latin typeface="Microsoft YaHei"/>
                          <a:ea typeface="Microsoft YaHei"/>
                          <a:cs typeface="Microsoft YaHei"/>
                        </a:rPr>
                        <a:t>Fig. 6c ML 400</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S(60)</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66.3%</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75.8%</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9.5 pp</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full curve not committed</a:t>
                      </a:r>
                    </a:p>
                  </a:txBody>
                  <a:tcPr marL="91440" marR="91440" marT="45720" marB="45720" anchor="ctr">
                    <a:solidFill>
                      <a:srgbClr val="EFF8FF"/>
                    </a:solidFill>
                  </a:tcPr>
                </a:tc>
                <a:tc>
                  <a:txBody>
                    <a:bodyPr>
                      <a:noAutofit/>
                    </a:bodyPr>
                    <a:lstStyle/>
                    <a:p>
                      <a:pPr algn="ctr"/>
                      <a:r>
                        <a:rPr sz="1050" b="0">
                          <a:solidFill>
                            <a:srgbClr val="344054"/>
                          </a:solidFill>
                          <a:latin typeface="Microsoft YaHei"/>
                          <a:ea typeface="Microsoft YaHei"/>
                          <a:cs typeface="Microsoft YaHei"/>
                        </a:rPr>
                        <a:t>not evaluable</a:t>
                      </a:r>
                    </a:p>
                  </a:txBody>
                  <a:tcPr marL="91440" marR="91440" marT="45720" marB="45720" anchor="ctr">
                    <a:solidFill>
                      <a:srgbClr val="EFF8FF"/>
                    </a:solidFill>
                  </a:tcPr>
                </a:tc>
              </a:tr>
            </a:tbl>
          </a:graphicData>
        </a:graphic>
      </p:graphicFrame>
      <p:sp>
        <p:nvSpPr>
          <p:cNvPr id="6" name="">
            <a:extLst xmlns:a="http://schemas.openxmlformats.org/drawingml/2006/main">
              <a:ext uri="{FF2B5EF4-FFF2-40B4-BE49-F238E27FC236}">
                <a16:creationId xmlns:a16="http://schemas.microsoft.com/office/drawing/2014/main" id="{EE60FFDD-3777-4B4D-A7FA-BEA8DDE79E94}"/>
              </a:ext>
            </a:extLst>
          </p:cNvPr>
          <p:cNvSpPr>
            <a:spLocks xmlns:a="http://schemas.openxmlformats.org/drawingml/2006/main" noGrp="1"/>
          </p:cNvSpPr>
          <p:nvPr/>
        </p:nvSpPr>
        <p:spPr>
          <a:xfrm xmlns:a="http://schemas.openxmlformats.org/drawingml/2006/main">
            <a:off x="609600" y="4495800"/>
            <a:ext cx="5257800" cy="1428750"/>
          </a:xfrm>
          <a:prstGeom xmlns:a="http://schemas.openxmlformats.org/drawingml/2006/main" prst="roundRect">
            <a:avLst>
              <a:gd name="adj" fmla="val 5333"/>
            </a:avLst>
          </a:prstGeom>
          <a:solidFill xmlns:a="http://schemas.openxmlformats.org/drawingml/2006/main">
            <a:srgbClr val="FEF3F2"/>
          </a:solidFill>
          <a:ln xmlns:a="http://schemas.openxmlformats.org/drawingml/2006/main" w="9525">
            <a:solidFill>
              <a:srgbClr val="FECDCA"/>
            </a:solidFill>
          </a:ln>
        </p:spPr>
      </p:sp>
      <p:sp>
        <p:nvSpPr>
          <p:cNvPr id="7" name="">
            <a:extLst xmlns:a="http://schemas.openxmlformats.org/drawingml/2006/main">
              <a:ext uri="{FF2B5EF4-FFF2-40B4-BE49-F238E27FC236}">
                <a16:creationId xmlns:a16="http://schemas.microsoft.com/office/drawing/2014/main" id="{72BDFD80-D448-4330-B409-E63B29A83366}"/>
              </a:ext>
            </a:extLst>
          </p:cNvPr>
          <p:cNvSpPr>
            <a:spLocks xmlns:a="http://schemas.openxmlformats.org/drawingml/2006/main" noGrp="1"/>
          </p:cNvSpPr>
          <p:nvPr/>
        </p:nvSpPr>
        <p:spPr>
          <a:xfrm xmlns:a="http://schemas.openxmlformats.org/drawingml/2006/main">
            <a:off x="8572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D92D20"/>
                </a:solidFill>
                <a:latin typeface="Microsoft YaHei"/>
                <a:ea typeface="Microsoft YaHei"/>
                <a:cs typeface="Microsoft YaHei"/>
              </a:defRPr>
            </a:pPr>
            <a:r>
              <a:rPr sz="1350" b="1">
                <a:solidFill>
                  <a:srgbClr val="D92D20"/>
                </a:solidFill>
                <a:latin typeface="Microsoft YaHei"/>
                <a:ea typeface="Microsoft YaHei"/>
                <a:cs typeface="Microsoft YaHei"/>
              </a:rPr>
              <a:t>Absolute scale</a:t>
            </a:r>
          </a:p>
        </p:txBody>
      </p:sp>
      <p:sp>
        <p:nvSpPr>
          <p:cNvPr id="8" name="">
            <a:extLst xmlns:a="http://schemas.openxmlformats.org/drawingml/2006/main">
              <a:ext uri="{FF2B5EF4-FFF2-40B4-BE49-F238E27FC236}">
                <a16:creationId xmlns:a16="http://schemas.microsoft.com/office/drawing/2014/main" id="{A1C24691-FDFC-4879-8286-B6847850B0B0}"/>
              </a:ext>
            </a:extLst>
          </p:cNvPr>
          <p:cNvSpPr>
            <a:spLocks xmlns:a="http://schemas.openxmlformats.org/drawingml/2006/main" noGrp="1"/>
          </p:cNvSpPr>
          <p:nvPr/>
        </p:nvSpPr>
        <p:spPr>
          <a:xfrm xmlns:a="http://schemas.openxmlformats.org/drawingml/2006/main">
            <a:off x="857250" y="5086350"/>
            <a:ext cx="4686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Manual 400/600 和 Fig. 6c ML 的终点偏高约 9–11 pp；Manual 200 在 n=31 偏低 9.4 pp。</a:t>
            </a:r>
          </a:p>
        </p:txBody>
      </p:sp>
      <p:sp>
        <p:nvSpPr>
          <p:cNvPr id="9" name="">
            <a:extLst xmlns:a="http://schemas.openxmlformats.org/drawingml/2006/main">
              <a:ext uri="{FF2B5EF4-FFF2-40B4-BE49-F238E27FC236}">
                <a16:creationId xmlns:a16="http://schemas.microsoft.com/office/drawing/2014/main" id="{F46799C9-124D-4985-918B-55315E1DFCFF}"/>
              </a:ext>
            </a:extLst>
          </p:cNvPr>
          <p:cNvSpPr>
            <a:spLocks xmlns:a="http://schemas.openxmlformats.org/drawingml/2006/main" noGrp="1"/>
          </p:cNvSpPr>
          <p:nvPr/>
        </p:nvSpPr>
        <p:spPr>
          <a:xfrm xmlns:a="http://schemas.openxmlformats.org/drawingml/2006/main">
            <a:off x="6134100" y="4495800"/>
            <a:ext cx="5448300" cy="1428750"/>
          </a:xfrm>
          <a:prstGeom xmlns:a="http://schemas.openxmlformats.org/drawingml/2006/main" prst="roundRect">
            <a:avLst>
              <a:gd name="adj" fmla="val 5333"/>
            </a:avLst>
          </a:prstGeom>
          <a:solidFill xmlns:a="http://schemas.openxmlformats.org/drawingml/2006/main">
            <a:srgbClr val="FFF6ED"/>
          </a:solidFill>
          <a:ln xmlns:a="http://schemas.openxmlformats.org/drawingml/2006/main" w="9525">
            <a:solidFill>
              <a:srgbClr val="FEDF89"/>
            </a:solidFill>
          </a:ln>
        </p:spPr>
      </p:sp>
      <p:sp>
        <p:nvSpPr>
          <p:cNvPr id="10" name="">
            <a:extLst xmlns:a="http://schemas.openxmlformats.org/drawingml/2006/main">
              <a:ext uri="{FF2B5EF4-FFF2-40B4-BE49-F238E27FC236}">
                <a16:creationId xmlns:a16="http://schemas.microsoft.com/office/drawing/2014/main" id="{5C8A3BD9-5017-419D-8308-BEB109D5C2E7}"/>
              </a:ext>
            </a:extLst>
          </p:cNvPr>
          <p:cNvSpPr>
            <a:spLocks xmlns:a="http://schemas.openxmlformats.org/drawingml/2006/main" noGrp="1"/>
          </p:cNvSpPr>
          <p:nvPr/>
        </p:nvSpPr>
        <p:spPr>
          <a:xfrm xmlns:a="http://schemas.openxmlformats.org/drawingml/2006/main">
            <a:off x="6381750" y="47053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79009"/>
                </a:solidFill>
                <a:latin typeface="Microsoft YaHei"/>
                <a:ea typeface="Microsoft YaHei"/>
                <a:cs typeface="Microsoft YaHei"/>
              </a:defRPr>
            </a:pPr>
            <a:r>
              <a:rPr sz="1350" b="1">
                <a:solidFill>
                  <a:srgbClr val="F79009"/>
                </a:solidFill>
                <a:latin typeface="Microsoft YaHei"/>
                <a:ea typeface="Microsoft YaHei"/>
                <a:cs typeface="Microsoft YaHei"/>
              </a:rPr>
              <a:t>Evidence gap</a:t>
            </a:r>
          </a:p>
        </p:txBody>
      </p:sp>
      <p:sp>
        <p:nvSpPr>
          <p:cNvPr id="11" name="">
            <a:extLst xmlns:a="http://schemas.openxmlformats.org/drawingml/2006/main">
              <a:ext uri="{FF2B5EF4-FFF2-40B4-BE49-F238E27FC236}">
                <a16:creationId xmlns:a16="http://schemas.microsoft.com/office/drawing/2014/main" id="{BD9FF5A8-57CC-4771-93A7-4B95393FBE49}"/>
              </a:ext>
            </a:extLst>
          </p:cNvPr>
          <p:cNvSpPr>
            <a:spLocks xmlns:a="http://schemas.openxmlformats.org/drawingml/2006/main" noGrp="1"/>
          </p:cNvSpPr>
          <p:nvPr/>
        </p:nvSpPr>
        <p:spPr>
          <a:xfrm xmlns:a="http://schemas.openxmlformats.org/drawingml/2006/main">
            <a:off x="6381750" y="5086350"/>
            <a:ext cx="4876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最新 Fig. 6c replay 只提交了 endpoint JSON。旧 `ml_400us` 全曲线对应原冻结候选，不能替代最新轨迹。</a:t>
            </a:r>
          </a:p>
        </p:txBody>
      </p:sp>
      <p:sp>
        <p:nvSpPr>
          <p:cNvPr id="12" name="">
            <a:extLst xmlns:a="http://schemas.openxmlformats.org/drawingml/2006/main">
              <a:ext uri="{FF2B5EF4-FFF2-40B4-BE49-F238E27FC236}">
                <a16:creationId xmlns:a16="http://schemas.microsoft.com/office/drawing/2014/main" id="{45A9AB92-5A59-4931-8C4C-3B4CDEBBAB41}"/>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3" name="">
            <a:extLst xmlns:a="http://schemas.openxmlformats.org/drawingml/2006/main">
              <a:ext uri="{FF2B5EF4-FFF2-40B4-BE49-F238E27FC236}">
                <a16:creationId xmlns:a16="http://schemas.microsoft.com/office/drawing/2014/main" id="{5211E653-F69A-4FD6-9B93-B9206E126466}"/>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paper_ml_eval.json · monotone paper reconstruction</a:t>
            </a:r>
          </a:p>
        </p:txBody>
      </p:sp>
      <p:sp>
        <p:nvSpPr>
          <p:cNvPr id="14" name="">
            <a:extLst xmlns:a="http://schemas.openxmlformats.org/drawingml/2006/main">
              <a:ext uri="{FF2B5EF4-FFF2-40B4-BE49-F238E27FC236}">
                <a16:creationId xmlns:a16="http://schemas.microsoft.com/office/drawing/2014/main" id="{08F80FE3-F305-4F88-A64C-E85D8FA10937}"/>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16</a:t>
            </a:r>
          </a:p>
        </p:txBody>
      </p:sp>
    </p:spTree>
    <p:extLst>
      <p:ext uri="{BB962C8B-B14F-4D97-AF65-F5344CB8AC3E}">
        <p14:creationId xmlns:p14="http://schemas.microsoft.com/office/powerpoint/2010/main" val="1582429340"/>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B4E2EF0-DAD8-47AB-B336-9220E2ADB0C4}"/>
              </a:ext>
            </a:extLst>
          </p:cNvPr>
          <p:cNvSpPr>
            <a:spLocks xmlns:a="http://schemas.openxmlformats.org/drawingml/2006/main" noGrp="1"/>
          </p:cNvSpPr>
          <p:nvPr/>
        </p:nvSpPr>
        <p:spPr>
          <a:xfrm xmlns:a="http://schemas.openxmlformats.org/drawingml/2006/main">
            <a:off x="609600" y="409575"/>
            <a:ext cx="781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1570EF"/>
                </a:solidFill>
                <a:latin typeface="Microsoft YaHei"/>
                <a:ea typeface="Microsoft YaHei"/>
                <a:cs typeface="Microsoft YaHei"/>
              </a:defRPr>
            </a:pPr>
            <a:r>
              <a:rPr sz="975" b="1">
                <a:solidFill>
                  <a:srgbClr val="1570EF"/>
                </a:solidFill>
                <a:latin typeface="Microsoft YaHei"/>
                <a:ea typeface="Microsoft YaHei"/>
                <a:cs typeface="Microsoft YaHei"/>
              </a:rPr>
              <a:t>STEP 15</a:t>
            </a:r>
          </a:p>
        </p:txBody>
      </p:sp>
      <p:sp>
        <p:nvSpPr>
          <p:cNvPr id="2" name="">
            <a:extLst xmlns:a="http://schemas.openxmlformats.org/drawingml/2006/main">
              <a:ext uri="{FF2B5EF4-FFF2-40B4-BE49-F238E27FC236}">
                <a16:creationId xmlns:a16="http://schemas.microsoft.com/office/drawing/2014/main" id="{A47E176C-24DB-41A8-8FAF-B79A5BA01501}"/>
              </a:ext>
            </a:extLst>
          </p:cNvPr>
          <p:cNvSpPr>
            <a:spLocks xmlns:a="http://schemas.openxmlformats.org/drawingml/2006/main" noGrp="1"/>
          </p:cNvSpPr>
          <p:nvPr/>
        </p:nvSpPr>
        <p:spPr>
          <a:xfrm xmlns:a="http://schemas.openxmlformats.org/drawingml/2006/main">
            <a:off x="1447800" y="323850"/>
            <a:ext cx="10134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02A43"/>
                </a:solidFill>
                <a:latin typeface="Microsoft YaHei"/>
                <a:ea typeface="Microsoft YaHei"/>
                <a:cs typeface="Microsoft YaHei"/>
              </a:defRPr>
            </a:pPr>
            <a:r>
              <a:rPr sz="2325" b="1">
                <a:solidFill>
                  <a:srgbClr val="102A43"/>
                </a:solidFill>
                <a:latin typeface="Microsoft YaHei"/>
                <a:ea typeface="Microsoft YaHei"/>
                <a:cs typeface="Microsoft YaHei"/>
              </a:rPr>
              <a:t>检查逐点残差并界定模型边界</a:t>
            </a:r>
          </a:p>
        </p:txBody>
      </p:sp>
      <p:sp>
        <p:nvSpPr>
          <p:cNvPr id="3" name="">
            <a:extLst xmlns:a="http://schemas.openxmlformats.org/drawingml/2006/main">
              <a:ext uri="{FF2B5EF4-FFF2-40B4-BE49-F238E27FC236}">
                <a16:creationId xmlns:a16="http://schemas.microsoft.com/office/drawing/2014/main" id="{67B53697-500D-4034-B827-1091094ACA6B}"/>
              </a:ext>
            </a:extLst>
          </p:cNvPr>
          <p:cNvSpPr>
            <a:spLocks xmlns:a="http://schemas.openxmlformats.org/drawingml/2006/main" noGrp="1"/>
          </p:cNvSpPr>
          <p:nvPr/>
        </p:nvSpPr>
        <p:spPr>
          <a:xfrm xmlns:a="http://schemas.openxmlformats.org/drawingml/2006/main">
            <a:off x="609600" y="895350"/>
            <a:ext cx="685800" cy="38100"/>
          </a:xfrm>
          <a:prstGeom xmlns:a="http://schemas.openxmlformats.org/drawingml/2006/main" prst="rect">
            <a:avLst/>
          </a:prstGeom>
          <a:solidFill xmlns:a="http://schemas.openxmlformats.org/drawingml/2006/main">
            <a:srgbClr val="1570EF"/>
          </a:solidFill>
          <a:ln xmlns:a="http://schemas.openxmlformats.org/drawingml/2006/main" w="0">
            <a:solidFill>
              <a:srgbClr val="1570EF"/>
            </a:solidFill>
          </a:ln>
        </p:spPr>
      </p:sp>
      <p:sp>
        <p:nvSpPr>
          <p:cNvPr id="4" name="">
            <a:extLst xmlns:a="http://schemas.openxmlformats.org/drawingml/2006/main">
              <a:ext uri="{FF2B5EF4-FFF2-40B4-BE49-F238E27FC236}">
                <a16:creationId xmlns:a16="http://schemas.microsoft.com/office/drawing/2014/main" id="{3A8B9F46-8C2C-474C-BCB6-B6FED026AFF4}"/>
              </a:ext>
            </a:extLst>
          </p:cNvPr>
          <p:cNvSpPr>
            <a:spLocks xmlns:a="http://schemas.openxmlformats.org/drawingml/2006/main" noGrp="1"/>
          </p:cNvSpPr>
          <p:nvPr/>
        </p:nvSpPr>
        <p:spPr>
          <a:xfrm xmlns:a="http://schemas.openxmlformats.org/drawingml/2006/main">
            <a:off x="1447800" y="742950"/>
            <a:ext cx="1013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a:solidFill>
                  <a:srgbClr val="667085"/>
                </a:solidFill>
                <a:latin typeface="Microsoft YaHei"/>
                <a:ea typeface="Microsoft YaHei"/>
                <a:cs typeface="Microsoft YaHei"/>
              </a:defRPr>
            </a:pPr>
            <a:r>
              <a:rPr sz="1125" b="0">
                <a:solidFill>
                  <a:srgbClr val="667085"/>
                </a:solidFill>
                <a:latin typeface="Microsoft YaHei"/>
                <a:ea typeface="Microsoft YaHei"/>
                <a:cs typeface="Microsoft YaHei"/>
              </a:rPr>
              <a:t>Deviation = MC T40 − 单调论文重建；误差变号说明不仅是整体损失尺度不同</a:t>
            </a:r>
          </a:p>
        </p:txBody>
      </p:sp>
      <p:graphicFrame>
        <p:nvGraphicFramePr>
          <p:cNvPr id="16" name="Chart"/>
          <p:cNvGraphicFramePr/>
          <p:nvPr/>
        </p:nvGraphicFramePr>
        <p:xfrm>
          <a:off xmlns:a="http://schemas.openxmlformats.org/drawingml/2006/main" x="609600" y="1390650"/>
          <a:ext xmlns:a="http://schemas.openxmlformats.org/drawingml/2006/main" cx="4095750" cy="3790950"/>
        </p:xfrm>
        <a:graphic xmlns:a="http://schemas.openxmlformats.org/drawingml/2006/main">
          <a:graphicData uri="http://schemas.openxmlformats.org/drawingml/2006/chart">
            <c:chart xmlns:r="http://schemas.openxmlformats.org/officeDocument/2006/relationships" xmlns:c="http://schemas.openxmlformats.org/drawingml/2006/chart" r:id="R926f8254adc44309"/>
          </a:graphicData>
        </a:graphic>
      </p:graphicFrame>
      <p:graphicFrame>
        <p:nvGraphicFramePr>
          <p:cNvPr id="17" name="Chart"/>
          <p:cNvGraphicFramePr/>
          <p:nvPr/>
        </p:nvGraphicFramePr>
        <p:xfrm>
          <a:off xmlns:a="http://schemas.openxmlformats.org/drawingml/2006/main" x="4876800" y="1390650"/>
          <a:ext xmlns:a="http://schemas.openxmlformats.org/drawingml/2006/main" cx="6705600" cy="3790950"/>
        </p:xfrm>
        <a:graphic xmlns:a="http://schemas.openxmlformats.org/drawingml/2006/main">
          <a:graphicData uri="http://schemas.openxmlformats.org/drawingml/2006/chart">
            <c:chart xmlns:r="http://schemas.openxmlformats.org/officeDocument/2006/relationships" xmlns:c="http://schemas.openxmlformats.org/drawingml/2006/chart" r:id="Rb1e0d3fb785144ec"/>
          </a:graphicData>
        </a:graphic>
      </p:graphicFrame>
      <p:sp>
        <p:nvSpPr>
          <p:cNvPr id="7" name="">
            <a:extLst xmlns:a="http://schemas.openxmlformats.org/drawingml/2006/main">
              <a:ext uri="{FF2B5EF4-FFF2-40B4-BE49-F238E27FC236}">
                <a16:creationId xmlns:a16="http://schemas.microsoft.com/office/drawing/2014/main" id="{74C3371D-FDA5-4704-844F-5C3C031A306D}"/>
              </a:ext>
            </a:extLst>
          </p:cNvPr>
          <p:cNvSpPr>
            <a:spLocks xmlns:a="http://schemas.openxmlformats.org/drawingml/2006/main" noGrp="1"/>
          </p:cNvSpPr>
          <p:nvPr/>
        </p:nvSpPr>
        <p:spPr>
          <a:xfrm xmlns:a="http://schemas.openxmlformats.org/drawingml/2006/main">
            <a:off x="609600" y="5391150"/>
            <a:ext cx="10972800" cy="819150"/>
          </a:xfrm>
          <a:prstGeom xmlns:a="http://schemas.openxmlformats.org/drawingml/2006/main" prst="roundRect">
            <a:avLst>
              <a:gd name="adj" fmla="val 9302"/>
            </a:avLst>
          </a:prstGeom>
          <a:solidFill xmlns:a="http://schemas.openxmlformats.org/drawingml/2006/main">
            <a:srgbClr val="F2F4F7"/>
          </a:solidFill>
          <a:ln xmlns:a="http://schemas.openxmlformats.org/drawingml/2006/main" w="9525">
            <a:solidFill>
              <a:srgbClr val="EAECF0"/>
            </a:solidFill>
          </a:ln>
        </p:spPr>
      </p:sp>
      <p:sp>
        <p:nvSpPr>
          <p:cNvPr id="8" name="">
            <a:extLst xmlns:a="http://schemas.openxmlformats.org/drawingml/2006/main">
              <a:ext uri="{FF2B5EF4-FFF2-40B4-BE49-F238E27FC236}">
                <a16:creationId xmlns:a16="http://schemas.microsoft.com/office/drawing/2014/main" id="{4610B1FA-B004-4CED-ADE6-0832FD097D54}"/>
              </a:ext>
            </a:extLst>
          </p:cNvPr>
          <p:cNvSpPr>
            <a:spLocks xmlns:a="http://schemas.openxmlformats.org/drawingml/2006/main" noGrp="1"/>
          </p:cNvSpPr>
          <p:nvPr/>
        </p:nvSpPr>
        <p:spPr>
          <a:xfrm xmlns:a="http://schemas.openxmlformats.org/drawingml/2006/main">
            <a:off x="838200" y="5524500"/>
            <a:ext cx="10439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344054"/>
                </a:solidFill>
                <a:latin typeface="Microsoft YaHei"/>
                <a:ea typeface="Microsoft YaHei"/>
                <a:cs typeface="Microsoft YaHei"/>
              </a:defRPr>
            </a:pPr>
            <a:r>
              <a:rPr sz="1200" b="0">
                <a:solidFill>
                  <a:srgbClr val="344054"/>
                </a:solidFill>
                <a:latin typeface="Microsoft YaHei"/>
                <a:ea typeface="Microsoft YaHei"/>
                <a:cs typeface="Microsoft YaHei"/>
              </a:rPr>
              <a:t>200 µs 持续负偏差且早期衰减过快。400/600 µs 早期偏低、后期偏高，late-time decay 太慢。当前 Level 2C 仍未包含真空寿命、随机噪声谱和真实 AWG/光学响应。</a:t>
            </a:r>
          </a:p>
        </p:txBody>
      </p:sp>
      <p:sp>
        <p:nvSpPr>
          <p:cNvPr id="9" name="">
            <a:extLst xmlns:a="http://schemas.openxmlformats.org/drawingml/2006/main">
              <a:ext uri="{FF2B5EF4-FFF2-40B4-BE49-F238E27FC236}">
                <a16:creationId xmlns:a16="http://schemas.microsoft.com/office/drawing/2014/main" id="{CF9103BD-112E-46F2-8A19-561040234B69}"/>
              </a:ext>
            </a:extLst>
          </p:cNvPr>
          <p:cNvSpPr>
            <a:spLocks xmlns:a="http://schemas.openxmlformats.org/drawingml/2006/main" noGrp="1"/>
          </p:cNvSpPr>
          <p:nvPr/>
        </p:nvSpPr>
        <p:spPr>
          <a:xfrm xmlns:a="http://schemas.openxmlformats.org/drawingml/2006/main">
            <a:off x="609600" y="6515100"/>
            <a:ext cx="10972800" cy="9525"/>
          </a:xfrm>
          <a:prstGeom xmlns:a="http://schemas.openxmlformats.org/drawingml/2006/main" prst="rect">
            <a:avLst/>
          </a:prstGeom>
          <a:solidFill xmlns:a="http://schemas.openxmlformats.org/drawingml/2006/main">
            <a:srgbClr val="EAECF0"/>
          </a:solidFill>
          <a:ln xmlns:a="http://schemas.openxmlformats.org/drawingml/2006/main" w="0">
            <a:solidFill>
              <a:srgbClr val="EAECF0"/>
            </a:solidFill>
          </a:ln>
        </p:spPr>
      </p:sp>
      <p:sp>
        <p:nvSpPr>
          <p:cNvPr id="10" name="">
            <a:extLst xmlns:a="http://schemas.openxmlformats.org/drawingml/2006/main">
              <a:ext uri="{FF2B5EF4-FFF2-40B4-BE49-F238E27FC236}">
                <a16:creationId xmlns:a16="http://schemas.microsoft.com/office/drawing/2014/main" id="{AA07BDBB-49BD-4A60-BEB6-DEB25255260B}"/>
              </a:ext>
            </a:extLst>
          </p:cNvPr>
          <p:cNvSpPr>
            <a:spLocks xmlns:a="http://schemas.openxmlformats.org/drawingml/2006/main" noGrp="1"/>
          </p:cNvSpPr>
          <p:nvPr/>
        </p:nvSpPr>
        <p:spPr>
          <a:xfrm xmlns:a="http://schemas.openxmlformats.org/drawingml/2006/main">
            <a:off x="609600" y="6553200"/>
            <a:ext cx="990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0">
                <a:solidFill>
                  <a:srgbClr val="667085"/>
                </a:solidFill>
                <a:latin typeface="Microsoft YaHei"/>
                <a:ea typeface="Microsoft YaHei"/>
                <a:cs typeface="Microsoft YaHei"/>
              </a:defRPr>
            </a:pPr>
            <a:r>
              <a:rPr sz="750" b="0">
                <a:solidFill>
                  <a:srgbClr val="667085"/>
                </a:solidFill>
                <a:latin typeface="Microsoft YaHei"/>
                <a:ea typeface="Microsoft YaHei"/>
                <a:cs typeface="Microsoft YaHei"/>
              </a:rPr>
              <a:t>Sources: T40/comparison_to_paper.json · monotone paper reconstruction · Level 2C source audit</a:t>
            </a:r>
          </a:p>
        </p:txBody>
      </p:sp>
      <p:sp>
        <p:nvSpPr>
          <p:cNvPr id="11" name="">
            <a:extLst xmlns:a="http://schemas.openxmlformats.org/drawingml/2006/main">
              <a:ext uri="{FF2B5EF4-FFF2-40B4-BE49-F238E27FC236}">
                <a16:creationId xmlns:a16="http://schemas.microsoft.com/office/drawing/2014/main" id="{498E37DD-B8AE-43D4-82C9-07A33CCDDE3D}"/>
              </a:ext>
            </a:extLst>
          </p:cNvPr>
          <p:cNvSpPr>
            <a:spLocks xmlns:a="http://schemas.openxmlformats.org/drawingml/2006/main" noGrp="1"/>
          </p:cNvSpPr>
          <p:nvPr/>
        </p:nvSpPr>
        <p:spPr>
          <a:xfrm xmlns:a="http://schemas.openxmlformats.org/drawingml/2006/main">
            <a:off x="10915650" y="65436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825" b="0">
                <a:solidFill>
                  <a:srgbClr val="667085"/>
                </a:solidFill>
                <a:latin typeface="Microsoft YaHei"/>
                <a:ea typeface="Microsoft YaHei"/>
                <a:cs typeface="Microsoft YaHei"/>
              </a:defRPr>
            </a:pPr>
            <a:r>
              <a:rPr sz="825" b="0">
                <a:solidFill>
                  <a:srgbClr val="667085"/>
                </a:solidFill>
                <a:latin typeface="Microsoft YaHei"/>
                <a:ea typeface="Microsoft YaHei"/>
                <a:cs typeface="Microsoft YaHei"/>
              </a:rPr>
              <a:t>17</a:t>
            </a:r>
          </a:p>
        </p:txBody>
      </p:sp>
    </p:spTree>
    <p:extLst>
      <p:ext uri="{BB962C8B-B14F-4D97-AF65-F5344CB8AC3E}">
        <p14:creationId xmlns:p14="http://schemas.microsoft.com/office/powerpoint/2010/main" val="741334689"/>
      </p:ext>
    </p:extLst>
  </p:cSld>
</p:sld>
</file>

<file path=ppt/slides/slide1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DAA06E5-6817-485D-A771-043CF908DB0D}"/>
              </a:ext>
            </a:extLst>
          </p:cNvPr>
          <p:cNvSpPr>
            <a:spLocks xmlns:a="http://schemas.openxmlformats.org/drawingml/2006/main" noGrp="1"/>
          </p:cNvSpPr>
          <p:nvPr/>
        </p:nvSpPr>
        <p:spPr>
          <a:xfrm xmlns:a="http://schemas.openxmlformats.org/drawingml/2006/main">
            <a:off x="685800" y="5334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FFFFFF"/>
                </a:solidFill>
                <a:latin typeface="Microsoft YaHei"/>
                <a:ea typeface="Microsoft YaHei"/>
                <a:cs typeface="Microsoft YaHei"/>
              </a:defRPr>
            </a:pPr>
            <a:r>
              <a:rPr sz="2850" b="1">
                <a:solidFill>
                  <a:srgbClr val="FFFFFF"/>
                </a:solidFill>
                <a:latin typeface="Microsoft YaHei"/>
                <a:ea typeface="Microsoft YaHei"/>
                <a:cs typeface="Microsoft YaHei"/>
              </a:rPr>
              <a:t>这次任务完成了什么</a:t>
            </a:r>
          </a:p>
        </p:txBody>
      </p:sp>
      <p:sp>
        <p:nvSpPr>
          <p:cNvPr id="2" name="">
            <a:extLst xmlns:a="http://schemas.openxmlformats.org/drawingml/2006/main">
              <a:ext uri="{FF2B5EF4-FFF2-40B4-BE49-F238E27FC236}">
                <a16:creationId xmlns:a16="http://schemas.microsoft.com/office/drawing/2014/main" id="{4EB1BFB2-86E0-4496-8D2C-A937361D9DA1}"/>
              </a:ext>
            </a:extLst>
          </p:cNvPr>
          <p:cNvSpPr>
            <a:spLocks xmlns:a="http://schemas.openxmlformats.org/drawingml/2006/main" noGrp="1"/>
          </p:cNvSpPr>
          <p:nvPr/>
        </p:nvSpPr>
        <p:spPr>
          <a:xfrm xmlns:a="http://schemas.openxmlformats.org/drawingml/2006/main">
            <a:off x="685800" y="1200150"/>
            <a:ext cx="838200" cy="47625"/>
          </a:xfrm>
          <a:prstGeom xmlns:a="http://schemas.openxmlformats.org/drawingml/2006/main" prst="rect">
            <a:avLst/>
          </a:prstGeom>
          <a:solidFill xmlns:a="http://schemas.openxmlformats.org/drawingml/2006/main">
            <a:srgbClr val="0BA5EC"/>
          </a:solidFill>
          <a:ln xmlns:a="http://schemas.openxmlformats.org/drawingml/2006/main" w="0">
            <a:solidFill>
              <a:srgbClr val="0BA5EC"/>
            </a:solidFill>
          </a:ln>
        </p:spPr>
      </p:sp>
      <p:sp>
        <p:nvSpPr>
          <p:cNvPr id="3" name="">
            <a:extLst xmlns:a="http://schemas.openxmlformats.org/drawingml/2006/main">
              <a:ext uri="{FF2B5EF4-FFF2-40B4-BE49-F238E27FC236}">
                <a16:creationId xmlns:a16="http://schemas.microsoft.com/office/drawing/2014/main" id="{5E7439BC-D593-4884-949A-6AFBCC03E42D}"/>
              </a:ext>
            </a:extLst>
          </p:cNvPr>
          <p:cNvSpPr>
            <a:spLocks xmlns:a="http://schemas.openxmlformats.org/drawingml/2006/main" noGrp="1"/>
          </p:cNvSpPr>
          <p:nvPr/>
        </p:nvSpPr>
        <p:spPr>
          <a:xfrm xmlns:a="http://schemas.openxmlformats.org/drawingml/2006/main">
            <a:off x="723900" y="16192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01</a:t>
            </a:r>
          </a:p>
        </p:txBody>
      </p:sp>
      <p:sp>
        <p:nvSpPr>
          <p:cNvPr id="4" name="">
            <a:extLst xmlns:a="http://schemas.openxmlformats.org/drawingml/2006/main">
              <a:ext uri="{FF2B5EF4-FFF2-40B4-BE49-F238E27FC236}">
                <a16:creationId xmlns:a16="http://schemas.microsoft.com/office/drawing/2014/main" id="{E69CC8E5-6935-488C-BD8D-25FD8D8D3E0B}"/>
              </a:ext>
            </a:extLst>
          </p:cNvPr>
          <p:cNvSpPr>
            <a:spLocks xmlns:a="http://schemas.openxmlformats.org/drawingml/2006/main" noGrp="1"/>
          </p:cNvSpPr>
          <p:nvPr/>
        </p:nvSpPr>
        <p:spPr>
          <a:xfrm xmlns:a="http://schemas.openxmlformats.org/drawingml/2006/main">
            <a:off x="1485900" y="16002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固定输入与验收口径</a:t>
            </a:r>
          </a:p>
        </p:txBody>
      </p:sp>
      <p:sp>
        <p:nvSpPr>
          <p:cNvPr id="5" name="">
            <a:extLst xmlns:a="http://schemas.openxmlformats.org/drawingml/2006/main">
              <a:ext uri="{FF2B5EF4-FFF2-40B4-BE49-F238E27FC236}">
                <a16:creationId xmlns:a16="http://schemas.microsoft.com/office/drawing/2014/main" id="{F0133875-A1CB-4D85-83AB-477AD4BE196F}"/>
              </a:ext>
            </a:extLst>
          </p:cNvPr>
          <p:cNvSpPr>
            <a:spLocks xmlns:a="http://schemas.openxmlformats.org/drawingml/2006/main" noGrp="1"/>
          </p:cNvSpPr>
          <p:nvPr/>
        </p:nvSpPr>
        <p:spPr>
          <a:xfrm xmlns:a="http://schemas.openxmlformats.org/drawingml/2006/main">
            <a:off x="4095750" y="16002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数字化 Fig. 6d，分开处理 paper survival 与 IRB fidelity，并把 ±0.02 设为逐点验收带。</a:t>
            </a:r>
          </a:p>
        </p:txBody>
      </p:sp>
      <p:sp>
        <p:nvSpPr>
          <p:cNvPr id="6" name="">
            <a:extLst xmlns:a="http://schemas.openxmlformats.org/drawingml/2006/main">
              <a:ext uri="{FF2B5EF4-FFF2-40B4-BE49-F238E27FC236}">
                <a16:creationId xmlns:a16="http://schemas.microsoft.com/office/drawing/2014/main" id="{A38E84A0-699F-4579-988F-BD35936B30AF}"/>
              </a:ext>
            </a:extLst>
          </p:cNvPr>
          <p:cNvSpPr>
            <a:spLocks xmlns:a="http://schemas.openxmlformats.org/drawingml/2006/main" noGrp="1"/>
          </p:cNvSpPr>
          <p:nvPr/>
        </p:nvSpPr>
        <p:spPr>
          <a:xfrm xmlns:a="http://schemas.openxmlformats.org/drawingml/2006/main">
            <a:off x="1485900" y="23622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7" name="">
            <a:extLst xmlns:a="http://schemas.openxmlformats.org/drawingml/2006/main">
              <a:ext uri="{FF2B5EF4-FFF2-40B4-BE49-F238E27FC236}">
                <a16:creationId xmlns:a16="http://schemas.microsoft.com/office/drawing/2014/main" id="{F2CA863F-78CD-4199-A329-FA1F6C7FE29B}"/>
              </a:ext>
            </a:extLst>
          </p:cNvPr>
          <p:cNvSpPr>
            <a:spLocks xmlns:a="http://schemas.openxmlformats.org/drawingml/2006/main" noGrp="1"/>
          </p:cNvSpPr>
          <p:nvPr/>
        </p:nvSpPr>
        <p:spPr>
          <a:xfrm xmlns:a="http://schemas.openxmlformats.org/drawingml/2006/main">
            <a:off x="723900" y="26860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02</a:t>
            </a:r>
          </a:p>
        </p:txBody>
      </p:sp>
      <p:sp>
        <p:nvSpPr>
          <p:cNvPr id="8" name="">
            <a:extLst xmlns:a="http://schemas.openxmlformats.org/drawingml/2006/main">
              <a:ext uri="{FF2B5EF4-FFF2-40B4-BE49-F238E27FC236}">
                <a16:creationId xmlns:a16="http://schemas.microsoft.com/office/drawing/2014/main" id="{970185AF-CEF6-4B76-BA9C-1C8EC3DA8D47}"/>
              </a:ext>
            </a:extLst>
          </p:cNvPr>
          <p:cNvSpPr>
            <a:spLocks xmlns:a="http://schemas.openxmlformats.org/drawingml/2006/main" noGrp="1"/>
          </p:cNvSpPr>
          <p:nvPr/>
        </p:nvSpPr>
        <p:spPr>
          <a:xfrm xmlns:a="http://schemas.openxmlformats.org/drawingml/2006/main">
            <a:off x="1485900" y="26670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复核基线并扫描机制</a:t>
            </a:r>
          </a:p>
        </p:txBody>
      </p:sp>
      <p:sp>
        <p:nvSpPr>
          <p:cNvPr id="9" name="">
            <a:extLst xmlns:a="http://schemas.openxmlformats.org/drawingml/2006/main">
              <a:ext uri="{FF2B5EF4-FFF2-40B4-BE49-F238E27FC236}">
                <a16:creationId xmlns:a16="http://schemas.microsoft.com/office/drawing/2014/main" id="{903236CA-5528-4A2D-B674-FA66D5E08009}"/>
              </a:ext>
            </a:extLst>
          </p:cNvPr>
          <p:cNvSpPr>
            <a:spLocks xmlns:a="http://schemas.openxmlformats.org/drawingml/2006/main" noGrp="1"/>
          </p:cNvSpPr>
          <p:nvPr/>
        </p:nvSpPr>
        <p:spPr>
          <a:xfrm xmlns:a="http://schemas.openxmlformats.org/drawingml/2006/main">
            <a:off x="4095750" y="26670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用相同随机池计算 baseline、温度、RIN、对准和抖动场景，确认 T40 最接近论文的时长排序。</a:t>
            </a:r>
          </a:p>
        </p:txBody>
      </p:sp>
      <p:sp>
        <p:nvSpPr>
          <p:cNvPr id="10" name="">
            <a:extLst xmlns:a="http://schemas.openxmlformats.org/drawingml/2006/main">
              <a:ext uri="{FF2B5EF4-FFF2-40B4-BE49-F238E27FC236}">
                <a16:creationId xmlns:a16="http://schemas.microsoft.com/office/drawing/2014/main" id="{2A460478-EE0B-48A9-8FE1-6ECFEDEF6E7B}"/>
              </a:ext>
            </a:extLst>
          </p:cNvPr>
          <p:cNvSpPr>
            <a:spLocks xmlns:a="http://schemas.openxmlformats.org/drawingml/2006/main" noGrp="1"/>
          </p:cNvSpPr>
          <p:nvPr/>
        </p:nvSpPr>
        <p:spPr>
          <a:xfrm xmlns:a="http://schemas.openxmlformats.org/drawingml/2006/main">
            <a:off x="1485900" y="34290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1" name="">
            <a:extLst xmlns:a="http://schemas.openxmlformats.org/drawingml/2006/main">
              <a:ext uri="{FF2B5EF4-FFF2-40B4-BE49-F238E27FC236}">
                <a16:creationId xmlns:a16="http://schemas.microsoft.com/office/drawing/2014/main" id="{93F9754C-2E9A-4848-8D5F-B2548D0F2C7C}"/>
              </a:ext>
            </a:extLst>
          </p:cNvPr>
          <p:cNvSpPr>
            <a:spLocks xmlns:a="http://schemas.openxmlformats.org/drawingml/2006/main" noGrp="1"/>
          </p:cNvSpPr>
          <p:nvPr/>
        </p:nvSpPr>
        <p:spPr>
          <a:xfrm xmlns:a="http://schemas.openxmlformats.org/drawingml/2006/main">
            <a:off x="723900" y="37528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03</a:t>
            </a:r>
          </a:p>
        </p:txBody>
      </p:sp>
      <p:sp>
        <p:nvSpPr>
          <p:cNvPr id="12" name="">
            <a:extLst xmlns:a="http://schemas.openxmlformats.org/drawingml/2006/main">
              <a:ext uri="{FF2B5EF4-FFF2-40B4-BE49-F238E27FC236}">
                <a16:creationId xmlns:a16="http://schemas.microsoft.com/office/drawing/2014/main" id="{01C66EF5-A304-4BA2-81CC-39763374055C}"/>
              </a:ext>
            </a:extLst>
          </p:cNvPr>
          <p:cNvSpPr>
            <a:spLocks xmlns:a="http://schemas.openxmlformats.org/drawingml/2006/main" noGrp="1"/>
          </p:cNvSpPr>
          <p:nvPr/>
        </p:nvSpPr>
        <p:spPr>
          <a:xfrm xmlns:a="http://schemas.openxmlformats.org/drawingml/2006/main">
            <a:off x="1485900" y="37338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回放 ML 并定位增益</a:t>
            </a:r>
          </a:p>
        </p:txBody>
      </p:sp>
      <p:sp>
        <p:nvSpPr>
          <p:cNvPr id="13" name="">
            <a:extLst xmlns:a="http://schemas.openxmlformats.org/drawingml/2006/main">
              <a:ext uri="{FF2B5EF4-FFF2-40B4-BE49-F238E27FC236}">
                <a16:creationId xmlns:a16="http://schemas.microsoft.com/office/drawing/2014/main" id="{C86D4F75-BE15-4308-B44E-0A4AD9B98722}"/>
              </a:ext>
            </a:extLst>
          </p:cNvPr>
          <p:cNvSpPr>
            <a:spLocks xmlns:a="http://schemas.openxmlformats.org/drawingml/2006/main" noGrp="1"/>
          </p:cNvSpPr>
          <p:nvPr/>
        </p:nvSpPr>
        <p:spPr>
          <a:xfrm xmlns:a="http://schemas.openxmlformats.org/drawingml/2006/main">
            <a:off x="4095750" y="37338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数字化 Fig. 6c，得到 T40 下 ΔS=+0.231；2×2 消融表明模型内增益主要来自 position trajectory。</a:t>
            </a:r>
          </a:p>
        </p:txBody>
      </p:sp>
      <p:sp>
        <p:nvSpPr>
          <p:cNvPr id="14" name="">
            <a:extLst xmlns:a="http://schemas.openxmlformats.org/drawingml/2006/main">
              <a:ext uri="{FF2B5EF4-FFF2-40B4-BE49-F238E27FC236}">
                <a16:creationId xmlns:a16="http://schemas.microsoft.com/office/drawing/2014/main" id="{55B50356-AD76-4376-95C5-F9D7AC8112C6}"/>
              </a:ext>
            </a:extLst>
          </p:cNvPr>
          <p:cNvSpPr>
            <a:spLocks xmlns:a="http://schemas.openxmlformats.org/drawingml/2006/main" noGrp="1"/>
          </p:cNvSpPr>
          <p:nvPr/>
        </p:nvSpPr>
        <p:spPr>
          <a:xfrm xmlns:a="http://schemas.openxmlformats.org/drawingml/2006/main">
            <a:off x="1485900" y="4495800"/>
            <a:ext cx="9848850" cy="9525"/>
          </a:xfrm>
          <a:prstGeom xmlns:a="http://schemas.openxmlformats.org/drawingml/2006/main" prst="rect">
            <a:avLst/>
          </a:prstGeom>
          <a:solidFill xmlns:a="http://schemas.openxmlformats.org/drawingml/2006/main">
            <a:srgbClr val="294A67"/>
          </a:solidFill>
          <a:ln xmlns:a="http://schemas.openxmlformats.org/drawingml/2006/main" w="0">
            <a:solidFill>
              <a:srgbClr val="294A67"/>
            </a:solidFill>
          </a:ln>
        </p:spPr>
      </p:sp>
      <p:sp>
        <p:nvSpPr>
          <p:cNvPr id="15" name="">
            <a:extLst xmlns:a="http://schemas.openxmlformats.org/drawingml/2006/main">
              <a:ext uri="{FF2B5EF4-FFF2-40B4-BE49-F238E27FC236}">
                <a16:creationId xmlns:a16="http://schemas.microsoft.com/office/drawing/2014/main" id="{D9B0042E-9894-4D24-9F98-6F93971EF3CF}"/>
              </a:ext>
            </a:extLst>
          </p:cNvPr>
          <p:cNvSpPr>
            <a:spLocks xmlns:a="http://schemas.openxmlformats.org/drawingml/2006/main" noGrp="1"/>
          </p:cNvSpPr>
          <p:nvPr/>
        </p:nvSpPr>
        <p:spPr>
          <a:xfrm xmlns:a="http://schemas.openxmlformats.org/drawingml/2006/main">
            <a:off x="723900" y="4819650"/>
            <a:ext cx="62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BA5EC"/>
                </a:solidFill>
                <a:latin typeface="Microsoft YaHei"/>
                <a:ea typeface="Microsoft YaHei"/>
                <a:cs typeface="Microsoft YaHei"/>
              </a:defRPr>
            </a:pPr>
            <a:r>
              <a:rPr sz="1350" b="1">
                <a:solidFill>
                  <a:srgbClr val="0BA5EC"/>
                </a:solidFill>
                <a:latin typeface="Microsoft YaHei"/>
                <a:ea typeface="Microsoft YaHei"/>
                <a:cs typeface="Microsoft YaHei"/>
              </a:rPr>
              <a:t>04</a:t>
            </a:r>
          </a:p>
        </p:txBody>
      </p:sp>
      <p:sp>
        <p:nvSpPr>
          <p:cNvPr id="16" name="">
            <a:extLst xmlns:a="http://schemas.openxmlformats.org/drawingml/2006/main">
              <a:ext uri="{FF2B5EF4-FFF2-40B4-BE49-F238E27FC236}">
                <a16:creationId xmlns:a16="http://schemas.microsoft.com/office/drawing/2014/main" id="{44374805-F8CB-45D5-860A-F5CAF0A68103}"/>
              </a:ext>
            </a:extLst>
          </p:cNvPr>
          <p:cNvSpPr>
            <a:spLocks xmlns:a="http://schemas.openxmlformats.org/drawingml/2006/main" noGrp="1"/>
          </p:cNvSpPr>
          <p:nvPr/>
        </p:nvSpPr>
        <p:spPr>
          <a:xfrm xmlns:a="http://schemas.openxmlformats.org/drawingml/2006/main">
            <a:off x="1485900" y="48006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FFFFFF"/>
                </a:solidFill>
                <a:latin typeface="Microsoft YaHei"/>
                <a:ea typeface="Microsoft YaHei"/>
                <a:cs typeface="Microsoft YaHei"/>
              </a:defRPr>
            </a:pPr>
            <a:r>
              <a:rPr sz="1575" b="1">
                <a:solidFill>
                  <a:srgbClr val="FFFFFF"/>
                </a:solidFill>
                <a:latin typeface="Microsoft YaHei"/>
                <a:ea typeface="Microsoft YaHei"/>
                <a:cs typeface="Microsoft YaHei"/>
              </a:rPr>
              <a:t>验收结果与边界</a:t>
            </a:r>
          </a:p>
        </p:txBody>
      </p:sp>
      <p:sp>
        <p:nvSpPr>
          <p:cNvPr id="17" name="">
            <a:extLst xmlns:a="http://schemas.openxmlformats.org/drawingml/2006/main">
              <a:ext uri="{FF2B5EF4-FFF2-40B4-BE49-F238E27FC236}">
                <a16:creationId xmlns:a16="http://schemas.microsoft.com/office/drawing/2014/main" id="{54756DBB-C05D-43FE-8E00-C6F9F97ADE59}"/>
              </a:ext>
            </a:extLst>
          </p:cNvPr>
          <p:cNvSpPr>
            <a:spLocks xmlns:a="http://schemas.openxmlformats.org/drawingml/2006/main" noGrp="1"/>
          </p:cNvSpPr>
          <p:nvPr/>
        </p:nvSpPr>
        <p:spPr>
          <a:xfrm xmlns:a="http://schemas.openxmlformats.org/drawingml/2006/main">
            <a:off x="4095750" y="4800600"/>
            <a:ext cx="723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D0DFF0"/>
                </a:solidFill>
                <a:latin typeface="Microsoft YaHei"/>
                <a:ea typeface="Microsoft YaHei"/>
                <a:cs typeface="Microsoft YaHei"/>
              </a:defRPr>
            </a:pPr>
            <a:r>
              <a:rPr sz="1275" b="0">
                <a:solidFill>
                  <a:srgbClr val="D0DFF0"/>
                </a:solidFill>
                <a:latin typeface="Microsoft YaHei"/>
                <a:ea typeface="Microsoft YaHei"/>
                <a:cs typeface="Microsoft YaHei"/>
              </a:rPr>
              <a:t>所有 manual 曲线仍未通过 ±0.02。真空寿命、随机噪声谱和真实 AWG/光学响应尚未进入 Level 2C。</a:t>
            </a:r>
          </a:p>
        </p:txBody>
      </p:sp>
      <p:sp>
        <p:nvSpPr>
          <p:cNvPr id="18" name="">
            <a:extLst xmlns:a="http://schemas.openxmlformats.org/drawingml/2006/main">
              <a:ext uri="{FF2B5EF4-FFF2-40B4-BE49-F238E27FC236}">
                <a16:creationId xmlns:a16="http://schemas.microsoft.com/office/drawing/2014/main" id="{62B374BE-4BC9-41B1-979E-D900E185C4A6}"/>
              </a:ext>
            </a:extLst>
          </p:cNvPr>
          <p:cNvSpPr>
            <a:spLocks xmlns:a="http://schemas.openxmlformats.org/drawingml/2006/main" noGrp="1"/>
          </p:cNvSpPr>
          <p:nvPr/>
        </p:nvSpPr>
        <p:spPr>
          <a:xfrm xmlns:a="http://schemas.openxmlformats.org/drawingml/2006/main">
            <a:off x="723900" y="62293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98AFC7"/>
                </a:solidFill>
                <a:latin typeface="Microsoft YaHei"/>
                <a:ea typeface="Microsoft YaHei"/>
                <a:cs typeface="Microsoft YaHei"/>
              </a:defRPr>
            </a:pPr>
            <a:r>
              <a:rPr sz="1050" b="0">
                <a:solidFill>
                  <a:srgbClr val="98AFC7"/>
                </a:solidFill>
                <a:latin typeface="Microsoft YaHei"/>
                <a:ea typeface="Microsoft YaHei"/>
                <a:cs typeface="Microsoft YaHei"/>
              </a:rPr>
              <a:t>结论：当前工作达到机制验证和相对比较阶段，尚未达到实验级绝对定量预测。</a:t>
            </a:r>
          </a:p>
        </p:txBody>
      </p:sp>
      <p:sp>
        <p:nvSpPr>
          <p:cNvPr id="19" name="">
            <a:extLst xmlns:a="http://schemas.openxmlformats.org/drawingml/2006/main">
              <a:ext uri="{FF2B5EF4-FFF2-40B4-BE49-F238E27FC236}">
                <a16:creationId xmlns:a16="http://schemas.microsoft.com/office/drawing/2014/main" id="{D628F85B-42E6-4B77-A5E1-D02FE90FF5BD}"/>
              </a:ext>
            </a:extLst>
          </p:cNvPr>
          <p:cNvSpPr>
            <a:spLocks xmlns:a="http://schemas.openxmlformats.org/drawingml/2006/main" noGrp="1"/>
          </p:cNvSpPr>
          <p:nvPr/>
        </p:nvSpPr>
        <p:spPr>
          <a:xfrm xmlns:a="http://schemas.openxmlformats.org/drawingml/2006/main">
            <a:off x="10934700" y="622935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98AFC7"/>
                </a:solidFill>
                <a:latin typeface="Microsoft YaHei"/>
                <a:ea typeface="Microsoft YaHei"/>
                <a:cs typeface="Microsoft YaHei"/>
              </a:defRPr>
            </a:pPr>
            <a:r>
              <a:rPr sz="975" b="0">
                <a:solidFill>
                  <a:srgbClr val="98AFC7"/>
                </a:solidFill>
                <a:latin typeface="Microsoft YaHei"/>
                <a:ea typeface="Microsoft YaHei"/>
                <a:cs typeface="Microsoft YaHei"/>
              </a:rPr>
              <a:t>18</a:t>
            </a:r>
          </a:p>
        </p:txBody>
      </p:sp>
    </p:spTree>
    <p:extLst>
      <p:ext uri="{BB962C8B-B14F-4D97-AF65-F5344CB8AC3E}">
        <p14:creationId xmlns:p14="http://schemas.microsoft.com/office/powerpoint/2010/main" val="3355726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2026-09-12T01:00:23.6670000Z</dcterms:created>
  <dcterms:modified xsi:type="dcterms:W3CDTF">2026-09-12T01:00:23.6670000Z</dcterms:modified>
</coreProperties>
</file>