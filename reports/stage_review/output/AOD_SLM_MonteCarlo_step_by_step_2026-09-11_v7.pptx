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3.xml" ContentType="application/vnd.openxmlformats-officedocument.drawingml.chart+xml"/>
  <Override PartName="/ppt/slides/charts/chart1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105bad671224804" /><Relationship Type="http://schemas.openxmlformats.org/officeDocument/2006/relationships/extended-properties" Target="/docProps/app.xml" Id="R5bf204759081480b" /><Relationship Type="http://schemas.openxmlformats.org/officeDocument/2006/relationships/officeDocument" Target="/ppt/presentation.xml" Id="Rd9a68f4b2ce94e8a" /></Relationships>
</file>

<file path=ppt/presentation.xml><?xml version="1.0" encoding="utf-8"?>
<p:presentation xmlns:p="http://schemas.openxmlformats.org/presentationml/2006/main">
  <p:sldMasterIdLst>
    <p:sldMasterId xmlns:r="http://schemas.openxmlformats.org/officeDocument/2006/relationships" id="2147483648" r:id="R770a0780fa924078"/>
  </p:sldMasterIdLst>
  <p:notesMasterIdLst>
    <p:notesMasterId xmlns:r="http://schemas.openxmlformats.org/officeDocument/2006/relationships" r:id="Rd1692a4111684ae9"/>
  </p:notesMasterIdLst>
  <p:sldIdLst>
    <p:sldId xmlns:r="http://schemas.openxmlformats.org/officeDocument/2006/relationships" id="256" r:id="Rcad4be39b89f43f0"/>
    <p:sldId xmlns:r="http://schemas.openxmlformats.org/officeDocument/2006/relationships" id="257" r:id="R08bb1423a4144f93"/>
    <p:sldId xmlns:r="http://schemas.openxmlformats.org/officeDocument/2006/relationships" id="258" r:id="Rfcc516ea996342e0"/>
    <p:sldId xmlns:r="http://schemas.openxmlformats.org/officeDocument/2006/relationships" id="259" r:id="Rc31742287d7c4581"/>
    <p:sldId xmlns:r="http://schemas.openxmlformats.org/officeDocument/2006/relationships" id="260" r:id="R4a3be992462247a5"/>
    <p:sldId xmlns:r="http://schemas.openxmlformats.org/officeDocument/2006/relationships" id="261" r:id="Rae74a20e04084c71"/>
    <p:sldId xmlns:r="http://schemas.openxmlformats.org/officeDocument/2006/relationships" id="262" r:id="R7f4e1ca967e5482c"/>
    <p:sldId xmlns:r="http://schemas.openxmlformats.org/officeDocument/2006/relationships" id="263" r:id="R443b2bb318044a72"/>
    <p:sldId xmlns:r="http://schemas.openxmlformats.org/officeDocument/2006/relationships" id="264" r:id="Rabe8077b357d409c"/>
    <p:sldId xmlns:r="http://schemas.openxmlformats.org/officeDocument/2006/relationships" id="265" r:id="Rc685228318804353"/>
    <p:sldId xmlns:r="http://schemas.openxmlformats.org/officeDocument/2006/relationships" id="266" r:id="R68e54abf47b24fad"/>
    <p:sldId xmlns:r="http://schemas.openxmlformats.org/officeDocument/2006/relationships" id="267" r:id="R3c5f507a7bf94fc2"/>
    <p:sldId xmlns:r="http://schemas.openxmlformats.org/officeDocument/2006/relationships" id="268" r:id="Re2eda8ee0f4045c2"/>
    <p:sldId xmlns:r="http://schemas.openxmlformats.org/officeDocument/2006/relationships" id="269" r:id="R078df0d8a34447ee"/>
    <p:sldId xmlns:r="http://schemas.openxmlformats.org/officeDocument/2006/relationships" id="270" r:id="R2443f513b14f4b60"/>
    <p:sldId xmlns:r="http://schemas.openxmlformats.org/officeDocument/2006/relationships" id="271" r:id="Rf414135e914843f7"/>
    <p:sldId xmlns:r="http://schemas.openxmlformats.org/officeDocument/2006/relationships" id="272" r:id="R1f5fc66b54a24564"/>
    <p:sldId xmlns:r="http://schemas.openxmlformats.org/officeDocument/2006/relationships" id="273" r:id="R303adf5cde3940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19da2353294b23" /><Relationship Type="http://schemas.openxmlformats.org/officeDocument/2006/relationships/slideMaster" Target="/ppt/slideMasters/slideMaster1.xml" Id="R770a0780fa924078" /><Relationship Type="http://schemas.openxmlformats.org/officeDocument/2006/relationships/notesMaster" Target="/ppt/notesMasters/notesMaster1.xml" Id="Rd1692a4111684ae9" /><Relationship Type="http://schemas.openxmlformats.org/officeDocument/2006/relationships/presProps" Target="/ppt/presProps.xml" Id="Rbd14fe0b7aad4b9c" /><Relationship Type="http://schemas.openxmlformats.org/officeDocument/2006/relationships/tableStyles" Target="/ppt/tableStyles.xml" Id="R73c72ffd967c4a3f" /><Relationship Type="http://schemas.openxmlformats.org/officeDocument/2006/relationships/slide" Target="/ppt/slides/slide1.xml" Id="Rcad4be39b89f43f0" /><Relationship Type="http://schemas.openxmlformats.org/officeDocument/2006/relationships/slide" Target="/ppt/slides/slide2.xml" Id="R08bb1423a4144f93" /><Relationship Type="http://schemas.openxmlformats.org/officeDocument/2006/relationships/slide" Target="/ppt/slides/slide3.xml" Id="Rfcc516ea996342e0" /><Relationship Type="http://schemas.openxmlformats.org/officeDocument/2006/relationships/slide" Target="/ppt/slides/slide4.xml" Id="Rc31742287d7c4581" /><Relationship Type="http://schemas.openxmlformats.org/officeDocument/2006/relationships/slide" Target="/ppt/slides/slide5.xml" Id="R4a3be992462247a5" /><Relationship Type="http://schemas.openxmlformats.org/officeDocument/2006/relationships/slide" Target="/ppt/slides/slide6.xml" Id="Rae74a20e04084c71" /><Relationship Type="http://schemas.openxmlformats.org/officeDocument/2006/relationships/slide" Target="/ppt/slides/slide7.xml" Id="R7f4e1ca967e5482c" /><Relationship Type="http://schemas.openxmlformats.org/officeDocument/2006/relationships/slide" Target="/ppt/slides/slide8.xml" Id="R443b2bb318044a72" /><Relationship Type="http://schemas.openxmlformats.org/officeDocument/2006/relationships/slide" Target="/ppt/slides/slide9.xml" Id="Rabe8077b357d409c" /><Relationship Type="http://schemas.openxmlformats.org/officeDocument/2006/relationships/slide" Target="/ppt/slides/slide10.xml" Id="Rc685228318804353" /><Relationship Type="http://schemas.openxmlformats.org/officeDocument/2006/relationships/slide" Target="/ppt/slides/slide11.xml" Id="R68e54abf47b24fad" /><Relationship Type="http://schemas.openxmlformats.org/officeDocument/2006/relationships/slide" Target="/ppt/slides/slide12.xml" Id="R3c5f507a7bf94fc2" /><Relationship Type="http://schemas.openxmlformats.org/officeDocument/2006/relationships/slide" Target="/ppt/slides/slide13.xml" Id="Re2eda8ee0f4045c2" /><Relationship Type="http://schemas.openxmlformats.org/officeDocument/2006/relationships/slide" Target="/ppt/slides/slide14.xml" Id="R078df0d8a34447ee" /><Relationship Type="http://schemas.openxmlformats.org/officeDocument/2006/relationships/slide" Target="/ppt/slides/slide15.xml" Id="R2443f513b14f4b60" /><Relationship Type="http://schemas.openxmlformats.org/officeDocument/2006/relationships/slide" Target="/ppt/slides/slide16.xml" Id="Rf414135e914843f7" /><Relationship Type="http://schemas.openxmlformats.org/officeDocument/2006/relationships/slide" Target="/ppt/slides/slide17.xml" Id="R1f5fc66b54a24564" /><Relationship Type="http://schemas.openxmlformats.org/officeDocument/2006/relationships/slide" Target="/ppt/slides/slide18.xml" Id="R303adf5cde3940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5f4de894ff49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3193b26eca477c" /><Relationship Type="http://schemas.openxmlformats.org/officeDocument/2006/relationships/notesMaster" Target="/ppt/notesMasters/notesMaster1.xml" Id="Rb68ee84518ee48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ffba0df0e74fe4" /><Relationship Type="http://schemas.openxmlformats.org/officeDocument/2006/relationships/notesMaster" Target="/ppt/notesMasters/notesMaster1.xml" Id="Rb79d7c121c4943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390773dd964245" /><Relationship Type="http://schemas.openxmlformats.org/officeDocument/2006/relationships/notesMaster" Target="/ppt/notesMasters/notesMaster1.xml" Id="R32c4bf8a75444a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761ed6b3a24931" /><Relationship Type="http://schemas.openxmlformats.org/officeDocument/2006/relationships/notesMaster" Target="/ppt/notesMasters/notesMaster1.xml" Id="Re94984d6d09546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e228007efb4dbb" /><Relationship Type="http://schemas.openxmlformats.org/officeDocument/2006/relationships/notesMaster" Target="/ppt/notesMasters/notesMaster1.xml" Id="Rbbe47c97ec4d49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4d3fdd55114a2e" /><Relationship Type="http://schemas.openxmlformats.org/officeDocument/2006/relationships/notesMaster" Target="/ppt/notesMasters/notesMaster1.xml" Id="Rd8e201c0554e48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f86eee970744e7" /><Relationship Type="http://schemas.openxmlformats.org/officeDocument/2006/relationships/notesMaster" Target="/ppt/notesMasters/notesMaster1.xml" Id="Rf3f01056697948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c8b502bf7348f8" /><Relationship Type="http://schemas.openxmlformats.org/officeDocument/2006/relationships/notesMaster" Target="/ppt/notesMasters/notesMaster1.xml" Id="R55029201c2ca4f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f45431b43e4fbe" /><Relationship Type="http://schemas.openxmlformats.org/officeDocument/2006/relationships/notesMaster" Target="/ppt/notesMasters/notesMaster1.xml" Id="R8fd322381b184d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f2978a90394b80" /><Relationship Type="http://schemas.openxmlformats.org/officeDocument/2006/relationships/notesMaster" Target="/ppt/notesMasters/notesMaster1.xml" Id="R9d4ee50429eb48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20aa8c48360450d" /><Relationship Type="http://schemas.openxmlformats.org/officeDocument/2006/relationships/notesMaster" Target="/ppt/notesMasters/notesMaster1.xml" Id="Raad7e800e08842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b223bed43c4fce" /><Relationship Type="http://schemas.openxmlformats.org/officeDocument/2006/relationships/notesMaster" Target="/ppt/notesMasters/notesMaster1.xml" Id="Re505e6ee76d04e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c76f3257154044" /><Relationship Type="http://schemas.openxmlformats.org/officeDocument/2006/relationships/notesMaster" Target="/ppt/notesMasters/notesMaster1.xml" Id="Re5760fad9e5c44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71091aa4601416a" /><Relationship Type="http://schemas.openxmlformats.org/officeDocument/2006/relationships/notesMaster" Target="/ppt/notesMasters/notesMaster1.xml" Id="R48edee9e69f74e5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2414aed90a47fc" /><Relationship Type="http://schemas.openxmlformats.org/officeDocument/2006/relationships/notesMaster" Target="/ppt/notesMasters/notesMaster1.xml" Id="Re1f9a9b806ae40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d7eec138ccb49dd" /><Relationship Type="http://schemas.openxmlformats.org/officeDocument/2006/relationships/notesMaster" Target="/ppt/notesMasters/notesMaster1.xml" Id="Rb599c60942c84ac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5959a93b8a5441e" /><Relationship Type="http://schemas.openxmlformats.org/officeDocument/2006/relationships/notesMaster" Target="/ppt/notesMasters/notesMaster1.xml" Id="R158d2bc82c974fe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a74f68cc9004b3a" /><Relationship Type="http://schemas.openxmlformats.org/officeDocument/2006/relationships/notesMaster" Target="/ppt/notesMasters/notesMaster1.xml" Id="R6e65809a09194c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git branch gpt_level4_5, commit 5e55bb0dcc4d9c1be07c6d39d9e8d74d45bca9f8</a:t>
            </a:r>
          </a:p>
          <a:p xmlns:a="http://schemas.openxmlformats.org/drawingml/2006/main">
            <a:r>
              <a:t>- simulation/level2_joint_transfer/README.md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simulation/level2_joint_transfer/README.md, Level 2C section</a:t>
            </a:r>
          </a:p>
          <a:p xmlns:a="http://schemas.openxmlformats.org/drawingml/2006/main">
            <a:r>
              <a:t>- simulation/level2_joint_transfer/reference/fig6d_parameters.md</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The report distinguishes repository computations already present from comparison metrics recomputed for presentation. No Monte Carlo parameter was refit during deck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simulation/level2_joint_transfer/reference/fig6d_parameters.md</a:t>
            </a:r>
          </a:p>
          <a:p xmlns:a="http://schemas.openxmlformats.org/drawingml/2006/main">
            <a:r>
              <a:t>- simulation/level2_joint_transfer/reference/fig6d_survival_digitized.csv</a:t>
            </a:r>
          </a:p>
          <a:p xmlns:a="http://schemas.openxmlformats.org/drawingml/2006/main">
            <a:r>
              <a:t>- simulation/level2_joint_transfer/reference/fig6d_digitize_check.png</a:t>
            </a:r>
          </a:p>
          <a:p xmlns:a="http://schemas.openxmlformats.org/drawingml/2006/main">
            <a:r>
              <a:t>- simulation/level2_joint_transfer/tools/digitize_fig6d.py</a:t>
            </a:r>
          </a:p>
          <a:p xmlns:a="http://schemas.openxmlformats.org/drawingml/2006/main">
            <a:r>
              <a:t/>
            </a:r>
          </a:p>
          <a:p xmlns:a="http://schemas.openxmlformats.org/drawingml/2006/main">
            <a:r>
              <a:t>Method note: Paper display curves use monotone linear interpolation through stable anchors. The source CSV remains unchanged. Manual 200 µs ends at n=31 because the plotted curve leaves the visible panel.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simulation/level2_joint_transfer/reference/fig6d_parameters.md</a:t>
            </a:r>
          </a:p>
          <a:p xmlns:a="http://schemas.openxmlformats.org/drawingml/2006/main">
            <a:r>
              <a:t>- simulation/level2_joint_transfer/configs/level2c_pickup_survival.yaml</a:t>
            </a:r>
          </a:p>
          <a:p xmlns:a="http://schemas.openxmlformats.org/drawingml/2006/main">
            <a:r>
              <a:t>- simulation/level2_joint_transfer/src/level0_static_trap/potentials.py</a:t>
            </a:r>
          </a:p>
          <a:p xmlns:a="http://schemas.openxmlformats.org/drawingml/2006/main">
            <a:r>
              <a:t>- simulation/level2_joint_transfer/src/level2c_pickup_survival/survival_engine.py</a:t>
            </a:r>
          </a:p>
          <a:p xmlns:a="http://schemas.openxmlformats.org/drawingml/2006/main">
            <a:r>
              <a:t/>
            </a:r>
          </a:p>
          <a:p xmlns:a="http://schemas.openxmlformats.org/drawingml/2006/main">
            <a:r>
              <a:t>Method note: AOD waist 1.17 µm is an assumed match to the SLM back-aperture value. The Level 2C main comparison uses one spatial dimension.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simulation/level2_joint_transfer/configs/level2c_pickup_survival.yaml</a:t>
            </a:r>
          </a:p>
          <a:p xmlns:a="http://schemas.openxmlformats.org/drawingml/2006/main">
            <a:r>
              <a:t>- simulation/level2_joint_transfer/src/level2c_pickup_survival/survival_engine.py</a:t>
            </a:r>
          </a:p>
          <a:p xmlns:a="http://schemas.openxmlformats.org/drawingml/2006/main">
            <a:r>
              <a:t>- simulation/level2_joint_transfer/src/level2_joint_transfer/noise_heating.py</a:t>
            </a:r>
          </a:p>
          <a:p xmlns:a="http://schemas.openxmlformats.org/drawingml/2006/main">
            <a:r>
              <a:t/>
            </a:r>
          </a:p>
          <a:p xmlns:a="http://schemas.openxmlformats.org/drawingml/2006/main">
            <a:r>
              <a:t>Method note: The config field shot_jitter_alignment_sigma_um is described as per-transfer, but survival_engine.py redraws it once for each pickup, wait, and drop-off leg. RIN is deterministic mean-rate heating rather than a random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simulation/level2_joint_transfer/src/level2_joint_transfer/waveforms.py</a:t>
            </a:r>
          </a:p>
          <a:p xmlns:a="http://schemas.openxmlformats.org/drawingml/2006/main">
            <a:r>
              <a:t>- simulation/level2_joint_transfer/reference/fig6d_parameters.md</a:t>
            </a:r>
          </a:p>
          <a:p xmlns:a="http://schemas.openxmlformats.org/drawingml/2006/main">
            <a:r>
              <a:t>- simulation/level2_joint_transfer/configs/level2c_pickup_survival.yaml</a:t>
            </a:r>
          </a:p>
          <a:p xmlns:a="http://schemas.openxmlformats.org/drawingml/2006/main">
            <a:r>
              <a:t/>
            </a:r>
          </a:p>
          <a:p xmlns:a="http://schemas.openxmlformats.org/drawingml/2006/main">
            <a:r>
              <a:t>Method note: Charts show the 400 µs manual waveform. The 200 and 600 µs cases use the same normalized shape with different time scaling.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simulation/level2_joint_transfer/src/level2c_pickup_survival/survival_engine.py</a:t>
            </a:r>
          </a:p>
          <a:p xmlns:a="http://schemas.openxmlformats.org/drawingml/2006/main">
            <a:r>
              <a:t>- simulation/level2_joint_transfer/src/level2_joint_transfer/noise_heating.py</a:t>
            </a:r>
          </a:p>
          <a:p xmlns:a="http://schemas.openxmlformats.org/drawingml/2006/main">
            <a:r>
              <a:t>- simulation/level2_joint_transfer/src/level2_joint_transfer/work_energy.py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simulation/level2_joint_transfer/src/level2c_pickup_survival/survival_engine.py</a:t>
            </a:r>
          </a:p>
          <a:p xmlns:a="http://schemas.openxmlformats.org/drawingml/2006/main">
            <a:r>
              <a:t>- simulation/level2_joint_transfer/src/level2_joint_transfer/statistics.py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Baseline values are raw 256-shot full-variant counts: Manual 400 S(60)=0.9296875 and Manual 600 S(60)=0.9921875.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simulation/level2_joint_transfer/configs/scan_stage1/</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All scan values are sensitivity assumptions. They were not fit on the validation pool and do not constitute measured apparatus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simulation/level2_joint_transfer/outputs/level2c_pickup_survival/scan_stage1/*/survival_scan_results.csv</a:t>
            </a:r>
          </a:p>
          <a:p xmlns:a="http://schemas.openxmlformats.org/drawingml/2006/main">
            <a:r>
              <a:t/>
            </a:r>
          </a:p>
          <a:p xmlns:a="http://schemas.openxmlformats.org/drawingml/2006/main">
            <a:r>
              <a:t>Method note: All displayed scan values are raw n=60 full-variant results from the 256-shot common-random-number pool.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simulation/level2_joint_transfer/reference/fig6d_survival_digitized.csv</a:t>
            </a:r>
          </a:p>
          <a:p xmlns:a="http://schemas.openxmlformats.org/drawingml/2006/main">
            <a:r>
              <a:t>- simulation/level2_joint_transfer/tools/digitize_fig6d.py</a:t>
            </a:r>
          </a:p>
          <a:p xmlns:a="http://schemas.openxmlformats.org/drawingml/2006/main">
            <a:r>
              <a:t/>
            </a:r>
          </a:p>
          <a:p xmlns:a="http://schemas.openxmlformats.org/drawingml/2006/main">
            <a:r>
              <a:t>Method note: MC lines use the raw 512-shot validation arrays. Paper lines use linear interpolation through stable digitization anchors at n=5, 8, 12, 16, 20, 30, 40, 50 and 60; the 200 µs series ends at n=31. This presentation-only reconstruction removes rasterized diamond-marker edge artifacts while preserving the source CSV and quoted 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simulation/level2_joint_transfer/outputs/level2c_pickup_survival/scan_stage1/fig6c_ml_trajectory_digitized.json</a:t>
            </a:r>
          </a:p>
          <a:p xmlns:a="http://schemas.openxmlformats.org/drawingml/2006/main">
            <a:r>
              <a:t>- simulation/level2_joint_transfer/src/level2_joint_transfer/waveforms.py</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Manual curves are evaluated at the same nodes. The digitized curve is not the raw AWG command waveform; interpolation boundary conditions and hardware response remain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simulation/level2_joint_transfer/outputs/level2c_pickup_survival/scan_stage1/paper_ml_eval.json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MC T40 values are raw 256-shot scan-pool endpoints: manual 0.52734375 and Fig. 6c replay 0.7578125. Paper endpoints are 0.4135 and 0.6633. Equivalent per-transfer loss is 1-S(60)^(1/60).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simulation/level2_joint_transfer/outputs/level2c_pickup_survival/scan_stage1/summary_stage1.md, section 6.1</a:t>
            </a:r>
          </a:p>
          <a:p xmlns:a="http://schemas.openxmlformats.org/drawingml/2006/main">
            <a:r>
              <a:t>- simulation/level2_joint_transfer/outputs/level2c_pickup_survival/scan_stage1/ablation_cross_2x2.py</a:t>
            </a:r>
          </a:p>
          <a:p xmlns:a="http://schemas.openxmlformats.org/drawingml/2006/main">
            <a:r>
              <a:t/>
            </a:r>
          </a:p>
          <a:p xmlns:a="http://schemas.openxmlformats.org/drawingml/2006/main">
            <a:r>
              <a:t>Method note: The repository commits the reproducible script and the reported values in summary_stage1.md, but no separate raw JSON/CSV for this cross-ablation. These numbers are therefore kept distinct from raw-output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simulation/level2_joint_transfer/outputs/level2c_pickup_survival/scan_stage1/paper_ml_eval.json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Manual curve-error metrics are recomputed against the same monotone paper reconstruction used on slides 12 and 17. Endpoints are unchanged. The ML endpoint row uses the raw T40 scan-pool value 0.7578125. The later 512-shot summary contains inconsistent 0.8047 and 0.822 values without a committed full curve, so neither is used as the main quantitative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Deviations are recomputed from raw MC values against the monotone paper reconstruction used on slide 12. This slide does not use the ML curve because the current Fig. 6c replay full curve was not committed. Vacuum lifetime and apparatus loss channels are absent from the current Level 2C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simulation/level2_joint_transfer/outputs/level2c_pickup_survival/scan_stage1/summary_stage1.md</a:t>
            </a:r>
          </a:p>
          <a:p xmlns:a="http://schemas.openxmlformats.org/drawingml/2006/main">
            <a:r>
              <a:t>- simulation/level2_joint_transfer/outputs/level2c_pickup_survival/scan_stage1/paper_ml_eval.json</a:t>
            </a:r>
          </a:p>
          <a:p xmlns:a="http://schemas.openxmlformats.org/drawingml/2006/main">
            <a:r>
              <a:t>- simulation/level2_joint_transfer/outputs/level2c_pickup_survival/scan_stage1/T40/comparison_to_paper.json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34dce79f224e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782c22e1ca4739" /><Relationship Type="http://schemas.openxmlformats.org/officeDocument/2006/relationships/slideLayout" Target="/ppt/slideLayouts/slideLayout1.xml" Id="R0d46fe39e02748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46fe39e02748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3bd06dcc1b24fcc" /><Relationship Type="http://schemas.openxmlformats.org/officeDocument/2006/relationships/notesSlide" Target="/ppt/notesSlides/notesSlide1.xml" Id="Rfcdeef46e36249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4d965d3e63143ca" /><Relationship Type="http://schemas.openxmlformats.org/officeDocument/2006/relationships/notesSlide" Target="/ppt/notesSlides/notesSlide2.xml" Id="Rb9f371d2bc354e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28f295cc0642d5" /><Relationship Type="http://schemas.openxmlformats.org/officeDocument/2006/relationships/image" Target="/ppt/media/image.png" Id="Ra210a18eece14af7" /><Relationship Type="http://schemas.openxmlformats.org/officeDocument/2006/relationships/notesSlide" Target="/ppt/notesSlides/notesSlide3.xml" Id="Ra32c255a3d7648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3cbc2701c0479e" /><Relationship Type="http://schemas.openxmlformats.org/officeDocument/2006/relationships/notesSlide" Target="/ppt/notesSlides/notesSlide4.xml" Id="R8bd3a0d7687f4e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7f6c12ea02444d" /><Relationship Type="http://schemas.openxmlformats.org/officeDocument/2006/relationships/notesSlide" Target="/ppt/notesSlides/notesSlide5.xml" Id="Rabe47da9bde043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f08bfef6c64fb8" /><Relationship Type="http://schemas.openxmlformats.org/officeDocument/2006/relationships/chart" Target="/ppt/slides/charts/chart1.xml" Id="R8e8e27d566764284" /><Relationship Type="http://schemas.openxmlformats.org/officeDocument/2006/relationships/chart" Target="/ppt/slides/charts/chart2.xml" Id="Rcf39434c15cf4215" /><Relationship Type="http://schemas.openxmlformats.org/officeDocument/2006/relationships/notesSlide" Target="/ppt/notesSlides/notesSlide6.xml" Id="Ra0e3b2af0f0345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5d08749eeb44a5" /><Relationship Type="http://schemas.openxmlformats.org/officeDocument/2006/relationships/notesSlide" Target="/ppt/notesSlides/notesSlide7.xml" Id="R30b4d5a5372e4b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efe9d9db09647a2" /><Relationship Type="http://schemas.openxmlformats.org/officeDocument/2006/relationships/chart" Target="/ppt/slides/charts/chart3.xml" Id="Rf27d9af29e0d496f" /><Relationship Type="http://schemas.openxmlformats.org/officeDocument/2006/relationships/notesSlide" Target="/ppt/notesSlides/notesSlide8.xml" Id="R87b11fb8c25a4f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82d0d98dc984429" /><Relationship Type="http://schemas.openxmlformats.org/officeDocument/2006/relationships/chart" Target="/ppt/slides/charts/chart4.xml" Id="R42f569c794854896" /><Relationship Type="http://schemas.openxmlformats.org/officeDocument/2006/relationships/notesSlide" Target="/ppt/notesSlides/notesSlide9.xml" Id="R6e15d427e5b64d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1b90d43dafa44a4" /><Relationship Type="http://schemas.openxmlformats.org/officeDocument/2006/relationships/notesSlide" Target="/ppt/notesSlides/notesSlide10.xml" Id="R634d66ba1eb949d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c4f8def372b4a02" /><Relationship Type="http://schemas.openxmlformats.org/officeDocument/2006/relationships/chart" Target="/ppt/slides/charts/chart5.xml" Id="R031983f283d2461c" /><Relationship Type="http://schemas.openxmlformats.org/officeDocument/2006/relationships/chart" Target="/ppt/slides/charts/chart6.xml" Id="Re86ad11d2d164f01" /><Relationship Type="http://schemas.openxmlformats.org/officeDocument/2006/relationships/notesSlide" Target="/ppt/notesSlides/notesSlide11.xml" Id="Re0a34c26ce514c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da8c68f1c564717" /><Relationship Type="http://schemas.openxmlformats.org/officeDocument/2006/relationships/chart" Target="/ppt/slides/charts/chart7.xml" Id="R17725fae360b4425" /><Relationship Type="http://schemas.openxmlformats.org/officeDocument/2006/relationships/chart" Target="/ppt/slides/charts/chart8.xml" Id="Rd60a142e92ef4429" /><Relationship Type="http://schemas.openxmlformats.org/officeDocument/2006/relationships/notesSlide" Target="/ppt/notesSlides/notesSlide12.xml" Id="Rbd599ba406834f4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d2dc443a94440db" /><Relationship Type="http://schemas.openxmlformats.org/officeDocument/2006/relationships/chart" Target="/ppt/slides/charts/chart9.xml" Id="Rc507e1dacfb545a9" /><Relationship Type="http://schemas.openxmlformats.org/officeDocument/2006/relationships/chart" Target="/ppt/slides/charts/chart10.xml" Id="R575b8f24c9144c84" /><Relationship Type="http://schemas.openxmlformats.org/officeDocument/2006/relationships/notesSlide" Target="/ppt/notesSlides/notesSlide13.xml" Id="R25f180ae317c4d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c63fb0b5c1d4ad3" /><Relationship Type="http://schemas.openxmlformats.org/officeDocument/2006/relationships/chart" Target="/ppt/slides/charts/chart11.xml" Id="Re4d7c642454a4a5a" /><Relationship Type="http://schemas.openxmlformats.org/officeDocument/2006/relationships/notesSlide" Target="/ppt/notesSlides/notesSlide14.xml" Id="R20dee0b8ef774b1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4b42c28079f4413" /><Relationship Type="http://schemas.openxmlformats.org/officeDocument/2006/relationships/chart" Target="/ppt/slides/charts/chart12.xml" Id="R83b11042218542a5" /><Relationship Type="http://schemas.openxmlformats.org/officeDocument/2006/relationships/notesSlide" Target="/ppt/notesSlides/notesSlide15.xml" Id="R96ba3391a12b414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68a25e34ece4d23" /><Relationship Type="http://schemas.openxmlformats.org/officeDocument/2006/relationships/notesSlide" Target="/ppt/notesSlides/notesSlide16.xml" Id="Ra1ca5c450472411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ab016081a7d4ee9" /><Relationship Type="http://schemas.openxmlformats.org/officeDocument/2006/relationships/chart" Target="/ppt/slides/charts/chart13.xml" Id="Re5efe4581b2e4c88" /><Relationship Type="http://schemas.openxmlformats.org/officeDocument/2006/relationships/chart" Target="/ppt/slides/charts/chart14.xml" Id="R7641be79cb764523" /><Relationship Type="http://schemas.openxmlformats.org/officeDocument/2006/relationships/notesSlide" Target="/ppt/notesSlides/notesSlide17.xml" Id="R20a78e7efd9d4d8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57b9de7f4fe43b3" /><Relationship Type="http://schemas.openxmlformats.org/officeDocument/2006/relationships/notesSlide" Target="/ppt/notesSlides/notesSlide18.xml" Id="R95e62b4b1e6e4a5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Manual position</c:v>
          </c:tx>
          <c:spPr>
            <a:ln xmlns:a="http://schemas.openxmlformats.org/drawingml/2006/main" w="28575">
              <a:solidFill>
                <a:srgbClr val="1570EF"/>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c:formatCode>
                <c:ptCount val="15"/>
                <c:pt idx="0">
                  <c:v>0</c:v>
                </c:pt>
                <c:pt idx="1">
                  <c:v>0</c:v>
                </c:pt>
                <c:pt idx="2">
                  <c:v>0</c:v>
                </c:pt>
                <c:pt idx="3">
                  <c:v>0</c:v>
                </c:pt>
                <c:pt idx="4">
                  <c:v>0</c:v>
                </c:pt>
                <c:pt idx="5">
                  <c:v>0</c:v>
                </c:pt>
                <c:pt idx="6">
                  <c:v>0</c:v>
                </c:pt>
                <c:pt idx="7">
                  <c:v>0.000728265817023</c:v>
                </c:pt>
                <c:pt idx="8">
                  <c:v>0.0695738025988</c:v>
                </c:pt>
                <c:pt idx="9">
                  <c:v>0.386747897679</c:v>
                </c:pt>
                <c:pt idx="10">
                  <c:v>0.964185192895</c:v>
                </c:pt>
                <c:pt idx="11">
                  <c:v>1.61328129666</c:v>
                </c:pt>
                <c:pt idx="12">
                  <c:v>2.13498396302</c:v>
                </c:pt>
                <c:pt idx="13">
                  <c:v>2.36682462568</c:v>
                </c:pt>
                <c:pt idx="14">
                  <c:v>2.4</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2.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AOD center (µm)</a:t>
                </a:r>
              </a:p>
            </c:rich>
          </c:tx>
          <c:overlay val="0"/>
        </c:title>
        <c:numFmt formatCode="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Manual depth</c:v>
          </c:tx>
          <c:spPr>
            <a:ln xmlns:a="http://schemas.openxmlformats.org/drawingml/2006/main" w="28575">
              <a:solidFill>
                <a:srgbClr val="0E9384"/>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0.00</c:formatCode>
                <c:ptCount val="15"/>
                <c:pt idx="0">
                  <c:v>0</c:v>
                </c:pt>
                <c:pt idx="1">
                  <c:v>0.00620039682538</c:v>
                </c:pt>
                <c:pt idx="2">
                  <c:v>0.0248015873016</c:v>
                </c:pt>
                <c:pt idx="3">
                  <c:v>0.0558035714286</c:v>
                </c:pt>
                <c:pt idx="4">
                  <c:v>0.0992063492068</c:v>
                </c:pt>
                <c:pt idx="5">
                  <c:v>0.155009920635</c:v>
                </c:pt>
                <c:pt idx="6">
                  <c:v>0.223214285715</c:v>
                </c:pt>
                <c:pt idx="7">
                  <c:v>0.28</c:v>
                </c:pt>
                <c:pt idx="8">
                  <c:v>0.28</c:v>
                </c:pt>
                <c:pt idx="9">
                  <c:v>0.28</c:v>
                </c:pt>
                <c:pt idx="10">
                  <c:v>0.28</c:v>
                </c:pt>
                <c:pt idx="11">
                  <c:v>0.28</c:v>
                </c:pt>
                <c:pt idx="12">
                  <c:v>0.28</c:v>
                </c:pt>
                <c:pt idx="13">
                  <c:v>0.28</c:v>
                </c:pt>
                <c:pt idx="14">
                  <c:v>0.28</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3"/>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AOD depth (mK)</a:t>
                </a:r>
              </a:p>
            </c:rich>
          </c:tx>
          <c:overlay val="0"/>
        </c:title>
        <c:numFmt formatCode="0.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Baseline manual 400</c:v>
          </c:tx>
          <c:spPr>
            <a:ln xmlns:a="http://schemas.openxmlformats.org/drawingml/2006/main" w="28575">
              <a:solidFill>
                <a:srgbClr val="1570EF"/>
              </a:solidFill>
            </a:ln>
          </c:spPr>
          <c:marker>
            <c:symbol val="none"/>
          </c:marker>
          <c:cat>
            <c:numRef>
              <c:f>'Chart Data'!$A$2:$A$62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cat>
          <c:val>
            <c:numRef>
              <c:f>'Chart Data'!$B$2:$B$62</c:f>
              <c:numCache>
                <c:formatCode>0%</c:formatCode>
                <c:ptCount val="61"/>
                <c:pt idx="0">
                  <c:v>1</c:v>
                </c:pt>
                <c:pt idx="1">
                  <c:v>1</c:v>
                </c:pt>
                <c:pt idx="2">
                  <c:v>1</c:v>
                </c:pt>
                <c:pt idx="3">
                  <c:v>1</c:v>
                </c:pt>
                <c:pt idx="4">
                  <c:v>1</c:v>
                </c:pt>
                <c:pt idx="5">
                  <c:v>1</c:v>
                </c:pt>
                <c:pt idx="6">
                  <c:v>1</c:v>
                </c:pt>
                <c:pt idx="7">
                  <c:v>1</c:v>
                </c:pt>
                <c:pt idx="8">
                  <c:v>1</c:v>
                </c:pt>
                <c:pt idx="9">
                  <c:v>1</c:v>
                </c:pt>
                <c:pt idx="10">
                  <c:v>1</c:v>
                </c:pt>
                <c:pt idx="11">
                  <c:v>1</c:v>
                </c:pt>
                <c:pt idx="12">
                  <c:v>1</c:v>
                </c:pt>
                <c:pt idx="13">
                  <c:v>0.99609375</c:v>
                </c:pt>
                <c:pt idx="14">
                  <c:v>0.99609375</c:v>
                </c:pt>
                <c:pt idx="15">
                  <c:v>0.99609375</c:v>
                </c:pt>
                <c:pt idx="16">
                  <c:v>0.99609375</c:v>
                </c:pt>
                <c:pt idx="17">
                  <c:v>0.99609375</c:v>
                </c:pt>
                <c:pt idx="18">
                  <c:v>0.99609375</c:v>
                </c:pt>
                <c:pt idx="19">
                  <c:v>0.9921875</c:v>
                </c:pt>
                <c:pt idx="20">
                  <c:v>0.9921875</c:v>
                </c:pt>
                <c:pt idx="21">
                  <c:v>0.984375</c:v>
                </c:pt>
                <c:pt idx="22">
                  <c:v>0.984375</c:v>
                </c:pt>
                <c:pt idx="23">
                  <c:v>0.984375</c:v>
                </c:pt>
                <c:pt idx="24">
                  <c:v>0.984375</c:v>
                </c:pt>
                <c:pt idx="25">
                  <c:v>0.984375</c:v>
                </c:pt>
                <c:pt idx="26">
                  <c:v>0.984375</c:v>
                </c:pt>
                <c:pt idx="27">
                  <c:v>0.9765625</c:v>
                </c:pt>
                <c:pt idx="28">
                  <c:v>0.9765625</c:v>
                </c:pt>
                <c:pt idx="29">
                  <c:v>0.96875</c:v>
                </c:pt>
                <c:pt idx="30">
                  <c:v>0.96875</c:v>
                </c:pt>
                <c:pt idx="31">
                  <c:v>0.96484375</c:v>
                </c:pt>
                <c:pt idx="32">
                  <c:v>0.96484375</c:v>
                </c:pt>
                <c:pt idx="33">
                  <c:v>0.9609375</c:v>
                </c:pt>
                <c:pt idx="34">
                  <c:v>0.9609375</c:v>
                </c:pt>
                <c:pt idx="35">
                  <c:v>0.95703125</c:v>
                </c:pt>
                <c:pt idx="36">
                  <c:v>0.95703125</c:v>
                </c:pt>
                <c:pt idx="37">
                  <c:v>0.94921875</c:v>
                </c:pt>
                <c:pt idx="38">
                  <c:v>0.94921875</c:v>
                </c:pt>
                <c:pt idx="39">
                  <c:v>0.9453125</c:v>
                </c:pt>
                <c:pt idx="40">
                  <c:v>0.9453125</c:v>
                </c:pt>
                <c:pt idx="41">
                  <c:v>0.9453125</c:v>
                </c:pt>
                <c:pt idx="42">
                  <c:v>0.9453125</c:v>
                </c:pt>
                <c:pt idx="43">
                  <c:v>0.9453125</c:v>
                </c:pt>
                <c:pt idx="44">
                  <c:v>0.94140625</c:v>
                </c:pt>
                <c:pt idx="45">
                  <c:v>0.94140625</c:v>
                </c:pt>
                <c:pt idx="46">
                  <c:v>0.94140625</c:v>
                </c:pt>
                <c:pt idx="47">
                  <c:v>0.94140625</c:v>
                </c:pt>
                <c:pt idx="48">
                  <c:v>0.94140625</c:v>
                </c:pt>
                <c:pt idx="49">
                  <c:v>0.94140625</c:v>
                </c:pt>
                <c:pt idx="50">
                  <c:v>0.94140625</c:v>
                </c:pt>
                <c:pt idx="51">
                  <c:v>0.94140625</c:v>
                </c:pt>
                <c:pt idx="52">
                  <c:v>0.94140625</c:v>
                </c:pt>
                <c:pt idx="53">
                  <c:v>0.94140625</c:v>
                </c:pt>
                <c:pt idx="54">
                  <c:v>0.94140625</c:v>
                </c:pt>
                <c:pt idx="55">
                  <c:v>0.9375</c:v>
                </c:pt>
                <c:pt idx="56">
                  <c:v>0.9375</c:v>
                </c:pt>
                <c:pt idx="57">
                  <c:v>0.93359375</c:v>
                </c:pt>
                <c:pt idx="58">
                  <c:v>0.93359375</c:v>
                </c:pt>
                <c:pt idx="59">
                  <c:v>0.9296875</c:v>
                </c:pt>
                <c:pt idx="60">
                  <c:v>0.9296875</c:v>
                </c:pt>
              </c:numCache>
            </c:numRef>
          </c:val>
        </c:ser>
        <c:ser>
          <c:idx val="1"/>
          <c:order val="1"/>
          <c:tx>
            <c:v>Baseline manual 600</c:v>
          </c:tx>
          <c:spPr>
            <a:ln xmlns:a="http://schemas.openxmlformats.org/drawingml/2006/main" w="28575">
              <a:solidFill>
                <a:srgbClr val="0E9384"/>
              </a:solidFill>
            </a:ln>
          </c:spPr>
          <c:marker>
            <c:symbol val="none"/>
          </c:marker>
          <c:cat>
            <c:numRef>
              <c:f>'Chart Data'!$C$2:$C$62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cat>
          <c:val>
            <c:numRef>
              <c:f>'Chart Data'!$D$2:$D$62</c:f>
              <c:numCache>
                <c:formatCode>0%</c:formatCode>
                <c:ptCount val="6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0.99609375</c:v>
                </c:pt>
                <c:pt idx="52">
                  <c:v>0.99609375</c:v>
                </c:pt>
                <c:pt idx="53">
                  <c:v>0.9921875</c:v>
                </c:pt>
                <c:pt idx="54">
                  <c:v>0.9921875</c:v>
                </c:pt>
                <c:pt idx="55">
                  <c:v>0.9921875</c:v>
                </c:pt>
                <c:pt idx="56">
                  <c:v>0.9921875</c:v>
                </c:pt>
                <c:pt idx="57">
                  <c:v>0.9921875</c:v>
                </c:pt>
                <c:pt idx="58">
                  <c:v>0.9921875</c:v>
                </c:pt>
                <c:pt idx="59">
                  <c:v>0.9921875</c:v>
                </c:pt>
                <c:pt idx="60">
                  <c:v>0.9921875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One-way transfers 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8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c:v>
          </c:tx>
          <c:spPr>
            <a:solidFill xmlns:a="http://schemas.openxmlformats.org/drawingml/2006/main">
              <a:srgbClr val="98A2B3"/>
            </a:solidFill>
          </c:spPr>
          <c:cat>
            <c:strRef>
              <c:f>'Chart Data'!$A$2:$A$4</c:f>
              <c:strCache>
                <c:ptCount val="3"/>
                <c:pt idx="0">
                  <c:v>Manual 200
S(31)</c:v>
                </c:pt>
                <c:pt idx="1">
                  <c:v>Manual 400
S(60)</c:v>
                </c:pt>
                <c:pt idx="2">
                  <c:v>Manual 600
S(60)</c:v>
                </c:pt>
              </c:strCache>
            </c:strRef>
          </c:cat>
          <c:val>
            <c:numRef>
              <c:f>'Chart Data'!$B$2:$B$4</c:f>
              <c:numCache>
                <c:formatCode>0.0%</c:formatCode>
                <c:ptCount val="3"/>
                <c:pt idx="0">
                  <c:v>0.3344</c:v>
                </c:pt>
                <c:pt idx="1">
                  <c:v>0.4135</c:v>
                </c:pt>
                <c:pt idx="2">
                  <c:v>0.5726</c:v>
                </c:pt>
              </c:numCache>
            </c:numRef>
          </c:val>
        </c:ser>
        <c:ser>
          <c:idx val="1"/>
          <c:order val="1"/>
          <c:tx>
            <c:v>Baseline</c:v>
          </c:tx>
          <c:spPr>
            <a:solidFill xmlns:a="http://schemas.openxmlformats.org/drawingml/2006/main">
              <a:srgbClr val="1570EF"/>
            </a:solidFill>
          </c:spPr>
          <c:cat>
            <c:strRef>
              <c:f>'Chart Data'!$C$2:$C$4</c:f>
              <c:strCache>
                <c:ptCount val="3"/>
                <c:pt idx="0">
                  <c:v>Manual 200
S(31)</c:v>
                </c:pt>
                <c:pt idx="1">
                  <c:v>Manual 400
S(60)</c:v>
                </c:pt>
                <c:pt idx="2">
                  <c:v>Manual 600
S(60)</c:v>
                </c:pt>
              </c:strCache>
            </c:strRef>
          </c:cat>
          <c:val>
            <c:numRef>
              <c:f>'Chart Data'!$D$2:$D$4</c:f>
              <c:numCache>
                <c:formatCode>0.0%</c:formatCode>
                <c:ptCount val="3"/>
                <c:pt idx="0">
                  <c:v>0.484375</c:v>
                </c:pt>
                <c:pt idx="1">
                  <c:v>0.9296875</c:v>
                </c:pt>
                <c:pt idx="2">
                  <c:v>0.9921875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0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ser>
          <c:idx val="0"/>
          <c:order val="0"/>
          <c:tx>
            <c:v>Manual 400</c:v>
          </c:tx>
          <c:spPr>
            <a:ln xmlns:a="http://schemas.openxmlformats.org/drawingml/2006/main" w="28575">
              <a:solidFill>
                <a:srgbClr val="1570EF"/>
              </a:solidFill>
            </a:ln>
          </c:spPr>
          <c:marker>
            <c:symbol val="circle"/>
            <c:size val="6"/>
            <c:spPr>
              <a:solidFill xmlns:a="http://schemas.openxmlformats.org/drawingml/2006/main">
                <a:srgbClr val="1570EF"/>
              </a:solidFill>
            </c:spPr>
          </c:marker>
          <c:cat>
            <c:numRef>
              <c:f>'Chart Data'!$A$2:$A$6</c:f>
              <c:numCache>
                <c:formatCode>General</c:formatCode>
                <c:ptCount val="5"/>
                <c:pt idx="0">
                  <c:v>5</c:v>
                </c:pt>
                <c:pt idx="1">
                  <c:v>10</c:v>
                </c:pt>
                <c:pt idx="2">
                  <c:v>20</c:v>
                </c:pt>
                <c:pt idx="3">
                  <c:v>30</c:v>
                </c:pt>
                <c:pt idx="4">
                  <c:v>40</c:v>
                </c:pt>
              </c:numCache>
            </c:numRef>
          </c:cat>
          <c:val>
            <c:numRef>
              <c:f>'Chart Data'!$B$2:$B$6</c:f>
              <c:numCache>
                <c:formatCode>0%</c:formatCode>
                <c:ptCount val="5"/>
                <c:pt idx="0">
                  <c:v>0.9296875</c:v>
                </c:pt>
                <c:pt idx="1">
                  <c:v>0.9140625</c:v>
                </c:pt>
                <c:pt idx="2">
                  <c:v>0.7578125</c:v>
                </c:pt>
                <c:pt idx="3">
                  <c:v>0.609375</c:v>
                </c:pt>
                <c:pt idx="4">
                  <c:v>0.52734375</c:v>
                </c:pt>
              </c:numCache>
            </c:numRef>
          </c:val>
        </c:ser>
        <c:ser>
          <c:idx val="1"/>
          <c:order val="1"/>
          <c:tx>
            <c:v>Manual 600</c:v>
          </c:tx>
          <c:spPr>
            <a:ln xmlns:a="http://schemas.openxmlformats.org/drawingml/2006/main" w="28575">
              <a:solidFill>
                <a:srgbClr val="0E9384"/>
              </a:solidFill>
            </a:ln>
          </c:spPr>
          <c:marker>
            <c:symbol val="circle"/>
            <c:size val="6"/>
            <c:spPr>
              <a:solidFill xmlns:a="http://schemas.openxmlformats.org/drawingml/2006/main">
                <a:srgbClr val="0E9384"/>
              </a:solidFill>
            </c:spPr>
          </c:marker>
          <c:cat>
            <c:numRef>
              <c:f>'Chart Data'!$C$2:$C$6</c:f>
              <c:numCache>
                <c:formatCode>General</c:formatCode>
                <c:ptCount val="5"/>
                <c:pt idx="0">
                  <c:v>5</c:v>
                </c:pt>
                <c:pt idx="1">
                  <c:v>10</c:v>
                </c:pt>
                <c:pt idx="2">
                  <c:v>20</c:v>
                </c:pt>
                <c:pt idx="3">
                  <c:v>30</c:v>
                </c:pt>
                <c:pt idx="4">
                  <c:v>40</c:v>
                </c:pt>
              </c:numCache>
            </c:numRef>
          </c:cat>
          <c:val>
            <c:numRef>
              <c:f>'Chart Data'!$D$2:$D$6</c:f>
              <c:numCache>
                <c:formatCode>0%</c:formatCode>
                <c:ptCount val="5"/>
                <c:pt idx="0">
                  <c:v>0.9921875</c:v>
                </c:pt>
                <c:pt idx="1">
                  <c:v>0.98828125</c:v>
                </c:pt>
                <c:pt idx="2">
                  <c:v>0.91796875</c:v>
                </c:pt>
                <c:pt idx="3">
                  <c:v>0.79296875</c:v>
                </c:pt>
                <c:pt idx="4">
                  <c:v>0.6796875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Initial temperature (µK)</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400</c:v>
          </c:tx>
          <c:spPr>
            <a:solidFill xmlns:a="http://schemas.openxmlformats.org/drawingml/2006/main">
              <a:srgbClr val="1570EF"/>
            </a:solidFill>
          </c:spPr>
          <c:cat>
            <c:strRef>
              <c:f>'Chart Data'!$A$2:$A$6</c:f>
              <c:strCache>
                <c:ptCount val="5"/>
                <c:pt idx="0">
                  <c:v>Baseline</c:v>
                </c:pt>
                <c:pt idx="1">
                  <c:v>R3e−7</c:v>
                </c:pt>
                <c:pt idx="2">
                  <c:v>A0.15</c:v>
                </c:pt>
                <c:pt idx="3">
                  <c:v>A0.30</c:v>
                </c:pt>
                <c:pt idx="4">
                  <c:v>J0.10</c:v>
                </c:pt>
              </c:strCache>
            </c:strRef>
          </c:cat>
          <c:val>
            <c:numRef>
              <c:f>'Chart Data'!$B$2:$B$6</c:f>
              <c:numCache>
                <c:formatCode>0%</c:formatCode>
                <c:ptCount val="5"/>
                <c:pt idx="0">
                  <c:v>0.9296875</c:v>
                </c:pt>
                <c:pt idx="1">
                  <c:v>0.359375</c:v>
                </c:pt>
                <c:pt idx="2">
                  <c:v>0.93359375</c:v>
                </c:pt>
                <c:pt idx="3">
                  <c:v>0.921875</c:v>
                </c:pt>
                <c:pt idx="4">
                  <c:v>0.09375</c:v>
                </c:pt>
              </c:numCache>
            </c:numRef>
          </c:val>
        </c:ser>
        <c:ser>
          <c:idx val="1"/>
          <c:order val="1"/>
          <c:tx>
            <c:v>Manual 600</c:v>
          </c:tx>
          <c:spPr>
            <a:solidFill xmlns:a="http://schemas.openxmlformats.org/drawingml/2006/main">
              <a:srgbClr val="0E9384"/>
            </a:solidFill>
          </c:spPr>
          <c:cat>
            <c:strRef>
              <c:f>'Chart Data'!$C$2:$C$6</c:f>
              <c:strCache>
                <c:ptCount val="5"/>
                <c:pt idx="0">
                  <c:v>Baseline</c:v>
                </c:pt>
                <c:pt idx="1">
                  <c:v>R3e−7</c:v>
                </c:pt>
                <c:pt idx="2">
                  <c:v>A0.15</c:v>
                </c:pt>
                <c:pt idx="3">
                  <c:v>A0.30</c:v>
                </c:pt>
                <c:pt idx="4">
                  <c:v>J0.10</c:v>
                </c:pt>
              </c:strCache>
            </c:strRef>
          </c:cat>
          <c:val>
            <c:numRef>
              <c:f>'Chart Data'!$D$2:$D$6</c:f>
              <c:numCache>
                <c:formatCode>0%</c:formatCode>
                <c:ptCount val="5"/>
                <c:pt idx="0">
                  <c:v>0.9921875</c:v>
                </c:pt>
                <c:pt idx="1">
                  <c:v>0.43359375</c:v>
                </c:pt>
                <c:pt idx="2">
                  <c:v>0.99609375</c:v>
                </c:pt>
                <c:pt idx="3">
                  <c:v>0.99609375</c:v>
                </c:pt>
                <c:pt idx="4">
                  <c:v>0.10546875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ser>
          <c:idx val="0"/>
          <c:order val="0"/>
          <c:tx>
            <c:v>Paper 200 µs</c:v>
          </c:tx>
          <c:spPr>
            <a:ln xmlns:a="http://schemas.openxmlformats.org/drawingml/2006/main" w="28575">
              <a:solidFill>
                <a:srgbClr val="475467"/>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c:formatCode>
                <c:ptCount val="27"/>
                <c:pt idx="0">
                  <c:v>0.925</c:v>
                </c:pt>
                <c:pt idx="1">
                  <c:v>0.8994</c:v>
                </c:pt>
                <c:pt idx="2">
                  <c:v>0.8738</c:v>
                </c:pt>
                <c:pt idx="3">
                  <c:v>0.8482</c:v>
                </c:pt>
                <c:pt idx="4">
                  <c:v>0.815275</c:v>
                </c:pt>
                <c:pt idx="5">
                  <c:v>0.78235</c:v>
                </c:pt>
                <c:pt idx="6">
                  <c:v>0.749425</c:v>
                </c:pt>
                <c:pt idx="7">
                  <c:v>0.7165</c:v>
                </c:pt>
                <c:pt idx="8">
                  <c:v>0.691825</c:v>
                </c:pt>
                <c:pt idx="9">
                  <c:v>0.66715</c:v>
                </c:pt>
                <c:pt idx="10">
                  <c:v>0.642475</c:v>
                </c:pt>
                <c:pt idx="11">
                  <c:v>0.6178</c:v>
                </c:pt>
                <c:pt idx="12">
                  <c:v>0.594375</c:v>
                </c:pt>
                <c:pt idx="13">
                  <c:v>0.57095</c:v>
                </c:pt>
                <c:pt idx="14">
                  <c:v>0.547525</c:v>
                </c:pt>
                <c:pt idx="15">
                  <c:v>0.5241</c:v>
                </c:pt>
                <c:pt idx="16">
                  <c:v>0.50578</c:v>
                </c:pt>
                <c:pt idx="17">
                  <c:v>0.48746</c:v>
                </c:pt>
                <c:pt idx="18">
                  <c:v>0.46914</c:v>
                </c:pt>
                <c:pt idx="19">
                  <c:v>0.45082</c:v>
                </c:pt>
                <c:pt idx="20">
                  <c:v>0.4325</c:v>
                </c:pt>
                <c:pt idx="21">
                  <c:v>0.41418</c:v>
                </c:pt>
                <c:pt idx="22">
                  <c:v>0.39586</c:v>
                </c:pt>
                <c:pt idx="23">
                  <c:v>0.37754</c:v>
                </c:pt>
                <c:pt idx="24">
                  <c:v>0.35922</c:v>
                </c:pt>
                <c:pt idx="25">
                  <c:v>0.3409</c:v>
                </c:pt>
                <c:pt idx="26">
                  <c:v>0.3344</c:v>
                </c:pt>
              </c:numCache>
            </c:numRef>
          </c:val>
        </c:ser>
        <c:ser>
          <c:idx val="1"/>
          <c:order val="1"/>
          <c:tx>
            <c:v>MC T40 200 µs</c:v>
          </c:tx>
          <c:spPr>
            <a:ln xmlns:a="http://schemas.openxmlformats.org/drawingml/2006/main" w="28575">
              <a:solidFill>
                <a:srgbClr val="D92D20"/>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c:formatCode>
                <c:ptCount val="27"/>
                <c:pt idx="0">
                  <c:v>0.79296875</c:v>
                </c:pt>
                <c:pt idx="1">
                  <c:v>0.7578125</c:v>
                </c:pt>
                <c:pt idx="2">
                  <c:v>0.720703125</c:v>
                </c:pt>
                <c:pt idx="3">
                  <c:v>0.693359375</c:v>
                </c:pt>
                <c:pt idx="4">
                  <c:v>0.6484375</c:v>
                </c:pt>
                <c:pt idx="5">
                  <c:v>0.62109375</c:v>
                </c:pt>
                <c:pt idx="6">
                  <c:v>0.576171875</c:v>
                </c:pt>
                <c:pt idx="7">
                  <c:v>0.548828125</c:v>
                </c:pt>
                <c:pt idx="8">
                  <c:v>0.521484375</c:v>
                </c:pt>
                <c:pt idx="9">
                  <c:v>0.494140625</c:v>
                </c:pt>
                <c:pt idx="10">
                  <c:v>0.474609375</c:v>
                </c:pt>
                <c:pt idx="11">
                  <c:v>0.451171875</c:v>
                </c:pt>
                <c:pt idx="12">
                  <c:v>0.416015625</c:v>
                </c:pt>
                <c:pt idx="13">
                  <c:v>0.404296875</c:v>
                </c:pt>
                <c:pt idx="14">
                  <c:v>0.37890625</c:v>
                </c:pt>
                <c:pt idx="15">
                  <c:v>0.361328125</c:v>
                </c:pt>
                <c:pt idx="16">
                  <c:v>0.349609375</c:v>
                </c:pt>
                <c:pt idx="17">
                  <c:v>0.341796875</c:v>
                </c:pt>
                <c:pt idx="18">
                  <c:v>0.33203125</c:v>
                </c:pt>
                <c:pt idx="19">
                  <c:v>0.326171875</c:v>
                </c:pt>
                <c:pt idx="20">
                  <c:v>0.3046875</c:v>
                </c:pt>
                <c:pt idx="21">
                  <c:v>0.2734375</c:v>
                </c:pt>
                <c:pt idx="22">
                  <c:v>0.271484375</c:v>
                </c:pt>
                <c:pt idx="23">
                  <c:v>0.265625</c:v>
                </c:pt>
                <c:pt idx="24">
                  <c:v>0.255859375</c:v>
                </c:pt>
                <c:pt idx="25">
                  <c:v>0.24609375</c:v>
                </c:pt>
                <c:pt idx="26">
                  <c:v>0.240234375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icrosoft YaHei"/>
                    <a:ea typeface="Microsoft YaHei"/>
                    <a:cs typeface="Microsoft YaHei"/>
                  </a:rPr>
                  <a:t>One-way transfers n</a:t>
                </a:r>
              </a:p>
            </c:rich>
          </c:tx>
          <c:overlay val="0"/>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2"/>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ser>
          <c:idx val="0"/>
          <c:order val="0"/>
          <c:tx>
            <c:v>Paper 400 µs</c:v>
          </c:tx>
          <c:spPr>
            <a:ln xmlns:a="http://schemas.openxmlformats.org/drawingml/2006/main" w="19050">
              <a:solidFill>
                <a:srgbClr val="98A2B3"/>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c:formatCode>
                <c:ptCount val="56"/>
                <c:pt idx="0">
                  <c:v>0.968</c:v>
                </c:pt>
                <c:pt idx="1">
                  <c:v>0.955966666667</c:v>
                </c:pt>
                <c:pt idx="2">
                  <c:v>0.943933333333</c:v>
                </c:pt>
                <c:pt idx="3">
                  <c:v>0.9319</c:v>
                </c:pt>
                <c:pt idx="4">
                  <c:v>0.92385</c:v>
                </c:pt>
                <c:pt idx="5">
                  <c:v>0.9158</c:v>
                </c:pt>
                <c:pt idx="6">
                  <c:v>0.90775</c:v>
                </c:pt>
                <c:pt idx="7">
                  <c:v>0.8997</c:v>
                </c:pt>
                <c:pt idx="8">
                  <c:v>0.892525</c:v>
                </c:pt>
                <c:pt idx="9">
                  <c:v>0.88535</c:v>
                </c:pt>
                <c:pt idx="10">
                  <c:v>0.878175</c:v>
                </c:pt>
                <c:pt idx="11">
                  <c:v>0.871</c:v>
                </c:pt>
                <c:pt idx="12">
                  <c:v>0.85915</c:v>
                </c:pt>
                <c:pt idx="13">
                  <c:v>0.8473</c:v>
                </c:pt>
                <c:pt idx="14">
                  <c:v>0.83545</c:v>
                </c:pt>
                <c:pt idx="15">
                  <c:v>0.8236</c:v>
                </c:pt>
                <c:pt idx="16">
                  <c:v>0.81013</c:v>
                </c:pt>
                <c:pt idx="17">
                  <c:v>0.79666</c:v>
                </c:pt>
                <c:pt idx="18">
                  <c:v>0.78319</c:v>
                </c:pt>
                <c:pt idx="19">
                  <c:v>0.76972</c:v>
                </c:pt>
                <c:pt idx="20">
                  <c:v>0.75625</c:v>
                </c:pt>
                <c:pt idx="21">
                  <c:v>0.74278</c:v>
                </c:pt>
                <c:pt idx="22">
                  <c:v>0.72931</c:v>
                </c:pt>
                <c:pt idx="23">
                  <c:v>0.71584</c:v>
                </c:pt>
                <c:pt idx="24">
                  <c:v>0.70237</c:v>
                </c:pt>
                <c:pt idx="25">
                  <c:v>0.6889</c:v>
                </c:pt>
                <c:pt idx="26">
                  <c:v>0.67826</c:v>
                </c:pt>
                <c:pt idx="27">
                  <c:v>0.66762</c:v>
                </c:pt>
                <c:pt idx="28">
                  <c:v>0.65698</c:v>
                </c:pt>
                <c:pt idx="29">
                  <c:v>0.64634</c:v>
                </c:pt>
                <c:pt idx="30">
                  <c:v>0.6357</c:v>
                </c:pt>
                <c:pt idx="31">
                  <c:v>0.62506</c:v>
                </c:pt>
                <c:pt idx="32">
                  <c:v>0.61442</c:v>
                </c:pt>
                <c:pt idx="33">
                  <c:v>0.60378</c:v>
                </c:pt>
                <c:pt idx="34">
                  <c:v>0.59314</c:v>
                </c:pt>
                <c:pt idx="35">
                  <c:v>0.5825</c:v>
                </c:pt>
                <c:pt idx="36">
                  <c:v>0.57345</c:v>
                </c:pt>
                <c:pt idx="37">
                  <c:v>0.5644</c:v>
                </c:pt>
                <c:pt idx="38">
                  <c:v>0.55535</c:v>
                </c:pt>
                <c:pt idx="39">
                  <c:v>0.5463</c:v>
                </c:pt>
                <c:pt idx="40">
                  <c:v>0.53725</c:v>
                </c:pt>
                <c:pt idx="41">
                  <c:v>0.5282</c:v>
                </c:pt>
                <c:pt idx="42">
                  <c:v>0.51915</c:v>
                </c:pt>
                <c:pt idx="43">
                  <c:v>0.5101</c:v>
                </c:pt>
                <c:pt idx="44">
                  <c:v>0.50105</c:v>
                </c:pt>
                <c:pt idx="45">
                  <c:v>0.492</c:v>
                </c:pt>
                <c:pt idx="46">
                  <c:v>0.48415</c:v>
                </c:pt>
                <c:pt idx="47">
                  <c:v>0.4763</c:v>
                </c:pt>
                <c:pt idx="48">
                  <c:v>0.46845</c:v>
                </c:pt>
                <c:pt idx="49">
                  <c:v>0.4606</c:v>
                </c:pt>
                <c:pt idx="50">
                  <c:v>0.45275</c:v>
                </c:pt>
                <c:pt idx="51">
                  <c:v>0.4449</c:v>
                </c:pt>
                <c:pt idx="52">
                  <c:v>0.43705</c:v>
                </c:pt>
                <c:pt idx="53">
                  <c:v>0.4292</c:v>
                </c:pt>
                <c:pt idx="54">
                  <c:v>0.42135</c:v>
                </c:pt>
                <c:pt idx="55">
                  <c:v>0.4135</c:v>
                </c:pt>
              </c:numCache>
            </c:numRef>
          </c:val>
        </c:ser>
        <c:ser>
          <c:idx val="1"/>
          <c:order val="1"/>
          <c:tx>
            <c:v>MC T40 400 µs</c:v>
          </c:tx>
          <c:spPr>
            <a:ln xmlns:a="http://schemas.openxmlformats.org/drawingml/2006/main" w="28575">
              <a:solidFill>
                <a:srgbClr val="1570EF"/>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c:formatCode>
                <c:ptCount val="56"/>
                <c:pt idx="0">
                  <c:v>0.9453125</c:v>
                </c:pt>
                <c:pt idx="1">
                  <c:v>0.943359375</c:v>
                </c:pt>
                <c:pt idx="2">
                  <c:v>0.923828125</c:v>
                </c:pt>
                <c:pt idx="3">
                  <c:v>0.923828125</c:v>
                </c:pt>
                <c:pt idx="4">
                  <c:v>0.91015625</c:v>
                </c:pt>
                <c:pt idx="5">
                  <c:v>0.904296875</c:v>
                </c:pt>
                <c:pt idx="6">
                  <c:v>0.8828125</c:v>
                </c:pt>
                <c:pt idx="7">
                  <c:v>0.8828125</c:v>
                </c:pt>
                <c:pt idx="8">
                  <c:v>0.85546875</c:v>
                </c:pt>
                <c:pt idx="9">
                  <c:v>0.85546875</c:v>
                </c:pt>
                <c:pt idx="10">
                  <c:v>0.83203125</c:v>
                </c:pt>
                <c:pt idx="11">
                  <c:v>0.830078125</c:v>
                </c:pt>
                <c:pt idx="12">
                  <c:v>0.8046875</c:v>
                </c:pt>
                <c:pt idx="13">
                  <c:v>0.802734375</c:v>
                </c:pt>
                <c:pt idx="14">
                  <c:v>0.787109375</c:v>
                </c:pt>
                <c:pt idx="15">
                  <c:v>0.787109375</c:v>
                </c:pt>
                <c:pt idx="16">
                  <c:v>0.77734375</c:v>
                </c:pt>
                <c:pt idx="17">
                  <c:v>0.77734375</c:v>
                </c:pt>
                <c:pt idx="18">
                  <c:v>0.76171875</c:v>
                </c:pt>
                <c:pt idx="19">
                  <c:v>0.759765625</c:v>
                </c:pt>
                <c:pt idx="20">
                  <c:v>0.751953125</c:v>
                </c:pt>
                <c:pt idx="21">
                  <c:v>0.751953125</c:v>
                </c:pt>
                <c:pt idx="22">
                  <c:v>0.728515625</c:v>
                </c:pt>
                <c:pt idx="23">
                  <c:v>0.728515625</c:v>
                </c:pt>
                <c:pt idx="24">
                  <c:v>0.72265625</c:v>
                </c:pt>
                <c:pt idx="25">
                  <c:v>0.720703125</c:v>
                </c:pt>
                <c:pt idx="26">
                  <c:v>0.712890625</c:v>
                </c:pt>
                <c:pt idx="27">
                  <c:v>0.712890625</c:v>
                </c:pt>
                <c:pt idx="28">
                  <c:v>0.701171875</c:v>
                </c:pt>
                <c:pt idx="29">
                  <c:v>0.701171875</c:v>
                </c:pt>
                <c:pt idx="30">
                  <c:v>0.6796875</c:v>
                </c:pt>
                <c:pt idx="31">
                  <c:v>0.67578125</c:v>
                </c:pt>
                <c:pt idx="32">
                  <c:v>0.666015625</c:v>
                </c:pt>
                <c:pt idx="33">
                  <c:v>0.6640625</c:v>
                </c:pt>
                <c:pt idx="34">
                  <c:v>0.646484375</c:v>
                </c:pt>
                <c:pt idx="35">
                  <c:v>0.64453125</c:v>
                </c:pt>
                <c:pt idx="36">
                  <c:v>0.62890625</c:v>
                </c:pt>
                <c:pt idx="37">
                  <c:v>0.62890625</c:v>
                </c:pt>
                <c:pt idx="38">
                  <c:v>0.61328125</c:v>
                </c:pt>
                <c:pt idx="39">
                  <c:v>0.61328125</c:v>
                </c:pt>
                <c:pt idx="40">
                  <c:v>0.607421875</c:v>
                </c:pt>
                <c:pt idx="41">
                  <c:v>0.607421875</c:v>
                </c:pt>
                <c:pt idx="42">
                  <c:v>0.603515625</c:v>
                </c:pt>
                <c:pt idx="43">
                  <c:v>0.599609375</c:v>
                </c:pt>
                <c:pt idx="44">
                  <c:v>0.591796875</c:v>
                </c:pt>
                <c:pt idx="45">
                  <c:v>0.58984375</c:v>
                </c:pt>
                <c:pt idx="46">
                  <c:v>0.572265625</c:v>
                </c:pt>
                <c:pt idx="47">
                  <c:v>0.568359375</c:v>
                </c:pt>
                <c:pt idx="48">
                  <c:v>0.5546875</c:v>
                </c:pt>
                <c:pt idx="49">
                  <c:v>0.5546875</c:v>
                </c:pt>
                <c:pt idx="50">
                  <c:v>0.548828125</c:v>
                </c:pt>
                <c:pt idx="51">
                  <c:v>0.546875</c:v>
                </c:pt>
                <c:pt idx="52">
                  <c:v>0.5390625</c:v>
                </c:pt>
                <c:pt idx="53">
                  <c:v>0.5390625</c:v>
                </c:pt>
                <c:pt idx="54">
                  <c:v>0.525390625</c:v>
                </c:pt>
                <c:pt idx="55">
                  <c:v>0.525390625</c:v>
                </c:pt>
              </c:numCache>
            </c:numRef>
          </c:val>
        </c:ser>
        <c:ser>
          <c:idx val="2"/>
          <c:order val="2"/>
          <c:tx>
            <c:v>Paper 600 µs</c:v>
          </c:tx>
          <c:spPr>
            <a:ln xmlns:a="http://schemas.openxmlformats.org/drawingml/2006/main" w="19050">
              <a:solidFill>
                <a:srgbClr val="344054"/>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c:formatCode>
                <c:ptCount val="56"/>
                <c:pt idx="0">
                  <c:v>0.9706</c:v>
                </c:pt>
                <c:pt idx="1">
                  <c:v>0.9698</c:v>
                </c:pt>
                <c:pt idx="2">
                  <c:v>0.969</c:v>
                </c:pt>
                <c:pt idx="3">
                  <c:v>0.9682</c:v>
                </c:pt>
                <c:pt idx="4">
                  <c:v>0.957625</c:v>
                </c:pt>
                <c:pt idx="5">
                  <c:v>0.94705</c:v>
                </c:pt>
                <c:pt idx="6">
                  <c:v>0.936475</c:v>
                </c:pt>
                <c:pt idx="7">
                  <c:v>0.9259</c:v>
                </c:pt>
                <c:pt idx="8">
                  <c:v>0.9229</c:v>
                </c:pt>
                <c:pt idx="9">
                  <c:v>0.9199</c:v>
                </c:pt>
                <c:pt idx="10">
                  <c:v>0.9169</c:v>
                </c:pt>
                <c:pt idx="11">
                  <c:v>0.9139</c:v>
                </c:pt>
                <c:pt idx="12">
                  <c:v>0.907575</c:v>
                </c:pt>
                <c:pt idx="13">
                  <c:v>0.90125</c:v>
                </c:pt>
                <c:pt idx="14">
                  <c:v>0.894925</c:v>
                </c:pt>
                <c:pt idx="15">
                  <c:v>0.8886</c:v>
                </c:pt>
                <c:pt idx="16">
                  <c:v>0.88126</c:v>
                </c:pt>
                <c:pt idx="17">
                  <c:v>0.87392</c:v>
                </c:pt>
                <c:pt idx="18">
                  <c:v>0.86658</c:v>
                </c:pt>
                <c:pt idx="19">
                  <c:v>0.85924</c:v>
                </c:pt>
                <c:pt idx="20">
                  <c:v>0.8519</c:v>
                </c:pt>
                <c:pt idx="21">
                  <c:v>0.84456</c:v>
                </c:pt>
                <c:pt idx="22">
                  <c:v>0.83722</c:v>
                </c:pt>
                <c:pt idx="23">
                  <c:v>0.82988</c:v>
                </c:pt>
                <c:pt idx="24">
                  <c:v>0.82254</c:v>
                </c:pt>
                <c:pt idx="25">
                  <c:v>0.8152</c:v>
                </c:pt>
                <c:pt idx="26">
                  <c:v>0.80627</c:v>
                </c:pt>
                <c:pt idx="27">
                  <c:v>0.79734</c:v>
                </c:pt>
                <c:pt idx="28">
                  <c:v>0.78841</c:v>
                </c:pt>
                <c:pt idx="29">
                  <c:v>0.77948</c:v>
                </c:pt>
                <c:pt idx="30">
                  <c:v>0.77055</c:v>
                </c:pt>
                <c:pt idx="31">
                  <c:v>0.76162</c:v>
                </c:pt>
                <c:pt idx="32">
                  <c:v>0.75269</c:v>
                </c:pt>
                <c:pt idx="33">
                  <c:v>0.74376</c:v>
                </c:pt>
                <c:pt idx="34">
                  <c:v>0.73483</c:v>
                </c:pt>
                <c:pt idx="35">
                  <c:v>0.7259</c:v>
                </c:pt>
                <c:pt idx="36">
                  <c:v>0.71829</c:v>
                </c:pt>
                <c:pt idx="37">
                  <c:v>0.71068</c:v>
                </c:pt>
                <c:pt idx="38">
                  <c:v>0.70307</c:v>
                </c:pt>
                <c:pt idx="39">
                  <c:v>0.69546</c:v>
                </c:pt>
                <c:pt idx="40">
                  <c:v>0.68785</c:v>
                </c:pt>
                <c:pt idx="41">
                  <c:v>0.68024</c:v>
                </c:pt>
                <c:pt idx="42">
                  <c:v>0.67263</c:v>
                </c:pt>
                <c:pt idx="43">
                  <c:v>0.66502</c:v>
                </c:pt>
                <c:pt idx="44">
                  <c:v>0.65741</c:v>
                </c:pt>
                <c:pt idx="45">
                  <c:v>0.6498</c:v>
                </c:pt>
                <c:pt idx="46">
                  <c:v>0.64208</c:v>
                </c:pt>
                <c:pt idx="47">
                  <c:v>0.63436</c:v>
                </c:pt>
                <c:pt idx="48">
                  <c:v>0.62664</c:v>
                </c:pt>
                <c:pt idx="49">
                  <c:v>0.61892</c:v>
                </c:pt>
                <c:pt idx="50">
                  <c:v>0.6112</c:v>
                </c:pt>
                <c:pt idx="51">
                  <c:v>0.60348</c:v>
                </c:pt>
                <c:pt idx="52">
                  <c:v>0.59576</c:v>
                </c:pt>
                <c:pt idx="53">
                  <c:v>0.58804</c:v>
                </c:pt>
                <c:pt idx="54">
                  <c:v>0.58032</c:v>
                </c:pt>
                <c:pt idx="55">
                  <c:v>0.5726</c:v>
                </c:pt>
              </c:numCache>
            </c:numRef>
          </c:val>
        </c:ser>
        <c:ser>
          <c:idx val="3"/>
          <c:order val="3"/>
          <c:tx>
            <c:v>MC T40 600 µs</c:v>
          </c:tx>
          <c:spPr>
            <a:ln xmlns:a="http://schemas.openxmlformats.org/drawingml/2006/main" w="28575">
              <a:solidFill>
                <a:srgbClr val="0E9384"/>
              </a:solidFill>
            </a:ln>
          </c:spPr>
          <c:marker>
            <c:symbol val="none"/>
          </c:marker>
          <c:cat>
            <c:numRef>
              <c:f>'Chart Data'!$G$2:$G$57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Data'!$H$2:$H$57</c:f>
              <c:numCache>
                <c:formatCode>0%</c:formatCode>
                <c:ptCount val="56"/>
                <c:pt idx="0">
                  <c:v>0.94921875</c:v>
                </c:pt>
                <c:pt idx="1">
                  <c:v>0.94921875</c:v>
                </c:pt>
                <c:pt idx="2">
                  <c:v>0.93359375</c:v>
                </c:pt>
                <c:pt idx="3">
                  <c:v>0.93359375</c:v>
                </c:pt>
                <c:pt idx="4">
                  <c:v>0.92578125</c:v>
                </c:pt>
                <c:pt idx="5">
                  <c:v>0.92578125</c:v>
                </c:pt>
                <c:pt idx="6">
                  <c:v>0.91796875</c:v>
                </c:pt>
                <c:pt idx="7">
                  <c:v>0.91796875</c:v>
                </c:pt>
                <c:pt idx="8">
                  <c:v>0.90625</c:v>
                </c:pt>
                <c:pt idx="9">
                  <c:v>0.90625</c:v>
                </c:pt>
                <c:pt idx="10">
                  <c:v>0.896484375</c:v>
                </c:pt>
                <c:pt idx="11">
                  <c:v>0.896484375</c:v>
                </c:pt>
                <c:pt idx="12">
                  <c:v>0.890625</c:v>
                </c:pt>
                <c:pt idx="13">
                  <c:v>0.890625</c:v>
                </c:pt>
                <c:pt idx="14">
                  <c:v>0.88671875</c:v>
                </c:pt>
                <c:pt idx="15">
                  <c:v>0.884765625</c:v>
                </c:pt>
                <c:pt idx="16">
                  <c:v>0.876953125</c:v>
                </c:pt>
                <c:pt idx="17">
                  <c:v>0.876953125</c:v>
                </c:pt>
                <c:pt idx="18">
                  <c:v>0.87109375</c:v>
                </c:pt>
                <c:pt idx="19">
                  <c:v>0.87109375</c:v>
                </c:pt>
                <c:pt idx="20">
                  <c:v>0.857421875</c:v>
                </c:pt>
                <c:pt idx="21">
                  <c:v>0.857421875</c:v>
                </c:pt>
                <c:pt idx="22">
                  <c:v>0.841796875</c:v>
                </c:pt>
                <c:pt idx="23">
                  <c:v>0.841796875</c:v>
                </c:pt>
                <c:pt idx="24">
                  <c:v>0.837890625</c:v>
                </c:pt>
                <c:pt idx="25">
                  <c:v>0.837890625</c:v>
                </c:pt>
                <c:pt idx="26">
                  <c:v>0.826171875</c:v>
                </c:pt>
                <c:pt idx="27">
                  <c:v>0.82421875</c:v>
                </c:pt>
                <c:pt idx="28">
                  <c:v>0.814453125</c:v>
                </c:pt>
                <c:pt idx="29">
                  <c:v>0.814453125</c:v>
                </c:pt>
                <c:pt idx="30">
                  <c:v>0.806640625</c:v>
                </c:pt>
                <c:pt idx="31">
                  <c:v>0.806640625</c:v>
                </c:pt>
                <c:pt idx="32">
                  <c:v>0.80078125</c:v>
                </c:pt>
                <c:pt idx="33">
                  <c:v>0.80078125</c:v>
                </c:pt>
                <c:pt idx="34">
                  <c:v>0.794921875</c:v>
                </c:pt>
                <c:pt idx="35">
                  <c:v>0.794921875</c:v>
                </c:pt>
                <c:pt idx="36">
                  <c:v>0.783203125</c:v>
                </c:pt>
                <c:pt idx="37">
                  <c:v>0.783203125</c:v>
                </c:pt>
                <c:pt idx="38">
                  <c:v>0.7734375</c:v>
                </c:pt>
                <c:pt idx="39">
                  <c:v>0.7734375</c:v>
                </c:pt>
                <c:pt idx="40">
                  <c:v>0.76171875</c:v>
                </c:pt>
                <c:pt idx="41">
                  <c:v>0.759765625</c:v>
                </c:pt>
                <c:pt idx="42">
                  <c:v>0.744140625</c:v>
                </c:pt>
                <c:pt idx="43">
                  <c:v>0.744140625</c:v>
                </c:pt>
                <c:pt idx="44">
                  <c:v>0.73828125</c:v>
                </c:pt>
                <c:pt idx="45">
                  <c:v>0.73828125</c:v>
                </c:pt>
                <c:pt idx="46">
                  <c:v>0.734375</c:v>
                </c:pt>
                <c:pt idx="47">
                  <c:v>0.732421875</c:v>
                </c:pt>
                <c:pt idx="48">
                  <c:v>0.73046875</c:v>
                </c:pt>
                <c:pt idx="49">
                  <c:v>0.73046875</c:v>
                </c:pt>
                <c:pt idx="50">
                  <c:v>0.720703125</c:v>
                </c:pt>
                <c:pt idx="51">
                  <c:v>0.720703125</c:v>
                </c:pt>
                <c:pt idx="52">
                  <c:v>0.703125</c:v>
                </c:pt>
                <c:pt idx="53">
                  <c:v>0.701171875</c:v>
                </c:pt>
                <c:pt idx="54">
                  <c:v>0.68359375</c:v>
                </c:pt>
                <c:pt idx="55">
                  <c:v>0.68359375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icrosoft YaHei"/>
                    <a:ea typeface="Microsoft YaHei"/>
                    <a:cs typeface="Microsoft YaHei"/>
                  </a:rPr>
                  <a:t>One-way transfers n</a:t>
                </a:r>
              </a:p>
            </c:rich>
          </c:tx>
          <c:overlay val="0"/>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2"/>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lineChart>
        <c:grouping val="standard"/>
        <c:ser>
          <c:idx val="0"/>
          <c:order val="0"/>
          <c:tx>
            <c:v>Manual position</c:v>
          </c:tx>
          <c:spPr>
            <a:ln xmlns:a="http://schemas.openxmlformats.org/drawingml/2006/main" w="28575">
              <a:solidFill>
                <a:srgbClr val="475467"/>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c:formatCode>
                <c:ptCount val="15"/>
                <c:pt idx="0">
                  <c:v>0</c:v>
                </c:pt>
                <c:pt idx="1">
                  <c:v>0</c:v>
                </c:pt>
                <c:pt idx="2">
                  <c:v>0</c:v>
                </c:pt>
                <c:pt idx="3">
                  <c:v>0</c:v>
                </c:pt>
                <c:pt idx="4">
                  <c:v>0</c:v>
                </c:pt>
                <c:pt idx="5">
                  <c:v>0</c:v>
                </c:pt>
                <c:pt idx="6">
                  <c:v>0</c:v>
                </c:pt>
                <c:pt idx="7">
                  <c:v>0.000728265817023</c:v>
                </c:pt>
                <c:pt idx="8">
                  <c:v>0.0695738025988</c:v>
                </c:pt>
                <c:pt idx="9">
                  <c:v>0.386747897679</c:v>
                </c:pt>
                <c:pt idx="10">
                  <c:v>0.964185192895</c:v>
                </c:pt>
                <c:pt idx="11">
                  <c:v>1.61328129666</c:v>
                </c:pt>
                <c:pt idx="12">
                  <c:v>2.13498396302</c:v>
                </c:pt>
                <c:pt idx="13">
                  <c:v>2.36682462568</c:v>
                </c:pt>
                <c:pt idx="14">
                  <c:v>2.4</c:v>
                </c:pt>
              </c:numCache>
            </c:numRef>
          </c:val>
        </c:ser>
        <c:ser>
          <c:idx val="1"/>
          <c:order val="1"/>
          <c:tx>
            <c:v>Fig. 6c ML position</c:v>
          </c:tx>
          <c:spPr>
            <a:ln xmlns:a="http://schemas.openxmlformats.org/drawingml/2006/main" w="28575">
              <a:solidFill>
                <a:srgbClr val="0E9384"/>
              </a:solidFill>
            </a:ln>
          </c:spPr>
          <c:marker>
            <c:symbol val="circle"/>
            <c:size val="5"/>
            <c:spPr>
              <a:solidFill xmlns:a="http://schemas.openxmlformats.org/drawingml/2006/main">
                <a:srgbClr val="0E9384"/>
              </a:solidFill>
            </c:spPr>
          </c:marker>
          <c:cat>
            <c:numRef>
              <c:f>'Chart Data'!$C$2:$C$16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Data'!$D$2:$D$16</c:f>
              <c:numCache>
                <c:formatCode>0.0</c:formatCode>
                <c:ptCount val="15"/>
                <c:pt idx="0">
                  <c:v>0.00413555622832</c:v>
                </c:pt>
                <c:pt idx="1">
                  <c:v>0.0419971063815</c:v>
                </c:pt>
                <c:pt idx="2">
                  <c:v>0.111132648305</c:v>
                </c:pt>
                <c:pt idx="3">
                  <c:v>0.112744730658</c:v>
                </c:pt>
                <c:pt idx="4">
                  <c:v>0.112164973556</c:v>
                </c:pt>
                <c:pt idx="5">
                  <c:v>0.188751715328</c:v>
                </c:pt>
                <c:pt idx="6">
                  <c:v>0.3203341165</c:v>
                </c:pt>
                <c:pt idx="7">
                  <c:v>0.495750877979</c:v>
                </c:pt>
                <c:pt idx="8">
                  <c:v>0.697274505876</c:v>
                </c:pt>
                <c:pt idx="9">
                  <c:v>0.947967362687</c:v>
                </c:pt>
                <c:pt idx="10">
                  <c:v>1.24095377898</c:v>
                </c:pt>
                <c:pt idx="11">
                  <c:v>1.54418662097</c:v>
                </c:pt>
                <c:pt idx="12">
                  <c:v>1.85643053763</c:v>
                </c:pt>
                <c:pt idx="13">
                  <c:v>2.2099389317</c:v>
                </c:pt>
                <c:pt idx="14">
                  <c:v>2.40425070917</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2.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Position (µm)</a:t>
                </a:r>
              </a:p>
            </c:rich>
          </c:tx>
          <c:overlay val="0"/>
        </c:title>
        <c:numFmt formatCode="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lineChart>
        <c:grouping val="standard"/>
        <c:ser>
          <c:idx val="0"/>
          <c:order val="0"/>
          <c:tx>
            <c:v>Manual depth</c:v>
          </c:tx>
          <c:spPr>
            <a:ln xmlns:a="http://schemas.openxmlformats.org/drawingml/2006/main" w="28575">
              <a:solidFill>
                <a:srgbClr val="475467"/>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0.00</c:formatCode>
                <c:ptCount val="15"/>
                <c:pt idx="0">
                  <c:v>0</c:v>
                </c:pt>
                <c:pt idx="1">
                  <c:v>0.00620039682538</c:v>
                </c:pt>
                <c:pt idx="2">
                  <c:v>0.0248015873016</c:v>
                </c:pt>
                <c:pt idx="3">
                  <c:v>0.0558035714286</c:v>
                </c:pt>
                <c:pt idx="4">
                  <c:v>0.0992063492068</c:v>
                </c:pt>
                <c:pt idx="5">
                  <c:v>0.155009920635</c:v>
                </c:pt>
                <c:pt idx="6">
                  <c:v>0.223214285715</c:v>
                </c:pt>
                <c:pt idx="7">
                  <c:v>0.28</c:v>
                </c:pt>
                <c:pt idx="8">
                  <c:v>0.28</c:v>
                </c:pt>
                <c:pt idx="9">
                  <c:v>0.28</c:v>
                </c:pt>
                <c:pt idx="10">
                  <c:v>0.28</c:v>
                </c:pt>
                <c:pt idx="11">
                  <c:v>0.28</c:v>
                </c:pt>
                <c:pt idx="12">
                  <c:v>0.28</c:v>
                </c:pt>
                <c:pt idx="13">
                  <c:v>0.28</c:v>
                </c:pt>
                <c:pt idx="14">
                  <c:v>0.28</c:v>
                </c:pt>
              </c:numCache>
            </c:numRef>
          </c:val>
        </c:ser>
        <c:ser>
          <c:idx val="1"/>
          <c:order val="1"/>
          <c:tx>
            <c:v>Fig. 6c ML depth</c:v>
          </c:tx>
          <c:spPr>
            <a:ln xmlns:a="http://schemas.openxmlformats.org/drawingml/2006/main" w="28575">
              <a:solidFill>
                <a:srgbClr val="0BA5EC"/>
              </a:solidFill>
            </a:ln>
          </c:spPr>
          <c:marker>
            <c:symbol val="circle"/>
            <c:size val="5"/>
            <c:spPr>
              <a:solidFill xmlns:a="http://schemas.openxmlformats.org/drawingml/2006/main">
                <a:srgbClr val="0BA5EC"/>
              </a:solidFill>
            </c:spPr>
          </c:marker>
          <c:cat>
            <c:numRef>
              <c:f>'Chart Data'!$C$2:$C$16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Data'!$D$2:$D$16</c:f>
              <c:numCache>
                <c:formatCode>0.00</c:formatCode>
                <c:ptCount val="15"/>
                <c:pt idx="0">
                  <c:v>0.000499713044256</c:v>
                </c:pt>
                <c:pt idx="1">
                  <c:v>0.00414644376358</c:v>
                </c:pt>
                <c:pt idx="2">
                  <c:v>0.0106480724655</c:v>
                </c:pt>
                <c:pt idx="3">
                  <c:v>0.0190312328974</c:v>
                </c:pt>
                <c:pt idx="4">
                  <c:v>0.0379906963848</c:v>
                </c:pt>
                <c:pt idx="5">
                  <c:v>0.076288963437</c:v>
                </c:pt>
                <c:pt idx="6">
                  <c:v>0.134921041123</c:v>
                </c:pt>
                <c:pt idx="7">
                  <c:v>0.212284107178</c:v>
                </c:pt>
                <c:pt idx="8">
                  <c:v>0.268490549952</c:v>
                </c:pt>
                <c:pt idx="9">
                  <c:v>0.280469653025</c:v>
                </c:pt>
                <c:pt idx="10">
                  <c:v>0.280598817921</c:v>
                </c:pt>
                <c:pt idx="11">
                  <c:v>0.28052501195</c:v>
                </c:pt>
                <c:pt idx="12">
                  <c:v>0.280516692702</c:v>
                </c:pt>
                <c:pt idx="13">
                  <c:v>0.280516692702</c:v>
                </c:pt>
                <c:pt idx="14">
                  <c:v>0.280516692702</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32"/>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Depth (mK)</a:t>
                </a:r>
              </a:p>
            </c:rich>
          </c:tx>
          <c:overlay val="0"/>
        </c:title>
        <c:numFmt formatCode="0.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0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400 µs</c:v>
          </c:tx>
          <c:spPr>
            <a:solidFill xmlns:a="http://schemas.openxmlformats.org/drawingml/2006/main">
              <a:srgbClr val="98A2B3"/>
            </a:solidFill>
          </c:spPr>
          <c:cat>
            <c:strRef>
              <c:f>'Chart Data'!$A$2:$A$3</c:f>
              <c:strCache>
                <c:ptCount val="2"/>
                <c:pt idx="0">
                  <c:v>Paper</c:v>
                </c:pt>
                <c:pt idx="1">
                  <c:v>MC T40</c:v>
                </c:pt>
              </c:strCache>
            </c:strRef>
          </c:cat>
          <c:val>
            <c:numRef>
              <c:f>'Chart Data'!$B$2:$B$3</c:f>
              <c:numCache>
                <c:formatCode>0.0%</c:formatCode>
                <c:ptCount val="2"/>
                <c:pt idx="0">
                  <c:v>0.4135</c:v>
                </c:pt>
                <c:pt idx="1">
                  <c:v>0.52734375</c:v>
                </c:pt>
              </c:numCache>
            </c:numRef>
          </c:val>
        </c:ser>
        <c:ser>
          <c:idx val="1"/>
          <c:order val="1"/>
          <c:tx>
            <c:v>Fig. 6c ML 400 µs</c:v>
          </c:tx>
          <c:spPr>
            <a:solidFill xmlns:a="http://schemas.openxmlformats.org/drawingml/2006/main">
              <a:srgbClr val="0E9384"/>
            </a:solidFill>
          </c:spPr>
          <c:cat>
            <c:strRef>
              <c:f>'Chart Data'!$C$2:$C$3</c:f>
              <c:strCache>
                <c:ptCount val="2"/>
                <c:pt idx="0">
                  <c:v>Paper</c:v>
                </c:pt>
                <c:pt idx="1">
                  <c:v>MC T40</c:v>
                </c:pt>
              </c:strCache>
            </c:strRef>
          </c:cat>
          <c:val>
            <c:numRef>
              <c:f>'Chart Data'!$D$2:$D$3</c:f>
              <c:numCache>
                <c:formatCode>0.0%</c:formatCode>
                <c:ptCount val="2"/>
                <c:pt idx="0">
                  <c:v>0.6633</c:v>
                </c:pt>
                <c:pt idx="1">
                  <c:v>0.7578125</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S(60)</c:v>
          </c:tx>
          <c:spPr>
            <a:solidFill xmlns:a="http://schemas.openxmlformats.org/drawingml/2006/main">
              <a:srgbClr val="1570EF"/>
            </a:solidFill>
          </c:spPr>
          <c:dPt>
            <c:idx val="0"/>
            <c:invertIfNegative val="0"/>
            <c:spPr>
              <a:solidFill xmlns:a="http://schemas.openxmlformats.org/drawingml/2006/main">
                <a:srgbClr val="98A2B3"/>
              </a:solidFill>
            </c:spPr>
          </c:dPt>
          <c:dPt>
            <c:idx val="1"/>
            <c:invertIfNegative val="0"/>
            <c:spPr>
              <a:solidFill xmlns:a="http://schemas.openxmlformats.org/drawingml/2006/main">
                <a:srgbClr val="667085"/>
              </a:solidFill>
            </c:spPr>
          </c:dPt>
          <c:dPt>
            <c:idx val="2"/>
            <c:invertIfNegative val="0"/>
            <c:spPr>
              <a:solidFill xmlns:a="http://schemas.openxmlformats.org/drawingml/2006/main">
                <a:srgbClr val="0BA5EC"/>
              </a:solidFill>
            </c:spPr>
          </c:dPt>
          <c:dPt>
            <c:idx val="3"/>
            <c:invertIfNegative val="0"/>
            <c:spPr>
              <a:solidFill xmlns:a="http://schemas.openxmlformats.org/drawingml/2006/main">
                <a:srgbClr val="0E9384"/>
              </a:solidFill>
            </c:spPr>
          </c:dPt>
          <c:cat>
            <c:strRef>
              <c:f>'Chart Data'!$A$2:$A$5</c:f>
              <c:strCache>
                <c:ptCount val="4"/>
                <c:pt idx="0">
                  <c:v>Dman / Pman</c:v>
                </c:pt>
                <c:pt idx="1">
                  <c:v>DML / Pman</c:v>
                </c:pt>
                <c:pt idx="2">
                  <c:v>Dman / PML</c:v>
                </c:pt>
                <c:pt idx="3">
                  <c:v>DML / PML</c:v>
                </c:pt>
              </c:strCache>
            </c:strRef>
          </c:cat>
          <c:val>
            <c:numRef>
              <c:f>'Chart Data'!$B$2:$B$5</c:f>
              <c:numCache>
                <c:formatCode>0.0%</c:formatCode>
                <c:ptCount val="4"/>
                <c:pt idx="0">
                  <c:v>0.5254</c:v>
                </c:pt>
                <c:pt idx="1">
                  <c:v>0.5293</c:v>
                </c:pt>
                <c:pt idx="2">
                  <c:v>0.8086</c:v>
                </c:pt>
                <c:pt idx="3">
                  <c:v>0.8047</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9"/>
          <c:min val="0.4"/>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lineChart>
        <c:grouping val="standard"/>
        <c:ser>
          <c:idx val="0"/>
          <c:order val="0"/>
          <c:tx>
            <c:v>Manual 200 error</c:v>
          </c:tx>
          <c:spPr>
            <a:ln xmlns:a="http://schemas.openxmlformats.org/drawingml/2006/main" w="28575">
              <a:solidFill>
                <a:srgbClr val="D92D20"/>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c:formatCode>
                <c:ptCount val="27"/>
                <c:pt idx="0">
                  <c:v>-0.13203125</c:v>
                </c:pt>
                <c:pt idx="1">
                  <c:v>-0.1415875</c:v>
                </c:pt>
                <c:pt idx="2">
                  <c:v>-0.153096875</c:v>
                </c:pt>
                <c:pt idx="3">
                  <c:v>-0.154840625</c:v>
                </c:pt>
                <c:pt idx="4">
                  <c:v>-0.1668375</c:v>
                </c:pt>
                <c:pt idx="5">
                  <c:v>-0.16125625</c:v>
                </c:pt>
                <c:pt idx="6">
                  <c:v>-0.173253125</c:v>
                </c:pt>
                <c:pt idx="7">
                  <c:v>-0.167671875</c:v>
                </c:pt>
                <c:pt idx="8">
                  <c:v>-0.170340625</c:v>
                </c:pt>
                <c:pt idx="9">
                  <c:v>-0.173009375</c:v>
                </c:pt>
                <c:pt idx="10">
                  <c:v>-0.167865625</c:v>
                </c:pt>
                <c:pt idx="11">
                  <c:v>-0.166628125</c:v>
                </c:pt>
                <c:pt idx="12">
                  <c:v>-0.178359375</c:v>
                </c:pt>
                <c:pt idx="13">
                  <c:v>-0.166653125</c:v>
                </c:pt>
                <c:pt idx="14">
                  <c:v>-0.16861875</c:v>
                </c:pt>
                <c:pt idx="15">
                  <c:v>-0.162771875</c:v>
                </c:pt>
                <c:pt idx="16">
                  <c:v>-0.156170625</c:v>
                </c:pt>
                <c:pt idx="17">
                  <c:v>-0.145663125</c:v>
                </c:pt>
                <c:pt idx="18">
                  <c:v>-0.13710875</c:v>
                </c:pt>
                <c:pt idx="19">
                  <c:v>-0.124648125</c:v>
                </c:pt>
                <c:pt idx="20">
                  <c:v>-0.1278125</c:v>
                </c:pt>
                <c:pt idx="21">
                  <c:v>-0.1407425</c:v>
                </c:pt>
                <c:pt idx="22">
                  <c:v>-0.124375625</c:v>
                </c:pt>
                <c:pt idx="23">
                  <c:v>-0.111915</c:v>
                </c:pt>
                <c:pt idx="24">
                  <c:v>-0.103360625</c:v>
                </c:pt>
                <c:pt idx="25">
                  <c:v>-0.09480625</c:v>
                </c:pt>
                <c:pt idx="26">
                  <c:v>-0.094165625</c:v>
                </c:pt>
              </c:numCache>
            </c:numRef>
          </c:val>
        </c:ser>
        <c:ser>
          <c:idx val="1"/>
          <c:order val="1"/>
          <c:tx>
            <c:v>Zero</c:v>
          </c:tx>
          <c:spPr>
            <a:ln xmlns:a="http://schemas.openxmlformats.org/drawingml/2006/main" w="9525">
              <a:solidFill>
                <a:srgbClr val="D0D5DD"/>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c:formatCode>
                <c:ptCount val="2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15"/>
          <c:min val="-0.2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MC − Paper</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lineChart>
        <c:grouping val="standard"/>
        <c:ser>
          <c:idx val="0"/>
          <c:order val="0"/>
          <c:tx>
            <c:v>Manual 400 error</c:v>
          </c:tx>
          <c:spPr>
            <a:ln xmlns:a="http://schemas.openxmlformats.org/drawingml/2006/main" w="28575">
              <a:solidFill>
                <a:srgbClr val="1570EF"/>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c:formatCode>
                <c:ptCount val="56"/>
                <c:pt idx="0">
                  <c:v>-0.0226875</c:v>
                </c:pt>
                <c:pt idx="1">
                  <c:v>-0.012607291667</c:v>
                </c:pt>
                <c:pt idx="2">
                  <c:v>-0.020105208333</c:v>
                </c:pt>
                <c:pt idx="3">
                  <c:v>-0.008071875</c:v>
                </c:pt>
                <c:pt idx="4">
                  <c:v>-0.01369375</c:v>
                </c:pt>
                <c:pt idx="5">
                  <c:v>-0.011503125</c:v>
                </c:pt>
                <c:pt idx="6">
                  <c:v>-0.0249375</c:v>
                </c:pt>
                <c:pt idx="7">
                  <c:v>-0.0168875</c:v>
                </c:pt>
                <c:pt idx="8">
                  <c:v>-0.03705625</c:v>
                </c:pt>
                <c:pt idx="9">
                  <c:v>-0.02988125</c:v>
                </c:pt>
                <c:pt idx="10">
                  <c:v>-0.04614375</c:v>
                </c:pt>
                <c:pt idx="11">
                  <c:v>-0.040921875</c:v>
                </c:pt>
                <c:pt idx="12">
                  <c:v>-0.0544625</c:v>
                </c:pt>
                <c:pt idx="13">
                  <c:v>-0.044565625</c:v>
                </c:pt>
                <c:pt idx="14">
                  <c:v>-0.048340625</c:v>
                </c:pt>
                <c:pt idx="15">
                  <c:v>-0.036490625</c:v>
                </c:pt>
                <c:pt idx="16">
                  <c:v>-0.03278625</c:v>
                </c:pt>
                <c:pt idx="17">
                  <c:v>-0.01931625</c:v>
                </c:pt>
                <c:pt idx="18">
                  <c:v>-0.02147125</c:v>
                </c:pt>
                <c:pt idx="19">
                  <c:v>-0.009954375</c:v>
                </c:pt>
                <c:pt idx="20">
                  <c:v>-0.004296875</c:v>
                </c:pt>
                <c:pt idx="21">
                  <c:v>0.009173125</c:v>
                </c:pt>
                <c:pt idx="22">
                  <c:v>-0.000794375</c:v>
                </c:pt>
                <c:pt idx="23">
                  <c:v>0.012675625</c:v>
                </c:pt>
                <c:pt idx="24">
                  <c:v>0.02028625</c:v>
                </c:pt>
                <c:pt idx="25">
                  <c:v>0.031803125</c:v>
                </c:pt>
                <c:pt idx="26">
                  <c:v>0.034630625</c:v>
                </c:pt>
                <c:pt idx="27">
                  <c:v>0.045270625</c:v>
                </c:pt>
                <c:pt idx="28">
                  <c:v>0.044191875</c:v>
                </c:pt>
                <c:pt idx="29">
                  <c:v>0.054831875</c:v>
                </c:pt>
                <c:pt idx="30">
                  <c:v>0.0439875</c:v>
                </c:pt>
                <c:pt idx="31">
                  <c:v>0.05072125</c:v>
                </c:pt>
                <c:pt idx="32">
                  <c:v>0.051595625</c:v>
                </c:pt>
                <c:pt idx="33">
                  <c:v>0.0602825</c:v>
                </c:pt>
                <c:pt idx="34">
                  <c:v>0.053344375</c:v>
                </c:pt>
                <c:pt idx="35">
                  <c:v>0.06203125</c:v>
                </c:pt>
                <c:pt idx="36">
                  <c:v>0.05545625</c:v>
                </c:pt>
                <c:pt idx="37">
                  <c:v>0.06450625</c:v>
                </c:pt>
                <c:pt idx="38">
                  <c:v>0.05793125</c:v>
                </c:pt>
                <c:pt idx="39">
                  <c:v>0.06698125</c:v>
                </c:pt>
                <c:pt idx="40">
                  <c:v>0.070171875</c:v>
                </c:pt>
                <c:pt idx="41">
                  <c:v>0.079221875</c:v>
                </c:pt>
                <c:pt idx="42">
                  <c:v>0.084365625</c:v>
                </c:pt>
                <c:pt idx="43">
                  <c:v>0.089509375</c:v>
                </c:pt>
                <c:pt idx="44">
                  <c:v>0.090746875</c:v>
                </c:pt>
                <c:pt idx="45">
                  <c:v>0.09784375</c:v>
                </c:pt>
                <c:pt idx="46">
                  <c:v>0.088115625</c:v>
                </c:pt>
                <c:pt idx="47">
                  <c:v>0.092059375</c:v>
                </c:pt>
                <c:pt idx="48">
                  <c:v>0.0862375</c:v>
                </c:pt>
                <c:pt idx="49">
                  <c:v>0.0940875</c:v>
                </c:pt>
                <c:pt idx="50">
                  <c:v>0.096078125</c:v>
                </c:pt>
                <c:pt idx="51">
                  <c:v>0.101975</c:v>
                </c:pt>
                <c:pt idx="52">
                  <c:v>0.1020125</c:v>
                </c:pt>
                <c:pt idx="53">
                  <c:v>0.1098625</c:v>
                </c:pt>
                <c:pt idx="54">
                  <c:v>0.104040625</c:v>
                </c:pt>
                <c:pt idx="55">
                  <c:v>0.111890625</c:v>
                </c:pt>
              </c:numCache>
            </c:numRef>
          </c:val>
        </c:ser>
        <c:ser>
          <c:idx val="1"/>
          <c:order val="1"/>
          <c:tx>
            <c:v>Manual 600 error</c:v>
          </c:tx>
          <c:spPr>
            <a:ln xmlns:a="http://schemas.openxmlformats.org/drawingml/2006/main" w="28575">
              <a:solidFill>
                <a:srgbClr val="0E9384"/>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c:formatCode>
                <c:ptCount val="56"/>
                <c:pt idx="0">
                  <c:v>-0.02138125</c:v>
                </c:pt>
                <c:pt idx="1">
                  <c:v>-0.02058125</c:v>
                </c:pt>
                <c:pt idx="2">
                  <c:v>-0.03540625</c:v>
                </c:pt>
                <c:pt idx="3">
                  <c:v>-0.03460625</c:v>
                </c:pt>
                <c:pt idx="4">
                  <c:v>-0.03184375</c:v>
                </c:pt>
                <c:pt idx="5">
                  <c:v>-0.02126875</c:v>
                </c:pt>
                <c:pt idx="6">
                  <c:v>-0.01850625</c:v>
                </c:pt>
                <c:pt idx="7">
                  <c:v>-0.00793125</c:v>
                </c:pt>
                <c:pt idx="8">
                  <c:v>-0.01665</c:v>
                </c:pt>
                <c:pt idx="9">
                  <c:v>-0.01365</c:v>
                </c:pt>
                <c:pt idx="10">
                  <c:v>-0.020415625</c:v>
                </c:pt>
                <c:pt idx="11">
                  <c:v>-0.017415625</c:v>
                </c:pt>
                <c:pt idx="12">
                  <c:v>-0.01695</c:v>
                </c:pt>
                <c:pt idx="13">
                  <c:v>-0.010625</c:v>
                </c:pt>
                <c:pt idx="14">
                  <c:v>-0.00820625</c:v>
                </c:pt>
                <c:pt idx="15">
                  <c:v>-0.003834375</c:v>
                </c:pt>
                <c:pt idx="16">
                  <c:v>-0.004306875</c:v>
                </c:pt>
                <c:pt idx="17">
                  <c:v>0.003033125</c:v>
                </c:pt>
                <c:pt idx="18">
                  <c:v>0.00451375</c:v>
                </c:pt>
                <c:pt idx="19">
                  <c:v>0.01185375</c:v>
                </c:pt>
                <c:pt idx="20">
                  <c:v>0.005521875</c:v>
                </c:pt>
                <c:pt idx="21">
                  <c:v>0.012861875</c:v>
                </c:pt>
                <c:pt idx="22">
                  <c:v>0.004576875</c:v>
                </c:pt>
                <c:pt idx="23">
                  <c:v>0.011916875</c:v>
                </c:pt>
                <c:pt idx="24">
                  <c:v>0.015350625</c:v>
                </c:pt>
                <c:pt idx="25">
                  <c:v>0.022690625</c:v>
                </c:pt>
                <c:pt idx="26">
                  <c:v>0.019901875</c:v>
                </c:pt>
                <c:pt idx="27">
                  <c:v>0.02687875</c:v>
                </c:pt>
                <c:pt idx="28">
                  <c:v>0.026043125</c:v>
                </c:pt>
                <c:pt idx="29">
                  <c:v>0.034973125</c:v>
                </c:pt>
                <c:pt idx="30">
                  <c:v>0.036090625</c:v>
                </c:pt>
                <c:pt idx="31">
                  <c:v>0.045020625</c:v>
                </c:pt>
                <c:pt idx="32">
                  <c:v>0.04809125</c:v>
                </c:pt>
                <c:pt idx="33">
                  <c:v>0.05702125</c:v>
                </c:pt>
                <c:pt idx="34">
                  <c:v>0.060091875</c:v>
                </c:pt>
                <c:pt idx="35">
                  <c:v>0.069021875</c:v>
                </c:pt>
                <c:pt idx="36">
                  <c:v>0.064913125</c:v>
                </c:pt>
                <c:pt idx="37">
                  <c:v>0.072523125</c:v>
                </c:pt>
                <c:pt idx="38">
                  <c:v>0.0703675</c:v>
                </c:pt>
                <c:pt idx="39">
                  <c:v>0.0779775</c:v>
                </c:pt>
                <c:pt idx="40">
                  <c:v>0.07386875</c:v>
                </c:pt>
                <c:pt idx="41">
                  <c:v>0.079525625</c:v>
                </c:pt>
                <c:pt idx="42">
                  <c:v>0.071510625</c:v>
                </c:pt>
                <c:pt idx="43">
                  <c:v>0.079120625</c:v>
                </c:pt>
                <c:pt idx="44">
                  <c:v>0.08087125</c:v>
                </c:pt>
                <c:pt idx="45">
                  <c:v>0.08848125</c:v>
                </c:pt>
                <c:pt idx="46">
                  <c:v>0.092295</c:v>
                </c:pt>
                <c:pt idx="47">
                  <c:v>0.098061875</c:v>
                </c:pt>
                <c:pt idx="48">
                  <c:v>0.10382875</c:v>
                </c:pt>
                <c:pt idx="49">
                  <c:v>0.11154875</c:v>
                </c:pt>
                <c:pt idx="50">
                  <c:v>0.109503125</c:v>
                </c:pt>
                <c:pt idx="51">
                  <c:v>0.117223125</c:v>
                </c:pt>
                <c:pt idx="52">
                  <c:v>0.107365</c:v>
                </c:pt>
                <c:pt idx="53">
                  <c:v>0.113131875</c:v>
                </c:pt>
                <c:pt idx="54">
                  <c:v>0.10327375</c:v>
                </c:pt>
                <c:pt idx="55">
                  <c:v>0.11099375</c:v>
                </c:pt>
              </c:numCache>
            </c:numRef>
          </c:val>
        </c:ser>
        <c:ser>
          <c:idx val="2"/>
          <c:order val="2"/>
          <c:tx>
            <c:v>Zero</c:v>
          </c:tx>
          <c:spPr>
            <a:ln xmlns:a="http://schemas.openxmlformats.org/drawingml/2006/main" w="9525">
              <a:solidFill>
                <a:srgbClr val="D0D5DD"/>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15"/>
          <c:min val="-0.2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MC − Paper</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CFEF7E-003A-46F2-8131-22EB88015B5B}"/>
              </a:ext>
            </a:extLst>
          </p:cNvPr>
          <p:cNvSpPr>
            <a:spLocks xmlns:a="http://schemas.openxmlformats.org/drawingml/2006/main" noGrp="1"/>
          </p:cNvSpPr>
          <p:nvPr/>
        </p:nvSpPr>
        <p:spPr>
          <a:xfrm xmlns:a="http://schemas.openxmlformats.org/drawingml/2006/main">
            <a:off x="0" y="5810250"/>
            <a:ext cx="12192000" cy="104775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ln>
        </p:spPr>
      </p:sp>
      <p:sp>
        <p:nvSpPr>
          <p:cNvPr id="2" name="">
            <a:extLst xmlns:a="http://schemas.openxmlformats.org/drawingml/2006/main">
              <a:ext uri="{FF2B5EF4-FFF2-40B4-BE49-F238E27FC236}">
                <a16:creationId xmlns:a16="http://schemas.microsoft.com/office/drawing/2014/main" id="{AC730472-F820-4ACA-9483-34EE8CAC83D1}"/>
              </a:ext>
            </a:extLst>
          </p:cNvPr>
          <p:cNvSpPr>
            <a:spLocks xmlns:a="http://schemas.openxmlformats.org/drawingml/2006/main" noGrp="1"/>
          </p:cNvSpPr>
          <p:nvPr/>
        </p:nvSpPr>
        <p:spPr>
          <a:xfrm xmlns:a="http://schemas.openxmlformats.org/drawingml/2006/main">
            <a:off x="685800" y="933450"/>
            <a:ext cx="838200" cy="57150"/>
          </a:xfrm>
          <a:prstGeom xmlns:a="http://schemas.openxmlformats.org/drawingml/2006/main" prst="rect">
            <a:avLst/>
          </a:prstGeom>
          <a:solidFill xmlns:a="http://schemas.openxmlformats.org/drawingml/2006/main">
            <a:srgbClr val="0BA5EC"/>
          </a:solidFill>
          <a:ln xmlns:a="http://schemas.openxmlformats.org/drawingml/2006/main" w="0">
            <a:solidFill>
              <a:srgbClr val="0BA5EC"/>
            </a:solidFill>
          </a:ln>
        </p:spPr>
      </p:sp>
      <p:sp>
        <p:nvSpPr>
          <p:cNvPr id="3" name="">
            <a:extLst xmlns:a="http://schemas.openxmlformats.org/drawingml/2006/main">
              <a:ext uri="{FF2B5EF4-FFF2-40B4-BE49-F238E27FC236}">
                <a16:creationId xmlns:a16="http://schemas.microsoft.com/office/drawing/2014/main" id="{92B562C1-444F-49E5-A2DA-DC41B0A724B7}"/>
              </a:ext>
            </a:extLst>
          </p:cNvPr>
          <p:cNvSpPr>
            <a:spLocks xmlns:a="http://schemas.openxmlformats.org/drawingml/2006/main" noGrp="1"/>
          </p:cNvSpPr>
          <p:nvPr/>
        </p:nvSpPr>
        <p:spPr>
          <a:xfrm xmlns:a="http://schemas.openxmlformats.org/drawingml/2006/main">
            <a:off x="685800" y="1257300"/>
            <a:ext cx="933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75" b="1">
                <a:solidFill>
                  <a:srgbClr val="FFFFFF"/>
                </a:solidFill>
                <a:latin typeface="Microsoft YaHei"/>
                <a:ea typeface="Microsoft YaHei"/>
                <a:cs typeface="Microsoft YaHei"/>
              </a:defRPr>
            </a:pPr>
            <a:r>
              <a:rPr sz="3675" b="1">
                <a:solidFill>
                  <a:srgbClr val="FFFFFF"/>
                </a:solidFill>
                <a:latin typeface="Microsoft YaHei"/>
                <a:ea typeface="Microsoft YaHei"/>
                <a:cs typeface="Microsoft YaHei"/>
              </a:rPr>
              <a:t>Monte Carlo Simulation for</a:t>
            </a:r>
          </a:p>
          <a:p xmlns:a="http://schemas.openxmlformats.org/drawingml/2006/main">
            <a:pPr algn="l">
              <a:defRPr sz="3675" b="1">
                <a:solidFill>
                  <a:srgbClr val="FFFFFF"/>
                </a:solidFill>
                <a:latin typeface="Microsoft YaHei"/>
                <a:ea typeface="Microsoft YaHei"/>
                <a:cs typeface="Microsoft YaHei"/>
              </a:defRPr>
            </a:pPr>
            <a:r>
              <a:rPr sz="3675" b="1">
                <a:solidFill>
                  <a:srgbClr val="FFFFFF"/>
                </a:solidFill>
                <a:latin typeface="Microsoft YaHei"/>
                <a:ea typeface="Microsoft YaHei"/>
                <a:cs typeface="Microsoft YaHei"/>
              </a:rPr>
              <a:t>AOD–SLM Atom Transfer</a:t>
            </a:r>
          </a:p>
        </p:txBody>
      </p:sp>
      <p:sp>
        <p:nvSpPr>
          <p:cNvPr id="4" name="">
            <a:extLst xmlns:a="http://schemas.openxmlformats.org/drawingml/2006/main">
              <a:ext uri="{FF2B5EF4-FFF2-40B4-BE49-F238E27FC236}">
                <a16:creationId xmlns:a16="http://schemas.microsoft.com/office/drawing/2014/main" id="{9ED78203-E517-475B-BE7B-8DDCE4FC053F}"/>
              </a:ext>
            </a:extLst>
          </p:cNvPr>
          <p:cNvSpPr>
            <a:spLocks xmlns:a="http://schemas.openxmlformats.org/drawingml/2006/main" noGrp="1"/>
          </p:cNvSpPr>
          <p:nvPr/>
        </p:nvSpPr>
        <p:spPr>
          <a:xfrm xmlns:a="http://schemas.openxmlformats.org/drawingml/2006/main">
            <a:off x="723900" y="3143250"/>
            <a:ext cx="895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B9D7F5"/>
                </a:solidFill>
                <a:latin typeface="Microsoft YaHei"/>
                <a:ea typeface="Microsoft YaHei"/>
                <a:cs typeface="Microsoft YaHei"/>
              </a:defRPr>
            </a:pPr>
            <a:r>
              <a:rPr sz="1875" b="0">
                <a:solidFill>
                  <a:srgbClr val="B9D7F5"/>
                </a:solidFill>
                <a:latin typeface="Microsoft YaHei"/>
                <a:ea typeface="Microsoft YaHei"/>
                <a:cs typeface="Microsoft YaHei"/>
              </a:rPr>
              <a:t>Step-by-step Calculation and Evidence Report</a:t>
            </a:r>
          </a:p>
        </p:txBody>
      </p:sp>
      <p:sp>
        <p:nvSpPr>
          <p:cNvPr id="5" name="">
            <a:extLst xmlns:a="http://schemas.openxmlformats.org/drawingml/2006/main">
              <a:ext uri="{FF2B5EF4-FFF2-40B4-BE49-F238E27FC236}">
                <a16:creationId xmlns:a16="http://schemas.microsoft.com/office/drawing/2014/main" id="{6D23254B-8F4E-4A44-9C70-751A28A78E4B}"/>
              </a:ext>
            </a:extLst>
          </p:cNvPr>
          <p:cNvSpPr>
            <a:spLocks xmlns:a="http://schemas.openxmlformats.org/drawingml/2006/main" noGrp="1"/>
          </p:cNvSpPr>
          <p:nvPr/>
        </p:nvSpPr>
        <p:spPr>
          <a:xfrm xmlns:a="http://schemas.openxmlformats.org/drawingml/2006/main">
            <a:off x="723900" y="3771900"/>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D0DFF0"/>
                </a:solidFill>
                <a:latin typeface="Microsoft YaHei"/>
                <a:ea typeface="Microsoft YaHei"/>
                <a:cs typeface="Microsoft YaHei"/>
              </a:defRPr>
            </a:pPr>
            <a:r>
              <a:rPr sz="1500" b="0">
                <a:solidFill>
                  <a:srgbClr val="D0DFF0"/>
                </a:solidFill>
                <a:latin typeface="Microsoft YaHei"/>
                <a:ea typeface="Microsoft YaHei"/>
                <a:cs typeface="Microsoft YaHei"/>
              </a:rPr>
              <a:t>从论文数据、物理输入到存活曲线、敏感性扫描和验收</a:t>
            </a:r>
          </a:p>
        </p:txBody>
      </p:sp>
      <p:sp>
        <p:nvSpPr>
          <p:cNvPr id="6" name="">
            <a:extLst xmlns:a="http://schemas.openxmlformats.org/drawingml/2006/main">
              <a:ext uri="{FF2B5EF4-FFF2-40B4-BE49-F238E27FC236}">
                <a16:creationId xmlns:a16="http://schemas.microsoft.com/office/drawing/2014/main" id="{82B0B8AB-B2B6-466C-8311-3DCD7A06F6B1}"/>
              </a:ext>
            </a:extLst>
          </p:cNvPr>
          <p:cNvSpPr>
            <a:spLocks xmlns:a="http://schemas.openxmlformats.org/drawingml/2006/main" noGrp="1"/>
          </p:cNvSpPr>
          <p:nvPr/>
        </p:nvSpPr>
        <p:spPr>
          <a:xfrm xmlns:a="http://schemas.openxmlformats.org/drawingml/2006/main">
            <a:off x="723900" y="59436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98AFC7"/>
                </a:solidFill>
                <a:latin typeface="Microsoft YaHei"/>
                <a:ea typeface="Microsoft YaHei"/>
                <a:cs typeface="Microsoft YaHei"/>
              </a:defRPr>
            </a:pPr>
            <a:r>
              <a:rPr sz="1200" b="0">
                <a:solidFill>
                  <a:srgbClr val="98AFC7"/>
                </a:solidFill>
                <a:latin typeface="Microsoft YaHei"/>
                <a:ea typeface="Microsoft YaHei"/>
                <a:cs typeface="Microsoft YaHei"/>
              </a:rPr>
              <a:t>MonteCarloForQC / monte-carlo-for-aodslm</a:t>
            </a:r>
          </a:p>
        </p:txBody>
      </p:sp>
      <p:sp>
        <p:nvSpPr>
          <p:cNvPr id="7" name="">
            <a:extLst xmlns:a="http://schemas.openxmlformats.org/drawingml/2006/main">
              <a:ext uri="{FF2B5EF4-FFF2-40B4-BE49-F238E27FC236}">
                <a16:creationId xmlns:a16="http://schemas.microsoft.com/office/drawing/2014/main" id="{476F1F4A-F281-42C9-A5C5-45A7BD31ED24}"/>
              </a:ext>
            </a:extLst>
          </p:cNvPr>
          <p:cNvSpPr>
            <a:spLocks xmlns:a="http://schemas.openxmlformats.org/drawingml/2006/main" noGrp="1"/>
          </p:cNvSpPr>
          <p:nvPr/>
        </p:nvSpPr>
        <p:spPr>
          <a:xfrm xmlns:a="http://schemas.openxmlformats.org/drawingml/2006/main">
            <a:off x="723900" y="62293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8AFC7"/>
                </a:solidFill>
                <a:latin typeface="Microsoft YaHei"/>
                <a:ea typeface="Microsoft YaHei"/>
                <a:cs typeface="Microsoft YaHei"/>
              </a:defRPr>
            </a:pPr>
            <a:r>
              <a:rPr sz="1050" b="0">
                <a:solidFill>
                  <a:srgbClr val="98AFC7"/>
                </a:solidFill>
                <a:latin typeface="Microsoft YaHei"/>
                <a:ea typeface="Microsoft YaHei"/>
                <a:cs typeface="Microsoft YaHei"/>
              </a:rPr>
              <a:t>2026-09-11  ·  gpt_level4_5  ·  commit 5e55bb0</a:t>
            </a:r>
          </a:p>
        </p:txBody>
      </p:sp>
      <p:sp>
        <p:nvSpPr>
          <p:cNvPr id="8" name="">
            <a:extLst xmlns:a="http://schemas.openxmlformats.org/drawingml/2006/main">
              <a:ext uri="{FF2B5EF4-FFF2-40B4-BE49-F238E27FC236}">
                <a16:creationId xmlns:a16="http://schemas.microsoft.com/office/drawing/2014/main" id="{34B03F7E-456B-47D7-B11B-BDC4112DE58E}"/>
              </a:ext>
            </a:extLst>
          </p:cNvPr>
          <p:cNvSpPr>
            <a:spLocks xmlns:a="http://schemas.openxmlformats.org/drawingml/2006/main" noGrp="1"/>
          </p:cNvSpPr>
          <p:nvPr/>
        </p:nvSpPr>
        <p:spPr>
          <a:xfrm xmlns:a="http://schemas.openxmlformats.org/drawingml/2006/main">
            <a:off x="9525000" y="5924550"/>
            <a:ext cx="1962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800" b="1">
                <a:solidFill>
                  <a:srgbClr val="0BA5EC"/>
                </a:solidFill>
                <a:latin typeface="Microsoft YaHei"/>
                <a:ea typeface="Microsoft YaHei"/>
                <a:cs typeface="Microsoft YaHei"/>
              </a:defRPr>
            </a:pPr>
            <a:r>
              <a:rPr sz="1800" b="1">
                <a:solidFill>
                  <a:srgbClr val="0BA5EC"/>
                </a:solidFill>
                <a:latin typeface="Microsoft YaHei"/>
                <a:ea typeface="Microsoft YaHei"/>
                <a:cs typeface="Microsoft YaHei"/>
              </a:rPr>
              <a:t>Fig. 6c / 6d</a:t>
            </a:r>
          </a:p>
        </p:txBody>
      </p:sp>
    </p:spTree>
    <p:extLst>
      <p:ext uri="{BB962C8B-B14F-4D97-AF65-F5344CB8AC3E}">
        <p14:creationId xmlns:p14="http://schemas.microsoft.com/office/powerpoint/2010/main" val="361084072"/>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A2B49ED-2459-4E8F-9904-674ED2AAD5D7}"/>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本次工作的计算顺序</a:t>
            </a:r>
          </a:p>
        </p:txBody>
      </p:sp>
      <p:sp>
        <p:nvSpPr>
          <p:cNvPr id="2" name="">
            <a:extLst xmlns:a="http://schemas.openxmlformats.org/drawingml/2006/main">
              <a:ext uri="{FF2B5EF4-FFF2-40B4-BE49-F238E27FC236}">
                <a16:creationId xmlns:a16="http://schemas.microsoft.com/office/drawing/2014/main" id="{4783B2AC-916A-4D89-859A-CDD3F37378AA}"/>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D09B4E8B-C81B-4244-A161-AFABF22352C1}"/>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每一步都回答五个问题：算什么、输入什么、怎样计算、输出什么、结论能走多远</a:t>
            </a:r>
          </a:p>
        </p:txBody>
      </p:sp>
      <p:graphicFrame>
        <p:nvGraphicFramePr>
          <p:cNvPr id="14" name=""/>
          <p:cNvGraphicFramePr/>
          <p:nvPr/>
        </p:nvGraphicFramePr>
        <p:xfrm>
          <a:off xmlns:a="http://schemas.openxmlformats.org/drawingml/2006/main" x="609600" y="1295400"/>
          <a:ext xmlns:a="http://schemas.openxmlformats.org/drawingml/2006/main" cx="5238750" cy="4267200"/>
        </p:xfrm>
        <a:graphic xmlns:a="http://schemas.openxmlformats.org/drawingml/2006/main">
          <a:graphicData uri="http://schemas.openxmlformats.org/drawingml/2006/table">
            <a:tbl>
              <a:tblPr/>
              <a:tblGrid>
                <a:gridCol w="801221"/>
                <a:gridCol w="2896721"/>
                <a:gridCol w="1540809"/>
              </a:tblGrid>
              <a:tr h="533400">
                <a:tc>
                  <a:txBody>
                    <a:bodyPr>
                      <a:noAutofit/>
                    </a:bodyPr>
                    <a:lstStyle/>
                    <a:p>
                      <a:pPr algn="l"/>
                      <a:r>
                        <a:rPr sz="1125" b="1">
                          <a:solidFill>
                            <a:srgbClr val="FFFFFF"/>
                          </a:solidFill>
                          <a:latin typeface="Microsoft YaHei"/>
                          <a:ea typeface="Microsoft YaHei"/>
                          <a:cs typeface="Microsoft YaHei"/>
                        </a:rPr>
                        <a:t>Step</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计算内容</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主要输出</a:t>
                      </a:r>
                    </a:p>
                  </a:txBody>
                  <a:tcPr marL="91440" marR="91440" marT="45720" marB="45720" anchor="ctr">
                    <a:solidFill>
                      <a:srgbClr val="102A43"/>
                    </a:solidFill>
                  </a:tcPr>
                </a:tc>
              </a:tr>
              <a:tr h="533400">
                <a:tc>
                  <a:txBody>
                    <a:bodyPr>
                      <a:noAutofit/>
                    </a:bodyPr>
                    <a:lstStyle/>
                    <a:p>
                      <a:pPr algn="l"/>
                      <a:r>
                        <a:rPr sz="1200" b="0">
                          <a:solidFill>
                            <a:srgbClr val="344054"/>
                          </a:solidFill>
                          <a:latin typeface="Microsoft YaHei"/>
                          <a:ea typeface="Microsoft YaHei"/>
                          <a:cs typeface="Microsoft YaHei"/>
                        </a:rPr>
                        <a:t>01</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固定论文曲线和验收口径</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Paper S(n)</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02</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建立 Cs 与双高斯阱模型</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U(x,t), F(x,t)</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03</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生成初态、位点散布和加热</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每个 shot 的参数</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04</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构造手工 pick-up / drop-off</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c(t), D(t)</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05</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逐时间步传播单个原子</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x(t), v(t), E(t)</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06</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连续重复 60 次单程转移</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S(n), loss stage</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07</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运行仓库 baseline</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默认参考曲线</a:t>
                      </a:r>
                    </a:p>
                  </a:txBody>
                  <a:tcPr marL="91440" marR="91440" marT="45720" marB="45720" anchor="ctr">
                    <a:solidFill>
                      <a:srgbClr val="FFFFFF"/>
                    </a:solidFill>
                  </a:tcPr>
                </a:tc>
              </a:tr>
            </a:tbl>
          </a:graphicData>
        </a:graphic>
      </p:graphicFrame>
      <p:graphicFrame>
        <p:nvGraphicFramePr>
          <p:cNvPr id="15" name=""/>
          <p:cNvGraphicFramePr/>
          <p:nvPr/>
        </p:nvGraphicFramePr>
        <p:xfrm>
          <a:off xmlns:a="http://schemas.openxmlformats.org/drawingml/2006/main" x="6343650" y="1295400"/>
          <a:ext xmlns:a="http://schemas.openxmlformats.org/drawingml/2006/main" cx="5238750" cy="4267200"/>
        </p:xfrm>
        <a:graphic xmlns:a="http://schemas.openxmlformats.org/drawingml/2006/main">
          <a:graphicData uri="http://schemas.openxmlformats.org/drawingml/2006/table">
            <a:tbl>
              <a:tblPr/>
              <a:tblGrid>
                <a:gridCol w="801221"/>
                <a:gridCol w="2896721"/>
                <a:gridCol w="1540809"/>
              </a:tblGrid>
              <a:tr h="533400">
                <a:tc>
                  <a:txBody>
                    <a:bodyPr>
                      <a:noAutofit/>
                    </a:bodyPr>
                    <a:lstStyle/>
                    <a:p>
                      <a:pPr algn="l"/>
                      <a:r>
                        <a:rPr sz="1125" b="1">
                          <a:solidFill>
                            <a:srgbClr val="FFFFFF"/>
                          </a:solidFill>
                          <a:latin typeface="Microsoft YaHei"/>
                          <a:ea typeface="Microsoft YaHei"/>
                          <a:cs typeface="Microsoft YaHei"/>
                        </a:rPr>
                        <a:t>Step</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计算内容</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主要输出</a:t>
                      </a:r>
                    </a:p>
                  </a:txBody>
                  <a:tcPr marL="91440" marR="91440" marT="45720" marB="45720" anchor="ctr">
                    <a:solidFill>
                      <a:srgbClr val="102A43"/>
                    </a:solidFill>
                  </a:tcPr>
                </a:tc>
              </a:tr>
              <a:tr h="533400">
                <a:tc>
                  <a:txBody>
                    <a:bodyPr>
                      <a:noAutofit/>
                    </a:bodyPr>
                    <a:lstStyle/>
                    <a:p>
                      <a:pPr algn="l"/>
                      <a:r>
                        <a:rPr sz="1200" b="0">
                          <a:solidFill>
                            <a:srgbClr val="344054"/>
                          </a:solidFill>
                          <a:latin typeface="Microsoft YaHei"/>
                          <a:ea typeface="Microsoft YaHei"/>
                          <a:cs typeface="Microsoft YaHei"/>
                        </a:rPr>
                        <a:t>08</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设计单因素敏感性扫描</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T / RIN / alignment / jitter</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09</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读取扫描端点并比较机制</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S(60) sensitivity</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10</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检查 T40 的完整时长曲线</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200 / 400 / 600 µs</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11</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数字化 Fig. 6c ML 波形</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15-node trajectory</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12</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比较 Manual 与 ML</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endpoint gain</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13</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分离位置和深度贡献</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2×2 ablation</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14–15</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逐点验收并界定模型边界</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curve error / gaps</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75D37A7-43E5-405E-9B26-DB0C2328E3ED}"/>
              </a:ext>
            </a:extLst>
          </p:cNvPr>
          <p:cNvSpPr>
            <a:spLocks xmlns:a="http://schemas.openxmlformats.org/drawingml/2006/main" noGrp="1"/>
          </p:cNvSpPr>
          <p:nvPr/>
        </p:nvSpPr>
        <p:spPr>
          <a:xfrm xmlns:a="http://schemas.openxmlformats.org/drawingml/2006/main">
            <a:off x="609600" y="5772150"/>
            <a:ext cx="10972800" cy="476250"/>
          </a:xfrm>
          <a:prstGeom xmlns:a="http://schemas.openxmlformats.org/drawingml/2006/main" prst="roundRect">
            <a:avLst>
              <a:gd name="adj" fmla="val 16000"/>
            </a:avLst>
          </a:prstGeom>
          <a:solidFill xmlns:a="http://schemas.openxmlformats.org/drawingml/2006/main">
            <a:srgbClr val="EFF8FF"/>
          </a:solidFill>
          <a:ln xmlns:a="http://schemas.openxmlformats.org/drawingml/2006/main" w="9525">
            <a:solidFill>
              <a:srgbClr val="B2DDFF"/>
            </a:solidFill>
          </a:ln>
        </p:spPr>
      </p:sp>
      <p:sp>
        <p:nvSpPr>
          <p:cNvPr id="7" name="">
            <a:extLst xmlns:a="http://schemas.openxmlformats.org/drawingml/2006/main">
              <a:ext uri="{FF2B5EF4-FFF2-40B4-BE49-F238E27FC236}">
                <a16:creationId xmlns:a16="http://schemas.microsoft.com/office/drawing/2014/main" id="{D47B6E76-76F1-4E7D-849C-937BE16D9997}"/>
              </a:ext>
            </a:extLst>
          </p:cNvPr>
          <p:cNvSpPr>
            <a:spLocks xmlns:a="http://schemas.openxmlformats.org/drawingml/2006/main" noGrp="1"/>
          </p:cNvSpPr>
          <p:nvPr/>
        </p:nvSpPr>
        <p:spPr>
          <a:xfrm xmlns:a="http://schemas.openxmlformats.org/drawingml/2006/main">
            <a:off x="838200" y="5876925"/>
            <a:ext cx="1051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1570EF"/>
                </a:solidFill>
                <a:latin typeface="Microsoft YaHei"/>
                <a:ea typeface="Microsoft YaHei"/>
                <a:cs typeface="Microsoft YaHei"/>
              </a:defRPr>
            </a:pPr>
            <a:r>
              <a:rPr sz="1163" b="0">
                <a:solidFill>
                  <a:srgbClr val="1570EF"/>
                </a:solidFill>
                <a:latin typeface="Microsoft YaHei"/>
                <a:ea typeface="Microsoft YaHei"/>
                <a:cs typeface="Microsoft YaHei"/>
              </a:rPr>
              <a:t>工作边界：仓库已经包含 Monte Carlo 原始输出。本报告复核这些输出，并重新计算单调论文参考线、逐点偏差和验收指标，没有为匹配论文重新拟合参数。</a:t>
            </a:r>
          </a:p>
        </p:txBody>
      </p:sp>
      <p:sp>
        <p:nvSpPr>
          <p:cNvPr id="8" name="">
            <a:extLst xmlns:a="http://schemas.openxmlformats.org/drawingml/2006/main">
              <a:ext uri="{FF2B5EF4-FFF2-40B4-BE49-F238E27FC236}">
                <a16:creationId xmlns:a16="http://schemas.microsoft.com/office/drawing/2014/main" id="{5E6E99E4-C051-4426-B39C-4787DF6E1BFC}"/>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1EA04683-DC74-44BC-B77E-8B9F6FD87199}"/>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 2C README · configs · Stage-1 outputs · report recomputation</a:t>
            </a:r>
          </a:p>
        </p:txBody>
      </p:sp>
      <p:sp>
        <p:nvSpPr>
          <p:cNvPr id="10" name="">
            <a:extLst xmlns:a="http://schemas.openxmlformats.org/drawingml/2006/main">
              <a:ext uri="{FF2B5EF4-FFF2-40B4-BE49-F238E27FC236}">
                <a16:creationId xmlns:a16="http://schemas.microsoft.com/office/drawing/2014/main" id="{A81CBC23-D771-4D29-96C7-E220D8FC7479}"/>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02</a:t>
            </a:r>
          </a:p>
        </p:txBody>
      </p:sp>
    </p:spTree>
    <p:extLst>
      <p:ext uri="{BB962C8B-B14F-4D97-AF65-F5344CB8AC3E}">
        <p14:creationId xmlns:p14="http://schemas.microsoft.com/office/powerpoint/2010/main" val="1132030292"/>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A308B3A-8352-41C8-A456-1DA68B651B0B}"/>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01</a:t>
            </a:r>
          </a:p>
        </p:txBody>
      </p:sp>
      <p:sp>
        <p:nvSpPr>
          <p:cNvPr id="2" name="">
            <a:extLst xmlns:a="http://schemas.openxmlformats.org/drawingml/2006/main">
              <a:ext uri="{FF2B5EF4-FFF2-40B4-BE49-F238E27FC236}">
                <a16:creationId xmlns:a16="http://schemas.microsoft.com/office/drawing/2014/main" id="{270DBB8A-D43A-453B-8015-4F7B8189C185}"/>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论文数据与验收目标</a:t>
            </a:r>
          </a:p>
        </p:txBody>
      </p:sp>
      <p:sp>
        <p:nvSpPr>
          <p:cNvPr id="3" name="">
            <a:extLst xmlns:a="http://schemas.openxmlformats.org/drawingml/2006/main">
              <a:ext uri="{FF2B5EF4-FFF2-40B4-BE49-F238E27FC236}">
                <a16:creationId xmlns:a16="http://schemas.microsoft.com/office/drawing/2014/main" id="{234BB7CC-2ADF-41DB-AD6C-C5A71441DE49}"/>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08FAB965-0A39-4830-89E9-9BBF36E70CB3}"/>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先固定比较对象，再查看模拟结果；Fig. 6d survival 与 IRB fidelity 分开处理</a:t>
            </a:r>
          </a:p>
        </p:txBody>
      </p:sp>
      <p:sp>
        <p:nvSpPr>
          <p:cNvPr id="5" name="">
            <a:extLst xmlns:a="http://schemas.openxmlformats.org/drawingml/2006/main">
              <a:ext uri="{FF2B5EF4-FFF2-40B4-BE49-F238E27FC236}">
                <a16:creationId xmlns:a16="http://schemas.microsoft.com/office/drawing/2014/main" id="{1EA0BC21-AE4E-4E73-95DA-DB98D3FF7AB2}"/>
              </a:ext>
            </a:extLst>
          </p:cNvPr>
          <p:cNvSpPr>
            <a:spLocks xmlns:a="http://schemas.openxmlformats.org/drawingml/2006/main" noGrp="1"/>
          </p:cNvSpPr>
          <p:nvPr/>
        </p:nvSpPr>
        <p:spPr>
          <a:xfrm xmlns:a="http://schemas.openxmlformats.org/drawingml/2006/main">
            <a:off x="609600" y="1257300"/>
            <a:ext cx="6000750" cy="4229100"/>
          </a:xfrm>
          <a:prstGeom xmlns:a="http://schemas.openxmlformats.org/drawingml/2006/main" prst="roundRect">
            <a:avLst>
              <a:gd name="adj" fmla="val 1802"/>
            </a:avLst>
          </a:prstGeom>
          <a:solidFill xmlns:a="http://schemas.openxmlformats.org/drawingml/2006/main">
            <a:srgbClr val="FFFFFF"/>
          </a:solidFill>
          <a:ln xmlns:a="http://schemas.openxmlformats.org/drawingml/2006/main" w="9525">
            <a:solidFill>
              <a:srgbClr val="EAECF0"/>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210a18eece14af7"/>
          <a:srcRect xmlns:a="http://schemas.openxmlformats.org/drawingml/2006/main" l="2898" t="0" r="2898" b="0"/>
          <a:stretch xmlns:a="http://schemas.openxmlformats.org/drawingml/2006/main">
            <a:fillRect l="0" t="0" r="0" b="0"/>
          </a:stretch>
        </p:blipFill>
        <p:spPr>
          <a:xfrm xmlns:a="http://schemas.openxmlformats.org/drawingml/2006/main">
            <a:off x="781050" y="1428750"/>
            <a:ext cx="5657850" cy="3886200"/>
          </a:xfrm>
          <a:prstGeom xmlns:a="http://schemas.openxmlformats.org/drawingml/2006/main" prst="roundRect">
            <a:avLst>
              <a:gd name="adj" fmla="val 2451"/>
            </a:avLst>
          </a:prstGeom>
        </p:spPr>
      </p:pic>
      <p:sp>
        <p:nvSpPr>
          <p:cNvPr id="7" name="">
            <a:extLst xmlns:a="http://schemas.openxmlformats.org/drawingml/2006/main">
              <a:ext uri="{FF2B5EF4-FFF2-40B4-BE49-F238E27FC236}">
                <a16:creationId xmlns:a16="http://schemas.microsoft.com/office/drawing/2014/main" id="{2B4B1907-FC75-40E0-AEC2-EA957BD34F8B}"/>
              </a:ext>
            </a:extLst>
          </p:cNvPr>
          <p:cNvSpPr>
            <a:spLocks xmlns:a="http://schemas.openxmlformats.org/drawingml/2006/main" noGrp="1"/>
          </p:cNvSpPr>
          <p:nvPr/>
        </p:nvSpPr>
        <p:spPr>
          <a:xfrm xmlns:a="http://schemas.openxmlformats.org/drawingml/2006/main">
            <a:off x="6915150" y="1257300"/>
            <a:ext cx="4667250" cy="4229100"/>
          </a:xfrm>
          <a:prstGeom xmlns:a="http://schemas.openxmlformats.org/drawingml/2006/main" prst="roundRect">
            <a:avLst>
              <a:gd name="adj" fmla="val 1802"/>
            </a:avLst>
          </a:prstGeom>
          <a:solidFill xmlns:a="http://schemas.openxmlformats.org/drawingml/2006/main">
            <a:srgbClr val="FFFFFF"/>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D399D53C-E539-4276-8111-60A3116A5487}"/>
              </a:ext>
            </a:extLst>
          </p:cNvPr>
          <p:cNvSpPr>
            <a:spLocks xmlns:a="http://schemas.openxmlformats.org/drawingml/2006/main" noGrp="1"/>
          </p:cNvSpPr>
          <p:nvPr/>
        </p:nvSpPr>
        <p:spPr>
          <a:xfrm xmlns:a="http://schemas.openxmlformats.org/drawingml/2006/main">
            <a:off x="7162800" y="14668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需要复现的四条曲线</a:t>
            </a:r>
          </a:p>
        </p:txBody>
      </p:sp>
      <p:graphicFrame>
        <p:nvGraphicFramePr>
          <p:cNvPr id="25" name=""/>
          <p:cNvGraphicFramePr/>
          <p:nvPr/>
        </p:nvGraphicFramePr>
        <p:xfrm>
          <a:off xmlns:a="http://schemas.openxmlformats.org/drawingml/2006/main" x="7162800" y="1924050"/>
          <a:ext xmlns:a="http://schemas.openxmlformats.org/drawingml/2006/main" cx="4171950" cy="2247900"/>
        </p:xfrm>
        <a:graphic xmlns:a="http://schemas.openxmlformats.org/drawingml/2006/main">
          <a:graphicData uri="http://schemas.openxmlformats.org/drawingml/2006/table">
            <a:tbl>
              <a:tblPr/>
              <a:tblGrid>
                <a:gridCol w="2029597"/>
                <a:gridCol w="1127554"/>
                <a:gridCol w="1014799"/>
              </a:tblGrid>
              <a:tr h="449580">
                <a:tc>
                  <a:txBody>
                    <a:bodyPr>
                      <a:noAutofit/>
                    </a:bodyPr>
                    <a:lstStyle/>
                    <a:p>
                      <a:pPr algn="l"/>
                      <a:r>
                        <a:rPr sz="1050" b="1">
                          <a:solidFill>
                            <a:srgbClr val="FFFFFF"/>
                          </a:solidFill>
                          <a:latin typeface="Microsoft YaHei"/>
                          <a:ea typeface="Microsoft YaHei"/>
                          <a:cs typeface="Microsoft YaHei"/>
                        </a:rPr>
                        <a:t>Trajectory</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Endpoint</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Paper</a:t>
                      </a:r>
                    </a:p>
                  </a:txBody>
                  <a:tcPr marL="91440" marR="91440" marT="45720" marB="45720" anchor="ctr">
                    <a:solidFill>
                      <a:srgbClr val="102A43"/>
                    </a:solidFill>
                  </a:tcPr>
                </a:tc>
              </a:tr>
              <a:tr h="449580">
                <a:tc>
                  <a:txBody>
                    <a:bodyPr>
                      <a:noAutofit/>
                    </a:bodyPr>
                    <a:lstStyle/>
                    <a:p>
                      <a:pPr algn="l"/>
                      <a:r>
                        <a:rPr sz="1125" b="0">
                          <a:solidFill>
                            <a:srgbClr val="344054"/>
                          </a:solidFill>
                          <a:latin typeface="Microsoft YaHei"/>
                          <a:ea typeface="Microsoft YaHei"/>
                          <a:cs typeface="Microsoft YaHei"/>
                        </a:rPr>
                        <a:t>Manual 200 µs</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S(31)</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0.334</a:t>
                      </a:r>
                    </a:p>
                  </a:txBody>
                  <a:tcPr marL="91440" marR="91440" marT="45720" marB="45720" anchor="ctr">
                    <a:solidFill>
                      <a:srgbClr val="FFFFFF"/>
                    </a:solidFill>
                  </a:tcPr>
                </a:tc>
              </a:tr>
              <a:tr h="449580">
                <a:tc>
                  <a:txBody>
                    <a:bodyPr>
                      <a:noAutofit/>
                    </a:bodyPr>
                    <a:lstStyle/>
                    <a:p>
                      <a:pPr algn="l"/>
                      <a:r>
                        <a:rPr sz="1125" b="0">
                          <a:solidFill>
                            <a:srgbClr val="344054"/>
                          </a:solidFill>
                          <a:latin typeface="Microsoft YaHei"/>
                          <a:ea typeface="Microsoft YaHei"/>
                          <a:cs typeface="Microsoft YaHei"/>
                        </a:rPr>
                        <a:t>Manual 400 µs</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0.414</a:t>
                      </a:r>
                    </a:p>
                  </a:txBody>
                  <a:tcPr marL="91440" marR="91440" marT="45720" marB="45720" anchor="ctr">
                    <a:solidFill>
                      <a:srgbClr val="F8FAFC"/>
                    </a:solidFill>
                  </a:tcPr>
                </a:tc>
              </a:tr>
              <a:tr h="449580">
                <a:tc>
                  <a:txBody>
                    <a:bodyPr>
                      <a:noAutofit/>
                    </a:bodyPr>
                    <a:lstStyle/>
                    <a:p>
                      <a:pPr algn="l"/>
                      <a:r>
                        <a:rPr sz="1125" b="0">
                          <a:solidFill>
                            <a:srgbClr val="344054"/>
                          </a:solidFill>
                          <a:latin typeface="Microsoft YaHei"/>
                          <a:ea typeface="Microsoft YaHei"/>
                          <a:cs typeface="Microsoft YaHei"/>
                        </a:rPr>
                        <a:t>Manual 600 µs</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S(60)</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0.573</a:t>
                      </a:r>
                    </a:p>
                  </a:txBody>
                  <a:tcPr marL="91440" marR="91440" marT="45720" marB="45720" anchor="ctr">
                    <a:solidFill>
                      <a:srgbClr val="FFFFFF"/>
                    </a:solidFill>
                  </a:tcPr>
                </a:tc>
              </a:tr>
              <a:tr h="449580">
                <a:tc>
                  <a:txBody>
                    <a:bodyPr>
                      <a:noAutofit/>
                    </a:bodyPr>
                    <a:lstStyle/>
                    <a:p>
                      <a:pPr algn="l"/>
                      <a:r>
                        <a:rPr sz="1125" b="0">
                          <a:solidFill>
                            <a:srgbClr val="344054"/>
                          </a:solidFill>
                          <a:latin typeface="Microsoft YaHei"/>
                          <a:ea typeface="Microsoft YaHei"/>
                          <a:cs typeface="Microsoft YaHei"/>
                        </a:rPr>
                        <a:t>ML 400 µs</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0.663</a:t>
                      </a:r>
                    </a:p>
                  </a:txBody>
                  <a:tcPr marL="91440" marR="91440" marT="45720" marB="45720" anchor="ctr">
                    <a:solidFill>
                      <a:srgbClr val="F8FAFC"/>
                    </a:solidFill>
                  </a:tcPr>
                </a:tc>
              </a:tr>
            </a:tbl>
          </a:graphicData>
        </a:graphic>
      </p:graphicFrame>
      <p:sp>
        <p:nvSpPr>
          <p:cNvPr id="10" name="">
            <a:extLst xmlns:a="http://schemas.openxmlformats.org/drawingml/2006/main">
              <a:ext uri="{FF2B5EF4-FFF2-40B4-BE49-F238E27FC236}">
                <a16:creationId xmlns:a16="http://schemas.microsoft.com/office/drawing/2014/main" id="{07658C4D-BC37-450A-A05E-B3055B76F487}"/>
              </a:ext>
            </a:extLst>
          </p:cNvPr>
          <p:cNvSpPr>
            <a:spLocks xmlns:a="http://schemas.openxmlformats.org/drawingml/2006/main" noGrp="1"/>
          </p:cNvSpPr>
          <p:nvPr/>
        </p:nvSpPr>
        <p:spPr>
          <a:xfrm xmlns:a="http://schemas.openxmlformats.org/drawingml/2006/main">
            <a:off x="7162800" y="4419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计算口径</a:t>
            </a:r>
          </a:p>
        </p:txBody>
      </p:sp>
      <p:sp>
        <p:nvSpPr>
          <p:cNvPr id="11" name="">
            <a:extLst xmlns:a="http://schemas.openxmlformats.org/drawingml/2006/main">
              <a:ext uri="{FF2B5EF4-FFF2-40B4-BE49-F238E27FC236}">
                <a16:creationId xmlns:a16="http://schemas.microsoft.com/office/drawing/2014/main" id="{74E0EAF5-FDF5-47D5-84BD-88B19408FF62}"/>
              </a:ext>
            </a:extLst>
          </p:cNvPr>
          <p:cNvSpPr>
            <a:spLocks xmlns:a="http://schemas.openxmlformats.org/drawingml/2006/main" noGrp="1"/>
          </p:cNvSpPr>
          <p:nvPr/>
        </p:nvSpPr>
        <p:spPr>
          <a:xfrm xmlns:a="http://schemas.openxmlformats.org/drawingml/2006/main">
            <a:off x="7162800" y="4743450"/>
            <a:ext cx="4114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S(n) 是完成至少 n 次单程转移后仍满足束缚条件的原子比例。200 µs 曲线只在 n≤31 可辨。</a:t>
            </a:r>
          </a:p>
        </p:txBody>
      </p:sp>
      <p:sp>
        <p:nvSpPr>
          <p:cNvPr id="12" name="">
            <a:extLst xmlns:a="http://schemas.openxmlformats.org/drawingml/2006/main">
              <a:ext uri="{FF2B5EF4-FFF2-40B4-BE49-F238E27FC236}">
                <a16:creationId xmlns:a16="http://schemas.microsoft.com/office/drawing/2014/main" id="{489E08C1-B76E-4D6D-BFAC-22A2091CB522}"/>
              </a:ext>
            </a:extLst>
          </p:cNvPr>
          <p:cNvSpPr>
            <a:spLocks xmlns:a="http://schemas.openxmlformats.org/drawingml/2006/main" noGrp="1"/>
          </p:cNvSpPr>
          <p:nvPr/>
        </p:nvSpPr>
        <p:spPr>
          <a:xfrm xmlns:a="http://schemas.openxmlformats.org/drawingml/2006/main">
            <a:off x="609600" y="5676900"/>
            <a:ext cx="10972800" cy="571500"/>
          </a:xfrm>
          <a:prstGeom xmlns:a="http://schemas.openxmlformats.org/drawingml/2006/main" prst="roundRect">
            <a:avLst>
              <a:gd name="adj" fmla="val 13333"/>
            </a:avLst>
          </a:prstGeom>
          <a:solidFill xmlns:a="http://schemas.openxmlformats.org/drawingml/2006/main">
            <a:srgbClr val="FEF3F2"/>
          </a:solidFill>
          <a:ln xmlns:a="http://schemas.openxmlformats.org/drawingml/2006/main" w="9525">
            <a:solidFill>
              <a:srgbClr val="FECDCA"/>
            </a:solidFill>
          </a:ln>
        </p:spPr>
      </p:sp>
      <p:sp>
        <p:nvSpPr>
          <p:cNvPr id="13" name="">
            <a:extLst xmlns:a="http://schemas.openxmlformats.org/drawingml/2006/main">
              <a:ext uri="{FF2B5EF4-FFF2-40B4-BE49-F238E27FC236}">
                <a16:creationId xmlns:a16="http://schemas.microsoft.com/office/drawing/2014/main" id="{F246C5F4-38BB-4F71-936F-68519815428A}"/>
              </a:ext>
            </a:extLst>
          </p:cNvPr>
          <p:cNvSpPr>
            <a:spLocks xmlns:a="http://schemas.openxmlformats.org/drawingml/2006/main" noGrp="1"/>
          </p:cNvSpPr>
          <p:nvPr/>
        </p:nvSpPr>
        <p:spPr>
          <a:xfrm xmlns:a="http://schemas.openxmlformats.org/drawingml/2006/main">
            <a:off x="838200" y="580072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D92D20"/>
                </a:solidFill>
                <a:latin typeface="Microsoft YaHei"/>
                <a:ea typeface="Microsoft YaHei"/>
                <a:cs typeface="Microsoft YaHei"/>
              </a:defRPr>
            </a:pPr>
            <a:r>
              <a:rPr sz="1200" b="0">
                <a:solidFill>
                  <a:srgbClr val="D92D20"/>
                </a:solidFill>
                <a:latin typeface="Microsoft YaHei"/>
                <a:ea typeface="Microsoft YaHei"/>
                <a:cs typeface="Microsoft YaHei"/>
              </a:rPr>
              <a:t>验收标准：模拟曲线逐点落入论文数字化曲线 ±0.02。报告保留原始 CSV，并用稳定锚点生成单调参考线，避免把标记边缘像素解释成存活率振荡。</a:t>
            </a:r>
          </a:p>
        </p:txBody>
      </p:sp>
      <p:sp>
        <p:nvSpPr>
          <p:cNvPr id="14" name="">
            <a:extLst xmlns:a="http://schemas.openxmlformats.org/drawingml/2006/main">
              <a:ext uri="{FF2B5EF4-FFF2-40B4-BE49-F238E27FC236}">
                <a16:creationId xmlns:a16="http://schemas.microsoft.com/office/drawing/2014/main" id="{74D59B70-A11F-490B-8470-1609486BC69B}"/>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5" name="">
            <a:extLst xmlns:a="http://schemas.openxmlformats.org/drawingml/2006/main">
              <a:ext uri="{FF2B5EF4-FFF2-40B4-BE49-F238E27FC236}">
                <a16:creationId xmlns:a16="http://schemas.microsoft.com/office/drawing/2014/main" id="{6683A7FF-964A-4AE5-AAE5-667C174824DB}"/>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fig6d_parameters.md · fig6d_survival_digitized.csv · digitize_fig6d.py</a:t>
            </a:r>
          </a:p>
        </p:txBody>
      </p:sp>
      <p:sp>
        <p:nvSpPr>
          <p:cNvPr id="16" name="">
            <a:extLst xmlns:a="http://schemas.openxmlformats.org/drawingml/2006/main">
              <a:ext uri="{FF2B5EF4-FFF2-40B4-BE49-F238E27FC236}">
                <a16:creationId xmlns:a16="http://schemas.microsoft.com/office/drawing/2014/main" id="{664DE448-416E-4F87-99DA-B98F76CC00B7}"/>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03</a:t>
            </a:r>
          </a:p>
        </p:txBody>
      </p:sp>
    </p:spTree>
    <p:extLst>
      <p:ext uri="{BB962C8B-B14F-4D97-AF65-F5344CB8AC3E}">
        <p14:creationId xmlns:p14="http://schemas.microsoft.com/office/powerpoint/2010/main" val="445044120"/>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044F0A3-2FD5-41BF-B3DB-EF0025CABB8D}"/>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02</a:t>
            </a:r>
          </a:p>
        </p:txBody>
      </p:sp>
      <p:sp>
        <p:nvSpPr>
          <p:cNvPr id="2" name="">
            <a:extLst xmlns:a="http://schemas.openxmlformats.org/drawingml/2006/main">
              <a:ext uri="{FF2B5EF4-FFF2-40B4-BE49-F238E27FC236}">
                <a16:creationId xmlns:a16="http://schemas.microsoft.com/office/drawing/2014/main" id="{95A1B7AC-F864-4EF0-85FC-65657C6D243A}"/>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Cs 原子与双高斯阱模型</a:t>
            </a:r>
          </a:p>
        </p:txBody>
      </p:sp>
      <p:sp>
        <p:nvSpPr>
          <p:cNvPr id="3" name="">
            <a:extLst xmlns:a="http://schemas.openxmlformats.org/drawingml/2006/main">
              <a:ext uri="{FF2B5EF4-FFF2-40B4-BE49-F238E27FC236}">
                <a16:creationId xmlns:a16="http://schemas.microsoft.com/office/drawing/2014/main" id="{74408F69-B1E8-4F8C-88E4-84C10B893E1B}"/>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0AC13326-9F46-44A5-B8DD-8614A2762CC5}"/>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本步计算任意时间和位置的势能 U(x,t)、力 F(x,t)，为后续轨迹积分提供输入</a:t>
            </a:r>
          </a:p>
        </p:txBody>
      </p:sp>
      <p:sp>
        <p:nvSpPr>
          <p:cNvPr id="5" name="">
            <a:extLst xmlns:a="http://schemas.openxmlformats.org/drawingml/2006/main">
              <a:ext uri="{FF2B5EF4-FFF2-40B4-BE49-F238E27FC236}">
                <a16:creationId xmlns:a16="http://schemas.microsoft.com/office/drawing/2014/main" id="{8C66393F-F6BF-4B73-A131-7DBFA728CFC4}"/>
              </a:ext>
            </a:extLst>
          </p:cNvPr>
          <p:cNvSpPr>
            <a:spLocks xmlns:a="http://schemas.openxmlformats.org/drawingml/2006/main" noGrp="1"/>
          </p:cNvSpPr>
          <p:nvPr/>
        </p:nvSpPr>
        <p:spPr>
          <a:xfrm xmlns:a="http://schemas.openxmlformats.org/drawingml/2006/main">
            <a:off x="609600" y="1257300"/>
            <a:ext cx="4171950" cy="4248150"/>
          </a:xfrm>
          <a:prstGeom xmlns:a="http://schemas.openxmlformats.org/drawingml/2006/main" prst="roundRect">
            <a:avLst>
              <a:gd name="adj" fmla="val 1826"/>
            </a:avLst>
          </a:prstGeom>
          <a:solidFill xmlns:a="http://schemas.openxmlformats.org/drawingml/2006/main">
            <a:srgbClr val="FFFFFF"/>
          </a:solidFill>
          <a:ln xmlns:a="http://schemas.openxmlformats.org/drawingml/2006/main" w="9525">
            <a:solidFill>
              <a:srgbClr val="EAECF0"/>
            </a:solidFill>
          </a:ln>
        </p:spPr>
      </p:sp>
      <p:sp>
        <p:nvSpPr>
          <p:cNvPr id="6" name="">
            <a:extLst xmlns:a="http://schemas.openxmlformats.org/drawingml/2006/main">
              <a:ext uri="{FF2B5EF4-FFF2-40B4-BE49-F238E27FC236}">
                <a16:creationId xmlns:a16="http://schemas.microsoft.com/office/drawing/2014/main" id="{0147F508-58B8-4E1F-961E-D70DC688D5EF}"/>
              </a:ext>
            </a:extLst>
          </p:cNvPr>
          <p:cNvSpPr>
            <a:spLocks xmlns:a="http://schemas.openxmlformats.org/drawingml/2006/main" noGrp="1"/>
          </p:cNvSpPr>
          <p:nvPr/>
        </p:nvSpPr>
        <p:spPr>
          <a:xfrm xmlns:a="http://schemas.openxmlformats.org/drawingml/2006/main">
            <a:off x="876300" y="15049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一维时变势</a:t>
            </a:r>
          </a:p>
        </p:txBody>
      </p:sp>
      <p:sp>
        <p:nvSpPr>
          <p:cNvPr id="7" name="">
            <a:extLst xmlns:a="http://schemas.openxmlformats.org/drawingml/2006/main">
              <a:ext uri="{FF2B5EF4-FFF2-40B4-BE49-F238E27FC236}">
                <a16:creationId xmlns:a16="http://schemas.microsoft.com/office/drawing/2014/main" id="{10AC5B41-E785-49D8-8757-B92D1FD5F334}"/>
              </a:ext>
            </a:extLst>
          </p:cNvPr>
          <p:cNvSpPr>
            <a:spLocks xmlns:a="http://schemas.openxmlformats.org/drawingml/2006/main" noGrp="1"/>
          </p:cNvSpPr>
          <p:nvPr/>
        </p:nvSpPr>
        <p:spPr>
          <a:xfrm xmlns:a="http://schemas.openxmlformats.org/drawingml/2006/main">
            <a:off x="876300" y="2038350"/>
            <a:ext cx="3638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1570EF"/>
                </a:solidFill>
                <a:latin typeface="Microsoft YaHei"/>
                <a:ea typeface="Microsoft YaHei"/>
                <a:cs typeface="Microsoft YaHei"/>
              </a:defRPr>
            </a:pPr>
            <a:r>
              <a:rPr sz="1650" b="1">
                <a:solidFill>
                  <a:srgbClr val="1570EF"/>
                </a:solidFill>
                <a:latin typeface="Microsoft YaHei"/>
                <a:ea typeface="Microsoft YaHei"/>
                <a:cs typeface="Microsoft YaHei"/>
              </a:rPr>
              <a:t>U(x,t) = −D(t) exp[−2(x−c(t))² / w²]</a:t>
            </a:r>
          </a:p>
        </p:txBody>
      </p:sp>
      <p:sp>
        <p:nvSpPr>
          <p:cNvPr id="8" name="">
            <a:extLst xmlns:a="http://schemas.openxmlformats.org/drawingml/2006/main">
              <a:ext uri="{FF2B5EF4-FFF2-40B4-BE49-F238E27FC236}">
                <a16:creationId xmlns:a16="http://schemas.microsoft.com/office/drawing/2014/main" id="{0FBADC45-3BC3-40DF-A6BF-7748764EED09}"/>
              </a:ext>
            </a:extLst>
          </p:cNvPr>
          <p:cNvSpPr>
            <a:spLocks xmlns:a="http://schemas.openxmlformats.org/drawingml/2006/main" noGrp="1"/>
          </p:cNvSpPr>
          <p:nvPr/>
        </p:nvSpPr>
        <p:spPr>
          <a:xfrm xmlns:a="http://schemas.openxmlformats.org/drawingml/2006/main">
            <a:off x="876300" y="2705100"/>
            <a:ext cx="3638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E9384"/>
                </a:solidFill>
                <a:latin typeface="Microsoft YaHei"/>
                <a:ea typeface="Microsoft YaHei"/>
                <a:cs typeface="Microsoft YaHei"/>
              </a:defRPr>
            </a:pPr>
            <a:r>
              <a:rPr sz="1575" b="1">
                <a:solidFill>
                  <a:srgbClr val="0E9384"/>
                </a:solidFill>
                <a:latin typeface="Microsoft YaHei"/>
                <a:ea typeface="Microsoft YaHei"/>
                <a:cs typeface="Microsoft YaHei"/>
              </a:rPr>
              <a:t>F(x,t) = −∂U/∂x</a:t>
            </a:r>
          </a:p>
        </p:txBody>
      </p:sp>
      <p:sp>
        <p:nvSpPr>
          <p:cNvPr id="9" name="">
            <a:extLst xmlns:a="http://schemas.openxmlformats.org/drawingml/2006/main">
              <a:ext uri="{FF2B5EF4-FFF2-40B4-BE49-F238E27FC236}">
                <a16:creationId xmlns:a16="http://schemas.microsoft.com/office/drawing/2014/main" id="{897B3C9D-7123-4D9C-B5C1-C6838E942D35}"/>
              </a:ext>
            </a:extLst>
          </p:cNvPr>
          <p:cNvSpPr>
            <a:spLocks xmlns:a="http://schemas.openxmlformats.org/drawingml/2006/main" noGrp="1"/>
          </p:cNvSpPr>
          <p:nvPr/>
        </p:nvSpPr>
        <p:spPr>
          <a:xfrm xmlns:a="http://schemas.openxmlformats.org/drawingml/2006/main">
            <a:off x="876300" y="3352800"/>
            <a:ext cx="3638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SLM 势和 AOD 势在同一坐标轴上相加。SLM 固定在 x=0；AOD 的中心 c(t) 和深度 D(t) 随控制波形变化。</a:t>
            </a:r>
          </a:p>
        </p:txBody>
      </p:sp>
      <p:sp>
        <p:nvSpPr>
          <p:cNvPr id="10" name="">
            <a:extLst xmlns:a="http://schemas.openxmlformats.org/drawingml/2006/main">
              <a:ext uri="{FF2B5EF4-FFF2-40B4-BE49-F238E27FC236}">
                <a16:creationId xmlns:a16="http://schemas.microsoft.com/office/drawing/2014/main" id="{EF1D072D-D08F-46AC-8889-EBC315E86849}"/>
              </a:ext>
            </a:extLst>
          </p:cNvPr>
          <p:cNvSpPr>
            <a:spLocks xmlns:a="http://schemas.openxmlformats.org/drawingml/2006/main" noGrp="1"/>
          </p:cNvSpPr>
          <p:nvPr/>
        </p:nvSpPr>
        <p:spPr>
          <a:xfrm xmlns:a="http://schemas.openxmlformats.org/drawingml/2006/main">
            <a:off x="876300" y="4419600"/>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模型输出</a:t>
            </a:r>
          </a:p>
        </p:txBody>
      </p:sp>
      <p:sp>
        <p:nvSpPr>
          <p:cNvPr id="11" name="">
            <a:extLst xmlns:a="http://schemas.openxmlformats.org/drawingml/2006/main">
              <a:ext uri="{FF2B5EF4-FFF2-40B4-BE49-F238E27FC236}">
                <a16:creationId xmlns:a16="http://schemas.microsoft.com/office/drawing/2014/main" id="{A0C15C49-FC75-461F-9A58-D548C37DD58D}"/>
              </a:ext>
            </a:extLst>
          </p:cNvPr>
          <p:cNvSpPr>
            <a:spLocks xmlns:a="http://schemas.openxmlformats.org/drawingml/2006/main" noGrp="1"/>
          </p:cNvSpPr>
          <p:nvPr/>
        </p:nvSpPr>
        <p:spPr>
          <a:xfrm xmlns:a="http://schemas.openxmlformats.org/drawingml/2006/main">
            <a:off x="876300" y="4762500"/>
            <a:ext cx="3638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每个时间点的总势能、总力、AOD/SLM 单阱能量，以及后续束缚判定需要的参考阱深。</a:t>
            </a:r>
          </a:p>
        </p:txBody>
      </p:sp>
      <p:sp>
        <p:nvSpPr>
          <p:cNvPr id="12" name="">
            <a:extLst xmlns:a="http://schemas.openxmlformats.org/drawingml/2006/main">
              <a:ext uri="{FF2B5EF4-FFF2-40B4-BE49-F238E27FC236}">
                <a16:creationId xmlns:a16="http://schemas.microsoft.com/office/drawing/2014/main" id="{84C343E3-FAA1-4713-9AEC-E666EAA2CE62}"/>
              </a:ext>
            </a:extLst>
          </p:cNvPr>
          <p:cNvSpPr>
            <a:spLocks xmlns:a="http://schemas.openxmlformats.org/drawingml/2006/main" noGrp="1"/>
          </p:cNvSpPr>
          <p:nvPr/>
        </p:nvSpPr>
        <p:spPr>
          <a:xfrm xmlns:a="http://schemas.openxmlformats.org/drawingml/2006/main">
            <a:off x="5086350" y="1257300"/>
            <a:ext cx="6496050" cy="4248150"/>
          </a:xfrm>
          <a:prstGeom xmlns:a="http://schemas.openxmlformats.org/drawingml/2006/main" prst="roundRect">
            <a:avLst>
              <a:gd name="adj" fmla="val 1794"/>
            </a:avLst>
          </a:prstGeom>
          <a:solidFill xmlns:a="http://schemas.openxmlformats.org/drawingml/2006/main">
            <a:srgbClr val="FFFFFF"/>
          </a:solidFill>
          <a:ln xmlns:a="http://schemas.openxmlformats.org/drawingml/2006/main" w="9525">
            <a:solidFill>
              <a:srgbClr val="EAECF0"/>
            </a:solidFill>
          </a:ln>
        </p:spPr>
      </p:sp>
      <p:sp>
        <p:nvSpPr>
          <p:cNvPr id="13" name="">
            <a:extLst xmlns:a="http://schemas.openxmlformats.org/drawingml/2006/main">
              <a:ext uri="{FF2B5EF4-FFF2-40B4-BE49-F238E27FC236}">
                <a16:creationId xmlns:a16="http://schemas.microsoft.com/office/drawing/2014/main" id="{A51CB035-26B2-4045-95EC-AC08D09BBE1F}"/>
              </a:ext>
            </a:extLst>
          </p:cNvPr>
          <p:cNvSpPr>
            <a:spLocks xmlns:a="http://schemas.openxmlformats.org/drawingml/2006/main" noGrp="1"/>
          </p:cNvSpPr>
          <p:nvPr/>
        </p:nvSpPr>
        <p:spPr>
          <a:xfrm xmlns:a="http://schemas.openxmlformats.org/drawingml/2006/main">
            <a:off x="5353050" y="15049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固定物理输入</a:t>
            </a:r>
          </a:p>
        </p:txBody>
      </p:sp>
      <p:graphicFrame>
        <p:nvGraphicFramePr>
          <p:cNvPr id="33" name=""/>
          <p:cNvGraphicFramePr/>
          <p:nvPr/>
        </p:nvGraphicFramePr>
        <p:xfrm>
          <a:off xmlns:a="http://schemas.openxmlformats.org/drawingml/2006/main" x="5353050" y="1962150"/>
          <a:ext xmlns:a="http://schemas.openxmlformats.org/drawingml/2006/main" cx="5962650" cy="3067050"/>
        </p:xfrm>
        <a:graphic xmlns:a="http://schemas.openxmlformats.org/drawingml/2006/main">
          <a:graphicData uri="http://schemas.openxmlformats.org/drawingml/2006/table">
            <a:tbl>
              <a:tblPr/>
              <a:tblGrid>
                <a:gridCol w="1522379"/>
                <a:gridCol w="1268649"/>
                <a:gridCol w="1902973"/>
                <a:gridCol w="1268649"/>
              </a:tblGrid>
              <a:tr h="438150">
                <a:tc>
                  <a:txBody>
                    <a:bodyPr>
                      <a:noAutofit/>
                    </a:bodyPr>
                    <a:lstStyle/>
                    <a:p>
                      <a:pPr algn="l"/>
                      <a:r>
                        <a:rPr sz="1050"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Role</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Source</a:t>
                      </a:r>
                    </a:p>
                  </a:txBody>
                  <a:tcPr marL="91440" marR="91440" marT="45720" marB="45720" anchor="ctr">
                    <a:solidFill>
                      <a:srgbClr val="102A43"/>
                    </a:solidFill>
                  </a:tcPr>
                </a:tc>
              </a:tr>
              <a:tr h="438150">
                <a:tc>
                  <a:txBody>
                    <a:bodyPr>
                      <a:noAutofit/>
                    </a:bodyPr>
                    <a:lstStyle/>
                    <a:p>
                      <a:pPr algn="l"/>
                      <a:r>
                        <a:rPr sz="1125" b="0">
                          <a:solidFill>
                            <a:srgbClr val="344054"/>
                          </a:solidFill>
                          <a:latin typeface="Microsoft YaHei"/>
                          <a:ea typeface="Microsoft YaHei"/>
                          <a:cs typeface="Microsoft YaHei"/>
                        </a:rPr>
                        <a:t>Atom</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Cs-133</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质量 m</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config</a:t>
                      </a:r>
                    </a:p>
                  </a:txBody>
                  <a:tcPr marL="91440" marR="91440" marT="45720" marB="45720" anchor="ctr">
                    <a:solidFill>
                      <a:srgbClr val="FFFFFF"/>
                    </a:solidFill>
                  </a:tcPr>
                </a:tc>
              </a:tr>
              <a:tr h="438150">
                <a:tc>
                  <a:txBody>
                    <a:bodyPr>
                      <a:noAutofit/>
                    </a:bodyPr>
                    <a:lstStyle/>
                    <a:p>
                      <a:pPr algn="l"/>
                      <a:r>
                        <a:rPr sz="1125" b="0">
                          <a:solidFill>
                            <a:srgbClr val="344054"/>
                          </a:solidFill>
                          <a:latin typeface="Microsoft YaHei"/>
                          <a:ea typeface="Microsoft YaHei"/>
                          <a:cs typeface="Microsoft YaHei"/>
                        </a:rPr>
                        <a:t>SLM depth</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140 µK</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最终束缚阱</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r h="438150">
                <a:tc>
                  <a:txBody>
                    <a:bodyPr>
                      <a:noAutofit/>
                    </a:bodyPr>
                    <a:lstStyle/>
                    <a:p>
                      <a:pPr algn="l"/>
                      <a:r>
                        <a:rPr sz="1125" b="0">
                          <a:solidFill>
                            <a:srgbClr val="344054"/>
                          </a:solidFill>
                          <a:latin typeface="Microsoft YaHei"/>
                          <a:ea typeface="Microsoft YaHei"/>
                          <a:cs typeface="Microsoft YaHei"/>
                        </a:rPr>
                        <a:t>AOD depth</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280 µK</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移动束缚阱</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paper</a:t>
                      </a:r>
                    </a:p>
                  </a:txBody>
                  <a:tcPr marL="91440" marR="91440" marT="45720" marB="45720" anchor="ctr">
                    <a:solidFill>
                      <a:srgbClr val="FFFFFF"/>
                    </a:solidFill>
                  </a:tcPr>
                </a:tc>
              </a:tr>
              <a:tr h="438150">
                <a:tc>
                  <a:txBody>
                    <a:bodyPr>
                      <a:noAutofit/>
                    </a:bodyPr>
                    <a:lstStyle/>
                    <a:p>
                      <a:pPr algn="l"/>
                      <a:r>
                        <a:rPr sz="1125" b="0">
                          <a:solidFill>
                            <a:srgbClr val="344054"/>
                          </a:solidFill>
                          <a:latin typeface="Microsoft YaHei"/>
                          <a:ea typeface="Microsoft YaHei"/>
                          <a:cs typeface="Microsoft YaHei"/>
                        </a:rPr>
                        <a:t>SLM waist</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1.17 µm</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横向尺度 w</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r h="438150">
                <a:tc>
                  <a:txBody>
                    <a:bodyPr>
                      <a:noAutofit/>
                    </a:bodyPr>
                    <a:lstStyle/>
                    <a:p>
                      <a:pPr algn="l"/>
                      <a:r>
                        <a:rPr sz="1125" b="0">
                          <a:solidFill>
                            <a:srgbClr val="344054"/>
                          </a:solidFill>
                          <a:latin typeface="Microsoft YaHei"/>
                          <a:ea typeface="Microsoft YaHei"/>
                          <a:cs typeface="Microsoft YaHei"/>
                        </a:rPr>
                        <a:t>AOD waist</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1.17 µm</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当前取值</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38150">
                <a:tc>
                  <a:txBody>
                    <a:bodyPr>
                      <a:noAutofit/>
                    </a:bodyPr>
                    <a:lstStyle/>
                    <a:p>
                      <a:pPr algn="l"/>
                      <a:r>
                        <a:rPr sz="1125" b="0">
                          <a:solidFill>
                            <a:srgbClr val="344054"/>
                          </a:solidFill>
                          <a:latin typeface="Microsoft YaHei"/>
                          <a:ea typeface="Microsoft YaHei"/>
                          <a:cs typeface="Microsoft YaHei"/>
                        </a:rPr>
                        <a:t>Separation</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2.4 µm</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中心位移</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bl>
          </a:graphicData>
        </a:graphic>
      </p:graphicFrame>
      <p:sp>
        <p:nvSpPr>
          <p:cNvPr id="15" name="">
            <a:extLst xmlns:a="http://schemas.openxmlformats.org/drawingml/2006/main">
              <a:ext uri="{FF2B5EF4-FFF2-40B4-BE49-F238E27FC236}">
                <a16:creationId xmlns:a16="http://schemas.microsoft.com/office/drawing/2014/main" id="{48CD0FE8-D83D-4D98-9FB3-2419A3034212}"/>
              </a:ext>
            </a:extLst>
          </p:cNvPr>
          <p:cNvSpPr>
            <a:spLocks xmlns:a="http://schemas.openxmlformats.org/drawingml/2006/main" noGrp="1"/>
          </p:cNvSpPr>
          <p:nvPr/>
        </p:nvSpPr>
        <p:spPr>
          <a:xfrm xmlns:a="http://schemas.openxmlformats.org/drawingml/2006/main">
            <a:off x="609600" y="5715000"/>
            <a:ext cx="10972800" cy="533400"/>
          </a:xfrm>
          <a:prstGeom xmlns:a="http://schemas.openxmlformats.org/drawingml/2006/main" prst="roundRect">
            <a:avLst>
              <a:gd name="adj" fmla="val 14286"/>
            </a:avLst>
          </a:prstGeom>
          <a:solidFill xmlns:a="http://schemas.openxmlformats.org/drawingml/2006/main">
            <a:srgbClr val="FFF6ED"/>
          </a:solidFill>
          <a:ln xmlns:a="http://schemas.openxmlformats.org/drawingml/2006/main" w="9525">
            <a:solidFill>
              <a:srgbClr val="FEDF89"/>
            </a:solidFill>
          </a:ln>
        </p:spPr>
      </p:sp>
      <p:sp>
        <p:nvSpPr>
          <p:cNvPr id="16" name="">
            <a:extLst xmlns:a="http://schemas.openxmlformats.org/drawingml/2006/main">
              <a:ext uri="{FF2B5EF4-FFF2-40B4-BE49-F238E27FC236}">
                <a16:creationId xmlns:a16="http://schemas.microsoft.com/office/drawing/2014/main" id="{FA028C94-399F-4677-B880-C01E9C24190D}"/>
              </a:ext>
            </a:extLst>
          </p:cNvPr>
          <p:cNvSpPr>
            <a:spLocks xmlns:a="http://schemas.openxmlformats.org/drawingml/2006/main" noGrp="1"/>
          </p:cNvSpPr>
          <p:nvPr/>
        </p:nvSpPr>
        <p:spPr>
          <a:xfrm xmlns:a="http://schemas.openxmlformats.org/drawingml/2006/main">
            <a:off x="838200" y="5838825"/>
            <a:ext cx="10515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F79009"/>
                </a:solidFill>
                <a:latin typeface="Microsoft YaHei"/>
                <a:ea typeface="Microsoft YaHei"/>
                <a:cs typeface="Microsoft YaHei"/>
              </a:defRPr>
            </a:pPr>
            <a:r>
              <a:rPr sz="1200" b="0">
                <a:solidFill>
                  <a:srgbClr val="F79009"/>
                </a:solidFill>
                <a:latin typeface="Microsoft YaHei"/>
                <a:ea typeface="Microsoft YaHei"/>
                <a:cs typeface="Microsoft YaHei"/>
              </a:rPr>
              <a:t>边界：Fig. 6d 主比较只使用这一维理想高斯势。仓库中的 2D、3D 和量子模块没有自动并入本计算。</a:t>
            </a:r>
          </a:p>
        </p:txBody>
      </p:sp>
      <p:sp>
        <p:nvSpPr>
          <p:cNvPr id="17" name="">
            <a:extLst xmlns:a="http://schemas.openxmlformats.org/drawingml/2006/main">
              <a:ext uri="{FF2B5EF4-FFF2-40B4-BE49-F238E27FC236}">
                <a16:creationId xmlns:a16="http://schemas.microsoft.com/office/drawing/2014/main" id="{5409E665-92E0-4433-A5FD-592B80978029}"/>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8" name="">
            <a:extLst xmlns:a="http://schemas.openxmlformats.org/drawingml/2006/main">
              <a:ext uri="{FF2B5EF4-FFF2-40B4-BE49-F238E27FC236}">
                <a16:creationId xmlns:a16="http://schemas.microsoft.com/office/drawing/2014/main" id="{AB467309-4215-4B17-9DD7-422FFD8F7107}"/>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level2c_pickup_survival.yaml · gaussian potential implementation</a:t>
            </a:r>
          </a:p>
        </p:txBody>
      </p:sp>
      <p:sp>
        <p:nvSpPr>
          <p:cNvPr id="19" name="">
            <a:extLst xmlns:a="http://schemas.openxmlformats.org/drawingml/2006/main">
              <a:ext uri="{FF2B5EF4-FFF2-40B4-BE49-F238E27FC236}">
                <a16:creationId xmlns:a16="http://schemas.microsoft.com/office/drawing/2014/main" id="{59DD0579-84DC-4E3F-8C1A-6BD3EDEBF49A}"/>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04</a:t>
            </a:r>
          </a:p>
        </p:txBody>
      </p:sp>
    </p:spTree>
    <p:extLst>
      <p:ext uri="{BB962C8B-B14F-4D97-AF65-F5344CB8AC3E}">
        <p14:creationId xmlns:p14="http://schemas.microsoft.com/office/powerpoint/2010/main" val="1216402978"/>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5777559-552E-4407-90A6-B80FECE3A426}"/>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03</a:t>
            </a:r>
          </a:p>
        </p:txBody>
      </p:sp>
      <p:sp>
        <p:nvSpPr>
          <p:cNvPr id="2" name="">
            <a:extLst xmlns:a="http://schemas.openxmlformats.org/drawingml/2006/main">
              <a:ext uri="{FF2B5EF4-FFF2-40B4-BE49-F238E27FC236}">
                <a16:creationId xmlns:a16="http://schemas.microsoft.com/office/drawing/2014/main" id="{DE86C0AF-918E-4ED1-92E4-96BA0DEF3C7C}"/>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初态采样、位点散布与平均加热</a:t>
            </a:r>
          </a:p>
        </p:txBody>
      </p:sp>
      <p:sp>
        <p:nvSpPr>
          <p:cNvPr id="3" name="">
            <a:extLst xmlns:a="http://schemas.openxmlformats.org/drawingml/2006/main">
              <a:ext uri="{FF2B5EF4-FFF2-40B4-BE49-F238E27FC236}">
                <a16:creationId xmlns:a16="http://schemas.microsoft.com/office/drawing/2014/main" id="{075C9556-8006-4D1A-B323-2C89F380DC0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A5A70B28-9FFA-444D-BDA7-5CC2E7927E2B}"/>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本步为每个 shot 生成初始 x、v 和固定的位点参数；σ 表示高斯分布的标准差</a:t>
            </a:r>
          </a:p>
        </p:txBody>
      </p:sp>
      <p:graphicFrame>
        <p:nvGraphicFramePr>
          <p:cNvPr id="19" name=""/>
          <p:cNvGraphicFramePr/>
          <p:nvPr/>
        </p:nvGraphicFramePr>
        <p:xfrm>
          <a:off xmlns:a="http://schemas.openxmlformats.org/drawingml/2006/main" x="609600" y="1257300"/>
          <a:ext xmlns:a="http://schemas.openxmlformats.org/drawingml/2006/main" cx="10972800" cy="3676650"/>
        </p:xfrm>
        <a:graphic xmlns:a="http://schemas.openxmlformats.org/drawingml/2006/main">
          <a:graphicData uri="http://schemas.openxmlformats.org/drawingml/2006/table">
            <a:tbl>
              <a:tblPr/>
              <a:tblGrid>
                <a:gridCol w="2079812"/>
                <a:gridCol w="2079812"/>
                <a:gridCol w="4589929"/>
                <a:gridCol w="2223247"/>
              </a:tblGrid>
              <a:tr h="459581">
                <a:tc>
                  <a:txBody>
                    <a:bodyPr>
                      <a:noAutofit/>
                    </a:bodyPr>
                    <a:lstStyle/>
                    <a:p>
                      <a:pPr algn="l"/>
                      <a:r>
                        <a:rPr sz="1050"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Baseline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How the code uses it</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Provenance</a:t>
                      </a:r>
                    </a:p>
                  </a:txBody>
                  <a:tcPr marL="91440" marR="91440" marT="45720" marB="45720" anchor="ctr">
                    <a:solidFill>
                      <a:srgbClr val="102A43"/>
                    </a:solidFill>
                  </a:tcPr>
                </a:tc>
              </a:tr>
              <a:tr h="459581">
                <a:tc>
                  <a:txBody>
                    <a:bodyPr>
                      <a:noAutofit/>
                    </a:bodyPr>
                    <a:lstStyle/>
                    <a:p>
                      <a:pPr algn="l"/>
                      <a:r>
                        <a:rPr sz="1050" b="0">
                          <a:solidFill>
                            <a:srgbClr val="344054"/>
                          </a:solidFill>
                          <a:latin typeface="Microsoft YaHei"/>
                          <a:ea typeface="Microsoft YaHei"/>
                          <a:cs typeface="Microsoft YaHei"/>
                        </a:rPr>
                        <a:t>Initial T</a:t>
                      </a:r>
                    </a:p>
                  </a:txBody>
                  <a:tcPr marL="91440" marR="91440" marT="45720" marB="45720" anchor="ctr">
                    <a:solidFill>
                      <a:srgbClr val="EFF8FF"/>
                    </a:solidFill>
                  </a:tcPr>
                </a:tc>
                <a:tc>
                  <a:txBody>
                    <a:bodyPr>
                      <a:noAutofit/>
                    </a:bodyPr>
                    <a:lstStyle/>
                    <a:p>
                      <a:pPr algn="l"/>
                      <a:r>
                        <a:rPr sz="1050" b="0">
                          <a:solidFill>
                            <a:srgbClr val="344054"/>
                          </a:solidFill>
                          <a:latin typeface="Microsoft YaHei"/>
                          <a:ea typeface="Microsoft YaHei"/>
                          <a:cs typeface="Microsoft YaHei"/>
                        </a:rPr>
                        <a:t>5 µK</a:t>
                      </a:r>
                    </a:p>
                  </a:txBody>
                  <a:tcPr marL="91440" marR="91440" marT="45720" marB="45720" anchor="ctr">
                    <a:solidFill>
                      <a:srgbClr val="EFF8FF"/>
                    </a:solidFill>
                  </a:tcPr>
                </a:tc>
                <a:tc>
                  <a:txBody>
                    <a:bodyPr>
                      <a:noAutofit/>
                    </a:bodyPr>
                    <a:lstStyle/>
                    <a:p>
                      <a:pPr algn="l"/>
                      <a:r>
                        <a:rPr sz="1050" b="0">
                          <a:solidFill>
                            <a:srgbClr val="344054"/>
                          </a:solidFill>
                          <a:latin typeface="Microsoft YaHei"/>
                          <a:ea typeface="Microsoft YaHei"/>
                          <a:cs typeface="Microsoft YaHei"/>
                        </a:rPr>
                        <a:t>只决定 t=0 的 x、v 热分布；E&lt;0 才接受</a:t>
                      </a:r>
                    </a:p>
                  </a:txBody>
                  <a:tcPr marL="91440" marR="91440" marT="45720" marB="45720" anchor="ctr">
                    <a:solidFill>
                      <a:srgbClr val="EFF8FF"/>
                    </a:solidFill>
                  </a:tcPr>
                </a:tc>
                <a:tc>
                  <a:txBody>
                    <a:bodyPr>
                      <a:noAutofit/>
                    </a:bodyPr>
                    <a:lstStyle/>
                    <a:p>
                      <a:pPr algn="l"/>
                      <a:r>
                        <a:rPr sz="1050" b="0">
                          <a:solidFill>
                            <a:srgbClr val="344054"/>
                          </a:solidFill>
                          <a:latin typeface="Microsoft YaHei"/>
                          <a:ea typeface="Microsoft YaHei"/>
                          <a:cs typeface="Microsoft YaHei"/>
                        </a:rPr>
                        <a:t>uncalibrated</a:t>
                      </a:r>
                    </a:p>
                  </a:txBody>
                  <a:tcPr marL="91440" marR="91440" marT="45720" marB="45720" anchor="ctr">
                    <a:solidFill>
                      <a:srgbClr val="EFF8FF"/>
                    </a:solidFill>
                  </a:tcPr>
                </a:tc>
              </a:tr>
              <a:tr h="459581">
                <a:tc>
                  <a:txBody>
                    <a:bodyPr>
                      <a:noAutofit/>
                    </a:bodyPr>
                    <a:lstStyle/>
                    <a:p>
                      <a:pPr algn="l"/>
                      <a:r>
                        <a:rPr sz="1050" b="0">
                          <a:solidFill>
                            <a:srgbClr val="344054"/>
                          </a:solidFill>
                          <a:latin typeface="Microsoft YaHei"/>
                          <a:ea typeface="Microsoft YaHei"/>
                          <a:cs typeface="Microsoft YaHei"/>
                        </a:rPr>
                        <a:t>Static alignment 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0.05 µm</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每个 shot 抽一次，在 60 次转移中固定</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assumed</a:t>
                      </a:r>
                    </a:p>
                  </a:txBody>
                  <a:tcPr marL="91440" marR="91440" marT="45720" marB="45720" anchor="ctr">
                    <a:solidFill>
                      <a:srgbClr val="F8FAFC"/>
                    </a:solidFill>
                  </a:tcPr>
                </a:tc>
              </a:tr>
              <a:tr h="459581">
                <a:tc>
                  <a:txBody>
                    <a:bodyPr>
                      <a:noAutofit/>
                    </a:bodyPr>
                    <a:lstStyle/>
                    <a:p>
                      <a:pPr algn="l"/>
                      <a:r>
                        <a:rPr sz="1050" b="0">
                          <a:solidFill>
                            <a:srgbClr val="344054"/>
                          </a:solidFill>
                          <a:latin typeface="Microsoft YaHei"/>
                          <a:ea typeface="Microsoft YaHei"/>
                          <a:cs typeface="Microsoft YaHei"/>
                        </a:rPr>
                        <a:t>Leg-wise jitter 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0.01 µm</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每个 pickup / wait / drop-off 段重新抽样</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59581">
                <a:tc>
                  <a:txBody>
                    <a:bodyPr>
                      <a:noAutofit/>
                    </a:bodyPr>
                    <a:lstStyle/>
                    <a:p>
                      <a:pPr algn="l"/>
                      <a:r>
                        <a:rPr sz="1050" b="0">
                          <a:solidFill>
                            <a:srgbClr val="344054"/>
                          </a:solidFill>
                          <a:latin typeface="Microsoft YaHei"/>
                          <a:ea typeface="Microsoft YaHei"/>
                          <a:cs typeface="Microsoft YaHei"/>
                        </a:rPr>
                        <a:t>SLM depth 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11.4%</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每个 shot 的乘性阱深散布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paper site spread</a:t>
                      </a:r>
                    </a:p>
                  </a:txBody>
                  <a:tcPr marL="91440" marR="91440" marT="45720" marB="45720" anchor="ctr">
                    <a:solidFill>
                      <a:srgbClr val="F8FAFC"/>
                    </a:solidFill>
                  </a:tcPr>
                </a:tc>
              </a:tr>
              <a:tr h="459581">
                <a:tc>
                  <a:txBody>
                    <a:bodyPr>
                      <a:noAutofit/>
                    </a:bodyPr>
                    <a:lstStyle/>
                    <a:p>
                      <a:pPr algn="l"/>
                      <a:r>
                        <a:rPr sz="1050" b="0">
                          <a:solidFill>
                            <a:srgbClr val="344054"/>
                          </a:solidFill>
                          <a:latin typeface="Microsoft YaHei"/>
                          <a:ea typeface="Microsoft YaHei"/>
                          <a:cs typeface="Microsoft YaHei"/>
                        </a:rPr>
                        <a:t>AOD depth / waist 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2% / 2%</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每个 shot 的乘性深度与束腰散布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59581">
                <a:tc>
                  <a:txBody>
                    <a:bodyPr>
                      <a:noAutofit/>
                    </a:bodyPr>
                    <a:lstStyle/>
                    <a:p>
                      <a:pPr algn="l"/>
                      <a:r>
                        <a:rPr sz="1050"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1×10⁻⁸ Hz⁻¹</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换算为确定性平均参量加热</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assumed</a:t>
                      </a:r>
                    </a:p>
                  </a:txBody>
                  <a:tcPr marL="91440" marR="91440" marT="45720" marB="45720" anchor="ctr">
                    <a:solidFill>
                      <a:srgbClr val="F8FAFC"/>
                    </a:solidFill>
                  </a:tcPr>
                </a:tc>
              </a:tr>
              <a:tr h="459581">
                <a:tc>
                  <a:txBody>
                    <a:bodyPr>
                      <a:noAutofit/>
                    </a:bodyPr>
                    <a:lstStyle/>
                    <a:p>
                      <a:pPr algn="l"/>
                      <a:r>
                        <a:rPr sz="1050" b="0">
                          <a:solidFill>
                            <a:srgbClr val="344054"/>
                          </a:solidFill>
                          <a:latin typeface="Microsoft YaHei"/>
                          <a:ea typeface="Microsoft YaHei"/>
                          <a:cs typeface="Microsoft YaHei"/>
                        </a:rPr>
                        <a:t>Recoil / pointing</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4.23 s⁻¹ / 1 pm² Hz⁻¹</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换算为每时间步注入能量</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model / assumed</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B36BE5F-078A-42C7-A9D6-2F8B325D0E45}"/>
              </a:ext>
            </a:extLst>
          </p:cNvPr>
          <p:cNvSpPr>
            <a:spLocks xmlns:a="http://schemas.openxmlformats.org/drawingml/2006/main" noGrp="1"/>
          </p:cNvSpPr>
          <p:nvPr/>
        </p:nvSpPr>
        <p:spPr>
          <a:xfrm xmlns:a="http://schemas.openxmlformats.org/drawingml/2006/main">
            <a:off x="609600" y="5162550"/>
            <a:ext cx="5257800" cy="1066800"/>
          </a:xfrm>
          <a:prstGeom xmlns:a="http://schemas.openxmlformats.org/drawingml/2006/main" prst="roundRect">
            <a:avLst>
              <a:gd name="adj" fmla="val 7143"/>
            </a:avLst>
          </a:prstGeom>
          <a:solidFill xmlns:a="http://schemas.openxmlformats.org/drawingml/2006/main">
            <a:srgbClr val="EFF8FF"/>
          </a:solidFill>
          <a:ln xmlns:a="http://schemas.openxmlformats.org/drawingml/2006/main" w="9525">
            <a:solidFill>
              <a:srgbClr val="B2DDFF"/>
            </a:solidFill>
          </a:ln>
        </p:spPr>
      </p:sp>
      <p:sp>
        <p:nvSpPr>
          <p:cNvPr id="7" name="">
            <a:extLst xmlns:a="http://schemas.openxmlformats.org/drawingml/2006/main">
              <a:ext uri="{FF2B5EF4-FFF2-40B4-BE49-F238E27FC236}">
                <a16:creationId xmlns:a16="http://schemas.microsoft.com/office/drawing/2014/main" id="{CF5B885D-524E-4EA2-9CC8-C1709E292527}"/>
              </a:ext>
            </a:extLst>
          </p:cNvPr>
          <p:cNvSpPr>
            <a:spLocks xmlns:a="http://schemas.openxmlformats.org/drawingml/2006/main" noGrp="1"/>
          </p:cNvSpPr>
          <p:nvPr/>
        </p:nvSpPr>
        <p:spPr>
          <a:xfrm xmlns:a="http://schemas.openxmlformats.org/drawingml/2006/main">
            <a:off x="838200" y="53340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70EF"/>
                </a:solidFill>
                <a:latin typeface="Microsoft YaHei"/>
                <a:ea typeface="Microsoft YaHei"/>
                <a:cs typeface="Microsoft YaHei"/>
              </a:defRPr>
            </a:pPr>
            <a:r>
              <a:rPr sz="1350" b="1">
                <a:solidFill>
                  <a:srgbClr val="1570EF"/>
                </a:solidFill>
                <a:latin typeface="Microsoft YaHei"/>
                <a:ea typeface="Microsoft YaHei"/>
                <a:cs typeface="Microsoft YaHei"/>
              </a:rPr>
              <a:t>初态计算</a:t>
            </a:r>
          </a:p>
        </p:txBody>
      </p:sp>
      <p:sp>
        <p:nvSpPr>
          <p:cNvPr id="8" name="">
            <a:extLst xmlns:a="http://schemas.openxmlformats.org/drawingml/2006/main">
              <a:ext uri="{FF2B5EF4-FFF2-40B4-BE49-F238E27FC236}">
                <a16:creationId xmlns:a16="http://schemas.microsoft.com/office/drawing/2014/main" id="{700722A2-C429-477A-9C78-938E55CDE965}"/>
              </a:ext>
            </a:extLst>
          </p:cNvPr>
          <p:cNvSpPr>
            <a:spLocks xmlns:a="http://schemas.openxmlformats.org/drawingml/2006/main" noGrp="1"/>
          </p:cNvSpPr>
          <p:nvPr/>
        </p:nvSpPr>
        <p:spPr>
          <a:xfrm xmlns:a="http://schemas.openxmlformats.org/drawingml/2006/main">
            <a:off x="838200" y="56578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x、v 先按 SLM 阱底的谐振近似采样，再用 E₀=½mv²+U_SLM(x)&lt;0 做束缚拒绝。转移开始后状态连续继承，不逐程重新热化。</a:t>
            </a:r>
          </a:p>
        </p:txBody>
      </p:sp>
      <p:sp>
        <p:nvSpPr>
          <p:cNvPr id="9" name="">
            <a:extLst xmlns:a="http://schemas.openxmlformats.org/drawingml/2006/main">
              <a:ext uri="{FF2B5EF4-FFF2-40B4-BE49-F238E27FC236}">
                <a16:creationId xmlns:a16="http://schemas.microsoft.com/office/drawing/2014/main" id="{241B6CDD-BC22-476E-8E72-C818CF0A74EF}"/>
              </a:ext>
            </a:extLst>
          </p:cNvPr>
          <p:cNvSpPr>
            <a:spLocks xmlns:a="http://schemas.openxmlformats.org/drawingml/2006/main" noGrp="1"/>
          </p:cNvSpPr>
          <p:nvPr/>
        </p:nvSpPr>
        <p:spPr>
          <a:xfrm xmlns:a="http://schemas.openxmlformats.org/drawingml/2006/main">
            <a:off x="6115050" y="5162550"/>
            <a:ext cx="5467350" cy="1066800"/>
          </a:xfrm>
          <a:prstGeom xmlns:a="http://schemas.openxmlformats.org/drawingml/2006/main" prst="roundRect">
            <a:avLst>
              <a:gd name="adj" fmla="val 7143"/>
            </a:avLst>
          </a:prstGeom>
          <a:solidFill xmlns:a="http://schemas.openxmlformats.org/drawingml/2006/main">
            <a:srgbClr val="FEF3F2"/>
          </a:solidFill>
          <a:ln xmlns:a="http://schemas.openxmlformats.org/drawingml/2006/main" w="9525">
            <a:solidFill>
              <a:srgbClr val="FECDCA"/>
            </a:solidFill>
          </a:ln>
        </p:spPr>
      </p:sp>
      <p:sp>
        <p:nvSpPr>
          <p:cNvPr id="10" name="">
            <a:extLst xmlns:a="http://schemas.openxmlformats.org/drawingml/2006/main">
              <a:ext uri="{FF2B5EF4-FFF2-40B4-BE49-F238E27FC236}">
                <a16:creationId xmlns:a16="http://schemas.microsoft.com/office/drawing/2014/main" id="{DFBD0E82-784B-4B9C-AB9D-4849C9AF99CA}"/>
              </a:ext>
            </a:extLst>
          </p:cNvPr>
          <p:cNvSpPr>
            <a:spLocks xmlns:a="http://schemas.openxmlformats.org/drawingml/2006/main" noGrp="1"/>
          </p:cNvSpPr>
          <p:nvPr/>
        </p:nvSpPr>
        <p:spPr>
          <a:xfrm xmlns:a="http://schemas.openxmlformats.org/drawingml/2006/main">
            <a:off x="6343650" y="533400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D92D20"/>
                </a:solidFill>
                <a:latin typeface="Microsoft YaHei"/>
                <a:ea typeface="Microsoft YaHei"/>
                <a:cs typeface="Microsoft YaHei"/>
              </a:defRPr>
            </a:pPr>
            <a:r>
              <a:rPr sz="1350" b="1">
                <a:solidFill>
                  <a:srgbClr val="D92D20"/>
                </a:solidFill>
                <a:latin typeface="Microsoft YaHei"/>
                <a:ea typeface="Microsoft YaHei"/>
                <a:cs typeface="Microsoft YaHei"/>
              </a:rPr>
              <a:t>当前未建模</a:t>
            </a:r>
          </a:p>
        </p:txBody>
      </p:sp>
      <p:sp>
        <p:nvSpPr>
          <p:cNvPr id="11" name="">
            <a:extLst xmlns:a="http://schemas.openxmlformats.org/drawingml/2006/main">
              <a:ext uri="{FF2B5EF4-FFF2-40B4-BE49-F238E27FC236}">
                <a16:creationId xmlns:a16="http://schemas.microsoft.com/office/drawing/2014/main" id="{478CCD6A-F9A6-41C3-B8F5-E093D8FF8429}"/>
              </a:ext>
            </a:extLst>
          </p:cNvPr>
          <p:cNvSpPr>
            <a:spLocks xmlns:a="http://schemas.openxmlformats.org/drawingml/2006/main" noGrp="1"/>
          </p:cNvSpPr>
          <p:nvPr/>
        </p:nvSpPr>
        <p:spPr>
          <a:xfrm xmlns:a="http://schemas.openxmlformats.org/drawingml/2006/main">
            <a:off x="6343650" y="5657850"/>
            <a:ext cx="4933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Level 2C 没有真空寿命、Raman 损失、成像误差或随机 RIN 时间序列。RIN 在当前实现中是平均功率注入。</a:t>
            </a:r>
          </a:p>
        </p:txBody>
      </p:sp>
      <p:sp>
        <p:nvSpPr>
          <p:cNvPr id="12" name="">
            <a:extLst xmlns:a="http://schemas.openxmlformats.org/drawingml/2006/main">
              <a:ext uri="{FF2B5EF4-FFF2-40B4-BE49-F238E27FC236}">
                <a16:creationId xmlns:a16="http://schemas.microsoft.com/office/drawing/2014/main" id="{922F7B51-551F-491D-822F-C37085831E42}"/>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3" name="">
            <a:extLst xmlns:a="http://schemas.openxmlformats.org/drawingml/2006/main">
              <a:ext uri="{FF2B5EF4-FFF2-40B4-BE49-F238E27FC236}">
                <a16:creationId xmlns:a16="http://schemas.microsoft.com/office/drawing/2014/main" id="{4476892F-312F-4C9F-8752-523F24C49928}"/>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level2c_pickup_survival.yaml · survival_engine.py · noise_heating.py</a:t>
            </a:r>
          </a:p>
        </p:txBody>
      </p:sp>
      <p:sp>
        <p:nvSpPr>
          <p:cNvPr id="14" name="">
            <a:extLst xmlns:a="http://schemas.openxmlformats.org/drawingml/2006/main">
              <a:ext uri="{FF2B5EF4-FFF2-40B4-BE49-F238E27FC236}">
                <a16:creationId xmlns:a16="http://schemas.microsoft.com/office/drawing/2014/main" id="{B6CC4E68-199A-4CA9-8647-D56DA529A204}"/>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05</a:t>
            </a:r>
          </a:p>
        </p:txBody>
      </p:sp>
    </p:spTree>
    <p:extLst>
      <p:ext uri="{BB962C8B-B14F-4D97-AF65-F5344CB8AC3E}">
        <p14:creationId xmlns:p14="http://schemas.microsoft.com/office/powerpoint/2010/main" val="216547261"/>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8EBA5F-ED67-4C68-9A58-4BF182AD41C9}"/>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04</a:t>
            </a:r>
          </a:p>
        </p:txBody>
      </p:sp>
      <p:sp>
        <p:nvSpPr>
          <p:cNvPr id="2" name="">
            <a:extLst xmlns:a="http://schemas.openxmlformats.org/drawingml/2006/main">
              <a:ext uri="{FF2B5EF4-FFF2-40B4-BE49-F238E27FC236}">
                <a16:creationId xmlns:a16="http://schemas.microsoft.com/office/drawing/2014/main" id="{00BB7D8C-DA9B-4047-A09D-E6F59E64E084}"/>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手工波形与一次往返协议</a:t>
            </a:r>
          </a:p>
        </p:txBody>
      </p:sp>
      <p:sp>
        <p:nvSpPr>
          <p:cNvPr id="3" name="">
            <a:extLst xmlns:a="http://schemas.openxmlformats.org/drawingml/2006/main">
              <a:ext uri="{FF2B5EF4-FFF2-40B4-BE49-F238E27FC236}">
                <a16:creationId xmlns:a16="http://schemas.microsoft.com/office/drawing/2014/main" id="{9F5350D0-7D32-44A2-B315-43CD2351333C}"/>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8D194BCD-6ED0-4763-991D-56AF53945BED}"/>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本步把论文 Methods 转成 AOD 中心 c(t)、深度 D(t) 和三个连续阶段</a:t>
            </a:r>
          </a:p>
        </p:txBody>
      </p:sp>
      <p:graphicFrame>
        <p:nvGraphicFramePr>
          <p:cNvPr id="16" name="Chart"/>
          <p:cNvGraphicFramePr/>
          <p:nvPr/>
        </p:nvGraphicFramePr>
        <p:xfrm>
          <a:off xmlns:a="http://schemas.openxmlformats.org/drawingml/2006/main" x="609600" y="1314450"/>
          <a:ext xmlns:a="http://schemas.openxmlformats.org/drawingml/2006/main" cx="5143500" cy="2781300"/>
        </p:xfrm>
        <a:graphic xmlns:a="http://schemas.openxmlformats.org/drawingml/2006/main">
          <a:graphicData uri="http://schemas.openxmlformats.org/drawingml/2006/chart">
            <c:chart xmlns:r="http://schemas.openxmlformats.org/officeDocument/2006/relationships" xmlns:c="http://schemas.openxmlformats.org/drawingml/2006/chart" r:id="R8e8e27d566764284"/>
          </a:graphicData>
        </a:graphic>
      </p:graphicFrame>
      <p:graphicFrame>
        <p:nvGraphicFramePr>
          <p:cNvPr id="17" name="Chart"/>
          <p:cNvGraphicFramePr/>
          <p:nvPr/>
        </p:nvGraphicFramePr>
        <p:xfrm>
          <a:off xmlns:a="http://schemas.openxmlformats.org/drawingml/2006/main" x="6096000" y="1314450"/>
          <a:ext xmlns:a="http://schemas.openxmlformats.org/drawingml/2006/main" cx="5486400" cy="2781300"/>
        </p:xfrm>
        <a:graphic xmlns:a="http://schemas.openxmlformats.org/drawingml/2006/main">
          <a:graphicData uri="http://schemas.openxmlformats.org/drawingml/2006/chart">
            <c:chart xmlns:r="http://schemas.openxmlformats.org/officeDocument/2006/relationships" xmlns:c="http://schemas.openxmlformats.org/drawingml/2006/chart" r:id="Rcf39434c15cf4215"/>
          </a:graphicData>
        </a:graphic>
      </p:graphicFrame>
      <p:graphicFrame>
        <p:nvGraphicFramePr>
          <p:cNvPr id="18" name=""/>
          <p:cNvGraphicFramePr/>
          <p:nvPr/>
        </p:nvGraphicFramePr>
        <p:xfrm>
          <a:off xmlns:a="http://schemas.openxmlformats.org/drawingml/2006/main" x="609600" y="4362450"/>
          <a:ext xmlns:a="http://schemas.openxmlformats.org/drawingml/2006/main" cx="10972800" cy="1562100"/>
        </p:xfrm>
        <a:graphic xmlns:a="http://schemas.openxmlformats.org/drawingml/2006/main">
          <a:graphicData uri="http://schemas.openxmlformats.org/drawingml/2006/table">
            <a:tbl>
              <a:tblPr/>
              <a:tblGrid>
                <a:gridCol w="1600200"/>
                <a:gridCol w="2057400"/>
                <a:gridCol w="4800600"/>
                <a:gridCol w="2514600"/>
              </a:tblGrid>
              <a:tr h="390525">
                <a:tc>
                  <a:txBody>
                    <a:bodyPr>
                      <a:noAutofit/>
                    </a:bodyPr>
                    <a:lstStyle/>
                    <a:p>
                      <a:pPr algn="l"/>
                      <a:r>
                        <a:rPr sz="1050" b="1">
                          <a:solidFill>
                            <a:srgbClr val="FFFFFF"/>
                          </a:solidFill>
                          <a:latin typeface="Microsoft YaHei"/>
                          <a:ea typeface="Microsoft YaHei"/>
                          <a:cs typeface="Microsoft YaHei"/>
                        </a:rPr>
                        <a:t>Phase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Duration</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Control operation</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End-of-phase calculation</a:t>
                      </a:r>
                    </a:p>
                  </a:txBody>
                  <a:tcPr marL="91440" marR="91440" marT="45720" marB="45720" anchor="ctr">
                    <a:solidFill>
                      <a:srgbClr val="102A43"/>
                    </a:solidFill>
                  </a:tcPr>
                </a:tc>
              </a:tr>
              <a:tr h="390525">
                <a:tc>
                  <a:txBody>
                    <a:bodyPr>
                      <a:noAutofit/>
                    </a:bodyPr>
                    <a:lstStyle/>
                    <a:p>
                      <a:pPr algn="l"/>
                      <a:r>
                        <a:rPr sz="1050" b="0">
                          <a:solidFill>
                            <a:srgbClr val="344054"/>
                          </a:solidFill>
                          <a:latin typeface="Microsoft YaHei"/>
                          <a:ea typeface="Microsoft YaHei"/>
                          <a:cs typeface="Microsoft YaHei"/>
                        </a:rPr>
                        <a:t>Pick-up</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200 / 400 / 600 µs</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前 48% 二次升深，后 52% constant-jerk 移动 2.4 µm</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进入 100 µs wait</a:t>
                      </a:r>
                    </a:p>
                  </a:txBody>
                  <a:tcPr marL="91440" marR="91440" marT="45720" marB="45720" anchor="ctr">
                    <a:solidFill>
                      <a:srgbClr val="FFFFFF"/>
                    </a:solidFill>
                  </a:tcPr>
                </a:tc>
              </a:tr>
              <a:tr h="390525">
                <a:tc>
                  <a:txBody>
                    <a:bodyPr>
                      <a:noAutofit/>
                    </a:bodyPr>
                    <a:lstStyle/>
                    <a:p>
                      <a:pPr algn="l"/>
                      <a:r>
                        <a:rPr sz="1050" b="0">
                          <a:solidFill>
                            <a:srgbClr val="344054"/>
                          </a:solidFill>
                          <a:latin typeface="Microsoft YaHei"/>
                          <a:ea typeface="Microsoft YaHei"/>
                          <a:cs typeface="Microsoft YaHei"/>
                        </a:rPr>
                        <a:t>Wait</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100 µs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SLM 关闭，AOD 保持原子</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计算 E_AOD&lt;0</a:t>
                      </a:r>
                    </a:p>
                  </a:txBody>
                  <a:tcPr marL="91440" marR="91440" marT="45720" marB="45720" anchor="ctr">
                    <a:solidFill>
                      <a:srgbClr val="F8FAFC"/>
                    </a:solidFill>
                  </a:tcPr>
                </a:tc>
              </a:tr>
              <a:tr h="390525">
                <a:tc>
                  <a:txBody>
                    <a:bodyPr>
                      <a:noAutofit/>
                    </a:bodyPr>
                    <a:lstStyle/>
                    <a:p>
                      <a:pPr algn="l"/>
                      <a:r>
                        <a:rPr sz="1050" b="0">
                          <a:solidFill>
                            <a:srgbClr val="344054"/>
                          </a:solidFill>
                          <a:latin typeface="Microsoft YaHei"/>
                          <a:ea typeface="Microsoft YaHei"/>
                          <a:cs typeface="Microsoft YaHei"/>
                        </a:rPr>
                        <a:t>Drop-off</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与 pick-up 相同</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使用 pick-up 的严格时间反演</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计算 E_SLM&lt;0</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3A7815FD-A5BD-4ACE-BCFC-6C94B0ED1D2F}"/>
              </a:ext>
            </a:extLst>
          </p:cNvPr>
          <p:cNvSpPr>
            <a:spLocks xmlns:a="http://schemas.openxmlformats.org/drawingml/2006/main" noGrp="1"/>
          </p:cNvSpPr>
          <p:nvPr/>
        </p:nvSpPr>
        <p:spPr>
          <a:xfrm xmlns:a="http://schemas.openxmlformats.org/drawingml/2006/main">
            <a:off x="819150" y="60483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344054"/>
                </a:solidFill>
                <a:latin typeface="Microsoft YaHei"/>
                <a:ea typeface="Microsoft YaHei"/>
                <a:cs typeface="Microsoft YaHei"/>
              </a:defRPr>
            </a:pPr>
            <a:r>
              <a:rPr sz="1163" b="0">
                <a:solidFill>
                  <a:srgbClr val="344054"/>
                </a:solidFill>
                <a:latin typeface="Microsoft YaHei"/>
                <a:ea typeface="Microsoft YaHei"/>
                <a:cs typeface="Microsoft YaHei"/>
              </a:rPr>
              <a:t>一个 pick-up 判定和一个 drop-off 判定构成两次 one-way transfer；60 次单程对应最多 30 次完整往返。</a:t>
            </a:r>
          </a:p>
        </p:txBody>
      </p:sp>
      <p:sp>
        <p:nvSpPr>
          <p:cNvPr id="9" name="">
            <a:extLst xmlns:a="http://schemas.openxmlformats.org/drawingml/2006/main">
              <a:ext uri="{FF2B5EF4-FFF2-40B4-BE49-F238E27FC236}">
                <a16:creationId xmlns:a16="http://schemas.microsoft.com/office/drawing/2014/main" id="{1AEF3AF7-093B-456B-B16E-BA553FBDB15A}"/>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0" name="">
            <a:extLst xmlns:a="http://schemas.openxmlformats.org/drawingml/2006/main">
              <a:ext uri="{FF2B5EF4-FFF2-40B4-BE49-F238E27FC236}">
                <a16:creationId xmlns:a16="http://schemas.microsoft.com/office/drawing/2014/main" id="{BE95808F-1533-4302-B0A2-D3E55B3BAD38}"/>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waveforms.py · fig6d_parameters.md · level2c config</a:t>
            </a:r>
          </a:p>
        </p:txBody>
      </p:sp>
      <p:sp>
        <p:nvSpPr>
          <p:cNvPr id="11" name="">
            <a:extLst xmlns:a="http://schemas.openxmlformats.org/drawingml/2006/main">
              <a:ext uri="{FF2B5EF4-FFF2-40B4-BE49-F238E27FC236}">
                <a16:creationId xmlns:a16="http://schemas.microsoft.com/office/drawing/2014/main" id="{CDFD2D81-9331-4369-80BA-B18EDC1487EE}"/>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06</a:t>
            </a:r>
          </a:p>
        </p:txBody>
      </p:sp>
    </p:spTree>
    <p:extLst>
      <p:ext uri="{BB962C8B-B14F-4D97-AF65-F5344CB8AC3E}">
        <p14:creationId xmlns:p14="http://schemas.microsoft.com/office/powerpoint/2010/main" val="1688196417"/>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4964B61-B80A-4EF7-B24B-8CB708DB48F8}"/>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05</a:t>
            </a:r>
          </a:p>
        </p:txBody>
      </p:sp>
      <p:sp>
        <p:nvSpPr>
          <p:cNvPr id="2" name="">
            <a:extLst xmlns:a="http://schemas.openxmlformats.org/drawingml/2006/main">
              <a:ext uri="{FF2B5EF4-FFF2-40B4-BE49-F238E27FC236}">
                <a16:creationId xmlns:a16="http://schemas.microsoft.com/office/drawing/2014/main" id="{19F53205-6205-47E6-8822-4FC73FD145CC}"/>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单个原子的数值传播与束缚判定</a:t>
            </a:r>
          </a:p>
        </p:txBody>
      </p:sp>
      <p:sp>
        <p:nvSpPr>
          <p:cNvPr id="3" name="">
            <a:extLst xmlns:a="http://schemas.openxmlformats.org/drawingml/2006/main">
              <a:ext uri="{FF2B5EF4-FFF2-40B4-BE49-F238E27FC236}">
                <a16:creationId xmlns:a16="http://schemas.microsoft.com/office/drawing/2014/main" id="{32F44F50-A1C1-4D4B-BCFF-EE0A25D3372D}"/>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A1E879B0-6D4A-4888-A8BE-180B2A8EC3D6}"/>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本步按 dt 更新 x、v 和注入能量；原子失败后立即退出后续计算</a:t>
            </a:r>
          </a:p>
        </p:txBody>
      </p:sp>
      <p:sp>
        <p:nvSpPr>
          <p:cNvPr id="5" name="">
            <a:extLst xmlns:a="http://schemas.openxmlformats.org/drawingml/2006/main">
              <a:ext uri="{FF2B5EF4-FFF2-40B4-BE49-F238E27FC236}">
                <a16:creationId xmlns:a16="http://schemas.microsoft.com/office/drawing/2014/main" id="{7E58E477-F0D1-4253-9A9B-873A05DC7ACD}"/>
              </a:ext>
            </a:extLst>
          </p:cNvPr>
          <p:cNvSpPr>
            <a:spLocks xmlns:a="http://schemas.openxmlformats.org/drawingml/2006/main" noGrp="1"/>
          </p:cNvSpPr>
          <p:nvPr/>
        </p:nvSpPr>
        <p:spPr>
          <a:xfrm xmlns:a="http://schemas.openxmlformats.org/drawingml/2006/main">
            <a:off x="609600" y="1257300"/>
            <a:ext cx="4762500" cy="3028950"/>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9525">
            <a:solidFill>
              <a:srgbClr val="EAECF0"/>
            </a:solidFill>
          </a:ln>
        </p:spPr>
      </p:sp>
      <p:sp>
        <p:nvSpPr>
          <p:cNvPr id="6" name="">
            <a:extLst xmlns:a="http://schemas.openxmlformats.org/drawingml/2006/main">
              <a:ext uri="{FF2B5EF4-FFF2-40B4-BE49-F238E27FC236}">
                <a16:creationId xmlns:a16="http://schemas.microsoft.com/office/drawing/2014/main" id="{E1FFA175-E603-4D20-A4E1-B437F1A359AD}"/>
              </a:ext>
            </a:extLst>
          </p:cNvPr>
          <p:cNvSpPr>
            <a:spLocks xmlns:a="http://schemas.openxmlformats.org/drawingml/2006/main" noGrp="1"/>
          </p:cNvSpPr>
          <p:nvPr/>
        </p:nvSpPr>
        <p:spPr>
          <a:xfrm xmlns:a="http://schemas.openxmlformats.org/drawingml/2006/main">
            <a:off x="876300" y="15049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Velocity-Verlet 更新</a:t>
            </a:r>
          </a:p>
        </p:txBody>
      </p:sp>
      <p:sp>
        <p:nvSpPr>
          <p:cNvPr id="7" name="">
            <a:extLst xmlns:a="http://schemas.openxmlformats.org/drawingml/2006/main">
              <a:ext uri="{FF2B5EF4-FFF2-40B4-BE49-F238E27FC236}">
                <a16:creationId xmlns:a16="http://schemas.microsoft.com/office/drawing/2014/main" id="{C939FB2C-69A1-48CC-B98E-D78990409952}"/>
              </a:ext>
            </a:extLst>
          </p:cNvPr>
          <p:cNvSpPr>
            <a:spLocks xmlns:a="http://schemas.openxmlformats.org/drawingml/2006/main" noGrp="1"/>
          </p:cNvSpPr>
          <p:nvPr/>
        </p:nvSpPr>
        <p:spPr>
          <a:xfrm xmlns:a="http://schemas.openxmlformats.org/drawingml/2006/main">
            <a:off x="876300" y="20383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1570EF"/>
                </a:solidFill>
                <a:latin typeface="Microsoft YaHei"/>
                <a:ea typeface="Microsoft YaHei"/>
                <a:cs typeface="Microsoft YaHei"/>
              </a:defRPr>
            </a:pPr>
            <a:r>
              <a:rPr sz="1500" b="1">
                <a:solidFill>
                  <a:srgbClr val="1570EF"/>
                </a:solidFill>
                <a:latin typeface="Microsoft YaHei"/>
                <a:ea typeface="Microsoft YaHei"/>
                <a:cs typeface="Microsoft YaHei"/>
              </a:rPr>
              <a:t>a(t) = [F_SLM + F_AOD] / m</a:t>
            </a:r>
          </a:p>
        </p:txBody>
      </p:sp>
      <p:sp>
        <p:nvSpPr>
          <p:cNvPr id="8" name="">
            <a:extLst xmlns:a="http://schemas.openxmlformats.org/drawingml/2006/main">
              <a:ext uri="{FF2B5EF4-FFF2-40B4-BE49-F238E27FC236}">
                <a16:creationId xmlns:a16="http://schemas.microsoft.com/office/drawing/2014/main" id="{C91105B7-0C1E-4D3C-9622-EA6D86993062}"/>
              </a:ext>
            </a:extLst>
          </p:cNvPr>
          <p:cNvSpPr>
            <a:spLocks xmlns:a="http://schemas.openxmlformats.org/drawingml/2006/main" noGrp="1"/>
          </p:cNvSpPr>
          <p:nvPr/>
        </p:nvSpPr>
        <p:spPr>
          <a:xfrm xmlns:a="http://schemas.openxmlformats.org/drawingml/2006/main">
            <a:off x="876300" y="25717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x(t+dt) = x + v·dt + ½a·dt²</a:t>
            </a:r>
          </a:p>
        </p:txBody>
      </p:sp>
      <p:sp>
        <p:nvSpPr>
          <p:cNvPr id="9" name="">
            <a:extLst xmlns:a="http://schemas.openxmlformats.org/drawingml/2006/main">
              <a:ext uri="{FF2B5EF4-FFF2-40B4-BE49-F238E27FC236}">
                <a16:creationId xmlns:a16="http://schemas.microsoft.com/office/drawing/2014/main" id="{523208D2-A5AC-462F-89C3-366F482AFE88}"/>
              </a:ext>
            </a:extLst>
          </p:cNvPr>
          <p:cNvSpPr>
            <a:spLocks xmlns:a="http://schemas.openxmlformats.org/drawingml/2006/main" noGrp="1"/>
          </p:cNvSpPr>
          <p:nvPr/>
        </p:nvSpPr>
        <p:spPr>
          <a:xfrm xmlns:a="http://schemas.openxmlformats.org/drawingml/2006/main">
            <a:off x="876300" y="31051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v(t+dt) = v + ½[a(t)+a(t+dt)]·dt</a:t>
            </a:r>
          </a:p>
        </p:txBody>
      </p:sp>
      <p:sp>
        <p:nvSpPr>
          <p:cNvPr id="10" name="">
            <a:extLst xmlns:a="http://schemas.openxmlformats.org/drawingml/2006/main">
              <a:ext uri="{FF2B5EF4-FFF2-40B4-BE49-F238E27FC236}">
                <a16:creationId xmlns:a16="http://schemas.microsoft.com/office/drawing/2014/main" id="{4B77B772-44B8-4522-800E-BCB8EDCD34E4}"/>
              </a:ext>
            </a:extLst>
          </p:cNvPr>
          <p:cNvSpPr>
            <a:spLocks xmlns:a="http://schemas.openxmlformats.org/drawingml/2006/main" noGrp="1"/>
          </p:cNvSpPr>
          <p:nvPr/>
        </p:nvSpPr>
        <p:spPr>
          <a:xfrm xmlns:a="http://schemas.openxmlformats.org/drawingml/2006/main">
            <a:off x="876300" y="3695700"/>
            <a:ext cx="4229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状态在相邻阶段和相邻往返之间连续继承。代码不会在每次 transfer 前重新采样或重新热化。</a:t>
            </a:r>
          </a:p>
        </p:txBody>
      </p:sp>
      <p:sp>
        <p:nvSpPr>
          <p:cNvPr id="11" name="">
            <a:extLst xmlns:a="http://schemas.openxmlformats.org/drawingml/2006/main">
              <a:ext uri="{FF2B5EF4-FFF2-40B4-BE49-F238E27FC236}">
                <a16:creationId xmlns:a16="http://schemas.microsoft.com/office/drawing/2014/main" id="{A64A1676-1D84-4C13-B9C8-63BFB0BEFC78}"/>
              </a:ext>
            </a:extLst>
          </p:cNvPr>
          <p:cNvSpPr>
            <a:spLocks xmlns:a="http://schemas.openxmlformats.org/drawingml/2006/main" noGrp="1"/>
          </p:cNvSpPr>
          <p:nvPr/>
        </p:nvSpPr>
        <p:spPr>
          <a:xfrm xmlns:a="http://schemas.openxmlformats.org/drawingml/2006/main">
            <a:off x="5695950" y="1257300"/>
            <a:ext cx="5886450" cy="3028950"/>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9525">
            <a:solidFill>
              <a:srgbClr val="EAECF0"/>
            </a:solidFill>
          </a:ln>
        </p:spPr>
      </p:sp>
      <p:sp>
        <p:nvSpPr>
          <p:cNvPr id="12" name="">
            <a:extLst xmlns:a="http://schemas.openxmlformats.org/drawingml/2006/main">
              <a:ext uri="{FF2B5EF4-FFF2-40B4-BE49-F238E27FC236}">
                <a16:creationId xmlns:a16="http://schemas.microsoft.com/office/drawing/2014/main" id="{848D50A9-9C00-427E-A75C-D057B22B3DBA}"/>
              </a:ext>
            </a:extLst>
          </p:cNvPr>
          <p:cNvSpPr>
            <a:spLocks xmlns:a="http://schemas.openxmlformats.org/drawingml/2006/main" noGrp="1"/>
          </p:cNvSpPr>
          <p:nvPr/>
        </p:nvSpPr>
        <p:spPr>
          <a:xfrm xmlns:a="http://schemas.openxmlformats.org/drawingml/2006/main">
            <a:off x="5962650" y="15049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数值与加热参数</a:t>
            </a:r>
          </a:p>
        </p:txBody>
      </p:sp>
      <p:graphicFrame>
        <p:nvGraphicFramePr>
          <p:cNvPr id="31" name=""/>
          <p:cNvGraphicFramePr/>
          <p:nvPr/>
        </p:nvGraphicFramePr>
        <p:xfrm>
          <a:off xmlns:a="http://schemas.openxmlformats.org/drawingml/2006/main" x="5962650" y="1962150"/>
          <a:ext xmlns:a="http://schemas.openxmlformats.org/drawingml/2006/main" cx="5353050" cy="2076450"/>
        </p:xfrm>
        <a:graphic xmlns:a="http://schemas.openxmlformats.org/drawingml/2006/main">
          <a:graphicData uri="http://schemas.openxmlformats.org/drawingml/2006/table">
            <a:tbl>
              <a:tblPr/>
              <a:tblGrid>
                <a:gridCol w="1655582"/>
                <a:gridCol w="1269280"/>
                <a:gridCol w="2428188"/>
              </a:tblGrid>
              <a:tr h="346075">
                <a:tc>
                  <a:txBody>
                    <a:bodyPr>
                      <a:noAutofit/>
                    </a:bodyPr>
                    <a:lstStyle/>
                    <a:p>
                      <a:pPr algn="l"/>
                      <a:r>
                        <a:rPr sz="1050" b="1">
                          <a:solidFill>
                            <a:srgbClr val="FFFFFF"/>
                          </a:solidFill>
                          <a:latin typeface="Microsoft YaHei"/>
                          <a:ea typeface="Microsoft YaHei"/>
                          <a:cs typeface="Microsoft YaHei"/>
                        </a:rPr>
                        <a:t>Parameter</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Meaning</a:t>
                      </a:r>
                    </a:p>
                  </a:txBody>
                  <a:tcPr marL="91440" marR="91440" marT="45720" marB="45720" anchor="ctr">
                    <a:solidFill>
                      <a:srgbClr val="102A43"/>
                    </a:solidFill>
                  </a:tcPr>
                </a:tc>
              </a:tr>
              <a:tr h="346075">
                <a:tc>
                  <a:txBody>
                    <a:bodyPr>
                      <a:noAutofit/>
                    </a:bodyPr>
                    <a:lstStyle/>
                    <a:p>
                      <a:pPr algn="l"/>
                      <a:r>
                        <a:rPr sz="1050" b="0">
                          <a:solidFill>
                            <a:srgbClr val="344054"/>
                          </a:solidFill>
                          <a:latin typeface="Microsoft YaHei"/>
                          <a:ea typeface="Microsoft YaHei"/>
                          <a:cs typeface="Microsoft YaHei"/>
                        </a:rPr>
                        <a:t>Main dt</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0.05 µs</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主扫描积分步长</a:t>
                      </a:r>
                    </a:p>
                  </a:txBody>
                  <a:tcPr marL="91440" marR="91440" marT="45720" marB="45720" anchor="ctr">
                    <a:solidFill>
                      <a:srgbClr val="FFFFFF"/>
                    </a:solidFill>
                  </a:tcPr>
                </a:tc>
              </a:tr>
              <a:tr h="346075">
                <a:tc>
                  <a:txBody>
                    <a:bodyPr>
                      <a:noAutofit/>
                    </a:bodyPr>
                    <a:lstStyle/>
                    <a:p>
                      <a:pPr algn="l"/>
                      <a:r>
                        <a:rPr sz="1050" b="0">
                          <a:solidFill>
                            <a:srgbClr val="344054"/>
                          </a:solidFill>
                          <a:latin typeface="Microsoft YaHei"/>
                          <a:ea typeface="Microsoft YaHei"/>
                          <a:cs typeface="Microsoft YaHei"/>
                        </a:rPr>
                        <a:t>Convergence dt</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0.025 µs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步长减半复算</a:t>
                      </a:r>
                    </a:p>
                  </a:txBody>
                  <a:tcPr marL="91440" marR="91440" marT="45720" marB="45720" anchor="ctr">
                    <a:solidFill>
                      <a:srgbClr val="F8FAFC"/>
                    </a:solidFill>
                  </a:tcPr>
                </a:tc>
              </a:tr>
              <a:tr h="346075">
                <a:tc>
                  <a:txBody>
                    <a:bodyPr>
                      <a:noAutofit/>
                    </a:bodyPr>
                    <a:lstStyle/>
                    <a:p>
                      <a:pPr algn="l"/>
                      <a:r>
                        <a:rPr sz="1050" b="0">
                          <a:solidFill>
                            <a:srgbClr val="344054"/>
                          </a:solidFill>
                          <a:latin typeface="Microsoft YaHei"/>
                          <a:ea typeface="Microsoft YaHei"/>
                          <a:cs typeface="Microsoft YaHei"/>
                        </a:rPr>
                        <a:t>Recoil rate</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4.23 s⁻¹</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平均反冲加热</a:t>
                      </a:r>
                    </a:p>
                  </a:txBody>
                  <a:tcPr marL="91440" marR="91440" marT="45720" marB="45720" anchor="ctr">
                    <a:solidFill>
                      <a:srgbClr val="FFFFFF"/>
                    </a:solidFill>
                  </a:tcPr>
                </a:tc>
              </a:tr>
              <a:tr h="346075">
                <a:tc>
                  <a:txBody>
                    <a:bodyPr>
                      <a:noAutofit/>
                    </a:bodyPr>
                    <a:lstStyle/>
                    <a:p>
                      <a:pPr algn="l"/>
                      <a:r>
                        <a:rPr sz="1050" b="0">
                          <a:solidFill>
                            <a:srgbClr val="344054"/>
                          </a:solidFill>
                          <a:latin typeface="Microsoft YaHei"/>
                          <a:ea typeface="Microsoft YaHei"/>
                          <a:cs typeface="Microsoft YaHei"/>
                        </a:rPr>
                        <a:t>RIN reference ν₀</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36.007 kHz</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参量加热参考频率</a:t>
                      </a:r>
                    </a:p>
                  </a:txBody>
                  <a:tcPr marL="91440" marR="91440" marT="45720" marB="45720" anchor="ctr">
                    <a:solidFill>
                      <a:srgbClr val="F8FAFC"/>
                    </a:solidFill>
                  </a:tcPr>
                </a:tc>
              </a:tr>
              <a:tr h="346075">
                <a:tc>
                  <a:txBody>
                    <a:bodyPr>
                      <a:noAutofit/>
                    </a:bodyPr>
                    <a:lstStyle/>
                    <a:p>
                      <a:pPr algn="l"/>
                      <a:r>
                        <a:rPr sz="1050" b="0">
                          <a:solidFill>
                            <a:srgbClr val="344054"/>
                          </a:solidFill>
                          <a:latin typeface="Microsoft YaHei"/>
                          <a:ea typeface="Microsoft YaHei"/>
                          <a:cs typeface="Microsoft YaHei"/>
                        </a:rPr>
                        <a:t>Noise update</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every dt</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将平均功率转换为动能增量</a:t>
                      </a:r>
                    </a:p>
                  </a:txBody>
                  <a:tcPr marL="91440" marR="91440" marT="45720" marB="45720" anchor="ctr">
                    <a:solidFill>
                      <a:srgbClr val="FFFFFF"/>
                    </a:solidFill>
                  </a:tcPr>
                </a:tc>
              </a:tr>
            </a:tbl>
          </a:graphicData>
        </a:graphic>
      </p:graphicFrame>
      <p:graphicFrame>
        <p:nvGraphicFramePr>
          <p:cNvPr id="32" name=""/>
          <p:cNvGraphicFramePr/>
          <p:nvPr/>
        </p:nvGraphicFramePr>
        <p:xfrm>
          <a:off xmlns:a="http://schemas.openxmlformats.org/drawingml/2006/main" x="609600" y="4572000"/>
          <a:ext xmlns:a="http://schemas.openxmlformats.org/drawingml/2006/main" cx="10972800" cy="1352550"/>
        </p:xfrm>
        <a:graphic xmlns:a="http://schemas.openxmlformats.org/drawingml/2006/main">
          <a:graphicData uri="http://schemas.openxmlformats.org/drawingml/2006/table">
            <a:tbl>
              <a:tblPr/>
              <a:tblGrid>
                <a:gridCol w="2545690"/>
                <a:gridCol w="5266944"/>
                <a:gridCol w="3160166"/>
              </a:tblGrid>
              <a:tr h="450850">
                <a:tc>
                  <a:txBody>
                    <a:bodyPr>
                      <a:noAutofit/>
                    </a:bodyPr>
                    <a:lstStyle/>
                    <a:p>
                      <a:pPr algn="l"/>
                      <a:r>
                        <a:rPr sz="1125" b="1">
                          <a:solidFill>
                            <a:srgbClr val="FFFFFF"/>
                          </a:solidFill>
                          <a:latin typeface="Microsoft YaHei"/>
                          <a:ea typeface="Microsoft YaHei"/>
                          <a:cs typeface="Microsoft YaHei"/>
                        </a:rPr>
                        <a:t>Checkpoint</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Energy used for decision</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Decision</a:t>
                      </a:r>
                    </a:p>
                  </a:txBody>
                  <a:tcPr marL="91440" marR="91440" marT="45720" marB="45720" anchor="ctr">
                    <a:solidFill>
                      <a:srgbClr val="102A43"/>
                    </a:solidFill>
                  </a:tcPr>
                </a:tc>
              </a:tr>
              <a:tr h="450850">
                <a:tc>
                  <a:txBody>
                    <a:bodyPr>
                      <a:noAutofit/>
                    </a:bodyPr>
                    <a:lstStyle/>
                    <a:p>
                      <a:pPr algn="l"/>
                      <a:r>
                        <a:rPr sz="1200" b="0">
                          <a:solidFill>
                            <a:srgbClr val="344054"/>
                          </a:solidFill>
                          <a:latin typeface="Microsoft YaHei"/>
                          <a:ea typeface="Microsoft YaHei"/>
                          <a:cs typeface="Microsoft YaHei"/>
                        </a:rPr>
                        <a:t>After pickup wait</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E_AOD = ½mv² + U_AOD(x)</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E_AOD&lt;0 才保留</a:t>
                      </a:r>
                    </a:p>
                  </a:txBody>
                  <a:tcPr marL="91440" marR="91440" marT="45720" marB="45720" anchor="ctr">
                    <a:solidFill>
                      <a:srgbClr val="FFFFFF"/>
                    </a:solidFill>
                  </a:tcPr>
                </a:tc>
              </a:tr>
              <a:tr h="450850">
                <a:tc>
                  <a:txBody>
                    <a:bodyPr>
                      <a:noAutofit/>
                    </a:bodyPr>
                    <a:lstStyle/>
                    <a:p>
                      <a:pPr algn="l"/>
                      <a:r>
                        <a:rPr sz="1200" b="0">
                          <a:solidFill>
                            <a:srgbClr val="344054"/>
                          </a:solidFill>
                          <a:latin typeface="Microsoft YaHei"/>
                          <a:ea typeface="Microsoft YaHei"/>
                          <a:cs typeface="Microsoft YaHei"/>
                        </a:rPr>
                        <a:t>After drop-off</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E_SLM = ½mv² + U_SLM(x)</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E_SLM&lt;0 才保留</a:t>
                      </a:r>
                    </a:p>
                  </a:txBody>
                  <a:tcPr marL="91440" marR="91440" marT="45720" marB="45720" anchor="ctr">
                    <a:solidFill>
                      <a:srgbClr val="F8FAFC"/>
                    </a:solidFill>
                  </a:tcPr>
                </a:tc>
              </a:tr>
            </a:tbl>
          </a:graphicData>
        </a:graphic>
      </p:graphicFrame>
      <p:sp>
        <p:nvSpPr>
          <p:cNvPr id="15" name="">
            <a:extLst xmlns:a="http://schemas.openxmlformats.org/drawingml/2006/main">
              <a:ext uri="{FF2B5EF4-FFF2-40B4-BE49-F238E27FC236}">
                <a16:creationId xmlns:a16="http://schemas.microsoft.com/office/drawing/2014/main" id="{978ED9AC-5959-400B-B958-540A2BBE6186}"/>
              </a:ext>
            </a:extLst>
          </p:cNvPr>
          <p:cNvSpPr>
            <a:spLocks xmlns:a="http://schemas.openxmlformats.org/drawingml/2006/main" noGrp="1"/>
          </p:cNvSpPr>
          <p:nvPr/>
        </p:nvSpPr>
        <p:spPr>
          <a:xfrm xmlns:a="http://schemas.openxmlformats.org/drawingml/2006/main">
            <a:off x="838200" y="6057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D92D20"/>
                </a:solidFill>
                <a:latin typeface="Microsoft YaHei"/>
                <a:ea typeface="Microsoft YaHei"/>
                <a:cs typeface="Microsoft YaHei"/>
              </a:defRPr>
            </a:pPr>
            <a:r>
              <a:rPr sz="1163" b="0">
                <a:solidFill>
                  <a:srgbClr val="D92D20"/>
                </a:solidFill>
                <a:latin typeface="Microsoft YaHei"/>
                <a:ea typeface="Microsoft YaHei"/>
                <a:cs typeface="Microsoft YaHei"/>
              </a:rPr>
              <a:t>Early stop：某个 shot 首次失败后从活跃池移除，不允许在后续阶段偶然重新俘获。</a:t>
            </a:r>
          </a:p>
        </p:txBody>
      </p:sp>
      <p:sp>
        <p:nvSpPr>
          <p:cNvPr id="16" name="">
            <a:extLst xmlns:a="http://schemas.openxmlformats.org/drawingml/2006/main">
              <a:ext uri="{FF2B5EF4-FFF2-40B4-BE49-F238E27FC236}">
                <a16:creationId xmlns:a16="http://schemas.microsoft.com/office/drawing/2014/main" id="{D4D1BD83-09E6-4F50-8A4A-0DECE8BF055C}"/>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7" name="">
            <a:extLst xmlns:a="http://schemas.openxmlformats.org/drawingml/2006/main">
              <a:ext uri="{FF2B5EF4-FFF2-40B4-BE49-F238E27FC236}">
                <a16:creationId xmlns:a16="http://schemas.microsoft.com/office/drawing/2014/main" id="{6445628D-A5BF-46AE-8671-430FD9B0B19D}"/>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survival_engine.py · noise_heating.py · work-energy implementation</a:t>
            </a:r>
          </a:p>
        </p:txBody>
      </p:sp>
      <p:sp>
        <p:nvSpPr>
          <p:cNvPr id="18" name="">
            <a:extLst xmlns:a="http://schemas.openxmlformats.org/drawingml/2006/main">
              <a:ext uri="{FF2B5EF4-FFF2-40B4-BE49-F238E27FC236}">
                <a16:creationId xmlns:a16="http://schemas.microsoft.com/office/drawing/2014/main" id="{A184BB66-830B-4925-8290-F203016A292D}"/>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07</a:t>
            </a:r>
          </a:p>
        </p:txBody>
      </p:sp>
    </p:spTree>
    <p:extLst>
      <p:ext uri="{BB962C8B-B14F-4D97-AF65-F5344CB8AC3E}">
        <p14:creationId xmlns:p14="http://schemas.microsoft.com/office/powerpoint/2010/main" val="1946007606"/>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0252368-80ED-4962-9B62-983C281CE821}"/>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06</a:t>
            </a:r>
          </a:p>
        </p:txBody>
      </p:sp>
      <p:sp>
        <p:nvSpPr>
          <p:cNvPr id="2" name="">
            <a:extLst xmlns:a="http://schemas.openxmlformats.org/drawingml/2006/main">
              <a:ext uri="{FF2B5EF4-FFF2-40B4-BE49-F238E27FC236}">
                <a16:creationId xmlns:a16="http://schemas.microsoft.com/office/drawing/2014/main" id="{788229DA-7B29-4215-AC94-A3420A38A77C}"/>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从逐原子判定到存活曲线 S(n)</a:t>
            </a:r>
          </a:p>
        </p:txBody>
      </p:sp>
      <p:sp>
        <p:nvSpPr>
          <p:cNvPr id="3" name="">
            <a:extLst xmlns:a="http://schemas.openxmlformats.org/drawingml/2006/main">
              <a:ext uri="{FF2B5EF4-FFF2-40B4-BE49-F238E27FC236}">
                <a16:creationId xmlns:a16="http://schemas.microsoft.com/office/drawing/2014/main" id="{3E0BBBA4-E75D-4D93-8012-1F6399286C31}"/>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0E547705-BA70-4185-A49A-8EA41A04D7B1}"/>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每个 n 统计仍在活跃池中的 shot；图中阶梯来自有限样本计数</a:t>
            </a:r>
          </a:p>
        </p:txBody>
      </p:sp>
      <p:graphicFrame>
        <p:nvGraphicFramePr>
          <p:cNvPr id="22" name="Chart"/>
          <p:cNvGraphicFramePr/>
          <p:nvPr/>
        </p:nvGraphicFramePr>
        <p:xfrm>
          <a:off xmlns:a="http://schemas.openxmlformats.org/drawingml/2006/main" x="609600" y="1352550"/>
          <a:ext xmlns:a="http://schemas.openxmlformats.org/drawingml/2006/main" cx="6953250" cy="3981450"/>
        </p:xfrm>
        <a:graphic xmlns:a="http://schemas.openxmlformats.org/drawingml/2006/main">
          <a:graphicData uri="http://schemas.openxmlformats.org/drawingml/2006/chart">
            <c:chart xmlns:r="http://schemas.openxmlformats.org/officeDocument/2006/relationships" xmlns:c="http://schemas.openxmlformats.org/drawingml/2006/chart" r:id="Rf27d9af29e0d496f"/>
          </a:graphicData>
        </a:graphic>
      </p:graphicFrame>
      <p:sp>
        <p:nvSpPr>
          <p:cNvPr id="6" name="">
            <a:extLst xmlns:a="http://schemas.openxmlformats.org/drawingml/2006/main">
              <a:ext uri="{FF2B5EF4-FFF2-40B4-BE49-F238E27FC236}">
                <a16:creationId xmlns:a16="http://schemas.microsoft.com/office/drawing/2014/main" id="{0873AE8E-5141-4085-83CF-22867168BF83}"/>
              </a:ext>
            </a:extLst>
          </p:cNvPr>
          <p:cNvSpPr>
            <a:spLocks xmlns:a="http://schemas.openxmlformats.org/drawingml/2006/main" noGrp="1"/>
          </p:cNvSpPr>
          <p:nvPr/>
        </p:nvSpPr>
        <p:spPr>
          <a:xfrm xmlns:a="http://schemas.openxmlformats.org/drawingml/2006/main">
            <a:off x="7867650" y="1352550"/>
            <a:ext cx="3714750" cy="39814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6DDC06A9-2360-4BB7-90C6-A21B4A4FF44D}"/>
              </a:ext>
            </a:extLst>
          </p:cNvPr>
          <p:cNvSpPr>
            <a:spLocks xmlns:a="http://schemas.openxmlformats.org/drawingml/2006/main" noGrp="1"/>
          </p:cNvSpPr>
          <p:nvPr/>
        </p:nvSpPr>
        <p:spPr>
          <a:xfrm xmlns:a="http://schemas.openxmlformats.org/drawingml/2006/main">
            <a:off x="8134350" y="16002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统计量</a:t>
            </a:r>
          </a:p>
        </p:txBody>
      </p:sp>
      <p:sp>
        <p:nvSpPr>
          <p:cNvPr id="8" name="">
            <a:extLst xmlns:a="http://schemas.openxmlformats.org/drawingml/2006/main">
              <a:ext uri="{FF2B5EF4-FFF2-40B4-BE49-F238E27FC236}">
                <a16:creationId xmlns:a16="http://schemas.microsoft.com/office/drawing/2014/main" id="{9C678C0B-A26B-42D6-B9D7-6FDF0F045953}"/>
              </a:ext>
            </a:extLst>
          </p:cNvPr>
          <p:cNvSpPr>
            <a:spLocks xmlns:a="http://schemas.openxmlformats.org/drawingml/2006/main" noGrp="1"/>
          </p:cNvSpPr>
          <p:nvPr/>
        </p:nvSpPr>
        <p:spPr>
          <a:xfrm xmlns:a="http://schemas.openxmlformats.org/drawingml/2006/main">
            <a:off x="8134350" y="2095500"/>
            <a:ext cx="318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1570EF"/>
                </a:solidFill>
                <a:latin typeface="Microsoft YaHei"/>
                <a:ea typeface="Microsoft YaHei"/>
                <a:cs typeface="Microsoft YaHei"/>
              </a:defRPr>
            </a:pPr>
            <a:r>
              <a:rPr sz="1650" b="1">
                <a:solidFill>
                  <a:srgbClr val="1570EF"/>
                </a:solidFill>
                <a:latin typeface="Microsoft YaHei"/>
                <a:ea typeface="Microsoft YaHei"/>
                <a:cs typeface="Microsoft YaHei"/>
              </a:rPr>
              <a:t>S(n) = N_survive(n) / N₀</a:t>
            </a:r>
          </a:p>
        </p:txBody>
      </p:sp>
      <p:sp>
        <p:nvSpPr>
          <p:cNvPr id="9" name="">
            <a:extLst xmlns:a="http://schemas.openxmlformats.org/drawingml/2006/main">
              <a:ext uri="{FF2B5EF4-FFF2-40B4-BE49-F238E27FC236}">
                <a16:creationId xmlns:a16="http://schemas.microsoft.com/office/drawing/2014/main" id="{421C95E7-D797-4CF6-B46C-DF5E3872752F}"/>
              </a:ext>
            </a:extLst>
          </p:cNvPr>
          <p:cNvSpPr>
            <a:spLocks xmlns:a="http://schemas.openxmlformats.org/drawingml/2006/main" noGrp="1"/>
          </p:cNvSpPr>
          <p:nvPr/>
        </p:nvSpPr>
        <p:spPr>
          <a:xfrm xmlns:a="http://schemas.openxmlformats.org/drawingml/2006/main">
            <a:off x="8134350" y="27813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02A43"/>
                </a:solidFill>
                <a:latin typeface="Microsoft YaHei"/>
                <a:ea typeface="Microsoft YaHei"/>
                <a:cs typeface="Microsoft YaHei"/>
              </a:defRPr>
            </a:pPr>
            <a:r>
              <a:rPr sz="1275" b="1">
                <a:solidFill>
                  <a:srgbClr val="102A43"/>
                </a:solidFill>
                <a:latin typeface="Microsoft YaHei"/>
                <a:ea typeface="Microsoft YaHei"/>
                <a:cs typeface="Microsoft YaHei"/>
              </a:rPr>
              <a:t>几何等效每程损失</a:t>
            </a:r>
          </a:p>
        </p:txBody>
      </p:sp>
      <p:sp>
        <p:nvSpPr>
          <p:cNvPr id="10" name="">
            <a:extLst xmlns:a="http://schemas.openxmlformats.org/drawingml/2006/main">
              <a:ext uri="{FF2B5EF4-FFF2-40B4-BE49-F238E27FC236}">
                <a16:creationId xmlns:a16="http://schemas.microsoft.com/office/drawing/2014/main" id="{D0A21913-84DF-42CC-BF90-2713F6BBD820}"/>
              </a:ext>
            </a:extLst>
          </p:cNvPr>
          <p:cNvSpPr>
            <a:spLocks xmlns:a="http://schemas.openxmlformats.org/drawingml/2006/main" noGrp="1"/>
          </p:cNvSpPr>
          <p:nvPr/>
        </p:nvSpPr>
        <p:spPr>
          <a:xfrm xmlns:a="http://schemas.openxmlformats.org/drawingml/2006/main">
            <a:off x="8134350" y="3143250"/>
            <a:ext cx="3181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L_eq = 1 − S(n)^(1/n)</a:t>
            </a:r>
          </a:p>
        </p:txBody>
      </p:sp>
      <p:sp>
        <p:nvSpPr>
          <p:cNvPr id="11" name="">
            <a:extLst xmlns:a="http://schemas.openxmlformats.org/drawingml/2006/main">
              <a:ext uri="{FF2B5EF4-FFF2-40B4-BE49-F238E27FC236}">
                <a16:creationId xmlns:a16="http://schemas.microsoft.com/office/drawing/2014/main" id="{4D5EC6C3-3C2D-41D0-89B2-0051EF93E205}"/>
              </a:ext>
            </a:extLst>
          </p:cNvPr>
          <p:cNvSpPr>
            <a:spLocks xmlns:a="http://schemas.openxmlformats.org/drawingml/2006/main" noGrp="1"/>
          </p:cNvSpPr>
          <p:nvPr/>
        </p:nvSpPr>
        <p:spPr>
          <a:xfrm xmlns:a="http://schemas.openxmlformats.org/drawingml/2006/main">
            <a:off x="8134350" y="3867150"/>
            <a:ext cx="314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扫描池：256 shots，seed 23001</a:t>
            </a:r>
          </a:p>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复核池：512 shots，seed 23002</a:t>
            </a:r>
          </a:p>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场景间使用同一随机池做 CRN 配对。</a:t>
            </a:r>
          </a:p>
        </p:txBody>
      </p:sp>
      <p:sp>
        <p:nvSpPr>
          <p:cNvPr id="12" name="">
            <a:extLst xmlns:a="http://schemas.openxmlformats.org/drawingml/2006/main">
              <a:ext uri="{FF2B5EF4-FFF2-40B4-BE49-F238E27FC236}">
                <a16:creationId xmlns:a16="http://schemas.microsoft.com/office/drawing/2014/main" id="{4E9AC8B0-72AF-4D38-983D-B22E30761371}"/>
              </a:ext>
            </a:extLst>
          </p:cNvPr>
          <p:cNvSpPr>
            <a:spLocks xmlns:a="http://schemas.openxmlformats.org/drawingml/2006/main" noGrp="1"/>
          </p:cNvSpPr>
          <p:nvPr/>
        </p:nvSpPr>
        <p:spPr>
          <a:xfrm xmlns:a="http://schemas.openxmlformats.org/drawingml/2006/main">
            <a:off x="8134350" y="483870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13" b="0">
                <a:solidFill>
                  <a:srgbClr val="D92D20"/>
                </a:solidFill>
                <a:latin typeface="Microsoft YaHei"/>
                <a:ea typeface="Microsoft YaHei"/>
                <a:cs typeface="Microsoft YaHei"/>
              </a:defRPr>
            </a:pPr>
            <a:r>
              <a:rPr sz="1013" b="0">
                <a:solidFill>
                  <a:srgbClr val="D92D20"/>
                </a:solidFill>
                <a:latin typeface="Microsoft YaHei"/>
                <a:ea typeface="Microsoft YaHei"/>
                <a:cs typeface="Microsoft YaHei"/>
              </a:rPr>
              <a:t>L_eq 仅为端点换算，不是论文三参数拟合的瞬时损失。</a:t>
            </a:r>
          </a:p>
        </p:txBody>
      </p:sp>
      <p:sp>
        <p:nvSpPr>
          <p:cNvPr id="13" name="">
            <a:extLst xmlns:a="http://schemas.openxmlformats.org/drawingml/2006/main">
              <a:ext uri="{FF2B5EF4-FFF2-40B4-BE49-F238E27FC236}">
                <a16:creationId xmlns:a16="http://schemas.microsoft.com/office/drawing/2014/main" id="{8D585470-AEF4-45A5-863B-825EBB1F231A}"/>
              </a:ext>
            </a:extLst>
          </p:cNvPr>
          <p:cNvSpPr>
            <a:spLocks xmlns:a="http://schemas.openxmlformats.org/drawingml/2006/main" noGrp="1"/>
          </p:cNvSpPr>
          <p:nvPr/>
        </p:nvSpPr>
        <p:spPr>
          <a:xfrm xmlns:a="http://schemas.openxmlformats.org/drawingml/2006/main">
            <a:off x="609600" y="5619750"/>
            <a:ext cx="10972800" cy="609600"/>
          </a:xfrm>
          <a:prstGeom xmlns:a="http://schemas.openxmlformats.org/drawingml/2006/main" prst="roundRect">
            <a:avLst>
              <a:gd name="adj" fmla="val 12500"/>
            </a:avLst>
          </a:prstGeom>
          <a:solidFill xmlns:a="http://schemas.openxmlformats.org/drawingml/2006/main">
            <a:srgbClr val="F2F4F7"/>
          </a:solidFill>
          <a:ln xmlns:a="http://schemas.openxmlformats.org/drawingml/2006/main" w="9525">
            <a:solidFill>
              <a:srgbClr val="EAECF0"/>
            </a:solidFill>
          </a:ln>
        </p:spPr>
      </p:sp>
      <p:sp>
        <p:nvSpPr>
          <p:cNvPr id="14" name="">
            <a:extLst xmlns:a="http://schemas.openxmlformats.org/drawingml/2006/main">
              <a:ext uri="{FF2B5EF4-FFF2-40B4-BE49-F238E27FC236}">
                <a16:creationId xmlns:a16="http://schemas.microsoft.com/office/drawing/2014/main" id="{535A136A-70EA-4317-B345-BAE5A5BA8F3D}"/>
              </a:ext>
            </a:extLst>
          </p:cNvPr>
          <p:cNvSpPr>
            <a:spLocks xmlns:a="http://schemas.openxmlformats.org/drawingml/2006/main" noGrp="1"/>
          </p:cNvSpPr>
          <p:nvPr/>
        </p:nvSpPr>
        <p:spPr>
          <a:xfrm xmlns:a="http://schemas.openxmlformats.org/drawingml/2006/main">
            <a:off x="838200" y="57721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图中 baseline 的离散小台阶由 256 个 shot 的整数计数产生。它们应当单调不增，但不代表连续概率曲线的真实细纹。</a:t>
            </a:r>
          </a:p>
        </p:txBody>
      </p:sp>
      <p:sp>
        <p:nvSpPr>
          <p:cNvPr id="15" name="">
            <a:extLst xmlns:a="http://schemas.openxmlformats.org/drawingml/2006/main">
              <a:ext uri="{FF2B5EF4-FFF2-40B4-BE49-F238E27FC236}">
                <a16:creationId xmlns:a16="http://schemas.microsoft.com/office/drawing/2014/main" id="{9F2D4477-30F5-45D3-B61C-C559EA0689B3}"/>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6" name="">
            <a:extLst xmlns:a="http://schemas.openxmlformats.org/drawingml/2006/main">
              <a:ext uri="{FF2B5EF4-FFF2-40B4-BE49-F238E27FC236}">
                <a16:creationId xmlns:a16="http://schemas.microsoft.com/office/drawing/2014/main" id="{FA34D298-CDCC-41DA-9CC2-F64A896FB0BE}"/>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demo/survival_scan_results.csv · survival_engine.py · statistics.py</a:t>
            </a:r>
          </a:p>
        </p:txBody>
      </p:sp>
      <p:sp>
        <p:nvSpPr>
          <p:cNvPr id="17" name="">
            <a:extLst xmlns:a="http://schemas.openxmlformats.org/drawingml/2006/main">
              <a:ext uri="{FF2B5EF4-FFF2-40B4-BE49-F238E27FC236}">
                <a16:creationId xmlns:a16="http://schemas.microsoft.com/office/drawing/2014/main" id="{D6ECFAFF-7C8D-41D7-91BA-19333624E03D}"/>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08</a:t>
            </a:r>
          </a:p>
        </p:txBody>
      </p:sp>
    </p:spTree>
    <p:extLst>
      <p:ext uri="{BB962C8B-B14F-4D97-AF65-F5344CB8AC3E}">
        <p14:creationId xmlns:p14="http://schemas.microsoft.com/office/powerpoint/2010/main" val="526958351"/>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F5DF6A1-A61C-443E-A82E-FE4C467A47A4}"/>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07</a:t>
            </a:r>
          </a:p>
        </p:txBody>
      </p:sp>
      <p:sp>
        <p:nvSpPr>
          <p:cNvPr id="2" name="">
            <a:extLst xmlns:a="http://schemas.openxmlformats.org/drawingml/2006/main">
              <a:ext uri="{FF2B5EF4-FFF2-40B4-BE49-F238E27FC236}">
                <a16:creationId xmlns:a16="http://schemas.microsoft.com/office/drawing/2014/main" id="{2D0A12E9-7A90-458E-A0BE-22BE5F8F9F95}"/>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Baseline 计算结果</a:t>
            </a:r>
          </a:p>
        </p:txBody>
      </p:sp>
      <p:sp>
        <p:nvSpPr>
          <p:cNvPr id="3" name="">
            <a:extLst xmlns:a="http://schemas.openxmlformats.org/drawingml/2006/main">
              <a:ext uri="{FF2B5EF4-FFF2-40B4-BE49-F238E27FC236}">
                <a16:creationId xmlns:a16="http://schemas.microsoft.com/office/drawing/2014/main" id="{331A3F7B-C3EB-4FF9-9CAF-C03A83F2E503}"/>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6FE14275-8B71-48F3-87FD-06FA33AA0C63}"/>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先用仓库默认参数建立参照，再决定需要扫描哪些机制</a:t>
            </a:r>
          </a:p>
        </p:txBody>
      </p:sp>
      <p:graphicFrame>
        <p:nvGraphicFramePr>
          <p:cNvPr id="20" name="Chart"/>
          <p:cNvGraphicFramePr/>
          <p:nvPr/>
        </p:nvGraphicFramePr>
        <p:xfrm>
          <a:off xmlns:a="http://schemas.openxmlformats.org/drawingml/2006/main" x="609600" y="1371600"/>
          <a:ext xmlns:a="http://schemas.openxmlformats.org/drawingml/2006/main" cx="6858000" cy="3905250"/>
        </p:xfrm>
        <a:graphic xmlns:a="http://schemas.openxmlformats.org/drawingml/2006/main">
          <a:graphicData uri="http://schemas.openxmlformats.org/drawingml/2006/chart">
            <c:chart xmlns:r="http://schemas.openxmlformats.org/officeDocument/2006/relationships" xmlns:c="http://schemas.openxmlformats.org/drawingml/2006/chart" r:id="R42f569c794854896"/>
          </a:graphicData>
        </a:graphic>
      </p:graphicFrame>
      <p:sp>
        <p:nvSpPr>
          <p:cNvPr id="6" name="">
            <a:extLst xmlns:a="http://schemas.openxmlformats.org/drawingml/2006/main">
              <a:ext uri="{FF2B5EF4-FFF2-40B4-BE49-F238E27FC236}">
                <a16:creationId xmlns:a16="http://schemas.microsoft.com/office/drawing/2014/main" id="{DBB9B0F6-9FA7-4251-B462-D02AD7341897}"/>
              </a:ext>
            </a:extLst>
          </p:cNvPr>
          <p:cNvSpPr>
            <a:spLocks xmlns:a="http://schemas.openxmlformats.org/drawingml/2006/main" noGrp="1"/>
          </p:cNvSpPr>
          <p:nvPr/>
        </p:nvSpPr>
        <p:spPr>
          <a:xfrm xmlns:a="http://schemas.openxmlformats.org/drawingml/2006/main">
            <a:off x="7810500" y="1371600"/>
            <a:ext cx="3771900" cy="3905250"/>
          </a:xfrm>
          <a:prstGeom xmlns:a="http://schemas.openxmlformats.org/drawingml/2006/main" prst="roundRect">
            <a:avLst>
              <a:gd name="adj" fmla="val 2020"/>
            </a:avLst>
          </a:prstGeom>
          <a:solidFill xmlns:a="http://schemas.openxmlformats.org/drawingml/2006/main">
            <a:srgbClr val="FFFFFF"/>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21F173D6-77D6-4CC1-9AEA-9581FD68774A}"/>
              </a:ext>
            </a:extLst>
          </p:cNvPr>
          <p:cNvSpPr>
            <a:spLocks xmlns:a="http://schemas.openxmlformats.org/drawingml/2006/main" noGrp="1"/>
          </p:cNvSpPr>
          <p:nvPr/>
        </p:nvSpPr>
        <p:spPr>
          <a:xfrm xmlns:a="http://schemas.openxmlformats.org/drawingml/2006/main">
            <a:off x="8077200" y="16192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Baseline 参数</a:t>
            </a:r>
          </a:p>
        </p:txBody>
      </p:sp>
      <p:graphicFrame>
        <p:nvGraphicFramePr>
          <p:cNvPr id="23" name=""/>
          <p:cNvGraphicFramePr/>
          <p:nvPr/>
        </p:nvGraphicFramePr>
        <p:xfrm>
          <a:off xmlns:a="http://schemas.openxmlformats.org/drawingml/2006/main" x="8077200" y="2038350"/>
          <a:ext xmlns:a="http://schemas.openxmlformats.org/drawingml/2006/main" cx="3238500" cy="2476500"/>
        </p:xfrm>
        <a:graphic xmlns:a="http://schemas.openxmlformats.org/drawingml/2006/main">
          <a:graphicData uri="http://schemas.openxmlformats.org/drawingml/2006/table">
            <a:tbl>
              <a:tblPr/>
              <a:tblGrid>
                <a:gridCol w="1673225"/>
                <a:gridCol w="1565275"/>
              </a:tblGrid>
              <a:tr h="353786">
                <a:tc>
                  <a:txBody>
                    <a:bodyPr>
                      <a:noAutofit/>
                    </a:bodyPr>
                    <a:lstStyle/>
                    <a:p>
                      <a:pPr algn="l"/>
                      <a:r>
                        <a:rPr sz="1050"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r>
              <a:tr h="353786">
                <a:tc>
                  <a:txBody>
                    <a:bodyPr>
                      <a:noAutofit/>
                    </a:bodyPr>
                    <a:lstStyle/>
                    <a:p>
                      <a:pPr algn="l"/>
                      <a:r>
                        <a:rPr sz="1050" b="0">
                          <a:solidFill>
                            <a:srgbClr val="344054"/>
                          </a:solidFill>
                          <a:latin typeface="Microsoft YaHei"/>
                          <a:ea typeface="Microsoft YaHei"/>
                          <a:cs typeface="Microsoft YaHei"/>
                        </a:rPr>
                        <a:t>Temperature</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5 µK</a:t>
                      </a:r>
                    </a:p>
                  </a:txBody>
                  <a:tcPr marL="91440" marR="91440" marT="45720" marB="45720" anchor="ctr">
                    <a:solidFill>
                      <a:srgbClr val="FFFFFF"/>
                    </a:solidFill>
                  </a:tcPr>
                </a:tc>
              </a:tr>
              <a:tr h="353786">
                <a:tc>
                  <a:txBody>
                    <a:bodyPr>
                      <a:noAutofit/>
                    </a:bodyPr>
                    <a:lstStyle/>
                    <a:p>
                      <a:pPr algn="l"/>
                      <a:r>
                        <a:rPr sz="1050"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1×10⁻⁸ Hz⁻¹</a:t>
                      </a:r>
                    </a:p>
                  </a:txBody>
                  <a:tcPr marL="91440" marR="91440" marT="45720" marB="45720" anchor="ctr">
                    <a:solidFill>
                      <a:srgbClr val="F8FAFC"/>
                    </a:solidFill>
                  </a:tcPr>
                </a:tc>
              </a:tr>
              <a:tr h="353786">
                <a:tc>
                  <a:txBody>
                    <a:bodyPr>
                      <a:noAutofit/>
                    </a:bodyPr>
                    <a:lstStyle/>
                    <a:p>
                      <a:pPr algn="l"/>
                      <a:r>
                        <a:rPr sz="1050" b="0">
                          <a:solidFill>
                            <a:srgbClr val="344054"/>
                          </a:solidFill>
                          <a:latin typeface="Microsoft YaHei"/>
                          <a:ea typeface="Microsoft YaHei"/>
                          <a:cs typeface="Microsoft YaHei"/>
                        </a:rPr>
                        <a:t>Static alignment 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0.05 µm</a:t>
                      </a:r>
                    </a:p>
                  </a:txBody>
                  <a:tcPr marL="91440" marR="91440" marT="45720" marB="45720" anchor="ctr">
                    <a:solidFill>
                      <a:srgbClr val="FFFFFF"/>
                    </a:solidFill>
                  </a:tcPr>
                </a:tc>
              </a:tr>
              <a:tr h="353786">
                <a:tc>
                  <a:txBody>
                    <a:bodyPr>
                      <a:noAutofit/>
                    </a:bodyPr>
                    <a:lstStyle/>
                    <a:p>
                      <a:pPr algn="l"/>
                      <a:r>
                        <a:rPr sz="1050" b="0">
                          <a:solidFill>
                            <a:srgbClr val="344054"/>
                          </a:solidFill>
                          <a:latin typeface="Microsoft YaHei"/>
                          <a:ea typeface="Microsoft YaHei"/>
                          <a:cs typeface="Microsoft YaHei"/>
                        </a:rPr>
                        <a:t>Leg-wise jitter 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0.01 µm</a:t>
                      </a:r>
                    </a:p>
                  </a:txBody>
                  <a:tcPr marL="91440" marR="91440" marT="45720" marB="45720" anchor="ctr">
                    <a:solidFill>
                      <a:srgbClr val="F8FAFC"/>
                    </a:solidFill>
                  </a:tcPr>
                </a:tc>
              </a:tr>
              <a:tr h="353786">
                <a:tc>
                  <a:txBody>
                    <a:bodyPr>
                      <a:noAutofit/>
                    </a:bodyPr>
                    <a:lstStyle/>
                    <a:p>
                      <a:pPr algn="l"/>
                      <a:r>
                        <a:rPr sz="1050" b="0">
                          <a:solidFill>
                            <a:srgbClr val="344054"/>
                          </a:solidFill>
                          <a:latin typeface="Microsoft YaHei"/>
                          <a:ea typeface="Microsoft YaHei"/>
                          <a:cs typeface="Microsoft YaHei"/>
                        </a:rPr>
                        <a:t>SLM depth 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11.4%</a:t>
                      </a:r>
                    </a:p>
                  </a:txBody>
                  <a:tcPr marL="91440" marR="91440" marT="45720" marB="45720" anchor="ctr">
                    <a:solidFill>
                      <a:srgbClr val="FFFFFF"/>
                    </a:solidFill>
                  </a:tcPr>
                </a:tc>
              </a:tr>
              <a:tr h="353786">
                <a:tc>
                  <a:txBody>
                    <a:bodyPr>
                      <a:noAutofit/>
                    </a:bodyPr>
                    <a:lstStyle/>
                    <a:p>
                      <a:pPr algn="l"/>
                      <a:r>
                        <a:rPr sz="1050" b="0">
                          <a:solidFill>
                            <a:srgbClr val="344054"/>
                          </a:solidFill>
                          <a:latin typeface="Microsoft YaHei"/>
                          <a:ea typeface="Microsoft YaHei"/>
                          <a:cs typeface="Microsoft YaHei"/>
                        </a:rPr>
                        <a:t>AOD depth / waist 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2% / 2%</a:t>
                      </a:r>
                    </a:p>
                  </a:txBody>
                  <a:tcPr marL="91440" marR="91440" marT="45720" marB="45720" anchor="ctr">
                    <a:solidFill>
                      <a:srgbClr val="F8FAFC"/>
                    </a:solidFill>
                  </a:tcPr>
                </a:tc>
              </a:tr>
            </a:tbl>
          </a:graphicData>
        </a:graphic>
      </p:graphicFrame>
      <p:sp>
        <p:nvSpPr>
          <p:cNvPr id="9" name="">
            <a:extLst xmlns:a="http://schemas.openxmlformats.org/drawingml/2006/main">
              <a:ext uri="{FF2B5EF4-FFF2-40B4-BE49-F238E27FC236}">
                <a16:creationId xmlns:a16="http://schemas.microsoft.com/office/drawing/2014/main" id="{71E799B3-9374-450F-9443-21EF80A4A742}"/>
              </a:ext>
            </a:extLst>
          </p:cNvPr>
          <p:cNvSpPr>
            <a:spLocks xmlns:a="http://schemas.openxmlformats.org/drawingml/2006/main" noGrp="1"/>
          </p:cNvSpPr>
          <p:nvPr/>
        </p:nvSpPr>
        <p:spPr>
          <a:xfrm xmlns:a="http://schemas.openxmlformats.org/drawingml/2006/main">
            <a:off x="8077200" y="462915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D92D20"/>
                </a:solidFill>
                <a:latin typeface="Microsoft YaHei"/>
                <a:ea typeface="Microsoft YaHei"/>
                <a:cs typeface="Microsoft YaHei"/>
              </a:defRPr>
            </a:pPr>
            <a:r>
              <a:rPr sz="1275" b="1">
                <a:solidFill>
                  <a:srgbClr val="D92D20"/>
                </a:solidFill>
                <a:latin typeface="Microsoft YaHei"/>
                <a:ea typeface="Microsoft YaHei"/>
                <a:cs typeface="Microsoft YaHei"/>
              </a:rPr>
              <a:t>主要发现</a:t>
            </a:r>
          </a:p>
        </p:txBody>
      </p:sp>
      <p:sp>
        <p:nvSpPr>
          <p:cNvPr id="10" name="">
            <a:extLst xmlns:a="http://schemas.openxmlformats.org/drawingml/2006/main">
              <a:ext uri="{FF2B5EF4-FFF2-40B4-BE49-F238E27FC236}">
                <a16:creationId xmlns:a16="http://schemas.microsoft.com/office/drawing/2014/main" id="{1EF4C8F7-2720-4B45-A037-88B0F625DB6B}"/>
              </a:ext>
            </a:extLst>
          </p:cNvPr>
          <p:cNvSpPr>
            <a:spLocks xmlns:a="http://schemas.openxmlformats.org/drawingml/2006/main" noGrp="1"/>
          </p:cNvSpPr>
          <p:nvPr/>
        </p:nvSpPr>
        <p:spPr>
          <a:xfrm xmlns:a="http://schemas.openxmlformats.org/drawingml/2006/main">
            <a:off x="8077200" y="491490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13" b="0">
                <a:solidFill>
                  <a:srgbClr val="344054"/>
                </a:solidFill>
                <a:latin typeface="Microsoft YaHei"/>
                <a:ea typeface="Microsoft YaHei"/>
                <a:cs typeface="Microsoft YaHei"/>
              </a:defRPr>
            </a:pPr>
            <a:r>
              <a:rPr sz="1013" b="0">
                <a:solidFill>
                  <a:srgbClr val="344054"/>
                </a:solidFill>
                <a:latin typeface="Microsoft YaHei"/>
                <a:ea typeface="Microsoft YaHei"/>
                <a:cs typeface="Microsoft YaHei"/>
              </a:rPr>
              <a:t>Manual 400/600 均高于论文，说明默认模型的损失强度不足。</a:t>
            </a:r>
          </a:p>
        </p:txBody>
      </p:sp>
      <p:sp>
        <p:nvSpPr>
          <p:cNvPr id="11" name="">
            <a:extLst xmlns:a="http://schemas.openxmlformats.org/drawingml/2006/main">
              <a:ext uri="{FF2B5EF4-FFF2-40B4-BE49-F238E27FC236}">
                <a16:creationId xmlns:a16="http://schemas.microsoft.com/office/drawing/2014/main" id="{39CFF848-C045-49FE-B835-56C1ACF836E6}"/>
              </a:ext>
            </a:extLst>
          </p:cNvPr>
          <p:cNvSpPr>
            <a:spLocks xmlns:a="http://schemas.openxmlformats.org/drawingml/2006/main" noGrp="1"/>
          </p:cNvSpPr>
          <p:nvPr/>
        </p:nvSpPr>
        <p:spPr>
          <a:xfrm xmlns:a="http://schemas.openxmlformats.org/drawingml/2006/main">
            <a:off x="609600" y="5715000"/>
            <a:ext cx="10972800" cy="514350"/>
          </a:xfrm>
          <a:prstGeom xmlns:a="http://schemas.openxmlformats.org/drawingml/2006/main" prst="roundRect">
            <a:avLst>
              <a:gd name="adj" fmla="val 14815"/>
            </a:avLst>
          </a:prstGeom>
          <a:solidFill xmlns:a="http://schemas.openxmlformats.org/drawingml/2006/main">
            <a:srgbClr val="FFF6ED"/>
          </a:solidFill>
          <a:ln xmlns:a="http://schemas.openxmlformats.org/drawingml/2006/main" w="9525">
            <a:solidFill>
              <a:srgbClr val="FEDF89"/>
            </a:solidFill>
          </a:ln>
        </p:spPr>
      </p:sp>
      <p:sp>
        <p:nvSpPr>
          <p:cNvPr id="12" name="">
            <a:extLst xmlns:a="http://schemas.openxmlformats.org/drawingml/2006/main">
              <a:ext uri="{FF2B5EF4-FFF2-40B4-BE49-F238E27FC236}">
                <a16:creationId xmlns:a16="http://schemas.microsoft.com/office/drawing/2014/main" id="{0E0F3180-3240-42E5-A6CC-BCF9C51CD155}"/>
              </a:ext>
            </a:extLst>
          </p:cNvPr>
          <p:cNvSpPr>
            <a:spLocks xmlns:a="http://schemas.openxmlformats.org/drawingml/2006/main" noGrp="1"/>
          </p:cNvSpPr>
          <p:nvPr/>
        </p:nvSpPr>
        <p:spPr>
          <a:xfrm xmlns:a="http://schemas.openxmlformats.org/drawingml/2006/main">
            <a:off x="838200" y="58388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79009"/>
                </a:solidFill>
                <a:latin typeface="Microsoft YaHei"/>
                <a:ea typeface="Microsoft YaHei"/>
                <a:cs typeface="Microsoft YaHei"/>
              </a:defRPr>
            </a:pPr>
            <a:r>
              <a:rPr sz="1275" b="1">
                <a:solidFill>
                  <a:srgbClr val="F79009"/>
                </a:solidFill>
                <a:latin typeface="Microsoft YaHei"/>
                <a:ea typeface="Microsoft YaHei"/>
                <a:cs typeface="Microsoft YaHei"/>
              </a:rPr>
              <a:t>Baseline 是仓库默认参考点，不是实验标定值，也不是通过验收的最佳拟合配置。</a:t>
            </a:r>
          </a:p>
        </p:txBody>
      </p:sp>
      <p:sp>
        <p:nvSpPr>
          <p:cNvPr id="13" name="">
            <a:extLst xmlns:a="http://schemas.openxmlformats.org/drawingml/2006/main">
              <a:ext uri="{FF2B5EF4-FFF2-40B4-BE49-F238E27FC236}">
                <a16:creationId xmlns:a16="http://schemas.microsoft.com/office/drawing/2014/main" id="{69E4133A-F1BD-487D-B43A-31CDB82C4DE1}"/>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4" name="">
            <a:extLst xmlns:a="http://schemas.openxmlformats.org/drawingml/2006/main">
              <a:ext uri="{FF2B5EF4-FFF2-40B4-BE49-F238E27FC236}">
                <a16:creationId xmlns:a16="http://schemas.microsoft.com/office/drawing/2014/main" id="{9BABD10A-EB7D-4845-9109-B1E18648CA60}"/>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demo/survival_scan_results.csv · paper monotone reference</a:t>
            </a:r>
          </a:p>
        </p:txBody>
      </p:sp>
      <p:sp>
        <p:nvSpPr>
          <p:cNvPr id="15" name="">
            <a:extLst xmlns:a="http://schemas.openxmlformats.org/drawingml/2006/main">
              <a:ext uri="{FF2B5EF4-FFF2-40B4-BE49-F238E27FC236}">
                <a16:creationId xmlns:a16="http://schemas.microsoft.com/office/drawing/2014/main" id="{27283273-0772-4083-9E54-888D9EEDCD49}"/>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09</a:t>
            </a:r>
          </a:p>
        </p:txBody>
      </p:sp>
    </p:spTree>
    <p:extLst>
      <p:ext uri="{BB962C8B-B14F-4D97-AF65-F5344CB8AC3E}">
        <p14:creationId xmlns:p14="http://schemas.microsoft.com/office/powerpoint/2010/main" val="1907327801"/>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94119C-6591-423C-AEA3-1891871C78FD}"/>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08</a:t>
            </a:r>
          </a:p>
        </p:txBody>
      </p:sp>
      <p:sp>
        <p:nvSpPr>
          <p:cNvPr id="2" name="">
            <a:extLst xmlns:a="http://schemas.openxmlformats.org/drawingml/2006/main">
              <a:ext uri="{FF2B5EF4-FFF2-40B4-BE49-F238E27FC236}">
                <a16:creationId xmlns:a16="http://schemas.microsoft.com/office/drawing/2014/main" id="{5F8506C0-80C0-4305-B36D-985126C3F00B}"/>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单因素敏感性扫描设计</a:t>
            </a:r>
          </a:p>
        </p:txBody>
      </p:sp>
      <p:sp>
        <p:nvSpPr>
          <p:cNvPr id="3" name="">
            <a:extLst xmlns:a="http://schemas.openxmlformats.org/drawingml/2006/main">
              <a:ext uri="{FF2B5EF4-FFF2-40B4-BE49-F238E27FC236}">
                <a16:creationId xmlns:a16="http://schemas.microsoft.com/office/drawing/2014/main" id="{B63B8965-1347-4F6F-8F60-2C57E1AB251B}"/>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AFFF498E-C1DD-46B4-99D6-0512DBF6125F}"/>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每次只改变一个参数；波形、随机池、阱参数和数值步长保持一致</a:t>
            </a:r>
          </a:p>
        </p:txBody>
      </p:sp>
      <p:graphicFrame>
        <p:nvGraphicFramePr>
          <p:cNvPr id="15" name=""/>
          <p:cNvGraphicFramePr/>
          <p:nvPr/>
        </p:nvGraphicFramePr>
        <p:xfrm>
          <a:off xmlns:a="http://schemas.openxmlformats.org/drawingml/2006/main" x="609600" y="1352550"/>
          <a:ext xmlns:a="http://schemas.openxmlformats.org/drawingml/2006/main" cx="10972800" cy="2647950"/>
        </p:xfrm>
        <a:graphic xmlns:a="http://schemas.openxmlformats.org/drawingml/2006/main">
          <a:graphicData uri="http://schemas.openxmlformats.org/drawingml/2006/table">
            <a:tbl>
              <a:tblPr/>
              <a:tblGrid>
                <a:gridCol w="1976467"/>
                <a:gridCol w="1976467"/>
                <a:gridCol w="2862470"/>
                <a:gridCol w="4157396"/>
              </a:tblGrid>
              <a:tr h="529590">
                <a:tc>
                  <a:txBody>
                    <a:bodyPr>
                      <a:noAutofit/>
                    </a:bodyPr>
                    <a:lstStyle/>
                    <a:p>
                      <a:pPr algn="l"/>
                      <a:r>
                        <a:rPr sz="1050" b="1">
                          <a:solidFill>
                            <a:srgbClr val="FFFFFF"/>
                          </a:solidFill>
                          <a:latin typeface="Microsoft YaHei"/>
                          <a:ea typeface="Microsoft YaHei"/>
                          <a:cs typeface="Microsoft YaHei"/>
                        </a:rPr>
                        <a:t>Parameter</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Baseline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Scan values</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What the scan tests</a:t>
                      </a:r>
                    </a:p>
                  </a:txBody>
                  <a:tcPr marL="91440" marR="91440" marT="45720" marB="45720" anchor="ctr">
                    <a:solidFill>
                      <a:srgbClr val="102A43"/>
                    </a:solidFill>
                  </a:tcPr>
                </a:tc>
              </a:tr>
              <a:tr h="529590">
                <a:tc>
                  <a:txBody>
                    <a:bodyPr>
                      <a:noAutofit/>
                    </a:bodyPr>
                    <a:lstStyle/>
                    <a:p>
                      <a:pPr algn="l"/>
                      <a:r>
                        <a:rPr sz="1125" b="0">
                          <a:solidFill>
                            <a:srgbClr val="344054"/>
                          </a:solidFill>
                          <a:latin typeface="Microsoft YaHei"/>
                          <a:ea typeface="Microsoft YaHei"/>
                          <a:cs typeface="Microsoft YaHei"/>
                        </a:rPr>
                        <a:t>Initial T</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5 µK</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10 / 20 / 30 / 40 µK</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初始能量分布是否靠近逃逸阈值</a:t>
                      </a:r>
                    </a:p>
                  </a:txBody>
                  <a:tcPr marL="91440" marR="91440" marT="45720" marB="45720" anchor="ctr">
                    <a:solidFill>
                      <a:srgbClr val="FFFFFF"/>
                    </a:solidFill>
                  </a:tcPr>
                </a:tc>
              </a:tr>
              <a:tr h="529590">
                <a:tc>
                  <a:txBody>
                    <a:bodyPr>
                      <a:noAutofit/>
                    </a:bodyPr>
                    <a:lstStyle/>
                    <a:p>
                      <a:pPr algn="l"/>
                      <a:r>
                        <a:rPr sz="1125"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1×10⁻⁸ Hz⁻¹</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1×10⁻⁷ / 3×10⁻⁷ Hz⁻¹</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传播过程中的平均参量加热</a:t>
                      </a:r>
                    </a:p>
                  </a:txBody>
                  <a:tcPr marL="91440" marR="91440" marT="45720" marB="45720" anchor="ctr">
                    <a:solidFill>
                      <a:srgbClr val="F8FAFC"/>
                    </a:solidFill>
                  </a:tcPr>
                </a:tc>
              </a:tr>
              <a:tr h="529590">
                <a:tc>
                  <a:txBody>
                    <a:bodyPr>
                      <a:noAutofit/>
                    </a:bodyPr>
                    <a:lstStyle/>
                    <a:p>
                      <a:pPr algn="l"/>
                      <a:r>
                        <a:rPr sz="1125" b="0">
                          <a:solidFill>
                            <a:srgbClr val="344054"/>
                          </a:solidFill>
                          <a:latin typeface="Microsoft YaHei"/>
                          <a:ea typeface="Microsoft YaHei"/>
                          <a:cs typeface="Microsoft YaHei"/>
                        </a:rPr>
                        <a:t>Static alignment σ</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0.05 µm</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0.15 / 0.30 µm</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全程固定的 AOD–SLM 中心失配</a:t>
                      </a:r>
                    </a:p>
                  </a:txBody>
                  <a:tcPr marL="91440" marR="91440" marT="45720" marB="45720" anchor="ctr">
                    <a:solidFill>
                      <a:srgbClr val="FFFFFF"/>
                    </a:solidFill>
                  </a:tcPr>
                </a:tc>
              </a:tr>
              <a:tr h="529590">
                <a:tc>
                  <a:txBody>
                    <a:bodyPr>
                      <a:noAutofit/>
                    </a:bodyPr>
                    <a:lstStyle/>
                    <a:p>
                      <a:pPr algn="l"/>
                      <a:r>
                        <a:rPr sz="1125" b="0">
                          <a:solidFill>
                            <a:srgbClr val="344054"/>
                          </a:solidFill>
                          <a:latin typeface="Microsoft YaHei"/>
                          <a:ea typeface="Microsoft YaHei"/>
                          <a:cs typeface="Microsoft YaHei"/>
                        </a:rPr>
                        <a:t>Leg-wise jitter σ</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0.01 µm</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0.03 / 0.10 µm</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每个阶段重新抽样的对准扰动</a:t>
                      </a:r>
                    </a:p>
                  </a:txBody>
                  <a:tcPr marL="91440" marR="91440" marT="45720" marB="45720" anchor="ctr">
                    <a:solidFill>
                      <a:srgbClr val="F8FAFC"/>
                    </a:solidFill>
                  </a:tcPr>
                </a:tc>
              </a:tr>
            </a:tbl>
          </a:graphicData>
        </a:graphic>
      </p:graphicFrame>
      <p:sp>
        <p:nvSpPr>
          <p:cNvPr id="6" name="">
            <a:extLst xmlns:a="http://schemas.openxmlformats.org/drawingml/2006/main">
              <a:ext uri="{FF2B5EF4-FFF2-40B4-BE49-F238E27FC236}">
                <a16:creationId xmlns:a16="http://schemas.microsoft.com/office/drawing/2014/main" id="{DD0CF591-A804-4275-8531-308077B092A1}"/>
              </a:ext>
            </a:extLst>
          </p:cNvPr>
          <p:cNvSpPr>
            <a:spLocks xmlns:a="http://schemas.openxmlformats.org/drawingml/2006/main" noGrp="1"/>
          </p:cNvSpPr>
          <p:nvPr/>
        </p:nvSpPr>
        <p:spPr>
          <a:xfrm xmlns:a="http://schemas.openxmlformats.org/drawingml/2006/main">
            <a:off x="609600" y="4324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所有场景保持不变的量</a:t>
            </a:r>
          </a:p>
        </p:txBody>
      </p:sp>
      <p:graphicFrame>
        <p:nvGraphicFramePr>
          <p:cNvPr id="17" name=""/>
          <p:cNvGraphicFramePr/>
          <p:nvPr/>
        </p:nvGraphicFramePr>
        <p:xfrm>
          <a:off xmlns:a="http://schemas.openxmlformats.org/drawingml/2006/main" x="609600" y="4724400"/>
          <a:ext xmlns:a="http://schemas.openxmlformats.org/drawingml/2006/main" cx="10972800" cy="1428750"/>
        </p:xfrm>
        <a:graphic xmlns:a="http://schemas.openxmlformats.org/drawingml/2006/main">
          <a:graphicData uri="http://schemas.openxmlformats.org/drawingml/2006/table">
            <a:tbl>
              <a:tblPr/>
              <a:tblGrid>
                <a:gridCol w="2116183"/>
                <a:gridCol w="5094514"/>
                <a:gridCol w="3762103"/>
              </a:tblGrid>
              <a:tr h="285750">
                <a:tc>
                  <a:txBody>
                    <a:bodyPr>
                      <a:noAutofit/>
                    </a:bodyPr>
                    <a:lstStyle/>
                    <a:p>
                      <a:pPr algn="l"/>
                      <a:r>
                        <a:rPr sz="1050" b="1">
                          <a:solidFill>
                            <a:srgbClr val="FFFFFF"/>
                          </a:solidFill>
                          <a:latin typeface="Microsoft YaHei"/>
                          <a:ea typeface="Microsoft YaHei"/>
                          <a:cs typeface="Microsoft YaHei"/>
                        </a:rPr>
                        <a:t>Control</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Fixed value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Reason</a:t>
                      </a:r>
                    </a:p>
                  </a:txBody>
                  <a:tcPr marL="91440" marR="91440" marT="45720" marB="45720" anchor="ctr">
                    <a:solidFill>
                      <a:srgbClr val="102A43"/>
                    </a:solidFill>
                  </a:tcPr>
                </a:tc>
              </a:tr>
              <a:tr h="285750">
                <a:tc>
                  <a:txBody>
                    <a:bodyPr>
                      <a:noAutofit/>
                    </a:bodyPr>
                    <a:lstStyle/>
                    <a:p>
                      <a:pPr algn="l"/>
                      <a:r>
                        <a:rPr sz="1050" b="0">
                          <a:solidFill>
                            <a:srgbClr val="344054"/>
                          </a:solidFill>
                          <a:latin typeface="Microsoft YaHei"/>
                          <a:ea typeface="Microsoft YaHei"/>
                          <a:cs typeface="Microsoft YaHei"/>
                        </a:rPr>
                        <a:t>Trap geometry</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SLM 140 µK, AOD 280 µK, w=1.17 µm, d=2.4 µm</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避免同时改变势能尺度</a:t>
                      </a:r>
                    </a:p>
                  </a:txBody>
                  <a:tcPr marL="91440" marR="91440" marT="45720" marB="45720" anchor="ctr">
                    <a:solidFill>
                      <a:srgbClr val="FFFFFF"/>
                    </a:solidFill>
                  </a:tcPr>
                </a:tc>
              </a:tr>
              <a:tr h="285750">
                <a:tc>
                  <a:txBody>
                    <a:bodyPr>
                      <a:noAutofit/>
                    </a:bodyPr>
                    <a:lstStyle/>
                    <a:p>
                      <a:pPr algn="l"/>
                      <a:r>
                        <a:rPr sz="1050" b="0">
                          <a:solidFill>
                            <a:srgbClr val="344054"/>
                          </a:solidFill>
                          <a:latin typeface="Microsoft YaHei"/>
                          <a:ea typeface="Microsoft YaHei"/>
                          <a:cs typeface="Microsoft YaHei"/>
                        </a:rPr>
                        <a:t>Numerics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dt=0.05 µs, 256 shots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保持统计和离散化口径</a:t>
                      </a:r>
                    </a:p>
                  </a:txBody>
                  <a:tcPr marL="91440" marR="91440" marT="45720" marB="45720" anchor="ctr">
                    <a:solidFill>
                      <a:srgbClr val="F8FAFC"/>
                    </a:solidFill>
                  </a:tcPr>
                </a:tc>
              </a:tr>
              <a:tr h="285750">
                <a:tc>
                  <a:txBody>
                    <a:bodyPr>
                      <a:noAutofit/>
                    </a:bodyPr>
                    <a:lstStyle/>
                    <a:p>
                      <a:pPr algn="l"/>
                      <a:r>
                        <a:rPr sz="1050" b="0">
                          <a:solidFill>
                            <a:srgbClr val="344054"/>
                          </a:solidFill>
                          <a:latin typeface="Microsoft YaHei"/>
                          <a:ea typeface="Microsoft YaHei"/>
                          <a:cs typeface="Microsoft YaHei"/>
                        </a:rPr>
                        <a:t>Random pool</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scan_seed=23001</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跨场景 CRN 配对</a:t>
                      </a:r>
                    </a:p>
                  </a:txBody>
                  <a:tcPr marL="91440" marR="91440" marT="45720" marB="45720" anchor="ctr">
                    <a:solidFill>
                      <a:srgbClr val="FFFFFF"/>
                    </a:solidFill>
                  </a:tcPr>
                </a:tc>
              </a:tr>
              <a:tr h="285750">
                <a:tc>
                  <a:txBody>
                    <a:bodyPr>
                      <a:noAutofit/>
                    </a:bodyPr>
                    <a:lstStyle/>
                    <a:p>
                      <a:pPr algn="l"/>
                      <a:r>
                        <a:rPr sz="1050" b="0">
                          <a:solidFill>
                            <a:srgbClr val="344054"/>
                          </a:solidFill>
                          <a:latin typeface="Microsoft YaHei"/>
                          <a:ea typeface="Microsoft YaHei"/>
                          <a:cs typeface="Microsoft YaHei"/>
                        </a:rPr>
                        <a:t>Waveforms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Manual 200 / 400 / 600 µs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用时长排序区分损失机制</a:t>
                      </a:r>
                    </a:p>
                  </a:txBody>
                  <a:tcPr marL="91440" marR="91440" marT="45720" marB="45720" anchor="ctr">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B7D85E19-2B83-4DA4-B6A8-50740097D453}"/>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87BCBD8C-A194-4573-9249-4444C98005BD}"/>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configs/scan_stage1/*.yaml · summary_stage1.md</a:t>
            </a:r>
          </a:p>
        </p:txBody>
      </p:sp>
      <p:sp>
        <p:nvSpPr>
          <p:cNvPr id="10" name="">
            <a:extLst xmlns:a="http://schemas.openxmlformats.org/drawingml/2006/main">
              <a:ext uri="{FF2B5EF4-FFF2-40B4-BE49-F238E27FC236}">
                <a16:creationId xmlns:a16="http://schemas.microsoft.com/office/drawing/2014/main" id="{235C034F-A356-43D6-A0B1-E65E1700F89F}"/>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10</a:t>
            </a:r>
          </a:p>
        </p:txBody>
      </p:sp>
    </p:spTree>
    <p:extLst>
      <p:ext uri="{BB962C8B-B14F-4D97-AF65-F5344CB8AC3E}">
        <p14:creationId xmlns:p14="http://schemas.microsoft.com/office/powerpoint/2010/main" val="201213386"/>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6D98E41-3F56-4B28-9B8B-675913F53CE5}"/>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09</a:t>
            </a:r>
          </a:p>
        </p:txBody>
      </p:sp>
      <p:sp>
        <p:nvSpPr>
          <p:cNvPr id="2" name="">
            <a:extLst xmlns:a="http://schemas.openxmlformats.org/drawingml/2006/main">
              <a:ext uri="{FF2B5EF4-FFF2-40B4-BE49-F238E27FC236}">
                <a16:creationId xmlns:a16="http://schemas.microsoft.com/office/drawing/2014/main" id="{91AD3C84-63C8-4010-9363-9B3D81A2CEB0}"/>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单因素扫描结果</a:t>
            </a:r>
          </a:p>
        </p:txBody>
      </p:sp>
      <p:sp>
        <p:nvSpPr>
          <p:cNvPr id="3" name="">
            <a:extLst xmlns:a="http://schemas.openxmlformats.org/drawingml/2006/main">
              <a:ext uri="{FF2B5EF4-FFF2-40B4-BE49-F238E27FC236}">
                <a16:creationId xmlns:a16="http://schemas.microsoft.com/office/drawing/2014/main" id="{6BE5AD06-74BE-4B81-BCA9-E6A1563CB2DB}"/>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59B46F74-6ACB-4147-BE22-AE1782BC5B03}"/>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温度和 RIN 改变损失量级；静态对准影响很小，强抖动产生错误的时长结构</a:t>
            </a:r>
          </a:p>
        </p:txBody>
      </p:sp>
      <p:graphicFrame>
        <p:nvGraphicFramePr>
          <p:cNvPr id="18" name="Chart"/>
          <p:cNvGraphicFramePr/>
          <p:nvPr/>
        </p:nvGraphicFramePr>
        <p:xfrm>
          <a:off xmlns:a="http://schemas.openxmlformats.org/drawingml/2006/main" x="609600" y="1352550"/>
          <a:ext xmlns:a="http://schemas.openxmlformats.org/drawingml/2006/main" cx="5219700" cy="3524250"/>
        </p:xfrm>
        <a:graphic xmlns:a="http://schemas.openxmlformats.org/drawingml/2006/main">
          <a:graphicData uri="http://schemas.openxmlformats.org/drawingml/2006/chart">
            <c:chart xmlns:r="http://schemas.openxmlformats.org/officeDocument/2006/relationships" xmlns:c="http://schemas.openxmlformats.org/drawingml/2006/chart" r:id="R031983f283d2461c"/>
          </a:graphicData>
        </a:graphic>
      </p:graphicFrame>
      <p:graphicFrame>
        <p:nvGraphicFramePr>
          <p:cNvPr id="19" name="Chart"/>
          <p:cNvGraphicFramePr/>
          <p:nvPr/>
        </p:nvGraphicFramePr>
        <p:xfrm>
          <a:off xmlns:a="http://schemas.openxmlformats.org/drawingml/2006/main" x="6115050" y="1352550"/>
          <a:ext xmlns:a="http://schemas.openxmlformats.org/drawingml/2006/main" cx="5467350" cy="3524250"/>
        </p:xfrm>
        <a:graphic xmlns:a="http://schemas.openxmlformats.org/drawingml/2006/main">
          <a:graphicData uri="http://schemas.openxmlformats.org/drawingml/2006/chart">
            <c:chart xmlns:r="http://schemas.openxmlformats.org/officeDocument/2006/relationships" xmlns:c="http://schemas.openxmlformats.org/drawingml/2006/chart" r:id="Re86ad11d2d164f01"/>
          </a:graphicData>
        </a:graphic>
      </p:graphicFrame>
      <p:sp>
        <p:nvSpPr>
          <p:cNvPr id="7" name="">
            <a:extLst xmlns:a="http://schemas.openxmlformats.org/drawingml/2006/main">
              <a:ext uri="{FF2B5EF4-FFF2-40B4-BE49-F238E27FC236}">
                <a16:creationId xmlns:a16="http://schemas.microsoft.com/office/drawing/2014/main" id="{0CBBF6B9-0534-4E1A-9124-1482BC0C468B}"/>
              </a:ext>
            </a:extLst>
          </p:cNvPr>
          <p:cNvSpPr>
            <a:spLocks xmlns:a="http://schemas.openxmlformats.org/drawingml/2006/main" noGrp="1"/>
          </p:cNvSpPr>
          <p:nvPr/>
        </p:nvSpPr>
        <p:spPr>
          <a:xfrm xmlns:a="http://schemas.openxmlformats.org/drawingml/2006/main">
            <a:off x="609600" y="5143500"/>
            <a:ext cx="10972800" cy="1085850"/>
          </a:xfrm>
          <a:prstGeom xmlns:a="http://schemas.openxmlformats.org/drawingml/2006/main" prst="roundRect">
            <a:avLst>
              <a:gd name="adj" fmla="val 7018"/>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B6840AA6-85B7-4811-A985-D306EA00DA47}"/>
              </a:ext>
            </a:extLst>
          </p:cNvPr>
          <p:cNvSpPr>
            <a:spLocks xmlns:a="http://schemas.openxmlformats.org/drawingml/2006/main" noGrp="1"/>
          </p:cNvSpPr>
          <p:nvPr/>
        </p:nvSpPr>
        <p:spPr>
          <a:xfrm xmlns:a="http://schemas.openxmlformats.org/drawingml/2006/main">
            <a:off x="838200" y="53149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读数</a:t>
            </a:r>
          </a:p>
        </p:txBody>
      </p:sp>
      <p:sp>
        <p:nvSpPr>
          <p:cNvPr id="9" name="">
            <a:extLst xmlns:a="http://schemas.openxmlformats.org/drawingml/2006/main">
              <a:ext uri="{FF2B5EF4-FFF2-40B4-BE49-F238E27FC236}">
                <a16:creationId xmlns:a16="http://schemas.microsoft.com/office/drawing/2014/main" id="{AD707913-4858-45FE-AE02-AD21179D92DD}"/>
              </a:ext>
            </a:extLst>
          </p:cNvPr>
          <p:cNvSpPr>
            <a:spLocks xmlns:a="http://schemas.openxmlformats.org/drawingml/2006/main" noGrp="1"/>
          </p:cNvSpPr>
          <p:nvPr/>
        </p:nvSpPr>
        <p:spPr>
          <a:xfrm xmlns:a="http://schemas.openxmlformats.org/drawingml/2006/main">
            <a:off x="1695450" y="5276850"/>
            <a:ext cx="9601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344054"/>
                </a:solidFill>
                <a:latin typeface="Microsoft YaHei"/>
                <a:ea typeface="Microsoft YaHei"/>
                <a:cs typeface="Microsoft YaHei"/>
              </a:defRPr>
            </a:pPr>
            <a:r>
              <a:rPr sz="1163" b="0">
                <a:solidFill>
                  <a:srgbClr val="344054"/>
                </a:solidFill>
                <a:latin typeface="Microsoft YaHei"/>
                <a:ea typeface="Microsoft YaHei"/>
                <a:cs typeface="Microsoft YaHei"/>
              </a:rPr>
              <a:t>Paper 400 / 600 µs：0.414 / 0.573。T40：0.527 / 0.680。RIN 3×10⁻⁷：0.359 / 0.434。A0.15/A0.30 接近 baseline；J0.10 为 0.094 / 0.105。</a:t>
            </a:r>
          </a:p>
        </p:txBody>
      </p:sp>
      <p:sp>
        <p:nvSpPr>
          <p:cNvPr id="10" name="">
            <a:extLst xmlns:a="http://schemas.openxmlformats.org/drawingml/2006/main">
              <a:ext uri="{FF2B5EF4-FFF2-40B4-BE49-F238E27FC236}">
                <a16:creationId xmlns:a16="http://schemas.microsoft.com/office/drawing/2014/main" id="{F54EC2A9-7382-46F9-AE77-2990176470CD}"/>
              </a:ext>
            </a:extLst>
          </p:cNvPr>
          <p:cNvSpPr>
            <a:spLocks xmlns:a="http://schemas.openxmlformats.org/drawingml/2006/main" noGrp="1"/>
          </p:cNvSpPr>
          <p:nvPr/>
        </p:nvSpPr>
        <p:spPr>
          <a:xfrm xmlns:a="http://schemas.openxmlformats.org/drawingml/2006/main">
            <a:off x="1695450" y="5772150"/>
            <a:ext cx="9601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D92D20"/>
                </a:solidFill>
                <a:latin typeface="Microsoft YaHei"/>
                <a:ea typeface="Microsoft YaHei"/>
                <a:cs typeface="Microsoft YaHei"/>
              </a:defRPr>
            </a:pPr>
            <a:r>
              <a:rPr sz="1163" b="0">
                <a:solidFill>
                  <a:srgbClr val="D92D20"/>
                </a:solidFill>
                <a:latin typeface="Microsoft YaHei"/>
                <a:ea typeface="Microsoft YaHei"/>
                <a:cs typeface="Microsoft YaHei"/>
              </a:rPr>
              <a:t>解释：T40 和 R3e−7 能把损失推到论文量级附近；J0.10 虽然损失大，但 400/600 几乎同样差，无法解释论文的时长排序。</a:t>
            </a:r>
          </a:p>
        </p:txBody>
      </p:sp>
      <p:sp>
        <p:nvSpPr>
          <p:cNvPr id="11" name="">
            <a:extLst xmlns:a="http://schemas.openxmlformats.org/drawingml/2006/main">
              <a:ext uri="{FF2B5EF4-FFF2-40B4-BE49-F238E27FC236}">
                <a16:creationId xmlns:a16="http://schemas.microsoft.com/office/drawing/2014/main" id="{3F40852C-8DE9-4BAF-8A3F-EDED927A0A4F}"/>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2" name="">
            <a:extLst xmlns:a="http://schemas.openxmlformats.org/drawingml/2006/main">
              <a:ext uri="{FF2B5EF4-FFF2-40B4-BE49-F238E27FC236}">
                <a16:creationId xmlns:a16="http://schemas.microsoft.com/office/drawing/2014/main" id="{08EA888F-D7D9-449F-8543-93B02211A8EF}"/>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raw Stage-1 survival_scan_results.csv for T / RIN / alignment / jitter</a:t>
            </a:r>
          </a:p>
        </p:txBody>
      </p:sp>
      <p:sp>
        <p:nvSpPr>
          <p:cNvPr id="13" name="">
            <a:extLst xmlns:a="http://schemas.openxmlformats.org/drawingml/2006/main">
              <a:ext uri="{FF2B5EF4-FFF2-40B4-BE49-F238E27FC236}">
                <a16:creationId xmlns:a16="http://schemas.microsoft.com/office/drawing/2014/main" id="{4A3511BA-6B31-4F48-A677-992D35CF8FC0}"/>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11</a:t>
            </a:r>
          </a:p>
        </p:txBody>
      </p:sp>
    </p:spTree>
    <p:extLst>
      <p:ext uri="{BB962C8B-B14F-4D97-AF65-F5344CB8AC3E}">
        <p14:creationId xmlns:p14="http://schemas.microsoft.com/office/powerpoint/2010/main" val="1822554413"/>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E2D0806-62E3-4EE9-819B-2EB81AF13177}"/>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10</a:t>
            </a:r>
          </a:p>
        </p:txBody>
      </p:sp>
      <p:sp>
        <p:nvSpPr>
          <p:cNvPr id="2" name="">
            <a:extLst xmlns:a="http://schemas.openxmlformats.org/drawingml/2006/main">
              <a:ext uri="{FF2B5EF4-FFF2-40B4-BE49-F238E27FC236}">
                <a16:creationId xmlns:a16="http://schemas.microsoft.com/office/drawing/2014/main" id="{0760BDD5-7F74-4E03-BD57-3A968C4B49D7}"/>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T40 的完整时长曲线</a:t>
            </a:r>
          </a:p>
        </p:txBody>
      </p:sp>
      <p:sp>
        <p:nvSpPr>
          <p:cNvPr id="3" name="">
            <a:extLst xmlns:a="http://schemas.openxmlformats.org/drawingml/2006/main">
              <a:ext uri="{FF2B5EF4-FFF2-40B4-BE49-F238E27FC236}">
                <a16:creationId xmlns:a16="http://schemas.microsoft.com/office/drawing/2014/main" id="{307ECD3E-706C-4752-B9B7-19D080656126}"/>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A96298B5-DF07-49C9-AC08-DE78A5CE6045}"/>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Paper 使用单调锚点重建；MC 使用 512-shot 独立复核池</a:t>
            </a:r>
          </a:p>
        </p:txBody>
      </p:sp>
      <p:graphicFrame>
        <p:nvGraphicFramePr>
          <p:cNvPr id="17" name="Chart"/>
          <p:cNvGraphicFramePr/>
          <p:nvPr/>
        </p:nvGraphicFramePr>
        <p:xfrm>
          <a:off xmlns:a="http://schemas.openxmlformats.org/drawingml/2006/main" x="609600" y="1352550"/>
          <a:ext xmlns:a="http://schemas.openxmlformats.org/drawingml/2006/main" cx="4095750" cy="3714750"/>
        </p:xfrm>
        <a:graphic xmlns:a="http://schemas.openxmlformats.org/drawingml/2006/main">
          <a:graphicData uri="http://schemas.openxmlformats.org/drawingml/2006/chart">
            <c:chart xmlns:r="http://schemas.openxmlformats.org/officeDocument/2006/relationships" xmlns:c="http://schemas.openxmlformats.org/drawingml/2006/chart" r:id="R17725fae360b4425"/>
          </a:graphicData>
        </a:graphic>
      </p:graphicFrame>
      <p:graphicFrame>
        <p:nvGraphicFramePr>
          <p:cNvPr id="18" name="Chart"/>
          <p:cNvGraphicFramePr/>
          <p:nvPr/>
        </p:nvGraphicFramePr>
        <p:xfrm>
          <a:off xmlns:a="http://schemas.openxmlformats.org/drawingml/2006/main" x="4876800" y="1352550"/>
          <a:ext xmlns:a="http://schemas.openxmlformats.org/drawingml/2006/main" cx="6705600" cy="3714750"/>
        </p:xfrm>
        <a:graphic xmlns:a="http://schemas.openxmlformats.org/drawingml/2006/main">
          <a:graphicData uri="http://schemas.openxmlformats.org/drawingml/2006/chart">
            <c:chart xmlns:r="http://schemas.openxmlformats.org/officeDocument/2006/relationships" xmlns:c="http://schemas.openxmlformats.org/drawingml/2006/chart" r:id="Rd60a142e92ef4429"/>
          </a:graphicData>
        </a:graphic>
      </p:graphicFrame>
      <p:sp>
        <p:nvSpPr>
          <p:cNvPr id="7" name="">
            <a:extLst xmlns:a="http://schemas.openxmlformats.org/drawingml/2006/main">
              <a:ext uri="{FF2B5EF4-FFF2-40B4-BE49-F238E27FC236}">
                <a16:creationId xmlns:a16="http://schemas.microsoft.com/office/drawing/2014/main" id="{ACD2DFE7-743E-4CA5-A163-3B6304D71371}"/>
              </a:ext>
            </a:extLst>
          </p:cNvPr>
          <p:cNvSpPr>
            <a:spLocks xmlns:a="http://schemas.openxmlformats.org/drawingml/2006/main" noGrp="1"/>
          </p:cNvSpPr>
          <p:nvPr/>
        </p:nvSpPr>
        <p:spPr>
          <a:xfrm xmlns:a="http://schemas.openxmlformats.org/drawingml/2006/main">
            <a:off x="609600" y="5276850"/>
            <a:ext cx="10972800" cy="819150"/>
          </a:xfrm>
          <a:prstGeom xmlns:a="http://schemas.openxmlformats.org/drawingml/2006/main" prst="roundRect">
            <a:avLst>
              <a:gd name="adj" fmla="val 9302"/>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7AC93B24-7BF7-41E3-8AC0-D55FC4347710}"/>
              </a:ext>
            </a:extLst>
          </p:cNvPr>
          <p:cNvSpPr>
            <a:spLocks xmlns:a="http://schemas.openxmlformats.org/drawingml/2006/main" noGrp="1"/>
          </p:cNvSpPr>
          <p:nvPr/>
        </p:nvSpPr>
        <p:spPr>
          <a:xfrm xmlns:a="http://schemas.openxmlformats.org/drawingml/2006/main">
            <a:off x="838200" y="5467350"/>
            <a:ext cx="87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结论</a:t>
            </a:r>
          </a:p>
        </p:txBody>
      </p:sp>
      <p:sp>
        <p:nvSpPr>
          <p:cNvPr id="9" name="">
            <a:extLst xmlns:a="http://schemas.openxmlformats.org/drawingml/2006/main">
              <a:ext uri="{FF2B5EF4-FFF2-40B4-BE49-F238E27FC236}">
                <a16:creationId xmlns:a16="http://schemas.microsoft.com/office/drawing/2014/main" id="{F54FA826-5160-4AAB-AAB4-9A7BFAAFE2D6}"/>
              </a:ext>
            </a:extLst>
          </p:cNvPr>
          <p:cNvSpPr>
            <a:spLocks xmlns:a="http://schemas.openxmlformats.org/drawingml/2006/main" noGrp="1"/>
          </p:cNvSpPr>
          <p:nvPr/>
        </p:nvSpPr>
        <p:spPr>
          <a:xfrm xmlns:a="http://schemas.openxmlformats.org/drawingml/2006/main">
            <a:off x="1733550" y="5429250"/>
            <a:ext cx="9544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排序 200 &lt; 400 &lt; 600 与论文一致；200 µs 全程偏低，400/600 µs 从早期偏低转为后期偏高，因此误差不是单一 absolute offset。</a:t>
            </a:r>
          </a:p>
        </p:txBody>
      </p:sp>
      <p:sp>
        <p:nvSpPr>
          <p:cNvPr id="10" name="">
            <a:extLst xmlns:a="http://schemas.openxmlformats.org/drawingml/2006/main">
              <a:ext uri="{FF2B5EF4-FFF2-40B4-BE49-F238E27FC236}">
                <a16:creationId xmlns:a16="http://schemas.microsoft.com/office/drawing/2014/main" id="{4DB9F98E-D861-4096-8171-E5874E49EDE6}"/>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1" name="">
            <a:extLst xmlns:a="http://schemas.openxmlformats.org/drawingml/2006/main">
              <a:ext uri="{FF2B5EF4-FFF2-40B4-BE49-F238E27FC236}">
                <a16:creationId xmlns:a16="http://schemas.microsoft.com/office/drawing/2014/main" id="{5B44FF7F-2F03-4BC7-B793-DE4F5A224847}"/>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fig6d_survival_digitized.csv</a:t>
            </a:r>
          </a:p>
        </p:txBody>
      </p:sp>
      <p:sp>
        <p:nvSpPr>
          <p:cNvPr id="12" name="">
            <a:extLst xmlns:a="http://schemas.openxmlformats.org/drawingml/2006/main">
              <a:ext uri="{FF2B5EF4-FFF2-40B4-BE49-F238E27FC236}">
                <a16:creationId xmlns:a16="http://schemas.microsoft.com/office/drawing/2014/main" id="{4C424682-E10E-425C-B68D-AE4D3DC9D695}"/>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12</a:t>
            </a:r>
          </a:p>
        </p:txBody>
      </p:sp>
    </p:spTree>
    <p:extLst>
      <p:ext uri="{BB962C8B-B14F-4D97-AF65-F5344CB8AC3E}">
        <p14:creationId xmlns:p14="http://schemas.microsoft.com/office/powerpoint/2010/main" val="127535297"/>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3FE535E-283B-438E-B811-840D5A0A75E5}"/>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11</a:t>
            </a:r>
          </a:p>
        </p:txBody>
      </p:sp>
      <p:sp>
        <p:nvSpPr>
          <p:cNvPr id="2" name="">
            <a:extLst xmlns:a="http://schemas.openxmlformats.org/drawingml/2006/main">
              <a:ext uri="{FF2B5EF4-FFF2-40B4-BE49-F238E27FC236}">
                <a16:creationId xmlns:a16="http://schemas.microsoft.com/office/drawing/2014/main" id="{B3D99BFE-9176-4CC0-BF9A-35D3707F0CE9}"/>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Fig. 6c ML 波形的数字化输入</a:t>
            </a:r>
          </a:p>
        </p:txBody>
      </p:sp>
      <p:sp>
        <p:nvSpPr>
          <p:cNvPr id="3" name="">
            <a:extLst xmlns:a="http://schemas.openxmlformats.org/drawingml/2006/main">
              <a:ext uri="{FF2B5EF4-FFF2-40B4-BE49-F238E27FC236}">
                <a16:creationId xmlns:a16="http://schemas.microsoft.com/office/drawing/2014/main" id="{BF9D4072-8FD9-4DE9-B6B9-4946AC4BCBE9}"/>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54A47334-4E75-452C-9F1F-01CAA5520940}"/>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从 PDF 矢量路径读取位置和深度，再在同一 400 µs 网格上与手工波形比较</a:t>
            </a:r>
          </a:p>
        </p:txBody>
      </p:sp>
      <p:graphicFrame>
        <p:nvGraphicFramePr>
          <p:cNvPr id="17" name="Chart"/>
          <p:cNvGraphicFramePr/>
          <p:nvPr/>
        </p:nvGraphicFramePr>
        <p:xfrm>
          <a:off xmlns:a="http://schemas.openxmlformats.org/drawingml/2006/main" x="609600" y="1352550"/>
          <a:ext xmlns:a="http://schemas.openxmlformats.org/drawingml/2006/main" cx="5334000" cy="3619500"/>
        </p:xfrm>
        <a:graphic xmlns:a="http://schemas.openxmlformats.org/drawingml/2006/main">
          <a:graphicData uri="http://schemas.openxmlformats.org/drawingml/2006/chart">
            <c:chart xmlns:r="http://schemas.openxmlformats.org/officeDocument/2006/relationships" xmlns:c="http://schemas.openxmlformats.org/drawingml/2006/chart" r:id="Rc507e1dacfb545a9"/>
          </a:graphicData>
        </a:graphic>
      </p:graphicFrame>
      <p:graphicFrame>
        <p:nvGraphicFramePr>
          <p:cNvPr id="18" name="Chart"/>
          <p:cNvGraphicFramePr/>
          <p:nvPr/>
        </p:nvGraphicFramePr>
        <p:xfrm>
          <a:off xmlns:a="http://schemas.openxmlformats.org/drawingml/2006/main" x="6248400" y="1352550"/>
          <a:ext xmlns:a="http://schemas.openxmlformats.org/drawingml/2006/main" cx="5334000" cy="3619500"/>
        </p:xfrm>
        <a:graphic xmlns:a="http://schemas.openxmlformats.org/drawingml/2006/main">
          <a:graphicData uri="http://schemas.openxmlformats.org/drawingml/2006/chart">
            <c:chart xmlns:r="http://schemas.openxmlformats.org/officeDocument/2006/relationships" xmlns:c="http://schemas.openxmlformats.org/drawingml/2006/chart" r:id="R575b8f24c9144c84"/>
          </a:graphicData>
        </a:graphic>
      </p:graphicFrame>
      <p:sp>
        <p:nvSpPr>
          <p:cNvPr id="7" name="">
            <a:extLst xmlns:a="http://schemas.openxmlformats.org/drawingml/2006/main">
              <a:ext uri="{FF2B5EF4-FFF2-40B4-BE49-F238E27FC236}">
                <a16:creationId xmlns:a16="http://schemas.microsoft.com/office/drawing/2014/main" id="{8BD57852-9CD5-48DD-B2E4-52DDD1C66E8F}"/>
              </a:ext>
            </a:extLst>
          </p:cNvPr>
          <p:cNvSpPr>
            <a:spLocks xmlns:a="http://schemas.openxmlformats.org/drawingml/2006/main" noGrp="1"/>
          </p:cNvSpPr>
          <p:nvPr/>
        </p:nvSpPr>
        <p:spPr>
          <a:xfrm xmlns:a="http://schemas.openxmlformats.org/drawingml/2006/main">
            <a:off x="609600" y="5219700"/>
            <a:ext cx="10972800" cy="876300"/>
          </a:xfrm>
          <a:prstGeom xmlns:a="http://schemas.openxmlformats.org/drawingml/2006/main" prst="roundRect">
            <a:avLst>
              <a:gd name="adj" fmla="val 8696"/>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6D95FCC0-67AC-4CF1-A876-2EEB365CEC04}"/>
              </a:ext>
            </a:extLst>
          </p:cNvPr>
          <p:cNvSpPr>
            <a:spLocks xmlns:a="http://schemas.openxmlformats.org/drawingml/2006/main" noGrp="1"/>
          </p:cNvSpPr>
          <p:nvPr/>
        </p:nvSpPr>
        <p:spPr>
          <a:xfrm xmlns:a="http://schemas.openxmlformats.org/drawingml/2006/main">
            <a:off x="838200" y="54102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输入构造</a:t>
            </a:r>
          </a:p>
        </p:txBody>
      </p:sp>
      <p:sp>
        <p:nvSpPr>
          <p:cNvPr id="9" name="">
            <a:extLst xmlns:a="http://schemas.openxmlformats.org/drawingml/2006/main">
              <a:ext uri="{FF2B5EF4-FFF2-40B4-BE49-F238E27FC236}">
                <a16:creationId xmlns:a16="http://schemas.microsoft.com/office/drawing/2014/main" id="{95ECC011-B912-4920-A530-3D4A31A6B3FC}"/>
              </a:ext>
            </a:extLst>
          </p:cNvPr>
          <p:cNvSpPr>
            <a:spLocks xmlns:a="http://schemas.openxmlformats.org/drawingml/2006/main" noGrp="1"/>
          </p:cNvSpPr>
          <p:nvPr/>
        </p:nvSpPr>
        <p:spPr>
          <a:xfrm xmlns:a="http://schemas.openxmlformats.org/drawingml/2006/main">
            <a:off x="2095500" y="5353050"/>
            <a:ext cx="9220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38" b="0">
                <a:solidFill>
                  <a:srgbClr val="344054"/>
                </a:solidFill>
                <a:latin typeface="Microsoft YaHei"/>
                <a:ea typeface="Microsoft YaHei"/>
                <a:cs typeface="Microsoft YaHei"/>
              </a:defRPr>
            </a:pPr>
            <a:r>
              <a:rPr sz="1238" b="0">
                <a:solidFill>
                  <a:srgbClr val="344054"/>
                </a:solidFill>
                <a:latin typeface="Microsoft YaHei"/>
                <a:ea typeface="Microsoft YaHei"/>
                <a:cs typeface="Microsoft YaHei"/>
              </a:rPr>
              <a:t>矢量提取得到 15 个绘制节点，间隔约 28.57 µs。位置先在约 0.11 µm 停留，待 AOD 接近满深后再加速移动并平缓收尾。普通三次插值连接节点。</a:t>
            </a:r>
          </a:p>
        </p:txBody>
      </p:sp>
      <p:sp>
        <p:nvSpPr>
          <p:cNvPr id="10" name="">
            <a:extLst xmlns:a="http://schemas.openxmlformats.org/drawingml/2006/main">
              <a:ext uri="{FF2B5EF4-FFF2-40B4-BE49-F238E27FC236}">
                <a16:creationId xmlns:a16="http://schemas.microsoft.com/office/drawing/2014/main" id="{98A29605-A29C-4BC6-ABED-45CBE3515FB7}"/>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1" name="">
            <a:extLst xmlns:a="http://schemas.openxmlformats.org/drawingml/2006/main">
              <a:ext uri="{FF2B5EF4-FFF2-40B4-BE49-F238E27FC236}">
                <a16:creationId xmlns:a16="http://schemas.microsoft.com/office/drawing/2014/main" id="{12A3E49D-114B-42A0-8660-B523C4F30A37}"/>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fig6c_ml_trajectory_digitized.json · waveforms.py · PDF page 7</a:t>
            </a:r>
          </a:p>
        </p:txBody>
      </p:sp>
      <p:sp>
        <p:nvSpPr>
          <p:cNvPr id="12" name="">
            <a:extLst xmlns:a="http://schemas.openxmlformats.org/drawingml/2006/main">
              <a:ext uri="{FF2B5EF4-FFF2-40B4-BE49-F238E27FC236}">
                <a16:creationId xmlns:a16="http://schemas.microsoft.com/office/drawing/2014/main" id="{D81484F4-D027-4BD8-9A67-49B9BC46B638}"/>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13</a:t>
            </a:r>
          </a:p>
        </p:txBody>
      </p:sp>
    </p:spTree>
    <p:extLst>
      <p:ext uri="{BB962C8B-B14F-4D97-AF65-F5344CB8AC3E}">
        <p14:creationId xmlns:p14="http://schemas.microsoft.com/office/powerpoint/2010/main" val="1617648661"/>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C5420FE-1F94-4C0E-9840-4961126D47F7}"/>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12</a:t>
            </a:r>
          </a:p>
        </p:txBody>
      </p:sp>
      <p:sp>
        <p:nvSpPr>
          <p:cNvPr id="2" name="">
            <a:extLst xmlns:a="http://schemas.openxmlformats.org/drawingml/2006/main">
              <a:ext uri="{FF2B5EF4-FFF2-40B4-BE49-F238E27FC236}">
                <a16:creationId xmlns:a16="http://schemas.microsoft.com/office/drawing/2014/main" id="{096E1D3F-D31E-4F68-ABC1-DF4F40CB5FB8}"/>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Manual 与 Fig. 6c ML 的端点比较</a:t>
            </a:r>
          </a:p>
        </p:txBody>
      </p:sp>
      <p:sp>
        <p:nvSpPr>
          <p:cNvPr id="3" name="">
            <a:extLst xmlns:a="http://schemas.openxmlformats.org/drawingml/2006/main">
              <a:ext uri="{FF2B5EF4-FFF2-40B4-BE49-F238E27FC236}">
                <a16:creationId xmlns:a16="http://schemas.microsoft.com/office/drawing/2014/main" id="{D99ACAAA-087D-458F-8D0A-3ADCDEC6809E}"/>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3AEE1888-2ACB-49BE-855B-CD0FF2036F96}"/>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在 T40 的同一 256-shot CRN 随机池中回放两条 400 µs 波形</a:t>
            </a:r>
          </a:p>
        </p:txBody>
      </p:sp>
      <p:graphicFrame>
        <p:nvGraphicFramePr>
          <p:cNvPr id="24" name="Chart"/>
          <p:cNvGraphicFramePr/>
          <p:nvPr/>
        </p:nvGraphicFramePr>
        <p:xfrm>
          <a:off xmlns:a="http://schemas.openxmlformats.org/drawingml/2006/main" x="666750" y="1381125"/>
          <a:ext xmlns:a="http://schemas.openxmlformats.org/drawingml/2006/main" cx="7048500" cy="4191000"/>
        </p:xfrm>
        <a:graphic xmlns:a="http://schemas.openxmlformats.org/drawingml/2006/main">
          <a:graphicData uri="http://schemas.openxmlformats.org/drawingml/2006/chart">
            <c:chart xmlns:r="http://schemas.openxmlformats.org/officeDocument/2006/relationships" xmlns:c="http://schemas.openxmlformats.org/drawingml/2006/chart" r:id="Re4d7c642454a4a5a"/>
          </a:graphicData>
        </a:graphic>
      </p:graphicFrame>
      <p:sp>
        <p:nvSpPr>
          <p:cNvPr id="6" name="">
            <a:extLst xmlns:a="http://schemas.openxmlformats.org/drawingml/2006/main">
              <a:ext uri="{FF2B5EF4-FFF2-40B4-BE49-F238E27FC236}">
                <a16:creationId xmlns:a16="http://schemas.microsoft.com/office/drawing/2014/main" id="{3DEC3DE4-F967-4347-A67D-B4C25C884BE6}"/>
              </a:ext>
            </a:extLst>
          </p:cNvPr>
          <p:cNvSpPr>
            <a:spLocks xmlns:a="http://schemas.openxmlformats.org/drawingml/2006/main" noGrp="1"/>
          </p:cNvSpPr>
          <p:nvPr/>
        </p:nvSpPr>
        <p:spPr>
          <a:xfrm xmlns:a="http://schemas.openxmlformats.org/drawingml/2006/main">
            <a:off x="8039100" y="1524000"/>
            <a:ext cx="3200400" cy="1581150"/>
          </a:xfrm>
          <a:prstGeom xmlns:a="http://schemas.openxmlformats.org/drawingml/2006/main" prst="roundRect">
            <a:avLst>
              <a:gd name="adj" fmla="val 4819"/>
            </a:avLst>
          </a:prstGeom>
          <a:solidFill xmlns:a="http://schemas.openxmlformats.org/drawingml/2006/main">
            <a:srgbClr val="ECFDF3"/>
          </a:solidFill>
          <a:ln xmlns:a="http://schemas.openxmlformats.org/drawingml/2006/main" w="9525">
            <a:solidFill>
              <a:srgbClr val="ABEFC6"/>
            </a:solidFill>
          </a:ln>
        </p:spPr>
      </p:sp>
      <p:sp>
        <p:nvSpPr>
          <p:cNvPr id="7" name="">
            <a:extLst xmlns:a="http://schemas.openxmlformats.org/drawingml/2006/main">
              <a:ext uri="{FF2B5EF4-FFF2-40B4-BE49-F238E27FC236}">
                <a16:creationId xmlns:a16="http://schemas.microsoft.com/office/drawing/2014/main" id="{D404B739-756E-4C6F-B126-6413442D0AAC}"/>
              </a:ext>
            </a:extLst>
          </p:cNvPr>
          <p:cNvSpPr>
            <a:spLocks xmlns:a="http://schemas.openxmlformats.org/drawingml/2006/main" noGrp="1"/>
          </p:cNvSpPr>
          <p:nvPr/>
        </p:nvSpPr>
        <p:spPr>
          <a:xfrm xmlns:a="http://schemas.openxmlformats.org/drawingml/2006/main">
            <a:off x="8286750" y="1752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E9384"/>
                </a:solidFill>
                <a:latin typeface="Microsoft YaHei"/>
                <a:ea typeface="Microsoft YaHei"/>
                <a:cs typeface="Microsoft YaHei"/>
              </a:defRPr>
            </a:pPr>
            <a:r>
              <a:rPr sz="1275" b="1">
                <a:solidFill>
                  <a:srgbClr val="0E9384"/>
                </a:solidFill>
                <a:latin typeface="Microsoft YaHei"/>
                <a:ea typeface="Microsoft YaHei"/>
                <a:cs typeface="Microsoft YaHei"/>
              </a:rPr>
              <a:t>Paper ΔS</a:t>
            </a:r>
          </a:p>
        </p:txBody>
      </p:sp>
      <p:sp>
        <p:nvSpPr>
          <p:cNvPr id="8" name="">
            <a:extLst xmlns:a="http://schemas.openxmlformats.org/drawingml/2006/main">
              <a:ext uri="{FF2B5EF4-FFF2-40B4-BE49-F238E27FC236}">
                <a16:creationId xmlns:a16="http://schemas.microsoft.com/office/drawing/2014/main" id="{EC10B7A0-27AE-4170-8034-9930D034B513}"/>
              </a:ext>
            </a:extLst>
          </p:cNvPr>
          <p:cNvSpPr>
            <a:spLocks xmlns:a="http://schemas.openxmlformats.org/drawingml/2006/main" noGrp="1"/>
          </p:cNvSpPr>
          <p:nvPr/>
        </p:nvSpPr>
        <p:spPr>
          <a:xfrm xmlns:a="http://schemas.openxmlformats.org/drawingml/2006/main">
            <a:off x="8286750" y="209550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0E9384"/>
                </a:solidFill>
                <a:latin typeface="Microsoft YaHei"/>
                <a:ea typeface="Microsoft YaHei"/>
                <a:cs typeface="Microsoft YaHei"/>
              </a:defRPr>
            </a:pPr>
            <a:r>
              <a:rPr sz="2850" b="1">
                <a:solidFill>
                  <a:srgbClr val="0E9384"/>
                </a:solidFill>
                <a:latin typeface="Microsoft YaHei"/>
                <a:ea typeface="Microsoft YaHei"/>
                <a:cs typeface="Microsoft YaHei"/>
              </a:rPr>
              <a:t>+0.250</a:t>
            </a:r>
          </a:p>
        </p:txBody>
      </p:sp>
      <p:sp>
        <p:nvSpPr>
          <p:cNvPr id="9" name="">
            <a:extLst xmlns:a="http://schemas.openxmlformats.org/drawingml/2006/main">
              <a:ext uri="{FF2B5EF4-FFF2-40B4-BE49-F238E27FC236}">
                <a16:creationId xmlns:a16="http://schemas.microsoft.com/office/drawing/2014/main" id="{8052C7EA-0868-4300-A14B-B7FCE215964B}"/>
              </a:ext>
            </a:extLst>
          </p:cNvPr>
          <p:cNvSpPr>
            <a:spLocks xmlns:a="http://schemas.openxmlformats.org/drawingml/2006/main" noGrp="1"/>
          </p:cNvSpPr>
          <p:nvPr/>
        </p:nvSpPr>
        <p:spPr>
          <a:xfrm xmlns:a="http://schemas.openxmlformats.org/drawingml/2006/main">
            <a:off x="8286750" y="264795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41.3% to 66.3%</a:t>
            </a:r>
          </a:p>
        </p:txBody>
      </p:sp>
      <p:sp>
        <p:nvSpPr>
          <p:cNvPr id="10" name="">
            <a:extLst xmlns:a="http://schemas.openxmlformats.org/drawingml/2006/main">
              <a:ext uri="{FF2B5EF4-FFF2-40B4-BE49-F238E27FC236}">
                <a16:creationId xmlns:a16="http://schemas.microsoft.com/office/drawing/2014/main" id="{D521554E-66AF-49A7-BC35-A2DD8AC0059C}"/>
              </a:ext>
            </a:extLst>
          </p:cNvPr>
          <p:cNvSpPr>
            <a:spLocks xmlns:a="http://schemas.openxmlformats.org/drawingml/2006/main" noGrp="1"/>
          </p:cNvSpPr>
          <p:nvPr/>
        </p:nvSpPr>
        <p:spPr>
          <a:xfrm xmlns:a="http://schemas.openxmlformats.org/drawingml/2006/main">
            <a:off x="8286750" y="288607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Equivalent loss 1.46% to 0.68%</a:t>
            </a:r>
          </a:p>
        </p:txBody>
      </p:sp>
      <p:sp>
        <p:nvSpPr>
          <p:cNvPr id="11" name="">
            <a:extLst xmlns:a="http://schemas.openxmlformats.org/drawingml/2006/main">
              <a:ext uri="{FF2B5EF4-FFF2-40B4-BE49-F238E27FC236}">
                <a16:creationId xmlns:a16="http://schemas.microsoft.com/office/drawing/2014/main" id="{1D00FE83-92DA-4A70-8217-8C85548F6EDE}"/>
              </a:ext>
            </a:extLst>
          </p:cNvPr>
          <p:cNvSpPr>
            <a:spLocks xmlns:a="http://schemas.openxmlformats.org/drawingml/2006/main" noGrp="1"/>
          </p:cNvSpPr>
          <p:nvPr/>
        </p:nvSpPr>
        <p:spPr>
          <a:xfrm xmlns:a="http://schemas.openxmlformats.org/drawingml/2006/main">
            <a:off x="8039100" y="3333750"/>
            <a:ext cx="3200400" cy="1581150"/>
          </a:xfrm>
          <a:prstGeom xmlns:a="http://schemas.openxmlformats.org/drawingml/2006/main" prst="roundRect">
            <a:avLst>
              <a:gd name="adj" fmla="val 4819"/>
            </a:avLst>
          </a:prstGeom>
          <a:solidFill xmlns:a="http://schemas.openxmlformats.org/drawingml/2006/main">
            <a:srgbClr val="EFF8FF"/>
          </a:solidFill>
          <a:ln xmlns:a="http://schemas.openxmlformats.org/drawingml/2006/main" w="9525">
            <a:solidFill>
              <a:srgbClr val="B2DDFF"/>
            </a:solidFill>
          </a:ln>
        </p:spPr>
      </p:sp>
      <p:sp>
        <p:nvSpPr>
          <p:cNvPr id="12" name="">
            <a:extLst xmlns:a="http://schemas.openxmlformats.org/drawingml/2006/main">
              <a:ext uri="{FF2B5EF4-FFF2-40B4-BE49-F238E27FC236}">
                <a16:creationId xmlns:a16="http://schemas.microsoft.com/office/drawing/2014/main" id="{E3C20059-7949-479B-AB25-3374EC4F7C38}"/>
              </a:ext>
            </a:extLst>
          </p:cNvPr>
          <p:cNvSpPr>
            <a:spLocks xmlns:a="http://schemas.openxmlformats.org/drawingml/2006/main" noGrp="1"/>
          </p:cNvSpPr>
          <p:nvPr/>
        </p:nvSpPr>
        <p:spPr>
          <a:xfrm xmlns:a="http://schemas.openxmlformats.org/drawingml/2006/main">
            <a:off x="8286750" y="35623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570EF"/>
                </a:solidFill>
                <a:latin typeface="Microsoft YaHei"/>
                <a:ea typeface="Microsoft YaHei"/>
                <a:cs typeface="Microsoft YaHei"/>
              </a:defRPr>
            </a:pPr>
            <a:r>
              <a:rPr sz="1275" b="1">
                <a:solidFill>
                  <a:srgbClr val="1570EF"/>
                </a:solidFill>
                <a:latin typeface="Microsoft YaHei"/>
                <a:ea typeface="Microsoft YaHei"/>
                <a:cs typeface="Microsoft YaHei"/>
              </a:rPr>
              <a:t>MC T40 ΔS</a:t>
            </a:r>
          </a:p>
        </p:txBody>
      </p:sp>
      <p:sp>
        <p:nvSpPr>
          <p:cNvPr id="13" name="">
            <a:extLst xmlns:a="http://schemas.openxmlformats.org/drawingml/2006/main">
              <a:ext uri="{FF2B5EF4-FFF2-40B4-BE49-F238E27FC236}">
                <a16:creationId xmlns:a16="http://schemas.microsoft.com/office/drawing/2014/main" id="{64023940-FAD8-44AD-BF9F-27A739509C04}"/>
              </a:ext>
            </a:extLst>
          </p:cNvPr>
          <p:cNvSpPr>
            <a:spLocks xmlns:a="http://schemas.openxmlformats.org/drawingml/2006/main" noGrp="1"/>
          </p:cNvSpPr>
          <p:nvPr/>
        </p:nvSpPr>
        <p:spPr>
          <a:xfrm xmlns:a="http://schemas.openxmlformats.org/drawingml/2006/main">
            <a:off x="8286750" y="390525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570EF"/>
                </a:solidFill>
                <a:latin typeface="Microsoft YaHei"/>
                <a:ea typeface="Microsoft YaHei"/>
                <a:cs typeface="Microsoft YaHei"/>
              </a:defRPr>
            </a:pPr>
            <a:r>
              <a:rPr sz="2850" b="1">
                <a:solidFill>
                  <a:srgbClr val="1570EF"/>
                </a:solidFill>
                <a:latin typeface="Microsoft YaHei"/>
                <a:ea typeface="Microsoft YaHei"/>
                <a:cs typeface="Microsoft YaHei"/>
              </a:rPr>
              <a:t>+0.230</a:t>
            </a:r>
          </a:p>
        </p:txBody>
      </p:sp>
      <p:sp>
        <p:nvSpPr>
          <p:cNvPr id="14" name="">
            <a:extLst xmlns:a="http://schemas.openxmlformats.org/drawingml/2006/main">
              <a:ext uri="{FF2B5EF4-FFF2-40B4-BE49-F238E27FC236}">
                <a16:creationId xmlns:a16="http://schemas.microsoft.com/office/drawing/2014/main" id="{CACF73B4-1D4A-46FE-8529-434464193F39}"/>
              </a:ext>
            </a:extLst>
          </p:cNvPr>
          <p:cNvSpPr>
            <a:spLocks xmlns:a="http://schemas.openxmlformats.org/drawingml/2006/main" noGrp="1"/>
          </p:cNvSpPr>
          <p:nvPr/>
        </p:nvSpPr>
        <p:spPr>
          <a:xfrm xmlns:a="http://schemas.openxmlformats.org/drawingml/2006/main">
            <a:off x="8286750" y="4457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52.7% to 75.8%</a:t>
            </a:r>
          </a:p>
        </p:txBody>
      </p:sp>
      <p:sp>
        <p:nvSpPr>
          <p:cNvPr id="15" name="">
            <a:extLst xmlns:a="http://schemas.openxmlformats.org/drawingml/2006/main">
              <a:ext uri="{FF2B5EF4-FFF2-40B4-BE49-F238E27FC236}">
                <a16:creationId xmlns:a16="http://schemas.microsoft.com/office/drawing/2014/main" id="{040C0125-3142-4100-AFF8-363B0319D6AC}"/>
              </a:ext>
            </a:extLst>
          </p:cNvPr>
          <p:cNvSpPr>
            <a:spLocks xmlns:a="http://schemas.openxmlformats.org/drawingml/2006/main" noGrp="1"/>
          </p:cNvSpPr>
          <p:nvPr/>
        </p:nvSpPr>
        <p:spPr>
          <a:xfrm xmlns:a="http://schemas.openxmlformats.org/drawingml/2006/main">
            <a:off x="8286750" y="469582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Equivalent loss 1.06% to 0.46%</a:t>
            </a:r>
          </a:p>
        </p:txBody>
      </p:sp>
      <p:sp>
        <p:nvSpPr>
          <p:cNvPr id="16" name="">
            <a:extLst xmlns:a="http://schemas.openxmlformats.org/drawingml/2006/main">
              <a:ext uri="{FF2B5EF4-FFF2-40B4-BE49-F238E27FC236}">
                <a16:creationId xmlns:a16="http://schemas.microsoft.com/office/drawing/2014/main" id="{9565F933-91A5-46D9-A5D7-9C6E66732070}"/>
              </a:ext>
            </a:extLst>
          </p:cNvPr>
          <p:cNvSpPr>
            <a:spLocks xmlns:a="http://schemas.openxmlformats.org/drawingml/2006/main" noGrp="1"/>
          </p:cNvSpPr>
          <p:nvPr/>
        </p:nvSpPr>
        <p:spPr>
          <a:xfrm xmlns:a="http://schemas.openxmlformats.org/drawingml/2006/main">
            <a:off x="8039100" y="5257800"/>
            <a:ext cx="320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92D20"/>
                </a:solidFill>
                <a:latin typeface="Microsoft YaHei"/>
                <a:ea typeface="Microsoft YaHei"/>
                <a:cs typeface="Microsoft YaHei"/>
              </a:defRPr>
            </a:pPr>
            <a:r>
              <a:rPr sz="1275" b="0">
                <a:solidFill>
                  <a:srgbClr val="D92D20"/>
                </a:solidFill>
                <a:latin typeface="Microsoft YaHei"/>
                <a:ea typeface="Microsoft YaHei"/>
                <a:cs typeface="Microsoft YaHei"/>
              </a:rPr>
              <a:t>相对增益接近论文，但 MC 的 Manual 和 ML 绝对存活率仍偏高。</a:t>
            </a:r>
          </a:p>
        </p:txBody>
      </p:sp>
      <p:sp>
        <p:nvSpPr>
          <p:cNvPr id="17" name="">
            <a:extLst xmlns:a="http://schemas.openxmlformats.org/drawingml/2006/main">
              <a:ext uri="{FF2B5EF4-FFF2-40B4-BE49-F238E27FC236}">
                <a16:creationId xmlns:a16="http://schemas.microsoft.com/office/drawing/2014/main" id="{96A167A2-B6E5-43A6-AEA6-00776AD09D9A}"/>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8" name="">
            <a:extLst xmlns:a="http://schemas.openxmlformats.org/drawingml/2006/main">
              <a:ext uri="{FF2B5EF4-FFF2-40B4-BE49-F238E27FC236}">
                <a16:creationId xmlns:a16="http://schemas.microsoft.com/office/drawing/2014/main" id="{7FCD3B31-1D60-4EA7-811D-2C0B4CE835C5}"/>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paper_ml_eval.json · fig6d_survival_digitized.csv</a:t>
            </a:r>
          </a:p>
        </p:txBody>
      </p:sp>
      <p:sp>
        <p:nvSpPr>
          <p:cNvPr id="19" name="">
            <a:extLst xmlns:a="http://schemas.openxmlformats.org/drawingml/2006/main">
              <a:ext uri="{FF2B5EF4-FFF2-40B4-BE49-F238E27FC236}">
                <a16:creationId xmlns:a16="http://schemas.microsoft.com/office/drawing/2014/main" id="{7A38E2FE-5F80-477F-BC8E-63EE139B4D81}"/>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14</a:t>
            </a:r>
          </a:p>
        </p:txBody>
      </p:sp>
    </p:spTree>
    <p:extLst>
      <p:ext uri="{BB962C8B-B14F-4D97-AF65-F5344CB8AC3E}">
        <p14:creationId xmlns:p14="http://schemas.microsoft.com/office/powerpoint/2010/main" val="925425313"/>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AC0555B-3490-4FF2-86FD-EC0478A56C16}"/>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13</a:t>
            </a:r>
          </a:p>
        </p:txBody>
      </p:sp>
      <p:sp>
        <p:nvSpPr>
          <p:cNvPr id="2" name="">
            <a:extLst xmlns:a="http://schemas.openxmlformats.org/drawingml/2006/main">
              <a:ext uri="{FF2B5EF4-FFF2-40B4-BE49-F238E27FC236}">
                <a16:creationId xmlns:a16="http://schemas.microsoft.com/office/drawing/2014/main" id="{3074DE73-B828-4EA3-88F4-8A718B3E3D79}"/>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2×2 交叉消融定位 ML 增益来源</a:t>
            </a:r>
          </a:p>
        </p:txBody>
      </p:sp>
      <p:sp>
        <p:nvSpPr>
          <p:cNvPr id="3" name="">
            <a:extLst xmlns:a="http://schemas.openxmlformats.org/drawingml/2006/main">
              <a:ext uri="{FF2B5EF4-FFF2-40B4-BE49-F238E27FC236}">
                <a16:creationId xmlns:a16="http://schemas.microsoft.com/office/drawing/2014/main" id="{D374636D-3879-4908-83CE-27930F07D65F}"/>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3CDB5BD1-B1E0-415F-AA63-90ABE7C61F2E}"/>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分别替换 position 和 depth，在同一 T40、512-shot 条件下计算四个组合</a:t>
            </a:r>
          </a:p>
        </p:txBody>
      </p:sp>
      <p:graphicFrame>
        <p:nvGraphicFramePr>
          <p:cNvPr id="22" name="Chart"/>
          <p:cNvGraphicFramePr/>
          <p:nvPr/>
        </p:nvGraphicFramePr>
        <p:xfrm>
          <a:off xmlns:a="http://schemas.openxmlformats.org/drawingml/2006/main" x="628650" y="1409700"/>
          <a:ext xmlns:a="http://schemas.openxmlformats.org/drawingml/2006/main" cx="6858000" cy="4095750"/>
        </p:xfrm>
        <a:graphic xmlns:a="http://schemas.openxmlformats.org/drawingml/2006/main">
          <a:graphicData uri="http://schemas.openxmlformats.org/drawingml/2006/chart">
            <c:chart xmlns:r="http://schemas.openxmlformats.org/officeDocument/2006/relationships" xmlns:c="http://schemas.openxmlformats.org/drawingml/2006/chart" r:id="R83b11042218542a5"/>
          </a:graphicData>
        </a:graphic>
      </p:graphicFrame>
      <p:sp>
        <p:nvSpPr>
          <p:cNvPr id="6" name="">
            <a:extLst xmlns:a="http://schemas.openxmlformats.org/drawingml/2006/main">
              <a:ext uri="{FF2B5EF4-FFF2-40B4-BE49-F238E27FC236}">
                <a16:creationId xmlns:a16="http://schemas.microsoft.com/office/drawing/2014/main" id="{76051AF2-BF08-4AE8-B91B-3F2E60BC2578}"/>
              </a:ext>
            </a:extLst>
          </p:cNvPr>
          <p:cNvSpPr>
            <a:spLocks xmlns:a="http://schemas.openxmlformats.org/drawingml/2006/main" noGrp="1"/>
          </p:cNvSpPr>
          <p:nvPr/>
        </p:nvSpPr>
        <p:spPr>
          <a:xfrm xmlns:a="http://schemas.openxmlformats.org/drawingml/2006/main">
            <a:off x="7848600" y="1466850"/>
            <a:ext cx="3429000" cy="1733550"/>
          </a:xfrm>
          <a:prstGeom xmlns:a="http://schemas.openxmlformats.org/drawingml/2006/main" prst="roundRect">
            <a:avLst>
              <a:gd name="adj" fmla="val 4396"/>
            </a:avLst>
          </a:prstGeom>
          <a:solidFill xmlns:a="http://schemas.openxmlformats.org/drawingml/2006/main">
            <a:srgbClr val="ECFDF3"/>
          </a:solidFill>
          <a:ln xmlns:a="http://schemas.openxmlformats.org/drawingml/2006/main" w="9525">
            <a:solidFill>
              <a:srgbClr val="ABEFC6"/>
            </a:solidFill>
          </a:ln>
        </p:spPr>
      </p:sp>
      <p:sp>
        <p:nvSpPr>
          <p:cNvPr id="7" name="">
            <a:extLst xmlns:a="http://schemas.openxmlformats.org/drawingml/2006/main">
              <a:ext uri="{FF2B5EF4-FFF2-40B4-BE49-F238E27FC236}">
                <a16:creationId xmlns:a16="http://schemas.microsoft.com/office/drawing/2014/main" id="{98FAD70B-C3DC-49EA-8AB6-20ABE76C59F5}"/>
              </a:ext>
            </a:extLst>
          </p:cNvPr>
          <p:cNvSpPr>
            <a:spLocks xmlns:a="http://schemas.openxmlformats.org/drawingml/2006/main" noGrp="1"/>
          </p:cNvSpPr>
          <p:nvPr/>
        </p:nvSpPr>
        <p:spPr>
          <a:xfrm xmlns:a="http://schemas.openxmlformats.org/drawingml/2006/main">
            <a:off x="8096250" y="169545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E9384"/>
                </a:solidFill>
                <a:latin typeface="Microsoft YaHei"/>
                <a:ea typeface="Microsoft YaHei"/>
                <a:cs typeface="Microsoft YaHei"/>
              </a:defRPr>
            </a:pPr>
            <a:r>
              <a:rPr sz="1275" b="1">
                <a:solidFill>
                  <a:srgbClr val="0E9384"/>
                </a:solidFill>
                <a:latin typeface="Microsoft YaHei"/>
                <a:ea typeface="Microsoft YaHei"/>
                <a:cs typeface="Microsoft YaHei"/>
              </a:rPr>
              <a:t>位置替换的增益</a:t>
            </a:r>
          </a:p>
        </p:txBody>
      </p:sp>
      <p:sp>
        <p:nvSpPr>
          <p:cNvPr id="8" name="">
            <a:extLst xmlns:a="http://schemas.openxmlformats.org/drawingml/2006/main">
              <a:ext uri="{FF2B5EF4-FFF2-40B4-BE49-F238E27FC236}">
                <a16:creationId xmlns:a16="http://schemas.microsoft.com/office/drawing/2014/main" id="{0DA7E024-E2AE-43CB-8884-CE6F0A0D8C53}"/>
              </a:ext>
            </a:extLst>
          </p:cNvPr>
          <p:cNvSpPr>
            <a:spLocks xmlns:a="http://schemas.openxmlformats.org/drawingml/2006/main" noGrp="1"/>
          </p:cNvSpPr>
          <p:nvPr/>
        </p:nvSpPr>
        <p:spPr>
          <a:xfrm xmlns:a="http://schemas.openxmlformats.org/drawingml/2006/main">
            <a:off x="8096250" y="2076450"/>
            <a:ext cx="291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0E9384"/>
                </a:solidFill>
                <a:latin typeface="Microsoft YaHei"/>
                <a:ea typeface="Microsoft YaHei"/>
                <a:cs typeface="Microsoft YaHei"/>
              </a:defRPr>
            </a:pPr>
            <a:r>
              <a:rPr sz="2250" b="1">
                <a:solidFill>
                  <a:srgbClr val="0E9384"/>
                </a:solidFill>
                <a:latin typeface="Microsoft YaHei"/>
                <a:ea typeface="Microsoft YaHei"/>
                <a:cs typeface="Microsoft YaHei"/>
              </a:rPr>
              <a:t>+0.283 / +0.275</a:t>
            </a:r>
          </a:p>
        </p:txBody>
      </p:sp>
      <p:sp>
        <p:nvSpPr>
          <p:cNvPr id="9" name="">
            <a:extLst xmlns:a="http://schemas.openxmlformats.org/drawingml/2006/main">
              <a:ext uri="{FF2B5EF4-FFF2-40B4-BE49-F238E27FC236}">
                <a16:creationId xmlns:a16="http://schemas.microsoft.com/office/drawing/2014/main" id="{38C7B9F7-845D-4AB7-9902-89561380A8AF}"/>
              </a:ext>
            </a:extLst>
          </p:cNvPr>
          <p:cNvSpPr>
            <a:spLocks xmlns:a="http://schemas.openxmlformats.org/drawingml/2006/main" noGrp="1"/>
          </p:cNvSpPr>
          <p:nvPr/>
        </p:nvSpPr>
        <p:spPr>
          <a:xfrm xmlns:a="http://schemas.openxmlformats.org/drawingml/2006/main">
            <a:off x="8096250" y="264795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深度来源不同的两组对照均成立</a:t>
            </a:r>
          </a:p>
        </p:txBody>
      </p:sp>
      <p:sp>
        <p:nvSpPr>
          <p:cNvPr id="10" name="">
            <a:extLst xmlns:a="http://schemas.openxmlformats.org/drawingml/2006/main">
              <a:ext uri="{FF2B5EF4-FFF2-40B4-BE49-F238E27FC236}">
                <a16:creationId xmlns:a16="http://schemas.microsoft.com/office/drawing/2014/main" id="{7BBF7A06-251F-4115-B377-2E30BC69BAFD}"/>
              </a:ext>
            </a:extLst>
          </p:cNvPr>
          <p:cNvSpPr>
            <a:spLocks xmlns:a="http://schemas.openxmlformats.org/drawingml/2006/main" noGrp="1"/>
          </p:cNvSpPr>
          <p:nvPr/>
        </p:nvSpPr>
        <p:spPr>
          <a:xfrm xmlns:a="http://schemas.openxmlformats.org/drawingml/2006/main">
            <a:off x="7848600" y="3429000"/>
            <a:ext cx="3429000" cy="1733550"/>
          </a:xfrm>
          <a:prstGeom xmlns:a="http://schemas.openxmlformats.org/drawingml/2006/main" prst="roundRect">
            <a:avLst>
              <a:gd name="adj" fmla="val 4396"/>
            </a:avLst>
          </a:prstGeom>
          <a:solidFill xmlns:a="http://schemas.openxmlformats.org/drawingml/2006/main">
            <a:srgbClr val="FFF6ED"/>
          </a:solidFill>
          <a:ln xmlns:a="http://schemas.openxmlformats.org/drawingml/2006/main" w="9525">
            <a:solidFill>
              <a:srgbClr val="FEDF89"/>
            </a:solidFill>
          </a:ln>
        </p:spPr>
      </p:sp>
      <p:sp>
        <p:nvSpPr>
          <p:cNvPr id="11" name="">
            <a:extLst xmlns:a="http://schemas.openxmlformats.org/drawingml/2006/main">
              <a:ext uri="{FF2B5EF4-FFF2-40B4-BE49-F238E27FC236}">
                <a16:creationId xmlns:a16="http://schemas.microsoft.com/office/drawing/2014/main" id="{FF07D503-F97D-4347-B806-B8C6BB7DE3EA}"/>
              </a:ext>
            </a:extLst>
          </p:cNvPr>
          <p:cNvSpPr>
            <a:spLocks xmlns:a="http://schemas.openxmlformats.org/drawingml/2006/main" noGrp="1"/>
          </p:cNvSpPr>
          <p:nvPr/>
        </p:nvSpPr>
        <p:spPr>
          <a:xfrm xmlns:a="http://schemas.openxmlformats.org/drawingml/2006/main">
            <a:off x="8096250" y="365760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79009"/>
                </a:solidFill>
                <a:latin typeface="Microsoft YaHei"/>
                <a:ea typeface="Microsoft YaHei"/>
                <a:cs typeface="Microsoft YaHei"/>
              </a:defRPr>
            </a:pPr>
            <a:r>
              <a:rPr sz="1275" b="1">
                <a:solidFill>
                  <a:srgbClr val="F79009"/>
                </a:solidFill>
                <a:latin typeface="Microsoft YaHei"/>
                <a:ea typeface="Microsoft YaHei"/>
                <a:cs typeface="Microsoft YaHei"/>
              </a:rPr>
              <a:t>深度替换的增益</a:t>
            </a:r>
          </a:p>
        </p:txBody>
      </p:sp>
      <p:sp>
        <p:nvSpPr>
          <p:cNvPr id="12" name="">
            <a:extLst xmlns:a="http://schemas.openxmlformats.org/drawingml/2006/main">
              <a:ext uri="{FF2B5EF4-FFF2-40B4-BE49-F238E27FC236}">
                <a16:creationId xmlns:a16="http://schemas.microsoft.com/office/drawing/2014/main" id="{F5F3DB77-F450-488E-AC8D-739C1D425967}"/>
              </a:ext>
            </a:extLst>
          </p:cNvPr>
          <p:cNvSpPr>
            <a:spLocks xmlns:a="http://schemas.openxmlformats.org/drawingml/2006/main" noGrp="1"/>
          </p:cNvSpPr>
          <p:nvPr/>
        </p:nvSpPr>
        <p:spPr>
          <a:xfrm xmlns:a="http://schemas.openxmlformats.org/drawingml/2006/main">
            <a:off x="8096250" y="4038600"/>
            <a:ext cx="291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F79009"/>
                </a:solidFill>
                <a:latin typeface="Microsoft YaHei"/>
                <a:ea typeface="Microsoft YaHei"/>
                <a:cs typeface="Microsoft YaHei"/>
              </a:defRPr>
            </a:pPr>
            <a:r>
              <a:rPr sz="2250" b="1">
                <a:solidFill>
                  <a:srgbClr val="F79009"/>
                </a:solidFill>
                <a:latin typeface="Microsoft YaHei"/>
                <a:ea typeface="Microsoft YaHei"/>
                <a:cs typeface="Microsoft YaHei"/>
              </a:rPr>
              <a:t>+0.004 / −0.004</a:t>
            </a:r>
          </a:p>
        </p:txBody>
      </p:sp>
      <p:sp>
        <p:nvSpPr>
          <p:cNvPr id="13" name="">
            <a:extLst xmlns:a="http://schemas.openxmlformats.org/drawingml/2006/main">
              <a:ext uri="{FF2B5EF4-FFF2-40B4-BE49-F238E27FC236}">
                <a16:creationId xmlns:a16="http://schemas.microsoft.com/office/drawing/2014/main" id="{2668E7E8-74F5-453E-BBB9-9195D58EC0A1}"/>
              </a:ext>
            </a:extLst>
          </p:cNvPr>
          <p:cNvSpPr>
            <a:spLocks xmlns:a="http://schemas.openxmlformats.org/drawingml/2006/main" noGrp="1"/>
          </p:cNvSpPr>
          <p:nvPr/>
        </p:nvSpPr>
        <p:spPr>
          <a:xfrm xmlns:a="http://schemas.openxmlformats.org/drawingml/2006/main">
            <a:off x="8096250" y="461010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在该模型和场景下与统计分辨率相当</a:t>
            </a:r>
          </a:p>
        </p:txBody>
      </p:sp>
      <p:sp>
        <p:nvSpPr>
          <p:cNvPr id="14" name="">
            <a:extLst xmlns:a="http://schemas.openxmlformats.org/drawingml/2006/main">
              <a:ext uri="{FF2B5EF4-FFF2-40B4-BE49-F238E27FC236}">
                <a16:creationId xmlns:a16="http://schemas.microsoft.com/office/drawing/2014/main" id="{C5967086-9BE0-409A-B5A5-61B952CF9A31}"/>
              </a:ext>
            </a:extLst>
          </p:cNvPr>
          <p:cNvSpPr>
            <a:spLocks xmlns:a="http://schemas.openxmlformats.org/drawingml/2006/main" noGrp="1"/>
          </p:cNvSpPr>
          <p:nvPr/>
        </p:nvSpPr>
        <p:spPr>
          <a:xfrm xmlns:a="http://schemas.openxmlformats.org/drawingml/2006/main">
            <a:off x="628650" y="57150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92D20"/>
                </a:solidFill>
                <a:latin typeface="Microsoft YaHei"/>
                <a:ea typeface="Microsoft YaHei"/>
                <a:cs typeface="Microsoft YaHei"/>
              </a:defRPr>
            </a:pPr>
            <a:r>
              <a:rPr sz="1275" b="0">
                <a:solidFill>
                  <a:srgbClr val="D92D20"/>
                </a:solidFill>
                <a:latin typeface="Microsoft YaHei"/>
                <a:ea typeface="Microsoft YaHei"/>
                <a:cs typeface="Microsoft YaHei"/>
              </a:rPr>
              <a:t>95% 以上的丢失发生在 pickup_wait 的 AOD 束缚判定，而非 drop-off。</a:t>
            </a:r>
          </a:p>
        </p:txBody>
      </p:sp>
      <p:sp>
        <p:nvSpPr>
          <p:cNvPr id="15" name="">
            <a:extLst xmlns:a="http://schemas.openxmlformats.org/drawingml/2006/main">
              <a:ext uri="{FF2B5EF4-FFF2-40B4-BE49-F238E27FC236}">
                <a16:creationId xmlns:a16="http://schemas.microsoft.com/office/drawing/2014/main" id="{10CC0165-56E4-4208-ACEC-E5B233D6C6D3}"/>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6" name="">
            <a:extLst xmlns:a="http://schemas.openxmlformats.org/drawingml/2006/main">
              <a:ext uri="{FF2B5EF4-FFF2-40B4-BE49-F238E27FC236}">
                <a16:creationId xmlns:a16="http://schemas.microsoft.com/office/drawing/2014/main" id="{6789969D-CA3C-4BF0-9C5A-8A61AF9A9406}"/>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 summary_stage1.md §6.1 · reproducible script ablation_cross_2x2.py</a:t>
            </a:r>
          </a:p>
        </p:txBody>
      </p:sp>
      <p:sp>
        <p:nvSpPr>
          <p:cNvPr id="17" name="">
            <a:extLst xmlns:a="http://schemas.openxmlformats.org/drawingml/2006/main">
              <a:ext uri="{FF2B5EF4-FFF2-40B4-BE49-F238E27FC236}">
                <a16:creationId xmlns:a16="http://schemas.microsoft.com/office/drawing/2014/main" id="{081821AE-BE57-45DD-839B-03593F417818}"/>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15</a:t>
            </a:r>
          </a:p>
        </p:txBody>
      </p:sp>
    </p:spTree>
    <p:extLst>
      <p:ext uri="{BB962C8B-B14F-4D97-AF65-F5344CB8AC3E}">
        <p14:creationId xmlns:p14="http://schemas.microsoft.com/office/powerpoint/2010/main" val="691967484"/>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7DA7E12-3835-487B-98EC-AF4DB3DB4255}"/>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14</a:t>
            </a:r>
          </a:p>
        </p:txBody>
      </p:sp>
      <p:sp>
        <p:nvSpPr>
          <p:cNvPr id="2" name="">
            <a:extLst xmlns:a="http://schemas.openxmlformats.org/drawingml/2006/main">
              <a:ext uri="{FF2B5EF4-FFF2-40B4-BE49-F238E27FC236}">
                <a16:creationId xmlns:a16="http://schemas.microsoft.com/office/drawing/2014/main" id="{A32AA220-BAB7-4E31-A3D7-15D3FDD9774A}"/>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用逐点误差执行定量验收</a:t>
            </a:r>
          </a:p>
        </p:txBody>
      </p:sp>
      <p:sp>
        <p:nvSpPr>
          <p:cNvPr id="3" name="">
            <a:extLst xmlns:a="http://schemas.openxmlformats.org/drawingml/2006/main">
              <a:ext uri="{FF2B5EF4-FFF2-40B4-BE49-F238E27FC236}">
                <a16:creationId xmlns:a16="http://schemas.microsoft.com/office/drawing/2014/main" id="{A9763023-CD39-44EF-B67F-E0A8346C0038}"/>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BC4041E2-4429-450C-90A3-D85E26E699B9}"/>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Manual 使用 T40 的 512-shot 完整曲线；Fig. 6c ML 只验收已提交的 256-shot 端点</a:t>
            </a:r>
          </a:p>
        </p:txBody>
      </p:sp>
      <p:graphicFrame>
        <p:nvGraphicFramePr>
          <p:cNvPr id="19" name=""/>
          <p:cNvGraphicFramePr/>
          <p:nvPr/>
        </p:nvGraphicFramePr>
        <p:xfrm>
          <a:off xmlns:a="http://schemas.openxmlformats.org/drawingml/2006/main" x="609600" y="1466850"/>
          <a:ext xmlns:a="http://schemas.openxmlformats.org/drawingml/2006/main" cx="10972800" cy="2724150"/>
        </p:xfrm>
        <a:graphic xmlns:a="http://schemas.openxmlformats.org/drawingml/2006/main">
          <a:graphicData uri="http://schemas.openxmlformats.org/drawingml/2006/table">
            <a:tbl>
              <a:tblPr/>
              <a:tblGrid>
                <a:gridCol w="2112775"/>
                <a:gridCol w="1158619"/>
                <a:gridCol w="1226773"/>
                <a:gridCol w="1226773"/>
                <a:gridCol w="1499389"/>
                <a:gridCol w="2112775"/>
                <a:gridCol w="1635697"/>
              </a:tblGrid>
              <a:tr h="544830">
                <a:tc>
                  <a:txBody>
                    <a:bodyPr>
                      <a:noAutofit/>
                    </a:bodyPr>
                    <a:lstStyle/>
                    <a:p>
                      <a:pPr algn="l"/>
                      <a:r>
                        <a:rPr sz="975" b="1">
                          <a:solidFill>
                            <a:srgbClr val="FFFFFF"/>
                          </a:solidFill>
                          <a:latin typeface="Microsoft YaHei"/>
                          <a:ea typeface="Microsoft YaHei"/>
                          <a:cs typeface="Microsoft YaHei"/>
                        </a:rPr>
                        <a:t>Trajectory</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Endpoint</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Paper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MC</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MC−Paper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Max |curve error|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Within ±0.02</a:t>
                      </a:r>
                    </a:p>
                  </a:txBody>
                  <a:tcPr marL="91440" marR="91440" marT="45720" marB="45720" anchor="ctr">
                    <a:solidFill>
                      <a:srgbClr val="102A43"/>
                    </a:solidFill>
                  </a:tcPr>
                </a:tc>
              </a:tr>
              <a:tr h="544830">
                <a:tc>
                  <a:txBody>
                    <a:bodyPr>
                      <a:noAutofit/>
                    </a:bodyPr>
                    <a:lstStyle/>
                    <a:p>
                      <a:pPr algn="l"/>
                      <a:r>
                        <a:rPr sz="1050" b="0">
                          <a:solidFill>
                            <a:srgbClr val="344054"/>
                          </a:solidFill>
                          <a:latin typeface="Microsoft YaHei"/>
                          <a:ea typeface="Microsoft YaHei"/>
                          <a:cs typeface="Microsoft YaHei"/>
                        </a:rPr>
                        <a:t>Manual 200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S(31)</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33.4%</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24.0%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-9.4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17.8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0%</a:t>
                      </a:r>
                    </a:p>
                  </a:txBody>
                  <a:tcPr marL="91440" marR="91440" marT="45720" marB="45720" anchor="ctr">
                    <a:solidFill>
                      <a:srgbClr val="FFFFFF"/>
                    </a:solidFill>
                  </a:tcPr>
                </a:tc>
              </a:tr>
              <a:tr h="544830">
                <a:tc>
                  <a:txBody>
                    <a:bodyPr>
                      <a:noAutofit/>
                    </a:bodyPr>
                    <a:lstStyle/>
                    <a:p>
                      <a:pPr algn="l"/>
                      <a:r>
                        <a:rPr sz="1050" b="0">
                          <a:solidFill>
                            <a:srgbClr val="344054"/>
                          </a:solidFill>
                          <a:latin typeface="Microsoft YaHei"/>
                          <a:ea typeface="Microsoft YaHei"/>
                          <a:cs typeface="Microsoft YaHei"/>
                        </a:rPr>
                        <a:t>Manual 400</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41.3%</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52.5%</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11.2 pp</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11.2 pp</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20%</a:t>
                      </a:r>
                    </a:p>
                  </a:txBody>
                  <a:tcPr marL="91440" marR="91440" marT="45720" marB="45720" anchor="ctr">
                    <a:solidFill>
                      <a:srgbClr val="F8FAFC"/>
                    </a:solidFill>
                  </a:tcPr>
                </a:tc>
              </a:tr>
              <a:tr h="544830">
                <a:tc>
                  <a:txBody>
                    <a:bodyPr>
                      <a:noAutofit/>
                    </a:bodyPr>
                    <a:lstStyle/>
                    <a:p>
                      <a:pPr algn="l"/>
                      <a:r>
                        <a:rPr sz="1050" b="0">
                          <a:solidFill>
                            <a:srgbClr val="344054"/>
                          </a:solidFill>
                          <a:latin typeface="Microsoft YaHei"/>
                          <a:ea typeface="Microsoft YaHei"/>
                          <a:cs typeface="Microsoft YaHei"/>
                        </a:rPr>
                        <a:t>Manual 600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57.3%</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68.4%</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11.1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11.7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34%</a:t>
                      </a:r>
                    </a:p>
                  </a:txBody>
                  <a:tcPr marL="91440" marR="91440" marT="45720" marB="45720" anchor="ctr">
                    <a:solidFill>
                      <a:srgbClr val="FFFFFF"/>
                    </a:solidFill>
                  </a:tcPr>
                </a:tc>
              </a:tr>
              <a:tr h="544830">
                <a:tc>
                  <a:txBody>
                    <a:bodyPr>
                      <a:noAutofit/>
                    </a:bodyPr>
                    <a:lstStyle/>
                    <a:p>
                      <a:pPr algn="l"/>
                      <a:r>
                        <a:rPr sz="1050" b="0">
                          <a:solidFill>
                            <a:srgbClr val="344054"/>
                          </a:solidFill>
                          <a:latin typeface="Microsoft YaHei"/>
                          <a:ea typeface="Microsoft YaHei"/>
                          <a:cs typeface="Microsoft YaHei"/>
                        </a:rPr>
                        <a:t>Fig. 6c ML 400</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66.3%</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75.8%</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9.5 pp</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full curve not committed</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not evaluable</a:t>
                      </a:r>
                    </a:p>
                  </a:txBody>
                  <a:tcPr marL="91440" marR="91440" marT="45720" marB="45720" anchor="ctr">
                    <a:solidFill>
                      <a:srgbClr val="EFF8FF"/>
                    </a:solidFill>
                  </a:tcPr>
                </a:tc>
              </a:tr>
            </a:tbl>
          </a:graphicData>
        </a:graphic>
      </p:graphicFrame>
      <p:sp>
        <p:nvSpPr>
          <p:cNvPr id="6" name="">
            <a:extLst xmlns:a="http://schemas.openxmlformats.org/drawingml/2006/main">
              <a:ext uri="{FF2B5EF4-FFF2-40B4-BE49-F238E27FC236}">
                <a16:creationId xmlns:a16="http://schemas.microsoft.com/office/drawing/2014/main" id="{FF3D777A-E78F-4205-9B09-258F3872DAB1}"/>
              </a:ext>
            </a:extLst>
          </p:cNvPr>
          <p:cNvSpPr>
            <a:spLocks xmlns:a="http://schemas.openxmlformats.org/drawingml/2006/main" noGrp="1"/>
          </p:cNvSpPr>
          <p:nvPr/>
        </p:nvSpPr>
        <p:spPr>
          <a:xfrm xmlns:a="http://schemas.openxmlformats.org/drawingml/2006/main">
            <a:off x="609600" y="4495800"/>
            <a:ext cx="5257800" cy="1428750"/>
          </a:xfrm>
          <a:prstGeom xmlns:a="http://schemas.openxmlformats.org/drawingml/2006/main" prst="roundRect">
            <a:avLst>
              <a:gd name="adj" fmla="val 5333"/>
            </a:avLst>
          </a:prstGeom>
          <a:solidFill xmlns:a="http://schemas.openxmlformats.org/drawingml/2006/main">
            <a:srgbClr val="FEF3F2"/>
          </a:solidFill>
          <a:ln xmlns:a="http://schemas.openxmlformats.org/drawingml/2006/main" w="9525">
            <a:solidFill>
              <a:srgbClr val="FECDCA"/>
            </a:solidFill>
          </a:ln>
        </p:spPr>
      </p:sp>
      <p:sp>
        <p:nvSpPr>
          <p:cNvPr id="7" name="">
            <a:extLst xmlns:a="http://schemas.openxmlformats.org/drawingml/2006/main">
              <a:ext uri="{FF2B5EF4-FFF2-40B4-BE49-F238E27FC236}">
                <a16:creationId xmlns:a16="http://schemas.microsoft.com/office/drawing/2014/main" id="{0C930AB7-D80E-4B9A-9A6F-ADD1F0925E6D}"/>
              </a:ext>
            </a:extLst>
          </p:cNvPr>
          <p:cNvSpPr>
            <a:spLocks xmlns:a="http://schemas.openxmlformats.org/drawingml/2006/main" noGrp="1"/>
          </p:cNvSpPr>
          <p:nvPr/>
        </p:nvSpPr>
        <p:spPr>
          <a:xfrm xmlns:a="http://schemas.openxmlformats.org/drawingml/2006/main">
            <a:off x="857250" y="4705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D92D20"/>
                </a:solidFill>
                <a:latin typeface="Microsoft YaHei"/>
                <a:ea typeface="Microsoft YaHei"/>
                <a:cs typeface="Microsoft YaHei"/>
              </a:defRPr>
            </a:pPr>
            <a:r>
              <a:rPr sz="1350" b="1">
                <a:solidFill>
                  <a:srgbClr val="D92D20"/>
                </a:solidFill>
                <a:latin typeface="Microsoft YaHei"/>
                <a:ea typeface="Microsoft YaHei"/>
                <a:cs typeface="Microsoft YaHei"/>
              </a:rPr>
              <a:t>Absolute scale</a:t>
            </a:r>
          </a:p>
        </p:txBody>
      </p:sp>
      <p:sp>
        <p:nvSpPr>
          <p:cNvPr id="8" name="">
            <a:extLst xmlns:a="http://schemas.openxmlformats.org/drawingml/2006/main">
              <a:ext uri="{FF2B5EF4-FFF2-40B4-BE49-F238E27FC236}">
                <a16:creationId xmlns:a16="http://schemas.microsoft.com/office/drawing/2014/main" id="{5324C13D-2935-49DB-A161-775E7721251B}"/>
              </a:ext>
            </a:extLst>
          </p:cNvPr>
          <p:cNvSpPr>
            <a:spLocks xmlns:a="http://schemas.openxmlformats.org/drawingml/2006/main" noGrp="1"/>
          </p:cNvSpPr>
          <p:nvPr/>
        </p:nvSpPr>
        <p:spPr>
          <a:xfrm xmlns:a="http://schemas.openxmlformats.org/drawingml/2006/main">
            <a:off x="857250" y="5086350"/>
            <a:ext cx="4686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Manual 400/600 和 Fig. 6c ML 的终点偏高约 9–11 pp；Manual 200 在 n=31 偏低 9.4 pp。</a:t>
            </a:r>
          </a:p>
        </p:txBody>
      </p:sp>
      <p:sp>
        <p:nvSpPr>
          <p:cNvPr id="9" name="">
            <a:extLst xmlns:a="http://schemas.openxmlformats.org/drawingml/2006/main">
              <a:ext uri="{FF2B5EF4-FFF2-40B4-BE49-F238E27FC236}">
                <a16:creationId xmlns:a16="http://schemas.microsoft.com/office/drawing/2014/main" id="{C6ABB248-2318-4161-9528-C3EAA5E0914F}"/>
              </a:ext>
            </a:extLst>
          </p:cNvPr>
          <p:cNvSpPr>
            <a:spLocks xmlns:a="http://schemas.openxmlformats.org/drawingml/2006/main" noGrp="1"/>
          </p:cNvSpPr>
          <p:nvPr/>
        </p:nvSpPr>
        <p:spPr>
          <a:xfrm xmlns:a="http://schemas.openxmlformats.org/drawingml/2006/main">
            <a:off x="6134100" y="4495800"/>
            <a:ext cx="5448300" cy="1428750"/>
          </a:xfrm>
          <a:prstGeom xmlns:a="http://schemas.openxmlformats.org/drawingml/2006/main" prst="roundRect">
            <a:avLst>
              <a:gd name="adj" fmla="val 5333"/>
            </a:avLst>
          </a:prstGeom>
          <a:solidFill xmlns:a="http://schemas.openxmlformats.org/drawingml/2006/main">
            <a:srgbClr val="FFF6ED"/>
          </a:solidFill>
          <a:ln xmlns:a="http://schemas.openxmlformats.org/drawingml/2006/main" w="9525">
            <a:solidFill>
              <a:srgbClr val="FEDF89"/>
            </a:solidFill>
          </a:ln>
        </p:spPr>
      </p:sp>
      <p:sp>
        <p:nvSpPr>
          <p:cNvPr id="10" name="">
            <a:extLst xmlns:a="http://schemas.openxmlformats.org/drawingml/2006/main">
              <a:ext uri="{FF2B5EF4-FFF2-40B4-BE49-F238E27FC236}">
                <a16:creationId xmlns:a16="http://schemas.microsoft.com/office/drawing/2014/main" id="{FFFBC0CB-266A-4330-B20C-833E07FCA9F2}"/>
              </a:ext>
            </a:extLst>
          </p:cNvPr>
          <p:cNvSpPr>
            <a:spLocks xmlns:a="http://schemas.openxmlformats.org/drawingml/2006/main" noGrp="1"/>
          </p:cNvSpPr>
          <p:nvPr/>
        </p:nvSpPr>
        <p:spPr>
          <a:xfrm xmlns:a="http://schemas.openxmlformats.org/drawingml/2006/main">
            <a:off x="6381750" y="4705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79009"/>
                </a:solidFill>
                <a:latin typeface="Microsoft YaHei"/>
                <a:ea typeface="Microsoft YaHei"/>
                <a:cs typeface="Microsoft YaHei"/>
              </a:defRPr>
            </a:pPr>
            <a:r>
              <a:rPr sz="1350" b="1">
                <a:solidFill>
                  <a:srgbClr val="F79009"/>
                </a:solidFill>
                <a:latin typeface="Microsoft YaHei"/>
                <a:ea typeface="Microsoft YaHei"/>
                <a:cs typeface="Microsoft YaHei"/>
              </a:rPr>
              <a:t>Evidence gap</a:t>
            </a:r>
          </a:p>
        </p:txBody>
      </p:sp>
      <p:sp>
        <p:nvSpPr>
          <p:cNvPr id="11" name="">
            <a:extLst xmlns:a="http://schemas.openxmlformats.org/drawingml/2006/main">
              <a:ext uri="{FF2B5EF4-FFF2-40B4-BE49-F238E27FC236}">
                <a16:creationId xmlns:a16="http://schemas.microsoft.com/office/drawing/2014/main" id="{334A24F2-E1BB-40B5-AD96-FD1B71DCC44E}"/>
              </a:ext>
            </a:extLst>
          </p:cNvPr>
          <p:cNvSpPr>
            <a:spLocks xmlns:a="http://schemas.openxmlformats.org/drawingml/2006/main" noGrp="1"/>
          </p:cNvSpPr>
          <p:nvPr/>
        </p:nvSpPr>
        <p:spPr>
          <a:xfrm xmlns:a="http://schemas.openxmlformats.org/drawingml/2006/main">
            <a:off x="6381750" y="5086350"/>
            <a:ext cx="4876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最新 Fig. 6c replay 只提交了 endpoint JSON。旧 `ml_400us` 全曲线对应原冻结候选，不能替代最新轨迹。</a:t>
            </a:r>
          </a:p>
        </p:txBody>
      </p:sp>
      <p:sp>
        <p:nvSpPr>
          <p:cNvPr id="12" name="">
            <a:extLst xmlns:a="http://schemas.openxmlformats.org/drawingml/2006/main">
              <a:ext uri="{FF2B5EF4-FFF2-40B4-BE49-F238E27FC236}">
                <a16:creationId xmlns:a16="http://schemas.microsoft.com/office/drawing/2014/main" id="{0B1C69CF-AEA9-4659-B0E9-9D53FB9CE355}"/>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3" name="">
            <a:extLst xmlns:a="http://schemas.openxmlformats.org/drawingml/2006/main">
              <a:ext uri="{FF2B5EF4-FFF2-40B4-BE49-F238E27FC236}">
                <a16:creationId xmlns:a16="http://schemas.microsoft.com/office/drawing/2014/main" id="{4DF55217-ED34-4C38-98D4-622628025013}"/>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paper_ml_eval.json · monotone paper reconstruction</a:t>
            </a:r>
          </a:p>
        </p:txBody>
      </p:sp>
      <p:sp>
        <p:nvSpPr>
          <p:cNvPr id="14" name="">
            <a:extLst xmlns:a="http://schemas.openxmlformats.org/drawingml/2006/main">
              <a:ext uri="{FF2B5EF4-FFF2-40B4-BE49-F238E27FC236}">
                <a16:creationId xmlns:a16="http://schemas.microsoft.com/office/drawing/2014/main" id="{361EAEC8-B560-4EC7-8869-92259A67A039}"/>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16</a:t>
            </a:r>
          </a:p>
        </p:txBody>
      </p:sp>
    </p:spTree>
    <p:extLst>
      <p:ext uri="{BB962C8B-B14F-4D97-AF65-F5344CB8AC3E}">
        <p14:creationId xmlns:p14="http://schemas.microsoft.com/office/powerpoint/2010/main" val="1119154442"/>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E91F126-0357-4EF2-8AF4-4713A00180A7}"/>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15</a:t>
            </a:r>
          </a:p>
        </p:txBody>
      </p:sp>
      <p:sp>
        <p:nvSpPr>
          <p:cNvPr id="2" name="">
            <a:extLst xmlns:a="http://schemas.openxmlformats.org/drawingml/2006/main">
              <a:ext uri="{FF2B5EF4-FFF2-40B4-BE49-F238E27FC236}">
                <a16:creationId xmlns:a16="http://schemas.microsoft.com/office/drawing/2014/main" id="{18D1BDC9-16F2-4F21-BF94-AF0F644D3D11}"/>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检查逐点残差并界定模型边界</a:t>
            </a:r>
          </a:p>
        </p:txBody>
      </p:sp>
      <p:sp>
        <p:nvSpPr>
          <p:cNvPr id="3" name="">
            <a:extLst xmlns:a="http://schemas.openxmlformats.org/drawingml/2006/main">
              <a:ext uri="{FF2B5EF4-FFF2-40B4-BE49-F238E27FC236}">
                <a16:creationId xmlns:a16="http://schemas.microsoft.com/office/drawing/2014/main" id="{900DBB9A-3B6B-4922-838E-EA72B261DF0E}"/>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6CFC21C8-A9A5-4DF8-BE76-0C1EAF544E5F}"/>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Deviation = MC T40 − 单调论文重建；误差变号说明不仅是整体损失尺度不同</a:t>
            </a:r>
          </a:p>
        </p:txBody>
      </p:sp>
      <p:graphicFrame>
        <p:nvGraphicFramePr>
          <p:cNvPr id="16" name="Chart"/>
          <p:cNvGraphicFramePr/>
          <p:nvPr/>
        </p:nvGraphicFramePr>
        <p:xfrm>
          <a:off xmlns:a="http://schemas.openxmlformats.org/drawingml/2006/main" x="609600" y="1390650"/>
          <a:ext xmlns:a="http://schemas.openxmlformats.org/drawingml/2006/main" cx="4095750" cy="3790950"/>
        </p:xfrm>
        <a:graphic xmlns:a="http://schemas.openxmlformats.org/drawingml/2006/main">
          <a:graphicData uri="http://schemas.openxmlformats.org/drawingml/2006/chart">
            <c:chart xmlns:r="http://schemas.openxmlformats.org/officeDocument/2006/relationships" xmlns:c="http://schemas.openxmlformats.org/drawingml/2006/chart" r:id="Re5efe4581b2e4c88"/>
          </a:graphicData>
        </a:graphic>
      </p:graphicFrame>
      <p:graphicFrame>
        <p:nvGraphicFramePr>
          <p:cNvPr id="17" name="Chart"/>
          <p:cNvGraphicFramePr/>
          <p:nvPr/>
        </p:nvGraphicFramePr>
        <p:xfrm>
          <a:off xmlns:a="http://schemas.openxmlformats.org/drawingml/2006/main" x="4876800" y="1390650"/>
          <a:ext xmlns:a="http://schemas.openxmlformats.org/drawingml/2006/main" cx="6705600" cy="3790950"/>
        </p:xfrm>
        <a:graphic xmlns:a="http://schemas.openxmlformats.org/drawingml/2006/main">
          <a:graphicData uri="http://schemas.openxmlformats.org/drawingml/2006/chart">
            <c:chart xmlns:r="http://schemas.openxmlformats.org/officeDocument/2006/relationships" xmlns:c="http://schemas.openxmlformats.org/drawingml/2006/chart" r:id="R7641be79cb764523"/>
          </a:graphicData>
        </a:graphic>
      </p:graphicFrame>
      <p:sp>
        <p:nvSpPr>
          <p:cNvPr id="7" name="">
            <a:extLst xmlns:a="http://schemas.openxmlformats.org/drawingml/2006/main">
              <a:ext uri="{FF2B5EF4-FFF2-40B4-BE49-F238E27FC236}">
                <a16:creationId xmlns:a16="http://schemas.microsoft.com/office/drawing/2014/main" id="{4E80D5E2-17AE-42BF-8190-DE9A06B85AC5}"/>
              </a:ext>
            </a:extLst>
          </p:cNvPr>
          <p:cNvSpPr>
            <a:spLocks xmlns:a="http://schemas.openxmlformats.org/drawingml/2006/main" noGrp="1"/>
          </p:cNvSpPr>
          <p:nvPr/>
        </p:nvSpPr>
        <p:spPr>
          <a:xfrm xmlns:a="http://schemas.openxmlformats.org/drawingml/2006/main">
            <a:off x="609600" y="5391150"/>
            <a:ext cx="10972800" cy="819150"/>
          </a:xfrm>
          <a:prstGeom xmlns:a="http://schemas.openxmlformats.org/drawingml/2006/main" prst="roundRect">
            <a:avLst>
              <a:gd name="adj" fmla="val 9302"/>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62585840-FB12-470D-9572-1A48634116A7}"/>
              </a:ext>
            </a:extLst>
          </p:cNvPr>
          <p:cNvSpPr>
            <a:spLocks xmlns:a="http://schemas.openxmlformats.org/drawingml/2006/main" noGrp="1"/>
          </p:cNvSpPr>
          <p:nvPr/>
        </p:nvSpPr>
        <p:spPr>
          <a:xfrm xmlns:a="http://schemas.openxmlformats.org/drawingml/2006/main">
            <a:off x="838200" y="5524500"/>
            <a:ext cx="1043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200 µs 持续负偏差且早期衰减过快。400/600 µs 早期偏低、后期偏高，late-time decay 太慢。当前 Level 2C 仍未包含真空寿命、随机噪声谱和真实 AWG/光学响应。</a:t>
            </a:r>
          </a:p>
        </p:txBody>
      </p:sp>
      <p:sp>
        <p:nvSpPr>
          <p:cNvPr id="9" name="">
            <a:extLst xmlns:a="http://schemas.openxmlformats.org/drawingml/2006/main">
              <a:ext uri="{FF2B5EF4-FFF2-40B4-BE49-F238E27FC236}">
                <a16:creationId xmlns:a16="http://schemas.microsoft.com/office/drawing/2014/main" id="{3E8AD4BE-6882-4DB7-A394-96F254C4E383}"/>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0" name="">
            <a:extLst xmlns:a="http://schemas.openxmlformats.org/drawingml/2006/main">
              <a:ext uri="{FF2B5EF4-FFF2-40B4-BE49-F238E27FC236}">
                <a16:creationId xmlns:a16="http://schemas.microsoft.com/office/drawing/2014/main" id="{048F0AB1-B206-4301-B5A5-2FFB11560CDE}"/>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monotone paper reconstruction · Level 2C source audit</a:t>
            </a:r>
          </a:p>
        </p:txBody>
      </p:sp>
      <p:sp>
        <p:nvSpPr>
          <p:cNvPr id="11" name="">
            <a:extLst xmlns:a="http://schemas.openxmlformats.org/drawingml/2006/main">
              <a:ext uri="{FF2B5EF4-FFF2-40B4-BE49-F238E27FC236}">
                <a16:creationId xmlns:a16="http://schemas.microsoft.com/office/drawing/2014/main" id="{7EB6E70A-1FA8-4376-B429-8EE20D64409E}"/>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17</a:t>
            </a:r>
          </a:p>
        </p:txBody>
      </p:sp>
    </p:spTree>
    <p:extLst>
      <p:ext uri="{BB962C8B-B14F-4D97-AF65-F5344CB8AC3E}">
        <p14:creationId xmlns:p14="http://schemas.microsoft.com/office/powerpoint/2010/main" val="455709054"/>
      </p:ext>
    </p:extLst>
  </p:cSld>
</p:sld>
</file>

<file path=ppt/slides/slide1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2979F84-391D-4AA6-8E9D-8A59033DFCC5}"/>
              </a:ext>
            </a:extLst>
          </p:cNvPr>
          <p:cNvSpPr>
            <a:spLocks xmlns:a="http://schemas.openxmlformats.org/drawingml/2006/main" noGrp="1"/>
          </p:cNvSpPr>
          <p:nvPr/>
        </p:nvSpPr>
        <p:spPr>
          <a:xfrm xmlns:a="http://schemas.openxmlformats.org/drawingml/2006/main">
            <a:off x="685800" y="5334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这次任务完成了什么</a:t>
            </a:r>
          </a:p>
        </p:txBody>
      </p:sp>
      <p:sp>
        <p:nvSpPr>
          <p:cNvPr id="2" name="">
            <a:extLst xmlns:a="http://schemas.openxmlformats.org/drawingml/2006/main">
              <a:ext uri="{FF2B5EF4-FFF2-40B4-BE49-F238E27FC236}">
                <a16:creationId xmlns:a16="http://schemas.microsoft.com/office/drawing/2014/main" id="{448FC387-CDDB-49BA-9775-F7A2ABD4B94B}"/>
              </a:ext>
            </a:extLst>
          </p:cNvPr>
          <p:cNvSpPr>
            <a:spLocks xmlns:a="http://schemas.openxmlformats.org/drawingml/2006/main" noGrp="1"/>
          </p:cNvSpPr>
          <p:nvPr/>
        </p:nvSpPr>
        <p:spPr>
          <a:xfrm xmlns:a="http://schemas.openxmlformats.org/drawingml/2006/main">
            <a:off x="685800" y="1200150"/>
            <a:ext cx="838200" cy="47625"/>
          </a:xfrm>
          <a:prstGeom xmlns:a="http://schemas.openxmlformats.org/drawingml/2006/main" prst="rect">
            <a:avLst/>
          </a:prstGeom>
          <a:solidFill xmlns:a="http://schemas.openxmlformats.org/drawingml/2006/main">
            <a:srgbClr val="0BA5EC"/>
          </a:solidFill>
          <a:ln xmlns:a="http://schemas.openxmlformats.org/drawingml/2006/main" w="0">
            <a:solidFill>
              <a:srgbClr val="0BA5EC"/>
            </a:solidFill>
          </a:ln>
        </p:spPr>
      </p:sp>
      <p:sp>
        <p:nvSpPr>
          <p:cNvPr id="3" name="">
            <a:extLst xmlns:a="http://schemas.openxmlformats.org/drawingml/2006/main">
              <a:ext uri="{FF2B5EF4-FFF2-40B4-BE49-F238E27FC236}">
                <a16:creationId xmlns:a16="http://schemas.microsoft.com/office/drawing/2014/main" id="{8E40E294-8536-418C-AEB9-75557B0C8718}"/>
              </a:ext>
            </a:extLst>
          </p:cNvPr>
          <p:cNvSpPr>
            <a:spLocks xmlns:a="http://schemas.openxmlformats.org/drawingml/2006/main" noGrp="1"/>
          </p:cNvSpPr>
          <p:nvPr/>
        </p:nvSpPr>
        <p:spPr>
          <a:xfrm xmlns:a="http://schemas.openxmlformats.org/drawingml/2006/main">
            <a:off x="723900" y="16192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01</a:t>
            </a:r>
          </a:p>
        </p:txBody>
      </p:sp>
      <p:sp>
        <p:nvSpPr>
          <p:cNvPr id="4" name="">
            <a:extLst xmlns:a="http://schemas.openxmlformats.org/drawingml/2006/main">
              <a:ext uri="{FF2B5EF4-FFF2-40B4-BE49-F238E27FC236}">
                <a16:creationId xmlns:a16="http://schemas.microsoft.com/office/drawing/2014/main" id="{28100FA9-EF89-4965-9B81-8DCFC1D06395}"/>
              </a:ext>
            </a:extLst>
          </p:cNvPr>
          <p:cNvSpPr>
            <a:spLocks xmlns:a="http://schemas.openxmlformats.org/drawingml/2006/main" noGrp="1"/>
          </p:cNvSpPr>
          <p:nvPr/>
        </p:nvSpPr>
        <p:spPr>
          <a:xfrm xmlns:a="http://schemas.openxmlformats.org/drawingml/2006/main">
            <a:off x="1485900" y="16002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固定输入与验收口径</a:t>
            </a:r>
          </a:p>
        </p:txBody>
      </p:sp>
      <p:sp>
        <p:nvSpPr>
          <p:cNvPr id="5" name="">
            <a:extLst xmlns:a="http://schemas.openxmlformats.org/drawingml/2006/main">
              <a:ext uri="{FF2B5EF4-FFF2-40B4-BE49-F238E27FC236}">
                <a16:creationId xmlns:a16="http://schemas.microsoft.com/office/drawing/2014/main" id="{EDABCA18-A818-44BA-A6C4-643199D52BA9}"/>
              </a:ext>
            </a:extLst>
          </p:cNvPr>
          <p:cNvSpPr>
            <a:spLocks xmlns:a="http://schemas.openxmlformats.org/drawingml/2006/main" noGrp="1"/>
          </p:cNvSpPr>
          <p:nvPr/>
        </p:nvSpPr>
        <p:spPr>
          <a:xfrm xmlns:a="http://schemas.openxmlformats.org/drawingml/2006/main">
            <a:off x="4095750" y="16002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数字化 Fig. 6d，分开处理 paper survival 与 IRB fidelity，并把 ±0.02 设为逐点验收带。</a:t>
            </a:r>
          </a:p>
        </p:txBody>
      </p:sp>
      <p:sp>
        <p:nvSpPr>
          <p:cNvPr id="6" name="">
            <a:extLst xmlns:a="http://schemas.openxmlformats.org/drawingml/2006/main">
              <a:ext uri="{FF2B5EF4-FFF2-40B4-BE49-F238E27FC236}">
                <a16:creationId xmlns:a16="http://schemas.microsoft.com/office/drawing/2014/main" id="{F2C8C48B-0EC9-4C86-A636-2B4C620AEE84}"/>
              </a:ext>
            </a:extLst>
          </p:cNvPr>
          <p:cNvSpPr>
            <a:spLocks xmlns:a="http://schemas.openxmlformats.org/drawingml/2006/main" noGrp="1"/>
          </p:cNvSpPr>
          <p:nvPr/>
        </p:nvSpPr>
        <p:spPr>
          <a:xfrm xmlns:a="http://schemas.openxmlformats.org/drawingml/2006/main">
            <a:off x="1485900" y="23622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7" name="">
            <a:extLst xmlns:a="http://schemas.openxmlformats.org/drawingml/2006/main">
              <a:ext uri="{FF2B5EF4-FFF2-40B4-BE49-F238E27FC236}">
                <a16:creationId xmlns:a16="http://schemas.microsoft.com/office/drawing/2014/main" id="{05195C52-C972-451C-8DEA-A9BE2814983D}"/>
              </a:ext>
            </a:extLst>
          </p:cNvPr>
          <p:cNvSpPr>
            <a:spLocks xmlns:a="http://schemas.openxmlformats.org/drawingml/2006/main" noGrp="1"/>
          </p:cNvSpPr>
          <p:nvPr/>
        </p:nvSpPr>
        <p:spPr>
          <a:xfrm xmlns:a="http://schemas.openxmlformats.org/drawingml/2006/main">
            <a:off x="723900" y="26860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02</a:t>
            </a:r>
          </a:p>
        </p:txBody>
      </p:sp>
      <p:sp>
        <p:nvSpPr>
          <p:cNvPr id="8" name="">
            <a:extLst xmlns:a="http://schemas.openxmlformats.org/drawingml/2006/main">
              <a:ext uri="{FF2B5EF4-FFF2-40B4-BE49-F238E27FC236}">
                <a16:creationId xmlns:a16="http://schemas.microsoft.com/office/drawing/2014/main" id="{5FF84CB6-D85F-451C-8C36-DFDD04C2CBEE}"/>
              </a:ext>
            </a:extLst>
          </p:cNvPr>
          <p:cNvSpPr>
            <a:spLocks xmlns:a="http://schemas.openxmlformats.org/drawingml/2006/main" noGrp="1"/>
          </p:cNvSpPr>
          <p:nvPr/>
        </p:nvSpPr>
        <p:spPr>
          <a:xfrm xmlns:a="http://schemas.openxmlformats.org/drawingml/2006/main">
            <a:off x="1485900" y="26670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复核基线并扫描机制</a:t>
            </a:r>
          </a:p>
        </p:txBody>
      </p:sp>
      <p:sp>
        <p:nvSpPr>
          <p:cNvPr id="9" name="">
            <a:extLst xmlns:a="http://schemas.openxmlformats.org/drawingml/2006/main">
              <a:ext uri="{FF2B5EF4-FFF2-40B4-BE49-F238E27FC236}">
                <a16:creationId xmlns:a16="http://schemas.microsoft.com/office/drawing/2014/main" id="{039FB02D-0AE6-4C93-A0F0-940A724B0F8F}"/>
              </a:ext>
            </a:extLst>
          </p:cNvPr>
          <p:cNvSpPr>
            <a:spLocks xmlns:a="http://schemas.openxmlformats.org/drawingml/2006/main" noGrp="1"/>
          </p:cNvSpPr>
          <p:nvPr/>
        </p:nvSpPr>
        <p:spPr>
          <a:xfrm xmlns:a="http://schemas.openxmlformats.org/drawingml/2006/main">
            <a:off x="4095750" y="26670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用相同随机池计算 baseline、温度、RIN、对准和抖动场景，确认 T40 最接近论文的时长排序。</a:t>
            </a:r>
          </a:p>
        </p:txBody>
      </p:sp>
      <p:sp>
        <p:nvSpPr>
          <p:cNvPr id="10" name="">
            <a:extLst xmlns:a="http://schemas.openxmlformats.org/drawingml/2006/main">
              <a:ext uri="{FF2B5EF4-FFF2-40B4-BE49-F238E27FC236}">
                <a16:creationId xmlns:a16="http://schemas.microsoft.com/office/drawing/2014/main" id="{AACEE54B-390B-49AC-887A-19403D7586BD}"/>
              </a:ext>
            </a:extLst>
          </p:cNvPr>
          <p:cNvSpPr>
            <a:spLocks xmlns:a="http://schemas.openxmlformats.org/drawingml/2006/main" noGrp="1"/>
          </p:cNvSpPr>
          <p:nvPr/>
        </p:nvSpPr>
        <p:spPr>
          <a:xfrm xmlns:a="http://schemas.openxmlformats.org/drawingml/2006/main">
            <a:off x="1485900" y="34290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11" name="">
            <a:extLst xmlns:a="http://schemas.openxmlformats.org/drawingml/2006/main">
              <a:ext uri="{FF2B5EF4-FFF2-40B4-BE49-F238E27FC236}">
                <a16:creationId xmlns:a16="http://schemas.microsoft.com/office/drawing/2014/main" id="{437DB5D5-9DF8-4707-86A3-0B47C7A8020C}"/>
              </a:ext>
            </a:extLst>
          </p:cNvPr>
          <p:cNvSpPr>
            <a:spLocks xmlns:a="http://schemas.openxmlformats.org/drawingml/2006/main" noGrp="1"/>
          </p:cNvSpPr>
          <p:nvPr/>
        </p:nvSpPr>
        <p:spPr>
          <a:xfrm xmlns:a="http://schemas.openxmlformats.org/drawingml/2006/main">
            <a:off x="723900" y="3752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03</a:t>
            </a:r>
          </a:p>
        </p:txBody>
      </p:sp>
      <p:sp>
        <p:nvSpPr>
          <p:cNvPr id="12" name="">
            <a:extLst xmlns:a="http://schemas.openxmlformats.org/drawingml/2006/main">
              <a:ext uri="{FF2B5EF4-FFF2-40B4-BE49-F238E27FC236}">
                <a16:creationId xmlns:a16="http://schemas.microsoft.com/office/drawing/2014/main" id="{FFB49E70-9BB3-4C21-BB1A-346BACDC9A6E}"/>
              </a:ext>
            </a:extLst>
          </p:cNvPr>
          <p:cNvSpPr>
            <a:spLocks xmlns:a="http://schemas.openxmlformats.org/drawingml/2006/main" noGrp="1"/>
          </p:cNvSpPr>
          <p:nvPr/>
        </p:nvSpPr>
        <p:spPr>
          <a:xfrm xmlns:a="http://schemas.openxmlformats.org/drawingml/2006/main">
            <a:off x="1485900" y="37338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回放 ML 并定位增益</a:t>
            </a:r>
          </a:p>
        </p:txBody>
      </p:sp>
      <p:sp>
        <p:nvSpPr>
          <p:cNvPr id="13" name="">
            <a:extLst xmlns:a="http://schemas.openxmlformats.org/drawingml/2006/main">
              <a:ext uri="{FF2B5EF4-FFF2-40B4-BE49-F238E27FC236}">
                <a16:creationId xmlns:a16="http://schemas.microsoft.com/office/drawing/2014/main" id="{42ECAAD5-2FD5-41A1-815A-7E6B653AE153}"/>
              </a:ext>
            </a:extLst>
          </p:cNvPr>
          <p:cNvSpPr>
            <a:spLocks xmlns:a="http://schemas.openxmlformats.org/drawingml/2006/main" noGrp="1"/>
          </p:cNvSpPr>
          <p:nvPr/>
        </p:nvSpPr>
        <p:spPr>
          <a:xfrm xmlns:a="http://schemas.openxmlformats.org/drawingml/2006/main">
            <a:off x="4095750" y="37338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数字化 Fig. 6c，得到 T40 下 ΔS=+0.231；2×2 消融表明模型内增益主要来自 position trajectory。</a:t>
            </a:r>
          </a:p>
        </p:txBody>
      </p:sp>
      <p:sp>
        <p:nvSpPr>
          <p:cNvPr id="14" name="">
            <a:extLst xmlns:a="http://schemas.openxmlformats.org/drawingml/2006/main">
              <a:ext uri="{FF2B5EF4-FFF2-40B4-BE49-F238E27FC236}">
                <a16:creationId xmlns:a16="http://schemas.microsoft.com/office/drawing/2014/main" id="{CC0CCA93-55E2-4A69-88BF-CCE6DE410AF4}"/>
              </a:ext>
            </a:extLst>
          </p:cNvPr>
          <p:cNvSpPr>
            <a:spLocks xmlns:a="http://schemas.openxmlformats.org/drawingml/2006/main" noGrp="1"/>
          </p:cNvSpPr>
          <p:nvPr/>
        </p:nvSpPr>
        <p:spPr>
          <a:xfrm xmlns:a="http://schemas.openxmlformats.org/drawingml/2006/main">
            <a:off x="1485900" y="44958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15" name="">
            <a:extLst xmlns:a="http://schemas.openxmlformats.org/drawingml/2006/main">
              <a:ext uri="{FF2B5EF4-FFF2-40B4-BE49-F238E27FC236}">
                <a16:creationId xmlns:a16="http://schemas.microsoft.com/office/drawing/2014/main" id="{B02DE939-25E2-40C8-9185-63C3940304FB}"/>
              </a:ext>
            </a:extLst>
          </p:cNvPr>
          <p:cNvSpPr>
            <a:spLocks xmlns:a="http://schemas.openxmlformats.org/drawingml/2006/main" noGrp="1"/>
          </p:cNvSpPr>
          <p:nvPr/>
        </p:nvSpPr>
        <p:spPr>
          <a:xfrm xmlns:a="http://schemas.openxmlformats.org/drawingml/2006/main">
            <a:off x="723900" y="48196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04</a:t>
            </a:r>
          </a:p>
        </p:txBody>
      </p:sp>
      <p:sp>
        <p:nvSpPr>
          <p:cNvPr id="16" name="">
            <a:extLst xmlns:a="http://schemas.openxmlformats.org/drawingml/2006/main">
              <a:ext uri="{FF2B5EF4-FFF2-40B4-BE49-F238E27FC236}">
                <a16:creationId xmlns:a16="http://schemas.microsoft.com/office/drawing/2014/main" id="{673FEE4D-8822-4083-974A-CBBC530B7E94}"/>
              </a:ext>
            </a:extLst>
          </p:cNvPr>
          <p:cNvSpPr>
            <a:spLocks xmlns:a="http://schemas.openxmlformats.org/drawingml/2006/main" noGrp="1"/>
          </p:cNvSpPr>
          <p:nvPr/>
        </p:nvSpPr>
        <p:spPr>
          <a:xfrm xmlns:a="http://schemas.openxmlformats.org/drawingml/2006/main">
            <a:off x="1485900" y="48006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验收结果与边界</a:t>
            </a:r>
          </a:p>
        </p:txBody>
      </p:sp>
      <p:sp>
        <p:nvSpPr>
          <p:cNvPr id="17" name="">
            <a:extLst xmlns:a="http://schemas.openxmlformats.org/drawingml/2006/main">
              <a:ext uri="{FF2B5EF4-FFF2-40B4-BE49-F238E27FC236}">
                <a16:creationId xmlns:a16="http://schemas.microsoft.com/office/drawing/2014/main" id="{F9E866F6-46BD-4CAE-B31B-2E70F4DF52CF}"/>
              </a:ext>
            </a:extLst>
          </p:cNvPr>
          <p:cNvSpPr>
            <a:spLocks xmlns:a="http://schemas.openxmlformats.org/drawingml/2006/main" noGrp="1"/>
          </p:cNvSpPr>
          <p:nvPr/>
        </p:nvSpPr>
        <p:spPr>
          <a:xfrm xmlns:a="http://schemas.openxmlformats.org/drawingml/2006/main">
            <a:off x="4095750" y="48006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所有 manual 曲线仍未通过 ±0.02。真空寿命、随机噪声谱和真实 AWG/光学响应尚未进入 Level 2C。</a:t>
            </a:r>
          </a:p>
        </p:txBody>
      </p:sp>
      <p:sp>
        <p:nvSpPr>
          <p:cNvPr id="18" name="">
            <a:extLst xmlns:a="http://schemas.openxmlformats.org/drawingml/2006/main">
              <a:ext uri="{FF2B5EF4-FFF2-40B4-BE49-F238E27FC236}">
                <a16:creationId xmlns:a16="http://schemas.microsoft.com/office/drawing/2014/main" id="{DACC2778-0394-4C2B-8DC5-2CAE32E4F0F1}"/>
              </a:ext>
            </a:extLst>
          </p:cNvPr>
          <p:cNvSpPr>
            <a:spLocks xmlns:a="http://schemas.openxmlformats.org/drawingml/2006/main" noGrp="1"/>
          </p:cNvSpPr>
          <p:nvPr/>
        </p:nvSpPr>
        <p:spPr>
          <a:xfrm xmlns:a="http://schemas.openxmlformats.org/drawingml/2006/main">
            <a:off x="723900" y="62293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8AFC7"/>
                </a:solidFill>
                <a:latin typeface="Microsoft YaHei"/>
                <a:ea typeface="Microsoft YaHei"/>
                <a:cs typeface="Microsoft YaHei"/>
              </a:defRPr>
            </a:pPr>
            <a:r>
              <a:rPr sz="1050" b="0">
                <a:solidFill>
                  <a:srgbClr val="98AFC7"/>
                </a:solidFill>
                <a:latin typeface="Microsoft YaHei"/>
                <a:ea typeface="Microsoft YaHei"/>
                <a:cs typeface="Microsoft YaHei"/>
              </a:rPr>
              <a:t>结论：当前工作达到机制验证和相对比较阶段，尚未达到实验级绝对定量预测。</a:t>
            </a:r>
          </a:p>
        </p:txBody>
      </p:sp>
      <p:sp>
        <p:nvSpPr>
          <p:cNvPr id="19" name="">
            <a:extLst xmlns:a="http://schemas.openxmlformats.org/drawingml/2006/main">
              <a:ext uri="{FF2B5EF4-FFF2-40B4-BE49-F238E27FC236}">
                <a16:creationId xmlns:a16="http://schemas.microsoft.com/office/drawing/2014/main" id="{B15B787F-7C67-4CFB-9338-BBBE007E444F}"/>
              </a:ext>
            </a:extLst>
          </p:cNvPr>
          <p:cNvSpPr>
            <a:spLocks xmlns:a="http://schemas.openxmlformats.org/drawingml/2006/main" noGrp="1"/>
          </p:cNvSpPr>
          <p:nvPr/>
        </p:nvSpPr>
        <p:spPr>
          <a:xfrm xmlns:a="http://schemas.openxmlformats.org/drawingml/2006/main">
            <a:off x="10934700" y="62293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a:solidFill>
                  <a:srgbClr val="98AFC7"/>
                </a:solidFill>
                <a:latin typeface="Microsoft YaHei"/>
                <a:ea typeface="Microsoft YaHei"/>
                <a:cs typeface="Microsoft YaHei"/>
              </a:defRPr>
            </a:pPr>
            <a:r>
              <a:rPr sz="975" b="0">
                <a:solidFill>
                  <a:srgbClr val="98AFC7"/>
                </a:solidFill>
                <a:latin typeface="Microsoft YaHei"/>
                <a:ea typeface="Microsoft YaHei"/>
                <a:cs typeface="Microsoft YaHei"/>
              </a:rPr>
              <a:t>18</a:t>
            </a:r>
          </a:p>
        </p:txBody>
      </p:sp>
    </p:spTree>
    <p:extLst>
      <p:ext uri="{BB962C8B-B14F-4D97-AF65-F5344CB8AC3E}">
        <p14:creationId xmlns:p14="http://schemas.microsoft.com/office/powerpoint/2010/main" val="9012103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2026-09-11T09:18:10.6610000Z</dcterms:created>
  <dcterms:modified xsi:type="dcterms:W3CDTF">2026-09-11T09:18:10.6610000Z</dcterms:modified>
</coreProperties>
</file>