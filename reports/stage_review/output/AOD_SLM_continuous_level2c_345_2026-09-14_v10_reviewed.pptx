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2.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3.xml" ContentType="application/vnd.openxmlformats-officedocument.drawingml.chart+xml"/>
  <Override PartName="/ppt/slides/charts/chart14.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15.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16.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17.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slides/charts/chart18.xml" ContentType="application/vnd.openxmlformats-officedocument.drawingml.chart+xml"/>
  <Override PartName="/ppt/notesSlides/notesSlide35.xml" ContentType="application/vnd.openxmlformats-officedocument.presentationml.notesSlide+xml"/>
  <Override PartName="/ppt/slides/slide36.xml" ContentType="application/vnd.openxmlformats-officedocument.presentationml.slide+xml"/>
  <Override PartName="/ppt/slides/charts/chart19.xml" ContentType="application/vnd.openxmlformats-officedocument.drawingml.chart+xml"/>
  <Override PartName="/ppt/notesSlides/notesSlide36.xml" ContentType="application/vnd.openxmlformats-officedocument.presentationml.notesSlide+xml"/>
  <Override PartName="/ppt/slides/slide37.xml" ContentType="application/vnd.openxmlformats-officedocument.presentationml.slide+xml"/>
  <Override PartName="/ppt/slides/charts/chart20.xml" ContentType="application/vnd.openxmlformats-officedocument.drawingml.chart+xml"/>
  <Override PartName="/ppt/notesSlides/notesSlide37.xml" ContentType="application/vnd.openxmlformats-officedocument.presentationml.notesSlide+xml"/>
  <Override PartName="/ppt/slides/slide38.xml" ContentType="application/vnd.openxmlformats-officedocument.presentationml.slide+xml"/>
  <Override PartName="/ppt/slides/charts/chart21.xml" ContentType="application/vnd.openxmlformats-officedocument.drawingml.chart+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d8e222c012d4867" /><Relationship Type="http://schemas.openxmlformats.org/officeDocument/2006/relationships/extended-properties" Target="/docProps/app.xml" Id="Radf42d7e02d345bb" /><Relationship Type="http://schemas.openxmlformats.org/officeDocument/2006/relationships/officeDocument" Target="/ppt/presentation.xml" Id="R088f17029ed2475a" /></Relationships>
</file>

<file path=ppt/presentation.xml><?xml version="1.0" encoding="utf-8"?>
<p:presentation xmlns:p="http://schemas.openxmlformats.org/presentationml/2006/main">
  <p:sldMasterIdLst>
    <p:sldMasterId xmlns:r="http://schemas.openxmlformats.org/officeDocument/2006/relationships" id="2147483648" r:id="Re7aa1b21e91d46e4"/>
  </p:sldMasterIdLst>
  <p:notesMasterIdLst>
    <p:notesMasterId xmlns:r="http://schemas.openxmlformats.org/officeDocument/2006/relationships" r:id="Rc2ba576e53644259"/>
  </p:notesMasterIdLst>
  <p:sldIdLst>
    <p:sldId xmlns:r="http://schemas.openxmlformats.org/officeDocument/2006/relationships" id="256" r:id="R79450a38a8fe4b72"/>
    <p:sldId xmlns:r="http://schemas.openxmlformats.org/officeDocument/2006/relationships" id="257" r:id="R37dd623f9fda4db1"/>
    <p:sldId xmlns:r="http://schemas.openxmlformats.org/officeDocument/2006/relationships" id="258" r:id="Rc7c4cb05c3334d55"/>
    <p:sldId xmlns:r="http://schemas.openxmlformats.org/officeDocument/2006/relationships" id="259" r:id="Ra9a050d0eb304ad3"/>
    <p:sldId xmlns:r="http://schemas.openxmlformats.org/officeDocument/2006/relationships" id="260" r:id="Re83e04d3c45e48bb"/>
    <p:sldId xmlns:r="http://schemas.openxmlformats.org/officeDocument/2006/relationships" id="261" r:id="R89c0b60779c141d7"/>
    <p:sldId xmlns:r="http://schemas.openxmlformats.org/officeDocument/2006/relationships" id="262" r:id="Rbe31c367fcd14316"/>
    <p:sldId xmlns:r="http://schemas.openxmlformats.org/officeDocument/2006/relationships" id="263" r:id="R24fb026ddd774f8a"/>
    <p:sldId xmlns:r="http://schemas.openxmlformats.org/officeDocument/2006/relationships" id="264" r:id="Rb626901e55c943b9"/>
    <p:sldId xmlns:r="http://schemas.openxmlformats.org/officeDocument/2006/relationships" id="265" r:id="R58899ce0a97c4220"/>
    <p:sldId xmlns:r="http://schemas.openxmlformats.org/officeDocument/2006/relationships" id="266" r:id="Rac6828f967f04306"/>
    <p:sldId xmlns:r="http://schemas.openxmlformats.org/officeDocument/2006/relationships" id="267" r:id="Rc9cd3c2fe50246c7"/>
    <p:sldId xmlns:r="http://schemas.openxmlformats.org/officeDocument/2006/relationships" id="268" r:id="R7210bad94e9842ce"/>
    <p:sldId xmlns:r="http://schemas.openxmlformats.org/officeDocument/2006/relationships" id="269" r:id="R5a32ab42a7f14227"/>
    <p:sldId xmlns:r="http://schemas.openxmlformats.org/officeDocument/2006/relationships" id="270" r:id="R868a663ae46d46f3"/>
    <p:sldId xmlns:r="http://schemas.openxmlformats.org/officeDocument/2006/relationships" id="271" r:id="Rb3d4d1b892294b83"/>
    <p:sldId xmlns:r="http://schemas.openxmlformats.org/officeDocument/2006/relationships" id="272" r:id="R490060f0a4284aa9"/>
    <p:sldId xmlns:r="http://schemas.openxmlformats.org/officeDocument/2006/relationships" id="273" r:id="Rd953436c5fc7486e"/>
    <p:sldId xmlns:r="http://schemas.openxmlformats.org/officeDocument/2006/relationships" id="274" r:id="R32b9064aa753422a"/>
    <p:sldId xmlns:r="http://schemas.openxmlformats.org/officeDocument/2006/relationships" id="275" r:id="R10a21ed696794119"/>
    <p:sldId xmlns:r="http://schemas.openxmlformats.org/officeDocument/2006/relationships" id="276" r:id="Raf1f0735d115430f"/>
    <p:sldId xmlns:r="http://schemas.openxmlformats.org/officeDocument/2006/relationships" id="277" r:id="R91940d39a6de4db3"/>
    <p:sldId xmlns:r="http://schemas.openxmlformats.org/officeDocument/2006/relationships" id="278" r:id="R4c5ca13e1c97480c"/>
    <p:sldId xmlns:r="http://schemas.openxmlformats.org/officeDocument/2006/relationships" id="279" r:id="Rb929631563984ab8"/>
    <p:sldId xmlns:r="http://schemas.openxmlformats.org/officeDocument/2006/relationships" id="280" r:id="R6f7083d23181487f"/>
    <p:sldId xmlns:r="http://schemas.openxmlformats.org/officeDocument/2006/relationships" id="281" r:id="R5ac67e38d27448c9"/>
    <p:sldId xmlns:r="http://schemas.openxmlformats.org/officeDocument/2006/relationships" id="282" r:id="R588320cc02204a58"/>
    <p:sldId xmlns:r="http://schemas.openxmlformats.org/officeDocument/2006/relationships" id="283" r:id="R2d085109c75c4cf9"/>
    <p:sldId xmlns:r="http://schemas.openxmlformats.org/officeDocument/2006/relationships" id="284" r:id="R78890b59e99a420a"/>
    <p:sldId xmlns:r="http://schemas.openxmlformats.org/officeDocument/2006/relationships" id="285" r:id="R00106221b57145df"/>
    <p:sldId xmlns:r="http://schemas.openxmlformats.org/officeDocument/2006/relationships" id="286" r:id="Rc0bc1e3f09554638"/>
    <p:sldId xmlns:r="http://schemas.openxmlformats.org/officeDocument/2006/relationships" id="287" r:id="R0bf97c6c5f8d42c4"/>
    <p:sldId xmlns:r="http://schemas.openxmlformats.org/officeDocument/2006/relationships" id="288" r:id="R2da5229ac4d34047"/>
    <p:sldId xmlns:r="http://schemas.openxmlformats.org/officeDocument/2006/relationships" id="289" r:id="R92107476e24f417a"/>
    <p:sldId xmlns:r="http://schemas.openxmlformats.org/officeDocument/2006/relationships" id="290" r:id="R941ab22d414546c1"/>
    <p:sldId xmlns:r="http://schemas.openxmlformats.org/officeDocument/2006/relationships" id="291" r:id="R0978e51b2af74ed8"/>
    <p:sldId xmlns:r="http://schemas.openxmlformats.org/officeDocument/2006/relationships" id="292" r:id="Rcbf233a442144bda"/>
    <p:sldId xmlns:r="http://schemas.openxmlformats.org/officeDocument/2006/relationships" id="293" r:id="R502eed98b6594ae0"/>
    <p:sldId xmlns:r="http://schemas.openxmlformats.org/officeDocument/2006/relationships" id="294" r:id="Rdf9aac2dcd894dfb"/>
    <p:sldId xmlns:r="http://schemas.openxmlformats.org/officeDocument/2006/relationships" id="295" r:id="R3a01707e0834460d"/>
    <p:sldId xmlns:r="http://schemas.openxmlformats.org/officeDocument/2006/relationships" id="296" r:id="R840a4dae71fb4abf"/>
    <p:sldId xmlns:r="http://schemas.openxmlformats.org/officeDocument/2006/relationships" id="297" r:id="R7354ddfce5f24aa7"/>
    <p:sldId xmlns:r="http://schemas.openxmlformats.org/officeDocument/2006/relationships" id="298" r:id="R96d21c3aff374c4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a90de5567d14396" /><Relationship Type="http://schemas.openxmlformats.org/officeDocument/2006/relationships/slideMaster" Target="/ppt/slideMasters/slideMaster1.xml" Id="Re7aa1b21e91d46e4" /><Relationship Type="http://schemas.openxmlformats.org/officeDocument/2006/relationships/notesMaster" Target="/ppt/notesMasters/notesMaster1.xml" Id="Rc2ba576e53644259" /><Relationship Type="http://schemas.openxmlformats.org/officeDocument/2006/relationships/presProps" Target="/ppt/presProps.xml" Id="R2c8fcd45ee2c48e0" /><Relationship Type="http://schemas.openxmlformats.org/officeDocument/2006/relationships/tableStyles" Target="/ppt/tableStyles.xml" Id="R1d62fc0d47304c46" /><Relationship Type="http://schemas.openxmlformats.org/officeDocument/2006/relationships/slide" Target="/ppt/slides/slide1.xml" Id="R79450a38a8fe4b72" /><Relationship Type="http://schemas.openxmlformats.org/officeDocument/2006/relationships/slide" Target="/ppt/slides/slide2.xml" Id="R37dd623f9fda4db1" /><Relationship Type="http://schemas.openxmlformats.org/officeDocument/2006/relationships/slide" Target="/ppt/slides/slide3.xml" Id="Rc7c4cb05c3334d55" /><Relationship Type="http://schemas.openxmlformats.org/officeDocument/2006/relationships/slide" Target="/ppt/slides/slide4.xml" Id="Ra9a050d0eb304ad3" /><Relationship Type="http://schemas.openxmlformats.org/officeDocument/2006/relationships/slide" Target="/ppt/slides/slide5.xml" Id="Re83e04d3c45e48bb" /><Relationship Type="http://schemas.openxmlformats.org/officeDocument/2006/relationships/slide" Target="/ppt/slides/slide6.xml" Id="R89c0b60779c141d7" /><Relationship Type="http://schemas.openxmlformats.org/officeDocument/2006/relationships/slide" Target="/ppt/slides/slide7.xml" Id="Rbe31c367fcd14316" /><Relationship Type="http://schemas.openxmlformats.org/officeDocument/2006/relationships/slide" Target="/ppt/slides/slide8.xml" Id="R24fb026ddd774f8a" /><Relationship Type="http://schemas.openxmlformats.org/officeDocument/2006/relationships/slide" Target="/ppt/slides/slide9.xml" Id="Rb626901e55c943b9" /><Relationship Type="http://schemas.openxmlformats.org/officeDocument/2006/relationships/slide" Target="/ppt/slides/slide10.xml" Id="R58899ce0a97c4220" /><Relationship Type="http://schemas.openxmlformats.org/officeDocument/2006/relationships/slide" Target="/ppt/slides/slide11.xml" Id="Rac6828f967f04306" /><Relationship Type="http://schemas.openxmlformats.org/officeDocument/2006/relationships/slide" Target="/ppt/slides/slide12.xml" Id="Rc9cd3c2fe50246c7" /><Relationship Type="http://schemas.openxmlformats.org/officeDocument/2006/relationships/slide" Target="/ppt/slides/slide13.xml" Id="R7210bad94e9842ce" /><Relationship Type="http://schemas.openxmlformats.org/officeDocument/2006/relationships/slide" Target="/ppt/slides/slide14.xml" Id="R5a32ab42a7f14227" /><Relationship Type="http://schemas.openxmlformats.org/officeDocument/2006/relationships/slide" Target="/ppt/slides/slide15.xml" Id="R868a663ae46d46f3" /><Relationship Type="http://schemas.openxmlformats.org/officeDocument/2006/relationships/slide" Target="/ppt/slides/slide16.xml" Id="Rb3d4d1b892294b83" /><Relationship Type="http://schemas.openxmlformats.org/officeDocument/2006/relationships/slide" Target="/ppt/slides/slide17.xml" Id="R490060f0a4284aa9" /><Relationship Type="http://schemas.openxmlformats.org/officeDocument/2006/relationships/slide" Target="/ppt/slides/slide18.xml" Id="Rd953436c5fc7486e" /><Relationship Type="http://schemas.openxmlformats.org/officeDocument/2006/relationships/slide" Target="/ppt/slides/slide19.xml" Id="R32b9064aa753422a" /><Relationship Type="http://schemas.openxmlformats.org/officeDocument/2006/relationships/slide" Target="/ppt/slides/slide20.xml" Id="R10a21ed696794119" /><Relationship Type="http://schemas.openxmlformats.org/officeDocument/2006/relationships/slide" Target="/ppt/slides/slide21.xml" Id="Raf1f0735d115430f" /><Relationship Type="http://schemas.openxmlformats.org/officeDocument/2006/relationships/slide" Target="/ppt/slides/slide22.xml" Id="R91940d39a6de4db3" /><Relationship Type="http://schemas.openxmlformats.org/officeDocument/2006/relationships/slide" Target="/ppt/slides/slide23.xml" Id="R4c5ca13e1c97480c" /><Relationship Type="http://schemas.openxmlformats.org/officeDocument/2006/relationships/slide" Target="/ppt/slides/slide24.xml" Id="Rb929631563984ab8" /><Relationship Type="http://schemas.openxmlformats.org/officeDocument/2006/relationships/slide" Target="/ppt/slides/slide25.xml" Id="R6f7083d23181487f" /><Relationship Type="http://schemas.openxmlformats.org/officeDocument/2006/relationships/slide" Target="/ppt/slides/slide26.xml" Id="R5ac67e38d27448c9" /><Relationship Type="http://schemas.openxmlformats.org/officeDocument/2006/relationships/slide" Target="/ppt/slides/slide27.xml" Id="R588320cc02204a58" /><Relationship Type="http://schemas.openxmlformats.org/officeDocument/2006/relationships/slide" Target="/ppt/slides/slide28.xml" Id="R2d085109c75c4cf9" /><Relationship Type="http://schemas.openxmlformats.org/officeDocument/2006/relationships/slide" Target="/ppt/slides/slide29.xml" Id="R78890b59e99a420a" /><Relationship Type="http://schemas.openxmlformats.org/officeDocument/2006/relationships/slide" Target="/ppt/slides/slide30.xml" Id="R00106221b57145df" /><Relationship Type="http://schemas.openxmlformats.org/officeDocument/2006/relationships/slide" Target="/ppt/slides/slide31.xml" Id="Rc0bc1e3f09554638" /><Relationship Type="http://schemas.openxmlformats.org/officeDocument/2006/relationships/slide" Target="/ppt/slides/slide32.xml" Id="R0bf97c6c5f8d42c4" /><Relationship Type="http://schemas.openxmlformats.org/officeDocument/2006/relationships/slide" Target="/ppt/slides/slide33.xml" Id="R2da5229ac4d34047" /><Relationship Type="http://schemas.openxmlformats.org/officeDocument/2006/relationships/slide" Target="/ppt/slides/slide34.xml" Id="R92107476e24f417a" /><Relationship Type="http://schemas.openxmlformats.org/officeDocument/2006/relationships/slide" Target="/ppt/slides/slide35.xml" Id="R941ab22d414546c1" /><Relationship Type="http://schemas.openxmlformats.org/officeDocument/2006/relationships/slide" Target="/ppt/slides/slide36.xml" Id="R0978e51b2af74ed8" /><Relationship Type="http://schemas.openxmlformats.org/officeDocument/2006/relationships/slide" Target="/ppt/slides/slide37.xml" Id="Rcbf233a442144bda" /><Relationship Type="http://schemas.openxmlformats.org/officeDocument/2006/relationships/slide" Target="/ppt/slides/slide38.xml" Id="R502eed98b6594ae0" /><Relationship Type="http://schemas.openxmlformats.org/officeDocument/2006/relationships/slide" Target="/ppt/slides/slide39.xml" Id="Rdf9aac2dcd894dfb" /><Relationship Type="http://schemas.openxmlformats.org/officeDocument/2006/relationships/slide" Target="/ppt/slides/slide40.xml" Id="R3a01707e0834460d" /><Relationship Type="http://schemas.openxmlformats.org/officeDocument/2006/relationships/slide" Target="/ppt/slides/slide41.xml" Id="R840a4dae71fb4abf" /><Relationship Type="http://schemas.openxmlformats.org/officeDocument/2006/relationships/slide" Target="/ppt/slides/slide42.xml" Id="R7354ddfce5f24aa7" /><Relationship Type="http://schemas.openxmlformats.org/officeDocument/2006/relationships/slide" Target="/ppt/slides/slide43.xml" Id="R96d21c3aff374c4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c4ac3febe048f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21ab91591b2448c" /><Relationship Type="http://schemas.openxmlformats.org/officeDocument/2006/relationships/notesMaster" Target="/ppt/notesMasters/notesMaster1.xml" Id="R4bacd7eb5e1c4aab" /></Relationships>
</file>

<file path=ppt/notesSlides/_rels/notesSlide2.xml.rels>&#65279;<?xml version="1.0" encoding="utf-8"?><Relationships xmlns="http://schemas.openxmlformats.org/package/2006/relationships"><Relationship Type="http://schemas.openxmlformats.org/officeDocument/2006/relationships/slide" Target="/ppt/slides/slide2.xml" Id="R1a122209a9854ac7" /><Relationship Type="http://schemas.openxmlformats.org/officeDocument/2006/relationships/notesMaster" Target="/ppt/notesMasters/notesMaster1.xml" Id="R4774088789684a9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5e79ede175f463f" /><Relationship Type="http://schemas.openxmlformats.org/officeDocument/2006/relationships/notesMaster" Target="/ppt/notesMasters/notesMaster1.xml" Id="R66c3c4cd9ee34a6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2070ccd5e1940ab" /><Relationship Type="http://schemas.openxmlformats.org/officeDocument/2006/relationships/notesMaster" Target="/ppt/notesMasters/notesMaster1.xml" Id="Rc10bd3521d034f6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f815a84898a4e2e" /><Relationship Type="http://schemas.openxmlformats.org/officeDocument/2006/relationships/notesMaster" Target="/ppt/notesMasters/notesMaster1.xml" Id="R3e9ed5d60ea74e51" /></Relationships>
</file>

<file path=ppt/notesSlides/_rels/notesSlide6.xml.rels>&#65279;<?xml version="1.0" encoding="utf-8"?><Relationships xmlns="http://schemas.openxmlformats.org/package/2006/relationships"><Relationship Type="http://schemas.openxmlformats.org/officeDocument/2006/relationships/slide" Target="/ppt/slides/slide6.xml" Id="Rfe2ea94a7d414f2a" /><Relationship Type="http://schemas.openxmlformats.org/officeDocument/2006/relationships/notesMaster" Target="/ppt/notesMasters/notesMaster1.xml" Id="Ra11d8e28315d419d" /></Relationships>
</file>

<file path=ppt/notesSlides/_rels/notesSlide7.xml.rels>&#65279;<?xml version="1.0" encoding="utf-8"?><Relationships xmlns="http://schemas.openxmlformats.org/package/2006/relationships"><Relationship Type="http://schemas.openxmlformats.org/officeDocument/2006/relationships/slide" Target="/ppt/slides/slide7.xml" Id="R6cf1a90b89264227" /><Relationship Type="http://schemas.openxmlformats.org/officeDocument/2006/relationships/notesMaster" Target="/ppt/notesMasters/notesMaster1.xml" Id="R8e9f56aa0af748c1" /></Relationships>
</file>

<file path=ppt/notesSlides/_rels/notesSlide8.xml.rels>&#65279;<?xml version="1.0" encoding="utf-8"?><Relationships xmlns="http://schemas.openxmlformats.org/package/2006/relationships"><Relationship Type="http://schemas.openxmlformats.org/officeDocument/2006/relationships/slide" Target="/ppt/slides/slide8.xml" Id="Rd855b6d925224137" /><Relationship Type="http://schemas.openxmlformats.org/officeDocument/2006/relationships/notesMaster" Target="/ppt/notesMasters/notesMaster1.xml" Id="R8a13ea38f2584542" /></Relationships>
</file>

<file path=ppt/notesSlides/_rels/notesSlide9.xml.rels>&#65279;<?xml version="1.0" encoding="utf-8"?><Relationships xmlns="http://schemas.openxmlformats.org/package/2006/relationships"><Relationship Type="http://schemas.openxmlformats.org/officeDocument/2006/relationships/slide" Target="/ppt/slides/slide9.xml" Id="R4d1e524f913745d3" /><Relationship Type="http://schemas.openxmlformats.org/officeDocument/2006/relationships/notesMaster" Target="/ppt/notesMasters/notesMaster1.xml" Id="Rb728a7554df44b8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317a0c39f0849d3" /><Relationship Type="http://schemas.openxmlformats.org/officeDocument/2006/relationships/notesMaster" Target="/ppt/notesMasters/notesMaster1.xml" Id="R7b5b586617c44d0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3d94199cc6f41b4" /><Relationship Type="http://schemas.openxmlformats.org/officeDocument/2006/relationships/notesMaster" Target="/ppt/notesMasters/notesMaster1.xml" Id="R00dd254362c2436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dacde9e348e4a20" /><Relationship Type="http://schemas.openxmlformats.org/officeDocument/2006/relationships/notesMaster" Target="/ppt/notesMasters/notesMaster1.xml" Id="R67c53cd4dc0349d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12ca9aa4c7b4484" /><Relationship Type="http://schemas.openxmlformats.org/officeDocument/2006/relationships/notesMaster" Target="/ppt/notesMasters/notesMaster1.xml" Id="Rd3a68bebf6d54db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f576ffc189c45e4" /><Relationship Type="http://schemas.openxmlformats.org/officeDocument/2006/relationships/notesMaster" Target="/ppt/notesMasters/notesMaster1.xml" Id="Rdcfe830cae2c4a9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31c72093b86471e" /><Relationship Type="http://schemas.openxmlformats.org/officeDocument/2006/relationships/notesMaster" Target="/ppt/notesMasters/notesMaster1.xml" Id="Rb49be5e10966409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f98fe45b7ce41e9" /><Relationship Type="http://schemas.openxmlformats.org/officeDocument/2006/relationships/notesMaster" Target="/ppt/notesMasters/notesMaster1.xml" Id="R37155a0ed65a460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e19008471e34196" /><Relationship Type="http://schemas.openxmlformats.org/officeDocument/2006/relationships/notesMaster" Target="/ppt/notesMasters/notesMaster1.xml" Id="R22495f7ac08c478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f5669ee0caf4282" /><Relationship Type="http://schemas.openxmlformats.org/officeDocument/2006/relationships/notesMaster" Target="/ppt/notesMasters/notesMaster1.xml" Id="R99e666998e674cc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d2f8c58b8bd4edf" /><Relationship Type="http://schemas.openxmlformats.org/officeDocument/2006/relationships/notesMaster" Target="/ppt/notesMasters/notesMaster1.xml" Id="Re0830cf9728c44a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6c06d19e0e74795" /><Relationship Type="http://schemas.openxmlformats.org/officeDocument/2006/relationships/notesMaster" Target="/ppt/notesMasters/notesMaster1.xml" Id="R9dde846f0289404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e4d6c6778804e42" /><Relationship Type="http://schemas.openxmlformats.org/officeDocument/2006/relationships/notesMaster" Target="/ppt/notesMasters/notesMaster1.xml" Id="R48700913da9340c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d4bd829470742e3" /><Relationship Type="http://schemas.openxmlformats.org/officeDocument/2006/relationships/notesMaster" Target="/ppt/notesMasters/notesMaster1.xml" Id="R0bc10f771db9419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4142fb57152412e" /><Relationship Type="http://schemas.openxmlformats.org/officeDocument/2006/relationships/notesMaster" Target="/ppt/notesMasters/notesMaster1.xml" Id="R575782d89bdc4e7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251320bb5884bf1" /><Relationship Type="http://schemas.openxmlformats.org/officeDocument/2006/relationships/notesMaster" Target="/ppt/notesMasters/notesMaster1.xml" Id="Rb4b7461cf630406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4668e50ff3b4143" /><Relationship Type="http://schemas.openxmlformats.org/officeDocument/2006/relationships/notesMaster" Target="/ppt/notesMasters/notesMaster1.xml" Id="R19479c12622f4e6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80fca3ea9134fe6" /><Relationship Type="http://schemas.openxmlformats.org/officeDocument/2006/relationships/notesMaster" Target="/ppt/notesMasters/notesMaster1.xml" Id="R78b46c3e00524fd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1e1e1ef4d8f4173" /><Relationship Type="http://schemas.openxmlformats.org/officeDocument/2006/relationships/notesMaster" Target="/ppt/notesMasters/notesMaster1.xml" Id="Rdd9b0b47cf33490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2c4c00a423146d1" /><Relationship Type="http://schemas.openxmlformats.org/officeDocument/2006/relationships/notesMaster" Target="/ppt/notesMasters/notesMaster1.xml" Id="Rddc7bb891f60430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894a481f9ad4b11" /><Relationship Type="http://schemas.openxmlformats.org/officeDocument/2006/relationships/notesMaster" Target="/ppt/notesMasters/notesMaster1.xml" Id="R9942764b5c81413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630f956a70045c6" /><Relationship Type="http://schemas.openxmlformats.org/officeDocument/2006/relationships/notesMaster" Target="/ppt/notesMasters/notesMaster1.xml" Id="Re080c2c7f588468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679d75a97f343c2" /><Relationship Type="http://schemas.openxmlformats.org/officeDocument/2006/relationships/notesMaster" Target="/ppt/notesMasters/notesMaster1.xml" Id="R751a92e1925442c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93f8f4b4e234e9e" /><Relationship Type="http://schemas.openxmlformats.org/officeDocument/2006/relationships/notesMaster" Target="/ppt/notesMasters/notesMaster1.xml" Id="R87b224870268427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ecca9fb520442ad" /><Relationship Type="http://schemas.openxmlformats.org/officeDocument/2006/relationships/notesMaster" Target="/ppt/notesMasters/notesMaster1.xml" Id="Ra54bac2bcc2f4c7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62d0901d06b421a" /><Relationship Type="http://schemas.openxmlformats.org/officeDocument/2006/relationships/notesMaster" Target="/ppt/notesMasters/notesMaster1.xml" Id="R86bdf2a369ff46d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4028b25fdbc4e2d" /><Relationship Type="http://schemas.openxmlformats.org/officeDocument/2006/relationships/notesMaster" Target="/ppt/notesMasters/notesMaster1.xml" Id="R34cfd1fdb7a347e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4d127c31e574698" /><Relationship Type="http://schemas.openxmlformats.org/officeDocument/2006/relationships/notesMaster" Target="/ppt/notesMasters/notesMaster1.xml" Id="R20e8cffb07f748e9"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edc24bc84234040" /><Relationship Type="http://schemas.openxmlformats.org/officeDocument/2006/relationships/notesMaster" Target="/ppt/notesMasters/notesMaster1.xml" Id="R84f69bc02a444dc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bddccb11a4842c0" /><Relationship Type="http://schemas.openxmlformats.org/officeDocument/2006/relationships/notesMaster" Target="/ppt/notesMasters/notesMaster1.xml" Id="Rdb7fd8f834c9406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2be40ff416d4013" /><Relationship Type="http://schemas.openxmlformats.org/officeDocument/2006/relationships/notesMaster" Target="/ppt/notesMasters/notesMaster1.xml" Id="Rb99c77eb7eac4474"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e4ecf5063a54e99" /><Relationship Type="http://schemas.openxmlformats.org/officeDocument/2006/relationships/notesMaster" Target="/ppt/notesMasters/notesMaster1.xml" Id="R9b423e97a80c4796"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2db51adc8334074" /><Relationship Type="http://schemas.openxmlformats.org/officeDocument/2006/relationships/notesMaster" Target="/ppt/notesMasters/notesMaster1.xml" Id="R3cc7c8072e8b499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3543d78cabd4ae8" /><Relationship Type="http://schemas.openxmlformats.org/officeDocument/2006/relationships/notesMaster" Target="/ppt/notesMasters/notesMaster1.xml" Id="Ra553e6c0439640cf"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8e777d09279b4867" /><Relationship Type="http://schemas.openxmlformats.org/officeDocument/2006/relationships/notesMaster" Target="/ppt/notesMasters/notesMaster1.xml" Id="R4e8bf19c073c49c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git branch gpt_level4_5, commit 5e55bb0dcc4d9c1be07c6d39d9e8d74d45bca9f8</a:t>
            </a:r>
          </a:p>
          <a:p xmlns:a="http://schemas.openxmlformats.org/drawingml/2006/main">
            <a:r>
              <a:t>- simulation/level2_joint_transfer/README.md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simulation/level2_joint_transfer/README.md, Level 2C section</a:t>
            </a:r>
          </a:p>
          <a:p xmlns:a="http://schemas.openxmlformats.org/drawingml/2006/main">
            <a:r>
              <a:t>- simulation/level2_joint_transfer/reference/fig6d_parameters.md</a:t>
            </a:r>
          </a:p>
          <a:p xmlns:a="http://schemas.openxmlformats.org/drawingml/2006/main">
            <a:r>
              <a:t>- simulation/level2_joint_transfer/outputs/level2c_pickup_survival/scan_stage1/summary_stage1.md</a:t>
            </a:r>
          </a:p>
          <a:p xmlns:a="http://schemas.openxmlformats.org/drawingml/2006/main">
            <a:r>
              <a:t/>
            </a:r>
          </a:p>
          <a:p xmlns:a="http://schemas.openxmlformats.org/drawingml/2006/main">
            <a:r>
              <a:t>Method note: The report distinguishes repository computations already present from comparison metrics recomputed for presentation. No Monte Carlo parameter was refit during deck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simulation/level2_joint_transfer/reference/fig6d_parameters.md</a:t>
            </a:r>
          </a:p>
          <a:p xmlns:a="http://schemas.openxmlformats.org/drawingml/2006/main">
            <a:r>
              <a:t>- simulation/level2_joint_transfer/reference/fig6d_survival_digitized.csv</a:t>
            </a:r>
          </a:p>
          <a:p xmlns:a="http://schemas.openxmlformats.org/drawingml/2006/main">
            <a:r>
              <a:t>- simulation/level2_joint_transfer/reference/fig6d_digitize_check.png</a:t>
            </a:r>
          </a:p>
          <a:p xmlns:a="http://schemas.openxmlformats.org/drawingml/2006/main">
            <a:r>
              <a:t>- simulation/level2_joint_transfer/tools/digitize_fig6d.py</a:t>
            </a:r>
          </a:p>
          <a:p xmlns:a="http://schemas.openxmlformats.org/drawingml/2006/main">
            <a:r>
              <a:t/>
            </a:r>
          </a:p>
          <a:p xmlns:a="http://schemas.openxmlformats.org/drawingml/2006/main">
            <a:r>
              <a:t>Method note: Paper display curves use monotone linear interpolation through stable anchors. The source CSV remains unchanged. Manual 200 µs ends at n=31 because the plotted curve leaves the visible panel.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simulation/level2_joint_transfer/reference/fig6d_parameters.md</a:t>
            </a:r>
          </a:p>
          <a:p xmlns:a="http://schemas.openxmlformats.org/drawingml/2006/main">
            <a:r>
              <a:t>- simulation/level2_joint_transfer/configs/level2c_pickup_survival.yaml</a:t>
            </a:r>
          </a:p>
          <a:p xmlns:a="http://schemas.openxmlformats.org/drawingml/2006/main">
            <a:r>
              <a:t>- simulation/level2_joint_transfer/src/level0_static_trap/potentials.py</a:t>
            </a:r>
          </a:p>
          <a:p xmlns:a="http://schemas.openxmlformats.org/drawingml/2006/main">
            <a:r>
              <a:t>- simulation/level2_joint_transfer/src/level2c_pickup_survival/survival_engine.py</a:t>
            </a:r>
          </a:p>
          <a:p xmlns:a="http://schemas.openxmlformats.org/drawingml/2006/main">
            <a:r>
              <a:t/>
            </a:r>
          </a:p>
          <a:p xmlns:a="http://schemas.openxmlformats.org/drawingml/2006/main">
            <a:r>
              <a:t>Method note: AOD waist 1.17 µm is an assumed match to the SLM back-aperture value. The Level 2C main comparison uses one spatial dimension.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simulation/level2_joint_transfer/configs/level2c_pickup_survival.yaml</a:t>
            </a:r>
          </a:p>
          <a:p xmlns:a="http://schemas.openxmlformats.org/drawingml/2006/main">
            <a:r>
              <a:t>- simulation/level2_joint_transfer/src/level2c_pickup_survival/survival_engine.py</a:t>
            </a:r>
          </a:p>
          <a:p xmlns:a="http://schemas.openxmlformats.org/drawingml/2006/main">
            <a:r>
              <a:t>- simulation/level2_joint_transfer/src/level2_joint_transfer/noise_heating.py</a:t>
            </a:r>
          </a:p>
          <a:p xmlns:a="http://schemas.openxmlformats.org/drawingml/2006/main">
            <a:r>
              <a:t/>
            </a:r>
          </a:p>
          <a:p xmlns:a="http://schemas.openxmlformats.org/drawingml/2006/main">
            <a:r>
              <a:t>Method note: The config field shot_jitter_alignment_sigma_um is described as per-transfer, but survival_engine.py redraws it once for each pickup, wait, and drop-off leg. RIN is deterministic mean-rate heating rather than a random trace.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simulation/level2_joint_transfer/src/level2_joint_transfer/waveforms.py</a:t>
            </a:r>
          </a:p>
          <a:p xmlns:a="http://schemas.openxmlformats.org/drawingml/2006/main">
            <a:r>
              <a:t>- simulation/level2_joint_transfer/reference/fig6d_parameters.md</a:t>
            </a:r>
          </a:p>
          <a:p xmlns:a="http://schemas.openxmlformats.org/drawingml/2006/main">
            <a:r>
              <a:t>- simulation/level2_joint_transfer/configs/level2c_pickup_survival.yaml</a:t>
            </a:r>
          </a:p>
          <a:p xmlns:a="http://schemas.openxmlformats.org/drawingml/2006/main">
            <a:r>
              <a:t/>
            </a:r>
          </a:p>
          <a:p xmlns:a="http://schemas.openxmlformats.org/drawingml/2006/main">
            <a:r>
              <a:t>Method note: Charts show the 400 µs manual waveform. The 200 and 600 µs cases use the same normalized shape with different time scaling.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simulation/level2_joint_transfer/src/level2c_pickup_survival/survival_engine.py</a:t>
            </a:r>
          </a:p>
          <a:p xmlns:a="http://schemas.openxmlformats.org/drawingml/2006/main">
            <a:r>
              <a:t>- simulation/level2_joint_transfer/src/level2_joint_transfer/noise_heating.py</a:t>
            </a:r>
          </a:p>
          <a:p xmlns:a="http://schemas.openxmlformats.org/drawingml/2006/main">
            <a:r>
              <a:t>- simulation/level2_joint_transfer/src/level2_joint_transfer/work_energy.py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simulation/level2_joint_transfer/outputs/level2c_pickup_survival/demo/survival_scan_results.csv</a:t>
            </a:r>
          </a:p>
          <a:p xmlns:a="http://schemas.openxmlformats.org/drawingml/2006/main">
            <a:r>
              <a:t>- simulation/level2_joint_transfer/src/level2c_pickup_survival/survival_engine.py</a:t>
            </a:r>
          </a:p>
          <a:p xmlns:a="http://schemas.openxmlformats.org/drawingml/2006/main">
            <a:r>
              <a:t>- simulation/level2_joint_transfer/src/level2_joint_transfer/statistics.py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simulation/level2_joint_transfer/outputs/level2c_pickup_survival/demo/survival_scan_results.csv</a:t>
            </a:r>
          </a:p>
          <a:p xmlns:a="http://schemas.openxmlformats.org/drawingml/2006/main">
            <a:r>
              <a:t>- simulation/level2_joint_transfer/reference/fig6d_survival_digitized.csv</a:t>
            </a:r>
          </a:p>
          <a:p xmlns:a="http://schemas.openxmlformats.org/drawingml/2006/main">
            <a:r>
              <a:t/>
            </a:r>
          </a:p>
          <a:p xmlns:a="http://schemas.openxmlformats.org/drawingml/2006/main">
            <a:r>
              <a:t>Method note: Baseline values are raw 256-shot full-variant counts: Manual 400 S(60)=0.9296875 and Manual 600 S(60)=0.9921875.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simulation/level2_joint_transfer/configs/scan_stage1/</a:t>
            </a:r>
          </a:p>
          <a:p xmlns:a="http://schemas.openxmlformats.org/drawingml/2006/main">
            <a:r>
              <a:t>- simulation/level2_joint_transfer/outputs/level2c_pickup_survival/scan_stage1/summary_stage1.md</a:t>
            </a:r>
          </a:p>
          <a:p xmlns:a="http://schemas.openxmlformats.org/drawingml/2006/main">
            <a:r>
              <a:t/>
            </a:r>
          </a:p>
          <a:p xmlns:a="http://schemas.openxmlformats.org/drawingml/2006/main">
            <a:r>
              <a:t>Method note: All scan values are sensitivity assumptions. They were not fit on the validation pool and do not constitute measured apparatus parameters.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simulation/level2_joint_transfer/outputs/level2c_pickup_survival/demo/survival_scan_results.csv</a:t>
            </a:r>
          </a:p>
          <a:p xmlns:a="http://schemas.openxmlformats.org/drawingml/2006/main">
            <a:r>
              <a:t>- simulation/level2_joint_transfer/outputs/level2c_pickup_survival/scan_stage1/*/survival_scan_results.csv</a:t>
            </a:r>
          </a:p>
          <a:p xmlns:a="http://schemas.openxmlformats.org/drawingml/2006/main">
            <a:r>
              <a:t/>
            </a:r>
          </a:p>
          <a:p xmlns:a="http://schemas.openxmlformats.org/drawingml/2006/main">
            <a:r>
              <a:t>Method note: All displayed scan values are raw n=60 full-variant results from the 256-shot common-random-number pool.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simulation/level2_joint_transfer/outputs/level2c_pickup_survival/scan_stage1/T40/comparison_to_paper.json</a:t>
            </a:r>
          </a:p>
          <a:p xmlns:a="http://schemas.openxmlformats.org/drawingml/2006/main">
            <a:r>
              <a:t>- simulation/level2_joint_transfer/reference/fig6d_survival_digitized.csv</a:t>
            </a:r>
          </a:p>
          <a:p xmlns:a="http://schemas.openxmlformats.org/drawingml/2006/main">
            <a:r>
              <a:t>- simulation/level2_joint_transfer/tools/digitize_fig6d.py</a:t>
            </a:r>
          </a:p>
          <a:p xmlns:a="http://schemas.openxmlformats.org/drawingml/2006/main">
            <a:r>
              <a:t/>
            </a:r>
          </a:p>
          <a:p xmlns:a="http://schemas.openxmlformats.org/drawingml/2006/main">
            <a:r>
              <a:t>Method note: MC lines use the raw 512-shot validation arrays. Paper lines use linear interpolation through stable digitization anchors at n=5, 8, 12, 16, 20, 30, 40, 50 and 60; the 200 µs series ends at n=31. This presentation-only reconstruction removes rasterized diamond-marker edge artifacts while preserving the source CSV and quoted endpoints.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simulation/level2_joint_transfer/outputs/level2c_pickup_survival/scan_stage1/fig6c_ml_trajectory_digitized.json</a:t>
            </a:r>
          </a:p>
          <a:p xmlns:a="http://schemas.openxmlformats.org/drawingml/2006/main">
            <a:r>
              <a:t>- simulation/level2_joint_transfer/src/level2_joint_transfer/waveforms.py</a:t>
            </a:r>
          </a:p>
          <a:p xmlns:a="http://schemas.openxmlformats.org/drawingml/2006/main">
            <a:r>
              <a:t>- simulation/level2_joint_transfer/outputs/level2c_pickup_survival/scan_stage1/summary_stage1.md</a:t>
            </a:r>
          </a:p>
          <a:p xmlns:a="http://schemas.openxmlformats.org/drawingml/2006/main">
            <a:r>
              <a:t/>
            </a:r>
          </a:p>
          <a:p xmlns:a="http://schemas.openxmlformats.org/drawingml/2006/main">
            <a:r>
              <a:t>Method note: Manual curves are evaluated at the same nodes. The digitized curve is not the raw AWG command waveform; interpolation boundary conditions and hardware response remain unknown.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simulation/level2_joint_transfer/outputs/level2c_pickup_survival/scan_stage1/paper_ml_eval.json</a:t>
            </a:r>
          </a:p>
          <a:p xmlns:a="http://schemas.openxmlformats.org/drawingml/2006/main">
            <a:r>
              <a:t>- simulation/level2_joint_transfer/reference/fig6d_survival_digitized.csv</a:t>
            </a:r>
          </a:p>
          <a:p xmlns:a="http://schemas.openxmlformats.org/drawingml/2006/main">
            <a:r>
              <a:t/>
            </a:r>
          </a:p>
          <a:p xmlns:a="http://schemas.openxmlformats.org/drawingml/2006/main">
            <a:r>
              <a:t>Method note: MC T40 values are raw 256-shot scan-pool endpoints: manual 0.52734375 and Fig. 6c replay 0.7578125. Paper endpoints are 0.4135 and 0.6633. Equivalent per-transfer loss is 1-S(60)^(1/60).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simulation/level2_joint_transfer/outputs/level2c_pickup_survival/scan_stage1/summary_stage1.md, section 6.1</a:t>
            </a:r>
          </a:p>
          <a:p xmlns:a="http://schemas.openxmlformats.org/drawingml/2006/main">
            <a:r>
              <a:t>- simulation/level2_joint_transfer/outputs/level2c_pickup_survival/scan_stage1/ablation_cross_2x2.py</a:t>
            </a:r>
          </a:p>
          <a:p xmlns:a="http://schemas.openxmlformats.org/drawingml/2006/main">
            <a:r>
              <a:t/>
            </a:r>
          </a:p>
          <a:p xmlns:a="http://schemas.openxmlformats.org/drawingml/2006/main">
            <a:r>
              <a:t>Method note: The repository commits the reproducible script and the reported values in summary_stage1.md, but no separate raw JSON/CSV for this cross-ablation. These numbers are therefore kept distinct from raw-output comparisons.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simulation/level2_joint_transfer/outputs/level2c_pickup_survival/scan_stage1/T40/comparison_to_paper.json</a:t>
            </a:r>
          </a:p>
          <a:p xmlns:a="http://schemas.openxmlformats.org/drawingml/2006/main">
            <a:r>
              <a:t>- simulation/level2_joint_transfer/outputs/level2c_pickup_survival/scan_stage1/paper_ml_eval.json</a:t>
            </a:r>
          </a:p>
          <a:p xmlns:a="http://schemas.openxmlformats.org/drawingml/2006/main">
            <a:r>
              <a:t>- simulation/level2_joint_transfer/reference/fig6d_survival_digitized.csv</a:t>
            </a:r>
          </a:p>
          <a:p xmlns:a="http://schemas.openxmlformats.org/drawingml/2006/main">
            <a:r>
              <a:t/>
            </a:r>
          </a:p>
          <a:p xmlns:a="http://schemas.openxmlformats.org/drawingml/2006/main">
            <a:r>
              <a:t>Method note: Manual curve-error metrics are recomputed against the same monotone paper reconstruction used on slides 12 and 17. Endpoints are unchanged. The ML endpoint row uses the raw T40 scan-pool value 0.7578125. The later 512-shot summary contains inconsistent 0.8047 and 0.822 values without a committed full curve, so neither is used as the main quantitative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simulation/level2_joint_transfer/outputs/level2c_pickup_survival/scan_stage1/T40/comparison_to_paper.json</a:t>
            </a:r>
          </a:p>
          <a:p xmlns:a="http://schemas.openxmlformats.org/drawingml/2006/main">
            <a:r>
              <a:t>- simulation/level2_joint_transfer/reference/fig6d_survival_digitized.csv</a:t>
            </a:r>
          </a:p>
          <a:p xmlns:a="http://schemas.openxmlformats.org/drawingml/2006/main">
            <a:r>
              <a:t/>
            </a:r>
          </a:p>
          <a:p xmlns:a="http://schemas.openxmlformats.org/drawingml/2006/main">
            <a:r>
              <a:t>Method note: Deviations are recomputed from raw MC values against the monotone paper reconstruction used on slide 12. This slide does not use the ML curve because the current Fig. 6c replay full curve was not committed. Vacuum lifetime and apparatus loss channels are absent from the current Level 2C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simulation/level2_joint_transfer/outputs/level2c_pickup_survival/scan_stage1/summary_stage1.md</a:t>
            </a:r>
          </a:p>
          <a:p xmlns:a="http://schemas.openxmlformats.org/drawingml/2006/main">
            <a:r>
              <a:t>- simulation/level2_joint_transfer/outputs/level2c_pickup_survival/scan_stage1/paper_ml_eval.json</a:t>
            </a:r>
          </a:p>
          <a:p xmlns:a="http://schemas.openxmlformats.org/drawingml/2006/main">
            <a:r>
              <a:t>- simulation/level2_joint_transfer/outputs/level2c_pickup_survival/scan_stage1/T40/comparison_to_paper.json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D:\work\MonteCarlo for Atom tweezer\README.md</a:t>
            </a:r>
          </a:p>
          <a:p xmlns:a="http://schemas.openxmlformats.org/drawingml/2006/main">
            <a:r>
              <a:t>D:\work\MonteCarlo for Atom tweezer\simulation\level2_joint_transfer\src\simulation_workflow\cli.py</a:t>
            </a:r>
          </a:p>
          <a:p xmlns:a="http://schemas.openxmlformats.org/drawingml/2006/main">
            <a:r>
              <a:t>Existing numerical outputs are historical and were not rerun for this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D:\work\MonteCarlo for Atom tweezer\simulation\level2_joint_transfer\configs\level3_3d_transport.yaml</a:t>
            </a:r>
          </a:p>
          <a:p xmlns:a="http://schemas.openxmlformats.org/drawingml/2006/main">
            <a:r>
              <a:t>D:\work\MonteCarlo for Atom tweezer\simulation\level2_joint_transfer\outputs\level3_3d_transport_lensing\demo\metrics.json</a:t>
            </a:r>
          </a:p>
          <a:p xmlns:a="http://schemas.openxmlformats.org/drawingml/2006/main">
            <a:r>
              <a:t>Existing numerical outputs are historical and were not rerun for this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D:\work\MonteCarlo for Atom tweezer\simulation\level2_joint_transfer\configs\level3_3d_transport.yaml</a:t>
            </a:r>
          </a:p>
          <a:p xmlns:a="http://schemas.openxmlformats.org/drawingml/2006/main">
            <a:r>
              <a:t>D:\work\MonteCarlo for Atom tweezer\simulation\level2_joint_transfer\outputs\level3_3d_transport_lensing\demo\metrics.json</a:t>
            </a:r>
          </a:p>
          <a:p xmlns:a="http://schemas.openxmlformats.org/drawingml/2006/main">
            <a:r>
              <a:t>D:\work\MonteCarlo for Atom tweezer\simulation\level2_joint_transfer\outputs\level3_3d_transport_lensing\demo\coarse_scan.csv</a:t>
            </a:r>
          </a:p>
          <a:p xmlns:a="http://schemas.openxmlformats.org/drawingml/2006/main">
            <a:r>
              <a:t>Existing numerical outputs are historical and were not rerun for this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D:\work\MonteCarlo for Atom tweezer\simulation\level2_joint_transfer\configs\level3_3d_transport.yaml</a:t>
            </a:r>
          </a:p>
          <a:p xmlns:a="http://schemas.openxmlformats.org/drawingml/2006/main">
            <a:r>
              <a:t>D:\work\MonteCarlo for Atom tweezer\simulation\level2_joint_transfer\outputs\level3_3d_transport_lensing\demo\metrics.json</a:t>
            </a:r>
          </a:p>
          <a:p xmlns:a="http://schemas.openxmlformats.org/drawingml/2006/main">
            <a:r>
              <a:t>Existing numerical outputs are historical and were not rerun for this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D:\work\MonteCarlo for Atom tweezer\simulation\level2_joint_transfer\configs\level4_roundtrip.yaml</a:t>
            </a:r>
          </a:p>
          <a:p xmlns:a="http://schemas.openxmlformats.org/drawingml/2006/main">
            <a:r>
              <a:t>D:\work\MonteCarlo for Atom tweezer\simulation\level2_joint_transfer\outputs\level4_end_to_end_roundtrip\demo\metrics.json</a:t>
            </a:r>
          </a:p>
          <a:p xmlns:a="http://schemas.openxmlformats.org/drawingml/2006/main">
            <a:r>
              <a:t>Existing numerical outputs are historical and were not rerun for this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D:\work\MonteCarlo for Atom tweezer\simulation\level2_joint_transfer\configs\level4_roundtrip.yaml</a:t>
            </a:r>
          </a:p>
          <a:p xmlns:a="http://schemas.openxmlformats.org/drawingml/2006/main">
            <a:r>
              <a:t>D:\work\MonteCarlo for Atom tweezer\simulation\level2_joint_transfer\outputs\level4_end_to_end_roundtrip\demo\metrics.json</a:t>
            </a:r>
          </a:p>
          <a:p xmlns:a="http://schemas.openxmlformats.org/drawingml/2006/main">
            <a:r>
              <a:t>Existing numerical outputs are historical and were not rerun for this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D:\work\MonteCarlo for Atom tweezer\simulation\level2_joint_transfer\configs\level4_roundtrip.yaml</a:t>
            </a:r>
          </a:p>
          <a:p xmlns:a="http://schemas.openxmlformats.org/drawingml/2006/main">
            <a:r>
              <a:t>D:\work\MonteCarlo for Atom tweezer\simulation\level2_joint_transfer\outputs\level4_end_to_end_roundtrip\demo\metrics.json</a:t>
            </a:r>
          </a:p>
          <a:p xmlns:a="http://schemas.openxmlformats.org/drawingml/2006/main">
            <a:r>
              <a:t>D:\work\MonteCarlo for Atom tweezer\simulation\level2_joint_transfer\outputs\level4_end_to_end_roundtrip\demo\repeated_round_metrics.csv</a:t>
            </a:r>
          </a:p>
          <a:p xmlns:a="http://schemas.openxmlformats.org/drawingml/2006/main">
            <a:r>
              <a:t>Existing numerical outputs are historical and were not rerun for this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D:\work\MonteCarlo for Atom tweezer\simulation\level2_joint_transfer\configs\level5_finite_pulse_irb.yaml</a:t>
            </a:r>
          </a:p>
          <a:p xmlns:a="http://schemas.openxmlformats.org/drawingml/2006/main">
            <a:r>
              <a:t>D:\work\MonteCarlo for Atom tweezer\simulation\level2_joint_transfer\outputs\level5_finite_pulse_irb\demo\RESULT_STATUS.md</a:t>
            </a:r>
          </a:p>
          <a:p xmlns:a="http://schemas.openxmlformats.org/drawingml/2006/main">
            <a:r>
              <a:t>Existing numerical outputs are historical and were not rerun for this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D:\work\MonteCarlo for Atom tweezer\simulation\level2_joint_transfer\configs\level5_finite_pulse_irb.yaml</a:t>
            </a:r>
          </a:p>
          <a:p xmlns:a="http://schemas.openxmlformats.org/drawingml/2006/main">
            <a:r>
              <a:t>D:\work\MonteCarlo for Atom tweezer\simulation\level2_joint_transfer\outputs\level5_finite_pulse_irb\demo\RESULT_STATUS.md</a:t>
            </a:r>
          </a:p>
          <a:p xmlns:a="http://schemas.openxmlformats.org/drawingml/2006/main">
            <a:r>
              <a:t>D:\work\MonteCarlo for Atom tweezer\simulation\level2_joint_transfer\outputs\level5_finite_pulse_irb\demo\metrics.json</a:t>
            </a:r>
          </a:p>
          <a:p xmlns:a="http://schemas.openxmlformats.org/drawingml/2006/main">
            <a:r>
              <a:t>Existing numerical outputs are historical and were not rerun for this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D:\work\MonteCarlo for Atom tweezer\simulation\level2_joint_transfer\configs\level5_finite_pulse_irb.yaml</a:t>
            </a:r>
          </a:p>
          <a:p xmlns:a="http://schemas.openxmlformats.org/drawingml/2006/main">
            <a:r>
              <a:t>D:\work\MonteCarlo for Atom tweezer\simulation\level2_joint_transfer\outputs\level5_finite_pulse_irb\demo\RESULT_STATUS.md</a:t>
            </a:r>
          </a:p>
          <a:p xmlns:a="http://schemas.openxmlformats.org/drawingml/2006/main">
            <a:r>
              <a:t>D:\work\MonteCarlo for Atom tweezer\simulation\level2_joint_transfer\src\level5_finite_pulse_irb\rb_fitting.py</a:t>
            </a:r>
          </a:p>
          <a:p xmlns:a="http://schemas.openxmlformats.org/drawingml/2006/main">
            <a:r>
              <a:t>D:\work\MonteCarlo for Atom tweezer\simulation\level2_joint_transfer\src\level5_finite_pulse_irb\interleaved_rb.py</a:t>
            </a:r>
          </a:p>
          <a:p xmlns:a="http://schemas.openxmlformats.org/drawingml/2006/main">
            <a:r>
              <a:t>Existing numerical outputs are historical and were not rerun for this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D:\work\MonteCarlo for Atom tweezer\simulation\level2_joint_transfer\configs\level2c_pickup_survival.yaml</a:t>
            </a:r>
          </a:p>
          <a:p xmlns:a="http://schemas.openxmlformats.org/drawingml/2006/main">
            <a:r>
              <a:t>D:\work\MonteCarlo for Atom tweezer\simulation\level2_joint_transfer\configs\level3_3d_transport.yaml</a:t>
            </a:r>
          </a:p>
          <a:p xmlns:a="http://schemas.openxmlformats.org/drawingml/2006/main">
            <a:r>
              <a:t>D:\work\MonteCarlo for Atom tweezer\simulation\level2_joint_transfer\outputs\level3_3d_transport_lensing\demo\metrics.json</a:t>
            </a:r>
          </a:p>
          <a:p xmlns:a="http://schemas.openxmlformats.org/drawingml/2006/main">
            <a:r>
              <a:t>D:\work\MonteCarlo for Atom tweezer\simulation\level2_joint_transfer\configs\level4_roundtrip.yaml</a:t>
            </a:r>
          </a:p>
          <a:p xmlns:a="http://schemas.openxmlformats.org/drawingml/2006/main">
            <a:r>
              <a:t>D:\work\MonteCarlo for Atom tweezer\simulation\level2_joint_transfer\outputs\level4_end_to_end_roundtrip\demo\metrics.json</a:t>
            </a:r>
          </a:p>
          <a:p xmlns:a="http://schemas.openxmlformats.org/drawingml/2006/main">
            <a:r>
              <a:t>D:\work\MonteCarlo for Atom tweezer\simulation\level2_joint_transfer\configs\level5_finite_pulse_irb.yaml</a:t>
            </a:r>
          </a:p>
          <a:p xmlns:a="http://schemas.openxmlformats.org/drawingml/2006/main">
            <a:r>
              <a:t>D:\work\MonteCarlo for Atom tweezer\simulation\level2_joint_transfer\outputs\level5_finite_pulse_irb\demo\RESULT_STATUS.md</a:t>
            </a:r>
          </a:p>
          <a:p xmlns:a="http://schemas.openxmlformats.org/drawingml/2006/main">
            <a:r>
              <a:t>Existing numerical outputs are historical and were not rerun for this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D:\work\MonteCarlo for Atom tweezer\run_simulation.py</a:t>
            </a:r>
          </a:p>
          <a:p xmlns:a="http://schemas.openxmlformats.org/drawingml/2006/main">
            <a:r>
              <a:t>D:\work\MonteCarlo for Atom tweezer\simulation\level2_joint_transfer\src\simulation_workflow\cli.py</a:t>
            </a:r>
          </a:p>
          <a:p xmlns:a="http://schemas.openxmlformats.org/drawingml/2006/main">
            <a:r>
              <a:t>D:\work\MonteCarlo for Atom tweezer\README.md</a:t>
            </a:r>
          </a:p>
          <a:p xmlns:a="http://schemas.openxmlformats.org/drawingml/2006/main">
            <a:r>
              <a:t>Existing numerical outputs are historical and were not rerun for this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D:\work\MonteCarlo for Atom tweezer\simulation\level2_joint_transfer\src\level5_finite_pulse_irb\interleaved_rb.py</a:t>
            </a:r>
          </a:p>
          <a:p xmlns:a="http://schemas.openxmlformats.org/drawingml/2006/main">
            <a:r>
              <a:t>D:\work\MonteCarlo for Atom tweezer\simulation\level2_joint_transfer\src\level5_finite_pulse_irb\rb_fitting.py</a:t>
            </a:r>
          </a:p>
          <a:p xmlns:a="http://schemas.openxmlformats.org/drawingml/2006/main">
            <a:r>
              <a:t>D:\work\MonteCarlo for Atom tweezer\simulation\level2_joint_transfer\tests\test_level5_irb_regression.py</a:t>
            </a:r>
          </a:p>
          <a:p xmlns:a="http://schemas.openxmlformats.org/drawingml/2006/main">
            <a:r>
              <a:t>Existing numerical outputs are historical and were not rerun for this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D:\work\MonteCarlo for Atom tweezer\README.md</a:t>
            </a:r>
          </a:p>
          <a:p xmlns:a="http://schemas.openxmlformats.org/drawingml/2006/main">
            <a:r>
              <a:t>D:\work\MonteCarlo for Atom tweezer\reports\stage_review\output\AOD_SLM_MonteCarlo_levels2c_3_4_5_2026-09-14_v9.md</a:t>
            </a:r>
          </a:p>
          <a:p xmlns:a="http://schemas.openxmlformats.org/drawingml/2006/main">
            <a:r>
              <a:t>Existing numerical outputs are historical and were not rerun for this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D:\work\MonteCarlo for Atom tweezer\reports\stage_review\output\AOD_SLM_continuous_level2c_345_2026-09-14_v10.md</a:t>
            </a:r>
          </a:p>
          <a:p xmlns:a="http://schemas.openxmlformats.org/drawingml/2006/main">
            <a:r>
              <a:t>D:\work\MonteCarlo for Atom tweezer\reports\stage_review\output\AOD_SLM_continuous_level2c_345_2026-09-14_v10.evidence.json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D:\work\MonteCarlo for Atom tweezer\reports\stage_review\output\AOD_SLM_continuous_level2c_345_2026-09-14_v10.md</a:t>
            </a:r>
          </a:p>
          <a:p xmlns:a="http://schemas.openxmlformats.org/drawingml/2006/main">
            <a:r>
              <a:t>D:\work\MonteCarlo for Atom tweezer\reports\stage_review\output\AOD_SLM_continuous_level2c_345_2026-09-14_v10.evidence.json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D:\work\MonteCarlo for Atom tweezer\reports\stage_review\output\AOD_SLM_continuous_level2c_345_2026-09-14_v10.md</a:t>
            </a:r>
          </a:p>
          <a:p xmlns:a="http://schemas.openxmlformats.org/drawingml/2006/main">
            <a:r>
              <a:t>D:\work\MonteCarlo for Atom tweezer\reports\stage_review\output\AOD_SLM_continuous_level2c_345_2026-09-14_v10.evidence.json</a:t>
            </a:r>
          </a:p>
          <a:p xmlns:a="http://schemas.openxmlformats.org/drawingml/2006/main">
            <a:r>
              <a:t>D:\work\MonteCarlo for Atom tweezer\simulation\level2_joint_transfer\outputs\continuous_level2c_345\run_20260914\precision_T5_matched_manual_200us_N4096_dt0.0125.json</a:t>
            </a:r>
          </a:p>
          <a:p xmlns:a="http://schemas.openxmlformats.org/drawingml/2006/main">
            <a:r>
              <a:t>D:\work\MonteCarlo for Atom tweezer\simulation\level2_joint_transfer\outputs\continuous_level2c_345\run_20260914\validation_T5_baseline_1d_manual_200us_N512_dt0.05.json</a:t>
            </a:r>
          </a:p>
          <a:p xmlns:a="http://schemas.openxmlformats.org/drawingml/2006/main">
            <a:r>
              <a:t>D:\work\MonteCarlo for Atom tweezer\simulation\level2_joint_transfer\outputs\continuous_level2c_345\run_20260914\validation_T5_matched_manual_200us_N512_dt0.05.json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D:\work\MonteCarlo for Atom tweezer\reports\stage_review\output\AOD_SLM_continuous_level2c_345_2026-09-14_v10.md</a:t>
            </a:r>
          </a:p>
          <a:p xmlns:a="http://schemas.openxmlformats.org/drawingml/2006/main">
            <a:r>
              <a:t>D:\work\MonteCarlo for Atom tweezer\reports\stage_review\output\AOD_SLM_continuous_level2c_345_2026-09-14_v10.evidence.json</a:t>
            </a:r>
          </a:p>
          <a:p xmlns:a="http://schemas.openxmlformats.org/drawingml/2006/main">
            <a:r>
              <a:t>D:\work\MonteCarlo for Atom tweezer\simulation\level2_joint_transfer\outputs\continuous_level2c_345\run_20260914\precision_T15_matched_manual_400us_N4096_dt0.0125.json</a:t>
            </a:r>
          </a:p>
          <a:p xmlns:a="http://schemas.openxmlformats.org/drawingml/2006/main">
            <a:r>
              <a:t>D:\work\MonteCarlo for Atom tweezer\simulation\level2_joint_transfer\outputs\continuous_level2c_345\run_20260914\validation_T5_baseline_1d_manual_400us_N512_dt0.05.json</a:t>
            </a:r>
          </a:p>
          <a:p xmlns:a="http://schemas.openxmlformats.org/drawingml/2006/main">
            <a:r>
              <a:t>D:\work\MonteCarlo for Atom tweezer\simulation\level2_joint_transfer\outputs\continuous_level2c_345\run_20260914\validation_T5_matched_manual_400us_N512_dt0.05.json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D:\work\MonteCarlo for Atom tweezer\reports\stage_review\output\AOD_SLM_continuous_level2c_345_2026-09-14_v10.md</a:t>
            </a:r>
          </a:p>
          <a:p xmlns:a="http://schemas.openxmlformats.org/drawingml/2006/main">
            <a:r>
              <a:t>D:\work\MonteCarlo for Atom tweezer\reports\stage_review\output\AOD_SLM_continuous_level2c_345_2026-09-14_v10.evidence.json</a:t>
            </a:r>
          </a:p>
          <a:p xmlns:a="http://schemas.openxmlformats.org/drawingml/2006/main">
            <a:r>
              <a:t>D:\work\MonteCarlo for Atom tweezer\simulation\level2_joint_transfer\outputs\continuous_level2c_345\run_20260914\precision_T25_matched_manual_600us_N4096_dt0.0125.json</a:t>
            </a:r>
          </a:p>
          <a:p xmlns:a="http://schemas.openxmlformats.org/drawingml/2006/main">
            <a:r>
              <a:t>D:\work\MonteCarlo for Atom tweezer\simulation\level2_joint_transfer\outputs\continuous_level2c_345\run_20260914\validation_T5_baseline_1d_manual_600us_N512_dt0.05.json</a:t>
            </a:r>
          </a:p>
          <a:p xmlns:a="http://schemas.openxmlformats.org/drawingml/2006/main">
            <a:r>
              <a:t>D:\work\MonteCarlo for Atom tweezer\simulation\level2_joint_transfer\outputs\continuous_level2c_345\run_20260914\validation_T5_matched_manual_600us_N512_dt0.05.json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D:\work\MonteCarlo for Atom tweezer\reports\stage_review\output\AOD_SLM_continuous_level2c_345_2026-09-14_v10.md</a:t>
            </a:r>
          </a:p>
          <a:p xmlns:a="http://schemas.openxmlformats.org/drawingml/2006/main">
            <a:r>
              <a:t>D:\work\MonteCarlo for Atom tweezer\reports\stage_review\output\AOD_SLM_continuous_level2c_345_2026-09-14_v10.evidence.json</a:t>
            </a:r>
          </a:p>
          <a:p xmlns:a="http://schemas.openxmlformats.org/drawingml/2006/main">
            <a:r>
              <a:t>D:\work\MonteCarlo for Atom tweezer\simulation\level2_joint_transfer\outputs\continuous_level2c_345\run_20260914\precision_T25_matched_ml_400us_N4096_dt0.0125.json</a:t>
            </a:r>
          </a:p>
          <a:p xmlns:a="http://schemas.openxmlformats.org/drawingml/2006/main">
            <a:r>
              <a:t>D:\work\MonteCarlo for Atom tweezer\simulation\level2_joint_transfer\outputs\continuous_level2c_345\run_20260914\validation_T5_baseline_1d_ml_400us_N512_dt0.05.json</a:t>
            </a:r>
          </a:p>
          <a:p xmlns:a="http://schemas.openxmlformats.org/drawingml/2006/main">
            <a:r>
              <a:t>D:\work\MonteCarlo for Atom tweezer\simulation\level2_joint_transfer\outputs\continuous_level2c_345\run_20260914\validation_T5_matched_ml_400us_N512_dt0.05.json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D:\work\MonteCarlo for Atom tweezer\reports\stage_review\output\AOD_SLM_continuous_level2c_345_2026-09-14_v10.md</a:t>
            </a:r>
          </a:p>
          <a:p xmlns:a="http://schemas.openxmlformats.org/drawingml/2006/main">
            <a:r>
              <a:t>D:\work\MonteCarlo for Atom tweezer\reports\stage_review\output\AOD_SLM_continuous_level2c_345_2026-09-14_v10.evidence.json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D:\work\MonteCarlo for Atom tweezer\reports\stage_review\output\AOD_SLM_continuous_level2c_345_2026-09-14_v10.md</a:t>
            </a:r>
          </a:p>
          <a:p xmlns:a="http://schemas.openxmlformats.org/drawingml/2006/main">
            <a:r>
              <a:t>D:\work\MonteCarlo for Atom tweezer\reports\stage_review\output\AOD_SLM_continuous_level2c_345_2026-09-14_v10.evidence.json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D:\work\MonteCarlo for Atom tweezer\reports\stage_review\output\AOD_SLM_continuous_level2c_345_2026-09-14_v10.md</a:t>
            </a:r>
          </a:p>
          <a:p xmlns:a="http://schemas.openxmlformats.org/drawingml/2006/main">
            <a:r>
              <a:t>D:\work\MonteCarlo for Atom tweezer\reports\stage_review\output\AOD_SLM_continuous_level2c_345_2026-09-14_v10.evidence.json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D:\work\MonteCarlo for Atom tweezer\reports\stage_review\output\AOD_SLM_continuous_level2c_345_2026-09-14_v10.md</a:t>
            </a:r>
          </a:p>
          <a:p xmlns:a="http://schemas.openxmlformats.org/drawingml/2006/main">
            <a:r>
              <a:t>D:\work\MonteCarlo for Atom tweezer\reports\stage_review\output\AOD_SLM_continuous_level2c_345_2026-09-14_v10.evidence.json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D:\work\MonteCarlo for Atom tweezer\reports\stage_review\output\AOD_SLM_continuous_level2c_345_2026-09-14_v10.md</a:t>
            </a:r>
          </a:p>
          <a:p xmlns:a="http://schemas.openxmlformats.org/drawingml/2006/main">
            <a:r>
              <a:t>D:\work\MonteCarlo for Atom tweezer\reports\stage_review\output\AOD_SLM_continuous_level2c_345_2026-09-14_v10.evidence.json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ff58d8a51414e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e7b450c3bae4870" /><Relationship Type="http://schemas.openxmlformats.org/officeDocument/2006/relationships/slideLayout" Target="/ppt/slideLayouts/slideLayout1.xml" Id="R95f4ed60c66c4e7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f4ed60c66c4e7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09bcad2cba14acb" /><Relationship Type="http://schemas.openxmlformats.org/officeDocument/2006/relationships/notesSlide" Target="/ppt/notesSlides/notesSlide1.xml" Id="R3180e4be155c4da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6adf7a28cdc46e1" /><Relationship Type="http://schemas.openxmlformats.org/officeDocument/2006/relationships/notesSlide" Target="/ppt/notesSlides/notesSlide2.xml" Id="R632d7aa7e918431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49af56b486a434f" /><Relationship Type="http://schemas.openxmlformats.org/officeDocument/2006/relationships/image" Target="/ppt/media/image.png" Id="R9e12587e82c64e73" /><Relationship Type="http://schemas.openxmlformats.org/officeDocument/2006/relationships/notesSlide" Target="/ppt/notesSlides/notesSlide3.xml" Id="R590aa63eebba4bb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7bed7e43d6645fa" /><Relationship Type="http://schemas.openxmlformats.org/officeDocument/2006/relationships/notesSlide" Target="/ppt/notesSlides/notesSlide4.xml" Id="Rad450aef32c840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bb5bcba51e94b94" /><Relationship Type="http://schemas.openxmlformats.org/officeDocument/2006/relationships/notesSlide" Target="/ppt/notesSlides/notesSlide5.xml" Id="Ra1f900a63b8b403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1c49211d09f4d9e" /><Relationship Type="http://schemas.openxmlformats.org/officeDocument/2006/relationships/chart" Target="/ppt/slides/charts/chart1.xml" Id="R097b47ac0abb4a32" /><Relationship Type="http://schemas.openxmlformats.org/officeDocument/2006/relationships/chart" Target="/ppt/slides/charts/chart2.xml" Id="R4a7ec9ed206b40e1" /><Relationship Type="http://schemas.openxmlformats.org/officeDocument/2006/relationships/notesSlide" Target="/ppt/notesSlides/notesSlide6.xml" Id="R450cc5d114384fb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0ba3c2641484324" /><Relationship Type="http://schemas.openxmlformats.org/officeDocument/2006/relationships/notesSlide" Target="/ppt/notesSlides/notesSlide7.xml" Id="R8a8f1c977fc3424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dd52f38d3bf4e2b" /><Relationship Type="http://schemas.openxmlformats.org/officeDocument/2006/relationships/chart" Target="/ppt/slides/charts/chart3.xml" Id="R854d9ef011cd48a6" /><Relationship Type="http://schemas.openxmlformats.org/officeDocument/2006/relationships/notesSlide" Target="/ppt/notesSlides/notesSlide8.xml" Id="R1e1d2db6fc28407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c38b7e239a448ab" /><Relationship Type="http://schemas.openxmlformats.org/officeDocument/2006/relationships/chart" Target="/ppt/slides/charts/chart4.xml" Id="R7878735f56fd4900" /><Relationship Type="http://schemas.openxmlformats.org/officeDocument/2006/relationships/notesSlide" Target="/ppt/notesSlides/notesSlide9.xml" Id="Rdccc403dc21841b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ca4e43d16c6420b" /><Relationship Type="http://schemas.openxmlformats.org/officeDocument/2006/relationships/notesSlide" Target="/ppt/notesSlides/notesSlide10.xml" Id="R97097d62050c412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de955199bd94a04" /><Relationship Type="http://schemas.openxmlformats.org/officeDocument/2006/relationships/chart" Target="/ppt/slides/charts/chart5.xml" Id="R008005a6e6b2471c" /><Relationship Type="http://schemas.openxmlformats.org/officeDocument/2006/relationships/chart" Target="/ppt/slides/charts/chart6.xml" Id="Ra721c8e3b25a43dc" /><Relationship Type="http://schemas.openxmlformats.org/officeDocument/2006/relationships/notesSlide" Target="/ppt/notesSlides/notesSlide11.xml" Id="R35acd5863edc48a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ee44ab2e91c47f8" /><Relationship Type="http://schemas.openxmlformats.org/officeDocument/2006/relationships/chart" Target="/ppt/slides/charts/chart7.xml" Id="Rcc44a8d171fd462e" /><Relationship Type="http://schemas.openxmlformats.org/officeDocument/2006/relationships/chart" Target="/ppt/slides/charts/chart8.xml" Id="Raadf734812504e1e" /><Relationship Type="http://schemas.openxmlformats.org/officeDocument/2006/relationships/notesSlide" Target="/ppt/notesSlides/notesSlide12.xml" Id="R2a6685002216403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83e4e34c3c5425f" /><Relationship Type="http://schemas.openxmlformats.org/officeDocument/2006/relationships/chart" Target="/ppt/slides/charts/chart9.xml" Id="R9755d117d59c4739" /><Relationship Type="http://schemas.openxmlformats.org/officeDocument/2006/relationships/chart" Target="/ppt/slides/charts/chart10.xml" Id="Rcecca0bf6d5f4bd2" /><Relationship Type="http://schemas.openxmlformats.org/officeDocument/2006/relationships/notesSlide" Target="/ppt/notesSlides/notesSlide13.xml" Id="R1e8ed895581c41b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959ce0fb1034a30" /><Relationship Type="http://schemas.openxmlformats.org/officeDocument/2006/relationships/chart" Target="/ppt/slides/charts/chart11.xml" Id="R4603c868b40a420c" /><Relationship Type="http://schemas.openxmlformats.org/officeDocument/2006/relationships/notesSlide" Target="/ppt/notesSlides/notesSlide14.xml" Id="R1be0df424f754d7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b05dfa612b8482b" /><Relationship Type="http://schemas.openxmlformats.org/officeDocument/2006/relationships/chart" Target="/ppt/slides/charts/chart12.xml" Id="R8dad425e278a466d" /><Relationship Type="http://schemas.openxmlformats.org/officeDocument/2006/relationships/notesSlide" Target="/ppt/notesSlides/notesSlide15.xml" Id="R9768139e1ffb480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ac20f7c4f084045" /><Relationship Type="http://schemas.openxmlformats.org/officeDocument/2006/relationships/notesSlide" Target="/ppt/notesSlides/notesSlide16.xml" Id="R49df52e7c5c4463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b0f2256e5d14e4b" /><Relationship Type="http://schemas.openxmlformats.org/officeDocument/2006/relationships/chart" Target="/ppt/slides/charts/chart13.xml" Id="R823fc5a83ad64583" /><Relationship Type="http://schemas.openxmlformats.org/officeDocument/2006/relationships/chart" Target="/ppt/slides/charts/chart14.xml" Id="R6ebad763236248ea" /><Relationship Type="http://schemas.openxmlformats.org/officeDocument/2006/relationships/notesSlide" Target="/ppt/notesSlides/notesSlide17.xml" Id="Rcfd52c4ed228439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bdbc903f115440f" /><Relationship Type="http://schemas.openxmlformats.org/officeDocument/2006/relationships/notesSlide" Target="/ppt/notesSlides/notesSlide18.xml" Id="Rad6e26697008419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72891d66a0843a6" /><Relationship Type="http://schemas.openxmlformats.org/officeDocument/2006/relationships/notesSlide" Target="/ppt/notesSlides/notesSlide19.xml" Id="R64d74b475d324cc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df02e49352a4033" /><Relationship Type="http://schemas.openxmlformats.org/officeDocument/2006/relationships/notesSlide" Target="/ppt/notesSlides/notesSlide20.xml" Id="R1f150f7381af4b2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33155b33d2540ba" /><Relationship Type="http://schemas.openxmlformats.org/officeDocument/2006/relationships/chart" Target="/ppt/slides/charts/chart15.xml" Id="R8eabd8ef42984637" /><Relationship Type="http://schemas.openxmlformats.org/officeDocument/2006/relationships/notesSlide" Target="/ppt/notesSlides/notesSlide21.xml" Id="Ra5f39cfd26304fa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63e5c24bd7b45b8" /><Relationship Type="http://schemas.openxmlformats.org/officeDocument/2006/relationships/notesSlide" Target="/ppt/notesSlides/notesSlide22.xml" Id="R501de11c4b10458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ddf2aa4be39425d" /><Relationship Type="http://schemas.openxmlformats.org/officeDocument/2006/relationships/notesSlide" Target="/ppt/notesSlides/notesSlide23.xml" Id="Ref461fcc9d05425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ecc4bd1717742d8" /><Relationship Type="http://schemas.openxmlformats.org/officeDocument/2006/relationships/notesSlide" Target="/ppt/notesSlides/notesSlide24.xml" Id="R7a97887769d54fe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b0f372b165a4c30" /><Relationship Type="http://schemas.openxmlformats.org/officeDocument/2006/relationships/chart" Target="/ppt/slides/charts/chart16.xml" Id="R1248c18fa58946c9" /><Relationship Type="http://schemas.openxmlformats.org/officeDocument/2006/relationships/notesSlide" Target="/ppt/notesSlides/notesSlide25.xml" Id="Rb92a4f0cb11f412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d76666f79aa4225" /><Relationship Type="http://schemas.openxmlformats.org/officeDocument/2006/relationships/notesSlide" Target="/ppt/notesSlides/notesSlide26.xml" Id="R3e9247fd312b416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760ee8106e914154" /><Relationship Type="http://schemas.openxmlformats.org/officeDocument/2006/relationships/chart" Target="/ppt/slides/charts/chart17.xml" Id="R9c6490f7d3d24d01" /><Relationship Type="http://schemas.openxmlformats.org/officeDocument/2006/relationships/notesSlide" Target="/ppt/notesSlides/notesSlide27.xml" Id="R2b95f493faaf4d0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a0034f2f6dd04999" /><Relationship Type="http://schemas.openxmlformats.org/officeDocument/2006/relationships/notesSlide" Target="/ppt/notesSlides/notesSlide28.xml" Id="Rdb313eb5c184489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f61258d0afcb4606" /><Relationship Type="http://schemas.openxmlformats.org/officeDocument/2006/relationships/notesSlide" Target="/ppt/notesSlides/notesSlide29.xml" Id="Rfc47236e034647b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e16c64aebd714aab" /><Relationship Type="http://schemas.openxmlformats.org/officeDocument/2006/relationships/notesSlide" Target="/ppt/notesSlides/notesSlide30.xml" Id="R9ffe2ca47e074f4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3ce4102ca10b4845" /><Relationship Type="http://schemas.openxmlformats.org/officeDocument/2006/relationships/notesSlide" Target="/ppt/notesSlides/notesSlide31.xml" Id="Rafd5af08183a422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e947529c9f0646d3" /><Relationship Type="http://schemas.openxmlformats.org/officeDocument/2006/relationships/notesSlide" Target="/ppt/notesSlides/notesSlide32.xml" Id="Ra38d86f2e616453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253ab79b9ff64729" /><Relationship Type="http://schemas.openxmlformats.org/officeDocument/2006/relationships/notesSlide" Target="/ppt/notesSlides/notesSlide33.xml" Id="Rda17b397735249e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1544f40ce8fa4b5d" /><Relationship Type="http://schemas.openxmlformats.org/officeDocument/2006/relationships/notesSlide" Target="/ppt/notesSlides/notesSlide34.xml" Id="R9934a4caf41042c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a71feb7e543f459e" /><Relationship Type="http://schemas.openxmlformats.org/officeDocument/2006/relationships/chart" Target="/ppt/slides/charts/chart18.xml" Id="R36daa523f74d486b" /><Relationship Type="http://schemas.openxmlformats.org/officeDocument/2006/relationships/notesSlide" Target="/ppt/notesSlides/notesSlide35.xml" Id="R11d224cd9be74a4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a00ff6f3f61043bc" /><Relationship Type="http://schemas.openxmlformats.org/officeDocument/2006/relationships/chart" Target="/ppt/slides/charts/chart19.xml" Id="R0e289b1c2f514808" /><Relationship Type="http://schemas.openxmlformats.org/officeDocument/2006/relationships/notesSlide" Target="/ppt/notesSlides/notesSlide36.xml" Id="R636f8ba5029649a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3b857a10afe74770" /><Relationship Type="http://schemas.openxmlformats.org/officeDocument/2006/relationships/chart" Target="/ppt/slides/charts/chart20.xml" Id="R7c4358bdfe58480d" /><Relationship Type="http://schemas.openxmlformats.org/officeDocument/2006/relationships/notesSlide" Target="/ppt/notesSlides/notesSlide37.xml" Id="Re42ccc81e1a5449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4ae102dba19d4a34" /><Relationship Type="http://schemas.openxmlformats.org/officeDocument/2006/relationships/chart" Target="/ppt/slides/charts/chart21.xml" Id="R60f83e8415754f7d" /><Relationship Type="http://schemas.openxmlformats.org/officeDocument/2006/relationships/notesSlide" Target="/ppt/notesSlides/notesSlide38.xml" Id="Rf543eb8934e144fe"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3f663f39c95b4d4e" /><Relationship Type="http://schemas.openxmlformats.org/officeDocument/2006/relationships/notesSlide" Target="/ppt/notesSlides/notesSlide39.xml" Id="R466736db41ce4cd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81397d27af6d4ca0" /><Relationship Type="http://schemas.openxmlformats.org/officeDocument/2006/relationships/notesSlide" Target="/ppt/notesSlides/notesSlide40.xml" Id="Rfcaa93d0fa9c4e7a"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eb7e92dc9f054624" /><Relationship Type="http://schemas.openxmlformats.org/officeDocument/2006/relationships/notesSlide" Target="/ppt/notesSlides/notesSlide41.xml" Id="R48e0093be4654a1f"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9d485815eb044aad" /><Relationship Type="http://schemas.openxmlformats.org/officeDocument/2006/relationships/notesSlide" Target="/ppt/notesSlides/notesSlide42.xml" Id="Rff9c04e8f74f488e"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4e97be55e5414e9a" /><Relationship Type="http://schemas.openxmlformats.org/officeDocument/2006/relationships/notesSlide" Target="/ppt/notesSlides/notesSlide43.xml" Id="R1dab9597562d4c1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_rels/chart13.xml.rels><Relationships xmlns="http://schemas.openxmlformats.org/package/2006/relationships"><Relationship Id="rIdChartSnapshot1" Type="http://schemas.openxmlformats.org/officeDocument/2006/relationships/package" Target="../../embeddings/chart-data-snapshot-013.xlsx"/></Relationships>
</file>

<file path=ppt/slides/charts/_rels/chart14.xml.rels><Relationships xmlns="http://schemas.openxmlformats.org/package/2006/relationships"><Relationship Id="rIdChartSnapshot1" Type="http://schemas.openxmlformats.org/officeDocument/2006/relationships/package" Target="../../embeddings/chart-data-snapshot-014.xlsx"/></Relationships>
</file>

<file path=ppt/slides/charts/_rels/chart15.xml.rels><Relationships xmlns="http://schemas.openxmlformats.org/package/2006/relationships"><Relationship Id="rIdChartSnapshot1" Type="http://schemas.openxmlformats.org/officeDocument/2006/relationships/package" Target="../../embeddings/chart-data-snapshot-015.xlsx"/></Relationships>
</file>

<file path=ppt/slides/charts/_rels/chart16.xml.rels><Relationships xmlns="http://schemas.openxmlformats.org/package/2006/relationships"><Relationship Id="rIdChartSnapshot1" Type="http://schemas.openxmlformats.org/officeDocument/2006/relationships/package" Target="../../embeddings/chart-data-snapshot-016.xlsx"/></Relationships>
</file>

<file path=ppt/slides/charts/_rels/chart17.xml.rels><Relationships xmlns="http://schemas.openxmlformats.org/package/2006/relationships"><Relationship Id="rIdChartSnapshot1" Type="http://schemas.openxmlformats.org/officeDocument/2006/relationships/package" Target="../../embeddings/chart-data-snapshot-017.xlsx"/></Relationships>
</file>

<file path=ppt/slides/charts/_rels/chart18.xml.rels><Relationships xmlns="http://schemas.openxmlformats.org/package/2006/relationships"><Relationship Id="rIdChartSnapshot1" Type="http://schemas.openxmlformats.org/officeDocument/2006/relationships/package" Target="../../embeddings/chart-data-snapshot-018.xlsx"/></Relationships>
</file>

<file path=ppt/slides/charts/_rels/chart19.xml.rels><Relationships xmlns="http://schemas.openxmlformats.org/package/2006/relationships"><Relationship Id="rIdChartSnapshot1" Type="http://schemas.openxmlformats.org/officeDocument/2006/relationships/package" Target="../../embeddings/chart-data-snapshot-019.xlsx"/></Relationships>
</file>

<file path=ppt/slides/charts/_rels/chart20.xml.rels><Relationships xmlns="http://schemas.openxmlformats.org/package/2006/relationships"><Relationship Id="rIdChartSnapshot1" Type="http://schemas.openxmlformats.org/officeDocument/2006/relationships/package" Target="../../embeddings/chart-data-snapshot-020.xlsx"/></Relationships>
</file>

<file path=ppt/slides/charts/_rels/chart21.xml.rels><Relationships xmlns="http://schemas.openxmlformats.org/package/2006/relationships"><Relationship Id="rIdChartSnapshot1" Type="http://schemas.openxmlformats.org/officeDocument/2006/relationships/package" Target="../../embeddings/chart-data-snapshot-02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Manual position</c:v>
          </c:tx>
          <c:spPr>
            <a:ln xmlns:a="http://schemas.openxmlformats.org/drawingml/2006/main" w="28575">
              <a:solidFill>
                <a:srgbClr val="1570EF"/>
              </a:solidFill>
            </a:ln>
          </c:spPr>
          <c:marker>
            <c:symbol val="none"/>
          </c:marker>
          <c:cat>
            <c:numRef>
              <c:f>'Chart Data'!$A$2:$A$16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Data'!$B$2:$B$16</c:f>
              <c:numCache>
                <c:formatCode>0.0</c:formatCode>
                <c:ptCount val="15"/>
                <c:pt idx="0">
                  <c:v>0</c:v>
                </c:pt>
                <c:pt idx="1">
                  <c:v>0</c:v>
                </c:pt>
                <c:pt idx="2">
                  <c:v>0</c:v>
                </c:pt>
                <c:pt idx="3">
                  <c:v>0</c:v>
                </c:pt>
                <c:pt idx="4">
                  <c:v>0</c:v>
                </c:pt>
                <c:pt idx="5">
                  <c:v>0</c:v>
                </c:pt>
                <c:pt idx="6">
                  <c:v>0</c:v>
                </c:pt>
                <c:pt idx="7">
                  <c:v>0.000728265817023</c:v>
                </c:pt>
                <c:pt idx="8">
                  <c:v>0.0695738025988</c:v>
                </c:pt>
                <c:pt idx="9">
                  <c:v>0.386747897679</c:v>
                </c:pt>
                <c:pt idx="10">
                  <c:v>0.964185192895</c:v>
                </c:pt>
                <c:pt idx="11">
                  <c:v>1.61328129666</c:v>
                </c:pt>
                <c:pt idx="12">
                  <c:v>2.13498396302</c:v>
                </c:pt>
                <c:pt idx="13">
                  <c:v>2.36682462568</c:v>
                </c:pt>
                <c:pt idx="14">
                  <c:v>2.4</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Time (µs)</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2.5"/>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AOD center (µm)</a:t>
                </a:r>
              </a:p>
            </c:rich>
          </c:tx>
          <c:overlay val="0"/>
        </c:title>
        <c:numFmt formatCode="0.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ser>
          <c:idx val="0"/>
          <c:order val="0"/>
          <c:tx>
            <c:v>Manual depth</c:v>
          </c:tx>
          <c:spPr>
            <a:ln xmlns:a="http://schemas.openxmlformats.org/drawingml/2006/main" w="28575">
              <a:solidFill>
                <a:srgbClr val="0E9384"/>
              </a:solidFill>
            </a:ln>
          </c:spPr>
          <c:marker>
            <c:symbol val="none"/>
          </c:marker>
          <c:cat>
            <c:numRef>
              <c:f>'Chart Data'!$A$2:$A$16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Data'!$B$2:$B$16</c:f>
              <c:numCache>
                <c:formatCode>0.00</c:formatCode>
                <c:ptCount val="15"/>
                <c:pt idx="0">
                  <c:v>0</c:v>
                </c:pt>
                <c:pt idx="1">
                  <c:v>0.00620039682538</c:v>
                </c:pt>
                <c:pt idx="2">
                  <c:v>0.0248015873016</c:v>
                </c:pt>
                <c:pt idx="3">
                  <c:v>0.0558035714286</c:v>
                </c:pt>
                <c:pt idx="4">
                  <c:v>0.0992063492068</c:v>
                </c:pt>
                <c:pt idx="5">
                  <c:v>0.155009920635</c:v>
                </c:pt>
                <c:pt idx="6">
                  <c:v>0.223214285715</c:v>
                </c:pt>
                <c:pt idx="7">
                  <c:v>0.28</c:v>
                </c:pt>
                <c:pt idx="8">
                  <c:v>0.28</c:v>
                </c:pt>
                <c:pt idx="9">
                  <c:v>0.28</c:v>
                </c:pt>
                <c:pt idx="10">
                  <c:v>0.28</c:v>
                </c:pt>
                <c:pt idx="11">
                  <c:v>0.28</c:v>
                </c:pt>
                <c:pt idx="12">
                  <c:v>0.28</c:v>
                </c:pt>
                <c:pt idx="13">
                  <c:v>0.28</c:v>
                </c:pt>
                <c:pt idx="14">
                  <c:v>0.28</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Time (µs)</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0.3"/>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AOD depth (mK)</a:t>
                </a:r>
              </a:p>
            </c:rich>
          </c:tx>
          <c:overlay val="0"/>
        </c:title>
        <c:numFmt formatCode="0.0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ser>
          <c:idx val="0"/>
          <c:order val="0"/>
          <c:tx>
            <c:v>Baseline manual 400</c:v>
          </c:tx>
          <c:spPr>
            <a:ln xmlns:a="http://schemas.openxmlformats.org/drawingml/2006/main" w="28575">
              <a:solidFill>
                <a:srgbClr val="1570EF"/>
              </a:solidFill>
            </a:ln>
          </c:spPr>
          <c:marker>
            <c:symbol val="none"/>
          </c:marker>
          <c:cat>
            <c:numRef>
              <c:f>'Chart Data'!$A$2:$A$62</c:f>
              <c:numCache>
                <c:formatCode>General</c:formatCode>
                <c:ptCount val="6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numCache>
            </c:numRef>
          </c:cat>
          <c:val>
            <c:numRef>
              <c:f>'Chart Data'!$B$2:$B$62</c:f>
              <c:numCache>
                <c:formatCode>0%</c:formatCode>
                <c:ptCount val="61"/>
                <c:pt idx="0">
                  <c:v>1</c:v>
                </c:pt>
                <c:pt idx="1">
                  <c:v>1</c:v>
                </c:pt>
                <c:pt idx="2">
                  <c:v>1</c:v>
                </c:pt>
                <c:pt idx="3">
                  <c:v>1</c:v>
                </c:pt>
                <c:pt idx="4">
                  <c:v>1</c:v>
                </c:pt>
                <c:pt idx="5">
                  <c:v>1</c:v>
                </c:pt>
                <c:pt idx="6">
                  <c:v>1</c:v>
                </c:pt>
                <c:pt idx="7">
                  <c:v>1</c:v>
                </c:pt>
                <c:pt idx="8">
                  <c:v>1</c:v>
                </c:pt>
                <c:pt idx="9">
                  <c:v>1</c:v>
                </c:pt>
                <c:pt idx="10">
                  <c:v>1</c:v>
                </c:pt>
                <c:pt idx="11">
                  <c:v>1</c:v>
                </c:pt>
                <c:pt idx="12">
                  <c:v>1</c:v>
                </c:pt>
                <c:pt idx="13">
                  <c:v>0.99609375</c:v>
                </c:pt>
                <c:pt idx="14">
                  <c:v>0.99609375</c:v>
                </c:pt>
                <c:pt idx="15">
                  <c:v>0.99609375</c:v>
                </c:pt>
                <c:pt idx="16">
                  <c:v>0.99609375</c:v>
                </c:pt>
                <c:pt idx="17">
                  <c:v>0.99609375</c:v>
                </c:pt>
                <c:pt idx="18">
                  <c:v>0.99609375</c:v>
                </c:pt>
                <c:pt idx="19">
                  <c:v>0.9921875</c:v>
                </c:pt>
                <c:pt idx="20">
                  <c:v>0.9921875</c:v>
                </c:pt>
                <c:pt idx="21">
                  <c:v>0.984375</c:v>
                </c:pt>
                <c:pt idx="22">
                  <c:v>0.984375</c:v>
                </c:pt>
                <c:pt idx="23">
                  <c:v>0.984375</c:v>
                </c:pt>
                <c:pt idx="24">
                  <c:v>0.984375</c:v>
                </c:pt>
                <c:pt idx="25">
                  <c:v>0.984375</c:v>
                </c:pt>
                <c:pt idx="26">
                  <c:v>0.984375</c:v>
                </c:pt>
                <c:pt idx="27">
                  <c:v>0.9765625</c:v>
                </c:pt>
                <c:pt idx="28">
                  <c:v>0.9765625</c:v>
                </c:pt>
                <c:pt idx="29">
                  <c:v>0.96875</c:v>
                </c:pt>
                <c:pt idx="30">
                  <c:v>0.96875</c:v>
                </c:pt>
                <c:pt idx="31">
                  <c:v>0.96484375</c:v>
                </c:pt>
                <c:pt idx="32">
                  <c:v>0.96484375</c:v>
                </c:pt>
                <c:pt idx="33">
                  <c:v>0.9609375</c:v>
                </c:pt>
                <c:pt idx="34">
                  <c:v>0.9609375</c:v>
                </c:pt>
                <c:pt idx="35">
                  <c:v>0.95703125</c:v>
                </c:pt>
                <c:pt idx="36">
                  <c:v>0.95703125</c:v>
                </c:pt>
                <c:pt idx="37">
                  <c:v>0.94921875</c:v>
                </c:pt>
                <c:pt idx="38">
                  <c:v>0.94921875</c:v>
                </c:pt>
                <c:pt idx="39">
                  <c:v>0.9453125</c:v>
                </c:pt>
                <c:pt idx="40">
                  <c:v>0.9453125</c:v>
                </c:pt>
                <c:pt idx="41">
                  <c:v>0.9453125</c:v>
                </c:pt>
                <c:pt idx="42">
                  <c:v>0.9453125</c:v>
                </c:pt>
                <c:pt idx="43">
                  <c:v>0.9453125</c:v>
                </c:pt>
                <c:pt idx="44">
                  <c:v>0.94140625</c:v>
                </c:pt>
                <c:pt idx="45">
                  <c:v>0.94140625</c:v>
                </c:pt>
                <c:pt idx="46">
                  <c:v>0.94140625</c:v>
                </c:pt>
                <c:pt idx="47">
                  <c:v>0.94140625</c:v>
                </c:pt>
                <c:pt idx="48">
                  <c:v>0.94140625</c:v>
                </c:pt>
                <c:pt idx="49">
                  <c:v>0.94140625</c:v>
                </c:pt>
                <c:pt idx="50">
                  <c:v>0.94140625</c:v>
                </c:pt>
                <c:pt idx="51">
                  <c:v>0.94140625</c:v>
                </c:pt>
                <c:pt idx="52">
                  <c:v>0.94140625</c:v>
                </c:pt>
                <c:pt idx="53">
                  <c:v>0.94140625</c:v>
                </c:pt>
                <c:pt idx="54">
                  <c:v>0.94140625</c:v>
                </c:pt>
                <c:pt idx="55">
                  <c:v>0.9375</c:v>
                </c:pt>
                <c:pt idx="56">
                  <c:v>0.9375</c:v>
                </c:pt>
                <c:pt idx="57">
                  <c:v>0.93359375</c:v>
                </c:pt>
                <c:pt idx="58">
                  <c:v>0.93359375</c:v>
                </c:pt>
                <c:pt idx="59">
                  <c:v>0.9296875</c:v>
                </c:pt>
                <c:pt idx="60">
                  <c:v>0.9296875</c:v>
                </c:pt>
              </c:numCache>
            </c:numRef>
          </c:val>
        </c:ser>
        <c:ser>
          <c:idx val="1"/>
          <c:order val="1"/>
          <c:tx>
            <c:v>Baseline manual 600</c:v>
          </c:tx>
          <c:spPr>
            <a:ln xmlns:a="http://schemas.openxmlformats.org/drawingml/2006/main" w="28575">
              <a:solidFill>
                <a:srgbClr val="0E9384"/>
              </a:solidFill>
            </a:ln>
          </c:spPr>
          <c:marker>
            <c:symbol val="none"/>
          </c:marker>
          <c:cat>
            <c:numRef>
              <c:f>'Chart Data'!$C$2:$C$62</c:f>
              <c:numCache>
                <c:formatCode>General</c:formatCode>
                <c:ptCount val="6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numCache>
            </c:numRef>
          </c:cat>
          <c:val>
            <c:numRef>
              <c:f>'Chart Data'!$D$2:$D$62</c:f>
              <c:numCache>
                <c:formatCode>0%</c:formatCode>
                <c:ptCount val="61"/>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0.99609375</c:v>
                </c:pt>
                <c:pt idx="52">
                  <c:v>0.99609375</c:v>
                </c:pt>
                <c:pt idx="53">
                  <c:v>0.9921875</c:v>
                </c:pt>
                <c:pt idx="54">
                  <c:v>0.9921875</c:v>
                </c:pt>
                <c:pt idx="55">
                  <c:v>0.9921875</c:v>
                </c:pt>
                <c:pt idx="56">
                  <c:v>0.9921875</c:v>
                </c:pt>
                <c:pt idx="57">
                  <c:v>0.9921875</c:v>
                </c:pt>
                <c:pt idx="58">
                  <c:v>0.9921875</c:v>
                </c:pt>
                <c:pt idx="59">
                  <c:v>0.9921875</c:v>
                </c:pt>
                <c:pt idx="60">
                  <c:v>0.9921875</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One-way transfers n</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85"/>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Survival</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Paper</c:v>
          </c:tx>
          <c:spPr>
            <a:solidFill xmlns:a="http://schemas.openxmlformats.org/drawingml/2006/main">
              <a:srgbClr val="98A2B3"/>
            </a:solidFill>
          </c:spPr>
          <c:cat>
            <c:strRef>
              <c:f>'Chart Data'!$A$2:$A$4</c:f>
              <c:strCache>
                <c:ptCount val="3"/>
                <c:pt idx="0">
                  <c:v>Manual 200
S(31)</c:v>
                </c:pt>
                <c:pt idx="1">
                  <c:v>Manual 400
S(60)</c:v>
                </c:pt>
                <c:pt idx="2">
                  <c:v>Manual 600
S(60)</c:v>
                </c:pt>
              </c:strCache>
            </c:strRef>
          </c:cat>
          <c:val>
            <c:numRef>
              <c:f>'Chart Data'!$B$2:$B$4</c:f>
              <c:numCache>
                <c:formatCode>0.0%</c:formatCode>
                <c:ptCount val="3"/>
                <c:pt idx="0">
                  <c:v>0.3344</c:v>
                </c:pt>
                <c:pt idx="1">
                  <c:v>0.4135</c:v>
                </c:pt>
                <c:pt idx="2">
                  <c:v>0.5726</c:v>
                </c:pt>
              </c:numCache>
            </c:numRef>
          </c:val>
        </c:ser>
        <c:ser>
          <c:idx val="1"/>
          <c:order val="1"/>
          <c:tx>
            <c:v>Baseline</c:v>
          </c:tx>
          <c:spPr>
            <a:solidFill xmlns:a="http://schemas.openxmlformats.org/drawingml/2006/main">
              <a:srgbClr val="1570EF"/>
            </a:solidFill>
          </c:spPr>
          <c:cat>
            <c:strRef>
              <c:f>'Chart Data'!$C$2:$C$4</c:f>
              <c:strCache>
                <c:ptCount val="3"/>
                <c:pt idx="0">
                  <c:v>Manual 200
S(31)</c:v>
                </c:pt>
                <c:pt idx="1">
                  <c:v>Manual 400
S(60)</c:v>
                </c:pt>
                <c:pt idx="2">
                  <c:v>Manual 600
S(60)</c:v>
                </c:pt>
              </c:strCache>
            </c:strRef>
          </c:cat>
          <c:val>
            <c:numRef>
              <c:f>'Chart Data'!$D$2:$D$4</c:f>
              <c:numCache>
                <c:formatCode>0.0%</c:formatCode>
                <c:ptCount val="3"/>
                <c:pt idx="0">
                  <c:v>0.484375</c:v>
                </c:pt>
                <c:pt idx="1">
                  <c:v>0.9296875</c:v>
                </c:pt>
                <c:pt idx="2">
                  <c:v>0.9921875</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05"/>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Survival</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ser>
          <c:idx val="0"/>
          <c:order val="0"/>
          <c:tx>
            <c:v>Manual 400</c:v>
          </c:tx>
          <c:spPr>
            <a:ln xmlns:a="http://schemas.openxmlformats.org/drawingml/2006/main" w="28575">
              <a:solidFill>
                <a:srgbClr val="1570EF"/>
              </a:solidFill>
            </a:ln>
          </c:spPr>
          <c:marker>
            <c:symbol val="circle"/>
            <c:size val="6"/>
            <c:spPr>
              <a:solidFill xmlns:a="http://schemas.openxmlformats.org/drawingml/2006/main">
                <a:srgbClr val="1570EF"/>
              </a:solidFill>
            </c:spPr>
          </c:marker>
          <c:cat>
            <c:numRef>
              <c:f>'Chart Data'!$A$2:$A$6</c:f>
              <c:numCache>
                <c:formatCode>General</c:formatCode>
                <c:ptCount val="5"/>
                <c:pt idx="0">
                  <c:v>5</c:v>
                </c:pt>
                <c:pt idx="1">
                  <c:v>10</c:v>
                </c:pt>
                <c:pt idx="2">
                  <c:v>20</c:v>
                </c:pt>
                <c:pt idx="3">
                  <c:v>30</c:v>
                </c:pt>
                <c:pt idx="4">
                  <c:v>40</c:v>
                </c:pt>
              </c:numCache>
            </c:numRef>
          </c:cat>
          <c:val>
            <c:numRef>
              <c:f>'Chart Data'!$B$2:$B$6</c:f>
              <c:numCache>
                <c:formatCode>0%</c:formatCode>
                <c:ptCount val="5"/>
                <c:pt idx="0">
                  <c:v>0.9296875</c:v>
                </c:pt>
                <c:pt idx="1">
                  <c:v>0.9140625</c:v>
                </c:pt>
                <c:pt idx="2">
                  <c:v>0.7578125</c:v>
                </c:pt>
                <c:pt idx="3">
                  <c:v>0.609375</c:v>
                </c:pt>
                <c:pt idx="4">
                  <c:v>0.52734375</c:v>
                </c:pt>
              </c:numCache>
            </c:numRef>
          </c:val>
        </c:ser>
        <c:ser>
          <c:idx val="1"/>
          <c:order val="1"/>
          <c:tx>
            <c:v>Manual 600</c:v>
          </c:tx>
          <c:spPr>
            <a:ln xmlns:a="http://schemas.openxmlformats.org/drawingml/2006/main" w="28575">
              <a:solidFill>
                <a:srgbClr val="0E9384"/>
              </a:solidFill>
            </a:ln>
          </c:spPr>
          <c:marker>
            <c:symbol val="circle"/>
            <c:size val="6"/>
            <c:spPr>
              <a:solidFill xmlns:a="http://schemas.openxmlformats.org/drawingml/2006/main">
                <a:srgbClr val="0E9384"/>
              </a:solidFill>
            </c:spPr>
          </c:marker>
          <c:cat>
            <c:numRef>
              <c:f>'Chart Data'!$C$2:$C$6</c:f>
              <c:numCache>
                <c:formatCode>General</c:formatCode>
                <c:ptCount val="5"/>
                <c:pt idx="0">
                  <c:v>5</c:v>
                </c:pt>
                <c:pt idx="1">
                  <c:v>10</c:v>
                </c:pt>
                <c:pt idx="2">
                  <c:v>20</c:v>
                </c:pt>
                <c:pt idx="3">
                  <c:v>30</c:v>
                </c:pt>
                <c:pt idx="4">
                  <c:v>40</c:v>
                </c:pt>
              </c:numCache>
            </c:numRef>
          </c:cat>
          <c:val>
            <c:numRef>
              <c:f>'Chart Data'!$D$2:$D$6</c:f>
              <c:numCache>
                <c:formatCode>0%</c:formatCode>
                <c:ptCount val="5"/>
                <c:pt idx="0">
                  <c:v>0.9921875</c:v>
                </c:pt>
                <c:pt idx="1">
                  <c:v>0.98828125</c:v>
                </c:pt>
                <c:pt idx="2">
                  <c:v>0.91796875</c:v>
                </c:pt>
                <c:pt idx="3">
                  <c:v>0.79296875</c:v>
                </c:pt>
                <c:pt idx="4">
                  <c:v>0.6796875</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Initial temperature (µK)</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S(60)</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Manual 400</c:v>
          </c:tx>
          <c:spPr>
            <a:solidFill xmlns:a="http://schemas.openxmlformats.org/drawingml/2006/main">
              <a:srgbClr val="1570EF"/>
            </a:solidFill>
          </c:spPr>
          <c:cat>
            <c:strRef>
              <c:f>'Chart Data'!$A$2:$A$6</c:f>
              <c:strCache>
                <c:ptCount val="5"/>
                <c:pt idx="0">
                  <c:v>Baseline</c:v>
                </c:pt>
                <c:pt idx="1">
                  <c:v>R3e−7</c:v>
                </c:pt>
                <c:pt idx="2">
                  <c:v>A0.15</c:v>
                </c:pt>
                <c:pt idx="3">
                  <c:v>A0.30</c:v>
                </c:pt>
                <c:pt idx="4">
                  <c:v>J0.10</c:v>
                </c:pt>
              </c:strCache>
            </c:strRef>
          </c:cat>
          <c:val>
            <c:numRef>
              <c:f>'Chart Data'!$B$2:$B$6</c:f>
              <c:numCache>
                <c:formatCode>0%</c:formatCode>
                <c:ptCount val="5"/>
                <c:pt idx="0">
                  <c:v>0.9296875</c:v>
                </c:pt>
                <c:pt idx="1">
                  <c:v>0.359375</c:v>
                </c:pt>
                <c:pt idx="2">
                  <c:v>0.93359375</c:v>
                </c:pt>
                <c:pt idx="3">
                  <c:v>0.921875</c:v>
                </c:pt>
                <c:pt idx="4">
                  <c:v>0.09375</c:v>
                </c:pt>
              </c:numCache>
            </c:numRef>
          </c:val>
        </c:ser>
        <c:ser>
          <c:idx val="1"/>
          <c:order val="1"/>
          <c:tx>
            <c:v>Manual 600</c:v>
          </c:tx>
          <c:spPr>
            <a:solidFill xmlns:a="http://schemas.openxmlformats.org/drawingml/2006/main">
              <a:srgbClr val="0E9384"/>
            </a:solidFill>
          </c:spPr>
          <c:cat>
            <c:strRef>
              <c:f>'Chart Data'!$C$2:$C$6</c:f>
              <c:strCache>
                <c:ptCount val="5"/>
                <c:pt idx="0">
                  <c:v>Baseline</c:v>
                </c:pt>
                <c:pt idx="1">
                  <c:v>R3e−7</c:v>
                </c:pt>
                <c:pt idx="2">
                  <c:v>A0.15</c:v>
                </c:pt>
                <c:pt idx="3">
                  <c:v>A0.30</c:v>
                </c:pt>
                <c:pt idx="4">
                  <c:v>J0.10</c:v>
                </c:pt>
              </c:strCache>
            </c:strRef>
          </c:cat>
          <c:val>
            <c:numRef>
              <c:f>'Chart Data'!$D$2:$D$6</c:f>
              <c:numCache>
                <c:formatCode>0%</c:formatCode>
                <c:ptCount val="5"/>
                <c:pt idx="0">
                  <c:v>0.9921875</c:v>
                </c:pt>
                <c:pt idx="1">
                  <c:v>0.43359375</c:v>
                </c:pt>
                <c:pt idx="2">
                  <c:v>0.99609375</c:v>
                </c:pt>
                <c:pt idx="3">
                  <c:v>0.99609375</c:v>
                </c:pt>
                <c:pt idx="4">
                  <c:v>0.10546875</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S(60)</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lineChart>
        <c:grouping val="standard"/>
        <c:ser>
          <c:idx val="0"/>
          <c:order val="0"/>
          <c:tx>
            <c:v>Paper 200 µs</c:v>
          </c:tx>
          <c:spPr>
            <a:ln xmlns:a="http://schemas.openxmlformats.org/drawingml/2006/main" w="28575">
              <a:solidFill>
                <a:srgbClr val="475467"/>
              </a:solidFill>
            </a:ln>
          </c:spPr>
          <c:marker>
            <c:symbol val="none"/>
          </c:marker>
          <c:cat>
            <c:numRef>
              <c:f>'Chart Data'!$A$2:$A$28</c:f>
              <c:numCache>
                <c:formatCode>General</c:formatCode>
                <c:ptCount val="27"/>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numCache>
            </c:numRef>
          </c:cat>
          <c:val>
            <c:numRef>
              <c:f>'Chart Data'!$B$2:$B$28</c:f>
              <c:numCache>
                <c:formatCode>0%</c:formatCode>
                <c:ptCount val="27"/>
                <c:pt idx="0">
                  <c:v>0.925</c:v>
                </c:pt>
                <c:pt idx="1">
                  <c:v>0.8994</c:v>
                </c:pt>
                <c:pt idx="2">
                  <c:v>0.8738</c:v>
                </c:pt>
                <c:pt idx="3">
                  <c:v>0.8482</c:v>
                </c:pt>
                <c:pt idx="4">
                  <c:v>0.815275</c:v>
                </c:pt>
                <c:pt idx="5">
                  <c:v>0.78235</c:v>
                </c:pt>
                <c:pt idx="6">
                  <c:v>0.749425</c:v>
                </c:pt>
                <c:pt idx="7">
                  <c:v>0.7165</c:v>
                </c:pt>
                <c:pt idx="8">
                  <c:v>0.691825</c:v>
                </c:pt>
                <c:pt idx="9">
                  <c:v>0.66715</c:v>
                </c:pt>
                <c:pt idx="10">
                  <c:v>0.642475</c:v>
                </c:pt>
                <c:pt idx="11">
                  <c:v>0.6178</c:v>
                </c:pt>
                <c:pt idx="12">
                  <c:v>0.594375</c:v>
                </c:pt>
                <c:pt idx="13">
                  <c:v>0.57095</c:v>
                </c:pt>
                <c:pt idx="14">
                  <c:v>0.547525</c:v>
                </c:pt>
                <c:pt idx="15">
                  <c:v>0.5241</c:v>
                </c:pt>
                <c:pt idx="16">
                  <c:v>0.50578</c:v>
                </c:pt>
                <c:pt idx="17">
                  <c:v>0.48746</c:v>
                </c:pt>
                <c:pt idx="18">
                  <c:v>0.46914</c:v>
                </c:pt>
                <c:pt idx="19">
                  <c:v>0.45082</c:v>
                </c:pt>
                <c:pt idx="20">
                  <c:v>0.4325</c:v>
                </c:pt>
                <c:pt idx="21">
                  <c:v>0.41418</c:v>
                </c:pt>
                <c:pt idx="22">
                  <c:v>0.39586</c:v>
                </c:pt>
                <c:pt idx="23">
                  <c:v>0.37754</c:v>
                </c:pt>
                <c:pt idx="24">
                  <c:v>0.35922</c:v>
                </c:pt>
                <c:pt idx="25">
                  <c:v>0.3409</c:v>
                </c:pt>
                <c:pt idx="26">
                  <c:v>0.3344</c:v>
                </c:pt>
              </c:numCache>
            </c:numRef>
          </c:val>
        </c:ser>
        <c:ser>
          <c:idx val="1"/>
          <c:order val="1"/>
          <c:tx>
            <c:v>MC T40 200 µs</c:v>
          </c:tx>
          <c:spPr>
            <a:ln xmlns:a="http://schemas.openxmlformats.org/drawingml/2006/main" w="28575">
              <a:solidFill>
                <a:srgbClr val="D92D20"/>
              </a:solidFill>
            </a:ln>
          </c:spPr>
          <c:marker>
            <c:symbol val="none"/>
          </c:marker>
          <c:cat>
            <c:numRef>
              <c:f>'Chart Data'!$C$2:$C$28</c:f>
              <c:numCache>
                <c:formatCode>General</c:formatCode>
                <c:ptCount val="27"/>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numCache>
            </c:numRef>
          </c:cat>
          <c:val>
            <c:numRef>
              <c:f>'Chart Data'!$D$2:$D$28</c:f>
              <c:numCache>
                <c:formatCode>0%</c:formatCode>
                <c:ptCount val="27"/>
                <c:pt idx="0">
                  <c:v>0.79296875</c:v>
                </c:pt>
                <c:pt idx="1">
                  <c:v>0.7578125</c:v>
                </c:pt>
                <c:pt idx="2">
                  <c:v>0.720703125</c:v>
                </c:pt>
                <c:pt idx="3">
                  <c:v>0.693359375</c:v>
                </c:pt>
                <c:pt idx="4">
                  <c:v>0.6484375</c:v>
                </c:pt>
                <c:pt idx="5">
                  <c:v>0.62109375</c:v>
                </c:pt>
                <c:pt idx="6">
                  <c:v>0.576171875</c:v>
                </c:pt>
                <c:pt idx="7">
                  <c:v>0.548828125</c:v>
                </c:pt>
                <c:pt idx="8">
                  <c:v>0.521484375</c:v>
                </c:pt>
                <c:pt idx="9">
                  <c:v>0.494140625</c:v>
                </c:pt>
                <c:pt idx="10">
                  <c:v>0.474609375</c:v>
                </c:pt>
                <c:pt idx="11">
                  <c:v>0.451171875</c:v>
                </c:pt>
                <c:pt idx="12">
                  <c:v>0.416015625</c:v>
                </c:pt>
                <c:pt idx="13">
                  <c:v>0.404296875</c:v>
                </c:pt>
                <c:pt idx="14">
                  <c:v>0.37890625</c:v>
                </c:pt>
                <c:pt idx="15">
                  <c:v>0.361328125</c:v>
                </c:pt>
                <c:pt idx="16">
                  <c:v>0.349609375</c:v>
                </c:pt>
                <c:pt idx="17">
                  <c:v>0.341796875</c:v>
                </c:pt>
                <c:pt idx="18">
                  <c:v>0.33203125</c:v>
                </c:pt>
                <c:pt idx="19">
                  <c:v>0.326171875</c:v>
                </c:pt>
                <c:pt idx="20">
                  <c:v>0.3046875</c:v>
                </c:pt>
                <c:pt idx="21">
                  <c:v>0.2734375</c:v>
                </c:pt>
                <c:pt idx="22">
                  <c:v>0.271484375</c:v>
                </c:pt>
                <c:pt idx="23">
                  <c:v>0.265625</c:v>
                </c:pt>
                <c:pt idx="24">
                  <c:v>0.255859375</c:v>
                </c:pt>
                <c:pt idx="25">
                  <c:v>0.24609375</c:v>
                </c:pt>
                <c:pt idx="26">
                  <c:v>0.240234375</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Microsoft YaHei"/>
                    <a:ea typeface="Microsoft YaHei"/>
                    <a:cs typeface="Microsoft YaHei"/>
                  </a:rPr>
                  <a:t>One-way transfers n</a:t>
                </a:r>
              </a:p>
            </c:rich>
          </c:tx>
          <c:overlay val="0"/>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2"/>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Survival</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lineChart>
        <c:grouping val="standard"/>
        <c:ser>
          <c:idx val="0"/>
          <c:order val="0"/>
          <c:tx>
            <c:v>Paper 400 µs</c:v>
          </c:tx>
          <c:spPr>
            <a:ln xmlns:a="http://schemas.openxmlformats.org/drawingml/2006/main" w="19050">
              <a:solidFill>
                <a:srgbClr val="98A2B3"/>
              </a:solidFill>
            </a:ln>
          </c:spPr>
          <c:marker>
            <c:symbol val="none"/>
          </c:marker>
          <c:cat>
            <c:numRef>
              <c:f>'Chart Data'!$A$2:$A$57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Data'!$B$2:$B$57</c:f>
              <c:numCache>
                <c:formatCode>0%</c:formatCode>
                <c:ptCount val="56"/>
                <c:pt idx="0">
                  <c:v>0.968</c:v>
                </c:pt>
                <c:pt idx="1">
                  <c:v>0.955966666667</c:v>
                </c:pt>
                <c:pt idx="2">
                  <c:v>0.943933333333</c:v>
                </c:pt>
                <c:pt idx="3">
                  <c:v>0.9319</c:v>
                </c:pt>
                <c:pt idx="4">
                  <c:v>0.92385</c:v>
                </c:pt>
                <c:pt idx="5">
                  <c:v>0.9158</c:v>
                </c:pt>
                <c:pt idx="6">
                  <c:v>0.90775</c:v>
                </c:pt>
                <c:pt idx="7">
                  <c:v>0.8997</c:v>
                </c:pt>
                <c:pt idx="8">
                  <c:v>0.892525</c:v>
                </c:pt>
                <c:pt idx="9">
                  <c:v>0.88535</c:v>
                </c:pt>
                <c:pt idx="10">
                  <c:v>0.878175</c:v>
                </c:pt>
                <c:pt idx="11">
                  <c:v>0.871</c:v>
                </c:pt>
                <c:pt idx="12">
                  <c:v>0.85915</c:v>
                </c:pt>
                <c:pt idx="13">
                  <c:v>0.8473</c:v>
                </c:pt>
                <c:pt idx="14">
                  <c:v>0.83545</c:v>
                </c:pt>
                <c:pt idx="15">
                  <c:v>0.8236</c:v>
                </c:pt>
                <c:pt idx="16">
                  <c:v>0.81013</c:v>
                </c:pt>
                <c:pt idx="17">
                  <c:v>0.79666</c:v>
                </c:pt>
                <c:pt idx="18">
                  <c:v>0.78319</c:v>
                </c:pt>
                <c:pt idx="19">
                  <c:v>0.76972</c:v>
                </c:pt>
                <c:pt idx="20">
                  <c:v>0.75625</c:v>
                </c:pt>
                <c:pt idx="21">
                  <c:v>0.74278</c:v>
                </c:pt>
                <c:pt idx="22">
                  <c:v>0.72931</c:v>
                </c:pt>
                <c:pt idx="23">
                  <c:v>0.71584</c:v>
                </c:pt>
                <c:pt idx="24">
                  <c:v>0.70237</c:v>
                </c:pt>
                <c:pt idx="25">
                  <c:v>0.6889</c:v>
                </c:pt>
                <c:pt idx="26">
                  <c:v>0.67826</c:v>
                </c:pt>
                <c:pt idx="27">
                  <c:v>0.66762</c:v>
                </c:pt>
                <c:pt idx="28">
                  <c:v>0.65698</c:v>
                </c:pt>
                <c:pt idx="29">
                  <c:v>0.64634</c:v>
                </c:pt>
                <c:pt idx="30">
                  <c:v>0.6357</c:v>
                </c:pt>
                <c:pt idx="31">
                  <c:v>0.62506</c:v>
                </c:pt>
                <c:pt idx="32">
                  <c:v>0.61442</c:v>
                </c:pt>
                <c:pt idx="33">
                  <c:v>0.60378</c:v>
                </c:pt>
                <c:pt idx="34">
                  <c:v>0.59314</c:v>
                </c:pt>
                <c:pt idx="35">
                  <c:v>0.5825</c:v>
                </c:pt>
                <c:pt idx="36">
                  <c:v>0.57345</c:v>
                </c:pt>
                <c:pt idx="37">
                  <c:v>0.5644</c:v>
                </c:pt>
                <c:pt idx="38">
                  <c:v>0.55535</c:v>
                </c:pt>
                <c:pt idx="39">
                  <c:v>0.5463</c:v>
                </c:pt>
                <c:pt idx="40">
                  <c:v>0.53725</c:v>
                </c:pt>
                <c:pt idx="41">
                  <c:v>0.5282</c:v>
                </c:pt>
                <c:pt idx="42">
                  <c:v>0.51915</c:v>
                </c:pt>
                <c:pt idx="43">
                  <c:v>0.5101</c:v>
                </c:pt>
                <c:pt idx="44">
                  <c:v>0.50105</c:v>
                </c:pt>
                <c:pt idx="45">
                  <c:v>0.492</c:v>
                </c:pt>
                <c:pt idx="46">
                  <c:v>0.48415</c:v>
                </c:pt>
                <c:pt idx="47">
                  <c:v>0.4763</c:v>
                </c:pt>
                <c:pt idx="48">
                  <c:v>0.46845</c:v>
                </c:pt>
                <c:pt idx="49">
                  <c:v>0.4606</c:v>
                </c:pt>
                <c:pt idx="50">
                  <c:v>0.45275</c:v>
                </c:pt>
                <c:pt idx="51">
                  <c:v>0.4449</c:v>
                </c:pt>
                <c:pt idx="52">
                  <c:v>0.43705</c:v>
                </c:pt>
                <c:pt idx="53">
                  <c:v>0.4292</c:v>
                </c:pt>
                <c:pt idx="54">
                  <c:v>0.42135</c:v>
                </c:pt>
                <c:pt idx="55">
                  <c:v>0.4135</c:v>
                </c:pt>
              </c:numCache>
            </c:numRef>
          </c:val>
        </c:ser>
        <c:ser>
          <c:idx val="1"/>
          <c:order val="1"/>
          <c:tx>
            <c:v>MC T40 400 µs</c:v>
          </c:tx>
          <c:spPr>
            <a:ln xmlns:a="http://schemas.openxmlformats.org/drawingml/2006/main" w="28575">
              <a:solidFill>
                <a:srgbClr val="1570EF"/>
              </a:solidFill>
            </a:ln>
          </c:spPr>
          <c:marker>
            <c:symbol val="none"/>
          </c:marker>
          <c:cat>
            <c:numRef>
              <c:f>'Chart Data'!$C$2:$C$57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Data'!$D$2:$D$57</c:f>
              <c:numCache>
                <c:formatCode>0%</c:formatCode>
                <c:ptCount val="56"/>
                <c:pt idx="0">
                  <c:v>0.9453125</c:v>
                </c:pt>
                <c:pt idx="1">
                  <c:v>0.943359375</c:v>
                </c:pt>
                <c:pt idx="2">
                  <c:v>0.923828125</c:v>
                </c:pt>
                <c:pt idx="3">
                  <c:v>0.923828125</c:v>
                </c:pt>
                <c:pt idx="4">
                  <c:v>0.91015625</c:v>
                </c:pt>
                <c:pt idx="5">
                  <c:v>0.904296875</c:v>
                </c:pt>
                <c:pt idx="6">
                  <c:v>0.8828125</c:v>
                </c:pt>
                <c:pt idx="7">
                  <c:v>0.8828125</c:v>
                </c:pt>
                <c:pt idx="8">
                  <c:v>0.85546875</c:v>
                </c:pt>
                <c:pt idx="9">
                  <c:v>0.85546875</c:v>
                </c:pt>
                <c:pt idx="10">
                  <c:v>0.83203125</c:v>
                </c:pt>
                <c:pt idx="11">
                  <c:v>0.830078125</c:v>
                </c:pt>
                <c:pt idx="12">
                  <c:v>0.8046875</c:v>
                </c:pt>
                <c:pt idx="13">
                  <c:v>0.802734375</c:v>
                </c:pt>
                <c:pt idx="14">
                  <c:v>0.787109375</c:v>
                </c:pt>
                <c:pt idx="15">
                  <c:v>0.787109375</c:v>
                </c:pt>
                <c:pt idx="16">
                  <c:v>0.77734375</c:v>
                </c:pt>
                <c:pt idx="17">
                  <c:v>0.77734375</c:v>
                </c:pt>
                <c:pt idx="18">
                  <c:v>0.76171875</c:v>
                </c:pt>
                <c:pt idx="19">
                  <c:v>0.759765625</c:v>
                </c:pt>
                <c:pt idx="20">
                  <c:v>0.751953125</c:v>
                </c:pt>
                <c:pt idx="21">
                  <c:v>0.751953125</c:v>
                </c:pt>
                <c:pt idx="22">
                  <c:v>0.728515625</c:v>
                </c:pt>
                <c:pt idx="23">
                  <c:v>0.728515625</c:v>
                </c:pt>
                <c:pt idx="24">
                  <c:v>0.72265625</c:v>
                </c:pt>
                <c:pt idx="25">
                  <c:v>0.720703125</c:v>
                </c:pt>
                <c:pt idx="26">
                  <c:v>0.712890625</c:v>
                </c:pt>
                <c:pt idx="27">
                  <c:v>0.712890625</c:v>
                </c:pt>
                <c:pt idx="28">
                  <c:v>0.701171875</c:v>
                </c:pt>
                <c:pt idx="29">
                  <c:v>0.701171875</c:v>
                </c:pt>
                <c:pt idx="30">
                  <c:v>0.6796875</c:v>
                </c:pt>
                <c:pt idx="31">
                  <c:v>0.67578125</c:v>
                </c:pt>
                <c:pt idx="32">
                  <c:v>0.666015625</c:v>
                </c:pt>
                <c:pt idx="33">
                  <c:v>0.6640625</c:v>
                </c:pt>
                <c:pt idx="34">
                  <c:v>0.646484375</c:v>
                </c:pt>
                <c:pt idx="35">
                  <c:v>0.64453125</c:v>
                </c:pt>
                <c:pt idx="36">
                  <c:v>0.62890625</c:v>
                </c:pt>
                <c:pt idx="37">
                  <c:v>0.62890625</c:v>
                </c:pt>
                <c:pt idx="38">
                  <c:v>0.61328125</c:v>
                </c:pt>
                <c:pt idx="39">
                  <c:v>0.61328125</c:v>
                </c:pt>
                <c:pt idx="40">
                  <c:v>0.607421875</c:v>
                </c:pt>
                <c:pt idx="41">
                  <c:v>0.607421875</c:v>
                </c:pt>
                <c:pt idx="42">
                  <c:v>0.603515625</c:v>
                </c:pt>
                <c:pt idx="43">
                  <c:v>0.599609375</c:v>
                </c:pt>
                <c:pt idx="44">
                  <c:v>0.591796875</c:v>
                </c:pt>
                <c:pt idx="45">
                  <c:v>0.58984375</c:v>
                </c:pt>
                <c:pt idx="46">
                  <c:v>0.572265625</c:v>
                </c:pt>
                <c:pt idx="47">
                  <c:v>0.568359375</c:v>
                </c:pt>
                <c:pt idx="48">
                  <c:v>0.5546875</c:v>
                </c:pt>
                <c:pt idx="49">
                  <c:v>0.5546875</c:v>
                </c:pt>
                <c:pt idx="50">
                  <c:v>0.548828125</c:v>
                </c:pt>
                <c:pt idx="51">
                  <c:v>0.546875</c:v>
                </c:pt>
                <c:pt idx="52">
                  <c:v>0.5390625</c:v>
                </c:pt>
                <c:pt idx="53">
                  <c:v>0.5390625</c:v>
                </c:pt>
                <c:pt idx="54">
                  <c:v>0.525390625</c:v>
                </c:pt>
                <c:pt idx="55">
                  <c:v>0.525390625</c:v>
                </c:pt>
              </c:numCache>
            </c:numRef>
          </c:val>
        </c:ser>
        <c:ser>
          <c:idx val="2"/>
          <c:order val="2"/>
          <c:tx>
            <c:v>Paper 600 µs</c:v>
          </c:tx>
          <c:spPr>
            <a:ln xmlns:a="http://schemas.openxmlformats.org/drawingml/2006/main" w="19050">
              <a:solidFill>
                <a:srgbClr val="344054"/>
              </a:solidFill>
            </a:ln>
          </c:spPr>
          <c:marker>
            <c:symbol val="none"/>
          </c:marker>
          <c:cat>
            <c:numRef>
              <c:f>'Chart Data'!$E$2:$E$57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Data'!$F$2:$F$57</c:f>
              <c:numCache>
                <c:formatCode>0%</c:formatCode>
                <c:ptCount val="56"/>
                <c:pt idx="0">
                  <c:v>0.9706</c:v>
                </c:pt>
                <c:pt idx="1">
                  <c:v>0.9698</c:v>
                </c:pt>
                <c:pt idx="2">
                  <c:v>0.969</c:v>
                </c:pt>
                <c:pt idx="3">
                  <c:v>0.9682</c:v>
                </c:pt>
                <c:pt idx="4">
                  <c:v>0.957625</c:v>
                </c:pt>
                <c:pt idx="5">
                  <c:v>0.94705</c:v>
                </c:pt>
                <c:pt idx="6">
                  <c:v>0.936475</c:v>
                </c:pt>
                <c:pt idx="7">
                  <c:v>0.9259</c:v>
                </c:pt>
                <c:pt idx="8">
                  <c:v>0.9229</c:v>
                </c:pt>
                <c:pt idx="9">
                  <c:v>0.9199</c:v>
                </c:pt>
                <c:pt idx="10">
                  <c:v>0.9169</c:v>
                </c:pt>
                <c:pt idx="11">
                  <c:v>0.9139</c:v>
                </c:pt>
                <c:pt idx="12">
                  <c:v>0.907575</c:v>
                </c:pt>
                <c:pt idx="13">
                  <c:v>0.90125</c:v>
                </c:pt>
                <c:pt idx="14">
                  <c:v>0.894925</c:v>
                </c:pt>
                <c:pt idx="15">
                  <c:v>0.8886</c:v>
                </c:pt>
                <c:pt idx="16">
                  <c:v>0.88126</c:v>
                </c:pt>
                <c:pt idx="17">
                  <c:v>0.87392</c:v>
                </c:pt>
                <c:pt idx="18">
                  <c:v>0.86658</c:v>
                </c:pt>
                <c:pt idx="19">
                  <c:v>0.85924</c:v>
                </c:pt>
                <c:pt idx="20">
                  <c:v>0.8519</c:v>
                </c:pt>
                <c:pt idx="21">
                  <c:v>0.84456</c:v>
                </c:pt>
                <c:pt idx="22">
                  <c:v>0.83722</c:v>
                </c:pt>
                <c:pt idx="23">
                  <c:v>0.82988</c:v>
                </c:pt>
                <c:pt idx="24">
                  <c:v>0.82254</c:v>
                </c:pt>
                <c:pt idx="25">
                  <c:v>0.8152</c:v>
                </c:pt>
                <c:pt idx="26">
                  <c:v>0.80627</c:v>
                </c:pt>
                <c:pt idx="27">
                  <c:v>0.79734</c:v>
                </c:pt>
                <c:pt idx="28">
                  <c:v>0.78841</c:v>
                </c:pt>
                <c:pt idx="29">
                  <c:v>0.77948</c:v>
                </c:pt>
                <c:pt idx="30">
                  <c:v>0.77055</c:v>
                </c:pt>
                <c:pt idx="31">
                  <c:v>0.76162</c:v>
                </c:pt>
                <c:pt idx="32">
                  <c:v>0.75269</c:v>
                </c:pt>
                <c:pt idx="33">
                  <c:v>0.74376</c:v>
                </c:pt>
                <c:pt idx="34">
                  <c:v>0.73483</c:v>
                </c:pt>
                <c:pt idx="35">
                  <c:v>0.7259</c:v>
                </c:pt>
                <c:pt idx="36">
                  <c:v>0.71829</c:v>
                </c:pt>
                <c:pt idx="37">
                  <c:v>0.71068</c:v>
                </c:pt>
                <c:pt idx="38">
                  <c:v>0.70307</c:v>
                </c:pt>
                <c:pt idx="39">
                  <c:v>0.69546</c:v>
                </c:pt>
                <c:pt idx="40">
                  <c:v>0.68785</c:v>
                </c:pt>
                <c:pt idx="41">
                  <c:v>0.68024</c:v>
                </c:pt>
                <c:pt idx="42">
                  <c:v>0.67263</c:v>
                </c:pt>
                <c:pt idx="43">
                  <c:v>0.66502</c:v>
                </c:pt>
                <c:pt idx="44">
                  <c:v>0.65741</c:v>
                </c:pt>
                <c:pt idx="45">
                  <c:v>0.6498</c:v>
                </c:pt>
                <c:pt idx="46">
                  <c:v>0.64208</c:v>
                </c:pt>
                <c:pt idx="47">
                  <c:v>0.63436</c:v>
                </c:pt>
                <c:pt idx="48">
                  <c:v>0.62664</c:v>
                </c:pt>
                <c:pt idx="49">
                  <c:v>0.61892</c:v>
                </c:pt>
                <c:pt idx="50">
                  <c:v>0.6112</c:v>
                </c:pt>
                <c:pt idx="51">
                  <c:v>0.60348</c:v>
                </c:pt>
                <c:pt idx="52">
                  <c:v>0.59576</c:v>
                </c:pt>
                <c:pt idx="53">
                  <c:v>0.58804</c:v>
                </c:pt>
                <c:pt idx="54">
                  <c:v>0.58032</c:v>
                </c:pt>
                <c:pt idx="55">
                  <c:v>0.5726</c:v>
                </c:pt>
              </c:numCache>
            </c:numRef>
          </c:val>
        </c:ser>
        <c:ser>
          <c:idx val="3"/>
          <c:order val="3"/>
          <c:tx>
            <c:v>MC T40 600 µs</c:v>
          </c:tx>
          <c:spPr>
            <a:ln xmlns:a="http://schemas.openxmlformats.org/drawingml/2006/main" w="28575">
              <a:solidFill>
                <a:srgbClr val="0E9384"/>
              </a:solidFill>
            </a:ln>
          </c:spPr>
          <c:marker>
            <c:symbol val="none"/>
          </c:marker>
          <c:cat>
            <c:numRef>
              <c:f>'Chart Data'!$G$2:$G$57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Data'!$H$2:$H$57</c:f>
              <c:numCache>
                <c:formatCode>0%</c:formatCode>
                <c:ptCount val="56"/>
                <c:pt idx="0">
                  <c:v>0.94921875</c:v>
                </c:pt>
                <c:pt idx="1">
                  <c:v>0.94921875</c:v>
                </c:pt>
                <c:pt idx="2">
                  <c:v>0.93359375</c:v>
                </c:pt>
                <c:pt idx="3">
                  <c:v>0.93359375</c:v>
                </c:pt>
                <c:pt idx="4">
                  <c:v>0.92578125</c:v>
                </c:pt>
                <c:pt idx="5">
                  <c:v>0.92578125</c:v>
                </c:pt>
                <c:pt idx="6">
                  <c:v>0.91796875</c:v>
                </c:pt>
                <c:pt idx="7">
                  <c:v>0.91796875</c:v>
                </c:pt>
                <c:pt idx="8">
                  <c:v>0.90625</c:v>
                </c:pt>
                <c:pt idx="9">
                  <c:v>0.90625</c:v>
                </c:pt>
                <c:pt idx="10">
                  <c:v>0.896484375</c:v>
                </c:pt>
                <c:pt idx="11">
                  <c:v>0.896484375</c:v>
                </c:pt>
                <c:pt idx="12">
                  <c:v>0.890625</c:v>
                </c:pt>
                <c:pt idx="13">
                  <c:v>0.890625</c:v>
                </c:pt>
                <c:pt idx="14">
                  <c:v>0.88671875</c:v>
                </c:pt>
                <c:pt idx="15">
                  <c:v>0.884765625</c:v>
                </c:pt>
                <c:pt idx="16">
                  <c:v>0.876953125</c:v>
                </c:pt>
                <c:pt idx="17">
                  <c:v>0.876953125</c:v>
                </c:pt>
                <c:pt idx="18">
                  <c:v>0.87109375</c:v>
                </c:pt>
                <c:pt idx="19">
                  <c:v>0.87109375</c:v>
                </c:pt>
                <c:pt idx="20">
                  <c:v>0.857421875</c:v>
                </c:pt>
                <c:pt idx="21">
                  <c:v>0.857421875</c:v>
                </c:pt>
                <c:pt idx="22">
                  <c:v>0.841796875</c:v>
                </c:pt>
                <c:pt idx="23">
                  <c:v>0.841796875</c:v>
                </c:pt>
                <c:pt idx="24">
                  <c:v>0.837890625</c:v>
                </c:pt>
                <c:pt idx="25">
                  <c:v>0.837890625</c:v>
                </c:pt>
                <c:pt idx="26">
                  <c:v>0.826171875</c:v>
                </c:pt>
                <c:pt idx="27">
                  <c:v>0.82421875</c:v>
                </c:pt>
                <c:pt idx="28">
                  <c:v>0.814453125</c:v>
                </c:pt>
                <c:pt idx="29">
                  <c:v>0.814453125</c:v>
                </c:pt>
                <c:pt idx="30">
                  <c:v>0.806640625</c:v>
                </c:pt>
                <c:pt idx="31">
                  <c:v>0.806640625</c:v>
                </c:pt>
                <c:pt idx="32">
                  <c:v>0.80078125</c:v>
                </c:pt>
                <c:pt idx="33">
                  <c:v>0.80078125</c:v>
                </c:pt>
                <c:pt idx="34">
                  <c:v>0.794921875</c:v>
                </c:pt>
                <c:pt idx="35">
                  <c:v>0.794921875</c:v>
                </c:pt>
                <c:pt idx="36">
                  <c:v>0.783203125</c:v>
                </c:pt>
                <c:pt idx="37">
                  <c:v>0.783203125</c:v>
                </c:pt>
                <c:pt idx="38">
                  <c:v>0.7734375</c:v>
                </c:pt>
                <c:pt idx="39">
                  <c:v>0.7734375</c:v>
                </c:pt>
                <c:pt idx="40">
                  <c:v>0.76171875</c:v>
                </c:pt>
                <c:pt idx="41">
                  <c:v>0.759765625</c:v>
                </c:pt>
                <c:pt idx="42">
                  <c:v>0.744140625</c:v>
                </c:pt>
                <c:pt idx="43">
                  <c:v>0.744140625</c:v>
                </c:pt>
                <c:pt idx="44">
                  <c:v>0.73828125</c:v>
                </c:pt>
                <c:pt idx="45">
                  <c:v>0.73828125</c:v>
                </c:pt>
                <c:pt idx="46">
                  <c:v>0.734375</c:v>
                </c:pt>
                <c:pt idx="47">
                  <c:v>0.732421875</c:v>
                </c:pt>
                <c:pt idx="48">
                  <c:v>0.73046875</c:v>
                </c:pt>
                <c:pt idx="49">
                  <c:v>0.73046875</c:v>
                </c:pt>
                <c:pt idx="50">
                  <c:v>0.720703125</c:v>
                </c:pt>
                <c:pt idx="51">
                  <c:v>0.720703125</c:v>
                </c:pt>
                <c:pt idx="52">
                  <c:v>0.703125</c:v>
                </c:pt>
                <c:pt idx="53">
                  <c:v>0.701171875</c:v>
                </c:pt>
                <c:pt idx="54">
                  <c:v>0.68359375</c:v>
                </c:pt>
                <c:pt idx="55">
                  <c:v>0.68359375</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Microsoft YaHei"/>
                    <a:ea typeface="Microsoft YaHei"/>
                    <a:cs typeface="Microsoft YaHei"/>
                  </a:rPr>
                  <a:t>One-way transfers n</a:t>
                </a:r>
              </a:p>
            </c:rich>
          </c:tx>
          <c:overlay val="0"/>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2"/>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Survival</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lineChart>
        <c:grouping val="standard"/>
        <c:ser>
          <c:idx val="0"/>
          <c:order val="0"/>
          <c:tx>
            <c:v>Manual position</c:v>
          </c:tx>
          <c:spPr>
            <a:ln xmlns:a="http://schemas.openxmlformats.org/drawingml/2006/main" w="28575">
              <a:solidFill>
                <a:srgbClr val="475467"/>
              </a:solidFill>
            </a:ln>
          </c:spPr>
          <c:marker>
            <c:symbol val="none"/>
          </c:marker>
          <c:cat>
            <c:numRef>
              <c:f>'Chart Data'!$A$2:$A$16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Data'!$B$2:$B$16</c:f>
              <c:numCache>
                <c:formatCode>0.0</c:formatCode>
                <c:ptCount val="15"/>
                <c:pt idx="0">
                  <c:v>0</c:v>
                </c:pt>
                <c:pt idx="1">
                  <c:v>0</c:v>
                </c:pt>
                <c:pt idx="2">
                  <c:v>0</c:v>
                </c:pt>
                <c:pt idx="3">
                  <c:v>0</c:v>
                </c:pt>
                <c:pt idx="4">
                  <c:v>0</c:v>
                </c:pt>
                <c:pt idx="5">
                  <c:v>0</c:v>
                </c:pt>
                <c:pt idx="6">
                  <c:v>0</c:v>
                </c:pt>
                <c:pt idx="7">
                  <c:v>0.000728265817023</c:v>
                </c:pt>
                <c:pt idx="8">
                  <c:v>0.0695738025988</c:v>
                </c:pt>
                <c:pt idx="9">
                  <c:v>0.386747897679</c:v>
                </c:pt>
                <c:pt idx="10">
                  <c:v>0.964185192895</c:v>
                </c:pt>
                <c:pt idx="11">
                  <c:v>1.61328129666</c:v>
                </c:pt>
                <c:pt idx="12">
                  <c:v>2.13498396302</c:v>
                </c:pt>
                <c:pt idx="13">
                  <c:v>2.36682462568</c:v>
                </c:pt>
                <c:pt idx="14">
                  <c:v>2.4</c:v>
                </c:pt>
              </c:numCache>
            </c:numRef>
          </c:val>
        </c:ser>
        <c:ser>
          <c:idx val="1"/>
          <c:order val="1"/>
          <c:tx>
            <c:v>Fig. 6c ML position</c:v>
          </c:tx>
          <c:spPr>
            <a:ln xmlns:a="http://schemas.openxmlformats.org/drawingml/2006/main" w="28575">
              <a:solidFill>
                <a:srgbClr val="0E9384"/>
              </a:solidFill>
            </a:ln>
          </c:spPr>
          <c:marker>
            <c:symbol val="circle"/>
            <c:size val="5"/>
            <c:spPr>
              <a:solidFill xmlns:a="http://schemas.openxmlformats.org/drawingml/2006/main">
                <a:srgbClr val="0E9384"/>
              </a:solidFill>
            </c:spPr>
          </c:marker>
          <c:cat>
            <c:numRef>
              <c:f>'Chart Data'!$C$2:$C$16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Data'!$D$2:$D$16</c:f>
              <c:numCache>
                <c:formatCode>0.0</c:formatCode>
                <c:ptCount val="15"/>
                <c:pt idx="0">
                  <c:v>0.00413555622832</c:v>
                </c:pt>
                <c:pt idx="1">
                  <c:v>0.0419971063815</c:v>
                </c:pt>
                <c:pt idx="2">
                  <c:v>0.111132648305</c:v>
                </c:pt>
                <c:pt idx="3">
                  <c:v>0.112744730658</c:v>
                </c:pt>
                <c:pt idx="4">
                  <c:v>0.112164973556</c:v>
                </c:pt>
                <c:pt idx="5">
                  <c:v>0.188751715328</c:v>
                </c:pt>
                <c:pt idx="6">
                  <c:v>0.3203341165</c:v>
                </c:pt>
                <c:pt idx="7">
                  <c:v>0.495750877979</c:v>
                </c:pt>
                <c:pt idx="8">
                  <c:v>0.697274505876</c:v>
                </c:pt>
                <c:pt idx="9">
                  <c:v>0.947967362687</c:v>
                </c:pt>
                <c:pt idx="10">
                  <c:v>1.24095377898</c:v>
                </c:pt>
                <c:pt idx="11">
                  <c:v>1.54418662097</c:v>
                </c:pt>
                <c:pt idx="12">
                  <c:v>1.85643053763</c:v>
                </c:pt>
                <c:pt idx="13">
                  <c:v>2.2099389317</c:v>
                </c:pt>
                <c:pt idx="14">
                  <c:v>2.40425070917</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Time (µs)</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2.5"/>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Position (µm)</a:t>
                </a:r>
              </a:p>
            </c:rich>
          </c:tx>
          <c:overlay val="0"/>
        </c:title>
        <c:numFmt formatCode="0.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lineChart>
        <c:grouping val="standard"/>
        <c:ser>
          <c:idx val="0"/>
          <c:order val="0"/>
          <c:tx>
            <c:v>Manual depth</c:v>
          </c:tx>
          <c:spPr>
            <a:ln xmlns:a="http://schemas.openxmlformats.org/drawingml/2006/main" w="28575">
              <a:solidFill>
                <a:srgbClr val="475467"/>
              </a:solidFill>
            </a:ln>
          </c:spPr>
          <c:marker>
            <c:symbol val="none"/>
          </c:marker>
          <c:cat>
            <c:numRef>
              <c:f>'Chart Data'!$A$2:$A$16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Data'!$B$2:$B$16</c:f>
              <c:numCache>
                <c:formatCode>0.00</c:formatCode>
                <c:ptCount val="15"/>
                <c:pt idx="0">
                  <c:v>0</c:v>
                </c:pt>
                <c:pt idx="1">
                  <c:v>0.00620039682538</c:v>
                </c:pt>
                <c:pt idx="2">
                  <c:v>0.0248015873016</c:v>
                </c:pt>
                <c:pt idx="3">
                  <c:v>0.0558035714286</c:v>
                </c:pt>
                <c:pt idx="4">
                  <c:v>0.0992063492068</c:v>
                </c:pt>
                <c:pt idx="5">
                  <c:v>0.155009920635</c:v>
                </c:pt>
                <c:pt idx="6">
                  <c:v>0.223214285715</c:v>
                </c:pt>
                <c:pt idx="7">
                  <c:v>0.28</c:v>
                </c:pt>
                <c:pt idx="8">
                  <c:v>0.28</c:v>
                </c:pt>
                <c:pt idx="9">
                  <c:v>0.28</c:v>
                </c:pt>
                <c:pt idx="10">
                  <c:v>0.28</c:v>
                </c:pt>
                <c:pt idx="11">
                  <c:v>0.28</c:v>
                </c:pt>
                <c:pt idx="12">
                  <c:v>0.28</c:v>
                </c:pt>
                <c:pt idx="13">
                  <c:v>0.28</c:v>
                </c:pt>
                <c:pt idx="14">
                  <c:v>0.28</c:v>
                </c:pt>
              </c:numCache>
            </c:numRef>
          </c:val>
        </c:ser>
        <c:ser>
          <c:idx val="1"/>
          <c:order val="1"/>
          <c:tx>
            <c:v>Fig. 6c ML depth</c:v>
          </c:tx>
          <c:spPr>
            <a:ln xmlns:a="http://schemas.openxmlformats.org/drawingml/2006/main" w="28575">
              <a:solidFill>
                <a:srgbClr val="0BA5EC"/>
              </a:solidFill>
            </a:ln>
          </c:spPr>
          <c:marker>
            <c:symbol val="circle"/>
            <c:size val="5"/>
            <c:spPr>
              <a:solidFill xmlns:a="http://schemas.openxmlformats.org/drawingml/2006/main">
                <a:srgbClr val="0BA5EC"/>
              </a:solidFill>
            </c:spPr>
          </c:marker>
          <c:cat>
            <c:numRef>
              <c:f>'Chart Data'!$C$2:$C$16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Data'!$D$2:$D$16</c:f>
              <c:numCache>
                <c:formatCode>0.00</c:formatCode>
                <c:ptCount val="15"/>
                <c:pt idx="0">
                  <c:v>0.000499713044256</c:v>
                </c:pt>
                <c:pt idx="1">
                  <c:v>0.00414644376358</c:v>
                </c:pt>
                <c:pt idx="2">
                  <c:v>0.0106480724655</c:v>
                </c:pt>
                <c:pt idx="3">
                  <c:v>0.0190312328974</c:v>
                </c:pt>
                <c:pt idx="4">
                  <c:v>0.0379906963848</c:v>
                </c:pt>
                <c:pt idx="5">
                  <c:v>0.076288963437</c:v>
                </c:pt>
                <c:pt idx="6">
                  <c:v>0.134921041123</c:v>
                </c:pt>
                <c:pt idx="7">
                  <c:v>0.212284107178</c:v>
                </c:pt>
                <c:pt idx="8">
                  <c:v>0.268490549952</c:v>
                </c:pt>
                <c:pt idx="9">
                  <c:v>0.280469653025</c:v>
                </c:pt>
                <c:pt idx="10">
                  <c:v>0.280598817921</c:v>
                </c:pt>
                <c:pt idx="11">
                  <c:v>0.28052501195</c:v>
                </c:pt>
                <c:pt idx="12">
                  <c:v>0.280516692702</c:v>
                </c:pt>
                <c:pt idx="13">
                  <c:v>0.280516692702</c:v>
                </c:pt>
                <c:pt idx="14">
                  <c:v>0.280516692702</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Time (µs)</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0.32"/>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Depth (mK)</a:t>
                </a:r>
              </a:p>
            </c:rich>
          </c:tx>
          <c:overlay val="0"/>
        </c:title>
        <c:numFmt formatCode="0.0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0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Manual 400 µs</c:v>
          </c:tx>
          <c:spPr>
            <a:solidFill xmlns:a="http://schemas.openxmlformats.org/drawingml/2006/main">
              <a:srgbClr val="98A2B3"/>
            </a:solidFill>
          </c:spPr>
          <c:cat>
            <c:strRef>
              <c:f>'Chart Data'!$A$2:$A$3</c:f>
              <c:strCache>
                <c:ptCount val="2"/>
                <c:pt idx="0">
                  <c:v>Paper</c:v>
                </c:pt>
                <c:pt idx="1">
                  <c:v>MC T40</c:v>
                </c:pt>
              </c:strCache>
            </c:strRef>
          </c:cat>
          <c:val>
            <c:numRef>
              <c:f>'Chart Data'!$B$2:$B$3</c:f>
              <c:numCache>
                <c:formatCode>0.0%</c:formatCode>
                <c:ptCount val="2"/>
                <c:pt idx="0">
                  <c:v>0.4135</c:v>
                </c:pt>
                <c:pt idx="1">
                  <c:v>0.52734375</c:v>
                </c:pt>
              </c:numCache>
            </c:numRef>
          </c:val>
        </c:ser>
        <c:ser>
          <c:idx val="1"/>
          <c:order val="1"/>
          <c:tx>
            <c:v>Fig. 6c ML 400 µs</c:v>
          </c:tx>
          <c:spPr>
            <a:solidFill xmlns:a="http://schemas.openxmlformats.org/drawingml/2006/main">
              <a:srgbClr val="0E9384"/>
            </a:solidFill>
          </c:spPr>
          <c:cat>
            <c:strRef>
              <c:f>'Chart Data'!$C$2:$C$3</c:f>
              <c:strCache>
                <c:ptCount val="2"/>
                <c:pt idx="0">
                  <c:v>Paper</c:v>
                </c:pt>
                <c:pt idx="1">
                  <c:v>MC T40</c:v>
                </c:pt>
              </c:strCache>
            </c:strRef>
          </c:cat>
          <c:val>
            <c:numRef>
              <c:f>'Chart Data'!$D$2:$D$3</c:f>
              <c:numCache>
                <c:formatCode>0.0%</c:formatCode>
                <c:ptCount val="2"/>
                <c:pt idx="0">
                  <c:v>0.6633</c:v>
                </c:pt>
                <c:pt idx="1">
                  <c:v>0.7578125</c:v>
                </c:pt>
              </c:numCache>
            </c:numRef>
          </c:val>
        </c:ser>
        <c:dLbls>
          <c:txPr>
            <a:bodyPr xmlns:a="http://schemas.openxmlformats.org/drawingml/2006/main" anchorCtr="1"/>
            <a:lstStyle xmlns:a="http://schemas.openxmlformats.org/drawingml/2006/main"/>
            <a:p xmlns:a="http://schemas.openxmlformats.org/drawingml/2006/main">
              <a:pPr>
                <a:defRPr sz="1125" b="1">
                  <a:solidFill>
                    <a:srgbClr val="344054"/>
                  </a:solidFill>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S(60)</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S(60)</c:v>
          </c:tx>
          <c:spPr>
            <a:solidFill xmlns:a="http://schemas.openxmlformats.org/drawingml/2006/main">
              <a:srgbClr val="1570EF"/>
            </a:solidFill>
          </c:spPr>
          <c:dPt>
            <c:idx val="0"/>
            <c:invertIfNegative val="0"/>
            <c:spPr>
              <a:solidFill xmlns:a="http://schemas.openxmlformats.org/drawingml/2006/main">
                <a:srgbClr val="98A2B3"/>
              </a:solidFill>
            </c:spPr>
          </c:dPt>
          <c:dPt>
            <c:idx val="1"/>
            <c:invertIfNegative val="0"/>
            <c:spPr>
              <a:solidFill xmlns:a="http://schemas.openxmlformats.org/drawingml/2006/main">
                <a:srgbClr val="667085"/>
              </a:solidFill>
            </c:spPr>
          </c:dPt>
          <c:dPt>
            <c:idx val="2"/>
            <c:invertIfNegative val="0"/>
            <c:spPr>
              <a:solidFill xmlns:a="http://schemas.openxmlformats.org/drawingml/2006/main">
                <a:srgbClr val="0BA5EC"/>
              </a:solidFill>
            </c:spPr>
          </c:dPt>
          <c:dPt>
            <c:idx val="3"/>
            <c:invertIfNegative val="0"/>
            <c:spPr>
              <a:solidFill xmlns:a="http://schemas.openxmlformats.org/drawingml/2006/main">
                <a:srgbClr val="0E9384"/>
              </a:solidFill>
            </c:spPr>
          </c:dPt>
          <c:cat>
            <c:strRef>
              <c:f>'Chart Data'!$A$2:$A$5</c:f>
              <c:strCache>
                <c:ptCount val="4"/>
                <c:pt idx="0">
                  <c:v>Dman / Pman</c:v>
                </c:pt>
                <c:pt idx="1">
                  <c:v>DML / Pman</c:v>
                </c:pt>
                <c:pt idx="2">
                  <c:v>Dman / PML</c:v>
                </c:pt>
                <c:pt idx="3">
                  <c:v>DML / PML</c:v>
                </c:pt>
              </c:strCache>
            </c:strRef>
          </c:cat>
          <c:val>
            <c:numRef>
              <c:f>'Chart Data'!$B$2:$B$5</c:f>
              <c:numCache>
                <c:formatCode>0.0%</c:formatCode>
                <c:ptCount val="4"/>
                <c:pt idx="0">
                  <c:v>0.5254</c:v>
                </c:pt>
                <c:pt idx="1">
                  <c:v>0.5293</c:v>
                </c:pt>
                <c:pt idx="2">
                  <c:v>0.8086</c:v>
                </c:pt>
                <c:pt idx="3">
                  <c:v>0.8047</c:v>
                </c:pt>
              </c:numCache>
            </c:numRef>
          </c:val>
        </c:ser>
        <c:dLbls>
          <c:txPr>
            <a:bodyPr xmlns:a="http://schemas.openxmlformats.org/drawingml/2006/main" anchorCtr="1"/>
            <a:lstStyle xmlns:a="http://schemas.openxmlformats.org/drawingml/2006/main"/>
            <a:p xmlns:a="http://schemas.openxmlformats.org/drawingml/2006/main">
              <a:pPr>
                <a:defRPr sz="1125" b="1">
                  <a:solidFill>
                    <a:srgbClr val="344054"/>
                  </a:solidFill>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0.9"/>
          <c:min val="0.4"/>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S(60)</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13.xml><?xml version="1.0" encoding="utf-8"?>
<c:chartSpace xmlns:c="http://schemas.openxmlformats.org/drawingml/2006/chart" xmlns:r="http://schemas.openxmlformats.org/officeDocument/2006/relationships">
  <c:lang val="en-US"/>
  <c:chart>
    <c:plotArea>
      <c:lineChart>
        <c:grouping val="standard"/>
        <c:ser>
          <c:idx val="0"/>
          <c:order val="0"/>
          <c:tx>
            <c:v>Manual 200 error</c:v>
          </c:tx>
          <c:spPr>
            <a:ln xmlns:a="http://schemas.openxmlformats.org/drawingml/2006/main" w="28575">
              <a:solidFill>
                <a:srgbClr val="D92D20"/>
              </a:solidFill>
            </a:ln>
          </c:spPr>
          <c:marker>
            <c:symbol val="none"/>
          </c:marker>
          <c:cat>
            <c:numRef>
              <c:f>'Chart Data'!$A$2:$A$28</c:f>
              <c:numCache>
                <c:formatCode>General</c:formatCode>
                <c:ptCount val="27"/>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numCache>
            </c:numRef>
          </c:cat>
          <c:val>
            <c:numRef>
              <c:f>'Chart Data'!$B$2:$B$28</c:f>
              <c:numCache>
                <c:formatCode>0%</c:formatCode>
                <c:ptCount val="27"/>
                <c:pt idx="0">
                  <c:v>-0.13203125</c:v>
                </c:pt>
                <c:pt idx="1">
                  <c:v>-0.1415875</c:v>
                </c:pt>
                <c:pt idx="2">
                  <c:v>-0.153096875</c:v>
                </c:pt>
                <c:pt idx="3">
                  <c:v>-0.154840625</c:v>
                </c:pt>
                <c:pt idx="4">
                  <c:v>-0.1668375</c:v>
                </c:pt>
                <c:pt idx="5">
                  <c:v>-0.16125625</c:v>
                </c:pt>
                <c:pt idx="6">
                  <c:v>-0.173253125</c:v>
                </c:pt>
                <c:pt idx="7">
                  <c:v>-0.167671875</c:v>
                </c:pt>
                <c:pt idx="8">
                  <c:v>-0.170340625</c:v>
                </c:pt>
                <c:pt idx="9">
                  <c:v>-0.173009375</c:v>
                </c:pt>
                <c:pt idx="10">
                  <c:v>-0.167865625</c:v>
                </c:pt>
                <c:pt idx="11">
                  <c:v>-0.166628125</c:v>
                </c:pt>
                <c:pt idx="12">
                  <c:v>-0.178359375</c:v>
                </c:pt>
                <c:pt idx="13">
                  <c:v>-0.166653125</c:v>
                </c:pt>
                <c:pt idx="14">
                  <c:v>-0.16861875</c:v>
                </c:pt>
                <c:pt idx="15">
                  <c:v>-0.162771875</c:v>
                </c:pt>
                <c:pt idx="16">
                  <c:v>-0.156170625</c:v>
                </c:pt>
                <c:pt idx="17">
                  <c:v>-0.145663125</c:v>
                </c:pt>
                <c:pt idx="18">
                  <c:v>-0.13710875</c:v>
                </c:pt>
                <c:pt idx="19">
                  <c:v>-0.124648125</c:v>
                </c:pt>
                <c:pt idx="20">
                  <c:v>-0.1278125</c:v>
                </c:pt>
                <c:pt idx="21">
                  <c:v>-0.1407425</c:v>
                </c:pt>
                <c:pt idx="22">
                  <c:v>-0.124375625</c:v>
                </c:pt>
                <c:pt idx="23">
                  <c:v>-0.111915</c:v>
                </c:pt>
                <c:pt idx="24">
                  <c:v>-0.103360625</c:v>
                </c:pt>
                <c:pt idx="25">
                  <c:v>-0.09480625</c:v>
                </c:pt>
                <c:pt idx="26">
                  <c:v>-0.094165625</c:v>
                </c:pt>
              </c:numCache>
            </c:numRef>
          </c:val>
        </c:ser>
        <c:ser>
          <c:idx val="1"/>
          <c:order val="1"/>
          <c:tx>
            <c:v>Zero</c:v>
          </c:tx>
          <c:spPr>
            <a:ln xmlns:a="http://schemas.openxmlformats.org/drawingml/2006/main" w="9525">
              <a:solidFill>
                <a:srgbClr val="D0D5DD"/>
              </a:solidFill>
            </a:ln>
          </c:spPr>
          <c:marker>
            <c:symbol val="none"/>
          </c:marker>
          <c:cat>
            <c:numRef>
              <c:f>'Chart Data'!$C$2:$C$28</c:f>
              <c:numCache>
                <c:formatCode>General</c:formatCode>
                <c:ptCount val="27"/>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numCache>
            </c:numRef>
          </c:cat>
          <c:val>
            <c:numRef>
              <c:f>'Chart Data'!$D$2:$D$28</c:f>
              <c:numCache>
                <c:formatCode>0%</c:formatCode>
                <c:ptCount val="2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n</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0.15"/>
          <c:min val="-0.25"/>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MC − Paper</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14.xml><?xml version="1.0" encoding="utf-8"?>
<c:chartSpace xmlns:c="http://schemas.openxmlformats.org/drawingml/2006/chart" xmlns:r="http://schemas.openxmlformats.org/officeDocument/2006/relationships">
  <c:lang val="en-US"/>
  <c:chart>
    <c:plotArea>
      <c:lineChart>
        <c:grouping val="standard"/>
        <c:ser>
          <c:idx val="0"/>
          <c:order val="0"/>
          <c:tx>
            <c:v>Manual 400 error</c:v>
          </c:tx>
          <c:spPr>
            <a:ln xmlns:a="http://schemas.openxmlformats.org/drawingml/2006/main" w="28575">
              <a:solidFill>
                <a:srgbClr val="1570EF"/>
              </a:solidFill>
            </a:ln>
          </c:spPr>
          <c:marker>
            <c:symbol val="none"/>
          </c:marker>
          <c:cat>
            <c:numRef>
              <c:f>'Chart Data'!$A$2:$A$57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Data'!$B$2:$B$57</c:f>
              <c:numCache>
                <c:formatCode>0%</c:formatCode>
                <c:ptCount val="56"/>
                <c:pt idx="0">
                  <c:v>-0.0226875</c:v>
                </c:pt>
                <c:pt idx="1">
                  <c:v>-0.012607291667</c:v>
                </c:pt>
                <c:pt idx="2">
                  <c:v>-0.020105208333</c:v>
                </c:pt>
                <c:pt idx="3">
                  <c:v>-0.008071875</c:v>
                </c:pt>
                <c:pt idx="4">
                  <c:v>-0.01369375</c:v>
                </c:pt>
                <c:pt idx="5">
                  <c:v>-0.011503125</c:v>
                </c:pt>
                <c:pt idx="6">
                  <c:v>-0.0249375</c:v>
                </c:pt>
                <c:pt idx="7">
                  <c:v>-0.0168875</c:v>
                </c:pt>
                <c:pt idx="8">
                  <c:v>-0.03705625</c:v>
                </c:pt>
                <c:pt idx="9">
                  <c:v>-0.02988125</c:v>
                </c:pt>
                <c:pt idx="10">
                  <c:v>-0.04614375</c:v>
                </c:pt>
                <c:pt idx="11">
                  <c:v>-0.040921875</c:v>
                </c:pt>
                <c:pt idx="12">
                  <c:v>-0.0544625</c:v>
                </c:pt>
                <c:pt idx="13">
                  <c:v>-0.044565625</c:v>
                </c:pt>
                <c:pt idx="14">
                  <c:v>-0.048340625</c:v>
                </c:pt>
                <c:pt idx="15">
                  <c:v>-0.036490625</c:v>
                </c:pt>
                <c:pt idx="16">
                  <c:v>-0.03278625</c:v>
                </c:pt>
                <c:pt idx="17">
                  <c:v>-0.01931625</c:v>
                </c:pt>
                <c:pt idx="18">
                  <c:v>-0.02147125</c:v>
                </c:pt>
                <c:pt idx="19">
                  <c:v>-0.009954375</c:v>
                </c:pt>
                <c:pt idx="20">
                  <c:v>-0.004296875</c:v>
                </c:pt>
                <c:pt idx="21">
                  <c:v>0.009173125</c:v>
                </c:pt>
                <c:pt idx="22">
                  <c:v>-0.000794375</c:v>
                </c:pt>
                <c:pt idx="23">
                  <c:v>0.012675625</c:v>
                </c:pt>
                <c:pt idx="24">
                  <c:v>0.02028625</c:v>
                </c:pt>
                <c:pt idx="25">
                  <c:v>0.031803125</c:v>
                </c:pt>
                <c:pt idx="26">
                  <c:v>0.034630625</c:v>
                </c:pt>
                <c:pt idx="27">
                  <c:v>0.045270625</c:v>
                </c:pt>
                <c:pt idx="28">
                  <c:v>0.044191875</c:v>
                </c:pt>
                <c:pt idx="29">
                  <c:v>0.054831875</c:v>
                </c:pt>
                <c:pt idx="30">
                  <c:v>0.0439875</c:v>
                </c:pt>
                <c:pt idx="31">
                  <c:v>0.05072125</c:v>
                </c:pt>
                <c:pt idx="32">
                  <c:v>0.051595625</c:v>
                </c:pt>
                <c:pt idx="33">
                  <c:v>0.0602825</c:v>
                </c:pt>
                <c:pt idx="34">
                  <c:v>0.053344375</c:v>
                </c:pt>
                <c:pt idx="35">
                  <c:v>0.06203125</c:v>
                </c:pt>
                <c:pt idx="36">
                  <c:v>0.05545625</c:v>
                </c:pt>
                <c:pt idx="37">
                  <c:v>0.06450625</c:v>
                </c:pt>
                <c:pt idx="38">
                  <c:v>0.05793125</c:v>
                </c:pt>
                <c:pt idx="39">
                  <c:v>0.06698125</c:v>
                </c:pt>
                <c:pt idx="40">
                  <c:v>0.070171875</c:v>
                </c:pt>
                <c:pt idx="41">
                  <c:v>0.079221875</c:v>
                </c:pt>
                <c:pt idx="42">
                  <c:v>0.084365625</c:v>
                </c:pt>
                <c:pt idx="43">
                  <c:v>0.089509375</c:v>
                </c:pt>
                <c:pt idx="44">
                  <c:v>0.090746875</c:v>
                </c:pt>
                <c:pt idx="45">
                  <c:v>0.09784375</c:v>
                </c:pt>
                <c:pt idx="46">
                  <c:v>0.088115625</c:v>
                </c:pt>
                <c:pt idx="47">
                  <c:v>0.092059375</c:v>
                </c:pt>
                <c:pt idx="48">
                  <c:v>0.0862375</c:v>
                </c:pt>
                <c:pt idx="49">
                  <c:v>0.0940875</c:v>
                </c:pt>
                <c:pt idx="50">
                  <c:v>0.096078125</c:v>
                </c:pt>
                <c:pt idx="51">
                  <c:v>0.101975</c:v>
                </c:pt>
                <c:pt idx="52">
                  <c:v>0.1020125</c:v>
                </c:pt>
                <c:pt idx="53">
                  <c:v>0.1098625</c:v>
                </c:pt>
                <c:pt idx="54">
                  <c:v>0.104040625</c:v>
                </c:pt>
                <c:pt idx="55">
                  <c:v>0.111890625</c:v>
                </c:pt>
              </c:numCache>
            </c:numRef>
          </c:val>
        </c:ser>
        <c:ser>
          <c:idx val="1"/>
          <c:order val="1"/>
          <c:tx>
            <c:v>Manual 600 error</c:v>
          </c:tx>
          <c:spPr>
            <a:ln xmlns:a="http://schemas.openxmlformats.org/drawingml/2006/main" w="28575">
              <a:solidFill>
                <a:srgbClr val="0E9384"/>
              </a:solidFill>
            </a:ln>
          </c:spPr>
          <c:marker>
            <c:symbol val="none"/>
          </c:marker>
          <c:cat>
            <c:numRef>
              <c:f>'Chart Data'!$C$2:$C$57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Data'!$D$2:$D$57</c:f>
              <c:numCache>
                <c:formatCode>0%</c:formatCode>
                <c:ptCount val="56"/>
                <c:pt idx="0">
                  <c:v>-0.02138125</c:v>
                </c:pt>
                <c:pt idx="1">
                  <c:v>-0.02058125</c:v>
                </c:pt>
                <c:pt idx="2">
                  <c:v>-0.03540625</c:v>
                </c:pt>
                <c:pt idx="3">
                  <c:v>-0.03460625</c:v>
                </c:pt>
                <c:pt idx="4">
                  <c:v>-0.03184375</c:v>
                </c:pt>
                <c:pt idx="5">
                  <c:v>-0.02126875</c:v>
                </c:pt>
                <c:pt idx="6">
                  <c:v>-0.01850625</c:v>
                </c:pt>
                <c:pt idx="7">
                  <c:v>-0.00793125</c:v>
                </c:pt>
                <c:pt idx="8">
                  <c:v>-0.01665</c:v>
                </c:pt>
                <c:pt idx="9">
                  <c:v>-0.01365</c:v>
                </c:pt>
                <c:pt idx="10">
                  <c:v>-0.020415625</c:v>
                </c:pt>
                <c:pt idx="11">
                  <c:v>-0.017415625</c:v>
                </c:pt>
                <c:pt idx="12">
                  <c:v>-0.01695</c:v>
                </c:pt>
                <c:pt idx="13">
                  <c:v>-0.010625</c:v>
                </c:pt>
                <c:pt idx="14">
                  <c:v>-0.00820625</c:v>
                </c:pt>
                <c:pt idx="15">
                  <c:v>-0.003834375</c:v>
                </c:pt>
                <c:pt idx="16">
                  <c:v>-0.004306875</c:v>
                </c:pt>
                <c:pt idx="17">
                  <c:v>0.003033125</c:v>
                </c:pt>
                <c:pt idx="18">
                  <c:v>0.00451375</c:v>
                </c:pt>
                <c:pt idx="19">
                  <c:v>0.01185375</c:v>
                </c:pt>
                <c:pt idx="20">
                  <c:v>0.005521875</c:v>
                </c:pt>
                <c:pt idx="21">
                  <c:v>0.012861875</c:v>
                </c:pt>
                <c:pt idx="22">
                  <c:v>0.004576875</c:v>
                </c:pt>
                <c:pt idx="23">
                  <c:v>0.011916875</c:v>
                </c:pt>
                <c:pt idx="24">
                  <c:v>0.015350625</c:v>
                </c:pt>
                <c:pt idx="25">
                  <c:v>0.022690625</c:v>
                </c:pt>
                <c:pt idx="26">
                  <c:v>0.019901875</c:v>
                </c:pt>
                <c:pt idx="27">
                  <c:v>0.02687875</c:v>
                </c:pt>
                <c:pt idx="28">
                  <c:v>0.026043125</c:v>
                </c:pt>
                <c:pt idx="29">
                  <c:v>0.034973125</c:v>
                </c:pt>
                <c:pt idx="30">
                  <c:v>0.036090625</c:v>
                </c:pt>
                <c:pt idx="31">
                  <c:v>0.045020625</c:v>
                </c:pt>
                <c:pt idx="32">
                  <c:v>0.04809125</c:v>
                </c:pt>
                <c:pt idx="33">
                  <c:v>0.05702125</c:v>
                </c:pt>
                <c:pt idx="34">
                  <c:v>0.060091875</c:v>
                </c:pt>
                <c:pt idx="35">
                  <c:v>0.069021875</c:v>
                </c:pt>
                <c:pt idx="36">
                  <c:v>0.064913125</c:v>
                </c:pt>
                <c:pt idx="37">
                  <c:v>0.072523125</c:v>
                </c:pt>
                <c:pt idx="38">
                  <c:v>0.0703675</c:v>
                </c:pt>
                <c:pt idx="39">
                  <c:v>0.0779775</c:v>
                </c:pt>
                <c:pt idx="40">
                  <c:v>0.07386875</c:v>
                </c:pt>
                <c:pt idx="41">
                  <c:v>0.079525625</c:v>
                </c:pt>
                <c:pt idx="42">
                  <c:v>0.071510625</c:v>
                </c:pt>
                <c:pt idx="43">
                  <c:v>0.079120625</c:v>
                </c:pt>
                <c:pt idx="44">
                  <c:v>0.08087125</c:v>
                </c:pt>
                <c:pt idx="45">
                  <c:v>0.08848125</c:v>
                </c:pt>
                <c:pt idx="46">
                  <c:v>0.092295</c:v>
                </c:pt>
                <c:pt idx="47">
                  <c:v>0.098061875</c:v>
                </c:pt>
                <c:pt idx="48">
                  <c:v>0.10382875</c:v>
                </c:pt>
                <c:pt idx="49">
                  <c:v>0.11154875</c:v>
                </c:pt>
                <c:pt idx="50">
                  <c:v>0.109503125</c:v>
                </c:pt>
                <c:pt idx="51">
                  <c:v>0.117223125</c:v>
                </c:pt>
                <c:pt idx="52">
                  <c:v>0.107365</c:v>
                </c:pt>
                <c:pt idx="53">
                  <c:v>0.113131875</c:v>
                </c:pt>
                <c:pt idx="54">
                  <c:v>0.10327375</c:v>
                </c:pt>
                <c:pt idx="55">
                  <c:v>0.11099375</c:v>
                </c:pt>
              </c:numCache>
            </c:numRef>
          </c:val>
        </c:ser>
        <c:ser>
          <c:idx val="2"/>
          <c:order val="2"/>
          <c:tx>
            <c:v>Zero</c:v>
          </c:tx>
          <c:spPr>
            <a:ln xmlns:a="http://schemas.openxmlformats.org/drawingml/2006/main" w="9525">
              <a:solidFill>
                <a:srgbClr val="D0D5DD"/>
              </a:solidFill>
            </a:ln>
          </c:spPr>
          <c:marker>
            <c:symbol val="none"/>
          </c:marker>
          <c:cat>
            <c:numRef>
              <c:f>'Chart Data'!$E$2:$E$57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Data'!$F$2:$F$57</c:f>
              <c:numCache>
                <c:formatCode>0%</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n</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0.15"/>
          <c:min val="-0.25"/>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MC − Paper</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15.xml><?xml version="1.0" encoding="utf-8"?>
<c:chartSpace xmlns:c="http://schemas.openxmlformats.org/drawingml/2006/chart" xmlns:r="http://schemas.openxmlformats.org/officeDocument/2006/relationships">
  <c:lang val="en-US"/>
  <c:chart>
    <c:plotArea>
      <c:lineChart>
        <c:grouping val="standard"/>
        <c:varyColors val="0"/>
        <c:ser>
          <c:idx val="0"/>
          <c:order val="0"/>
          <c:tx>
            <c:v>Straight 510 / sev1</c:v>
          </c:tx>
          <c:spPr>
            <a:ln xmlns:a="http://schemas.openxmlformats.org/drawingml/2006/main" w="28575">
              <a:solidFill>
                <a:srgbClr val="F79009"/>
              </a:solidFill>
            </a:ln>
          </c:spPr>
          <c:marker>
            <c:symbol val="none"/>
          </c:marker>
          <c:cat>
            <c:strRef>
              <c:f>'Chart Data'!$A$2:$A$7</c:f>
              <c:strCache>
                <c:ptCount val="6"/>
                <c:pt idx="0">
                  <c:v>600 μs</c:v>
                </c:pt>
                <c:pt idx="1">
                  <c:v>800 μs</c:v>
                </c:pt>
                <c:pt idx="2">
                  <c:v>1000 μs</c:v>
                </c:pt>
                <c:pt idx="3">
                  <c:v>1200 μs</c:v>
                </c:pt>
                <c:pt idx="4">
                  <c:v>1600 μs</c:v>
                </c:pt>
                <c:pt idx="5">
                  <c:v>2000 μs</c:v>
                </c:pt>
              </c:strCache>
            </c:strRef>
          </c:cat>
          <c:val>
            <c:numRef>
              <c:f>'Chart Data'!$B$2:$B$7</c:f>
              <c:numCache>
                <c:formatCode>0.0</c:formatCode>
                <c:ptCount val="6"/>
                <c:pt idx="0">
                  <c:v>0</c:v>
                </c:pt>
                <c:pt idx="1">
                  <c:v>0</c:v>
                </c:pt>
                <c:pt idx="2">
                  <c:v>0.0546875</c:v>
                </c:pt>
                <c:pt idx="3">
                  <c:v>1</c:v>
                </c:pt>
                <c:pt idx="4">
                  <c:v>1</c:v>
                </c:pt>
                <c:pt idx="5">
                  <c:v>1</c:v>
                </c:pt>
              </c:numCache>
            </c:numRef>
          </c:val>
          <c:smooth val="0"/>
        </c:ser>
        <c:ser>
          <c:idx val="1"/>
          <c:order val="1"/>
          <c:tx>
            <c:v>Diagonal 610 / sev1</c:v>
          </c:tx>
          <c:spPr>
            <a:ln xmlns:a="http://schemas.openxmlformats.org/drawingml/2006/main" w="28575">
              <a:solidFill>
                <a:srgbClr val="1570EF"/>
              </a:solidFill>
            </a:ln>
          </c:spPr>
          <c:marker>
            <c:symbol val="none"/>
          </c:marker>
          <c:cat>
            <c:strRef>
              <c:f>'Chart Data'!$C$2:$C$7</c:f>
              <c:strCache>
                <c:ptCount val="6"/>
                <c:pt idx="0">
                  <c:v>600 μs</c:v>
                </c:pt>
                <c:pt idx="1">
                  <c:v>800 μs</c:v>
                </c:pt>
                <c:pt idx="2">
                  <c:v>1000 μs</c:v>
                </c:pt>
                <c:pt idx="3">
                  <c:v>1200 μs</c:v>
                </c:pt>
                <c:pt idx="4">
                  <c:v>1600 μs</c:v>
                </c:pt>
                <c:pt idx="5">
                  <c:v>2000 μs</c:v>
                </c:pt>
              </c:strCache>
            </c:strRef>
          </c:cat>
          <c:val>
            <c:numRef>
              <c:f>'Chart Data'!$D$2:$D$7</c:f>
              <c:numCache>
                <c:formatCode>0.0</c:formatCode>
                <c:ptCount val="6"/>
                <c:pt idx="0">
                  <c:v>0.9921875</c:v>
                </c:pt>
                <c:pt idx="1">
                  <c:v>1</c:v>
                </c:pt>
                <c:pt idx="2">
                  <c:v>1</c:v>
                </c:pt>
                <c:pt idx="3">
                  <c:v>1</c:v>
                </c:pt>
                <c:pt idx="4">
                  <c:v>1</c:v>
                </c:pt>
                <c:pt idx="5">
                  <c:v>1</c:v>
                </c:pt>
              </c:numCache>
            </c:numRef>
          </c:val>
          <c:smooth val="0"/>
        </c:ser>
        <c:ser>
          <c:idx val="2"/>
          <c:order val="2"/>
          <c:tx>
            <c:v>Straight / lensing off</c:v>
          </c:tx>
          <c:spPr>
            <a:ln xmlns:a="http://schemas.openxmlformats.org/drawingml/2006/main" w="19050">
              <a:solidFill>
                <a:srgbClr val="0E9384"/>
              </a:solidFill>
            </a:ln>
          </c:spPr>
          <c:marker>
            <c:symbol val="none"/>
          </c:marker>
          <c:cat>
            <c:strRef>
              <c:f>'Chart Data'!$E$2:$E$7</c:f>
              <c:strCache>
                <c:ptCount val="6"/>
                <c:pt idx="0">
                  <c:v>600 μs</c:v>
                </c:pt>
                <c:pt idx="1">
                  <c:v>800 μs</c:v>
                </c:pt>
                <c:pt idx="2">
                  <c:v>1000 μs</c:v>
                </c:pt>
                <c:pt idx="3">
                  <c:v>1200 μs</c:v>
                </c:pt>
                <c:pt idx="4">
                  <c:v>1600 μs</c:v>
                </c:pt>
                <c:pt idx="5">
                  <c:v>2000 μs</c:v>
                </c:pt>
              </c:strCache>
            </c:strRef>
          </c:cat>
          <c:val>
            <c:numRef>
              <c:f>'Chart Data'!$F$2:$F$7</c:f>
              <c:numCache>
                <c:formatCode>0.0</c:formatCode>
                <c:ptCount val="6"/>
                <c:pt idx="0">
                  <c:v>1</c:v>
                </c:pt>
                <c:pt idx="1">
                  <c:v>1</c:v>
                </c:pt>
                <c:pt idx="2">
                  <c:v>1</c:v>
                </c:pt>
                <c:pt idx="3">
                  <c:v>1</c:v>
                </c:pt>
                <c:pt idx="4">
                  <c:v>1</c:v>
                </c:pt>
                <c:pt idx="5">
                  <c:v>1</c:v>
                </c:pt>
              </c:numCache>
            </c:numRef>
          </c:val>
          <c:smooth val="0"/>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EAECF0"/>
            </a:solidFill>
          </a:ln>
        </c:spPr>
        <c:txPr>
          <a:bodyPr xmlns:a="http://schemas.openxmlformats.org/drawingml/2006/main" anchorCtr="1"/>
          <a:lstStyle xmlns:a="http://schemas.openxmlformats.org/drawingml/2006/main"/>
          <a:p xmlns:a="http://schemas.openxmlformats.org/drawingml/2006/main">
            <a:pPr>
              <a:defRPr sz="1125">
                <a:solidFill>
                  <a:srgbClr val="667085"/>
                </a:solidFill>
                <a:latin typeface="Microsoft YaHei"/>
                <a:ea typeface="Microsoft YaHei"/>
                <a:cs typeface="Microsoft YaHei"/>
              </a:defRPr>
            </a:pPr>
          </a:p>
        </c:txPr>
        <c:crossAx val="48672768"/>
      </c:catAx>
      <c:valAx>
        <c:axId val="48672768"/>
        <c:scaling>
          <c:orientation val="minMax"/>
          <c:max val="1"/>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Probability</a:t>
                </a:r>
              </a:p>
            </c:rich>
          </c:tx>
          <c:overlay val="0"/>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7085"/>
                </a:solidFill>
                <a:latin typeface="Microsoft YaHei"/>
                <a:ea typeface="Microsoft YaHei"/>
                <a:cs typeface="Microsoft YaHei"/>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16.xml><?xml version="1.0" encoding="utf-8"?>
<c:chartSpace xmlns:c="http://schemas.openxmlformats.org/drawingml/2006/chart" xmlns:r="http://schemas.openxmlformats.org/officeDocument/2006/relationships">
  <c:lang val="en-US"/>
  <c:chart>
    <c:plotArea>
      <c:lineChart>
        <c:grouping val="standard"/>
        <c:varyColors val="0"/>
        <c:ser>
          <c:idx val="0"/>
          <c:order val="0"/>
          <c:tx>
            <c:v>None</c:v>
          </c:tx>
          <c:spPr>
            <a:ln xmlns:a="http://schemas.openxmlformats.org/drawingml/2006/main" w="28575">
              <a:solidFill>
                <a:srgbClr val="F79009"/>
              </a:solidFill>
            </a:ln>
          </c:spPr>
          <c:marker>
            <c:symbol val="none"/>
          </c:marker>
          <c:cat>
            <c:numRef>
              <c:f>'Chart Data'!$A$2:$A$11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Data'!$B$2:$B$11</c:f>
              <c:numCache>
                <c:formatCode>0.0</c:formatCode>
                <c:ptCount val="10"/>
                <c:pt idx="0">
                  <c:v>0.895712142889</c:v>
                </c:pt>
                <c:pt idx="1">
                  <c:v>0.69513397563</c:v>
                </c:pt>
                <c:pt idx="2">
                  <c:v>0.492340391457</c:v>
                </c:pt>
                <c:pt idx="3">
                  <c:v>0.323576712678</c:v>
                </c:pt>
                <c:pt idx="4">
                  <c:v>0.219840952724</c:v>
                </c:pt>
                <c:pt idx="5">
                  <c:v>0.137136166685</c:v>
                </c:pt>
                <c:pt idx="6">
                  <c:v>0.0547673922827</c:v>
                </c:pt>
                <c:pt idx="7">
                  <c:v>0.0185021343487</c:v>
                </c:pt>
                <c:pt idx="8">
                  <c:v>0.03418494316</c:v>
                </c:pt>
                <c:pt idx="9">
                  <c:v>0.0567546920552</c:v>
                </c:pt>
              </c:numCache>
            </c:numRef>
          </c:val>
          <c:smooth val="0"/>
        </c:ser>
        <c:ser>
          <c:idx val="1"/>
          <c:order val="1"/>
          <c:tx>
            <c:v>Spin echo</c:v>
          </c:tx>
          <c:spPr>
            <a:ln xmlns:a="http://schemas.openxmlformats.org/drawingml/2006/main" w="28575">
              <a:solidFill>
                <a:srgbClr val="0E9384"/>
              </a:solidFill>
            </a:ln>
          </c:spPr>
          <c:marker>
            <c:symbol val="none"/>
          </c:marker>
          <c:cat>
            <c:numRef>
              <c:f>'Chart Data'!$C$2:$C$11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Data'!$D$2:$D$11</c:f>
              <c:numCache>
                <c:formatCode>0.0</c:formatCode>
                <c:ptCount val="10"/>
                <c:pt idx="0">
                  <c:v>0.99996144771</c:v>
                </c:pt>
                <c:pt idx="1">
                  <c:v>0.894917409375</c:v>
                </c:pt>
                <c:pt idx="2">
                  <c:v>0.695354235552</c:v>
                </c:pt>
                <c:pt idx="3">
                  <c:v>0.49234154414</c:v>
                </c:pt>
                <c:pt idx="4">
                  <c:v>0.323249353882</c:v>
                </c:pt>
                <c:pt idx="5">
                  <c:v>0.220822959687</c:v>
                </c:pt>
                <c:pt idx="6">
                  <c:v>0.136765959626</c:v>
                </c:pt>
                <c:pt idx="7">
                  <c:v>0.0548629729928</c:v>
                </c:pt>
                <c:pt idx="8">
                  <c:v>0.0194338157648</c:v>
                </c:pt>
                <c:pt idx="9">
                  <c:v>0.0351247354967</c:v>
                </c:pt>
              </c:numCache>
            </c:numRef>
          </c:val>
          <c:smooth val="0"/>
        </c:ser>
        <c:ser>
          <c:idx val="2"/>
          <c:order val="2"/>
          <c:tx>
            <c:v>XY4</c:v>
          </c:tx>
          <c:spPr>
            <a:ln xmlns:a="http://schemas.openxmlformats.org/drawingml/2006/main" w="28575">
              <a:solidFill>
                <a:srgbClr val="1570EF"/>
              </a:solidFill>
            </a:ln>
          </c:spPr>
          <c:marker>
            <c:symbol val="none"/>
          </c:marker>
          <c:cat>
            <c:numRef>
              <c:f>'Chart Data'!$E$2:$E$11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Data'!$F$2:$F$11</c:f>
              <c:numCache>
                <c:formatCode>0.0</c:formatCode>
                <c:ptCount val="10"/>
                <c:pt idx="0">
                  <c:v>0.973516321062</c:v>
                </c:pt>
                <c:pt idx="1">
                  <c:v>0.802123503803</c:v>
                </c:pt>
                <c:pt idx="2">
                  <c:v>0.597332207818</c:v>
                </c:pt>
                <c:pt idx="3">
                  <c:v>0.403888977119</c:v>
                </c:pt>
                <c:pt idx="4">
                  <c:v>0.266725246046</c:v>
                </c:pt>
                <c:pt idx="5">
                  <c:v>0.183174743242</c:v>
                </c:pt>
                <c:pt idx="6">
                  <c:v>0.0925458257854</c:v>
                </c:pt>
                <c:pt idx="7">
                  <c:v>0.0373834766549</c:v>
                </c:pt>
                <c:pt idx="8">
                  <c:v>0.00994817540684</c:v>
                </c:pt>
                <c:pt idx="9">
                  <c:v>0.0495787673897</c:v>
                </c:pt>
              </c:numCache>
            </c:numRef>
          </c:val>
          <c:smooth val="0"/>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EAECF0"/>
            </a:solidFill>
          </a:ln>
        </c:spPr>
        <c:txPr>
          <a:bodyPr xmlns:a="http://schemas.openxmlformats.org/drawingml/2006/main" anchorCtr="1"/>
          <a:lstStyle xmlns:a="http://schemas.openxmlformats.org/drawingml/2006/main"/>
          <a:p xmlns:a="http://schemas.openxmlformats.org/drawingml/2006/main">
            <a:pPr>
              <a:defRPr sz="1125">
                <a:solidFill>
                  <a:srgbClr val="667085"/>
                </a:solidFill>
                <a:latin typeface="Microsoft YaHei"/>
                <a:ea typeface="Microsoft YaHei"/>
                <a:cs typeface="Microsoft YaHei"/>
              </a:defRPr>
            </a:pPr>
          </a:p>
        </c:txPr>
        <c:crossAx val="48672768"/>
      </c:catAx>
      <c:valAx>
        <c:axId val="48672768"/>
        <c:scaling>
          <c:orientation val="minMax"/>
          <c:max val="1"/>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C_cond</a:t>
                </a:r>
              </a:p>
            </c:rich>
          </c:tx>
          <c:overlay val="0"/>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7085"/>
                </a:solidFill>
                <a:latin typeface="Microsoft YaHei"/>
                <a:ea typeface="Microsoft YaHei"/>
                <a:cs typeface="Microsoft YaHei"/>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1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Historical F_avg vs I</c:v>
          </c:tx>
          <c:spPr>
            <a:solidFill xmlns:a="http://schemas.openxmlformats.org/drawingml/2006/main">
              <a:srgbClr val="1570EF"/>
            </a:solidFill>
          </c:spPr>
          <c:dLbls>
            <c:dLbl>
              <c:idx val="0"/>
              <c:tx>
                <c:rich>
                  <a:bodyPr xmlns:a="http://schemas.openxmlformats.org/drawingml/2006/main"/>
                  <a:lstStyle xmlns:a="http://schemas.openxmlformats.org/drawingml/2006/main"/>
                  <a:p xmlns:a="http://schemas.openxmlformats.org/drawingml/2006/main">
                    <a:r>
                      <a:rPr sz="1275">
                        <a:solidFill>
                          <a:srgbClr val="344054"/>
                        </a:solidFill>
                        <a:latin typeface="Microsoft YaHei"/>
                        <a:ea typeface="Microsoft YaHei"/>
                        <a:cs typeface="Microsoft YaHei"/>
                      </a:rPr>
                      <a:t>0.9432</a:t>
                    </a:r>
                  </a:p>
                </c:rich>
              </c:tx>
              <c:txPr>
                <a:bodyPr xmlns:a="http://schemas.openxmlformats.org/drawingml/2006/main" anchorCtr="1"/>
                <a:lstStyle xmlns:a="http://schemas.openxmlformats.org/drawingml/2006/main"/>
                <a:p xmlns:a="http://schemas.openxmlformats.org/drawingml/2006/main">
                  <a:pPr>
                    <a:defRPr sz="1275">
                      <a:solidFill>
                        <a:srgbClr val="344054"/>
                      </a:solidFill>
                      <a:latin typeface="Microsoft YaHei"/>
                      <a:ea typeface="Microsoft YaHei"/>
                      <a:cs typeface="Microsoft YaHei"/>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275">
                        <a:solidFill>
                          <a:srgbClr val="344054"/>
                        </a:solidFill>
                        <a:latin typeface="Microsoft YaHei"/>
                        <a:ea typeface="Microsoft YaHei"/>
                        <a:cs typeface="Microsoft YaHei"/>
                      </a:rPr>
                      <a:t>0.3334</a:t>
                    </a:r>
                  </a:p>
                </c:rich>
              </c:tx>
              <c:txPr>
                <a:bodyPr xmlns:a="http://schemas.openxmlformats.org/drawingml/2006/main" anchorCtr="1"/>
                <a:lstStyle xmlns:a="http://schemas.openxmlformats.org/drawingml/2006/main"/>
                <a:p xmlns:a="http://schemas.openxmlformats.org/drawingml/2006/main">
                  <a:pPr>
                    <a:defRPr sz="1275">
                      <a:solidFill>
                        <a:srgbClr val="344054"/>
                      </a:solidFill>
                      <a:latin typeface="Microsoft YaHei"/>
                      <a:ea typeface="Microsoft YaHei"/>
                      <a:cs typeface="Microsoft YaHei"/>
                    </a:defRPr>
                  </a:pPr>
                </a:p>
              </c:txPr>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275">
                        <a:solidFill>
                          <a:srgbClr val="344054"/>
                        </a:solidFill>
                        <a:latin typeface="Microsoft YaHei"/>
                        <a:ea typeface="Microsoft YaHei"/>
                        <a:cs typeface="Microsoft YaHei"/>
                      </a:rPr>
                      <a:t>0.9573</a:t>
                    </a:r>
                  </a:p>
                </c:rich>
              </c:tx>
              <c:txPr>
                <a:bodyPr xmlns:a="http://schemas.openxmlformats.org/drawingml/2006/main" anchorCtr="1"/>
                <a:lstStyle xmlns:a="http://schemas.openxmlformats.org/drawingml/2006/main"/>
                <a:p xmlns:a="http://schemas.openxmlformats.org/drawingml/2006/main">
                  <a:pPr>
                    <a:defRPr sz="1275">
                      <a:solidFill>
                        <a:srgbClr val="344054"/>
                      </a:solidFill>
                      <a:latin typeface="Microsoft YaHei"/>
                      <a:ea typeface="Microsoft YaHei"/>
                      <a:cs typeface="Microsoft YaHei"/>
                    </a:defRPr>
                  </a:pPr>
                </a:p>
              </c:txPr>
              <c:dLblPos val="outEnd"/>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275">
                        <a:solidFill>
                          <a:srgbClr val="344054"/>
                        </a:solidFill>
                        <a:latin typeface="Microsoft YaHei"/>
                        <a:ea typeface="Microsoft YaHei"/>
                        <a:cs typeface="Microsoft YaHei"/>
                      </a:rPr>
                      <a:t>0.9960</a:t>
                    </a:r>
                  </a:p>
                </c:rich>
              </c:tx>
              <c:txPr>
                <a:bodyPr xmlns:a="http://schemas.openxmlformats.org/drawingml/2006/main" anchorCtr="1"/>
                <a:lstStyle xmlns:a="http://schemas.openxmlformats.org/drawingml/2006/main"/>
                <a:p xmlns:a="http://schemas.openxmlformats.org/drawingml/2006/main">
                  <a:pPr>
                    <a:defRPr sz="1275">
                      <a:solidFill>
                        <a:srgbClr val="344054"/>
                      </a:solidFill>
                      <a:latin typeface="Microsoft YaHei"/>
                      <a:ea typeface="Microsoft YaHei"/>
                      <a:cs typeface="Microsoft YaHei"/>
                    </a:defRPr>
                  </a:pPr>
                </a:p>
              </c:txPr>
              <c:dLblPos val="outEnd"/>
              <c:showLegendKey val="0"/>
              <c:showVal val="0"/>
              <c:showCatName val="0"/>
              <c:showSerName val="0"/>
              <c:showPercent val="0"/>
              <c:showBubbleSize val="0"/>
            </c:dLbl>
          </c:dLbls>
          <c:cat>
            <c:strRef>
              <c:f>'Chart Data'!$A$2:$A$5</c:f>
              <c:strCache>
                <c:ptCount val="4"/>
                <c:pt idx="0">
                  <c:v>None</c:v>
                </c:pt>
                <c:pt idx="1">
                  <c:v>Spin echo</c:v>
                </c:pt>
                <c:pt idx="2">
                  <c:v>XY4 per move</c:v>
                </c:pt>
                <c:pt idx="3">
                  <c:v>XY16</c:v>
                </c:pt>
              </c:strCache>
            </c:strRef>
          </c:cat>
          <c:val>
            <c:numRef>
              <c:f>'Chart Data'!$B$2:$B$5</c:f>
              <c:numCache>
                <c:formatCode>0.0000</c:formatCode>
                <c:ptCount val="4"/>
                <c:pt idx="0">
                  <c:v>0.94318984099</c:v>
                </c:pt>
                <c:pt idx="1">
                  <c:v>0.333379944429</c:v>
                </c:pt>
                <c:pt idx="2">
                  <c:v>0.957305475969</c:v>
                </c:pt>
                <c:pt idx="3">
                  <c:v>0.995996486213</c:v>
                </c:pt>
              </c:numCache>
            </c:numRef>
          </c:val>
        </c:ser>
        <c:dLbls>
          <c:txPr>
            <a:bodyPr xmlns:a="http://schemas.openxmlformats.org/drawingml/2006/main" anchorCtr="1"/>
            <a:lstStyle xmlns:a="http://schemas.openxmlformats.org/drawingml/2006/main"/>
            <a:p xmlns:a="http://schemas.openxmlformats.org/drawingml/2006/main">
              <a:pPr>
                <a:defRPr sz="1275">
                  <a:solidFill>
                    <a:srgbClr val="344054"/>
                  </a:solidFill>
                  <a:latin typeface="Microsoft YaHei"/>
                  <a:ea typeface="Microsoft YaHei"/>
                  <a:cs typeface="Microsoft YaHei"/>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7085"/>
                </a:solidFill>
                <a:latin typeface="Microsoft YaHei"/>
                <a:ea typeface="Microsoft YaHei"/>
                <a:cs typeface="Microsoft YaHei"/>
              </a:defRPr>
            </a:pPr>
          </a:p>
        </c:txPr>
        <c:crossAx val="48672768"/>
      </c:catAx>
      <c:valAx>
        <c:axId val="48672768"/>
        <c:scaling>
          <c:orientation val="minMax"/>
          <c:max val="1"/>
          <c:min val="0"/>
        </c:scaling>
        <c:delete val="0"/>
        <c:axPos val="l"/>
        <c:title>
          <c:tx>
            <c:rich>
              <a:bodyPr xmlns:a="http://schemas.openxmlformats.org/drawingml/2006/main"/>
              <a:lstStyle xmlns:a="http://schemas.openxmlformats.org/drawingml/2006/main"/>
              <a:p xmlns:a="http://schemas.openxmlformats.org/drawingml/2006/main">
                <a:r>
                  <a:t>F_avg relative to I</a:t>
                </a:r>
              </a:p>
            </c:rich>
          </c:tx>
          <c:overlay val="0"/>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7085"/>
                </a:solidFill>
                <a:latin typeface="Microsoft YaHei"/>
                <a:ea typeface="Microsoft YaHei"/>
                <a:cs typeface="Microsoft YaHei"/>
              </a:defRPr>
            </a:pPr>
          </a:p>
        </c:txPr>
        <c:crossAx val="48650112"/>
        <c:crossBetween val="between"/>
      </c:valAx>
    </c:plotArea>
    <c:plotVisOnly val="1"/>
  </c:chart>
  <c:externalData r:id="rIdChartSnapshot1">
    <c:autoUpdate val="0"/>
  </c:externalData>
</c:chartSpace>
</file>

<file path=ppt/slides/charts/chart18.xml><?xml version="1.0" encoding="utf-8"?>
<c:chartSpace xmlns:c="http://schemas.openxmlformats.org/drawingml/2006/chart" xmlns:r="http://schemas.openxmlformats.org/officeDocument/2006/relationships">
  <c:lang val="en-US"/>
  <c:chart>
    <c:plotArea>
      <c:lineChart>
        <c:grouping val="standard"/>
        <c:varyColors val="0"/>
        <c:ser>
          <c:idx val="0"/>
          <c:order val="0"/>
          <c:tx>
            <c:v>Paper</c:v>
          </c:tx>
          <c:spPr>
            <a:ln xmlns:a="http://schemas.openxmlformats.org/drawingml/2006/main" w="28575">
              <a:solidFill>
                <a:srgbClr val="102A43"/>
              </a:solidFill>
            </a:ln>
          </c:spPr>
          <c:marker>
            <c:symbol val="none"/>
          </c:marker>
          <c:cat>
            <c:numRef>
              <c:f>'Chart Data'!$A$2:$A$28</c:f>
              <c:numCache>
                <c:formatCode>General</c:formatCode>
                <c:ptCount val="27"/>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numCache>
            </c:numRef>
          </c:cat>
          <c:val>
            <c:numRef>
              <c:f>'Chart Data'!$B$2:$B$28</c:f>
              <c:numCache>
                <c:formatCode>0.0</c:formatCode>
                <c:ptCount val="27"/>
                <c:pt idx="0">
                  <c:v>0.925</c:v>
                </c:pt>
                <c:pt idx="1">
                  <c:v>0.8928</c:v>
                </c:pt>
                <c:pt idx="2">
                  <c:v>0.8564</c:v>
                </c:pt>
                <c:pt idx="3">
                  <c:v>0.8482</c:v>
                </c:pt>
                <c:pt idx="4">
                  <c:v>0.8481</c:v>
                </c:pt>
                <c:pt idx="5">
                  <c:v>0.7687</c:v>
                </c:pt>
                <c:pt idx="6">
                  <c:v>0.7272</c:v>
                </c:pt>
                <c:pt idx="7">
                  <c:v>0.7165</c:v>
                </c:pt>
                <c:pt idx="8">
                  <c:v>0.7099</c:v>
                </c:pt>
                <c:pt idx="9">
                  <c:v>0.6457</c:v>
                </c:pt>
                <c:pt idx="10">
                  <c:v>0.6209</c:v>
                </c:pt>
                <c:pt idx="11">
                  <c:v>0.6178</c:v>
                </c:pt>
                <c:pt idx="12">
                  <c:v>0.6236</c:v>
                </c:pt>
                <c:pt idx="13">
                  <c:v>0.5418</c:v>
                </c:pt>
                <c:pt idx="14">
                  <c:v>0.5241</c:v>
                </c:pt>
                <c:pt idx="15">
                  <c:v>0.5241</c:v>
                </c:pt>
                <c:pt idx="16">
                  <c:v>0.5257</c:v>
                </c:pt>
                <c:pt idx="17">
                  <c:v>0.4582</c:v>
                </c:pt>
                <c:pt idx="18">
                  <c:v>0.4397</c:v>
                </c:pt>
                <c:pt idx="19">
                  <c:v>0.4227</c:v>
                </c:pt>
                <c:pt idx="20">
                  <c:v>0.4061</c:v>
                </c:pt>
                <c:pt idx="21">
                  <c:v>0.3906</c:v>
                </c:pt>
                <c:pt idx="22">
                  <c:v>0.3758</c:v>
                </c:pt>
                <c:pt idx="23">
                  <c:v>0.3612</c:v>
                </c:pt>
                <c:pt idx="24">
                  <c:v>0.3419</c:v>
                </c:pt>
                <c:pt idx="25">
                  <c:v>0.3409</c:v>
                </c:pt>
                <c:pt idx="26">
                  <c:v>0.3344</c:v>
                </c:pt>
              </c:numCache>
            </c:numRef>
          </c:val>
          <c:smooth val="0"/>
        </c:ser>
        <c:ser>
          <c:idx val="1"/>
          <c:order val="1"/>
          <c:tx>
            <c:v>1D T5</c:v>
          </c:tx>
          <c:spPr>
            <a:ln xmlns:a="http://schemas.openxmlformats.org/drawingml/2006/main" w="19050">
              <a:solidFill>
                <a:srgbClr val="667085"/>
              </a:solidFill>
            </a:ln>
          </c:spPr>
          <c:marker>
            <c:symbol val="none"/>
          </c:marker>
          <c:cat>
            <c:numRef>
              <c:f>'Chart Data'!$C$2:$C$28</c:f>
              <c:numCache>
                <c:formatCode>General</c:formatCode>
                <c:ptCount val="27"/>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numCache>
            </c:numRef>
          </c:cat>
          <c:val>
            <c:numRef>
              <c:f>'Chart Data'!$D$2:$D$28</c:f>
              <c:numCache>
                <c:formatCode>0.0</c:formatCode>
                <c:ptCount val="27"/>
                <c:pt idx="0">
                  <c:v>0.98046875</c:v>
                </c:pt>
                <c:pt idx="1">
                  <c:v>0.96484375</c:v>
                </c:pt>
                <c:pt idx="2">
                  <c:v>0.947265625</c:v>
                </c:pt>
                <c:pt idx="3">
                  <c:v>0.931640625</c:v>
                </c:pt>
                <c:pt idx="4">
                  <c:v>0.9140625</c:v>
                </c:pt>
                <c:pt idx="5">
                  <c:v>0.888671875</c:v>
                </c:pt>
                <c:pt idx="6">
                  <c:v>0.86328125</c:v>
                </c:pt>
                <c:pt idx="7">
                  <c:v>0.837890625</c:v>
                </c:pt>
                <c:pt idx="8">
                  <c:v>0.8046875</c:v>
                </c:pt>
                <c:pt idx="9">
                  <c:v>0.783203125</c:v>
                </c:pt>
                <c:pt idx="10">
                  <c:v>0.76171875</c:v>
                </c:pt>
                <c:pt idx="11">
                  <c:v>0.74609375</c:v>
                </c:pt>
                <c:pt idx="12">
                  <c:v>0.72265625</c:v>
                </c:pt>
                <c:pt idx="13">
                  <c:v>0.705078125</c:v>
                </c:pt>
                <c:pt idx="14">
                  <c:v>0.68359375</c:v>
                </c:pt>
                <c:pt idx="15">
                  <c:v>0.6640625</c:v>
                </c:pt>
                <c:pt idx="16">
                  <c:v>0.6484375</c:v>
                </c:pt>
                <c:pt idx="17">
                  <c:v>0.619140625</c:v>
                </c:pt>
                <c:pt idx="18">
                  <c:v>0.59765625</c:v>
                </c:pt>
                <c:pt idx="19">
                  <c:v>0.583984375</c:v>
                </c:pt>
                <c:pt idx="20">
                  <c:v>0.56640625</c:v>
                </c:pt>
                <c:pt idx="21">
                  <c:v>0.560546875</c:v>
                </c:pt>
                <c:pt idx="22">
                  <c:v>0.546875</c:v>
                </c:pt>
                <c:pt idx="23">
                  <c:v>0.53515625</c:v>
                </c:pt>
                <c:pt idx="24">
                  <c:v>0.5234375</c:v>
                </c:pt>
                <c:pt idx="25">
                  <c:v>0.5078125</c:v>
                </c:pt>
                <c:pt idx="26">
                  <c:v>0.490234375</c:v>
                </c:pt>
              </c:numCache>
            </c:numRef>
          </c:val>
          <c:smooth val="0"/>
        </c:ser>
        <c:ser>
          <c:idx val="2"/>
          <c:order val="2"/>
          <c:tx>
            <c:v>3D T5</c:v>
          </c:tx>
          <c:spPr>
            <a:ln xmlns:a="http://schemas.openxmlformats.org/drawingml/2006/main" w="19050">
              <a:solidFill>
                <a:srgbClr val="1570EF"/>
              </a:solidFill>
            </a:ln>
          </c:spPr>
          <c:marker>
            <c:symbol val="none"/>
          </c:marker>
          <c:cat>
            <c:numRef>
              <c:f>'Chart Data'!$E$2:$E$28</c:f>
              <c:numCache>
                <c:formatCode>General</c:formatCode>
                <c:ptCount val="27"/>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numCache>
            </c:numRef>
          </c:cat>
          <c:val>
            <c:numRef>
              <c:f>'Chart Data'!$F$2:$F$28</c:f>
              <c:numCache>
                <c:formatCode>0.0</c:formatCode>
                <c:ptCount val="27"/>
                <c:pt idx="0">
                  <c:v>0.982421875</c:v>
                </c:pt>
                <c:pt idx="1">
                  <c:v>0.966796875</c:v>
                </c:pt>
                <c:pt idx="2">
                  <c:v>0.9609375</c:v>
                </c:pt>
                <c:pt idx="3">
                  <c:v>0.9140625</c:v>
                </c:pt>
                <c:pt idx="4">
                  <c:v>0.888671875</c:v>
                </c:pt>
                <c:pt idx="5">
                  <c:v>0.84375</c:v>
                </c:pt>
                <c:pt idx="6">
                  <c:v>0.8125</c:v>
                </c:pt>
                <c:pt idx="7">
                  <c:v>0.755859375</c:v>
                </c:pt>
                <c:pt idx="8">
                  <c:v>0.72265625</c:v>
                </c:pt>
                <c:pt idx="9">
                  <c:v>0.671875</c:v>
                </c:pt>
                <c:pt idx="10">
                  <c:v>0.6484375</c:v>
                </c:pt>
                <c:pt idx="11">
                  <c:v>0.6015625</c:v>
                </c:pt>
                <c:pt idx="12">
                  <c:v>0.58203125</c:v>
                </c:pt>
                <c:pt idx="13">
                  <c:v>0.55078125</c:v>
                </c:pt>
                <c:pt idx="14">
                  <c:v>0.537109375</c:v>
                </c:pt>
                <c:pt idx="15">
                  <c:v>0.51953125</c:v>
                </c:pt>
                <c:pt idx="16">
                  <c:v>0.49609375</c:v>
                </c:pt>
                <c:pt idx="17">
                  <c:v>0.453125</c:v>
                </c:pt>
                <c:pt idx="18">
                  <c:v>0.431640625</c:v>
                </c:pt>
                <c:pt idx="19">
                  <c:v>0.388671875</c:v>
                </c:pt>
                <c:pt idx="20">
                  <c:v>0.376953125</c:v>
                </c:pt>
                <c:pt idx="21">
                  <c:v>0.341796875</c:v>
                </c:pt>
                <c:pt idx="22">
                  <c:v>0.326171875</c:v>
                </c:pt>
                <c:pt idx="23">
                  <c:v>0.3046875</c:v>
                </c:pt>
                <c:pt idx="24">
                  <c:v>0.29296875</c:v>
                </c:pt>
                <c:pt idx="25">
                  <c:v>0.279296875</c:v>
                </c:pt>
                <c:pt idx="26">
                  <c:v>0.26953125</c:v>
                </c:pt>
              </c:numCache>
            </c:numRef>
          </c:val>
          <c:smooth val="0"/>
        </c:ser>
        <c:ser>
          <c:idx val="3"/>
          <c:order val="3"/>
          <c:tx>
            <c:v>3D T5 / 4096</c:v>
          </c:tx>
          <c:spPr>
            <a:ln xmlns:a="http://schemas.openxmlformats.org/drawingml/2006/main" w="28575">
              <a:solidFill>
                <a:srgbClr val="D92D20"/>
              </a:solidFill>
            </a:ln>
          </c:spPr>
          <c:marker>
            <c:symbol val="none"/>
          </c:marker>
          <c:cat>
            <c:numRef>
              <c:f>'Chart Data'!$G$2:$G$28</c:f>
              <c:numCache>
                <c:formatCode>General</c:formatCode>
                <c:ptCount val="27"/>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numCache>
            </c:numRef>
          </c:cat>
          <c:val>
            <c:numRef>
              <c:f>'Chart Data'!$H$2:$H$28</c:f>
              <c:numCache>
                <c:formatCode>0.0</c:formatCode>
                <c:ptCount val="27"/>
                <c:pt idx="0">
                  <c:v>0.975830078125</c:v>
                </c:pt>
                <c:pt idx="1">
                  <c:v>0.947509765625</c:v>
                </c:pt>
                <c:pt idx="2">
                  <c:v>0.92529296875</c:v>
                </c:pt>
                <c:pt idx="3">
                  <c:v>0.885498046875</c:v>
                </c:pt>
                <c:pt idx="4">
                  <c:v>0.857421875</c:v>
                </c:pt>
                <c:pt idx="5">
                  <c:v>0.80517578125</c:v>
                </c:pt>
                <c:pt idx="6">
                  <c:v>0.780517578125</c:v>
                </c:pt>
                <c:pt idx="7">
                  <c:v>0.730712890625</c:v>
                </c:pt>
                <c:pt idx="8">
                  <c:v>0.698974609375</c:v>
                </c:pt>
                <c:pt idx="9">
                  <c:v>0.650634765625</c:v>
                </c:pt>
                <c:pt idx="10">
                  <c:v>0.6240234375</c:v>
                </c:pt>
                <c:pt idx="11">
                  <c:v>0.583740234375</c:v>
                </c:pt>
                <c:pt idx="12">
                  <c:v>0.56396484375</c:v>
                </c:pt>
                <c:pt idx="13">
                  <c:v>0.520751953125</c:v>
                </c:pt>
                <c:pt idx="14">
                  <c:v>0.500244140625</c:v>
                </c:pt>
                <c:pt idx="15">
                  <c:v>0.462158203125</c:v>
                </c:pt>
                <c:pt idx="16">
                  <c:v>0.449951171875</c:v>
                </c:pt>
                <c:pt idx="17">
                  <c:v>0.418212890625</c:v>
                </c:pt>
                <c:pt idx="18">
                  <c:v>0.406494140625</c:v>
                </c:pt>
                <c:pt idx="19">
                  <c:v>0.3740234375</c:v>
                </c:pt>
                <c:pt idx="20">
                  <c:v>0.358642578125</c:v>
                </c:pt>
                <c:pt idx="21">
                  <c:v>0.33203125</c:v>
                </c:pt>
                <c:pt idx="22">
                  <c:v>0.3212890625</c:v>
                </c:pt>
                <c:pt idx="23">
                  <c:v>0.300537109375</c:v>
                </c:pt>
                <c:pt idx="24">
                  <c:v>0.289794921875</c:v>
                </c:pt>
                <c:pt idx="25">
                  <c:v>0.268798828125</c:v>
                </c:pt>
                <c:pt idx="26">
                  <c:v>0.260986328125</c:v>
                </c:pt>
              </c:numCache>
            </c:numRef>
          </c:val>
          <c:smooth val="0"/>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EAECF0"/>
            </a:solidFill>
          </a:ln>
        </c:spPr>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crossAx val="48672768"/>
      </c:catAx>
      <c:valAx>
        <c:axId val="48672768"/>
        <c:scaling>
          <c:orientation val="minMax"/>
          <c:max val="1"/>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Survival S(n)</a:t>
                </a:r>
              </a:p>
            </c:rich>
          </c:tx>
          <c:overlay val="0"/>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7085"/>
                </a:solidFill>
                <a:latin typeface="Microsoft YaHei"/>
                <a:ea typeface="Microsoft YaHei"/>
                <a:cs typeface="Microsoft YaHei"/>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19.xml><?xml version="1.0" encoding="utf-8"?>
<c:chartSpace xmlns:c="http://schemas.openxmlformats.org/drawingml/2006/chart" xmlns:r="http://schemas.openxmlformats.org/officeDocument/2006/relationships">
  <c:lang val="en-US"/>
  <c:chart>
    <c:plotArea>
      <c:lineChart>
        <c:grouping val="standard"/>
        <c:varyColors val="0"/>
        <c:ser>
          <c:idx val="0"/>
          <c:order val="0"/>
          <c:tx>
            <c:v>Paper</c:v>
          </c:tx>
          <c:spPr>
            <a:ln xmlns:a="http://schemas.openxmlformats.org/drawingml/2006/main" w="28575">
              <a:solidFill>
                <a:srgbClr val="102A43"/>
              </a:solidFill>
            </a:ln>
          </c:spPr>
          <c:marker>
            <c:symbol val="none"/>
          </c:marker>
          <c:cat>
            <c:numRef>
              <c:f>'Chart Data'!$A$2:$A$57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Data'!$B$2:$B$57</c:f>
              <c:numCache>
                <c:formatCode>0.0</c:formatCode>
                <c:ptCount val="56"/>
                <c:pt idx="0">
                  <c:v>0.968</c:v>
                </c:pt>
                <c:pt idx="1">
                  <c:v>0.9651</c:v>
                </c:pt>
                <c:pt idx="2">
                  <c:v>0.9534</c:v>
                </c:pt>
                <c:pt idx="3">
                  <c:v>0.9319</c:v>
                </c:pt>
                <c:pt idx="4">
                  <c:v>0.9529</c:v>
                </c:pt>
                <c:pt idx="5">
                  <c:v>0.9451</c:v>
                </c:pt>
                <c:pt idx="6">
                  <c:v>0.9213</c:v>
                </c:pt>
                <c:pt idx="7">
                  <c:v>0.8997</c:v>
                </c:pt>
                <c:pt idx="8">
                  <c:v>0.9181</c:v>
                </c:pt>
                <c:pt idx="9">
                  <c:v>0.9043</c:v>
                </c:pt>
                <c:pt idx="10">
                  <c:v>0.8809</c:v>
                </c:pt>
                <c:pt idx="11">
                  <c:v>0.871</c:v>
                </c:pt>
                <c:pt idx="12">
                  <c:v>0.8728</c:v>
                </c:pt>
                <c:pt idx="13">
                  <c:v>0.8528</c:v>
                </c:pt>
                <c:pt idx="14">
                  <c:v>0.8293</c:v>
                </c:pt>
                <c:pt idx="15">
                  <c:v>0.8236</c:v>
                </c:pt>
                <c:pt idx="16">
                  <c:v>0.8198</c:v>
                </c:pt>
                <c:pt idx="17">
                  <c:v>0.7983</c:v>
                </c:pt>
                <c:pt idx="18">
                  <c:v>0.7852</c:v>
                </c:pt>
                <c:pt idx="19">
                  <c:v>0.7713</c:v>
                </c:pt>
                <c:pt idx="20">
                  <c:v>0.7573</c:v>
                </c:pt>
                <c:pt idx="21">
                  <c:v>0.7442</c:v>
                </c:pt>
                <c:pt idx="22">
                  <c:v>0.7305</c:v>
                </c:pt>
                <c:pt idx="23">
                  <c:v>0.7164</c:v>
                </c:pt>
                <c:pt idx="24">
                  <c:v>0.6939</c:v>
                </c:pt>
                <c:pt idx="25">
                  <c:v>0.6889</c:v>
                </c:pt>
                <c:pt idx="26">
                  <c:v>0.6863</c:v>
                </c:pt>
                <c:pt idx="27">
                  <c:v>0.6657</c:v>
                </c:pt>
                <c:pt idx="28">
                  <c:v>0.6532</c:v>
                </c:pt>
                <c:pt idx="29">
                  <c:v>0.6416</c:v>
                </c:pt>
                <c:pt idx="30">
                  <c:v>0.63</c:v>
                </c:pt>
                <c:pt idx="31">
                  <c:v>0.6192</c:v>
                </c:pt>
                <c:pt idx="32">
                  <c:v>0.6076</c:v>
                </c:pt>
                <c:pt idx="33">
                  <c:v>0.5969</c:v>
                </c:pt>
                <c:pt idx="34">
                  <c:v>0.5823</c:v>
                </c:pt>
                <c:pt idx="35">
                  <c:v>0.5825</c:v>
                </c:pt>
                <c:pt idx="36">
                  <c:v>0.5772</c:v>
                </c:pt>
                <c:pt idx="37">
                  <c:v>0.5557</c:v>
                </c:pt>
                <c:pt idx="38">
                  <c:v>0.5468</c:v>
                </c:pt>
                <c:pt idx="39">
                  <c:v>0.5367</c:v>
                </c:pt>
                <c:pt idx="40">
                  <c:v>0.5282</c:v>
                </c:pt>
                <c:pt idx="41">
                  <c:v>0.5184</c:v>
                </c:pt>
                <c:pt idx="42">
                  <c:v>0.5097</c:v>
                </c:pt>
                <c:pt idx="43">
                  <c:v>0.5013</c:v>
                </c:pt>
                <c:pt idx="44">
                  <c:v>0.492</c:v>
                </c:pt>
                <c:pt idx="45">
                  <c:v>0.492</c:v>
                </c:pt>
                <c:pt idx="46">
                  <c:v>0.4875</c:v>
                </c:pt>
                <c:pt idx="47">
                  <c:v>0.4689</c:v>
                </c:pt>
                <c:pt idx="48">
                  <c:v>0.4608</c:v>
                </c:pt>
                <c:pt idx="49">
                  <c:v>0.454</c:v>
                </c:pt>
                <c:pt idx="50">
                  <c:v>0.4467</c:v>
                </c:pt>
                <c:pt idx="51">
                  <c:v>0.4393</c:v>
                </c:pt>
                <c:pt idx="52">
                  <c:v>0.4321</c:v>
                </c:pt>
                <c:pt idx="53">
                  <c:v>0.4253</c:v>
                </c:pt>
                <c:pt idx="54">
                  <c:v>0.4135</c:v>
                </c:pt>
                <c:pt idx="55">
                  <c:v>0.4135</c:v>
                </c:pt>
              </c:numCache>
            </c:numRef>
          </c:val>
          <c:smooth val="0"/>
        </c:ser>
        <c:ser>
          <c:idx val="1"/>
          <c:order val="1"/>
          <c:tx>
            <c:v>1D T5</c:v>
          </c:tx>
          <c:spPr>
            <a:ln xmlns:a="http://schemas.openxmlformats.org/drawingml/2006/main" w="19050">
              <a:solidFill>
                <a:srgbClr val="667085"/>
              </a:solidFill>
            </a:ln>
          </c:spPr>
          <c:marker>
            <c:symbol val="none"/>
          </c:marker>
          <c:cat>
            <c:numRef>
              <c:f>'Chart Data'!$C$2:$C$57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Data'!$D$2:$D$57</c:f>
              <c:numCache>
                <c:formatCode>0.0</c:formatCode>
                <c:ptCount val="56"/>
                <c:pt idx="0">
                  <c:v>1</c:v>
                </c:pt>
                <c:pt idx="1">
                  <c:v>1</c:v>
                </c:pt>
                <c:pt idx="2">
                  <c:v>1</c:v>
                </c:pt>
                <c:pt idx="3">
                  <c:v>1</c:v>
                </c:pt>
                <c:pt idx="4">
                  <c:v>1</c:v>
                </c:pt>
                <c:pt idx="5">
                  <c:v>1</c:v>
                </c:pt>
                <c:pt idx="6">
                  <c:v>0.998046875</c:v>
                </c:pt>
                <c:pt idx="7">
                  <c:v>0.998046875</c:v>
                </c:pt>
                <c:pt idx="8">
                  <c:v>0.99609375</c:v>
                </c:pt>
                <c:pt idx="9">
                  <c:v>0.99609375</c:v>
                </c:pt>
                <c:pt idx="10">
                  <c:v>0.99609375</c:v>
                </c:pt>
                <c:pt idx="11">
                  <c:v>0.99609375</c:v>
                </c:pt>
                <c:pt idx="12">
                  <c:v>0.994140625</c:v>
                </c:pt>
                <c:pt idx="13">
                  <c:v>0.994140625</c:v>
                </c:pt>
                <c:pt idx="14">
                  <c:v>0.9921875</c:v>
                </c:pt>
                <c:pt idx="15">
                  <c:v>0.9921875</c:v>
                </c:pt>
                <c:pt idx="16">
                  <c:v>0.990234375</c:v>
                </c:pt>
                <c:pt idx="17">
                  <c:v>0.990234375</c:v>
                </c:pt>
                <c:pt idx="18">
                  <c:v>0.98828125</c:v>
                </c:pt>
                <c:pt idx="19">
                  <c:v>0.98828125</c:v>
                </c:pt>
                <c:pt idx="20">
                  <c:v>0.986328125</c:v>
                </c:pt>
                <c:pt idx="21">
                  <c:v>0.986328125</c:v>
                </c:pt>
                <c:pt idx="22">
                  <c:v>0.984375</c:v>
                </c:pt>
                <c:pt idx="23">
                  <c:v>0.984375</c:v>
                </c:pt>
                <c:pt idx="24">
                  <c:v>0.984375</c:v>
                </c:pt>
                <c:pt idx="25">
                  <c:v>0.984375</c:v>
                </c:pt>
                <c:pt idx="26">
                  <c:v>0.98046875</c:v>
                </c:pt>
                <c:pt idx="27">
                  <c:v>0.98046875</c:v>
                </c:pt>
                <c:pt idx="28">
                  <c:v>0.9765625</c:v>
                </c:pt>
                <c:pt idx="29">
                  <c:v>0.9765625</c:v>
                </c:pt>
                <c:pt idx="30">
                  <c:v>0.970703125</c:v>
                </c:pt>
                <c:pt idx="31">
                  <c:v>0.970703125</c:v>
                </c:pt>
                <c:pt idx="32">
                  <c:v>0.96875</c:v>
                </c:pt>
                <c:pt idx="33">
                  <c:v>0.96875</c:v>
                </c:pt>
                <c:pt idx="34">
                  <c:v>0.96875</c:v>
                </c:pt>
                <c:pt idx="35">
                  <c:v>0.96875</c:v>
                </c:pt>
                <c:pt idx="36">
                  <c:v>0.962890625</c:v>
                </c:pt>
                <c:pt idx="37">
                  <c:v>0.962890625</c:v>
                </c:pt>
                <c:pt idx="38">
                  <c:v>0.95703125</c:v>
                </c:pt>
                <c:pt idx="39">
                  <c:v>0.95703125</c:v>
                </c:pt>
                <c:pt idx="40">
                  <c:v>0.94921875</c:v>
                </c:pt>
                <c:pt idx="41">
                  <c:v>0.94921875</c:v>
                </c:pt>
                <c:pt idx="42">
                  <c:v>0.94921875</c:v>
                </c:pt>
                <c:pt idx="43">
                  <c:v>0.94921875</c:v>
                </c:pt>
                <c:pt idx="44">
                  <c:v>0.9453125</c:v>
                </c:pt>
                <c:pt idx="45">
                  <c:v>0.9453125</c:v>
                </c:pt>
                <c:pt idx="46">
                  <c:v>0.939453125</c:v>
                </c:pt>
                <c:pt idx="47">
                  <c:v>0.939453125</c:v>
                </c:pt>
                <c:pt idx="48">
                  <c:v>0.935546875</c:v>
                </c:pt>
                <c:pt idx="49">
                  <c:v>0.935546875</c:v>
                </c:pt>
                <c:pt idx="50">
                  <c:v>0.93359375</c:v>
                </c:pt>
                <c:pt idx="51">
                  <c:v>0.93359375</c:v>
                </c:pt>
                <c:pt idx="52">
                  <c:v>0.9296875</c:v>
                </c:pt>
                <c:pt idx="53">
                  <c:v>0.9296875</c:v>
                </c:pt>
                <c:pt idx="54">
                  <c:v>0.92578125</c:v>
                </c:pt>
                <c:pt idx="55">
                  <c:v>0.92578125</c:v>
                </c:pt>
              </c:numCache>
            </c:numRef>
          </c:val>
          <c:smooth val="0"/>
        </c:ser>
        <c:ser>
          <c:idx val="2"/>
          <c:order val="2"/>
          <c:tx>
            <c:v>3D T5</c:v>
          </c:tx>
          <c:spPr>
            <a:ln xmlns:a="http://schemas.openxmlformats.org/drawingml/2006/main" w="19050">
              <a:solidFill>
                <a:srgbClr val="1570EF"/>
              </a:solidFill>
            </a:ln>
          </c:spPr>
          <c:marker>
            <c:symbol val="none"/>
          </c:marker>
          <c:cat>
            <c:numRef>
              <c:f>'Chart Data'!$E$2:$E$57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Data'!$F$2:$F$57</c:f>
              <c:numCache>
                <c:formatCode>0.0</c:formatCode>
                <c:ptCount val="56"/>
                <c:pt idx="0">
                  <c:v>1</c:v>
                </c:pt>
                <c:pt idx="1">
                  <c:v>1</c:v>
                </c:pt>
                <c:pt idx="2">
                  <c:v>1</c:v>
                </c:pt>
                <c:pt idx="3">
                  <c:v>1</c:v>
                </c:pt>
                <c:pt idx="4">
                  <c:v>1</c:v>
                </c:pt>
                <c:pt idx="5">
                  <c:v>1</c:v>
                </c:pt>
                <c:pt idx="6">
                  <c:v>1</c:v>
                </c:pt>
                <c:pt idx="7">
                  <c:v>1</c:v>
                </c:pt>
                <c:pt idx="8">
                  <c:v>0.998046875</c:v>
                </c:pt>
                <c:pt idx="9">
                  <c:v>0.998046875</c:v>
                </c:pt>
                <c:pt idx="10">
                  <c:v>0.99609375</c:v>
                </c:pt>
                <c:pt idx="11">
                  <c:v>0.99609375</c:v>
                </c:pt>
                <c:pt idx="12">
                  <c:v>0.99609375</c:v>
                </c:pt>
                <c:pt idx="13">
                  <c:v>0.99609375</c:v>
                </c:pt>
                <c:pt idx="14">
                  <c:v>0.994140625</c:v>
                </c:pt>
                <c:pt idx="15">
                  <c:v>0.994140625</c:v>
                </c:pt>
                <c:pt idx="16">
                  <c:v>0.9921875</c:v>
                </c:pt>
                <c:pt idx="17">
                  <c:v>0.9921875</c:v>
                </c:pt>
                <c:pt idx="18">
                  <c:v>0.9921875</c:v>
                </c:pt>
                <c:pt idx="19">
                  <c:v>0.9921875</c:v>
                </c:pt>
                <c:pt idx="20">
                  <c:v>0.990234375</c:v>
                </c:pt>
                <c:pt idx="21">
                  <c:v>0.98828125</c:v>
                </c:pt>
                <c:pt idx="22">
                  <c:v>0.986328125</c:v>
                </c:pt>
                <c:pt idx="23">
                  <c:v>0.986328125</c:v>
                </c:pt>
                <c:pt idx="24">
                  <c:v>0.986328125</c:v>
                </c:pt>
                <c:pt idx="25">
                  <c:v>0.984375</c:v>
                </c:pt>
                <c:pt idx="26">
                  <c:v>0.982421875</c:v>
                </c:pt>
                <c:pt idx="27">
                  <c:v>0.982421875</c:v>
                </c:pt>
                <c:pt idx="28">
                  <c:v>0.982421875</c:v>
                </c:pt>
                <c:pt idx="29">
                  <c:v>0.978515625</c:v>
                </c:pt>
                <c:pt idx="30">
                  <c:v>0.9765625</c:v>
                </c:pt>
                <c:pt idx="31">
                  <c:v>0.970703125</c:v>
                </c:pt>
                <c:pt idx="32">
                  <c:v>0.96875</c:v>
                </c:pt>
                <c:pt idx="33">
                  <c:v>0.962890625</c:v>
                </c:pt>
                <c:pt idx="34">
                  <c:v>0.962890625</c:v>
                </c:pt>
                <c:pt idx="35">
                  <c:v>0.95703125</c:v>
                </c:pt>
                <c:pt idx="36">
                  <c:v>0.951171875</c:v>
                </c:pt>
                <c:pt idx="37">
                  <c:v>0.947265625</c:v>
                </c:pt>
                <c:pt idx="38">
                  <c:v>0.947265625</c:v>
                </c:pt>
                <c:pt idx="39">
                  <c:v>0.939453125</c:v>
                </c:pt>
                <c:pt idx="40">
                  <c:v>0.935546875</c:v>
                </c:pt>
                <c:pt idx="41">
                  <c:v>0.931640625</c:v>
                </c:pt>
                <c:pt idx="42">
                  <c:v>0.927734375</c:v>
                </c:pt>
                <c:pt idx="43">
                  <c:v>0.927734375</c:v>
                </c:pt>
                <c:pt idx="44">
                  <c:v>0.923828125</c:v>
                </c:pt>
                <c:pt idx="45">
                  <c:v>0.919921875</c:v>
                </c:pt>
                <c:pt idx="46">
                  <c:v>0.919921875</c:v>
                </c:pt>
                <c:pt idx="47">
                  <c:v>0.91796875</c:v>
                </c:pt>
                <c:pt idx="48">
                  <c:v>0.91015625</c:v>
                </c:pt>
                <c:pt idx="49">
                  <c:v>0.90234375</c:v>
                </c:pt>
                <c:pt idx="50">
                  <c:v>0.900390625</c:v>
                </c:pt>
                <c:pt idx="51">
                  <c:v>0.896484375</c:v>
                </c:pt>
                <c:pt idx="52">
                  <c:v>0.896484375</c:v>
                </c:pt>
                <c:pt idx="53">
                  <c:v>0.892578125</c:v>
                </c:pt>
                <c:pt idx="54">
                  <c:v>0.892578125</c:v>
                </c:pt>
                <c:pt idx="55">
                  <c:v>0.88671875</c:v>
                </c:pt>
              </c:numCache>
            </c:numRef>
          </c:val>
          <c:smooth val="0"/>
        </c:ser>
        <c:ser>
          <c:idx val="3"/>
          <c:order val="3"/>
          <c:tx>
            <c:v>3D T15 / 4096</c:v>
          </c:tx>
          <c:spPr>
            <a:ln xmlns:a="http://schemas.openxmlformats.org/drawingml/2006/main" w="28575">
              <a:solidFill>
                <a:srgbClr val="D92D20"/>
              </a:solidFill>
            </a:ln>
          </c:spPr>
          <c:marker>
            <c:symbol val="none"/>
          </c:marker>
          <c:cat>
            <c:numRef>
              <c:f>'Chart Data'!$G$2:$G$57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Data'!$H$2:$H$57</c:f>
              <c:numCache>
                <c:formatCode>0.0</c:formatCode>
                <c:ptCount val="56"/>
                <c:pt idx="0">
                  <c:v>0.98388671875</c:v>
                </c:pt>
                <c:pt idx="1">
                  <c:v>0.979736328125</c:v>
                </c:pt>
                <c:pt idx="2">
                  <c:v>0.97607421875</c:v>
                </c:pt>
                <c:pt idx="3">
                  <c:v>0.9697265625</c:v>
                </c:pt>
                <c:pt idx="4">
                  <c:v>0.962890625</c:v>
                </c:pt>
                <c:pt idx="5">
                  <c:v>0.955322265625</c:v>
                </c:pt>
                <c:pt idx="6">
                  <c:v>0.948974609375</c:v>
                </c:pt>
                <c:pt idx="7">
                  <c:v>0.940673828125</c:v>
                </c:pt>
                <c:pt idx="8">
                  <c:v>0.93310546875</c:v>
                </c:pt>
                <c:pt idx="9">
                  <c:v>0.922607421875</c:v>
                </c:pt>
                <c:pt idx="10">
                  <c:v>0.9150390625</c:v>
                </c:pt>
                <c:pt idx="11">
                  <c:v>0.904541015625</c:v>
                </c:pt>
                <c:pt idx="12">
                  <c:v>0.900146484375</c:v>
                </c:pt>
                <c:pt idx="13">
                  <c:v>0.89013671875</c:v>
                </c:pt>
                <c:pt idx="14">
                  <c:v>0.880859375</c:v>
                </c:pt>
                <c:pt idx="15">
                  <c:v>0.866455078125</c:v>
                </c:pt>
                <c:pt idx="16">
                  <c:v>0.860107421875</c:v>
                </c:pt>
                <c:pt idx="17">
                  <c:v>0.85107421875</c:v>
                </c:pt>
                <c:pt idx="18">
                  <c:v>0.84375</c:v>
                </c:pt>
                <c:pt idx="19">
                  <c:v>0.831298828125</c:v>
                </c:pt>
                <c:pt idx="20">
                  <c:v>0.822021484375</c:v>
                </c:pt>
                <c:pt idx="21">
                  <c:v>0.81005859375</c:v>
                </c:pt>
                <c:pt idx="22">
                  <c:v>0.80224609375</c:v>
                </c:pt>
                <c:pt idx="23">
                  <c:v>0.788330078125</c:v>
                </c:pt>
                <c:pt idx="24">
                  <c:v>0.778564453125</c:v>
                </c:pt>
                <c:pt idx="25">
                  <c:v>0.763427734375</c:v>
                </c:pt>
                <c:pt idx="26">
                  <c:v>0.754638671875</c:v>
                </c:pt>
                <c:pt idx="27">
                  <c:v>0.74072265625</c:v>
                </c:pt>
                <c:pt idx="28">
                  <c:v>0.73291015625</c:v>
                </c:pt>
                <c:pt idx="29">
                  <c:v>0.72314453125</c:v>
                </c:pt>
                <c:pt idx="30">
                  <c:v>0.713623046875</c:v>
                </c:pt>
                <c:pt idx="31">
                  <c:v>0.70263671875</c:v>
                </c:pt>
                <c:pt idx="32">
                  <c:v>0.696533203125</c:v>
                </c:pt>
                <c:pt idx="33">
                  <c:v>0.688232421875</c:v>
                </c:pt>
                <c:pt idx="34">
                  <c:v>0.680419921875</c:v>
                </c:pt>
                <c:pt idx="35">
                  <c:v>0.667236328125</c:v>
                </c:pt>
                <c:pt idx="36">
                  <c:v>0.6611328125</c:v>
                </c:pt>
                <c:pt idx="37">
                  <c:v>0.653076171875</c:v>
                </c:pt>
                <c:pt idx="38">
                  <c:v>0.644775390625</c:v>
                </c:pt>
                <c:pt idx="39">
                  <c:v>0.630859375</c:v>
                </c:pt>
                <c:pt idx="40">
                  <c:v>0.62109375</c:v>
                </c:pt>
                <c:pt idx="41">
                  <c:v>0.607666015625</c:v>
                </c:pt>
                <c:pt idx="42">
                  <c:v>0.6005859375</c:v>
                </c:pt>
                <c:pt idx="43">
                  <c:v>0.586669921875</c:v>
                </c:pt>
                <c:pt idx="44">
                  <c:v>0.58056640625</c:v>
                </c:pt>
                <c:pt idx="45">
                  <c:v>0.5673828125</c:v>
                </c:pt>
                <c:pt idx="46">
                  <c:v>0.5634765625</c:v>
                </c:pt>
                <c:pt idx="47">
                  <c:v>0.5546875</c:v>
                </c:pt>
                <c:pt idx="48">
                  <c:v>0.548583984375</c:v>
                </c:pt>
                <c:pt idx="49">
                  <c:v>0.536865234375</c:v>
                </c:pt>
                <c:pt idx="50">
                  <c:v>0.531494140625</c:v>
                </c:pt>
                <c:pt idx="51">
                  <c:v>0.52294921875</c:v>
                </c:pt>
                <c:pt idx="52">
                  <c:v>0.517822265625</c:v>
                </c:pt>
                <c:pt idx="53">
                  <c:v>0.50927734375</c:v>
                </c:pt>
                <c:pt idx="54">
                  <c:v>0.50341796875</c:v>
                </c:pt>
                <c:pt idx="55">
                  <c:v>0.494873046875</c:v>
                </c:pt>
              </c:numCache>
            </c:numRef>
          </c:val>
          <c:smooth val="0"/>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EAECF0"/>
            </a:solidFill>
          </a:ln>
        </c:spPr>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crossAx val="48672768"/>
      </c:catAx>
      <c:valAx>
        <c:axId val="48672768"/>
        <c:scaling>
          <c:orientation val="minMax"/>
          <c:max val="1"/>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Survival S(n)</a:t>
                </a:r>
              </a:p>
            </c:rich>
          </c:tx>
          <c:overlay val="0"/>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7085"/>
                </a:solidFill>
                <a:latin typeface="Microsoft YaHei"/>
                <a:ea typeface="Microsoft YaHei"/>
                <a:cs typeface="Microsoft YaHei"/>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20.xml><?xml version="1.0" encoding="utf-8"?>
<c:chartSpace xmlns:c="http://schemas.openxmlformats.org/drawingml/2006/chart" xmlns:r="http://schemas.openxmlformats.org/officeDocument/2006/relationships">
  <c:lang val="en-US"/>
  <c:chart>
    <c:plotArea>
      <c:lineChart>
        <c:grouping val="standard"/>
        <c:varyColors val="0"/>
        <c:ser>
          <c:idx val="0"/>
          <c:order val="0"/>
          <c:tx>
            <c:v>Paper</c:v>
          </c:tx>
          <c:spPr>
            <a:ln xmlns:a="http://schemas.openxmlformats.org/drawingml/2006/main" w="28575">
              <a:solidFill>
                <a:srgbClr val="102A43"/>
              </a:solidFill>
            </a:ln>
          </c:spPr>
          <c:marker>
            <c:symbol val="none"/>
          </c:marker>
          <c:cat>
            <c:numRef>
              <c:f>'Chart Data'!$A$2:$A$57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Data'!$B$2:$B$57</c:f>
              <c:numCache>
                <c:formatCode>0.0</c:formatCode>
                <c:ptCount val="56"/>
                <c:pt idx="0">
                  <c:v>0.9706</c:v>
                </c:pt>
                <c:pt idx="1">
                  <c:v>0.9719</c:v>
                </c:pt>
                <c:pt idx="2">
                  <c:v>0.9699</c:v>
                </c:pt>
                <c:pt idx="3">
                  <c:v>0.9682</c:v>
                </c:pt>
                <c:pt idx="4">
                  <c:v>0.9664</c:v>
                </c:pt>
                <c:pt idx="5">
                  <c:v>0.9637</c:v>
                </c:pt>
                <c:pt idx="6">
                  <c:v>0.9474</c:v>
                </c:pt>
                <c:pt idx="7">
                  <c:v>0.9259</c:v>
                </c:pt>
                <c:pt idx="8">
                  <c:v>0.9471</c:v>
                </c:pt>
                <c:pt idx="9">
                  <c:v>0.9511</c:v>
                </c:pt>
                <c:pt idx="10">
                  <c:v>0.9339</c:v>
                </c:pt>
                <c:pt idx="11">
                  <c:v>0.9139</c:v>
                </c:pt>
                <c:pt idx="12">
                  <c:v>0.9331</c:v>
                </c:pt>
                <c:pt idx="13">
                  <c:v>0.9296</c:v>
                </c:pt>
                <c:pt idx="14">
                  <c:v>0.9093</c:v>
                </c:pt>
                <c:pt idx="15">
                  <c:v>0.8886</c:v>
                </c:pt>
                <c:pt idx="16">
                  <c:v>0.9078</c:v>
                </c:pt>
                <c:pt idx="17">
                  <c:v>0.8958</c:v>
                </c:pt>
                <c:pt idx="18">
                  <c:v>0.8861</c:v>
                </c:pt>
                <c:pt idx="19">
                  <c:v>0.8776</c:v>
                </c:pt>
                <c:pt idx="20">
                  <c:v>0.8677</c:v>
                </c:pt>
                <c:pt idx="21">
                  <c:v>0.8581</c:v>
                </c:pt>
                <c:pt idx="22">
                  <c:v>0.8489</c:v>
                </c:pt>
                <c:pt idx="23">
                  <c:v>0.8388</c:v>
                </c:pt>
                <c:pt idx="24">
                  <c:v>0.8188</c:v>
                </c:pt>
                <c:pt idx="25">
                  <c:v>0.8152</c:v>
                </c:pt>
                <c:pt idx="26">
                  <c:v>0.8152</c:v>
                </c:pt>
                <c:pt idx="27">
                  <c:v>0.8014</c:v>
                </c:pt>
                <c:pt idx="28">
                  <c:v>0.7916</c:v>
                </c:pt>
                <c:pt idx="29">
                  <c:v>0.7817</c:v>
                </c:pt>
                <c:pt idx="30">
                  <c:v>0.7723</c:v>
                </c:pt>
                <c:pt idx="31">
                  <c:v>0.7629</c:v>
                </c:pt>
                <c:pt idx="32">
                  <c:v>0.7528</c:v>
                </c:pt>
                <c:pt idx="33">
                  <c:v>0.7437</c:v>
                </c:pt>
                <c:pt idx="34">
                  <c:v>0.727</c:v>
                </c:pt>
                <c:pt idx="35">
                  <c:v>0.7259</c:v>
                </c:pt>
                <c:pt idx="36">
                  <c:v>0.7249</c:v>
                </c:pt>
                <c:pt idx="37">
                  <c:v>0.7082</c:v>
                </c:pt>
                <c:pt idx="38">
                  <c:v>0.6991</c:v>
                </c:pt>
                <c:pt idx="39">
                  <c:v>0.6909</c:v>
                </c:pt>
                <c:pt idx="40">
                  <c:v>0.6826</c:v>
                </c:pt>
                <c:pt idx="41">
                  <c:v>0.6744</c:v>
                </c:pt>
                <c:pt idx="42">
                  <c:v>0.6662</c:v>
                </c:pt>
                <c:pt idx="43">
                  <c:v>0.6582</c:v>
                </c:pt>
                <c:pt idx="44">
                  <c:v>0.6498</c:v>
                </c:pt>
                <c:pt idx="45">
                  <c:v>0.6498</c:v>
                </c:pt>
                <c:pt idx="46">
                  <c:v>0.6459</c:v>
                </c:pt>
                <c:pt idx="47">
                  <c:v>0.6275</c:v>
                </c:pt>
                <c:pt idx="48">
                  <c:v>0.6203</c:v>
                </c:pt>
                <c:pt idx="49">
                  <c:v>0.6135</c:v>
                </c:pt>
                <c:pt idx="50">
                  <c:v>0.6062</c:v>
                </c:pt>
                <c:pt idx="51">
                  <c:v>0.5996</c:v>
                </c:pt>
                <c:pt idx="52">
                  <c:v>0.5929</c:v>
                </c:pt>
                <c:pt idx="53">
                  <c:v>0.5857</c:v>
                </c:pt>
                <c:pt idx="54">
                  <c:v>0.5732</c:v>
                </c:pt>
                <c:pt idx="55">
                  <c:v>0.5726</c:v>
                </c:pt>
              </c:numCache>
            </c:numRef>
          </c:val>
          <c:smooth val="0"/>
        </c:ser>
        <c:ser>
          <c:idx val="1"/>
          <c:order val="1"/>
          <c:tx>
            <c:v>1D T5</c:v>
          </c:tx>
          <c:spPr>
            <a:ln xmlns:a="http://schemas.openxmlformats.org/drawingml/2006/main" w="19050">
              <a:solidFill>
                <a:srgbClr val="667085"/>
              </a:solidFill>
            </a:ln>
          </c:spPr>
          <c:marker>
            <c:symbol val="none"/>
          </c:marker>
          <c:cat>
            <c:numRef>
              <c:f>'Chart Data'!$C$2:$C$57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Data'!$D$2:$D$57</c:f>
              <c:numCache>
                <c:formatCode>0.0</c:formatCode>
                <c:ptCount val="56"/>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0.998046875</c:v>
                </c:pt>
                <c:pt idx="17">
                  <c:v>0.998046875</c:v>
                </c:pt>
                <c:pt idx="18">
                  <c:v>0.998046875</c:v>
                </c:pt>
                <c:pt idx="19">
                  <c:v>0.998046875</c:v>
                </c:pt>
                <c:pt idx="20">
                  <c:v>0.998046875</c:v>
                </c:pt>
                <c:pt idx="21">
                  <c:v>0.998046875</c:v>
                </c:pt>
                <c:pt idx="22">
                  <c:v>0.998046875</c:v>
                </c:pt>
                <c:pt idx="23">
                  <c:v>0.998046875</c:v>
                </c:pt>
                <c:pt idx="24">
                  <c:v>0.998046875</c:v>
                </c:pt>
                <c:pt idx="25">
                  <c:v>0.998046875</c:v>
                </c:pt>
                <c:pt idx="26">
                  <c:v>0.998046875</c:v>
                </c:pt>
                <c:pt idx="27">
                  <c:v>0.998046875</c:v>
                </c:pt>
                <c:pt idx="28">
                  <c:v>0.998046875</c:v>
                </c:pt>
                <c:pt idx="29">
                  <c:v>0.998046875</c:v>
                </c:pt>
                <c:pt idx="30">
                  <c:v>0.99609375</c:v>
                </c:pt>
                <c:pt idx="31">
                  <c:v>0.99609375</c:v>
                </c:pt>
                <c:pt idx="32">
                  <c:v>0.99609375</c:v>
                </c:pt>
                <c:pt idx="33">
                  <c:v>0.99609375</c:v>
                </c:pt>
                <c:pt idx="34">
                  <c:v>0.99609375</c:v>
                </c:pt>
                <c:pt idx="35">
                  <c:v>0.99609375</c:v>
                </c:pt>
                <c:pt idx="36">
                  <c:v>0.99609375</c:v>
                </c:pt>
                <c:pt idx="37">
                  <c:v>0.99609375</c:v>
                </c:pt>
                <c:pt idx="38">
                  <c:v>0.99609375</c:v>
                </c:pt>
                <c:pt idx="39">
                  <c:v>0.99609375</c:v>
                </c:pt>
                <c:pt idx="40">
                  <c:v>0.99609375</c:v>
                </c:pt>
                <c:pt idx="41">
                  <c:v>0.99609375</c:v>
                </c:pt>
                <c:pt idx="42">
                  <c:v>0.9921875</c:v>
                </c:pt>
                <c:pt idx="43">
                  <c:v>0.9921875</c:v>
                </c:pt>
                <c:pt idx="44">
                  <c:v>0.990234375</c:v>
                </c:pt>
                <c:pt idx="45">
                  <c:v>0.990234375</c:v>
                </c:pt>
                <c:pt idx="46">
                  <c:v>0.990234375</c:v>
                </c:pt>
                <c:pt idx="47">
                  <c:v>0.990234375</c:v>
                </c:pt>
                <c:pt idx="48">
                  <c:v>0.990234375</c:v>
                </c:pt>
                <c:pt idx="49">
                  <c:v>0.990234375</c:v>
                </c:pt>
                <c:pt idx="50">
                  <c:v>0.990234375</c:v>
                </c:pt>
                <c:pt idx="51">
                  <c:v>0.990234375</c:v>
                </c:pt>
                <c:pt idx="52">
                  <c:v>0.990234375</c:v>
                </c:pt>
                <c:pt idx="53">
                  <c:v>0.990234375</c:v>
                </c:pt>
                <c:pt idx="54">
                  <c:v>0.98828125</c:v>
                </c:pt>
                <c:pt idx="55">
                  <c:v>0.98828125</c:v>
                </c:pt>
              </c:numCache>
            </c:numRef>
          </c:val>
          <c:smooth val="0"/>
        </c:ser>
        <c:ser>
          <c:idx val="2"/>
          <c:order val="2"/>
          <c:tx>
            <c:v>3D T5</c:v>
          </c:tx>
          <c:spPr>
            <a:ln xmlns:a="http://schemas.openxmlformats.org/drawingml/2006/main" w="19050">
              <a:solidFill>
                <a:srgbClr val="1570EF"/>
              </a:solidFill>
            </a:ln>
          </c:spPr>
          <c:marker>
            <c:symbol val="none"/>
          </c:marker>
          <c:cat>
            <c:numRef>
              <c:f>'Chart Data'!$E$2:$E$57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Data'!$F$2:$F$57</c:f>
              <c:numCache>
                <c:formatCode>0.0</c:formatCode>
                <c:ptCount val="56"/>
                <c:pt idx="0">
                  <c:v>1</c:v>
                </c:pt>
                <c:pt idx="1">
                  <c:v>1</c:v>
                </c:pt>
                <c:pt idx="2">
                  <c:v>1</c:v>
                </c:pt>
                <c:pt idx="3">
                  <c:v>1</c:v>
                </c:pt>
                <c:pt idx="4">
                  <c:v>1</c:v>
                </c:pt>
                <c:pt idx="5">
                  <c:v>1</c:v>
                </c:pt>
                <c:pt idx="6">
                  <c:v>1</c:v>
                </c:pt>
                <c:pt idx="7">
                  <c:v>1</c:v>
                </c:pt>
                <c:pt idx="8">
                  <c:v>1</c:v>
                </c:pt>
                <c:pt idx="9">
                  <c:v>1</c:v>
                </c:pt>
                <c:pt idx="10">
                  <c:v>0.998046875</c:v>
                </c:pt>
                <c:pt idx="11">
                  <c:v>0.998046875</c:v>
                </c:pt>
                <c:pt idx="12">
                  <c:v>0.998046875</c:v>
                </c:pt>
                <c:pt idx="13">
                  <c:v>0.998046875</c:v>
                </c:pt>
                <c:pt idx="14">
                  <c:v>0.998046875</c:v>
                </c:pt>
                <c:pt idx="15">
                  <c:v>0.998046875</c:v>
                </c:pt>
                <c:pt idx="16">
                  <c:v>0.998046875</c:v>
                </c:pt>
                <c:pt idx="17">
                  <c:v>0.998046875</c:v>
                </c:pt>
                <c:pt idx="18">
                  <c:v>0.998046875</c:v>
                </c:pt>
                <c:pt idx="19">
                  <c:v>0.998046875</c:v>
                </c:pt>
                <c:pt idx="20">
                  <c:v>0.998046875</c:v>
                </c:pt>
                <c:pt idx="21">
                  <c:v>0.998046875</c:v>
                </c:pt>
                <c:pt idx="22">
                  <c:v>0.998046875</c:v>
                </c:pt>
                <c:pt idx="23">
                  <c:v>0.998046875</c:v>
                </c:pt>
                <c:pt idx="24">
                  <c:v>0.998046875</c:v>
                </c:pt>
                <c:pt idx="25">
                  <c:v>0.998046875</c:v>
                </c:pt>
                <c:pt idx="26">
                  <c:v>0.998046875</c:v>
                </c:pt>
                <c:pt idx="27">
                  <c:v>0.998046875</c:v>
                </c:pt>
                <c:pt idx="28">
                  <c:v>0.998046875</c:v>
                </c:pt>
                <c:pt idx="29">
                  <c:v>0.998046875</c:v>
                </c:pt>
                <c:pt idx="30">
                  <c:v>0.998046875</c:v>
                </c:pt>
                <c:pt idx="31">
                  <c:v>0.998046875</c:v>
                </c:pt>
                <c:pt idx="32">
                  <c:v>0.998046875</c:v>
                </c:pt>
                <c:pt idx="33">
                  <c:v>0.998046875</c:v>
                </c:pt>
                <c:pt idx="34">
                  <c:v>0.998046875</c:v>
                </c:pt>
                <c:pt idx="35">
                  <c:v>0.998046875</c:v>
                </c:pt>
                <c:pt idx="36">
                  <c:v>0.998046875</c:v>
                </c:pt>
                <c:pt idx="37">
                  <c:v>0.998046875</c:v>
                </c:pt>
                <c:pt idx="38">
                  <c:v>0.998046875</c:v>
                </c:pt>
                <c:pt idx="39">
                  <c:v>0.998046875</c:v>
                </c:pt>
                <c:pt idx="40">
                  <c:v>0.998046875</c:v>
                </c:pt>
                <c:pt idx="41">
                  <c:v>0.998046875</c:v>
                </c:pt>
                <c:pt idx="42">
                  <c:v>0.998046875</c:v>
                </c:pt>
                <c:pt idx="43">
                  <c:v>0.998046875</c:v>
                </c:pt>
                <c:pt idx="44">
                  <c:v>0.998046875</c:v>
                </c:pt>
                <c:pt idx="45">
                  <c:v>0.998046875</c:v>
                </c:pt>
                <c:pt idx="46">
                  <c:v>0.998046875</c:v>
                </c:pt>
                <c:pt idx="47">
                  <c:v>0.998046875</c:v>
                </c:pt>
                <c:pt idx="48">
                  <c:v>0.998046875</c:v>
                </c:pt>
                <c:pt idx="49">
                  <c:v>0.998046875</c:v>
                </c:pt>
                <c:pt idx="50">
                  <c:v>0.998046875</c:v>
                </c:pt>
                <c:pt idx="51">
                  <c:v>0.998046875</c:v>
                </c:pt>
                <c:pt idx="52">
                  <c:v>0.998046875</c:v>
                </c:pt>
                <c:pt idx="53">
                  <c:v>0.998046875</c:v>
                </c:pt>
                <c:pt idx="54">
                  <c:v>0.998046875</c:v>
                </c:pt>
                <c:pt idx="55">
                  <c:v>0.998046875</c:v>
                </c:pt>
              </c:numCache>
            </c:numRef>
          </c:val>
          <c:smooth val="0"/>
        </c:ser>
        <c:ser>
          <c:idx val="3"/>
          <c:order val="3"/>
          <c:tx>
            <c:v>3D T25 / 4096</c:v>
          </c:tx>
          <c:spPr>
            <a:ln xmlns:a="http://schemas.openxmlformats.org/drawingml/2006/main" w="28575">
              <a:solidFill>
                <a:srgbClr val="D92D20"/>
              </a:solidFill>
            </a:ln>
          </c:spPr>
          <c:marker>
            <c:symbol val="none"/>
          </c:marker>
          <c:cat>
            <c:numRef>
              <c:f>'Chart Data'!$G$2:$G$57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Data'!$H$2:$H$57</c:f>
              <c:numCache>
                <c:formatCode>0.0</c:formatCode>
                <c:ptCount val="56"/>
                <c:pt idx="0">
                  <c:v>0.9482421875</c:v>
                </c:pt>
                <c:pt idx="1">
                  <c:v>0.9365234375</c:v>
                </c:pt>
                <c:pt idx="2">
                  <c:v>0.930419921875</c:v>
                </c:pt>
                <c:pt idx="3">
                  <c:v>0.919189453125</c:v>
                </c:pt>
                <c:pt idx="4">
                  <c:v>0.9130859375</c:v>
                </c:pt>
                <c:pt idx="5">
                  <c:v>0.90380859375</c:v>
                </c:pt>
                <c:pt idx="6">
                  <c:v>0.898681640625</c:v>
                </c:pt>
                <c:pt idx="7">
                  <c:v>0.891845703125</c:v>
                </c:pt>
                <c:pt idx="8">
                  <c:v>0.88671875</c:v>
                </c:pt>
                <c:pt idx="9">
                  <c:v>0.880859375</c:v>
                </c:pt>
                <c:pt idx="10">
                  <c:v>0.874267578125</c:v>
                </c:pt>
                <c:pt idx="11">
                  <c:v>0.864501953125</c:v>
                </c:pt>
                <c:pt idx="12">
                  <c:v>0.859619140625</c:v>
                </c:pt>
                <c:pt idx="13">
                  <c:v>0.852294921875</c:v>
                </c:pt>
                <c:pt idx="14">
                  <c:v>0.8505859375</c:v>
                </c:pt>
                <c:pt idx="15">
                  <c:v>0.842529296875</c:v>
                </c:pt>
                <c:pt idx="16">
                  <c:v>0.838623046875</c:v>
                </c:pt>
                <c:pt idx="17">
                  <c:v>0.829833984375</c:v>
                </c:pt>
                <c:pt idx="18">
                  <c:v>0.82470703125</c:v>
                </c:pt>
                <c:pt idx="19">
                  <c:v>0.8173828125</c:v>
                </c:pt>
                <c:pt idx="20">
                  <c:v>0.8134765625</c:v>
                </c:pt>
                <c:pt idx="21">
                  <c:v>0.8076171875</c:v>
                </c:pt>
                <c:pt idx="22">
                  <c:v>0.803466796875</c:v>
                </c:pt>
                <c:pt idx="23">
                  <c:v>0.79345703125</c:v>
                </c:pt>
                <c:pt idx="24">
                  <c:v>0.78955078125</c:v>
                </c:pt>
                <c:pt idx="25">
                  <c:v>0.781494140625</c:v>
                </c:pt>
                <c:pt idx="26">
                  <c:v>0.777099609375</c:v>
                </c:pt>
                <c:pt idx="27">
                  <c:v>0.76904296875</c:v>
                </c:pt>
                <c:pt idx="28">
                  <c:v>0.76611328125</c:v>
                </c:pt>
                <c:pt idx="29">
                  <c:v>0.759765625</c:v>
                </c:pt>
                <c:pt idx="30">
                  <c:v>0.755859375</c:v>
                </c:pt>
                <c:pt idx="31">
                  <c:v>0.75048828125</c:v>
                </c:pt>
                <c:pt idx="32">
                  <c:v>0.74658203125</c:v>
                </c:pt>
                <c:pt idx="33">
                  <c:v>0.739501953125</c:v>
                </c:pt>
                <c:pt idx="34">
                  <c:v>0.734130859375</c:v>
                </c:pt>
                <c:pt idx="35">
                  <c:v>0.72802734375</c:v>
                </c:pt>
                <c:pt idx="36">
                  <c:v>0.72412109375</c:v>
                </c:pt>
                <c:pt idx="37">
                  <c:v>0.71875</c:v>
                </c:pt>
                <c:pt idx="38">
                  <c:v>0.716064453125</c:v>
                </c:pt>
                <c:pt idx="39">
                  <c:v>0.709716796875</c:v>
                </c:pt>
                <c:pt idx="40">
                  <c:v>0.704345703125</c:v>
                </c:pt>
                <c:pt idx="41">
                  <c:v>0.6982421875</c:v>
                </c:pt>
                <c:pt idx="42">
                  <c:v>0.6943359375</c:v>
                </c:pt>
                <c:pt idx="43">
                  <c:v>0.686767578125</c:v>
                </c:pt>
                <c:pt idx="44">
                  <c:v>0.681640625</c:v>
                </c:pt>
                <c:pt idx="45">
                  <c:v>0.67529296875</c:v>
                </c:pt>
                <c:pt idx="46">
                  <c:v>0.672119140625</c:v>
                </c:pt>
                <c:pt idx="47">
                  <c:v>0.6669921875</c:v>
                </c:pt>
                <c:pt idx="48">
                  <c:v>0.662841796875</c:v>
                </c:pt>
                <c:pt idx="49">
                  <c:v>0.655517578125</c:v>
                </c:pt>
                <c:pt idx="50">
                  <c:v>0.65234375</c:v>
                </c:pt>
                <c:pt idx="51">
                  <c:v>0.64697265625</c:v>
                </c:pt>
                <c:pt idx="52">
                  <c:v>0.642578125</c:v>
                </c:pt>
                <c:pt idx="53">
                  <c:v>0.6376953125</c:v>
                </c:pt>
                <c:pt idx="54">
                  <c:v>0.633544921875</c:v>
                </c:pt>
                <c:pt idx="55">
                  <c:v>0.62841796875</c:v>
                </c:pt>
              </c:numCache>
            </c:numRef>
          </c:val>
          <c:smooth val="0"/>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EAECF0"/>
            </a:solidFill>
          </a:ln>
        </c:spPr>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crossAx val="48672768"/>
      </c:catAx>
      <c:valAx>
        <c:axId val="48672768"/>
        <c:scaling>
          <c:orientation val="minMax"/>
          <c:max val="1"/>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Survival S(n)</a:t>
                </a:r>
              </a:p>
            </c:rich>
          </c:tx>
          <c:overlay val="0"/>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7085"/>
                </a:solidFill>
                <a:latin typeface="Microsoft YaHei"/>
                <a:ea typeface="Microsoft YaHei"/>
                <a:cs typeface="Microsoft YaHei"/>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21.xml><?xml version="1.0" encoding="utf-8"?>
<c:chartSpace xmlns:c="http://schemas.openxmlformats.org/drawingml/2006/chart" xmlns:r="http://schemas.openxmlformats.org/officeDocument/2006/relationships">
  <c:lang val="en-US"/>
  <c:chart>
    <c:plotArea>
      <c:lineChart>
        <c:grouping val="standard"/>
        <c:varyColors val="0"/>
        <c:ser>
          <c:idx val="0"/>
          <c:order val="0"/>
          <c:tx>
            <c:v>Paper</c:v>
          </c:tx>
          <c:spPr>
            <a:ln xmlns:a="http://schemas.openxmlformats.org/drawingml/2006/main" w="28575">
              <a:solidFill>
                <a:srgbClr val="102A43"/>
              </a:solidFill>
            </a:ln>
          </c:spPr>
          <c:marker>
            <c:symbol val="none"/>
          </c:marker>
          <c:cat>
            <c:numRef>
              <c:f>'Chart Data'!$A$2:$A$57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Data'!$B$2:$B$57</c:f>
              <c:numCache>
                <c:formatCode>0.0</c:formatCode>
                <c:ptCount val="56"/>
                <c:pt idx="0">
                  <c:v>0.9899</c:v>
                </c:pt>
                <c:pt idx="1">
                  <c:v>0.9831</c:v>
                </c:pt>
                <c:pt idx="2">
                  <c:v>0.9823</c:v>
                </c:pt>
                <c:pt idx="3">
                  <c:v>0.9823</c:v>
                </c:pt>
                <c:pt idx="4">
                  <c:v>0.9823</c:v>
                </c:pt>
                <c:pt idx="5">
                  <c:v>0.9755</c:v>
                </c:pt>
                <c:pt idx="6">
                  <c:v>0.9713</c:v>
                </c:pt>
                <c:pt idx="7">
                  <c:v>0.9721</c:v>
                </c:pt>
                <c:pt idx="8">
                  <c:v>0.9722</c:v>
                </c:pt>
                <c:pt idx="9">
                  <c:v>0.9671</c:v>
                </c:pt>
                <c:pt idx="10">
                  <c:v>0.9595</c:v>
                </c:pt>
                <c:pt idx="11">
                  <c:v>0.9587</c:v>
                </c:pt>
                <c:pt idx="12">
                  <c:v>0.9586</c:v>
                </c:pt>
                <c:pt idx="13">
                  <c:v>0.9532</c:v>
                </c:pt>
                <c:pt idx="14">
                  <c:v>0.9416</c:v>
                </c:pt>
                <c:pt idx="15">
                  <c:v>0.9401</c:v>
                </c:pt>
                <c:pt idx="16">
                  <c:v>0.9409</c:v>
                </c:pt>
                <c:pt idx="17">
                  <c:v>0.935</c:v>
                </c:pt>
                <c:pt idx="18">
                  <c:v>0.9297</c:v>
                </c:pt>
                <c:pt idx="19">
                  <c:v>0.924</c:v>
                </c:pt>
                <c:pt idx="20">
                  <c:v>0.9181</c:v>
                </c:pt>
                <c:pt idx="21">
                  <c:v>0.9118</c:v>
                </c:pt>
                <c:pt idx="22">
                  <c:v>0.906</c:v>
                </c:pt>
                <c:pt idx="23">
                  <c:v>0.8995</c:v>
                </c:pt>
                <c:pt idx="24">
                  <c:v>0.8979</c:v>
                </c:pt>
                <c:pt idx="25">
                  <c:v>0.8987</c:v>
                </c:pt>
                <c:pt idx="26">
                  <c:v>0.8925</c:v>
                </c:pt>
                <c:pt idx="27">
                  <c:v>0.8723</c:v>
                </c:pt>
                <c:pt idx="28">
                  <c:v>0.8643</c:v>
                </c:pt>
                <c:pt idx="29">
                  <c:v>0.8574</c:v>
                </c:pt>
                <c:pt idx="30">
                  <c:v>0.8506</c:v>
                </c:pt>
                <c:pt idx="31">
                  <c:v>0.8429</c:v>
                </c:pt>
                <c:pt idx="32">
                  <c:v>0.8355</c:v>
                </c:pt>
                <c:pt idx="33">
                  <c:v>0.8287</c:v>
                </c:pt>
                <c:pt idx="34">
                  <c:v>0.8156</c:v>
                </c:pt>
                <c:pt idx="35">
                  <c:v>0.8152</c:v>
                </c:pt>
                <c:pt idx="36">
                  <c:v>0.8143</c:v>
                </c:pt>
                <c:pt idx="37">
                  <c:v>0.8</c:v>
                </c:pt>
                <c:pt idx="38">
                  <c:v>0.7923</c:v>
                </c:pt>
                <c:pt idx="39">
                  <c:v>0.7848</c:v>
                </c:pt>
                <c:pt idx="40">
                  <c:v>0.7781</c:v>
                </c:pt>
                <c:pt idx="41">
                  <c:v>0.7706</c:v>
                </c:pt>
                <c:pt idx="42">
                  <c:v>0.7632</c:v>
                </c:pt>
                <c:pt idx="43">
                  <c:v>0.7561</c:v>
                </c:pt>
                <c:pt idx="44">
                  <c:v>0.7417</c:v>
                </c:pt>
                <c:pt idx="45">
                  <c:v>0.7409</c:v>
                </c:pt>
                <c:pt idx="46">
                  <c:v>0.7404</c:v>
                </c:pt>
                <c:pt idx="47">
                  <c:v>0.7279</c:v>
                </c:pt>
                <c:pt idx="48">
                  <c:v>0.7207</c:v>
                </c:pt>
                <c:pt idx="49">
                  <c:v>0.714</c:v>
                </c:pt>
                <c:pt idx="50">
                  <c:v>0.7074</c:v>
                </c:pt>
                <c:pt idx="51">
                  <c:v>0.7009</c:v>
                </c:pt>
                <c:pt idx="52">
                  <c:v>0.6943</c:v>
                </c:pt>
                <c:pt idx="53">
                  <c:v>0.687</c:v>
                </c:pt>
                <c:pt idx="54">
                  <c:v>0.6688</c:v>
                </c:pt>
                <c:pt idx="55">
                  <c:v>0.6633</c:v>
                </c:pt>
              </c:numCache>
            </c:numRef>
          </c:val>
          <c:smooth val="0"/>
        </c:ser>
        <c:ser>
          <c:idx val="1"/>
          <c:order val="1"/>
          <c:tx>
            <c:v>1D T5</c:v>
          </c:tx>
          <c:spPr>
            <a:ln xmlns:a="http://schemas.openxmlformats.org/drawingml/2006/main" w="19050">
              <a:solidFill>
                <a:srgbClr val="667085"/>
              </a:solidFill>
            </a:ln>
          </c:spPr>
          <c:marker>
            <c:symbol val="none"/>
          </c:marker>
          <c:cat>
            <c:numRef>
              <c:f>'Chart Data'!$C$2:$C$57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Data'!$D$2:$D$57</c:f>
              <c:numCache>
                <c:formatCode>0.0</c:formatCode>
                <c:ptCount val="56"/>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numCache>
            </c:numRef>
          </c:val>
          <c:smooth val="0"/>
        </c:ser>
        <c:ser>
          <c:idx val="2"/>
          <c:order val="2"/>
          <c:tx>
            <c:v>3D T5</c:v>
          </c:tx>
          <c:spPr>
            <a:ln xmlns:a="http://schemas.openxmlformats.org/drawingml/2006/main" w="19050">
              <a:solidFill>
                <a:srgbClr val="1570EF"/>
              </a:solidFill>
            </a:ln>
          </c:spPr>
          <c:marker>
            <c:symbol val="none"/>
          </c:marker>
          <c:cat>
            <c:numRef>
              <c:f>'Chart Data'!$E$2:$E$57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Data'!$F$2:$F$57</c:f>
              <c:numCache>
                <c:formatCode>0.0</c:formatCode>
                <c:ptCount val="56"/>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numCache>
            </c:numRef>
          </c:val>
          <c:smooth val="0"/>
        </c:ser>
        <c:ser>
          <c:idx val="3"/>
          <c:order val="3"/>
          <c:tx>
            <c:v>3D T25 / 4096</c:v>
          </c:tx>
          <c:spPr>
            <a:ln xmlns:a="http://schemas.openxmlformats.org/drawingml/2006/main" w="28575">
              <a:solidFill>
                <a:srgbClr val="D92D20"/>
              </a:solidFill>
            </a:ln>
          </c:spPr>
          <c:marker>
            <c:symbol val="none"/>
          </c:marker>
          <c:cat>
            <c:numRef>
              <c:f>'Chart Data'!$G$2:$G$57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Data'!$H$2:$H$57</c:f>
              <c:numCache>
                <c:formatCode>0.0</c:formatCode>
                <c:ptCount val="56"/>
                <c:pt idx="0">
                  <c:v>0.942626953125</c:v>
                </c:pt>
                <c:pt idx="1">
                  <c:v>0.935302734375</c:v>
                </c:pt>
                <c:pt idx="2">
                  <c:v>0.93115234375</c:v>
                </c:pt>
                <c:pt idx="3">
                  <c:v>0.928466796875</c:v>
                </c:pt>
                <c:pt idx="4">
                  <c:v>0.92529296875</c:v>
                </c:pt>
                <c:pt idx="5">
                  <c:v>0.920654296875</c:v>
                </c:pt>
                <c:pt idx="6">
                  <c:v>0.9150390625</c:v>
                </c:pt>
                <c:pt idx="7">
                  <c:v>0.9111328125</c:v>
                </c:pt>
                <c:pt idx="8">
                  <c:v>0.908203125</c:v>
                </c:pt>
                <c:pt idx="9">
                  <c:v>0.905517578125</c:v>
                </c:pt>
                <c:pt idx="10">
                  <c:v>0.90234375</c:v>
                </c:pt>
                <c:pt idx="11">
                  <c:v>0.89990234375</c:v>
                </c:pt>
                <c:pt idx="12">
                  <c:v>0.89697265625</c:v>
                </c:pt>
                <c:pt idx="13">
                  <c:v>0.893310546875</c:v>
                </c:pt>
                <c:pt idx="14">
                  <c:v>0.890625</c:v>
                </c:pt>
                <c:pt idx="15">
                  <c:v>0.885986328125</c:v>
                </c:pt>
                <c:pt idx="16">
                  <c:v>0.883056640625</c:v>
                </c:pt>
                <c:pt idx="17">
                  <c:v>0.88037109375</c:v>
                </c:pt>
                <c:pt idx="18">
                  <c:v>0.877197265625</c:v>
                </c:pt>
                <c:pt idx="19">
                  <c:v>0.872802734375</c:v>
                </c:pt>
                <c:pt idx="20">
                  <c:v>0.869873046875</c:v>
                </c:pt>
                <c:pt idx="21">
                  <c:v>0.867919921875</c:v>
                </c:pt>
                <c:pt idx="22">
                  <c:v>0.864990234375</c:v>
                </c:pt>
                <c:pt idx="23">
                  <c:v>0.86083984375</c:v>
                </c:pt>
                <c:pt idx="24">
                  <c:v>0.85791015625</c:v>
                </c:pt>
                <c:pt idx="25">
                  <c:v>0.853271484375</c:v>
                </c:pt>
                <c:pt idx="26">
                  <c:v>0.8515625</c:v>
                </c:pt>
                <c:pt idx="27">
                  <c:v>0.848388671875</c:v>
                </c:pt>
                <c:pt idx="28">
                  <c:v>0.84423828125</c:v>
                </c:pt>
                <c:pt idx="29">
                  <c:v>0.841796875</c:v>
                </c:pt>
                <c:pt idx="30">
                  <c:v>0.8369140625</c:v>
                </c:pt>
                <c:pt idx="31">
                  <c:v>0.83447265625</c:v>
                </c:pt>
                <c:pt idx="32">
                  <c:v>0.8310546875</c:v>
                </c:pt>
                <c:pt idx="33">
                  <c:v>0.82763671875</c:v>
                </c:pt>
                <c:pt idx="34">
                  <c:v>0.82470703125</c:v>
                </c:pt>
                <c:pt idx="35">
                  <c:v>0.820556640625</c:v>
                </c:pt>
                <c:pt idx="36">
                  <c:v>0.8173828125</c:v>
                </c:pt>
                <c:pt idx="37">
                  <c:v>0.812744140625</c:v>
                </c:pt>
                <c:pt idx="38">
                  <c:v>0.810791015625</c:v>
                </c:pt>
                <c:pt idx="39">
                  <c:v>0.8056640625</c:v>
                </c:pt>
                <c:pt idx="40">
                  <c:v>0.80322265625</c:v>
                </c:pt>
                <c:pt idx="41">
                  <c:v>0.800048828125</c:v>
                </c:pt>
                <c:pt idx="42">
                  <c:v>0.79736328125</c:v>
                </c:pt>
                <c:pt idx="43">
                  <c:v>0.792236328125</c:v>
                </c:pt>
                <c:pt idx="44">
                  <c:v>0.788330078125</c:v>
                </c:pt>
                <c:pt idx="45">
                  <c:v>0.784423828125</c:v>
                </c:pt>
                <c:pt idx="46">
                  <c:v>0.7822265625</c:v>
                </c:pt>
                <c:pt idx="47">
                  <c:v>0.7783203125</c:v>
                </c:pt>
                <c:pt idx="48">
                  <c:v>0.774658203125</c:v>
                </c:pt>
                <c:pt idx="49">
                  <c:v>0.770751953125</c:v>
                </c:pt>
                <c:pt idx="50">
                  <c:v>0.766845703125</c:v>
                </c:pt>
                <c:pt idx="51">
                  <c:v>0.76171875</c:v>
                </c:pt>
                <c:pt idx="52">
                  <c:v>0.75830078125</c:v>
                </c:pt>
                <c:pt idx="53">
                  <c:v>0.75390625</c:v>
                </c:pt>
                <c:pt idx="54">
                  <c:v>0.75146484375</c:v>
                </c:pt>
                <c:pt idx="55">
                  <c:v>0.7470703125</c:v>
                </c:pt>
              </c:numCache>
            </c:numRef>
          </c:val>
          <c:smooth val="0"/>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EAECF0"/>
            </a:solidFill>
          </a:ln>
        </c:spPr>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crossAx val="48672768"/>
      </c:catAx>
      <c:valAx>
        <c:axId val="48672768"/>
        <c:scaling>
          <c:orientation val="minMax"/>
          <c:max val="1"/>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Survival S(n)</a:t>
                </a:r>
              </a:p>
            </c:rich>
          </c:tx>
          <c:overlay val="0"/>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7085"/>
                </a:solidFill>
                <a:latin typeface="Microsoft YaHei"/>
                <a:ea typeface="Microsoft YaHei"/>
                <a:cs typeface="Microsoft YaHei"/>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46893BF-76B4-400B-9157-B76FCF87357F}"/>
              </a:ext>
            </a:extLst>
          </p:cNvPr>
          <p:cNvSpPr>
            <a:spLocks xmlns:a="http://schemas.openxmlformats.org/drawingml/2006/main" noGrp="1"/>
          </p:cNvSpPr>
          <p:nvPr/>
        </p:nvSpPr>
        <p:spPr>
          <a:xfrm xmlns:a="http://schemas.openxmlformats.org/drawingml/2006/main">
            <a:off x="0" y="5810250"/>
            <a:ext cx="12192000" cy="1047750"/>
          </a:xfrm>
          <a:prstGeom xmlns:a="http://schemas.openxmlformats.org/drawingml/2006/main" prst="rect">
            <a:avLst/>
          </a:prstGeom>
          <a:solidFill xmlns:a="http://schemas.openxmlformats.org/drawingml/2006/main">
            <a:srgbClr val="0B1F33"/>
          </a:solidFill>
          <a:ln xmlns:a="http://schemas.openxmlformats.org/drawingml/2006/main" w="0">
            <a:solidFill>
              <a:srgbClr val="0B1F33"/>
            </a:solidFill>
          </a:ln>
        </p:spPr>
      </p:sp>
      <p:sp>
        <p:nvSpPr>
          <p:cNvPr id="2" name="">
            <a:extLst xmlns:a="http://schemas.openxmlformats.org/drawingml/2006/main">
              <a:ext uri="{FF2B5EF4-FFF2-40B4-BE49-F238E27FC236}">
                <a16:creationId xmlns:a16="http://schemas.microsoft.com/office/drawing/2014/main" id="{14DBF410-E09D-4133-817A-06399A862039}"/>
              </a:ext>
            </a:extLst>
          </p:cNvPr>
          <p:cNvSpPr>
            <a:spLocks xmlns:a="http://schemas.openxmlformats.org/drawingml/2006/main" noGrp="1"/>
          </p:cNvSpPr>
          <p:nvPr/>
        </p:nvSpPr>
        <p:spPr>
          <a:xfrm xmlns:a="http://schemas.openxmlformats.org/drawingml/2006/main">
            <a:off x="685800" y="933450"/>
            <a:ext cx="838200" cy="57150"/>
          </a:xfrm>
          <a:prstGeom xmlns:a="http://schemas.openxmlformats.org/drawingml/2006/main" prst="rect">
            <a:avLst/>
          </a:prstGeom>
          <a:solidFill xmlns:a="http://schemas.openxmlformats.org/drawingml/2006/main">
            <a:srgbClr val="0BA5EC"/>
          </a:solidFill>
          <a:ln xmlns:a="http://schemas.openxmlformats.org/drawingml/2006/main" w="0">
            <a:solidFill>
              <a:srgbClr val="0BA5EC"/>
            </a:solidFill>
          </a:ln>
        </p:spPr>
      </p:sp>
      <p:sp>
        <p:nvSpPr>
          <p:cNvPr id="3" name="">
            <a:extLst xmlns:a="http://schemas.openxmlformats.org/drawingml/2006/main">
              <a:ext uri="{FF2B5EF4-FFF2-40B4-BE49-F238E27FC236}">
                <a16:creationId xmlns:a16="http://schemas.microsoft.com/office/drawing/2014/main" id="{3670808B-C6C6-4198-A471-5AEFB7047F4E}"/>
              </a:ext>
            </a:extLst>
          </p:cNvPr>
          <p:cNvSpPr>
            <a:spLocks xmlns:a="http://schemas.openxmlformats.org/drawingml/2006/main" noGrp="1"/>
          </p:cNvSpPr>
          <p:nvPr/>
        </p:nvSpPr>
        <p:spPr>
          <a:xfrm xmlns:a="http://schemas.openxmlformats.org/drawingml/2006/main">
            <a:off x="685800" y="1257300"/>
            <a:ext cx="9334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3675" b="1">
                <a:solidFill>
                  <a:srgbClr val="FFFFFF"/>
                </a:solidFill>
                <a:latin typeface="Microsoft YaHei"/>
                <a:ea typeface="Microsoft YaHei"/>
                <a:cs typeface="Microsoft YaHei"/>
              </a:defRPr>
            </a:pPr>
            <a:r>
              <a:rPr sz="3675" b="1">
                <a:solidFill>
                  <a:srgbClr val="FFFFFF"/>
                </a:solidFill>
                <a:latin typeface="Microsoft YaHei"/>
                <a:ea typeface="Microsoft YaHei"/>
                <a:cs typeface="Microsoft YaHei"/>
              </a:rPr>
              <a:t>Monte Carlo Simulation for</a:t>
            </a:r>
          </a:p>
          <a:p xmlns:a="http://schemas.openxmlformats.org/drawingml/2006/main">
            <a:pPr algn="l">
              <a:buNone/>
              <a:defRPr sz="3675" b="1">
                <a:solidFill>
                  <a:srgbClr val="FFFFFF"/>
                </a:solidFill>
                <a:latin typeface="Microsoft YaHei"/>
                <a:ea typeface="Microsoft YaHei"/>
                <a:cs typeface="Microsoft YaHei"/>
              </a:defRPr>
            </a:pPr>
            <a:r>
              <a:rPr sz="3675" b="1">
                <a:solidFill>
                  <a:srgbClr val="FFFFFF"/>
                </a:solidFill>
                <a:latin typeface="Microsoft YaHei"/>
                <a:ea typeface="Microsoft YaHei"/>
                <a:cs typeface="Microsoft YaHei"/>
              </a:rPr>
              <a:t>AOD–SLM Atom Transfer</a:t>
            </a:r>
          </a:p>
        </p:txBody>
      </p:sp>
      <p:sp>
        <p:nvSpPr>
          <p:cNvPr id="4" name="">
            <a:extLst xmlns:a="http://schemas.openxmlformats.org/drawingml/2006/main">
              <a:ext uri="{FF2B5EF4-FFF2-40B4-BE49-F238E27FC236}">
                <a16:creationId xmlns:a16="http://schemas.microsoft.com/office/drawing/2014/main" id="{74332BE0-ED3D-4246-9BE3-A34348497E21}"/>
              </a:ext>
            </a:extLst>
          </p:cNvPr>
          <p:cNvSpPr>
            <a:spLocks xmlns:a="http://schemas.openxmlformats.org/drawingml/2006/main" noGrp="1"/>
          </p:cNvSpPr>
          <p:nvPr/>
        </p:nvSpPr>
        <p:spPr>
          <a:xfrm xmlns:a="http://schemas.openxmlformats.org/drawingml/2006/main">
            <a:off x="723900" y="3143250"/>
            <a:ext cx="895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875" b="0">
                <a:solidFill>
                  <a:srgbClr val="B9D7F5"/>
                </a:solidFill>
                <a:latin typeface="Microsoft YaHei"/>
                <a:ea typeface="Microsoft YaHei"/>
                <a:cs typeface="Microsoft YaHei"/>
              </a:defRPr>
            </a:pPr>
            <a:r>
              <a:rPr sz="1875" b="0">
                <a:solidFill>
                  <a:srgbClr val="B9D7F5"/>
                </a:solidFill>
                <a:latin typeface="Microsoft YaHei"/>
                <a:ea typeface="Microsoft YaHei"/>
                <a:cs typeface="Microsoft YaHei"/>
              </a:rPr>
              <a:t>Level 2C / 3 / 4 / 5 综合计算与证据报告</a:t>
            </a:r>
          </a:p>
        </p:txBody>
      </p:sp>
      <p:sp>
        <p:nvSpPr>
          <p:cNvPr id="5" name="">
            <a:extLst xmlns:a="http://schemas.openxmlformats.org/drawingml/2006/main">
              <a:ext uri="{FF2B5EF4-FFF2-40B4-BE49-F238E27FC236}">
                <a16:creationId xmlns:a16="http://schemas.microsoft.com/office/drawing/2014/main" id="{1E2F9AC1-AC45-48FF-8C4C-96A86068E52E}"/>
              </a:ext>
            </a:extLst>
          </p:cNvPr>
          <p:cNvSpPr>
            <a:spLocks xmlns:a="http://schemas.openxmlformats.org/drawingml/2006/main" noGrp="1"/>
          </p:cNvSpPr>
          <p:nvPr/>
        </p:nvSpPr>
        <p:spPr>
          <a:xfrm xmlns:a="http://schemas.openxmlformats.org/drawingml/2006/main">
            <a:off x="723900" y="3771900"/>
            <a:ext cx="885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00" b="0">
                <a:solidFill>
                  <a:srgbClr val="D0DFF0"/>
                </a:solidFill>
                <a:latin typeface="Microsoft YaHei"/>
                <a:ea typeface="Microsoft YaHei"/>
                <a:cs typeface="Microsoft YaHei"/>
              </a:defRPr>
            </a:pPr>
            <a:r>
              <a:rPr sz="1500" b="0">
                <a:solidFill>
                  <a:srgbClr val="D0DFF0"/>
                </a:solidFill>
                <a:latin typeface="Microsoft YaHei"/>
                <a:ea typeface="Microsoft YaHei"/>
                <a:cs typeface="Microsoft YaHei"/>
              </a:rPr>
              <a:t>连续全流程重算与 Fig. 6d 存活曲线验收</a:t>
            </a:r>
          </a:p>
        </p:txBody>
      </p:sp>
      <p:sp>
        <p:nvSpPr>
          <p:cNvPr id="6" name="">
            <a:extLst xmlns:a="http://schemas.openxmlformats.org/drawingml/2006/main">
              <a:ext uri="{FF2B5EF4-FFF2-40B4-BE49-F238E27FC236}">
                <a16:creationId xmlns:a16="http://schemas.microsoft.com/office/drawing/2014/main" id="{D00C5AA0-D4F7-4FF0-A832-4C7C9DACA06B}"/>
              </a:ext>
            </a:extLst>
          </p:cNvPr>
          <p:cNvSpPr>
            <a:spLocks xmlns:a="http://schemas.openxmlformats.org/drawingml/2006/main" noGrp="1"/>
          </p:cNvSpPr>
          <p:nvPr/>
        </p:nvSpPr>
        <p:spPr>
          <a:xfrm xmlns:a="http://schemas.openxmlformats.org/drawingml/2006/main">
            <a:off x="723900" y="59436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98AFC7"/>
                </a:solidFill>
                <a:latin typeface="Microsoft YaHei"/>
                <a:ea typeface="Microsoft YaHei"/>
                <a:cs typeface="Microsoft YaHei"/>
              </a:defRPr>
            </a:pPr>
            <a:r>
              <a:rPr sz="1200" b="0">
                <a:solidFill>
                  <a:srgbClr val="98AFC7"/>
                </a:solidFill>
                <a:latin typeface="Microsoft YaHei"/>
                <a:ea typeface="Microsoft YaHei"/>
                <a:cs typeface="Microsoft YaHei"/>
              </a:rPr>
              <a:t>MonteCarloForQC / monte-carlo-for-aodslm</a:t>
            </a:r>
          </a:p>
        </p:txBody>
      </p:sp>
      <p:sp>
        <p:nvSpPr>
          <p:cNvPr id="7" name="">
            <a:extLst xmlns:a="http://schemas.openxmlformats.org/drawingml/2006/main">
              <a:ext uri="{FF2B5EF4-FFF2-40B4-BE49-F238E27FC236}">
                <a16:creationId xmlns:a16="http://schemas.microsoft.com/office/drawing/2014/main" id="{D8146900-4DF3-40CD-8E8A-0BE741D5D399}"/>
              </a:ext>
            </a:extLst>
          </p:cNvPr>
          <p:cNvSpPr>
            <a:spLocks xmlns:a="http://schemas.openxmlformats.org/drawingml/2006/main" noGrp="1"/>
          </p:cNvSpPr>
          <p:nvPr/>
        </p:nvSpPr>
        <p:spPr>
          <a:xfrm xmlns:a="http://schemas.openxmlformats.org/drawingml/2006/main">
            <a:off x="723900" y="6229350"/>
            <a:ext cx="685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050" b="0">
                <a:solidFill>
                  <a:srgbClr val="98AFC7"/>
                </a:solidFill>
                <a:latin typeface="Microsoft YaHei"/>
                <a:ea typeface="Microsoft YaHei"/>
                <a:cs typeface="Microsoft YaHei"/>
              </a:defRPr>
            </a:pPr>
            <a:r>
              <a:rPr sz="1050" b="0">
                <a:solidFill>
                  <a:srgbClr val="98AFC7"/>
                </a:solidFill>
                <a:latin typeface="Microsoft YaHei"/>
                <a:ea typeface="Microsoft YaHei"/>
                <a:cs typeface="Microsoft YaHei"/>
              </a:rPr>
              <a:t>2026-09-14  ·  v10  ·  连续仿真与独立复核</a:t>
            </a:r>
          </a:p>
        </p:txBody>
      </p:sp>
      <p:sp>
        <p:nvSpPr>
          <p:cNvPr id="8" name="">
            <a:extLst xmlns:a="http://schemas.openxmlformats.org/drawingml/2006/main">
              <a:ext uri="{FF2B5EF4-FFF2-40B4-BE49-F238E27FC236}">
                <a16:creationId xmlns:a16="http://schemas.microsoft.com/office/drawing/2014/main" id="{6464B554-DD58-406C-B418-CAC7E638FC8D}"/>
              </a:ext>
            </a:extLst>
          </p:cNvPr>
          <p:cNvSpPr>
            <a:spLocks xmlns:a="http://schemas.openxmlformats.org/drawingml/2006/main" noGrp="1"/>
          </p:cNvSpPr>
          <p:nvPr/>
        </p:nvSpPr>
        <p:spPr>
          <a:xfrm xmlns:a="http://schemas.openxmlformats.org/drawingml/2006/main">
            <a:off x="9525000" y="5924550"/>
            <a:ext cx="1962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1800" b="1">
                <a:solidFill>
                  <a:srgbClr val="0BA5EC"/>
                </a:solidFill>
                <a:latin typeface="Microsoft YaHei"/>
                <a:ea typeface="Microsoft YaHei"/>
                <a:cs typeface="Microsoft YaHei"/>
              </a:defRPr>
            </a:pPr>
            <a:r>
              <a:rPr sz="1800" b="1">
                <a:solidFill>
                  <a:srgbClr val="0BA5EC"/>
                </a:solidFill>
                <a:latin typeface="Microsoft YaHei"/>
                <a:ea typeface="Microsoft YaHei"/>
                <a:cs typeface="Microsoft YaHei"/>
              </a:rPr>
              <a:t>Level 2C–5</a:t>
            </a:r>
          </a:p>
        </p:txBody>
      </p:sp>
    </p:spTree>
    <p:extLst>
      <p:ext uri="{BB962C8B-B14F-4D97-AF65-F5344CB8AC3E}">
        <p14:creationId xmlns:p14="http://schemas.microsoft.com/office/powerpoint/2010/main" val="89403832"/>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4693FF2-D52F-4501-BF23-0E8B7091D058}"/>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本次工作的计算顺序</a:t>
            </a:r>
          </a:p>
        </p:txBody>
      </p:sp>
      <p:sp>
        <p:nvSpPr>
          <p:cNvPr id="2" name="">
            <a:extLst xmlns:a="http://schemas.openxmlformats.org/drawingml/2006/main">
              <a:ext uri="{FF2B5EF4-FFF2-40B4-BE49-F238E27FC236}">
                <a16:creationId xmlns:a16="http://schemas.microsoft.com/office/drawing/2014/main" id="{1BC59B45-8843-4D4D-98CE-666EA13B7739}"/>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3" name="">
            <a:extLst xmlns:a="http://schemas.openxmlformats.org/drawingml/2006/main">
              <a:ext uri="{FF2B5EF4-FFF2-40B4-BE49-F238E27FC236}">
                <a16:creationId xmlns:a16="http://schemas.microsoft.com/office/drawing/2014/main" id="{6367255D-4A90-4DA0-A66E-93678B25C810}"/>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每一步都回答五个问题：算什么、输入什么、怎样计算、输出什么、结论能走多远</a:t>
            </a:r>
          </a:p>
        </p:txBody>
      </p:sp>
      <p:graphicFrame>
        <p:nvGraphicFramePr>
          <p:cNvPr id="17" name=""/>
          <p:cNvGraphicFramePr/>
          <p:nvPr/>
        </p:nvGraphicFramePr>
        <p:xfrm>
          <a:off xmlns:a="http://schemas.openxmlformats.org/drawingml/2006/main" x="609600" y="1295400"/>
          <a:ext xmlns:a="http://schemas.openxmlformats.org/drawingml/2006/main" cx="5238750" cy="4267200"/>
        </p:xfrm>
        <a:graphic xmlns:a="http://schemas.openxmlformats.org/drawingml/2006/main">
          <a:graphicData uri="http://schemas.openxmlformats.org/drawingml/2006/table">
            <a:tbl>
              <a:tblPr/>
              <a:tblGrid>
                <a:gridCol w="801221"/>
                <a:gridCol w="2896721"/>
                <a:gridCol w="1540809"/>
              </a:tblGrid>
              <a:tr h="533400">
                <a:tc>
                  <a:txBody>
                    <a:bodyPr>
                      <a:noAutofit/>
                    </a:bodyPr>
                    <a:lstStyle/>
                    <a:p>
                      <a:pPr algn="l">
                        <a:buNone/>
                      </a:pPr>
                      <a:r>
                        <a:rPr sz="1125" b="1">
                          <a:solidFill>
                            <a:srgbClr val="FFFFFF"/>
                          </a:solidFill>
                          <a:latin typeface="Microsoft YaHei"/>
                          <a:ea typeface="Microsoft YaHei"/>
                          <a:cs typeface="Microsoft YaHei"/>
                        </a:rPr>
                        <a:t>Step</a:t>
                      </a:r>
                    </a:p>
                  </a:txBody>
                  <a:tcPr marL="91440" marR="91440" marT="45720" marB="45720" anchor="ctr">
                    <a:solidFill>
                      <a:srgbClr val="102A43"/>
                    </a:solidFill>
                  </a:tcPr>
                </a:tc>
                <a:tc>
                  <a:txBody>
                    <a:bodyPr>
                      <a:noAutofit/>
                    </a:bodyPr>
                    <a:lstStyle/>
                    <a:p>
                      <a:pPr algn="l">
                        <a:buNone/>
                      </a:pPr>
                      <a:r>
                        <a:rPr sz="1125" b="1">
                          <a:solidFill>
                            <a:srgbClr val="FFFFFF"/>
                          </a:solidFill>
                          <a:latin typeface="Microsoft YaHei"/>
                          <a:ea typeface="Microsoft YaHei"/>
                          <a:cs typeface="Microsoft YaHei"/>
                        </a:rPr>
                        <a:t>计算内容</a:t>
                      </a:r>
                    </a:p>
                  </a:txBody>
                  <a:tcPr marL="91440" marR="91440" marT="45720" marB="45720" anchor="ctr">
                    <a:solidFill>
                      <a:srgbClr val="102A43"/>
                    </a:solidFill>
                  </a:tcPr>
                </a:tc>
                <a:tc>
                  <a:txBody>
                    <a:bodyPr>
                      <a:noAutofit/>
                    </a:bodyPr>
                    <a:lstStyle/>
                    <a:p>
                      <a:pPr algn="l">
                        <a:buNone/>
                      </a:pPr>
                      <a:r>
                        <a:rPr sz="1125" b="1">
                          <a:solidFill>
                            <a:srgbClr val="FFFFFF"/>
                          </a:solidFill>
                          <a:latin typeface="Microsoft YaHei"/>
                          <a:ea typeface="Microsoft YaHei"/>
                          <a:cs typeface="Microsoft YaHei"/>
                        </a:rPr>
                        <a:t>主要输出</a:t>
                      </a:r>
                    </a:p>
                  </a:txBody>
                  <a:tcPr marL="91440" marR="91440" marT="45720" marB="45720" anchor="ctr">
                    <a:solidFill>
                      <a:srgbClr val="102A43"/>
                    </a:solidFill>
                  </a:tcPr>
                </a:tc>
              </a:tr>
              <a:tr h="533400">
                <a:tc>
                  <a:txBody>
                    <a:bodyPr>
                      <a:noAutofit/>
                    </a:bodyPr>
                    <a:lstStyle/>
                    <a:p>
                      <a:pPr algn="l">
                        <a:buNone/>
                      </a:pPr>
                      <a:r>
                        <a:rPr sz="1200" b="0">
                          <a:solidFill>
                            <a:srgbClr val="344054"/>
                          </a:solidFill>
                          <a:latin typeface="Microsoft YaHei"/>
                          <a:ea typeface="Microsoft YaHei"/>
                          <a:cs typeface="Microsoft YaHei"/>
                        </a:rPr>
                        <a:t>01</a:t>
                      </a:r>
                    </a:p>
                  </a:txBody>
                  <a:tcPr marL="91440" marR="91440" marT="45720" marB="45720" anchor="ctr">
                    <a:solidFill>
                      <a:srgbClr val="FFFFFF"/>
                    </a:solidFill>
                  </a:tcPr>
                </a:tc>
                <a:tc>
                  <a:txBody>
                    <a:bodyPr>
                      <a:noAutofit/>
                    </a:bodyPr>
                    <a:lstStyle/>
                    <a:p>
                      <a:pPr algn="l">
                        <a:buNone/>
                      </a:pPr>
                      <a:r>
                        <a:rPr sz="1200" b="0">
                          <a:solidFill>
                            <a:srgbClr val="344054"/>
                          </a:solidFill>
                          <a:latin typeface="Microsoft YaHei"/>
                          <a:ea typeface="Microsoft YaHei"/>
                          <a:cs typeface="Microsoft YaHei"/>
                        </a:rPr>
                        <a:t>固定论文曲线和验收口径</a:t>
                      </a:r>
                    </a:p>
                  </a:txBody>
                  <a:tcPr marL="91440" marR="91440" marT="45720" marB="45720" anchor="ctr">
                    <a:solidFill>
                      <a:srgbClr val="FFFFFF"/>
                    </a:solidFill>
                  </a:tcPr>
                </a:tc>
                <a:tc>
                  <a:txBody>
                    <a:bodyPr>
                      <a:noAutofit/>
                    </a:bodyPr>
                    <a:lstStyle/>
                    <a:p>
                      <a:pPr algn="l">
                        <a:buNone/>
                      </a:pPr>
                      <a:r>
                        <a:rPr sz="1200" b="0">
                          <a:solidFill>
                            <a:srgbClr val="344054"/>
                          </a:solidFill>
                          <a:latin typeface="Microsoft YaHei"/>
                          <a:ea typeface="Microsoft YaHei"/>
                          <a:cs typeface="Microsoft YaHei"/>
                        </a:rPr>
                        <a:t>Paper S(n)</a:t>
                      </a:r>
                    </a:p>
                  </a:txBody>
                  <a:tcPr marL="91440" marR="91440" marT="45720" marB="45720" anchor="ctr">
                    <a:solidFill>
                      <a:srgbClr val="FFFFFF"/>
                    </a:solidFill>
                  </a:tcPr>
                </a:tc>
              </a:tr>
              <a:tr h="533400">
                <a:tc>
                  <a:txBody>
                    <a:bodyPr>
                      <a:noAutofit/>
                    </a:bodyPr>
                    <a:lstStyle/>
                    <a:p>
                      <a:pPr algn="l">
                        <a:buNone/>
                      </a:pPr>
                      <a:r>
                        <a:rPr sz="1200" b="0">
                          <a:solidFill>
                            <a:srgbClr val="344054"/>
                          </a:solidFill>
                          <a:latin typeface="Microsoft YaHei"/>
                          <a:ea typeface="Microsoft YaHei"/>
                          <a:cs typeface="Microsoft YaHei"/>
                        </a:rPr>
                        <a:t>02</a:t>
                      </a:r>
                    </a:p>
                  </a:txBody>
                  <a:tcPr marL="91440" marR="91440" marT="45720" marB="45720" anchor="ctr">
                    <a:solidFill>
                      <a:srgbClr val="F8FAFC"/>
                    </a:solidFill>
                  </a:tcPr>
                </a:tc>
                <a:tc>
                  <a:txBody>
                    <a:bodyPr>
                      <a:noAutofit/>
                    </a:bodyPr>
                    <a:lstStyle/>
                    <a:p>
                      <a:pPr algn="l">
                        <a:buNone/>
                      </a:pPr>
                      <a:r>
                        <a:rPr sz="1200" b="0">
                          <a:solidFill>
                            <a:srgbClr val="344054"/>
                          </a:solidFill>
                          <a:latin typeface="Microsoft YaHei"/>
                          <a:ea typeface="Microsoft YaHei"/>
                          <a:cs typeface="Microsoft YaHei"/>
                        </a:rPr>
                        <a:t>建立 Cs 与双高斯阱模型</a:t>
                      </a:r>
                    </a:p>
                  </a:txBody>
                  <a:tcPr marL="91440" marR="91440" marT="45720" marB="45720" anchor="ctr">
                    <a:solidFill>
                      <a:srgbClr val="F8FAFC"/>
                    </a:solidFill>
                  </a:tcPr>
                </a:tc>
                <a:tc>
                  <a:txBody>
                    <a:bodyPr>
                      <a:noAutofit/>
                    </a:bodyPr>
                    <a:lstStyle/>
                    <a:p>
                      <a:pPr algn="l">
                        <a:buNone/>
                      </a:pPr>
                      <a:r>
                        <a:rPr sz="1200" b="0">
                          <a:solidFill>
                            <a:srgbClr val="344054"/>
                          </a:solidFill>
                          <a:latin typeface="Microsoft YaHei"/>
                          <a:ea typeface="Microsoft YaHei"/>
                          <a:cs typeface="Microsoft YaHei"/>
                        </a:rPr>
                        <a:t>U(x,t), F(x,t)</a:t>
                      </a:r>
                    </a:p>
                  </a:txBody>
                  <a:tcPr marL="91440" marR="91440" marT="45720" marB="45720" anchor="ctr">
                    <a:solidFill>
                      <a:srgbClr val="F8FAFC"/>
                    </a:solidFill>
                  </a:tcPr>
                </a:tc>
              </a:tr>
              <a:tr h="533400">
                <a:tc>
                  <a:txBody>
                    <a:bodyPr>
                      <a:noAutofit/>
                    </a:bodyPr>
                    <a:lstStyle/>
                    <a:p>
                      <a:pPr algn="l">
                        <a:buNone/>
                      </a:pPr>
                      <a:r>
                        <a:rPr sz="1200" b="0">
                          <a:solidFill>
                            <a:srgbClr val="344054"/>
                          </a:solidFill>
                          <a:latin typeface="Microsoft YaHei"/>
                          <a:ea typeface="Microsoft YaHei"/>
                          <a:cs typeface="Microsoft YaHei"/>
                        </a:rPr>
                        <a:t>03</a:t>
                      </a:r>
                    </a:p>
                  </a:txBody>
                  <a:tcPr marL="91440" marR="91440" marT="45720" marB="45720" anchor="ctr">
                    <a:solidFill>
                      <a:srgbClr val="FFFFFF"/>
                    </a:solidFill>
                  </a:tcPr>
                </a:tc>
                <a:tc>
                  <a:txBody>
                    <a:bodyPr>
                      <a:noAutofit/>
                    </a:bodyPr>
                    <a:lstStyle/>
                    <a:p>
                      <a:pPr algn="l">
                        <a:buNone/>
                      </a:pPr>
                      <a:r>
                        <a:rPr sz="1200" b="0">
                          <a:solidFill>
                            <a:srgbClr val="344054"/>
                          </a:solidFill>
                          <a:latin typeface="Microsoft YaHei"/>
                          <a:ea typeface="Microsoft YaHei"/>
                          <a:cs typeface="Microsoft YaHei"/>
                        </a:rPr>
                        <a:t>生成初态、位点散布和加热</a:t>
                      </a:r>
                    </a:p>
                  </a:txBody>
                  <a:tcPr marL="91440" marR="91440" marT="45720" marB="45720" anchor="ctr">
                    <a:solidFill>
                      <a:srgbClr val="FFFFFF"/>
                    </a:solidFill>
                  </a:tcPr>
                </a:tc>
                <a:tc>
                  <a:txBody>
                    <a:bodyPr>
                      <a:noAutofit/>
                    </a:bodyPr>
                    <a:lstStyle/>
                    <a:p>
                      <a:pPr algn="l">
                        <a:buNone/>
                      </a:pPr>
                      <a:r>
                        <a:rPr sz="1200" b="0">
                          <a:solidFill>
                            <a:srgbClr val="344054"/>
                          </a:solidFill>
                          <a:latin typeface="Microsoft YaHei"/>
                          <a:ea typeface="Microsoft YaHei"/>
                          <a:cs typeface="Microsoft YaHei"/>
                        </a:rPr>
                        <a:t>每个 shot 的参数</a:t>
                      </a:r>
                    </a:p>
                  </a:txBody>
                  <a:tcPr marL="91440" marR="91440" marT="45720" marB="45720" anchor="ctr">
                    <a:solidFill>
                      <a:srgbClr val="FFFFFF"/>
                    </a:solidFill>
                  </a:tcPr>
                </a:tc>
              </a:tr>
              <a:tr h="533400">
                <a:tc>
                  <a:txBody>
                    <a:bodyPr>
                      <a:noAutofit/>
                    </a:bodyPr>
                    <a:lstStyle/>
                    <a:p>
                      <a:pPr algn="l">
                        <a:buNone/>
                      </a:pPr>
                      <a:r>
                        <a:rPr sz="1200" b="0">
                          <a:solidFill>
                            <a:srgbClr val="344054"/>
                          </a:solidFill>
                          <a:latin typeface="Microsoft YaHei"/>
                          <a:ea typeface="Microsoft YaHei"/>
                          <a:cs typeface="Microsoft YaHei"/>
                        </a:rPr>
                        <a:t>04</a:t>
                      </a:r>
                    </a:p>
                  </a:txBody>
                  <a:tcPr marL="91440" marR="91440" marT="45720" marB="45720" anchor="ctr">
                    <a:solidFill>
                      <a:srgbClr val="F8FAFC"/>
                    </a:solidFill>
                  </a:tcPr>
                </a:tc>
                <a:tc>
                  <a:txBody>
                    <a:bodyPr>
                      <a:noAutofit/>
                    </a:bodyPr>
                    <a:lstStyle/>
                    <a:p>
                      <a:pPr algn="l">
                        <a:buNone/>
                      </a:pPr>
                      <a:r>
                        <a:rPr sz="1200" b="0">
                          <a:solidFill>
                            <a:srgbClr val="344054"/>
                          </a:solidFill>
                          <a:latin typeface="Microsoft YaHei"/>
                          <a:ea typeface="Microsoft YaHei"/>
                          <a:cs typeface="Microsoft YaHei"/>
                        </a:rPr>
                        <a:t>构造手工 pick-up / drop-off</a:t>
                      </a:r>
                    </a:p>
                  </a:txBody>
                  <a:tcPr marL="91440" marR="91440" marT="45720" marB="45720" anchor="ctr">
                    <a:solidFill>
                      <a:srgbClr val="F8FAFC"/>
                    </a:solidFill>
                  </a:tcPr>
                </a:tc>
                <a:tc>
                  <a:txBody>
                    <a:bodyPr>
                      <a:noAutofit/>
                    </a:bodyPr>
                    <a:lstStyle/>
                    <a:p>
                      <a:pPr algn="l">
                        <a:buNone/>
                      </a:pPr>
                      <a:r>
                        <a:rPr sz="1200" b="0">
                          <a:solidFill>
                            <a:srgbClr val="344054"/>
                          </a:solidFill>
                          <a:latin typeface="Microsoft YaHei"/>
                          <a:ea typeface="Microsoft YaHei"/>
                          <a:cs typeface="Microsoft YaHei"/>
                        </a:rPr>
                        <a:t>c(t), D(t)</a:t>
                      </a:r>
                    </a:p>
                  </a:txBody>
                  <a:tcPr marL="91440" marR="91440" marT="45720" marB="45720" anchor="ctr">
                    <a:solidFill>
                      <a:srgbClr val="F8FAFC"/>
                    </a:solidFill>
                  </a:tcPr>
                </a:tc>
              </a:tr>
              <a:tr h="533400">
                <a:tc>
                  <a:txBody>
                    <a:bodyPr>
                      <a:noAutofit/>
                    </a:bodyPr>
                    <a:lstStyle/>
                    <a:p>
                      <a:pPr algn="l">
                        <a:buNone/>
                      </a:pPr>
                      <a:r>
                        <a:rPr sz="1200" b="0">
                          <a:solidFill>
                            <a:srgbClr val="344054"/>
                          </a:solidFill>
                          <a:latin typeface="Microsoft YaHei"/>
                          <a:ea typeface="Microsoft YaHei"/>
                          <a:cs typeface="Microsoft YaHei"/>
                        </a:rPr>
                        <a:t>05</a:t>
                      </a:r>
                    </a:p>
                  </a:txBody>
                  <a:tcPr marL="91440" marR="91440" marT="45720" marB="45720" anchor="ctr">
                    <a:solidFill>
                      <a:srgbClr val="FFFFFF"/>
                    </a:solidFill>
                  </a:tcPr>
                </a:tc>
                <a:tc>
                  <a:txBody>
                    <a:bodyPr>
                      <a:noAutofit/>
                    </a:bodyPr>
                    <a:lstStyle/>
                    <a:p>
                      <a:pPr algn="l">
                        <a:buNone/>
                      </a:pPr>
                      <a:r>
                        <a:rPr sz="1200" b="0">
                          <a:solidFill>
                            <a:srgbClr val="344054"/>
                          </a:solidFill>
                          <a:latin typeface="Microsoft YaHei"/>
                          <a:ea typeface="Microsoft YaHei"/>
                          <a:cs typeface="Microsoft YaHei"/>
                        </a:rPr>
                        <a:t>逐时间步传播单个原子</a:t>
                      </a:r>
                    </a:p>
                  </a:txBody>
                  <a:tcPr marL="91440" marR="91440" marT="45720" marB="45720" anchor="ctr">
                    <a:solidFill>
                      <a:srgbClr val="FFFFFF"/>
                    </a:solidFill>
                  </a:tcPr>
                </a:tc>
                <a:tc>
                  <a:txBody>
                    <a:bodyPr>
                      <a:noAutofit/>
                    </a:bodyPr>
                    <a:lstStyle/>
                    <a:p>
                      <a:pPr algn="l">
                        <a:buNone/>
                      </a:pPr>
                      <a:r>
                        <a:rPr sz="1200" b="0">
                          <a:solidFill>
                            <a:srgbClr val="344054"/>
                          </a:solidFill>
                          <a:latin typeface="Microsoft YaHei"/>
                          <a:ea typeface="Microsoft YaHei"/>
                          <a:cs typeface="Microsoft YaHei"/>
                        </a:rPr>
                        <a:t>x(t), v(t), E(t)</a:t>
                      </a:r>
                    </a:p>
                  </a:txBody>
                  <a:tcPr marL="91440" marR="91440" marT="45720" marB="45720" anchor="ctr">
                    <a:solidFill>
                      <a:srgbClr val="FFFFFF"/>
                    </a:solidFill>
                  </a:tcPr>
                </a:tc>
              </a:tr>
              <a:tr h="533400">
                <a:tc>
                  <a:txBody>
                    <a:bodyPr>
                      <a:noAutofit/>
                    </a:bodyPr>
                    <a:lstStyle/>
                    <a:p>
                      <a:pPr algn="l">
                        <a:buNone/>
                      </a:pPr>
                      <a:r>
                        <a:rPr sz="1200" b="0">
                          <a:solidFill>
                            <a:srgbClr val="344054"/>
                          </a:solidFill>
                          <a:latin typeface="Microsoft YaHei"/>
                          <a:ea typeface="Microsoft YaHei"/>
                          <a:cs typeface="Microsoft YaHei"/>
                        </a:rPr>
                        <a:t>06</a:t>
                      </a:r>
                    </a:p>
                  </a:txBody>
                  <a:tcPr marL="91440" marR="91440" marT="45720" marB="45720" anchor="ctr">
                    <a:solidFill>
                      <a:srgbClr val="F8FAFC"/>
                    </a:solidFill>
                  </a:tcPr>
                </a:tc>
                <a:tc>
                  <a:txBody>
                    <a:bodyPr>
                      <a:noAutofit/>
                    </a:bodyPr>
                    <a:lstStyle/>
                    <a:p>
                      <a:pPr algn="l">
                        <a:buNone/>
                      </a:pPr>
                      <a:r>
                        <a:rPr sz="1200" b="0">
                          <a:solidFill>
                            <a:srgbClr val="344054"/>
                          </a:solidFill>
                          <a:latin typeface="Microsoft YaHei"/>
                          <a:ea typeface="Microsoft YaHei"/>
                          <a:cs typeface="Microsoft YaHei"/>
                        </a:rPr>
                        <a:t>连续重复 60 次单程转移</a:t>
                      </a:r>
                    </a:p>
                  </a:txBody>
                  <a:tcPr marL="91440" marR="91440" marT="45720" marB="45720" anchor="ctr">
                    <a:solidFill>
                      <a:srgbClr val="F8FAFC"/>
                    </a:solidFill>
                  </a:tcPr>
                </a:tc>
                <a:tc>
                  <a:txBody>
                    <a:bodyPr>
                      <a:noAutofit/>
                    </a:bodyPr>
                    <a:lstStyle/>
                    <a:p>
                      <a:pPr algn="l">
                        <a:buNone/>
                      </a:pPr>
                      <a:r>
                        <a:rPr sz="1200" b="0">
                          <a:solidFill>
                            <a:srgbClr val="344054"/>
                          </a:solidFill>
                          <a:latin typeface="Microsoft YaHei"/>
                          <a:ea typeface="Microsoft YaHei"/>
                          <a:cs typeface="Microsoft YaHei"/>
                        </a:rPr>
                        <a:t>S(n), loss stage</a:t>
                      </a:r>
                    </a:p>
                  </a:txBody>
                  <a:tcPr marL="91440" marR="91440" marT="45720" marB="45720" anchor="ctr">
                    <a:solidFill>
                      <a:srgbClr val="F8FAFC"/>
                    </a:solidFill>
                  </a:tcPr>
                </a:tc>
              </a:tr>
              <a:tr h="533400">
                <a:tc>
                  <a:txBody>
                    <a:bodyPr>
                      <a:noAutofit/>
                    </a:bodyPr>
                    <a:lstStyle/>
                    <a:p>
                      <a:pPr algn="l">
                        <a:buNone/>
                      </a:pPr>
                      <a:r>
                        <a:rPr sz="1200" b="0">
                          <a:solidFill>
                            <a:srgbClr val="344054"/>
                          </a:solidFill>
                          <a:latin typeface="Microsoft YaHei"/>
                          <a:ea typeface="Microsoft YaHei"/>
                          <a:cs typeface="Microsoft YaHei"/>
                        </a:rPr>
                        <a:t>07</a:t>
                      </a:r>
                    </a:p>
                  </a:txBody>
                  <a:tcPr marL="91440" marR="91440" marT="45720" marB="45720" anchor="ctr">
                    <a:solidFill>
                      <a:srgbClr val="FFFFFF"/>
                    </a:solidFill>
                  </a:tcPr>
                </a:tc>
                <a:tc>
                  <a:txBody>
                    <a:bodyPr>
                      <a:noAutofit/>
                    </a:bodyPr>
                    <a:lstStyle/>
                    <a:p>
                      <a:pPr algn="l">
                        <a:buNone/>
                      </a:pPr>
                      <a:r>
                        <a:rPr sz="1200" b="0">
                          <a:solidFill>
                            <a:srgbClr val="344054"/>
                          </a:solidFill>
                          <a:latin typeface="Microsoft YaHei"/>
                          <a:ea typeface="Microsoft YaHei"/>
                          <a:cs typeface="Microsoft YaHei"/>
                        </a:rPr>
                        <a:t>运行仓库 baseline</a:t>
                      </a:r>
                    </a:p>
                  </a:txBody>
                  <a:tcPr marL="91440" marR="91440" marT="45720" marB="45720" anchor="ctr">
                    <a:solidFill>
                      <a:srgbClr val="FFFFFF"/>
                    </a:solidFill>
                  </a:tcPr>
                </a:tc>
                <a:tc>
                  <a:txBody>
                    <a:bodyPr>
                      <a:noAutofit/>
                    </a:bodyPr>
                    <a:lstStyle/>
                    <a:p>
                      <a:pPr algn="l">
                        <a:buNone/>
                      </a:pPr>
                      <a:r>
                        <a:rPr sz="1200" b="0">
                          <a:solidFill>
                            <a:srgbClr val="344054"/>
                          </a:solidFill>
                          <a:latin typeface="Microsoft YaHei"/>
                          <a:ea typeface="Microsoft YaHei"/>
                          <a:cs typeface="Microsoft YaHei"/>
                        </a:rPr>
                        <a:t>默认参考曲线</a:t>
                      </a:r>
                    </a:p>
                  </a:txBody>
                  <a:tcPr marL="91440" marR="91440" marT="45720" marB="45720" anchor="ctr">
                    <a:solidFill>
                      <a:srgbClr val="FFFFFF"/>
                    </a:solidFill>
                  </a:tcPr>
                </a:tc>
              </a:tr>
            </a:tbl>
          </a:graphicData>
        </a:graphic>
      </p:graphicFrame>
      <p:graphicFrame>
        <p:nvGraphicFramePr>
          <p:cNvPr id="18" name=""/>
          <p:cNvGraphicFramePr/>
          <p:nvPr/>
        </p:nvGraphicFramePr>
        <p:xfrm>
          <a:off xmlns:a="http://schemas.openxmlformats.org/drawingml/2006/main" x="6343650" y="1295400"/>
          <a:ext xmlns:a="http://schemas.openxmlformats.org/drawingml/2006/main" cx="5238750" cy="4267200"/>
        </p:xfrm>
        <a:graphic xmlns:a="http://schemas.openxmlformats.org/drawingml/2006/main">
          <a:graphicData uri="http://schemas.openxmlformats.org/drawingml/2006/table">
            <a:tbl>
              <a:tblPr/>
              <a:tblGrid>
                <a:gridCol w="801221"/>
                <a:gridCol w="2896721"/>
                <a:gridCol w="1540809"/>
              </a:tblGrid>
              <a:tr h="533400">
                <a:tc>
                  <a:txBody>
                    <a:bodyPr>
                      <a:noAutofit/>
                    </a:bodyPr>
                    <a:lstStyle/>
                    <a:p>
                      <a:pPr algn="l">
                        <a:buNone/>
                      </a:pPr>
                      <a:r>
                        <a:rPr sz="1125" b="1">
                          <a:solidFill>
                            <a:srgbClr val="FFFFFF"/>
                          </a:solidFill>
                          <a:latin typeface="Microsoft YaHei"/>
                          <a:ea typeface="Microsoft YaHei"/>
                          <a:cs typeface="Microsoft YaHei"/>
                        </a:rPr>
                        <a:t>Step</a:t>
                      </a:r>
                    </a:p>
                  </a:txBody>
                  <a:tcPr marL="91440" marR="91440" marT="45720" marB="45720" anchor="ctr">
                    <a:solidFill>
                      <a:srgbClr val="102A43"/>
                    </a:solidFill>
                  </a:tcPr>
                </a:tc>
                <a:tc>
                  <a:txBody>
                    <a:bodyPr>
                      <a:noAutofit/>
                    </a:bodyPr>
                    <a:lstStyle/>
                    <a:p>
                      <a:pPr algn="l">
                        <a:buNone/>
                      </a:pPr>
                      <a:r>
                        <a:rPr sz="1125" b="1">
                          <a:solidFill>
                            <a:srgbClr val="FFFFFF"/>
                          </a:solidFill>
                          <a:latin typeface="Microsoft YaHei"/>
                          <a:ea typeface="Microsoft YaHei"/>
                          <a:cs typeface="Microsoft YaHei"/>
                        </a:rPr>
                        <a:t>计算内容</a:t>
                      </a:r>
                    </a:p>
                  </a:txBody>
                  <a:tcPr marL="91440" marR="91440" marT="45720" marB="45720" anchor="ctr">
                    <a:solidFill>
                      <a:srgbClr val="102A43"/>
                    </a:solidFill>
                  </a:tcPr>
                </a:tc>
                <a:tc>
                  <a:txBody>
                    <a:bodyPr>
                      <a:noAutofit/>
                    </a:bodyPr>
                    <a:lstStyle/>
                    <a:p>
                      <a:pPr algn="l">
                        <a:buNone/>
                      </a:pPr>
                      <a:r>
                        <a:rPr sz="1125" b="1">
                          <a:solidFill>
                            <a:srgbClr val="FFFFFF"/>
                          </a:solidFill>
                          <a:latin typeface="Microsoft YaHei"/>
                          <a:ea typeface="Microsoft YaHei"/>
                          <a:cs typeface="Microsoft YaHei"/>
                        </a:rPr>
                        <a:t>主要输出</a:t>
                      </a:r>
                    </a:p>
                  </a:txBody>
                  <a:tcPr marL="91440" marR="91440" marT="45720" marB="45720" anchor="ctr">
                    <a:solidFill>
                      <a:srgbClr val="102A43"/>
                    </a:solidFill>
                  </a:tcPr>
                </a:tc>
              </a:tr>
              <a:tr h="533400">
                <a:tc>
                  <a:txBody>
                    <a:bodyPr>
                      <a:noAutofit/>
                    </a:bodyPr>
                    <a:lstStyle/>
                    <a:p>
                      <a:pPr algn="l">
                        <a:buNone/>
                      </a:pPr>
                      <a:r>
                        <a:rPr sz="1200" b="0">
                          <a:solidFill>
                            <a:srgbClr val="344054"/>
                          </a:solidFill>
                          <a:latin typeface="Microsoft YaHei"/>
                          <a:ea typeface="Microsoft YaHei"/>
                          <a:cs typeface="Microsoft YaHei"/>
                        </a:rPr>
                        <a:t>08</a:t>
                      </a:r>
                    </a:p>
                  </a:txBody>
                  <a:tcPr marL="91440" marR="91440" marT="45720" marB="45720" anchor="ctr">
                    <a:solidFill>
                      <a:srgbClr val="FFFFFF"/>
                    </a:solidFill>
                  </a:tcPr>
                </a:tc>
                <a:tc>
                  <a:txBody>
                    <a:bodyPr>
                      <a:noAutofit/>
                    </a:bodyPr>
                    <a:lstStyle/>
                    <a:p>
                      <a:pPr algn="l">
                        <a:buNone/>
                      </a:pPr>
                      <a:r>
                        <a:rPr sz="1200" b="0">
                          <a:solidFill>
                            <a:srgbClr val="344054"/>
                          </a:solidFill>
                          <a:latin typeface="Microsoft YaHei"/>
                          <a:ea typeface="Microsoft YaHei"/>
                          <a:cs typeface="Microsoft YaHei"/>
                        </a:rPr>
                        <a:t>设计单因素敏感性扫描</a:t>
                      </a:r>
                    </a:p>
                  </a:txBody>
                  <a:tcPr marL="91440" marR="91440" marT="45720" marB="45720" anchor="ctr">
                    <a:solidFill>
                      <a:srgbClr val="FFFFFF"/>
                    </a:solidFill>
                  </a:tcPr>
                </a:tc>
                <a:tc>
                  <a:txBody>
                    <a:bodyPr>
                      <a:noAutofit/>
                    </a:bodyPr>
                    <a:lstStyle/>
                    <a:p>
                      <a:pPr algn="l">
                        <a:buNone/>
                      </a:pPr>
                      <a:r>
                        <a:rPr sz="1200" b="0">
                          <a:solidFill>
                            <a:srgbClr val="344054"/>
                          </a:solidFill>
                          <a:latin typeface="Microsoft YaHei"/>
                          <a:ea typeface="Microsoft YaHei"/>
                          <a:cs typeface="Microsoft YaHei"/>
                        </a:rPr>
                        <a:t>T / RIN / alignment / jitter</a:t>
                      </a:r>
                    </a:p>
                  </a:txBody>
                  <a:tcPr marL="91440" marR="91440" marT="45720" marB="45720" anchor="ctr">
                    <a:solidFill>
                      <a:srgbClr val="FFFFFF"/>
                    </a:solidFill>
                  </a:tcPr>
                </a:tc>
              </a:tr>
              <a:tr h="533400">
                <a:tc>
                  <a:txBody>
                    <a:bodyPr>
                      <a:noAutofit/>
                    </a:bodyPr>
                    <a:lstStyle/>
                    <a:p>
                      <a:pPr algn="l">
                        <a:buNone/>
                      </a:pPr>
                      <a:r>
                        <a:rPr sz="1200" b="0">
                          <a:solidFill>
                            <a:srgbClr val="344054"/>
                          </a:solidFill>
                          <a:latin typeface="Microsoft YaHei"/>
                          <a:ea typeface="Microsoft YaHei"/>
                          <a:cs typeface="Microsoft YaHei"/>
                        </a:rPr>
                        <a:t>09</a:t>
                      </a:r>
                    </a:p>
                  </a:txBody>
                  <a:tcPr marL="91440" marR="91440" marT="45720" marB="45720" anchor="ctr">
                    <a:solidFill>
                      <a:srgbClr val="F8FAFC"/>
                    </a:solidFill>
                  </a:tcPr>
                </a:tc>
                <a:tc>
                  <a:txBody>
                    <a:bodyPr>
                      <a:noAutofit/>
                    </a:bodyPr>
                    <a:lstStyle/>
                    <a:p>
                      <a:pPr algn="l">
                        <a:buNone/>
                      </a:pPr>
                      <a:r>
                        <a:rPr sz="1200" b="0">
                          <a:solidFill>
                            <a:srgbClr val="344054"/>
                          </a:solidFill>
                          <a:latin typeface="Microsoft YaHei"/>
                          <a:ea typeface="Microsoft YaHei"/>
                          <a:cs typeface="Microsoft YaHei"/>
                        </a:rPr>
                        <a:t>读取扫描端点并比较机制</a:t>
                      </a:r>
                    </a:p>
                  </a:txBody>
                  <a:tcPr marL="91440" marR="91440" marT="45720" marB="45720" anchor="ctr">
                    <a:solidFill>
                      <a:srgbClr val="F8FAFC"/>
                    </a:solidFill>
                  </a:tcPr>
                </a:tc>
                <a:tc>
                  <a:txBody>
                    <a:bodyPr>
                      <a:noAutofit/>
                    </a:bodyPr>
                    <a:lstStyle/>
                    <a:p>
                      <a:pPr algn="l">
                        <a:buNone/>
                      </a:pPr>
                      <a:r>
                        <a:rPr sz="1200" b="0">
                          <a:solidFill>
                            <a:srgbClr val="344054"/>
                          </a:solidFill>
                          <a:latin typeface="Microsoft YaHei"/>
                          <a:ea typeface="Microsoft YaHei"/>
                          <a:cs typeface="Microsoft YaHei"/>
                        </a:rPr>
                        <a:t>S(60) sensitivity</a:t>
                      </a:r>
                    </a:p>
                  </a:txBody>
                  <a:tcPr marL="91440" marR="91440" marT="45720" marB="45720" anchor="ctr">
                    <a:solidFill>
                      <a:srgbClr val="F8FAFC"/>
                    </a:solidFill>
                  </a:tcPr>
                </a:tc>
              </a:tr>
              <a:tr h="533400">
                <a:tc>
                  <a:txBody>
                    <a:bodyPr>
                      <a:noAutofit/>
                    </a:bodyPr>
                    <a:lstStyle/>
                    <a:p>
                      <a:pPr algn="l">
                        <a:buNone/>
                      </a:pPr>
                      <a:r>
                        <a:rPr sz="1200" b="0">
                          <a:solidFill>
                            <a:srgbClr val="344054"/>
                          </a:solidFill>
                          <a:latin typeface="Microsoft YaHei"/>
                          <a:ea typeface="Microsoft YaHei"/>
                          <a:cs typeface="Microsoft YaHei"/>
                        </a:rPr>
                        <a:t>10</a:t>
                      </a:r>
                    </a:p>
                  </a:txBody>
                  <a:tcPr marL="91440" marR="91440" marT="45720" marB="45720" anchor="ctr">
                    <a:solidFill>
                      <a:srgbClr val="FFFFFF"/>
                    </a:solidFill>
                  </a:tcPr>
                </a:tc>
                <a:tc>
                  <a:txBody>
                    <a:bodyPr>
                      <a:noAutofit/>
                    </a:bodyPr>
                    <a:lstStyle/>
                    <a:p>
                      <a:pPr algn="l">
                        <a:buNone/>
                      </a:pPr>
                      <a:r>
                        <a:rPr sz="1200" b="0">
                          <a:solidFill>
                            <a:srgbClr val="344054"/>
                          </a:solidFill>
                          <a:latin typeface="Microsoft YaHei"/>
                          <a:ea typeface="Microsoft YaHei"/>
                          <a:cs typeface="Microsoft YaHei"/>
                        </a:rPr>
                        <a:t>检查 T40 的完整时长曲线</a:t>
                      </a:r>
                    </a:p>
                  </a:txBody>
                  <a:tcPr marL="91440" marR="91440" marT="45720" marB="45720" anchor="ctr">
                    <a:solidFill>
                      <a:srgbClr val="FFFFFF"/>
                    </a:solidFill>
                  </a:tcPr>
                </a:tc>
                <a:tc>
                  <a:txBody>
                    <a:bodyPr>
                      <a:noAutofit/>
                    </a:bodyPr>
                    <a:lstStyle/>
                    <a:p>
                      <a:pPr algn="l">
                        <a:buNone/>
                      </a:pPr>
                      <a:r>
                        <a:rPr sz="1200" b="0">
                          <a:solidFill>
                            <a:srgbClr val="344054"/>
                          </a:solidFill>
                          <a:latin typeface="Microsoft YaHei"/>
                          <a:ea typeface="Microsoft YaHei"/>
                          <a:cs typeface="Microsoft YaHei"/>
                        </a:rPr>
                        <a:t>200 / 400 / 600 µs</a:t>
                      </a:r>
                    </a:p>
                  </a:txBody>
                  <a:tcPr marL="91440" marR="91440" marT="45720" marB="45720" anchor="ctr">
                    <a:solidFill>
                      <a:srgbClr val="FFFFFF"/>
                    </a:solidFill>
                  </a:tcPr>
                </a:tc>
              </a:tr>
              <a:tr h="533400">
                <a:tc>
                  <a:txBody>
                    <a:bodyPr>
                      <a:noAutofit/>
                    </a:bodyPr>
                    <a:lstStyle/>
                    <a:p>
                      <a:pPr algn="l">
                        <a:buNone/>
                      </a:pPr>
                      <a:r>
                        <a:rPr sz="1200" b="0">
                          <a:solidFill>
                            <a:srgbClr val="344054"/>
                          </a:solidFill>
                          <a:latin typeface="Microsoft YaHei"/>
                          <a:ea typeface="Microsoft YaHei"/>
                          <a:cs typeface="Microsoft YaHei"/>
                        </a:rPr>
                        <a:t>11</a:t>
                      </a:r>
                    </a:p>
                  </a:txBody>
                  <a:tcPr marL="91440" marR="91440" marT="45720" marB="45720" anchor="ctr">
                    <a:solidFill>
                      <a:srgbClr val="F8FAFC"/>
                    </a:solidFill>
                  </a:tcPr>
                </a:tc>
                <a:tc>
                  <a:txBody>
                    <a:bodyPr>
                      <a:noAutofit/>
                    </a:bodyPr>
                    <a:lstStyle/>
                    <a:p>
                      <a:pPr algn="l">
                        <a:buNone/>
                      </a:pPr>
                      <a:r>
                        <a:rPr sz="1200" b="0">
                          <a:solidFill>
                            <a:srgbClr val="344054"/>
                          </a:solidFill>
                          <a:latin typeface="Microsoft YaHei"/>
                          <a:ea typeface="Microsoft YaHei"/>
                          <a:cs typeface="Microsoft YaHei"/>
                        </a:rPr>
                        <a:t>数字化 Fig. 6c ML 波形</a:t>
                      </a:r>
                    </a:p>
                  </a:txBody>
                  <a:tcPr marL="91440" marR="91440" marT="45720" marB="45720" anchor="ctr">
                    <a:solidFill>
                      <a:srgbClr val="F8FAFC"/>
                    </a:solidFill>
                  </a:tcPr>
                </a:tc>
                <a:tc>
                  <a:txBody>
                    <a:bodyPr>
                      <a:noAutofit/>
                    </a:bodyPr>
                    <a:lstStyle/>
                    <a:p>
                      <a:pPr algn="l">
                        <a:buNone/>
                      </a:pPr>
                      <a:r>
                        <a:rPr sz="1200" b="0">
                          <a:solidFill>
                            <a:srgbClr val="344054"/>
                          </a:solidFill>
                          <a:latin typeface="Microsoft YaHei"/>
                          <a:ea typeface="Microsoft YaHei"/>
                          <a:cs typeface="Microsoft YaHei"/>
                        </a:rPr>
                        <a:t>15-node trajectory</a:t>
                      </a:r>
                    </a:p>
                  </a:txBody>
                  <a:tcPr marL="91440" marR="91440" marT="45720" marB="45720" anchor="ctr">
                    <a:solidFill>
                      <a:srgbClr val="F8FAFC"/>
                    </a:solidFill>
                  </a:tcPr>
                </a:tc>
              </a:tr>
              <a:tr h="533400">
                <a:tc>
                  <a:txBody>
                    <a:bodyPr>
                      <a:noAutofit/>
                    </a:bodyPr>
                    <a:lstStyle/>
                    <a:p>
                      <a:pPr algn="l">
                        <a:buNone/>
                      </a:pPr>
                      <a:r>
                        <a:rPr sz="1200" b="0">
                          <a:solidFill>
                            <a:srgbClr val="344054"/>
                          </a:solidFill>
                          <a:latin typeface="Microsoft YaHei"/>
                          <a:ea typeface="Microsoft YaHei"/>
                          <a:cs typeface="Microsoft YaHei"/>
                        </a:rPr>
                        <a:t>12</a:t>
                      </a:r>
                    </a:p>
                  </a:txBody>
                  <a:tcPr marL="91440" marR="91440" marT="45720" marB="45720" anchor="ctr">
                    <a:solidFill>
                      <a:srgbClr val="FFFFFF"/>
                    </a:solidFill>
                  </a:tcPr>
                </a:tc>
                <a:tc>
                  <a:txBody>
                    <a:bodyPr>
                      <a:noAutofit/>
                    </a:bodyPr>
                    <a:lstStyle/>
                    <a:p>
                      <a:pPr algn="l">
                        <a:buNone/>
                      </a:pPr>
                      <a:r>
                        <a:rPr sz="1200" b="0">
                          <a:solidFill>
                            <a:srgbClr val="344054"/>
                          </a:solidFill>
                          <a:latin typeface="Microsoft YaHei"/>
                          <a:ea typeface="Microsoft YaHei"/>
                          <a:cs typeface="Microsoft YaHei"/>
                        </a:rPr>
                        <a:t>比较 Manual 与 ML</a:t>
                      </a:r>
                    </a:p>
                  </a:txBody>
                  <a:tcPr marL="91440" marR="91440" marT="45720" marB="45720" anchor="ctr">
                    <a:solidFill>
                      <a:srgbClr val="FFFFFF"/>
                    </a:solidFill>
                  </a:tcPr>
                </a:tc>
                <a:tc>
                  <a:txBody>
                    <a:bodyPr>
                      <a:noAutofit/>
                    </a:bodyPr>
                    <a:lstStyle/>
                    <a:p>
                      <a:pPr algn="l">
                        <a:buNone/>
                      </a:pPr>
                      <a:r>
                        <a:rPr sz="1200" b="0">
                          <a:solidFill>
                            <a:srgbClr val="344054"/>
                          </a:solidFill>
                          <a:latin typeface="Microsoft YaHei"/>
                          <a:ea typeface="Microsoft YaHei"/>
                          <a:cs typeface="Microsoft YaHei"/>
                        </a:rPr>
                        <a:t>endpoint gain</a:t>
                      </a:r>
                    </a:p>
                  </a:txBody>
                  <a:tcPr marL="91440" marR="91440" marT="45720" marB="45720" anchor="ctr">
                    <a:solidFill>
                      <a:srgbClr val="FFFFFF"/>
                    </a:solidFill>
                  </a:tcPr>
                </a:tc>
              </a:tr>
              <a:tr h="533400">
                <a:tc>
                  <a:txBody>
                    <a:bodyPr>
                      <a:noAutofit/>
                    </a:bodyPr>
                    <a:lstStyle/>
                    <a:p>
                      <a:pPr algn="l">
                        <a:buNone/>
                      </a:pPr>
                      <a:r>
                        <a:rPr sz="1200" b="0">
                          <a:solidFill>
                            <a:srgbClr val="344054"/>
                          </a:solidFill>
                          <a:latin typeface="Microsoft YaHei"/>
                          <a:ea typeface="Microsoft YaHei"/>
                          <a:cs typeface="Microsoft YaHei"/>
                        </a:rPr>
                        <a:t>13</a:t>
                      </a:r>
                    </a:p>
                  </a:txBody>
                  <a:tcPr marL="91440" marR="91440" marT="45720" marB="45720" anchor="ctr">
                    <a:solidFill>
                      <a:srgbClr val="F8FAFC"/>
                    </a:solidFill>
                  </a:tcPr>
                </a:tc>
                <a:tc>
                  <a:txBody>
                    <a:bodyPr>
                      <a:noAutofit/>
                    </a:bodyPr>
                    <a:lstStyle/>
                    <a:p>
                      <a:pPr algn="l">
                        <a:buNone/>
                      </a:pPr>
                      <a:r>
                        <a:rPr sz="1200" b="0">
                          <a:solidFill>
                            <a:srgbClr val="344054"/>
                          </a:solidFill>
                          <a:latin typeface="Microsoft YaHei"/>
                          <a:ea typeface="Microsoft YaHei"/>
                          <a:cs typeface="Microsoft YaHei"/>
                        </a:rPr>
                        <a:t>分离位置和深度贡献</a:t>
                      </a:r>
                    </a:p>
                  </a:txBody>
                  <a:tcPr marL="91440" marR="91440" marT="45720" marB="45720" anchor="ctr">
                    <a:solidFill>
                      <a:srgbClr val="F8FAFC"/>
                    </a:solidFill>
                  </a:tcPr>
                </a:tc>
                <a:tc>
                  <a:txBody>
                    <a:bodyPr>
                      <a:noAutofit/>
                    </a:bodyPr>
                    <a:lstStyle/>
                    <a:p>
                      <a:pPr algn="l">
                        <a:buNone/>
                      </a:pPr>
                      <a:r>
                        <a:rPr sz="1200" b="0">
                          <a:solidFill>
                            <a:srgbClr val="344054"/>
                          </a:solidFill>
                          <a:latin typeface="Microsoft YaHei"/>
                          <a:ea typeface="Microsoft YaHei"/>
                          <a:cs typeface="Microsoft YaHei"/>
                        </a:rPr>
                        <a:t>2×2 ablation</a:t>
                      </a:r>
                    </a:p>
                  </a:txBody>
                  <a:tcPr marL="91440" marR="91440" marT="45720" marB="45720" anchor="ctr">
                    <a:solidFill>
                      <a:srgbClr val="F8FAFC"/>
                    </a:solidFill>
                  </a:tcPr>
                </a:tc>
              </a:tr>
              <a:tr h="533400">
                <a:tc>
                  <a:txBody>
                    <a:bodyPr>
                      <a:noAutofit/>
                    </a:bodyPr>
                    <a:lstStyle/>
                    <a:p>
                      <a:pPr algn="l">
                        <a:buNone/>
                      </a:pPr>
                      <a:r>
                        <a:rPr sz="1200" b="0">
                          <a:solidFill>
                            <a:srgbClr val="344054"/>
                          </a:solidFill>
                          <a:latin typeface="Microsoft YaHei"/>
                          <a:ea typeface="Microsoft YaHei"/>
                          <a:cs typeface="Microsoft YaHei"/>
                        </a:rPr>
                        <a:t>14–15</a:t>
                      </a:r>
                    </a:p>
                  </a:txBody>
                  <a:tcPr marL="91440" marR="91440" marT="45720" marB="45720" anchor="ctr">
                    <a:solidFill>
                      <a:srgbClr val="FFFFFF"/>
                    </a:solidFill>
                  </a:tcPr>
                </a:tc>
                <a:tc>
                  <a:txBody>
                    <a:bodyPr>
                      <a:noAutofit/>
                    </a:bodyPr>
                    <a:lstStyle/>
                    <a:p>
                      <a:pPr algn="l">
                        <a:buNone/>
                      </a:pPr>
                      <a:r>
                        <a:rPr sz="1200" b="0">
                          <a:solidFill>
                            <a:srgbClr val="344054"/>
                          </a:solidFill>
                          <a:latin typeface="Microsoft YaHei"/>
                          <a:ea typeface="Microsoft YaHei"/>
                          <a:cs typeface="Microsoft YaHei"/>
                        </a:rPr>
                        <a:t>逐点验收并界定模型边界</a:t>
                      </a:r>
                    </a:p>
                  </a:txBody>
                  <a:tcPr marL="91440" marR="91440" marT="45720" marB="45720" anchor="ctr">
                    <a:solidFill>
                      <a:srgbClr val="FFFFFF"/>
                    </a:solidFill>
                  </a:tcPr>
                </a:tc>
                <a:tc>
                  <a:txBody>
                    <a:bodyPr>
                      <a:noAutofit/>
                    </a:bodyPr>
                    <a:lstStyle/>
                    <a:p>
                      <a:pPr algn="l">
                        <a:buNone/>
                      </a:pPr>
                      <a:r>
                        <a:rPr sz="1200" b="0">
                          <a:solidFill>
                            <a:srgbClr val="344054"/>
                          </a:solidFill>
                          <a:latin typeface="Microsoft YaHei"/>
                          <a:ea typeface="Microsoft YaHei"/>
                          <a:cs typeface="Microsoft YaHei"/>
                        </a:rPr>
                        <a:t>curve error / gaps</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F905DB00-75C5-47D3-8569-871C949B953A}"/>
              </a:ext>
            </a:extLst>
          </p:cNvPr>
          <p:cNvSpPr>
            <a:spLocks xmlns:a="http://schemas.openxmlformats.org/drawingml/2006/main" noGrp="1"/>
          </p:cNvSpPr>
          <p:nvPr/>
        </p:nvSpPr>
        <p:spPr>
          <a:xfrm xmlns:a="http://schemas.openxmlformats.org/drawingml/2006/main">
            <a:off x="609600" y="5772150"/>
            <a:ext cx="10972800" cy="476250"/>
          </a:xfrm>
          <a:prstGeom xmlns:a="http://schemas.openxmlformats.org/drawingml/2006/main" prst="roundRect">
            <a:avLst>
              <a:gd name="adj" fmla="val 16000"/>
            </a:avLst>
          </a:prstGeom>
          <a:solidFill xmlns:a="http://schemas.openxmlformats.org/drawingml/2006/main">
            <a:srgbClr val="EFF8FF"/>
          </a:solidFill>
          <a:ln xmlns:a="http://schemas.openxmlformats.org/drawingml/2006/main" w="9525">
            <a:solidFill>
              <a:srgbClr val="B2DDFF"/>
            </a:solidFill>
          </a:ln>
        </p:spPr>
      </p:sp>
      <p:sp>
        <p:nvSpPr>
          <p:cNvPr id="7" name="">
            <a:extLst xmlns:a="http://schemas.openxmlformats.org/drawingml/2006/main">
              <a:ext uri="{FF2B5EF4-FFF2-40B4-BE49-F238E27FC236}">
                <a16:creationId xmlns:a16="http://schemas.microsoft.com/office/drawing/2014/main" id="{A704F5D7-A56B-400B-B76E-7435C1530274}"/>
              </a:ext>
            </a:extLst>
          </p:cNvPr>
          <p:cNvSpPr>
            <a:spLocks xmlns:a="http://schemas.openxmlformats.org/drawingml/2006/main" noGrp="1"/>
          </p:cNvSpPr>
          <p:nvPr/>
        </p:nvSpPr>
        <p:spPr>
          <a:xfrm xmlns:a="http://schemas.openxmlformats.org/drawingml/2006/main">
            <a:off x="838200" y="5876925"/>
            <a:ext cx="10515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63" b="0">
                <a:solidFill>
                  <a:srgbClr val="1570EF"/>
                </a:solidFill>
                <a:latin typeface="Microsoft YaHei"/>
                <a:ea typeface="Microsoft YaHei"/>
                <a:cs typeface="Microsoft YaHei"/>
              </a:defRPr>
            </a:pPr>
            <a:r>
              <a:rPr sz="1163" b="0">
                <a:solidFill>
                  <a:srgbClr val="1570EF"/>
                </a:solidFill>
                <a:latin typeface="Microsoft YaHei"/>
                <a:ea typeface="Microsoft YaHei"/>
                <a:cs typeface="Microsoft YaHei"/>
              </a:rPr>
              <a:t>工作边界：仓库已经包含 Monte Carlo 原始输出。本报告复核这些输出，并重新计算单调论文参考线、逐点偏差和验收指标，没有为匹配论文重新拟合参数。</a:t>
            </a:r>
          </a:p>
        </p:txBody>
      </p:sp>
      <p:sp>
        <p:nvSpPr>
          <p:cNvPr id="8" name="">
            <a:extLst xmlns:a="http://schemas.openxmlformats.org/drawingml/2006/main">
              <a:ext uri="{FF2B5EF4-FFF2-40B4-BE49-F238E27FC236}">
                <a16:creationId xmlns:a16="http://schemas.microsoft.com/office/drawing/2014/main" id="{5558F064-528A-4771-B037-6B1289038032}"/>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9" name="">
            <a:extLst xmlns:a="http://schemas.openxmlformats.org/drawingml/2006/main">
              <a:ext uri="{FF2B5EF4-FFF2-40B4-BE49-F238E27FC236}">
                <a16:creationId xmlns:a16="http://schemas.microsoft.com/office/drawing/2014/main" id="{BB904038-DD9E-4D05-BBC6-9E801C2BA802}"/>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Level 2C README · configs · Stage-1 outputs · report recomputation</a:t>
            </a:r>
          </a:p>
        </p:txBody>
      </p:sp>
      <p:sp>
        <p:nvSpPr>
          <p:cNvPr id="10" name="">
            <a:extLst xmlns:a="http://schemas.openxmlformats.org/drawingml/2006/main">
              <a:ext uri="{FF2B5EF4-FFF2-40B4-BE49-F238E27FC236}">
                <a16:creationId xmlns:a16="http://schemas.microsoft.com/office/drawing/2014/main" id="{CC1C8CD9-DF5B-4BA0-ACC8-76CACC71DADE}"/>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02</a:t>
            </a:r>
          </a:p>
        </p:txBody>
      </p:sp>
    </p:spTree>
    <p:extLst>
      <p:ext uri="{BB962C8B-B14F-4D97-AF65-F5344CB8AC3E}">
        <p14:creationId xmlns:p14="http://schemas.microsoft.com/office/powerpoint/2010/main" val="473448953"/>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52CDCDE-B3EB-496B-BCD6-99EBB5B9DECB}"/>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01</a:t>
            </a:r>
          </a:p>
        </p:txBody>
      </p:sp>
      <p:sp>
        <p:nvSpPr>
          <p:cNvPr id="2" name="">
            <a:extLst xmlns:a="http://schemas.openxmlformats.org/drawingml/2006/main">
              <a:ext uri="{FF2B5EF4-FFF2-40B4-BE49-F238E27FC236}">
                <a16:creationId xmlns:a16="http://schemas.microsoft.com/office/drawing/2014/main" id="{42420B70-725A-4EF4-827B-BB2B37099E7A}"/>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论文数据与验收目标</a:t>
            </a:r>
          </a:p>
        </p:txBody>
      </p:sp>
      <p:sp>
        <p:nvSpPr>
          <p:cNvPr id="3" name="">
            <a:extLst xmlns:a="http://schemas.openxmlformats.org/drawingml/2006/main">
              <a:ext uri="{FF2B5EF4-FFF2-40B4-BE49-F238E27FC236}">
                <a16:creationId xmlns:a16="http://schemas.microsoft.com/office/drawing/2014/main" id="{5ECDB16E-5470-48C2-93B9-D49D6626D874}"/>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058D74C7-1E42-4E2C-9EB7-F202F08CC088}"/>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先固定比较对象，再查看模拟结果；Fig. 6d survival 与 IRB fidelity 分开处理</a:t>
            </a:r>
          </a:p>
        </p:txBody>
      </p:sp>
      <p:sp>
        <p:nvSpPr>
          <p:cNvPr id="5" name="">
            <a:extLst xmlns:a="http://schemas.openxmlformats.org/drawingml/2006/main">
              <a:ext uri="{FF2B5EF4-FFF2-40B4-BE49-F238E27FC236}">
                <a16:creationId xmlns:a16="http://schemas.microsoft.com/office/drawing/2014/main" id="{CB53B790-E8BA-44D4-82E7-D6AF76382387}"/>
              </a:ext>
            </a:extLst>
          </p:cNvPr>
          <p:cNvSpPr>
            <a:spLocks xmlns:a="http://schemas.openxmlformats.org/drawingml/2006/main" noGrp="1"/>
          </p:cNvSpPr>
          <p:nvPr/>
        </p:nvSpPr>
        <p:spPr>
          <a:xfrm xmlns:a="http://schemas.openxmlformats.org/drawingml/2006/main">
            <a:off x="609600" y="1257300"/>
            <a:ext cx="6000750" cy="4229100"/>
          </a:xfrm>
          <a:prstGeom xmlns:a="http://schemas.openxmlformats.org/drawingml/2006/main" prst="roundRect">
            <a:avLst>
              <a:gd name="adj" fmla="val 1802"/>
            </a:avLst>
          </a:prstGeom>
          <a:solidFill xmlns:a="http://schemas.openxmlformats.org/drawingml/2006/main">
            <a:srgbClr val="FFFFFF"/>
          </a:solidFill>
          <a:ln xmlns:a="http://schemas.openxmlformats.org/drawingml/2006/main" w="9525">
            <a:solidFill>
              <a:srgbClr val="EAECF0"/>
            </a:solidFill>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9e12587e82c64e73"/>
          <a:srcRect xmlns:a="http://schemas.openxmlformats.org/drawingml/2006/main" l="2898" t="0" r="2898" b="0"/>
          <a:stretch xmlns:a="http://schemas.openxmlformats.org/drawingml/2006/main">
            <a:fillRect l="0" t="0" r="0" b="0"/>
          </a:stretch>
        </p:blipFill>
        <p:spPr>
          <a:xfrm xmlns:a="http://schemas.openxmlformats.org/drawingml/2006/main">
            <a:off x="781050" y="1428750"/>
            <a:ext cx="5657850" cy="3886200"/>
          </a:xfrm>
          <a:prstGeom xmlns:a="http://schemas.openxmlformats.org/drawingml/2006/main" prst="roundRect">
            <a:avLst>
              <a:gd name="adj" fmla="val 2451"/>
            </a:avLst>
          </a:prstGeom>
        </p:spPr>
      </p:pic>
      <p:sp>
        <p:nvSpPr>
          <p:cNvPr id="7" name="">
            <a:extLst xmlns:a="http://schemas.openxmlformats.org/drawingml/2006/main">
              <a:ext uri="{FF2B5EF4-FFF2-40B4-BE49-F238E27FC236}">
                <a16:creationId xmlns:a16="http://schemas.microsoft.com/office/drawing/2014/main" id="{BCE67121-8BE3-4447-9415-A1771E26D1E4}"/>
              </a:ext>
            </a:extLst>
          </p:cNvPr>
          <p:cNvSpPr>
            <a:spLocks xmlns:a="http://schemas.openxmlformats.org/drawingml/2006/main" noGrp="1"/>
          </p:cNvSpPr>
          <p:nvPr/>
        </p:nvSpPr>
        <p:spPr>
          <a:xfrm xmlns:a="http://schemas.openxmlformats.org/drawingml/2006/main">
            <a:off x="6915150" y="1257300"/>
            <a:ext cx="4667250" cy="4229100"/>
          </a:xfrm>
          <a:prstGeom xmlns:a="http://schemas.openxmlformats.org/drawingml/2006/main" prst="roundRect">
            <a:avLst>
              <a:gd name="adj" fmla="val 1802"/>
            </a:avLst>
          </a:prstGeom>
          <a:solidFill xmlns:a="http://schemas.openxmlformats.org/drawingml/2006/main">
            <a:srgbClr val="FFFFFF"/>
          </a:solidFill>
          <a:ln xmlns:a="http://schemas.openxmlformats.org/drawingml/2006/main" w="9525">
            <a:solidFill>
              <a:srgbClr val="EAECF0"/>
            </a:solidFill>
          </a:ln>
        </p:spPr>
      </p:sp>
      <p:sp>
        <p:nvSpPr>
          <p:cNvPr id="8" name="">
            <a:extLst xmlns:a="http://schemas.openxmlformats.org/drawingml/2006/main">
              <a:ext uri="{FF2B5EF4-FFF2-40B4-BE49-F238E27FC236}">
                <a16:creationId xmlns:a16="http://schemas.microsoft.com/office/drawing/2014/main" id="{9184EEE9-9726-4556-AF54-B4863A427188}"/>
              </a:ext>
            </a:extLst>
          </p:cNvPr>
          <p:cNvSpPr>
            <a:spLocks xmlns:a="http://schemas.openxmlformats.org/drawingml/2006/main" noGrp="1"/>
          </p:cNvSpPr>
          <p:nvPr/>
        </p:nvSpPr>
        <p:spPr>
          <a:xfrm xmlns:a="http://schemas.openxmlformats.org/drawingml/2006/main">
            <a:off x="7162800" y="14668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00" b="1">
                <a:solidFill>
                  <a:srgbClr val="102A43"/>
                </a:solidFill>
                <a:latin typeface="Microsoft YaHei"/>
                <a:ea typeface="Microsoft YaHei"/>
                <a:cs typeface="Microsoft YaHei"/>
              </a:defRPr>
            </a:pPr>
            <a:r>
              <a:rPr sz="1500" b="1">
                <a:solidFill>
                  <a:srgbClr val="102A43"/>
                </a:solidFill>
                <a:latin typeface="Microsoft YaHei"/>
                <a:ea typeface="Microsoft YaHei"/>
                <a:cs typeface="Microsoft YaHei"/>
              </a:rPr>
              <a:t>需要复现的四条曲线</a:t>
            </a:r>
          </a:p>
        </p:txBody>
      </p:sp>
      <p:graphicFrame>
        <p:nvGraphicFramePr>
          <p:cNvPr id="28" name=""/>
          <p:cNvGraphicFramePr/>
          <p:nvPr/>
        </p:nvGraphicFramePr>
        <p:xfrm>
          <a:off xmlns:a="http://schemas.openxmlformats.org/drawingml/2006/main" x="7162800" y="1924050"/>
          <a:ext xmlns:a="http://schemas.openxmlformats.org/drawingml/2006/main" cx="4171950" cy="2247900"/>
        </p:xfrm>
        <a:graphic xmlns:a="http://schemas.openxmlformats.org/drawingml/2006/main">
          <a:graphicData uri="http://schemas.openxmlformats.org/drawingml/2006/table">
            <a:tbl>
              <a:tblPr/>
              <a:tblGrid>
                <a:gridCol w="2029597"/>
                <a:gridCol w="1127554"/>
                <a:gridCol w="1014799"/>
              </a:tblGrid>
              <a:tr h="449580">
                <a:tc>
                  <a:txBody>
                    <a:bodyPr>
                      <a:noAutofit/>
                    </a:bodyPr>
                    <a:lstStyle/>
                    <a:p>
                      <a:pPr algn="l">
                        <a:buNone/>
                      </a:pPr>
                      <a:r>
                        <a:rPr sz="1050" b="1">
                          <a:solidFill>
                            <a:srgbClr val="FFFFFF"/>
                          </a:solidFill>
                          <a:latin typeface="Microsoft YaHei"/>
                          <a:ea typeface="Microsoft YaHei"/>
                          <a:cs typeface="Microsoft YaHei"/>
                        </a:rPr>
                        <a:t>Trajectory</a:t>
                      </a:r>
                    </a:p>
                  </a:txBody>
                  <a:tcPr marL="91440" marR="91440" marT="45720" marB="45720" anchor="ctr">
                    <a:solidFill>
                      <a:srgbClr val="102A43"/>
                    </a:solidFill>
                  </a:tcPr>
                </a:tc>
                <a:tc>
                  <a:txBody>
                    <a:bodyPr>
                      <a:noAutofit/>
                    </a:bodyPr>
                    <a:lstStyle/>
                    <a:p>
                      <a:pPr algn="ctr">
                        <a:buNone/>
                      </a:pPr>
                      <a:r>
                        <a:rPr sz="1050" b="1">
                          <a:solidFill>
                            <a:srgbClr val="FFFFFF"/>
                          </a:solidFill>
                          <a:latin typeface="Microsoft YaHei"/>
                          <a:ea typeface="Microsoft YaHei"/>
                          <a:cs typeface="Microsoft YaHei"/>
                        </a:rPr>
                        <a:t>Endpoint</a:t>
                      </a:r>
                    </a:p>
                  </a:txBody>
                  <a:tcPr marL="91440" marR="91440" marT="45720" marB="45720" anchor="ctr">
                    <a:solidFill>
                      <a:srgbClr val="102A43"/>
                    </a:solidFill>
                  </a:tcPr>
                </a:tc>
                <a:tc>
                  <a:txBody>
                    <a:bodyPr>
                      <a:noAutofit/>
                    </a:bodyPr>
                    <a:lstStyle/>
                    <a:p>
                      <a:pPr algn="ctr">
                        <a:buNone/>
                      </a:pPr>
                      <a:r>
                        <a:rPr sz="1050" b="1">
                          <a:solidFill>
                            <a:srgbClr val="FFFFFF"/>
                          </a:solidFill>
                          <a:latin typeface="Microsoft YaHei"/>
                          <a:ea typeface="Microsoft YaHei"/>
                          <a:cs typeface="Microsoft YaHei"/>
                        </a:rPr>
                        <a:t>Paper</a:t>
                      </a:r>
                    </a:p>
                  </a:txBody>
                  <a:tcPr marL="91440" marR="91440" marT="45720" marB="45720" anchor="ctr">
                    <a:solidFill>
                      <a:srgbClr val="102A43"/>
                    </a:solidFill>
                  </a:tcPr>
                </a:tc>
              </a:tr>
              <a:tr h="449580">
                <a:tc>
                  <a:txBody>
                    <a:bodyPr>
                      <a:noAutofit/>
                    </a:bodyPr>
                    <a:lstStyle/>
                    <a:p>
                      <a:pPr algn="l">
                        <a:buNone/>
                      </a:pPr>
                      <a:r>
                        <a:rPr sz="1125" b="0">
                          <a:solidFill>
                            <a:srgbClr val="344054"/>
                          </a:solidFill>
                          <a:latin typeface="Microsoft YaHei"/>
                          <a:ea typeface="Microsoft YaHei"/>
                          <a:cs typeface="Microsoft YaHei"/>
                        </a:rPr>
                        <a:t>Manual 200 µs</a:t>
                      </a:r>
                    </a:p>
                  </a:txBody>
                  <a:tcPr marL="91440" marR="91440" marT="45720" marB="45720" anchor="ctr">
                    <a:solidFill>
                      <a:srgbClr val="FFFFFF"/>
                    </a:solidFill>
                  </a:tcPr>
                </a:tc>
                <a:tc>
                  <a:txBody>
                    <a:bodyPr>
                      <a:noAutofit/>
                    </a:bodyPr>
                    <a:lstStyle/>
                    <a:p>
                      <a:pPr algn="ctr">
                        <a:buNone/>
                      </a:pPr>
                      <a:r>
                        <a:rPr sz="1125" b="0">
                          <a:solidFill>
                            <a:srgbClr val="344054"/>
                          </a:solidFill>
                          <a:latin typeface="Microsoft YaHei"/>
                          <a:ea typeface="Microsoft YaHei"/>
                          <a:cs typeface="Microsoft YaHei"/>
                        </a:rPr>
                        <a:t>S(31)</a:t>
                      </a:r>
                    </a:p>
                  </a:txBody>
                  <a:tcPr marL="91440" marR="91440" marT="45720" marB="45720" anchor="ctr">
                    <a:solidFill>
                      <a:srgbClr val="FFFFFF"/>
                    </a:solidFill>
                  </a:tcPr>
                </a:tc>
                <a:tc>
                  <a:txBody>
                    <a:bodyPr>
                      <a:noAutofit/>
                    </a:bodyPr>
                    <a:lstStyle/>
                    <a:p>
                      <a:pPr algn="ctr">
                        <a:buNone/>
                      </a:pPr>
                      <a:r>
                        <a:rPr sz="1125" b="0">
                          <a:solidFill>
                            <a:srgbClr val="344054"/>
                          </a:solidFill>
                          <a:latin typeface="Microsoft YaHei"/>
                          <a:ea typeface="Microsoft YaHei"/>
                          <a:cs typeface="Microsoft YaHei"/>
                        </a:rPr>
                        <a:t>0.334</a:t>
                      </a:r>
                    </a:p>
                  </a:txBody>
                  <a:tcPr marL="91440" marR="91440" marT="45720" marB="45720" anchor="ctr">
                    <a:solidFill>
                      <a:srgbClr val="FFFFFF"/>
                    </a:solidFill>
                  </a:tcPr>
                </a:tc>
              </a:tr>
              <a:tr h="449580">
                <a:tc>
                  <a:txBody>
                    <a:bodyPr>
                      <a:noAutofit/>
                    </a:bodyPr>
                    <a:lstStyle/>
                    <a:p>
                      <a:pPr algn="l">
                        <a:buNone/>
                      </a:pPr>
                      <a:r>
                        <a:rPr sz="1125" b="0">
                          <a:solidFill>
                            <a:srgbClr val="344054"/>
                          </a:solidFill>
                          <a:latin typeface="Microsoft YaHei"/>
                          <a:ea typeface="Microsoft YaHei"/>
                          <a:cs typeface="Microsoft YaHei"/>
                        </a:rPr>
                        <a:t>Manual 400 µs</a:t>
                      </a:r>
                    </a:p>
                  </a:txBody>
                  <a:tcPr marL="91440" marR="91440" marT="45720" marB="45720" anchor="ctr">
                    <a:solidFill>
                      <a:srgbClr val="F8FAFC"/>
                    </a:solidFill>
                  </a:tcPr>
                </a:tc>
                <a:tc>
                  <a:txBody>
                    <a:bodyPr>
                      <a:noAutofit/>
                    </a:bodyPr>
                    <a:lstStyle/>
                    <a:p>
                      <a:pPr algn="ctr">
                        <a:buNone/>
                      </a:pPr>
                      <a:r>
                        <a:rPr sz="1125" b="0">
                          <a:solidFill>
                            <a:srgbClr val="344054"/>
                          </a:solidFill>
                          <a:latin typeface="Microsoft YaHei"/>
                          <a:ea typeface="Microsoft YaHei"/>
                          <a:cs typeface="Microsoft YaHei"/>
                        </a:rPr>
                        <a:t>S(60)</a:t>
                      </a:r>
                    </a:p>
                  </a:txBody>
                  <a:tcPr marL="91440" marR="91440" marT="45720" marB="45720" anchor="ctr">
                    <a:solidFill>
                      <a:srgbClr val="F8FAFC"/>
                    </a:solidFill>
                  </a:tcPr>
                </a:tc>
                <a:tc>
                  <a:txBody>
                    <a:bodyPr>
                      <a:noAutofit/>
                    </a:bodyPr>
                    <a:lstStyle/>
                    <a:p>
                      <a:pPr algn="ctr">
                        <a:buNone/>
                      </a:pPr>
                      <a:r>
                        <a:rPr sz="1125" b="0">
                          <a:solidFill>
                            <a:srgbClr val="344054"/>
                          </a:solidFill>
                          <a:latin typeface="Microsoft YaHei"/>
                          <a:ea typeface="Microsoft YaHei"/>
                          <a:cs typeface="Microsoft YaHei"/>
                        </a:rPr>
                        <a:t>0.414</a:t>
                      </a:r>
                    </a:p>
                  </a:txBody>
                  <a:tcPr marL="91440" marR="91440" marT="45720" marB="45720" anchor="ctr">
                    <a:solidFill>
                      <a:srgbClr val="F8FAFC"/>
                    </a:solidFill>
                  </a:tcPr>
                </a:tc>
              </a:tr>
              <a:tr h="449580">
                <a:tc>
                  <a:txBody>
                    <a:bodyPr>
                      <a:noAutofit/>
                    </a:bodyPr>
                    <a:lstStyle/>
                    <a:p>
                      <a:pPr algn="l">
                        <a:buNone/>
                      </a:pPr>
                      <a:r>
                        <a:rPr sz="1125" b="0">
                          <a:solidFill>
                            <a:srgbClr val="344054"/>
                          </a:solidFill>
                          <a:latin typeface="Microsoft YaHei"/>
                          <a:ea typeface="Microsoft YaHei"/>
                          <a:cs typeface="Microsoft YaHei"/>
                        </a:rPr>
                        <a:t>Manual 600 µs</a:t>
                      </a:r>
                    </a:p>
                  </a:txBody>
                  <a:tcPr marL="91440" marR="91440" marT="45720" marB="45720" anchor="ctr">
                    <a:solidFill>
                      <a:srgbClr val="FFFFFF"/>
                    </a:solidFill>
                  </a:tcPr>
                </a:tc>
                <a:tc>
                  <a:txBody>
                    <a:bodyPr>
                      <a:noAutofit/>
                    </a:bodyPr>
                    <a:lstStyle/>
                    <a:p>
                      <a:pPr algn="ctr">
                        <a:buNone/>
                      </a:pPr>
                      <a:r>
                        <a:rPr sz="1125" b="0">
                          <a:solidFill>
                            <a:srgbClr val="344054"/>
                          </a:solidFill>
                          <a:latin typeface="Microsoft YaHei"/>
                          <a:ea typeface="Microsoft YaHei"/>
                          <a:cs typeface="Microsoft YaHei"/>
                        </a:rPr>
                        <a:t>S(60)</a:t>
                      </a:r>
                    </a:p>
                  </a:txBody>
                  <a:tcPr marL="91440" marR="91440" marT="45720" marB="45720" anchor="ctr">
                    <a:solidFill>
                      <a:srgbClr val="FFFFFF"/>
                    </a:solidFill>
                  </a:tcPr>
                </a:tc>
                <a:tc>
                  <a:txBody>
                    <a:bodyPr>
                      <a:noAutofit/>
                    </a:bodyPr>
                    <a:lstStyle/>
                    <a:p>
                      <a:pPr algn="ctr">
                        <a:buNone/>
                      </a:pPr>
                      <a:r>
                        <a:rPr sz="1125" b="0">
                          <a:solidFill>
                            <a:srgbClr val="344054"/>
                          </a:solidFill>
                          <a:latin typeface="Microsoft YaHei"/>
                          <a:ea typeface="Microsoft YaHei"/>
                          <a:cs typeface="Microsoft YaHei"/>
                        </a:rPr>
                        <a:t>0.573</a:t>
                      </a:r>
                    </a:p>
                  </a:txBody>
                  <a:tcPr marL="91440" marR="91440" marT="45720" marB="45720" anchor="ctr">
                    <a:solidFill>
                      <a:srgbClr val="FFFFFF"/>
                    </a:solidFill>
                  </a:tcPr>
                </a:tc>
              </a:tr>
              <a:tr h="449580">
                <a:tc>
                  <a:txBody>
                    <a:bodyPr>
                      <a:noAutofit/>
                    </a:bodyPr>
                    <a:lstStyle/>
                    <a:p>
                      <a:pPr algn="l">
                        <a:buNone/>
                      </a:pPr>
                      <a:r>
                        <a:rPr sz="1125" b="0">
                          <a:solidFill>
                            <a:srgbClr val="344054"/>
                          </a:solidFill>
                          <a:latin typeface="Microsoft YaHei"/>
                          <a:ea typeface="Microsoft YaHei"/>
                          <a:cs typeface="Microsoft YaHei"/>
                        </a:rPr>
                        <a:t>ML 400 µs</a:t>
                      </a:r>
                    </a:p>
                  </a:txBody>
                  <a:tcPr marL="91440" marR="91440" marT="45720" marB="45720" anchor="ctr">
                    <a:solidFill>
                      <a:srgbClr val="F8FAFC"/>
                    </a:solidFill>
                  </a:tcPr>
                </a:tc>
                <a:tc>
                  <a:txBody>
                    <a:bodyPr>
                      <a:noAutofit/>
                    </a:bodyPr>
                    <a:lstStyle/>
                    <a:p>
                      <a:pPr algn="ctr">
                        <a:buNone/>
                      </a:pPr>
                      <a:r>
                        <a:rPr sz="1125" b="0">
                          <a:solidFill>
                            <a:srgbClr val="344054"/>
                          </a:solidFill>
                          <a:latin typeface="Microsoft YaHei"/>
                          <a:ea typeface="Microsoft YaHei"/>
                          <a:cs typeface="Microsoft YaHei"/>
                        </a:rPr>
                        <a:t>S(60)</a:t>
                      </a:r>
                    </a:p>
                  </a:txBody>
                  <a:tcPr marL="91440" marR="91440" marT="45720" marB="45720" anchor="ctr">
                    <a:solidFill>
                      <a:srgbClr val="F8FAFC"/>
                    </a:solidFill>
                  </a:tcPr>
                </a:tc>
                <a:tc>
                  <a:txBody>
                    <a:bodyPr>
                      <a:noAutofit/>
                    </a:bodyPr>
                    <a:lstStyle/>
                    <a:p>
                      <a:pPr algn="ctr">
                        <a:buNone/>
                      </a:pPr>
                      <a:r>
                        <a:rPr sz="1125" b="0">
                          <a:solidFill>
                            <a:srgbClr val="344054"/>
                          </a:solidFill>
                          <a:latin typeface="Microsoft YaHei"/>
                          <a:ea typeface="Microsoft YaHei"/>
                          <a:cs typeface="Microsoft YaHei"/>
                        </a:rPr>
                        <a:t>0.663</a:t>
                      </a:r>
                    </a:p>
                  </a:txBody>
                  <a:tcPr marL="91440" marR="91440" marT="45720" marB="45720" anchor="ctr">
                    <a:solidFill>
                      <a:srgbClr val="F8FAFC"/>
                    </a:solidFill>
                  </a:tcPr>
                </a:tc>
              </a:tr>
            </a:tbl>
          </a:graphicData>
        </a:graphic>
      </p:graphicFrame>
      <p:sp>
        <p:nvSpPr>
          <p:cNvPr id="10" name="">
            <a:extLst xmlns:a="http://schemas.openxmlformats.org/drawingml/2006/main">
              <a:ext uri="{FF2B5EF4-FFF2-40B4-BE49-F238E27FC236}">
                <a16:creationId xmlns:a16="http://schemas.microsoft.com/office/drawing/2014/main" id="{A1C47FF6-C634-43F8-B88D-FFDC5DDE1F6D}"/>
              </a:ext>
            </a:extLst>
          </p:cNvPr>
          <p:cNvSpPr>
            <a:spLocks xmlns:a="http://schemas.openxmlformats.org/drawingml/2006/main" noGrp="1"/>
          </p:cNvSpPr>
          <p:nvPr/>
        </p:nvSpPr>
        <p:spPr>
          <a:xfrm xmlns:a="http://schemas.openxmlformats.org/drawingml/2006/main">
            <a:off x="7162800" y="4419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计算口径</a:t>
            </a:r>
          </a:p>
        </p:txBody>
      </p:sp>
      <p:sp>
        <p:nvSpPr>
          <p:cNvPr id="11" name="">
            <a:extLst xmlns:a="http://schemas.openxmlformats.org/drawingml/2006/main">
              <a:ext uri="{FF2B5EF4-FFF2-40B4-BE49-F238E27FC236}">
                <a16:creationId xmlns:a16="http://schemas.microsoft.com/office/drawing/2014/main" id="{096131F6-3845-40DB-B5F2-076A60B2998F}"/>
              </a:ext>
            </a:extLst>
          </p:cNvPr>
          <p:cNvSpPr>
            <a:spLocks xmlns:a="http://schemas.openxmlformats.org/drawingml/2006/main" noGrp="1"/>
          </p:cNvSpPr>
          <p:nvPr/>
        </p:nvSpPr>
        <p:spPr>
          <a:xfrm xmlns:a="http://schemas.openxmlformats.org/drawingml/2006/main">
            <a:off x="7162800" y="4743450"/>
            <a:ext cx="4114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S(n) 是完成至少 n 次单程转移后仍满足束缚条件的原子比例。200 µs 曲线只在 n≤31 可辨。</a:t>
            </a:r>
          </a:p>
        </p:txBody>
      </p:sp>
      <p:sp>
        <p:nvSpPr>
          <p:cNvPr id="12" name="">
            <a:extLst xmlns:a="http://schemas.openxmlformats.org/drawingml/2006/main">
              <a:ext uri="{FF2B5EF4-FFF2-40B4-BE49-F238E27FC236}">
                <a16:creationId xmlns:a16="http://schemas.microsoft.com/office/drawing/2014/main" id="{55D069D6-E42E-4157-8602-5C38084907DC}"/>
              </a:ext>
            </a:extLst>
          </p:cNvPr>
          <p:cNvSpPr>
            <a:spLocks xmlns:a="http://schemas.openxmlformats.org/drawingml/2006/main" noGrp="1"/>
          </p:cNvSpPr>
          <p:nvPr/>
        </p:nvSpPr>
        <p:spPr>
          <a:xfrm xmlns:a="http://schemas.openxmlformats.org/drawingml/2006/main">
            <a:off x="609600" y="5676900"/>
            <a:ext cx="10972800" cy="571500"/>
          </a:xfrm>
          <a:prstGeom xmlns:a="http://schemas.openxmlformats.org/drawingml/2006/main" prst="roundRect">
            <a:avLst>
              <a:gd name="adj" fmla="val 13333"/>
            </a:avLst>
          </a:prstGeom>
          <a:solidFill xmlns:a="http://schemas.openxmlformats.org/drawingml/2006/main">
            <a:srgbClr val="FEF3F2"/>
          </a:solidFill>
          <a:ln xmlns:a="http://schemas.openxmlformats.org/drawingml/2006/main" w="9525">
            <a:solidFill>
              <a:srgbClr val="FECDCA"/>
            </a:solidFill>
          </a:ln>
        </p:spPr>
      </p:sp>
      <p:sp>
        <p:nvSpPr>
          <p:cNvPr id="13" name="">
            <a:extLst xmlns:a="http://schemas.openxmlformats.org/drawingml/2006/main">
              <a:ext uri="{FF2B5EF4-FFF2-40B4-BE49-F238E27FC236}">
                <a16:creationId xmlns:a16="http://schemas.microsoft.com/office/drawing/2014/main" id="{AD87D75B-B177-48E5-B247-71E8DDEC280E}"/>
              </a:ext>
            </a:extLst>
          </p:cNvPr>
          <p:cNvSpPr>
            <a:spLocks xmlns:a="http://schemas.openxmlformats.org/drawingml/2006/main" noGrp="1"/>
          </p:cNvSpPr>
          <p:nvPr/>
        </p:nvSpPr>
        <p:spPr>
          <a:xfrm xmlns:a="http://schemas.openxmlformats.org/drawingml/2006/main">
            <a:off x="838200" y="5800725"/>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D92D20"/>
                </a:solidFill>
                <a:latin typeface="Microsoft YaHei"/>
                <a:ea typeface="Microsoft YaHei"/>
                <a:cs typeface="Microsoft YaHei"/>
              </a:defRPr>
            </a:pPr>
            <a:r>
              <a:rPr sz="1200" b="0">
                <a:solidFill>
                  <a:srgbClr val="D92D20"/>
                </a:solidFill>
                <a:latin typeface="Microsoft YaHei"/>
                <a:ea typeface="Microsoft YaHei"/>
                <a:cs typeface="Microsoft YaHei"/>
              </a:rPr>
              <a:t>验收标准：模拟曲线逐点落入论文数字化曲线 ±0.02。报告保留原始 CSV，并用稳定锚点生成单调参考线，避免把标记边缘像素解释成存活率振荡。</a:t>
            </a:r>
          </a:p>
        </p:txBody>
      </p:sp>
      <p:sp>
        <p:nvSpPr>
          <p:cNvPr id="14" name="">
            <a:extLst xmlns:a="http://schemas.openxmlformats.org/drawingml/2006/main">
              <a:ext uri="{FF2B5EF4-FFF2-40B4-BE49-F238E27FC236}">
                <a16:creationId xmlns:a16="http://schemas.microsoft.com/office/drawing/2014/main" id="{1F295353-C185-4E8B-B995-B638B656990C}"/>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5" name="">
            <a:extLst xmlns:a="http://schemas.openxmlformats.org/drawingml/2006/main">
              <a:ext uri="{FF2B5EF4-FFF2-40B4-BE49-F238E27FC236}">
                <a16:creationId xmlns:a16="http://schemas.microsoft.com/office/drawing/2014/main" id="{6C817A2B-A916-44D7-98A3-7AAB15F13C40}"/>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fig6d_parameters.md · fig6d_survival_digitized.csv · digitize_fig6d.py</a:t>
            </a:r>
          </a:p>
        </p:txBody>
      </p:sp>
      <p:sp>
        <p:nvSpPr>
          <p:cNvPr id="16" name="">
            <a:extLst xmlns:a="http://schemas.openxmlformats.org/drawingml/2006/main">
              <a:ext uri="{FF2B5EF4-FFF2-40B4-BE49-F238E27FC236}">
                <a16:creationId xmlns:a16="http://schemas.microsoft.com/office/drawing/2014/main" id="{2F74C9EE-43EE-44F3-8A04-53FD55F29D3F}"/>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03</a:t>
            </a:r>
          </a:p>
        </p:txBody>
      </p:sp>
    </p:spTree>
    <p:extLst>
      <p:ext uri="{BB962C8B-B14F-4D97-AF65-F5344CB8AC3E}">
        <p14:creationId xmlns:p14="http://schemas.microsoft.com/office/powerpoint/2010/main" val="314740247"/>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B63EF28-067B-4A50-A7D1-D8C032EFB67B}"/>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02</a:t>
            </a:r>
          </a:p>
        </p:txBody>
      </p:sp>
      <p:sp>
        <p:nvSpPr>
          <p:cNvPr id="2" name="">
            <a:extLst xmlns:a="http://schemas.openxmlformats.org/drawingml/2006/main">
              <a:ext uri="{FF2B5EF4-FFF2-40B4-BE49-F238E27FC236}">
                <a16:creationId xmlns:a16="http://schemas.microsoft.com/office/drawing/2014/main" id="{2B58F47C-D25F-455E-923F-9C27D1DFF076}"/>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Cs 原子与双高斯阱模型</a:t>
            </a:r>
          </a:p>
        </p:txBody>
      </p:sp>
      <p:sp>
        <p:nvSpPr>
          <p:cNvPr id="3" name="">
            <a:extLst xmlns:a="http://schemas.openxmlformats.org/drawingml/2006/main">
              <a:ext uri="{FF2B5EF4-FFF2-40B4-BE49-F238E27FC236}">
                <a16:creationId xmlns:a16="http://schemas.microsoft.com/office/drawing/2014/main" id="{12B6CFF5-029E-4DA1-B356-17BCB9C27442}"/>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CA7CEF29-6638-437C-A1CF-8574A8878EB2}"/>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本步计算任意时间和位置的势能 U(x,t)、力 F(x,t)，为后续轨迹积分提供输入</a:t>
            </a:r>
          </a:p>
        </p:txBody>
      </p:sp>
      <p:sp>
        <p:nvSpPr>
          <p:cNvPr id="5" name="">
            <a:extLst xmlns:a="http://schemas.openxmlformats.org/drawingml/2006/main">
              <a:ext uri="{FF2B5EF4-FFF2-40B4-BE49-F238E27FC236}">
                <a16:creationId xmlns:a16="http://schemas.microsoft.com/office/drawing/2014/main" id="{A5576C42-2E34-44D5-A08C-48079D7BA0A4}"/>
              </a:ext>
            </a:extLst>
          </p:cNvPr>
          <p:cNvSpPr>
            <a:spLocks xmlns:a="http://schemas.openxmlformats.org/drawingml/2006/main" noGrp="1"/>
          </p:cNvSpPr>
          <p:nvPr/>
        </p:nvSpPr>
        <p:spPr>
          <a:xfrm xmlns:a="http://schemas.openxmlformats.org/drawingml/2006/main">
            <a:off x="609600" y="1257300"/>
            <a:ext cx="4171950" cy="4248150"/>
          </a:xfrm>
          <a:prstGeom xmlns:a="http://schemas.openxmlformats.org/drawingml/2006/main" prst="roundRect">
            <a:avLst>
              <a:gd name="adj" fmla="val 1826"/>
            </a:avLst>
          </a:prstGeom>
          <a:solidFill xmlns:a="http://schemas.openxmlformats.org/drawingml/2006/main">
            <a:srgbClr val="FFFFFF"/>
          </a:solidFill>
          <a:ln xmlns:a="http://schemas.openxmlformats.org/drawingml/2006/main" w="9525">
            <a:solidFill>
              <a:srgbClr val="EAECF0"/>
            </a:solidFill>
          </a:ln>
        </p:spPr>
      </p:sp>
      <p:sp>
        <p:nvSpPr>
          <p:cNvPr id="6" name="">
            <a:extLst xmlns:a="http://schemas.openxmlformats.org/drawingml/2006/main">
              <a:ext uri="{FF2B5EF4-FFF2-40B4-BE49-F238E27FC236}">
                <a16:creationId xmlns:a16="http://schemas.microsoft.com/office/drawing/2014/main" id="{FE7CCE31-6B61-497D-946E-892C14064A9E}"/>
              </a:ext>
            </a:extLst>
          </p:cNvPr>
          <p:cNvSpPr>
            <a:spLocks xmlns:a="http://schemas.openxmlformats.org/drawingml/2006/main" noGrp="1"/>
          </p:cNvSpPr>
          <p:nvPr/>
        </p:nvSpPr>
        <p:spPr>
          <a:xfrm xmlns:a="http://schemas.openxmlformats.org/drawingml/2006/main">
            <a:off x="876300" y="1504950"/>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75" b="1">
                <a:solidFill>
                  <a:srgbClr val="102A43"/>
                </a:solidFill>
                <a:latin typeface="Microsoft YaHei"/>
                <a:ea typeface="Microsoft YaHei"/>
                <a:cs typeface="Microsoft YaHei"/>
              </a:defRPr>
            </a:pPr>
            <a:r>
              <a:rPr sz="1575" b="1">
                <a:solidFill>
                  <a:srgbClr val="102A43"/>
                </a:solidFill>
                <a:latin typeface="Microsoft YaHei"/>
                <a:ea typeface="Microsoft YaHei"/>
                <a:cs typeface="Microsoft YaHei"/>
              </a:rPr>
              <a:t>一维时变势</a:t>
            </a:r>
          </a:p>
        </p:txBody>
      </p:sp>
      <p:sp>
        <p:nvSpPr>
          <p:cNvPr id="7" name="">
            <a:extLst xmlns:a="http://schemas.openxmlformats.org/drawingml/2006/main">
              <a:ext uri="{FF2B5EF4-FFF2-40B4-BE49-F238E27FC236}">
                <a16:creationId xmlns:a16="http://schemas.microsoft.com/office/drawing/2014/main" id="{0DB8B522-FF6A-4E1F-A93E-0B6DA7FF22B8}"/>
              </a:ext>
            </a:extLst>
          </p:cNvPr>
          <p:cNvSpPr>
            <a:spLocks xmlns:a="http://schemas.openxmlformats.org/drawingml/2006/main" noGrp="1"/>
          </p:cNvSpPr>
          <p:nvPr/>
        </p:nvSpPr>
        <p:spPr>
          <a:xfrm xmlns:a="http://schemas.openxmlformats.org/drawingml/2006/main">
            <a:off x="876300" y="2038350"/>
            <a:ext cx="3638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buNone/>
              <a:defRPr sz="1650" b="1">
                <a:solidFill>
                  <a:srgbClr val="1570EF"/>
                </a:solidFill>
                <a:latin typeface="Microsoft YaHei"/>
                <a:ea typeface="Microsoft YaHei"/>
                <a:cs typeface="Microsoft YaHei"/>
              </a:defRPr>
            </a:pPr>
            <a:r>
              <a:rPr sz="1650" b="1">
                <a:solidFill>
                  <a:srgbClr val="1570EF"/>
                </a:solidFill>
                <a:latin typeface="Microsoft YaHei"/>
                <a:ea typeface="Microsoft YaHei"/>
                <a:cs typeface="Microsoft YaHei"/>
              </a:rPr>
              <a:t>U(x,t) = −D(t) exp[−2(x−c(t))² / w²]</a:t>
            </a:r>
          </a:p>
        </p:txBody>
      </p:sp>
      <p:sp>
        <p:nvSpPr>
          <p:cNvPr id="8" name="">
            <a:extLst xmlns:a="http://schemas.openxmlformats.org/drawingml/2006/main">
              <a:ext uri="{FF2B5EF4-FFF2-40B4-BE49-F238E27FC236}">
                <a16:creationId xmlns:a16="http://schemas.microsoft.com/office/drawing/2014/main" id="{F6CB0917-526F-42DA-A700-EB477F939F82}"/>
              </a:ext>
            </a:extLst>
          </p:cNvPr>
          <p:cNvSpPr>
            <a:spLocks xmlns:a="http://schemas.openxmlformats.org/drawingml/2006/main" noGrp="1"/>
          </p:cNvSpPr>
          <p:nvPr/>
        </p:nvSpPr>
        <p:spPr>
          <a:xfrm xmlns:a="http://schemas.openxmlformats.org/drawingml/2006/main">
            <a:off x="876300" y="2705100"/>
            <a:ext cx="3638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buNone/>
              <a:defRPr sz="1575" b="1">
                <a:solidFill>
                  <a:srgbClr val="0E9384"/>
                </a:solidFill>
                <a:latin typeface="Microsoft YaHei"/>
                <a:ea typeface="Microsoft YaHei"/>
                <a:cs typeface="Microsoft YaHei"/>
              </a:defRPr>
            </a:pPr>
            <a:r>
              <a:rPr sz="1575" b="1">
                <a:solidFill>
                  <a:srgbClr val="0E9384"/>
                </a:solidFill>
                <a:latin typeface="Microsoft YaHei"/>
                <a:ea typeface="Microsoft YaHei"/>
                <a:cs typeface="Microsoft YaHei"/>
              </a:rPr>
              <a:t>F(x,t) = −∂U/∂x</a:t>
            </a:r>
          </a:p>
        </p:txBody>
      </p:sp>
      <p:sp>
        <p:nvSpPr>
          <p:cNvPr id="9" name="">
            <a:extLst xmlns:a="http://schemas.openxmlformats.org/drawingml/2006/main">
              <a:ext uri="{FF2B5EF4-FFF2-40B4-BE49-F238E27FC236}">
                <a16:creationId xmlns:a16="http://schemas.microsoft.com/office/drawing/2014/main" id="{EEA7CB6D-C736-4FBE-A1BB-512A01CC0541}"/>
              </a:ext>
            </a:extLst>
          </p:cNvPr>
          <p:cNvSpPr>
            <a:spLocks xmlns:a="http://schemas.openxmlformats.org/drawingml/2006/main" noGrp="1"/>
          </p:cNvSpPr>
          <p:nvPr/>
        </p:nvSpPr>
        <p:spPr>
          <a:xfrm xmlns:a="http://schemas.openxmlformats.org/drawingml/2006/main">
            <a:off x="876300" y="3352800"/>
            <a:ext cx="3638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75" b="0">
                <a:solidFill>
                  <a:srgbClr val="344054"/>
                </a:solidFill>
                <a:latin typeface="Microsoft YaHei"/>
                <a:ea typeface="Microsoft YaHei"/>
                <a:cs typeface="Microsoft YaHei"/>
              </a:defRPr>
            </a:pPr>
            <a:r>
              <a:rPr sz="1275" b="0">
                <a:solidFill>
                  <a:srgbClr val="344054"/>
                </a:solidFill>
                <a:latin typeface="Microsoft YaHei"/>
                <a:ea typeface="Microsoft YaHei"/>
                <a:cs typeface="Microsoft YaHei"/>
              </a:rPr>
              <a:t>SLM 势和 AOD 势在同一坐标轴上相加。SLM 固定在 x=0；AOD 的中心 c(t) 和深度 D(t) 随控制波形变化。</a:t>
            </a:r>
          </a:p>
        </p:txBody>
      </p:sp>
      <p:sp>
        <p:nvSpPr>
          <p:cNvPr id="10" name="">
            <a:extLst xmlns:a="http://schemas.openxmlformats.org/drawingml/2006/main">
              <a:ext uri="{FF2B5EF4-FFF2-40B4-BE49-F238E27FC236}">
                <a16:creationId xmlns:a16="http://schemas.microsoft.com/office/drawing/2014/main" id="{43F481A7-FCA9-4096-A0D3-180710254811}"/>
              </a:ext>
            </a:extLst>
          </p:cNvPr>
          <p:cNvSpPr>
            <a:spLocks xmlns:a="http://schemas.openxmlformats.org/drawingml/2006/main" noGrp="1"/>
          </p:cNvSpPr>
          <p:nvPr/>
        </p:nvSpPr>
        <p:spPr>
          <a:xfrm xmlns:a="http://schemas.openxmlformats.org/drawingml/2006/main">
            <a:off x="876300" y="4419600"/>
            <a:ext cx="133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模型输出</a:t>
            </a:r>
          </a:p>
        </p:txBody>
      </p:sp>
      <p:sp>
        <p:nvSpPr>
          <p:cNvPr id="11" name="">
            <a:extLst xmlns:a="http://schemas.openxmlformats.org/drawingml/2006/main">
              <a:ext uri="{FF2B5EF4-FFF2-40B4-BE49-F238E27FC236}">
                <a16:creationId xmlns:a16="http://schemas.microsoft.com/office/drawing/2014/main" id="{9B4DBC1A-1D7A-439D-A312-5A17A3C699C8}"/>
              </a:ext>
            </a:extLst>
          </p:cNvPr>
          <p:cNvSpPr>
            <a:spLocks xmlns:a="http://schemas.openxmlformats.org/drawingml/2006/main" noGrp="1"/>
          </p:cNvSpPr>
          <p:nvPr/>
        </p:nvSpPr>
        <p:spPr>
          <a:xfrm xmlns:a="http://schemas.openxmlformats.org/drawingml/2006/main">
            <a:off x="876300" y="4762500"/>
            <a:ext cx="3638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每个时间点的总势能、总力、AOD/SLM 单阱能量，以及后续束缚判定需要的参考阱深。</a:t>
            </a:r>
          </a:p>
        </p:txBody>
      </p:sp>
      <p:sp>
        <p:nvSpPr>
          <p:cNvPr id="12" name="">
            <a:extLst xmlns:a="http://schemas.openxmlformats.org/drawingml/2006/main">
              <a:ext uri="{FF2B5EF4-FFF2-40B4-BE49-F238E27FC236}">
                <a16:creationId xmlns:a16="http://schemas.microsoft.com/office/drawing/2014/main" id="{DA417DFF-37A4-4402-8AC8-D9324BBD2DDB}"/>
              </a:ext>
            </a:extLst>
          </p:cNvPr>
          <p:cNvSpPr>
            <a:spLocks xmlns:a="http://schemas.openxmlformats.org/drawingml/2006/main" noGrp="1"/>
          </p:cNvSpPr>
          <p:nvPr/>
        </p:nvSpPr>
        <p:spPr>
          <a:xfrm xmlns:a="http://schemas.openxmlformats.org/drawingml/2006/main">
            <a:off x="5086350" y="1257300"/>
            <a:ext cx="6496050" cy="4248150"/>
          </a:xfrm>
          <a:prstGeom xmlns:a="http://schemas.openxmlformats.org/drawingml/2006/main" prst="roundRect">
            <a:avLst>
              <a:gd name="adj" fmla="val 1794"/>
            </a:avLst>
          </a:prstGeom>
          <a:solidFill xmlns:a="http://schemas.openxmlformats.org/drawingml/2006/main">
            <a:srgbClr val="FFFFFF"/>
          </a:solidFill>
          <a:ln xmlns:a="http://schemas.openxmlformats.org/drawingml/2006/main" w="9525">
            <a:solidFill>
              <a:srgbClr val="EAECF0"/>
            </a:solidFill>
          </a:ln>
        </p:spPr>
      </p:sp>
      <p:sp>
        <p:nvSpPr>
          <p:cNvPr id="13" name="">
            <a:extLst xmlns:a="http://schemas.openxmlformats.org/drawingml/2006/main">
              <a:ext uri="{FF2B5EF4-FFF2-40B4-BE49-F238E27FC236}">
                <a16:creationId xmlns:a16="http://schemas.microsoft.com/office/drawing/2014/main" id="{B8931EE1-9D6B-4D1F-9F0E-66DB744D5A60}"/>
              </a:ext>
            </a:extLst>
          </p:cNvPr>
          <p:cNvSpPr>
            <a:spLocks xmlns:a="http://schemas.openxmlformats.org/drawingml/2006/main" noGrp="1"/>
          </p:cNvSpPr>
          <p:nvPr/>
        </p:nvSpPr>
        <p:spPr>
          <a:xfrm xmlns:a="http://schemas.openxmlformats.org/drawingml/2006/main">
            <a:off x="5353050" y="15049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75" b="1">
                <a:solidFill>
                  <a:srgbClr val="102A43"/>
                </a:solidFill>
                <a:latin typeface="Microsoft YaHei"/>
                <a:ea typeface="Microsoft YaHei"/>
                <a:cs typeface="Microsoft YaHei"/>
              </a:defRPr>
            </a:pPr>
            <a:r>
              <a:rPr sz="1575" b="1">
                <a:solidFill>
                  <a:srgbClr val="102A43"/>
                </a:solidFill>
                <a:latin typeface="Microsoft YaHei"/>
                <a:ea typeface="Microsoft YaHei"/>
                <a:cs typeface="Microsoft YaHei"/>
              </a:rPr>
              <a:t>固定物理输入</a:t>
            </a:r>
          </a:p>
        </p:txBody>
      </p:sp>
      <p:graphicFrame>
        <p:nvGraphicFramePr>
          <p:cNvPr id="35" name=""/>
          <p:cNvGraphicFramePr/>
          <p:nvPr/>
        </p:nvGraphicFramePr>
        <p:xfrm>
          <a:off xmlns:a="http://schemas.openxmlformats.org/drawingml/2006/main" x="5353050" y="1962150"/>
          <a:ext xmlns:a="http://schemas.openxmlformats.org/drawingml/2006/main" cx="5962650" cy="3067050"/>
        </p:xfrm>
        <a:graphic xmlns:a="http://schemas.openxmlformats.org/drawingml/2006/main">
          <a:graphicData uri="http://schemas.openxmlformats.org/drawingml/2006/table">
            <a:tbl>
              <a:tblPr/>
              <a:tblGrid>
                <a:gridCol w="1522379"/>
                <a:gridCol w="1268649"/>
                <a:gridCol w="1902973"/>
                <a:gridCol w="1268649"/>
              </a:tblGrid>
              <a:tr h="438150">
                <a:tc>
                  <a:txBody>
                    <a:bodyPr>
                      <a:noAutofit/>
                    </a:bodyPr>
                    <a:lstStyle/>
                    <a:p>
                      <a:pPr algn="l">
                        <a:buNone/>
                      </a:pPr>
                      <a:r>
                        <a:rPr sz="1050" b="1">
                          <a:solidFill>
                            <a:srgbClr val="FFFFFF"/>
                          </a:solidFill>
                          <a:latin typeface="Microsoft YaHei"/>
                          <a:ea typeface="Microsoft YaHei"/>
                          <a:cs typeface="Microsoft YaHei"/>
                        </a:rPr>
                        <a:t>Input</a:t>
                      </a:r>
                    </a:p>
                  </a:txBody>
                  <a:tcPr marL="91440" marR="91440" marT="45720" marB="45720" anchor="ctr">
                    <a:solidFill>
                      <a:srgbClr val="102A43"/>
                    </a:solidFill>
                  </a:tcPr>
                </a:tc>
                <a:tc>
                  <a:txBody>
                    <a:bodyPr>
                      <a:noAutofit/>
                    </a:bodyPr>
                    <a:lstStyle/>
                    <a:p>
                      <a:pPr algn="ctr">
                        <a:buNone/>
                      </a:pPr>
                      <a:r>
                        <a:rPr sz="1050" b="1">
                          <a:solidFill>
                            <a:srgbClr val="FFFFFF"/>
                          </a:solidFill>
                          <a:latin typeface="Microsoft YaHei"/>
                          <a:ea typeface="Microsoft YaHei"/>
                          <a:cs typeface="Microsoft YaHei"/>
                        </a:rPr>
                        <a:t>Value</a:t>
                      </a:r>
                    </a:p>
                  </a:txBody>
                  <a:tcPr marL="91440" marR="91440" marT="45720" marB="45720" anchor="ctr">
                    <a:solidFill>
                      <a:srgbClr val="102A43"/>
                    </a:solidFill>
                  </a:tcPr>
                </a:tc>
                <a:tc>
                  <a:txBody>
                    <a:bodyPr>
                      <a:noAutofit/>
                    </a:bodyPr>
                    <a:lstStyle/>
                    <a:p>
                      <a:pPr algn="ctr">
                        <a:buNone/>
                      </a:pPr>
                      <a:r>
                        <a:rPr sz="1050" b="1">
                          <a:solidFill>
                            <a:srgbClr val="FFFFFF"/>
                          </a:solidFill>
                          <a:latin typeface="Microsoft YaHei"/>
                          <a:ea typeface="Microsoft YaHei"/>
                          <a:cs typeface="Microsoft YaHei"/>
                        </a:rPr>
                        <a:t>Role</a:t>
                      </a:r>
                    </a:p>
                  </a:txBody>
                  <a:tcPr marL="91440" marR="91440" marT="45720" marB="45720" anchor="ctr">
                    <a:solidFill>
                      <a:srgbClr val="102A43"/>
                    </a:solidFill>
                  </a:tcPr>
                </a:tc>
                <a:tc>
                  <a:txBody>
                    <a:bodyPr>
                      <a:noAutofit/>
                    </a:bodyPr>
                    <a:lstStyle/>
                    <a:p>
                      <a:pPr algn="ctr">
                        <a:buNone/>
                      </a:pPr>
                      <a:r>
                        <a:rPr sz="1050" b="1">
                          <a:solidFill>
                            <a:srgbClr val="FFFFFF"/>
                          </a:solidFill>
                          <a:latin typeface="Microsoft YaHei"/>
                          <a:ea typeface="Microsoft YaHei"/>
                          <a:cs typeface="Microsoft YaHei"/>
                        </a:rPr>
                        <a:t>Source</a:t>
                      </a:r>
                    </a:p>
                  </a:txBody>
                  <a:tcPr marL="91440" marR="91440" marT="45720" marB="45720" anchor="ctr">
                    <a:solidFill>
                      <a:srgbClr val="102A43"/>
                    </a:solidFill>
                  </a:tcPr>
                </a:tc>
              </a:tr>
              <a:tr h="438150">
                <a:tc>
                  <a:txBody>
                    <a:bodyPr>
                      <a:noAutofit/>
                    </a:bodyPr>
                    <a:lstStyle/>
                    <a:p>
                      <a:pPr algn="l">
                        <a:buNone/>
                      </a:pPr>
                      <a:r>
                        <a:rPr sz="1125" b="0">
                          <a:solidFill>
                            <a:srgbClr val="344054"/>
                          </a:solidFill>
                          <a:latin typeface="Microsoft YaHei"/>
                          <a:ea typeface="Microsoft YaHei"/>
                          <a:cs typeface="Microsoft YaHei"/>
                        </a:rPr>
                        <a:t>Atom</a:t>
                      </a:r>
                    </a:p>
                  </a:txBody>
                  <a:tcPr marL="91440" marR="91440" marT="45720" marB="45720" anchor="ctr">
                    <a:solidFill>
                      <a:srgbClr val="FFFFFF"/>
                    </a:solidFill>
                  </a:tcPr>
                </a:tc>
                <a:tc>
                  <a:txBody>
                    <a:bodyPr>
                      <a:noAutofit/>
                    </a:bodyPr>
                    <a:lstStyle/>
                    <a:p>
                      <a:pPr algn="ctr">
                        <a:buNone/>
                      </a:pPr>
                      <a:r>
                        <a:rPr sz="1125" b="0">
                          <a:solidFill>
                            <a:srgbClr val="344054"/>
                          </a:solidFill>
                          <a:latin typeface="Microsoft YaHei"/>
                          <a:ea typeface="Microsoft YaHei"/>
                          <a:cs typeface="Microsoft YaHei"/>
                        </a:rPr>
                        <a:t>Cs-133</a:t>
                      </a:r>
                    </a:p>
                  </a:txBody>
                  <a:tcPr marL="91440" marR="91440" marT="45720" marB="45720" anchor="ctr">
                    <a:solidFill>
                      <a:srgbClr val="FFFFFF"/>
                    </a:solidFill>
                  </a:tcPr>
                </a:tc>
                <a:tc>
                  <a:txBody>
                    <a:bodyPr>
                      <a:noAutofit/>
                    </a:bodyPr>
                    <a:lstStyle/>
                    <a:p>
                      <a:pPr algn="ctr">
                        <a:buNone/>
                      </a:pPr>
                      <a:r>
                        <a:rPr sz="1125" b="0">
                          <a:solidFill>
                            <a:srgbClr val="344054"/>
                          </a:solidFill>
                          <a:latin typeface="Microsoft YaHei"/>
                          <a:ea typeface="Microsoft YaHei"/>
                          <a:cs typeface="Microsoft YaHei"/>
                        </a:rPr>
                        <a:t>质量 m</a:t>
                      </a:r>
                    </a:p>
                  </a:txBody>
                  <a:tcPr marL="91440" marR="91440" marT="45720" marB="45720" anchor="ctr">
                    <a:solidFill>
                      <a:srgbClr val="FFFFFF"/>
                    </a:solidFill>
                  </a:tcPr>
                </a:tc>
                <a:tc>
                  <a:txBody>
                    <a:bodyPr>
                      <a:noAutofit/>
                    </a:bodyPr>
                    <a:lstStyle/>
                    <a:p>
                      <a:pPr algn="ctr">
                        <a:buNone/>
                      </a:pPr>
                      <a:r>
                        <a:rPr sz="1125" b="0">
                          <a:solidFill>
                            <a:srgbClr val="344054"/>
                          </a:solidFill>
                          <a:latin typeface="Microsoft YaHei"/>
                          <a:ea typeface="Microsoft YaHei"/>
                          <a:cs typeface="Microsoft YaHei"/>
                        </a:rPr>
                        <a:t>config</a:t>
                      </a:r>
                    </a:p>
                  </a:txBody>
                  <a:tcPr marL="91440" marR="91440" marT="45720" marB="45720" anchor="ctr">
                    <a:solidFill>
                      <a:srgbClr val="FFFFFF"/>
                    </a:solidFill>
                  </a:tcPr>
                </a:tc>
              </a:tr>
              <a:tr h="438150">
                <a:tc>
                  <a:txBody>
                    <a:bodyPr>
                      <a:noAutofit/>
                    </a:bodyPr>
                    <a:lstStyle/>
                    <a:p>
                      <a:pPr algn="l">
                        <a:buNone/>
                      </a:pPr>
                      <a:r>
                        <a:rPr sz="1125" b="0">
                          <a:solidFill>
                            <a:srgbClr val="344054"/>
                          </a:solidFill>
                          <a:latin typeface="Microsoft YaHei"/>
                          <a:ea typeface="Microsoft YaHei"/>
                          <a:cs typeface="Microsoft YaHei"/>
                        </a:rPr>
                        <a:t>SLM depth</a:t>
                      </a:r>
                    </a:p>
                  </a:txBody>
                  <a:tcPr marL="91440" marR="91440" marT="45720" marB="45720" anchor="ctr">
                    <a:solidFill>
                      <a:srgbClr val="F8FAFC"/>
                    </a:solidFill>
                  </a:tcPr>
                </a:tc>
                <a:tc>
                  <a:txBody>
                    <a:bodyPr>
                      <a:noAutofit/>
                    </a:bodyPr>
                    <a:lstStyle/>
                    <a:p>
                      <a:pPr algn="ctr">
                        <a:buNone/>
                      </a:pPr>
                      <a:r>
                        <a:rPr sz="1125" b="0">
                          <a:solidFill>
                            <a:srgbClr val="344054"/>
                          </a:solidFill>
                          <a:latin typeface="Microsoft YaHei"/>
                          <a:ea typeface="Microsoft YaHei"/>
                          <a:cs typeface="Microsoft YaHei"/>
                        </a:rPr>
                        <a:t>140 µK</a:t>
                      </a:r>
                    </a:p>
                  </a:txBody>
                  <a:tcPr marL="91440" marR="91440" marT="45720" marB="45720" anchor="ctr">
                    <a:solidFill>
                      <a:srgbClr val="F8FAFC"/>
                    </a:solidFill>
                  </a:tcPr>
                </a:tc>
                <a:tc>
                  <a:txBody>
                    <a:bodyPr>
                      <a:noAutofit/>
                    </a:bodyPr>
                    <a:lstStyle/>
                    <a:p>
                      <a:pPr algn="ctr">
                        <a:buNone/>
                      </a:pPr>
                      <a:r>
                        <a:rPr sz="1125" b="0">
                          <a:solidFill>
                            <a:srgbClr val="344054"/>
                          </a:solidFill>
                          <a:latin typeface="Microsoft YaHei"/>
                          <a:ea typeface="Microsoft YaHei"/>
                          <a:cs typeface="Microsoft YaHei"/>
                        </a:rPr>
                        <a:t>最终束缚阱</a:t>
                      </a:r>
                    </a:p>
                  </a:txBody>
                  <a:tcPr marL="91440" marR="91440" marT="45720" marB="45720" anchor="ctr">
                    <a:solidFill>
                      <a:srgbClr val="F8FAFC"/>
                    </a:solidFill>
                  </a:tcPr>
                </a:tc>
                <a:tc>
                  <a:txBody>
                    <a:bodyPr>
                      <a:noAutofit/>
                    </a:bodyPr>
                    <a:lstStyle/>
                    <a:p>
                      <a:pPr algn="ctr">
                        <a:buNone/>
                      </a:pPr>
                      <a:r>
                        <a:rPr sz="1125" b="0">
                          <a:solidFill>
                            <a:srgbClr val="344054"/>
                          </a:solidFill>
                          <a:latin typeface="Microsoft YaHei"/>
                          <a:ea typeface="Microsoft YaHei"/>
                          <a:cs typeface="Microsoft YaHei"/>
                        </a:rPr>
                        <a:t>paper</a:t>
                      </a:r>
                    </a:p>
                  </a:txBody>
                  <a:tcPr marL="91440" marR="91440" marT="45720" marB="45720" anchor="ctr">
                    <a:solidFill>
                      <a:srgbClr val="F8FAFC"/>
                    </a:solidFill>
                  </a:tcPr>
                </a:tc>
              </a:tr>
              <a:tr h="438150">
                <a:tc>
                  <a:txBody>
                    <a:bodyPr>
                      <a:noAutofit/>
                    </a:bodyPr>
                    <a:lstStyle/>
                    <a:p>
                      <a:pPr algn="l">
                        <a:buNone/>
                      </a:pPr>
                      <a:r>
                        <a:rPr sz="1125" b="0">
                          <a:solidFill>
                            <a:srgbClr val="344054"/>
                          </a:solidFill>
                          <a:latin typeface="Microsoft YaHei"/>
                          <a:ea typeface="Microsoft YaHei"/>
                          <a:cs typeface="Microsoft YaHei"/>
                        </a:rPr>
                        <a:t>AOD depth</a:t>
                      </a:r>
                    </a:p>
                  </a:txBody>
                  <a:tcPr marL="91440" marR="91440" marT="45720" marB="45720" anchor="ctr">
                    <a:solidFill>
                      <a:srgbClr val="FFFFFF"/>
                    </a:solidFill>
                  </a:tcPr>
                </a:tc>
                <a:tc>
                  <a:txBody>
                    <a:bodyPr>
                      <a:noAutofit/>
                    </a:bodyPr>
                    <a:lstStyle/>
                    <a:p>
                      <a:pPr algn="ctr">
                        <a:buNone/>
                      </a:pPr>
                      <a:r>
                        <a:rPr sz="1125" b="0">
                          <a:solidFill>
                            <a:srgbClr val="344054"/>
                          </a:solidFill>
                          <a:latin typeface="Microsoft YaHei"/>
                          <a:ea typeface="Microsoft YaHei"/>
                          <a:cs typeface="Microsoft YaHei"/>
                        </a:rPr>
                        <a:t>280 µK</a:t>
                      </a:r>
                    </a:p>
                  </a:txBody>
                  <a:tcPr marL="91440" marR="91440" marT="45720" marB="45720" anchor="ctr">
                    <a:solidFill>
                      <a:srgbClr val="FFFFFF"/>
                    </a:solidFill>
                  </a:tcPr>
                </a:tc>
                <a:tc>
                  <a:txBody>
                    <a:bodyPr>
                      <a:noAutofit/>
                    </a:bodyPr>
                    <a:lstStyle/>
                    <a:p>
                      <a:pPr algn="ctr">
                        <a:buNone/>
                      </a:pPr>
                      <a:r>
                        <a:rPr sz="1125" b="0">
                          <a:solidFill>
                            <a:srgbClr val="344054"/>
                          </a:solidFill>
                          <a:latin typeface="Microsoft YaHei"/>
                          <a:ea typeface="Microsoft YaHei"/>
                          <a:cs typeface="Microsoft YaHei"/>
                        </a:rPr>
                        <a:t>移动束缚阱</a:t>
                      </a:r>
                    </a:p>
                  </a:txBody>
                  <a:tcPr marL="91440" marR="91440" marT="45720" marB="45720" anchor="ctr">
                    <a:solidFill>
                      <a:srgbClr val="FFFFFF"/>
                    </a:solidFill>
                  </a:tcPr>
                </a:tc>
                <a:tc>
                  <a:txBody>
                    <a:bodyPr>
                      <a:noAutofit/>
                    </a:bodyPr>
                    <a:lstStyle/>
                    <a:p>
                      <a:pPr algn="ctr">
                        <a:buNone/>
                      </a:pPr>
                      <a:r>
                        <a:rPr sz="1125" b="0">
                          <a:solidFill>
                            <a:srgbClr val="344054"/>
                          </a:solidFill>
                          <a:latin typeface="Microsoft YaHei"/>
                          <a:ea typeface="Microsoft YaHei"/>
                          <a:cs typeface="Microsoft YaHei"/>
                        </a:rPr>
                        <a:t>paper</a:t>
                      </a:r>
                    </a:p>
                  </a:txBody>
                  <a:tcPr marL="91440" marR="91440" marT="45720" marB="45720" anchor="ctr">
                    <a:solidFill>
                      <a:srgbClr val="FFFFFF"/>
                    </a:solidFill>
                  </a:tcPr>
                </a:tc>
              </a:tr>
              <a:tr h="438150">
                <a:tc>
                  <a:txBody>
                    <a:bodyPr>
                      <a:noAutofit/>
                    </a:bodyPr>
                    <a:lstStyle/>
                    <a:p>
                      <a:pPr algn="l">
                        <a:buNone/>
                      </a:pPr>
                      <a:r>
                        <a:rPr sz="1125" b="0">
                          <a:solidFill>
                            <a:srgbClr val="344054"/>
                          </a:solidFill>
                          <a:latin typeface="Microsoft YaHei"/>
                          <a:ea typeface="Microsoft YaHei"/>
                          <a:cs typeface="Microsoft YaHei"/>
                        </a:rPr>
                        <a:t>SLM waist</a:t>
                      </a:r>
                    </a:p>
                  </a:txBody>
                  <a:tcPr marL="91440" marR="91440" marT="45720" marB="45720" anchor="ctr">
                    <a:solidFill>
                      <a:srgbClr val="F8FAFC"/>
                    </a:solidFill>
                  </a:tcPr>
                </a:tc>
                <a:tc>
                  <a:txBody>
                    <a:bodyPr>
                      <a:noAutofit/>
                    </a:bodyPr>
                    <a:lstStyle/>
                    <a:p>
                      <a:pPr algn="ctr">
                        <a:buNone/>
                      </a:pPr>
                      <a:r>
                        <a:rPr sz="1125" b="0">
                          <a:solidFill>
                            <a:srgbClr val="344054"/>
                          </a:solidFill>
                          <a:latin typeface="Microsoft YaHei"/>
                          <a:ea typeface="Microsoft YaHei"/>
                          <a:cs typeface="Microsoft YaHei"/>
                        </a:rPr>
                        <a:t>1.17 µm</a:t>
                      </a:r>
                    </a:p>
                  </a:txBody>
                  <a:tcPr marL="91440" marR="91440" marT="45720" marB="45720" anchor="ctr">
                    <a:solidFill>
                      <a:srgbClr val="F8FAFC"/>
                    </a:solidFill>
                  </a:tcPr>
                </a:tc>
                <a:tc>
                  <a:txBody>
                    <a:bodyPr>
                      <a:noAutofit/>
                    </a:bodyPr>
                    <a:lstStyle/>
                    <a:p>
                      <a:pPr algn="ctr">
                        <a:buNone/>
                      </a:pPr>
                      <a:r>
                        <a:rPr sz="1125" b="0">
                          <a:solidFill>
                            <a:srgbClr val="344054"/>
                          </a:solidFill>
                          <a:latin typeface="Microsoft YaHei"/>
                          <a:ea typeface="Microsoft YaHei"/>
                          <a:cs typeface="Microsoft YaHei"/>
                        </a:rPr>
                        <a:t>横向尺度 w</a:t>
                      </a:r>
                    </a:p>
                  </a:txBody>
                  <a:tcPr marL="91440" marR="91440" marT="45720" marB="45720" anchor="ctr">
                    <a:solidFill>
                      <a:srgbClr val="F8FAFC"/>
                    </a:solidFill>
                  </a:tcPr>
                </a:tc>
                <a:tc>
                  <a:txBody>
                    <a:bodyPr>
                      <a:noAutofit/>
                    </a:bodyPr>
                    <a:lstStyle/>
                    <a:p>
                      <a:pPr algn="ctr">
                        <a:buNone/>
                      </a:pPr>
                      <a:r>
                        <a:rPr sz="1125" b="0">
                          <a:solidFill>
                            <a:srgbClr val="344054"/>
                          </a:solidFill>
                          <a:latin typeface="Microsoft YaHei"/>
                          <a:ea typeface="Microsoft YaHei"/>
                          <a:cs typeface="Microsoft YaHei"/>
                        </a:rPr>
                        <a:t>paper</a:t>
                      </a:r>
                    </a:p>
                  </a:txBody>
                  <a:tcPr marL="91440" marR="91440" marT="45720" marB="45720" anchor="ctr">
                    <a:solidFill>
                      <a:srgbClr val="F8FAFC"/>
                    </a:solidFill>
                  </a:tcPr>
                </a:tc>
              </a:tr>
              <a:tr h="438150">
                <a:tc>
                  <a:txBody>
                    <a:bodyPr>
                      <a:noAutofit/>
                    </a:bodyPr>
                    <a:lstStyle/>
                    <a:p>
                      <a:pPr algn="l">
                        <a:buNone/>
                      </a:pPr>
                      <a:r>
                        <a:rPr sz="1125" b="0">
                          <a:solidFill>
                            <a:srgbClr val="344054"/>
                          </a:solidFill>
                          <a:latin typeface="Microsoft YaHei"/>
                          <a:ea typeface="Microsoft YaHei"/>
                          <a:cs typeface="Microsoft YaHei"/>
                        </a:rPr>
                        <a:t>AOD waist</a:t>
                      </a:r>
                    </a:p>
                  </a:txBody>
                  <a:tcPr marL="91440" marR="91440" marT="45720" marB="45720" anchor="ctr">
                    <a:solidFill>
                      <a:srgbClr val="FFFFFF"/>
                    </a:solidFill>
                  </a:tcPr>
                </a:tc>
                <a:tc>
                  <a:txBody>
                    <a:bodyPr>
                      <a:noAutofit/>
                    </a:bodyPr>
                    <a:lstStyle/>
                    <a:p>
                      <a:pPr algn="ctr">
                        <a:buNone/>
                      </a:pPr>
                      <a:r>
                        <a:rPr sz="1125" b="0">
                          <a:solidFill>
                            <a:srgbClr val="344054"/>
                          </a:solidFill>
                          <a:latin typeface="Microsoft YaHei"/>
                          <a:ea typeface="Microsoft YaHei"/>
                          <a:cs typeface="Microsoft YaHei"/>
                        </a:rPr>
                        <a:t>1.17 µm</a:t>
                      </a:r>
                    </a:p>
                  </a:txBody>
                  <a:tcPr marL="91440" marR="91440" marT="45720" marB="45720" anchor="ctr">
                    <a:solidFill>
                      <a:srgbClr val="FFFFFF"/>
                    </a:solidFill>
                  </a:tcPr>
                </a:tc>
                <a:tc>
                  <a:txBody>
                    <a:bodyPr>
                      <a:noAutofit/>
                    </a:bodyPr>
                    <a:lstStyle/>
                    <a:p>
                      <a:pPr algn="ctr">
                        <a:buNone/>
                      </a:pPr>
                      <a:r>
                        <a:rPr sz="1125" b="0">
                          <a:solidFill>
                            <a:srgbClr val="344054"/>
                          </a:solidFill>
                          <a:latin typeface="Microsoft YaHei"/>
                          <a:ea typeface="Microsoft YaHei"/>
                          <a:cs typeface="Microsoft YaHei"/>
                        </a:rPr>
                        <a:t>当前取值</a:t>
                      </a:r>
                    </a:p>
                  </a:txBody>
                  <a:tcPr marL="91440" marR="91440" marT="45720" marB="45720" anchor="ctr">
                    <a:solidFill>
                      <a:srgbClr val="FFFFFF"/>
                    </a:solidFill>
                  </a:tcPr>
                </a:tc>
                <a:tc>
                  <a:txBody>
                    <a:bodyPr>
                      <a:noAutofit/>
                    </a:bodyPr>
                    <a:lstStyle/>
                    <a:p>
                      <a:pPr algn="ctr">
                        <a:buNone/>
                      </a:pPr>
                      <a:r>
                        <a:rPr sz="1125" b="0">
                          <a:solidFill>
                            <a:srgbClr val="344054"/>
                          </a:solidFill>
                          <a:latin typeface="Microsoft YaHei"/>
                          <a:ea typeface="Microsoft YaHei"/>
                          <a:cs typeface="Microsoft YaHei"/>
                        </a:rPr>
                        <a:t>assumed</a:t>
                      </a:r>
                    </a:p>
                  </a:txBody>
                  <a:tcPr marL="91440" marR="91440" marT="45720" marB="45720" anchor="ctr">
                    <a:solidFill>
                      <a:srgbClr val="FFFFFF"/>
                    </a:solidFill>
                  </a:tcPr>
                </a:tc>
              </a:tr>
              <a:tr h="438150">
                <a:tc>
                  <a:txBody>
                    <a:bodyPr>
                      <a:noAutofit/>
                    </a:bodyPr>
                    <a:lstStyle/>
                    <a:p>
                      <a:pPr algn="l">
                        <a:buNone/>
                      </a:pPr>
                      <a:r>
                        <a:rPr sz="1125" b="0">
                          <a:solidFill>
                            <a:srgbClr val="344054"/>
                          </a:solidFill>
                          <a:latin typeface="Microsoft YaHei"/>
                          <a:ea typeface="Microsoft YaHei"/>
                          <a:cs typeface="Microsoft YaHei"/>
                        </a:rPr>
                        <a:t>Separation</a:t>
                      </a:r>
                    </a:p>
                  </a:txBody>
                  <a:tcPr marL="91440" marR="91440" marT="45720" marB="45720" anchor="ctr">
                    <a:solidFill>
                      <a:srgbClr val="F8FAFC"/>
                    </a:solidFill>
                  </a:tcPr>
                </a:tc>
                <a:tc>
                  <a:txBody>
                    <a:bodyPr>
                      <a:noAutofit/>
                    </a:bodyPr>
                    <a:lstStyle/>
                    <a:p>
                      <a:pPr algn="ctr">
                        <a:buNone/>
                      </a:pPr>
                      <a:r>
                        <a:rPr sz="1125" b="0">
                          <a:solidFill>
                            <a:srgbClr val="344054"/>
                          </a:solidFill>
                          <a:latin typeface="Microsoft YaHei"/>
                          <a:ea typeface="Microsoft YaHei"/>
                          <a:cs typeface="Microsoft YaHei"/>
                        </a:rPr>
                        <a:t>2.4 µm</a:t>
                      </a:r>
                    </a:p>
                  </a:txBody>
                  <a:tcPr marL="91440" marR="91440" marT="45720" marB="45720" anchor="ctr">
                    <a:solidFill>
                      <a:srgbClr val="F8FAFC"/>
                    </a:solidFill>
                  </a:tcPr>
                </a:tc>
                <a:tc>
                  <a:txBody>
                    <a:bodyPr>
                      <a:noAutofit/>
                    </a:bodyPr>
                    <a:lstStyle/>
                    <a:p>
                      <a:pPr algn="ctr">
                        <a:buNone/>
                      </a:pPr>
                      <a:r>
                        <a:rPr sz="1125" b="0">
                          <a:solidFill>
                            <a:srgbClr val="344054"/>
                          </a:solidFill>
                          <a:latin typeface="Microsoft YaHei"/>
                          <a:ea typeface="Microsoft YaHei"/>
                          <a:cs typeface="Microsoft YaHei"/>
                        </a:rPr>
                        <a:t>中心位移</a:t>
                      </a:r>
                    </a:p>
                  </a:txBody>
                  <a:tcPr marL="91440" marR="91440" marT="45720" marB="45720" anchor="ctr">
                    <a:solidFill>
                      <a:srgbClr val="F8FAFC"/>
                    </a:solidFill>
                  </a:tcPr>
                </a:tc>
                <a:tc>
                  <a:txBody>
                    <a:bodyPr>
                      <a:noAutofit/>
                    </a:bodyPr>
                    <a:lstStyle/>
                    <a:p>
                      <a:pPr algn="ctr">
                        <a:buNone/>
                      </a:pPr>
                      <a:r>
                        <a:rPr sz="1125" b="0">
                          <a:solidFill>
                            <a:srgbClr val="344054"/>
                          </a:solidFill>
                          <a:latin typeface="Microsoft YaHei"/>
                          <a:ea typeface="Microsoft YaHei"/>
                          <a:cs typeface="Microsoft YaHei"/>
                        </a:rPr>
                        <a:t>paper</a:t>
                      </a:r>
                    </a:p>
                  </a:txBody>
                  <a:tcPr marL="91440" marR="91440" marT="45720" marB="45720" anchor="ctr">
                    <a:solidFill>
                      <a:srgbClr val="F8FAFC"/>
                    </a:solidFill>
                  </a:tcPr>
                </a:tc>
              </a:tr>
            </a:tbl>
          </a:graphicData>
        </a:graphic>
      </p:graphicFrame>
      <p:sp>
        <p:nvSpPr>
          <p:cNvPr id="15" name="">
            <a:extLst xmlns:a="http://schemas.openxmlformats.org/drawingml/2006/main">
              <a:ext uri="{FF2B5EF4-FFF2-40B4-BE49-F238E27FC236}">
                <a16:creationId xmlns:a16="http://schemas.microsoft.com/office/drawing/2014/main" id="{7EA2385B-2F46-47A5-B411-958E114CDE61}"/>
              </a:ext>
            </a:extLst>
          </p:cNvPr>
          <p:cNvSpPr>
            <a:spLocks xmlns:a="http://schemas.openxmlformats.org/drawingml/2006/main" noGrp="1"/>
          </p:cNvSpPr>
          <p:nvPr/>
        </p:nvSpPr>
        <p:spPr>
          <a:xfrm xmlns:a="http://schemas.openxmlformats.org/drawingml/2006/main">
            <a:off x="609600" y="5715000"/>
            <a:ext cx="10972800" cy="533400"/>
          </a:xfrm>
          <a:prstGeom xmlns:a="http://schemas.openxmlformats.org/drawingml/2006/main" prst="roundRect">
            <a:avLst>
              <a:gd name="adj" fmla="val 14286"/>
            </a:avLst>
          </a:prstGeom>
          <a:solidFill xmlns:a="http://schemas.openxmlformats.org/drawingml/2006/main">
            <a:srgbClr val="FFF6ED"/>
          </a:solidFill>
          <a:ln xmlns:a="http://schemas.openxmlformats.org/drawingml/2006/main" w="9525">
            <a:solidFill>
              <a:srgbClr val="FEDF89"/>
            </a:solidFill>
          </a:ln>
        </p:spPr>
      </p:sp>
      <p:sp>
        <p:nvSpPr>
          <p:cNvPr id="16" name="">
            <a:extLst xmlns:a="http://schemas.openxmlformats.org/drawingml/2006/main">
              <a:ext uri="{FF2B5EF4-FFF2-40B4-BE49-F238E27FC236}">
                <a16:creationId xmlns:a16="http://schemas.microsoft.com/office/drawing/2014/main" id="{55DBE209-E1E5-4C54-A751-F3730A474CA5}"/>
              </a:ext>
            </a:extLst>
          </p:cNvPr>
          <p:cNvSpPr>
            <a:spLocks xmlns:a="http://schemas.openxmlformats.org/drawingml/2006/main" noGrp="1"/>
          </p:cNvSpPr>
          <p:nvPr/>
        </p:nvSpPr>
        <p:spPr>
          <a:xfrm xmlns:a="http://schemas.openxmlformats.org/drawingml/2006/main">
            <a:off x="838200" y="5838825"/>
            <a:ext cx="10515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F79009"/>
                </a:solidFill>
                <a:latin typeface="Microsoft YaHei"/>
                <a:ea typeface="Microsoft YaHei"/>
                <a:cs typeface="Microsoft YaHei"/>
              </a:defRPr>
            </a:pPr>
            <a:r>
              <a:rPr sz="1200" b="0">
                <a:solidFill>
                  <a:srgbClr val="F79009"/>
                </a:solidFill>
                <a:latin typeface="Microsoft YaHei"/>
                <a:ea typeface="Microsoft YaHei"/>
                <a:cs typeface="Microsoft YaHei"/>
              </a:rPr>
              <a:t>边界：Fig. 6d 主比较只使用这一维理想高斯势。仓库中的 2D、3D 和量子模块没有自动并入本计算。</a:t>
            </a:r>
          </a:p>
        </p:txBody>
      </p:sp>
      <p:sp>
        <p:nvSpPr>
          <p:cNvPr id="17" name="">
            <a:extLst xmlns:a="http://schemas.openxmlformats.org/drawingml/2006/main">
              <a:ext uri="{FF2B5EF4-FFF2-40B4-BE49-F238E27FC236}">
                <a16:creationId xmlns:a16="http://schemas.microsoft.com/office/drawing/2014/main" id="{A18AAD89-C702-49A8-B187-81A87FF1AA29}"/>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8" name="">
            <a:extLst xmlns:a="http://schemas.openxmlformats.org/drawingml/2006/main">
              <a:ext uri="{FF2B5EF4-FFF2-40B4-BE49-F238E27FC236}">
                <a16:creationId xmlns:a16="http://schemas.microsoft.com/office/drawing/2014/main" id="{50961301-4B48-4761-B071-B51894D237AF}"/>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level2c_pickup_survival.yaml · gaussian potential implementation</a:t>
            </a:r>
          </a:p>
        </p:txBody>
      </p:sp>
      <p:sp>
        <p:nvSpPr>
          <p:cNvPr id="19" name="">
            <a:extLst xmlns:a="http://schemas.openxmlformats.org/drawingml/2006/main">
              <a:ext uri="{FF2B5EF4-FFF2-40B4-BE49-F238E27FC236}">
                <a16:creationId xmlns:a16="http://schemas.microsoft.com/office/drawing/2014/main" id="{5E54CC41-A2DE-4226-8FAF-2EDC8A4CE920}"/>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04</a:t>
            </a:r>
          </a:p>
        </p:txBody>
      </p:sp>
    </p:spTree>
    <p:extLst>
      <p:ext uri="{BB962C8B-B14F-4D97-AF65-F5344CB8AC3E}">
        <p14:creationId xmlns:p14="http://schemas.microsoft.com/office/powerpoint/2010/main" val="212384772"/>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E49C4DA-8B7E-4C20-A5C2-53AFB11025E3}"/>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03</a:t>
            </a:r>
          </a:p>
        </p:txBody>
      </p:sp>
      <p:sp>
        <p:nvSpPr>
          <p:cNvPr id="2" name="">
            <a:extLst xmlns:a="http://schemas.openxmlformats.org/drawingml/2006/main">
              <a:ext uri="{FF2B5EF4-FFF2-40B4-BE49-F238E27FC236}">
                <a16:creationId xmlns:a16="http://schemas.microsoft.com/office/drawing/2014/main" id="{9C45561C-7527-4E51-8C10-95EA36E81B8A}"/>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初态采样、位点散布与平均加热</a:t>
            </a:r>
          </a:p>
        </p:txBody>
      </p:sp>
      <p:sp>
        <p:nvSpPr>
          <p:cNvPr id="3" name="">
            <a:extLst xmlns:a="http://schemas.openxmlformats.org/drawingml/2006/main">
              <a:ext uri="{FF2B5EF4-FFF2-40B4-BE49-F238E27FC236}">
                <a16:creationId xmlns:a16="http://schemas.microsoft.com/office/drawing/2014/main" id="{663A3210-C667-4A8B-B3FA-5783B48F7441}"/>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1AAB66E6-5B6F-4496-A5E8-643453CA1B55}"/>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本步分别说明参数的物理意义、抽样频率和它在代码中的具体作用</a:t>
            </a:r>
          </a:p>
        </p:txBody>
      </p:sp>
      <p:graphicFrame>
        <p:nvGraphicFramePr>
          <p:cNvPr id="21" name=""/>
          <p:cNvGraphicFramePr/>
          <p:nvPr/>
        </p:nvGraphicFramePr>
        <p:xfrm>
          <a:off xmlns:a="http://schemas.openxmlformats.org/drawingml/2006/main" x="609600" y="1257300"/>
          <a:ext xmlns:a="http://schemas.openxmlformats.org/drawingml/2006/main" cx="10972800" cy="3848100"/>
        </p:xfrm>
        <a:graphic xmlns:a="http://schemas.openxmlformats.org/drawingml/2006/main">
          <a:graphicData uri="http://schemas.openxmlformats.org/drawingml/2006/table">
            <a:tbl>
              <a:tblPr/>
              <a:tblGrid>
                <a:gridCol w="1774046"/>
                <a:gridCol w="1248402"/>
                <a:gridCol w="2825332"/>
                <a:gridCol w="3745207"/>
                <a:gridCol w="1379813"/>
              </a:tblGrid>
              <a:tr h="481013">
                <a:tc>
                  <a:txBody>
                    <a:bodyPr>
                      <a:noAutofit/>
                    </a:bodyPr>
                    <a:lstStyle/>
                    <a:p>
                      <a:pPr algn="l">
                        <a:buNone/>
                      </a:pPr>
                      <a:r>
                        <a:rPr sz="975" b="1">
                          <a:solidFill>
                            <a:srgbClr val="FFFFFF"/>
                          </a:solidFill>
                          <a:latin typeface="Microsoft YaHei"/>
                          <a:ea typeface="Microsoft YaHei"/>
                          <a:cs typeface="Microsoft YaHei"/>
                        </a:rPr>
                        <a:t>参数</a:t>
                      </a:r>
                    </a:p>
                  </a:txBody>
                  <a:tcPr marL="91440" marR="91440" marT="45720" marB="45720" anchor="ctr">
                    <a:solidFill>
                      <a:srgbClr val="102A43"/>
                    </a:solidFill>
                  </a:tcPr>
                </a:tc>
                <a:tc>
                  <a:txBody>
                    <a:bodyPr>
                      <a:noAutofit/>
                    </a:bodyPr>
                    <a:lstStyle/>
                    <a:p>
                      <a:pPr algn="l">
                        <a:buNone/>
                      </a:pPr>
                      <a:r>
                        <a:rPr sz="975" b="1">
                          <a:solidFill>
                            <a:srgbClr val="FFFFFF"/>
                          </a:solidFill>
                          <a:latin typeface="Microsoft YaHei"/>
                          <a:ea typeface="Microsoft YaHei"/>
                          <a:cs typeface="Microsoft YaHei"/>
                        </a:rPr>
                        <a:t>Baseline</a:t>
                      </a:r>
                    </a:p>
                  </a:txBody>
                  <a:tcPr marL="91440" marR="91440" marT="45720" marB="45720" anchor="ctr">
                    <a:solidFill>
                      <a:srgbClr val="102A43"/>
                    </a:solidFill>
                  </a:tcPr>
                </a:tc>
                <a:tc>
                  <a:txBody>
                    <a:bodyPr>
                      <a:noAutofit/>
                    </a:bodyPr>
                    <a:lstStyle/>
                    <a:p>
                      <a:pPr algn="l">
                        <a:buNone/>
                      </a:pPr>
                      <a:r>
                        <a:rPr sz="975" b="1">
                          <a:solidFill>
                            <a:srgbClr val="FFFFFF"/>
                          </a:solidFill>
                          <a:latin typeface="Microsoft YaHei"/>
                          <a:ea typeface="Microsoft YaHei"/>
                          <a:cs typeface="Microsoft YaHei"/>
                        </a:rPr>
                        <a:t>参数意义</a:t>
                      </a:r>
                    </a:p>
                  </a:txBody>
                  <a:tcPr marL="91440" marR="91440" marT="45720" marB="45720" anchor="ctr">
                    <a:solidFill>
                      <a:srgbClr val="102A43"/>
                    </a:solidFill>
                  </a:tcPr>
                </a:tc>
                <a:tc>
                  <a:txBody>
                    <a:bodyPr>
                      <a:noAutofit/>
                    </a:bodyPr>
                    <a:lstStyle/>
                    <a:p>
                      <a:pPr algn="l">
                        <a:buNone/>
                      </a:pPr>
                      <a:r>
                        <a:rPr sz="975" b="1">
                          <a:solidFill>
                            <a:srgbClr val="FFFFFF"/>
                          </a:solidFill>
                          <a:latin typeface="Microsoft YaHei"/>
                          <a:ea typeface="Microsoft YaHei"/>
                          <a:cs typeface="Microsoft YaHei"/>
                        </a:rPr>
                        <a:t>代码中的具体处理</a:t>
                      </a:r>
                    </a:p>
                  </a:txBody>
                  <a:tcPr marL="91440" marR="91440" marT="45720" marB="45720" anchor="ctr">
                    <a:solidFill>
                      <a:srgbClr val="102A43"/>
                    </a:solidFill>
                  </a:tcPr>
                </a:tc>
                <a:tc>
                  <a:txBody>
                    <a:bodyPr>
                      <a:noAutofit/>
                    </a:bodyPr>
                    <a:lstStyle/>
                    <a:p>
                      <a:pPr algn="l">
                        <a:buNone/>
                      </a:pPr>
                      <a:r>
                        <a:rPr sz="975" b="1">
                          <a:solidFill>
                            <a:srgbClr val="FFFFFF"/>
                          </a:solidFill>
                          <a:latin typeface="Microsoft YaHei"/>
                          <a:ea typeface="Microsoft YaHei"/>
                          <a:cs typeface="Microsoft YaHei"/>
                        </a:rPr>
                        <a:t>来源</a:t>
                      </a:r>
                    </a:p>
                  </a:txBody>
                  <a:tcPr marL="91440" marR="91440" marT="45720" marB="45720" anchor="ctr">
                    <a:solidFill>
                      <a:srgbClr val="102A43"/>
                    </a:solidFill>
                  </a:tcPr>
                </a:tc>
              </a:tr>
              <a:tr h="481013">
                <a:tc>
                  <a:txBody>
                    <a:bodyPr>
                      <a:noAutofit/>
                    </a:bodyPr>
                    <a:lstStyle/>
                    <a:p>
                      <a:pPr algn="l">
                        <a:buNone/>
                      </a:pPr>
                      <a:r>
                        <a:rPr sz="938" b="0">
                          <a:solidFill>
                            <a:srgbClr val="344054"/>
                          </a:solidFill>
                          <a:latin typeface="Microsoft YaHei"/>
                          <a:ea typeface="Microsoft YaHei"/>
                          <a:cs typeface="Microsoft YaHei"/>
                        </a:rPr>
                        <a:t>初始温度 T</a:t>
                      </a:r>
                    </a:p>
                  </a:txBody>
                  <a:tcPr marL="91440" marR="91440" marT="45720" marB="45720" anchor="ctr">
                    <a:solidFill>
                      <a:srgbClr val="EFF8FF"/>
                    </a:solidFill>
                  </a:tcPr>
                </a:tc>
                <a:tc>
                  <a:txBody>
                    <a:bodyPr>
                      <a:noAutofit/>
                    </a:bodyPr>
                    <a:lstStyle/>
                    <a:p>
                      <a:pPr algn="l">
                        <a:buNone/>
                      </a:pPr>
                      <a:r>
                        <a:rPr sz="938" b="0">
                          <a:solidFill>
                            <a:srgbClr val="344054"/>
                          </a:solidFill>
                          <a:latin typeface="Microsoft YaHei"/>
                          <a:ea typeface="Microsoft YaHei"/>
                          <a:cs typeface="Microsoft YaHei"/>
                        </a:rPr>
                        <a:t>5 µK</a:t>
                      </a:r>
                    </a:p>
                  </a:txBody>
                  <a:tcPr marL="91440" marR="91440" marT="45720" marB="45720" anchor="ctr">
                    <a:solidFill>
                      <a:srgbClr val="EFF8FF"/>
                    </a:solidFill>
                  </a:tcPr>
                </a:tc>
                <a:tc>
                  <a:txBody>
                    <a:bodyPr>
                      <a:noAutofit/>
                    </a:bodyPr>
                    <a:lstStyle/>
                    <a:p>
                      <a:pPr algn="l">
                        <a:buNone/>
                      </a:pPr>
                      <a:r>
                        <a:rPr sz="938" b="0">
                          <a:solidFill>
                            <a:srgbClr val="344054"/>
                          </a:solidFill>
                          <a:latin typeface="Microsoft YaHei"/>
                          <a:ea typeface="Microsoft YaHei"/>
                          <a:cs typeface="Microsoft YaHei"/>
                        </a:rPr>
                        <a:t>初始系综的热运动能量尺度</a:t>
                      </a:r>
                    </a:p>
                  </a:txBody>
                  <a:tcPr marL="91440" marR="91440" marT="45720" marB="45720" anchor="ctr">
                    <a:solidFill>
                      <a:srgbClr val="EFF8FF"/>
                    </a:solidFill>
                  </a:tcPr>
                </a:tc>
                <a:tc>
                  <a:txBody>
                    <a:bodyPr>
                      <a:noAutofit/>
                    </a:bodyPr>
                    <a:lstStyle/>
                    <a:p>
                      <a:pPr algn="l">
                        <a:buNone/>
                      </a:pPr>
                      <a:r>
                        <a:rPr sz="938" b="0">
                          <a:solidFill>
                            <a:srgbClr val="344054"/>
                          </a:solidFill>
                          <a:latin typeface="Microsoft YaHei"/>
                          <a:ea typeface="Microsoft YaHei"/>
                          <a:cs typeface="Microsoft YaHei"/>
                        </a:rPr>
                        <a:t>只在 t=0 采样 x、v，E₀&lt;0 才接受</a:t>
                      </a:r>
                    </a:p>
                  </a:txBody>
                  <a:tcPr marL="91440" marR="91440" marT="45720" marB="45720" anchor="ctr">
                    <a:solidFill>
                      <a:srgbClr val="EFF8FF"/>
                    </a:solidFill>
                  </a:tcPr>
                </a:tc>
                <a:tc>
                  <a:txBody>
                    <a:bodyPr>
                      <a:noAutofit/>
                    </a:bodyPr>
                    <a:lstStyle/>
                    <a:p>
                      <a:pPr algn="l">
                        <a:buNone/>
                      </a:pPr>
                      <a:r>
                        <a:rPr sz="938" b="0">
                          <a:solidFill>
                            <a:srgbClr val="344054"/>
                          </a:solidFill>
                          <a:latin typeface="Microsoft YaHei"/>
                          <a:ea typeface="Microsoft YaHei"/>
                          <a:cs typeface="Microsoft YaHei"/>
                        </a:rPr>
                        <a:t>未标定假设</a:t>
                      </a:r>
                    </a:p>
                  </a:txBody>
                  <a:tcPr marL="91440" marR="91440" marT="45720" marB="45720" anchor="ctr">
                    <a:solidFill>
                      <a:srgbClr val="EFF8FF"/>
                    </a:solidFill>
                  </a:tcPr>
                </a:tc>
              </a:tr>
              <a:tr h="481013">
                <a:tc>
                  <a:txBody>
                    <a:bodyPr>
                      <a:noAutofit/>
                    </a:bodyPr>
                    <a:lstStyle/>
                    <a:p>
                      <a:pPr algn="l">
                        <a:buNone/>
                      </a:pPr>
                      <a:r>
                        <a:rPr sz="938" b="0">
                          <a:solidFill>
                            <a:srgbClr val="344054"/>
                          </a:solidFill>
                          <a:latin typeface="Microsoft YaHei"/>
                          <a:ea typeface="Microsoft YaHei"/>
                          <a:cs typeface="Microsoft YaHei"/>
                        </a:rPr>
                        <a:t>静态对准 σalign</a:t>
                      </a:r>
                    </a:p>
                  </a:txBody>
                  <a:tcPr marL="91440" marR="91440" marT="45720" marB="45720" anchor="ctr">
                    <a:solidFill>
                      <a:srgbClr val="F8FAFC"/>
                    </a:solidFill>
                  </a:tcPr>
                </a:tc>
                <a:tc>
                  <a:txBody>
                    <a:bodyPr>
                      <a:noAutofit/>
                    </a:bodyPr>
                    <a:lstStyle/>
                    <a:p>
                      <a:pPr algn="l">
                        <a:buNone/>
                      </a:pPr>
                      <a:r>
                        <a:rPr sz="938" b="0">
                          <a:solidFill>
                            <a:srgbClr val="344054"/>
                          </a:solidFill>
                          <a:latin typeface="Microsoft YaHei"/>
                          <a:ea typeface="Microsoft YaHei"/>
                          <a:cs typeface="Microsoft YaHei"/>
                        </a:rPr>
                        <a:t>0.05 µm</a:t>
                      </a:r>
                    </a:p>
                  </a:txBody>
                  <a:tcPr marL="91440" marR="91440" marT="45720" marB="45720" anchor="ctr">
                    <a:solidFill>
                      <a:srgbClr val="F8FAFC"/>
                    </a:solidFill>
                  </a:tcPr>
                </a:tc>
                <a:tc>
                  <a:txBody>
                    <a:bodyPr>
                      <a:noAutofit/>
                    </a:bodyPr>
                    <a:lstStyle/>
                    <a:p>
                      <a:pPr algn="l">
                        <a:buNone/>
                      </a:pPr>
                      <a:r>
                        <a:rPr sz="938" b="0">
                          <a:solidFill>
                            <a:srgbClr val="344054"/>
                          </a:solidFill>
                          <a:latin typeface="Microsoft YaHei"/>
                          <a:ea typeface="Microsoft YaHei"/>
                          <a:cs typeface="Microsoft YaHei"/>
                        </a:rPr>
                        <a:t>AOD–SLM 准静态中心偏差的标准差</a:t>
                      </a:r>
                    </a:p>
                  </a:txBody>
                  <a:tcPr marL="91440" marR="91440" marT="45720" marB="45720" anchor="ctr">
                    <a:solidFill>
                      <a:srgbClr val="F8FAFC"/>
                    </a:solidFill>
                  </a:tcPr>
                </a:tc>
                <a:tc>
                  <a:txBody>
                    <a:bodyPr>
                      <a:noAutofit/>
                    </a:bodyPr>
                    <a:lstStyle/>
                    <a:p>
                      <a:pPr algn="l">
                        <a:buNone/>
                      </a:pPr>
                      <a:r>
                        <a:rPr sz="938" b="0">
                          <a:solidFill>
                            <a:srgbClr val="344054"/>
                          </a:solidFill>
                          <a:latin typeface="Microsoft YaHei"/>
                          <a:ea typeface="Microsoft YaHei"/>
                          <a:cs typeface="Microsoft YaHei"/>
                        </a:rPr>
                        <a:t>每个 shot 抽一次，60 次转移保持不变</a:t>
                      </a:r>
                    </a:p>
                  </a:txBody>
                  <a:tcPr marL="91440" marR="91440" marT="45720" marB="45720" anchor="ctr">
                    <a:solidFill>
                      <a:srgbClr val="F8FAFC"/>
                    </a:solidFill>
                  </a:tcPr>
                </a:tc>
                <a:tc>
                  <a:txBody>
                    <a:bodyPr>
                      <a:noAutofit/>
                    </a:bodyPr>
                    <a:lstStyle/>
                    <a:p>
                      <a:pPr algn="l">
                        <a:buNone/>
                      </a:pPr>
                      <a:r>
                        <a:rPr sz="938" b="0">
                          <a:solidFill>
                            <a:srgbClr val="344054"/>
                          </a:solidFill>
                          <a:latin typeface="Microsoft YaHei"/>
                          <a:ea typeface="Microsoft YaHei"/>
                          <a:cs typeface="Microsoft YaHei"/>
                        </a:rPr>
                        <a:t>assumed</a:t>
                      </a:r>
                    </a:p>
                  </a:txBody>
                  <a:tcPr marL="91440" marR="91440" marT="45720" marB="45720" anchor="ctr">
                    <a:solidFill>
                      <a:srgbClr val="F8FAFC"/>
                    </a:solidFill>
                  </a:tcPr>
                </a:tc>
              </a:tr>
              <a:tr h="481013">
                <a:tc>
                  <a:txBody>
                    <a:bodyPr>
                      <a:noAutofit/>
                    </a:bodyPr>
                    <a:lstStyle/>
                    <a:p>
                      <a:pPr algn="l">
                        <a:buNone/>
                      </a:pPr>
                      <a:r>
                        <a:rPr sz="938" b="0">
                          <a:solidFill>
                            <a:srgbClr val="344054"/>
                          </a:solidFill>
                          <a:latin typeface="Microsoft YaHei"/>
                          <a:ea typeface="Microsoft YaHei"/>
                          <a:cs typeface="Microsoft YaHei"/>
                        </a:rPr>
                        <a:t>分段抖动 σjitter</a:t>
                      </a:r>
                    </a:p>
                  </a:txBody>
                  <a:tcPr marL="91440" marR="91440" marT="45720" marB="45720" anchor="ctr">
                    <a:solidFill>
                      <a:srgbClr val="FFFFFF"/>
                    </a:solidFill>
                  </a:tcPr>
                </a:tc>
                <a:tc>
                  <a:txBody>
                    <a:bodyPr>
                      <a:noAutofit/>
                    </a:bodyPr>
                    <a:lstStyle/>
                    <a:p>
                      <a:pPr algn="l">
                        <a:buNone/>
                      </a:pPr>
                      <a:r>
                        <a:rPr sz="938" b="0">
                          <a:solidFill>
                            <a:srgbClr val="344054"/>
                          </a:solidFill>
                          <a:latin typeface="Microsoft YaHei"/>
                          <a:ea typeface="Microsoft YaHei"/>
                          <a:cs typeface="Microsoft YaHei"/>
                        </a:rPr>
                        <a:t>0.01 µm</a:t>
                      </a:r>
                    </a:p>
                  </a:txBody>
                  <a:tcPr marL="91440" marR="91440" marT="45720" marB="45720" anchor="ctr">
                    <a:solidFill>
                      <a:srgbClr val="FFFFFF"/>
                    </a:solidFill>
                  </a:tcPr>
                </a:tc>
                <a:tc>
                  <a:txBody>
                    <a:bodyPr>
                      <a:noAutofit/>
                    </a:bodyPr>
                    <a:lstStyle/>
                    <a:p>
                      <a:pPr algn="l">
                        <a:buNone/>
                      </a:pPr>
                      <a:r>
                        <a:rPr sz="938" b="0">
                          <a:solidFill>
                            <a:srgbClr val="344054"/>
                          </a:solidFill>
                          <a:latin typeface="Microsoft YaHei"/>
                          <a:ea typeface="Microsoft YaHei"/>
                          <a:cs typeface="Microsoft YaHei"/>
                        </a:rPr>
                        <a:t>各阶段 AOD 中心随机跳变的尺度</a:t>
                      </a:r>
                    </a:p>
                  </a:txBody>
                  <a:tcPr marL="91440" marR="91440" marT="45720" marB="45720" anchor="ctr">
                    <a:solidFill>
                      <a:srgbClr val="FFFFFF"/>
                    </a:solidFill>
                  </a:tcPr>
                </a:tc>
                <a:tc>
                  <a:txBody>
                    <a:bodyPr>
                      <a:noAutofit/>
                    </a:bodyPr>
                    <a:lstStyle/>
                    <a:p>
                      <a:pPr algn="l">
                        <a:buNone/>
                      </a:pPr>
                      <a:r>
                        <a:rPr sz="938" b="0">
                          <a:solidFill>
                            <a:srgbClr val="344054"/>
                          </a:solidFill>
                          <a:latin typeface="Microsoft YaHei"/>
                          <a:ea typeface="Microsoft YaHei"/>
                          <a:cs typeface="Microsoft YaHei"/>
                        </a:rPr>
                        <a:t>pickup、wait、drop-off 各重抽一次，段内固定</a:t>
                      </a:r>
                    </a:p>
                  </a:txBody>
                  <a:tcPr marL="91440" marR="91440" marT="45720" marB="45720" anchor="ctr">
                    <a:solidFill>
                      <a:srgbClr val="FFFFFF"/>
                    </a:solidFill>
                  </a:tcPr>
                </a:tc>
                <a:tc>
                  <a:txBody>
                    <a:bodyPr>
                      <a:noAutofit/>
                    </a:bodyPr>
                    <a:lstStyle/>
                    <a:p>
                      <a:pPr algn="l">
                        <a:buNone/>
                      </a:pPr>
                      <a:r>
                        <a:rPr sz="938" b="0">
                          <a:solidFill>
                            <a:srgbClr val="344054"/>
                          </a:solidFill>
                          <a:latin typeface="Microsoft YaHei"/>
                          <a:ea typeface="Microsoft YaHei"/>
                          <a:cs typeface="Microsoft YaHei"/>
                        </a:rPr>
                        <a:t>assumed</a:t>
                      </a:r>
                    </a:p>
                  </a:txBody>
                  <a:tcPr marL="91440" marR="91440" marT="45720" marB="45720" anchor="ctr">
                    <a:solidFill>
                      <a:srgbClr val="FFFFFF"/>
                    </a:solidFill>
                  </a:tcPr>
                </a:tc>
              </a:tr>
              <a:tr h="481013">
                <a:tc>
                  <a:txBody>
                    <a:bodyPr>
                      <a:noAutofit/>
                    </a:bodyPr>
                    <a:lstStyle/>
                    <a:p>
                      <a:pPr algn="l">
                        <a:buNone/>
                      </a:pPr>
                      <a:r>
                        <a:rPr sz="938" b="0">
                          <a:solidFill>
                            <a:srgbClr val="344054"/>
                          </a:solidFill>
                          <a:latin typeface="Microsoft YaHei"/>
                          <a:ea typeface="Microsoft YaHei"/>
                          <a:cs typeface="Microsoft YaHei"/>
                        </a:rPr>
                        <a:t>SLM 阱深 σrel</a:t>
                      </a:r>
                    </a:p>
                  </a:txBody>
                  <a:tcPr marL="91440" marR="91440" marT="45720" marB="45720" anchor="ctr">
                    <a:solidFill>
                      <a:srgbClr val="F8FAFC"/>
                    </a:solidFill>
                  </a:tcPr>
                </a:tc>
                <a:tc>
                  <a:txBody>
                    <a:bodyPr>
                      <a:noAutofit/>
                    </a:bodyPr>
                    <a:lstStyle/>
                    <a:p>
                      <a:pPr algn="l">
                        <a:buNone/>
                      </a:pPr>
                      <a:r>
                        <a:rPr sz="938" b="0">
                          <a:solidFill>
                            <a:srgbClr val="344054"/>
                          </a:solidFill>
                          <a:latin typeface="Microsoft YaHei"/>
                          <a:ea typeface="Microsoft YaHei"/>
                          <a:cs typeface="Microsoft YaHei"/>
                        </a:rPr>
                        <a:t>11.4%</a:t>
                      </a:r>
                    </a:p>
                  </a:txBody>
                  <a:tcPr marL="91440" marR="91440" marT="45720" marB="45720" anchor="ctr">
                    <a:solidFill>
                      <a:srgbClr val="F8FAFC"/>
                    </a:solidFill>
                  </a:tcPr>
                </a:tc>
                <a:tc>
                  <a:txBody>
                    <a:bodyPr>
                      <a:noAutofit/>
                    </a:bodyPr>
                    <a:lstStyle/>
                    <a:p>
                      <a:pPr algn="l">
                        <a:buNone/>
                      </a:pPr>
                      <a:r>
                        <a:rPr sz="938" b="0">
                          <a:solidFill>
                            <a:srgbClr val="344054"/>
                          </a:solidFill>
                          <a:latin typeface="Microsoft YaHei"/>
                          <a:ea typeface="Microsoft YaHei"/>
                          <a:cs typeface="Microsoft YaHei"/>
                        </a:rPr>
                        <a:t>SLM 位点间阱深的相对标准差</a:t>
                      </a:r>
                    </a:p>
                  </a:txBody>
                  <a:tcPr marL="91440" marR="91440" marT="45720" marB="45720" anchor="ctr">
                    <a:solidFill>
                      <a:srgbClr val="F8FAFC"/>
                    </a:solidFill>
                  </a:tcPr>
                </a:tc>
                <a:tc>
                  <a:txBody>
                    <a:bodyPr>
                      <a:noAutofit/>
                    </a:bodyPr>
                    <a:lstStyle/>
                    <a:p>
                      <a:pPr algn="l">
                        <a:buNone/>
                      </a:pPr>
                      <a:r>
                        <a:rPr sz="938" b="0">
                          <a:solidFill>
                            <a:srgbClr val="344054"/>
                          </a:solidFill>
                          <a:latin typeface="Microsoft YaHei"/>
                          <a:ea typeface="Microsoft YaHei"/>
                          <a:cs typeface="Microsoft YaHei"/>
                        </a:rPr>
                        <a:t>每个 shot 生成 DSLM 乘性因子，全程固定</a:t>
                      </a:r>
                    </a:p>
                  </a:txBody>
                  <a:tcPr marL="91440" marR="91440" marT="45720" marB="45720" anchor="ctr">
                    <a:solidFill>
                      <a:srgbClr val="F8FAFC"/>
                    </a:solidFill>
                  </a:tcPr>
                </a:tc>
                <a:tc>
                  <a:txBody>
                    <a:bodyPr>
                      <a:noAutofit/>
                    </a:bodyPr>
                    <a:lstStyle/>
                    <a:p>
                      <a:pPr algn="l">
                        <a:buNone/>
                      </a:pPr>
                      <a:r>
                        <a:rPr sz="938" b="0">
                          <a:solidFill>
                            <a:srgbClr val="344054"/>
                          </a:solidFill>
                          <a:latin typeface="Microsoft YaHei"/>
                          <a:ea typeface="Microsoft YaHei"/>
                          <a:cs typeface="Microsoft YaHei"/>
                        </a:rPr>
                        <a:t>论文位点散布</a:t>
                      </a:r>
                    </a:p>
                  </a:txBody>
                  <a:tcPr marL="91440" marR="91440" marT="45720" marB="45720" anchor="ctr">
                    <a:solidFill>
                      <a:srgbClr val="F8FAFC"/>
                    </a:solidFill>
                  </a:tcPr>
                </a:tc>
              </a:tr>
              <a:tr h="481013">
                <a:tc>
                  <a:txBody>
                    <a:bodyPr>
                      <a:noAutofit/>
                    </a:bodyPr>
                    <a:lstStyle/>
                    <a:p>
                      <a:pPr algn="l">
                        <a:buNone/>
                      </a:pPr>
                      <a:r>
                        <a:rPr sz="938" b="0">
                          <a:solidFill>
                            <a:srgbClr val="344054"/>
                          </a:solidFill>
                          <a:latin typeface="Microsoft YaHei"/>
                          <a:ea typeface="Microsoft YaHei"/>
                          <a:cs typeface="Microsoft YaHei"/>
                        </a:rPr>
                        <a:t>AOD 深度 / 束腰 σrel</a:t>
                      </a:r>
                    </a:p>
                  </a:txBody>
                  <a:tcPr marL="91440" marR="91440" marT="45720" marB="45720" anchor="ctr">
                    <a:solidFill>
                      <a:srgbClr val="FFFFFF"/>
                    </a:solidFill>
                  </a:tcPr>
                </a:tc>
                <a:tc>
                  <a:txBody>
                    <a:bodyPr>
                      <a:noAutofit/>
                    </a:bodyPr>
                    <a:lstStyle/>
                    <a:p>
                      <a:pPr algn="l">
                        <a:buNone/>
                      </a:pPr>
                      <a:r>
                        <a:rPr sz="938" b="0">
                          <a:solidFill>
                            <a:srgbClr val="344054"/>
                          </a:solidFill>
                          <a:latin typeface="Microsoft YaHei"/>
                          <a:ea typeface="Microsoft YaHei"/>
                          <a:cs typeface="Microsoft YaHei"/>
                        </a:rPr>
                        <a:t>2% / 2%</a:t>
                      </a:r>
                    </a:p>
                  </a:txBody>
                  <a:tcPr marL="91440" marR="91440" marT="45720" marB="45720" anchor="ctr">
                    <a:solidFill>
                      <a:srgbClr val="FFFFFF"/>
                    </a:solidFill>
                  </a:tcPr>
                </a:tc>
                <a:tc>
                  <a:txBody>
                    <a:bodyPr>
                      <a:noAutofit/>
                    </a:bodyPr>
                    <a:lstStyle/>
                    <a:p>
                      <a:pPr algn="l">
                        <a:buNone/>
                      </a:pPr>
                      <a:r>
                        <a:rPr sz="938" b="0">
                          <a:solidFill>
                            <a:srgbClr val="344054"/>
                          </a:solidFill>
                          <a:latin typeface="Microsoft YaHei"/>
                          <a:ea typeface="Microsoft YaHei"/>
                          <a:cs typeface="Microsoft YaHei"/>
                        </a:rPr>
                        <a:t>AOD 阱深与束腰标定误差的相对标准差</a:t>
                      </a:r>
                    </a:p>
                  </a:txBody>
                  <a:tcPr marL="91440" marR="91440" marT="45720" marB="45720" anchor="ctr">
                    <a:solidFill>
                      <a:srgbClr val="FFFFFF"/>
                    </a:solidFill>
                  </a:tcPr>
                </a:tc>
                <a:tc>
                  <a:txBody>
                    <a:bodyPr>
                      <a:noAutofit/>
                    </a:bodyPr>
                    <a:lstStyle/>
                    <a:p>
                      <a:pPr algn="l">
                        <a:buNone/>
                      </a:pPr>
                      <a:r>
                        <a:rPr sz="938" b="0">
                          <a:solidFill>
                            <a:srgbClr val="344054"/>
                          </a:solidFill>
                          <a:latin typeface="Microsoft YaHei"/>
                          <a:ea typeface="Microsoft YaHei"/>
                          <a:cs typeface="Microsoft YaHei"/>
                        </a:rPr>
                        <a:t>两个乘性因子每个 shot 各抽一次，全程固定</a:t>
                      </a:r>
                    </a:p>
                  </a:txBody>
                  <a:tcPr marL="91440" marR="91440" marT="45720" marB="45720" anchor="ctr">
                    <a:solidFill>
                      <a:srgbClr val="FFFFFF"/>
                    </a:solidFill>
                  </a:tcPr>
                </a:tc>
                <a:tc>
                  <a:txBody>
                    <a:bodyPr>
                      <a:noAutofit/>
                    </a:bodyPr>
                    <a:lstStyle/>
                    <a:p>
                      <a:pPr algn="l">
                        <a:buNone/>
                      </a:pPr>
                      <a:r>
                        <a:rPr sz="938" b="0">
                          <a:solidFill>
                            <a:srgbClr val="344054"/>
                          </a:solidFill>
                          <a:latin typeface="Microsoft YaHei"/>
                          <a:ea typeface="Microsoft YaHei"/>
                          <a:cs typeface="Microsoft YaHei"/>
                        </a:rPr>
                        <a:t>assumed</a:t>
                      </a:r>
                    </a:p>
                  </a:txBody>
                  <a:tcPr marL="91440" marR="91440" marT="45720" marB="45720" anchor="ctr">
                    <a:solidFill>
                      <a:srgbClr val="FFFFFF"/>
                    </a:solidFill>
                  </a:tcPr>
                </a:tc>
              </a:tr>
              <a:tr h="481013">
                <a:tc>
                  <a:txBody>
                    <a:bodyPr>
                      <a:noAutofit/>
                    </a:bodyPr>
                    <a:lstStyle/>
                    <a:p>
                      <a:pPr algn="l">
                        <a:buNone/>
                      </a:pPr>
                      <a:r>
                        <a:rPr sz="938" b="0">
                          <a:solidFill>
                            <a:srgbClr val="344054"/>
                          </a:solidFill>
                          <a:latin typeface="Microsoft YaHei"/>
                          <a:ea typeface="Microsoft YaHei"/>
                          <a:cs typeface="Microsoft YaHei"/>
                        </a:rPr>
                        <a:t>RIN PSD</a:t>
                      </a:r>
                    </a:p>
                  </a:txBody>
                  <a:tcPr marL="91440" marR="91440" marT="45720" marB="45720" anchor="ctr">
                    <a:solidFill>
                      <a:srgbClr val="F8FAFC"/>
                    </a:solidFill>
                  </a:tcPr>
                </a:tc>
                <a:tc>
                  <a:txBody>
                    <a:bodyPr>
                      <a:noAutofit/>
                    </a:bodyPr>
                    <a:lstStyle/>
                    <a:p>
                      <a:pPr algn="l">
                        <a:buNone/>
                      </a:pPr>
                      <a:r>
                        <a:rPr sz="938" b="0">
                          <a:solidFill>
                            <a:srgbClr val="344054"/>
                          </a:solidFill>
                          <a:latin typeface="Microsoft YaHei"/>
                          <a:ea typeface="Microsoft YaHei"/>
                          <a:cs typeface="Microsoft YaHei"/>
                        </a:rPr>
                        <a:t>1×10⁻⁸ Hz⁻¹</a:t>
                      </a:r>
                    </a:p>
                  </a:txBody>
                  <a:tcPr marL="91440" marR="91440" marT="45720" marB="45720" anchor="ctr">
                    <a:solidFill>
                      <a:srgbClr val="F8FAFC"/>
                    </a:solidFill>
                  </a:tcPr>
                </a:tc>
                <a:tc>
                  <a:txBody>
                    <a:bodyPr>
                      <a:noAutofit/>
                    </a:bodyPr>
                    <a:lstStyle/>
                    <a:p>
                      <a:pPr algn="l">
                        <a:buNone/>
                      </a:pPr>
                      <a:r>
                        <a:rPr sz="938" b="0">
                          <a:solidFill>
                            <a:srgbClr val="344054"/>
                          </a:solidFill>
                          <a:latin typeface="Microsoft YaHei"/>
                          <a:ea typeface="Microsoft YaHei"/>
                          <a:cs typeface="Microsoft YaHei"/>
                        </a:rPr>
                        <a:t>激光相对强度噪声的功率谱密度</a:t>
                      </a:r>
                    </a:p>
                  </a:txBody>
                  <a:tcPr marL="91440" marR="91440" marT="45720" marB="45720" anchor="ctr">
                    <a:solidFill>
                      <a:srgbClr val="F8FAFC"/>
                    </a:solidFill>
                  </a:tcPr>
                </a:tc>
                <a:tc>
                  <a:txBody>
                    <a:bodyPr>
                      <a:noAutofit/>
                    </a:bodyPr>
                    <a:lstStyle/>
                    <a:p>
                      <a:pPr algn="l">
                        <a:buNone/>
                      </a:pPr>
                      <a:r>
                        <a:rPr sz="938" b="0">
                          <a:solidFill>
                            <a:srgbClr val="344054"/>
                          </a:solidFill>
                          <a:latin typeface="Microsoft YaHei"/>
                          <a:ea typeface="Microsoft YaHei"/>
                          <a:cs typeface="Microsoft YaHei"/>
                        </a:rPr>
                        <a:t>按参考频率换算为平均参量加热，不生成随机时序</a:t>
                      </a:r>
                    </a:p>
                  </a:txBody>
                  <a:tcPr marL="91440" marR="91440" marT="45720" marB="45720" anchor="ctr">
                    <a:solidFill>
                      <a:srgbClr val="F8FAFC"/>
                    </a:solidFill>
                  </a:tcPr>
                </a:tc>
                <a:tc>
                  <a:txBody>
                    <a:bodyPr>
                      <a:noAutofit/>
                    </a:bodyPr>
                    <a:lstStyle/>
                    <a:p>
                      <a:pPr algn="l">
                        <a:buNone/>
                      </a:pPr>
                      <a:r>
                        <a:rPr sz="938" b="0">
                          <a:solidFill>
                            <a:srgbClr val="344054"/>
                          </a:solidFill>
                          <a:latin typeface="Microsoft YaHei"/>
                          <a:ea typeface="Microsoft YaHei"/>
                          <a:cs typeface="Microsoft YaHei"/>
                        </a:rPr>
                        <a:t>assumed</a:t>
                      </a:r>
                    </a:p>
                  </a:txBody>
                  <a:tcPr marL="91440" marR="91440" marT="45720" marB="45720" anchor="ctr">
                    <a:solidFill>
                      <a:srgbClr val="F8FAFC"/>
                    </a:solidFill>
                  </a:tcPr>
                </a:tc>
              </a:tr>
              <a:tr h="481013">
                <a:tc>
                  <a:txBody>
                    <a:bodyPr>
                      <a:noAutofit/>
                    </a:bodyPr>
                    <a:lstStyle/>
                    <a:p>
                      <a:pPr algn="l">
                        <a:buNone/>
                      </a:pPr>
                      <a:r>
                        <a:rPr sz="938" b="0">
                          <a:solidFill>
                            <a:srgbClr val="344054"/>
                          </a:solidFill>
                          <a:latin typeface="Microsoft YaHei"/>
                          <a:ea typeface="Microsoft YaHei"/>
                          <a:cs typeface="Microsoft YaHei"/>
                        </a:rPr>
                        <a:t>Recoil / pointing</a:t>
                      </a:r>
                    </a:p>
                  </a:txBody>
                  <a:tcPr marL="91440" marR="91440" marT="45720" marB="45720" anchor="ctr">
                    <a:solidFill>
                      <a:srgbClr val="FFFFFF"/>
                    </a:solidFill>
                  </a:tcPr>
                </a:tc>
                <a:tc>
                  <a:txBody>
                    <a:bodyPr>
                      <a:noAutofit/>
                    </a:bodyPr>
                    <a:lstStyle/>
                    <a:p>
                      <a:pPr algn="l">
                        <a:buNone/>
                      </a:pPr>
                      <a:r>
                        <a:rPr sz="938" b="0">
                          <a:solidFill>
                            <a:srgbClr val="344054"/>
                          </a:solidFill>
                          <a:latin typeface="Microsoft YaHei"/>
                          <a:ea typeface="Microsoft YaHei"/>
                          <a:cs typeface="Microsoft YaHei"/>
                        </a:rPr>
                        <a:t>4.23 s⁻¹ /</a:t>
                      </a:r>
                    </a:p>
                    <a:p>
                      <a:pPr algn="l">
                        <a:buNone/>
                      </a:pPr>
                      <a:r>
                        <a:rPr sz="938" b="0">
                          <a:solidFill>
                            <a:srgbClr val="344054"/>
                          </a:solidFill>
                          <a:latin typeface="Microsoft YaHei"/>
                          <a:ea typeface="Microsoft YaHei"/>
                          <a:cs typeface="Microsoft YaHei"/>
                        </a:rPr>
                        <a:t>1 pm² Hz⁻¹</a:t>
                      </a:r>
                    </a:p>
                  </a:txBody>
                  <a:tcPr marL="91440" marR="91440" marT="45720" marB="45720" anchor="ctr">
                    <a:solidFill>
                      <a:srgbClr val="FFFFFF"/>
                    </a:solidFill>
                  </a:tcPr>
                </a:tc>
                <a:tc>
                  <a:txBody>
                    <a:bodyPr>
                      <a:noAutofit/>
                    </a:bodyPr>
                    <a:lstStyle/>
                    <a:p>
                      <a:pPr algn="l">
                        <a:buNone/>
                      </a:pPr>
                      <a:r>
                        <a:rPr sz="938" b="0">
                          <a:solidFill>
                            <a:srgbClr val="344054"/>
                          </a:solidFill>
                          <a:latin typeface="Microsoft YaHei"/>
                          <a:ea typeface="Microsoft YaHei"/>
                          <a:cs typeface="Microsoft YaHei"/>
                        </a:rPr>
                        <a:t>光子反冲率与光束位置噪声 PSD</a:t>
                      </a:r>
                    </a:p>
                  </a:txBody>
                  <a:tcPr marL="91440" marR="91440" marT="45720" marB="45720" anchor="ctr">
                    <a:solidFill>
                      <a:srgbClr val="FFFFFF"/>
                    </a:solidFill>
                  </a:tcPr>
                </a:tc>
                <a:tc>
                  <a:txBody>
                    <a:bodyPr>
                      <a:noAutofit/>
                    </a:bodyPr>
                    <a:lstStyle/>
                    <a:p>
                      <a:pPr algn="l">
                        <a:buNone/>
                      </a:pPr>
                      <a:r>
                        <a:rPr sz="938" b="0">
                          <a:solidFill>
                            <a:srgbClr val="344054"/>
                          </a:solidFill>
                          <a:latin typeface="Microsoft YaHei"/>
                          <a:ea typeface="Microsoft YaHei"/>
                          <a:cs typeface="Microsoft YaHei"/>
                        </a:rPr>
                        <a:t>每个 dt 换算并注入平均能量</a:t>
                      </a:r>
                    </a:p>
                  </a:txBody>
                  <a:tcPr marL="91440" marR="91440" marT="45720" marB="45720" anchor="ctr">
                    <a:solidFill>
                      <a:srgbClr val="FFFFFF"/>
                    </a:solidFill>
                  </a:tcPr>
                </a:tc>
                <a:tc>
                  <a:txBody>
                    <a:bodyPr>
                      <a:noAutofit/>
                    </a:bodyPr>
                    <a:lstStyle/>
                    <a:p>
                      <a:pPr algn="l">
                        <a:buNone/>
                      </a:pPr>
                      <a:r>
                        <a:rPr sz="938" b="0">
                          <a:solidFill>
                            <a:srgbClr val="344054"/>
                          </a:solidFill>
                          <a:latin typeface="Microsoft YaHei"/>
                          <a:ea typeface="Microsoft YaHei"/>
                          <a:cs typeface="Microsoft YaHei"/>
                        </a:rPr>
                        <a:t>模型 / 假设</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495A442-6DE0-4AB6-93F7-4AF0A5B767C0}"/>
              </a:ext>
            </a:extLst>
          </p:cNvPr>
          <p:cNvSpPr>
            <a:spLocks xmlns:a="http://schemas.openxmlformats.org/drawingml/2006/main" noGrp="1"/>
          </p:cNvSpPr>
          <p:nvPr/>
        </p:nvSpPr>
        <p:spPr>
          <a:xfrm xmlns:a="http://schemas.openxmlformats.org/drawingml/2006/main">
            <a:off x="609600" y="5162550"/>
            <a:ext cx="5257800" cy="1066800"/>
          </a:xfrm>
          <a:prstGeom xmlns:a="http://schemas.openxmlformats.org/drawingml/2006/main" prst="roundRect">
            <a:avLst>
              <a:gd name="adj" fmla="val 7143"/>
            </a:avLst>
          </a:prstGeom>
          <a:solidFill xmlns:a="http://schemas.openxmlformats.org/drawingml/2006/main">
            <a:srgbClr val="EFF8FF"/>
          </a:solidFill>
          <a:ln xmlns:a="http://schemas.openxmlformats.org/drawingml/2006/main" w="9525">
            <a:solidFill>
              <a:srgbClr val="B2DDFF"/>
            </a:solidFill>
          </a:ln>
        </p:spPr>
      </p:sp>
      <p:sp>
        <p:nvSpPr>
          <p:cNvPr id="7" name="">
            <a:extLst xmlns:a="http://schemas.openxmlformats.org/drawingml/2006/main">
              <a:ext uri="{FF2B5EF4-FFF2-40B4-BE49-F238E27FC236}">
                <a16:creationId xmlns:a16="http://schemas.microsoft.com/office/drawing/2014/main" id="{5D0887BA-622F-4267-9447-9ACC468D9981}"/>
              </a:ext>
            </a:extLst>
          </p:cNvPr>
          <p:cNvSpPr>
            <a:spLocks xmlns:a="http://schemas.openxmlformats.org/drawingml/2006/main" noGrp="1"/>
          </p:cNvSpPr>
          <p:nvPr/>
        </p:nvSpPr>
        <p:spPr>
          <a:xfrm xmlns:a="http://schemas.openxmlformats.org/drawingml/2006/main">
            <a:off x="838200" y="533400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1">
                <a:solidFill>
                  <a:srgbClr val="1570EF"/>
                </a:solidFill>
                <a:latin typeface="Microsoft YaHei"/>
                <a:ea typeface="Microsoft YaHei"/>
                <a:cs typeface="Microsoft YaHei"/>
              </a:defRPr>
            </a:pPr>
            <a:r>
              <a:rPr sz="1350" b="1">
                <a:solidFill>
                  <a:srgbClr val="1570EF"/>
                </a:solidFill>
                <a:latin typeface="Microsoft YaHei"/>
                <a:ea typeface="Microsoft YaHei"/>
                <a:cs typeface="Microsoft YaHei"/>
              </a:rPr>
              <a:t>σ 如何理解</a:t>
            </a:r>
          </a:p>
        </p:txBody>
      </p:sp>
      <p:sp>
        <p:nvSpPr>
          <p:cNvPr id="8" name="">
            <a:extLst xmlns:a="http://schemas.openxmlformats.org/drawingml/2006/main">
              <a:ext uri="{FF2B5EF4-FFF2-40B4-BE49-F238E27FC236}">
                <a16:creationId xmlns:a16="http://schemas.microsoft.com/office/drawing/2014/main" id="{3FDB9CAB-347D-4F7B-AE14-127D4DEB30F0}"/>
              </a:ext>
            </a:extLst>
          </p:cNvPr>
          <p:cNvSpPr>
            <a:spLocks xmlns:a="http://schemas.openxmlformats.org/drawingml/2006/main" noGrp="1"/>
          </p:cNvSpPr>
          <p:nvPr/>
        </p:nvSpPr>
        <p:spPr>
          <a:xfrm xmlns:a="http://schemas.openxmlformats.org/drawingml/2006/main">
            <a:off x="838200" y="565785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088" b="0">
                <a:solidFill>
                  <a:srgbClr val="344054"/>
                </a:solidFill>
                <a:latin typeface="Microsoft YaHei"/>
                <a:ea typeface="Microsoft YaHei"/>
                <a:cs typeface="Microsoft YaHei"/>
              </a:defRPr>
            </a:pPr>
            <a:r>
              <a:rPr sz="1088" b="0">
                <a:solidFill>
                  <a:srgbClr val="344054"/>
                </a:solidFill>
                <a:latin typeface="Microsoft YaHei"/>
                <a:ea typeface="Microsoft YaHei"/>
                <a:cs typeface="Microsoft YaHei"/>
              </a:rPr>
              <a:t>σ 是高斯分布的标准差，不代表所有 shot 都采用固定偏移。Static alignment 每个 shot 固定，leg-wise jitter 每个阶段重新抽取。</a:t>
            </a:r>
          </a:p>
        </p:txBody>
      </p:sp>
      <p:sp>
        <p:nvSpPr>
          <p:cNvPr id="9" name="">
            <a:extLst xmlns:a="http://schemas.openxmlformats.org/drawingml/2006/main">
              <a:ext uri="{FF2B5EF4-FFF2-40B4-BE49-F238E27FC236}">
                <a16:creationId xmlns:a16="http://schemas.microsoft.com/office/drawing/2014/main" id="{6F5D45A7-98A7-4607-A4E6-291FE1E04A0D}"/>
              </a:ext>
            </a:extLst>
          </p:cNvPr>
          <p:cNvSpPr>
            <a:spLocks xmlns:a="http://schemas.openxmlformats.org/drawingml/2006/main" noGrp="1"/>
          </p:cNvSpPr>
          <p:nvPr/>
        </p:nvSpPr>
        <p:spPr>
          <a:xfrm xmlns:a="http://schemas.openxmlformats.org/drawingml/2006/main">
            <a:off x="6115050" y="5162550"/>
            <a:ext cx="5467350" cy="1066800"/>
          </a:xfrm>
          <a:prstGeom xmlns:a="http://schemas.openxmlformats.org/drawingml/2006/main" prst="roundRect">
            <a:avLst>
              <a:gd name="adj" fmla="val 7143"/>
            </a:avLst>
          </a:prstGeom>
          <a:solidFill xmlns:a="http://schemas.openxmlformats.org/drawingml/2006/main">
            <a:srgbClr val="FEF3F2"/>
          </a:solidFill>
          <a:ln xmlns:a="http://schemas.openxmlformats.org/drawingml/2006/main" w="9525">
            <a:solidFill>
              <a:srgbClr val="FECDCA"/>
            </a:solidFill>
          </a:ln>
        </p:spPr>
      </p:sp>
      <p:sp>
        <p:nvSpPr>
          <p:cNvPr id="10" name="">
            <a:extLst xmlns:a="http://schemas.openxmlformats.org/drawingml/2006/main">
              <a:ext uri="{FF2B5EF4-FFF2-40B4-BE49-F238E27FC236}">
                <a16:creationId xmlns:a16="http://schemas.microsoft.com/office/drawing/2014/main" id="{D3A6D083-4D4C-4E40-B76F-AC232697EE99}"/>
              </a:ext>
            </a:extLst>
          </p:cNvPr>
          <p:cNvSpPr>
            <a:spLocks xmlns:a="http://schemas.openxmlformats.org/drawingml/2006/main" noGrp="1"/>
          </p:cNvSpPr>
          <p:nvPr/>
        </p:nvSpPr>
        <p:spPr>
          <a:xfrm xmlns:a="http://schemas.openxmlformats.org/drawingml/2006/main">
            <a:off x="6343650" y="5334000"/>
            <a:ext cx="1619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1">
                <a:solidFill>
                  <a:srgbClr val="D92D20"/>
                </a:solidFill>
                <a:latin typeface="Microsoft YaHei"/>
                <a:ea typeface="Microsoft YaHei"/>
                <a:cs typeface="Microsoft YaHei"/>
              </a:defRPr>
            </a:pPr>
            <a:r>
              <a:rPr sz="1350" b="1">
                <a:solidFill>
                  <a:srgbClr val="D92D20"/>
                </a:solidFill>
                <a:latin typeface="Microsoft YaHei"/>
                <a:ea typeface="Microsoft YaHei"/>
                <a:cs typeface="Microsoft YaHei"/>
              </a:rPr>
              <a:t>当前未建模</a:t>
            </a:r>
          </a:p>
        </p:txBody>
      </p:sp>
      <p:sp>
        <p:nvSpPr>
          <p:cNvPr id="11" name="">
            <a:extLst xmlns:a="http://schemas.openxmlformats.org/drawingml/2006/main">
              <a:ext uri="{FF2B5EF4-FFF2-40B4-BE49-F238E27FC236}">
                <a16:creationId xmlns:a16="http://schemas.microsoft.com/office/drawing/2014/main" id="{576AEFED-954C-4EF8-B343-8D14AEBF795D}"/>
              </a:ext>
            </a:extLst>
          </p:cNvPr>
          <p:cNvSpPr>
            <a:spLocks xmlns:a="http://schemas.openxmlformats.org/drawingml/2006/main" noGrp="1"/>
          </p:cNvSpPr>
          <p:nvPr/>
        </p:nvSpPr>
        <p:spPr>
          <a:xfrm xmlns:a="http://schemas.openxmlformats.org/drawingml/2006/main">
            <a:off x="6343650" y="5657850"/>
            <a:ext cx="4933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Level 2C 没有真空寿命、Raman 损失、成像误差或随机 RIN 时间序列。RIN 在当前实现中是平均功率注入。</a:t>
            </a:r>
          </a:p>
        </p:txBody>
      </p:sp>
      <p:sp>
        <p:nvSpPr>
          <p:cNvPr id="12" name="">
            <a:extLst xmlns:a="http://schemas.openxmlformats.org/drawingml/2006/main">
              <a:ext uri="{FF2B5EF4-FFF2-40B4-BE49-F238E27FC236}">
                <a16:creationId xmlns:a16="http://schemas.microsoft.com/office/drawing/2014/main" id="{CF9C25A1-A394-4E70-8C31-C51D909BC4C5}"/>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3" name="">
            <a:extLst xmlns:a="http://schemas.openxmlformats.org/drawingml/2006/main">
              <a:ext uri="{FF2B5EF4-FFF2-40B4-BE49-F238E27FC236}">
                <a16:creationId xmlns:a16="http://schemas.microsoft.com/office/drawing/2014/main" id="{C47F3FD5-1171-4424-9851-C6B1FCCBB289}"/>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level2c_pickup_survival.yaml · survival_engine.py · noise_heating.py</a:t>
            </a:r>
          </a:p>
        </p:txBody>
      </p:sp>
      <p:sp>
        <p:nvSpPr>
          <p:cNvPr id="14" name="">
            <a:extLst xmlns:a="http://schemas.openxmlformats.org/drawingml/2006/main">
              <a:ext uri="{FF2B5EF4-FFF2-40B4-BE49-F238E27FC236}">
                <a16:creationId xmlns:a16="http://schemas.microsoft.com/office/drawing/2014/main" id="{BF23FA7D-B01F-4775-B4F8-729EAE20867D}"/>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05</a:t>
            </a:r>
          </a:p>
        </p:txBody>
      </p:sp>
    </p:spTree>
    <p:extLst>
      <p:ext uri="{BB962C8B-B14F-4D97-AF65-F5344CB8AC3E}">
        <p14:creationId xmlns:p14="http://schemas.microsoft.com/office/powerpoint/2010/main" val="1331348897"/>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55387E0-EEF2-4227-B67F-8600E7AB23D8}"/>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04</a:t>
            </a:r>
          </a:p>
        </p:txBody>
      </p:sp>
      <p:sp>
        <p:nvSpPr>
          <p:cNvPr id="2" name="">
            <a:extLst xmlns:a="http://schemas.openxmlformats.org/drawingml/2006/main">
              <a:ext uri="{FF2B5EF4-FFF2-40B4-BE49-F238E27FC236}">
                <a16:creationId xmlns:a16="http://schemas.microsoft.com/office/drawing/2014/main" id="{668B72D2-2074-447D-86F5-D0E8339802AD}"/>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手工波形与一次往返协议</a:t>
            </a:r>
          </a:p>
        </p:txBody>
      </p:sp>
      <p:sp>
        <p:nvSpPr>
          <p:cNvPr id="3" name="">
            <a:extLst xmlns:a="http://schemas.openxmlformats.org/drawingml/2006/main">
              <a:ext uri="{FF2B5EF4-FFF2-40B4-BE49-F238E27FC236}">
                <a16:creationId xmlns:a16="http://schemas.microsoft.com/office/drawing/2014/main" id="{D7E42C2E-3BE1-48F7-8BD1-9EE6A0C70A69}"/>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97421C65-76D2-439F-803A-697412E5E0E3}"/>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本步把论文 Methods 转成 AOD 中心 c(t)、深度 D(t) 和三个连续阶段</a:t>
            </a:r>
          </a:p>
        </p:txBody>
      </p:sp>
      <p:graphicFrame>
        <p:nvGraphicFramePr>
          <p:cNvPr id="20" name="Chart"/>
          <p:cNvGraphicFramePr/>
          <p:nvPr/>
        </p:nvGraphicFramePr>
        <p:xfrm>
          <a:off xmlns:a="http://schemas.openxmlformats.org/drawingml/2006/main" x="609600" y="1314450"/>
          <a:ext xmlns:a="http://schemas.openxmlformats.org/drawingml/2006/main" cx="5143500" cy="2781300"/>
        </p:xfrm>
        <a:graphic xmlns:a="http://schemas.openxmlformats.org/drawingml/2006/main">
          <a:graphicData uri="http://schemas.openxmlformats.org/drawingml/2006/chart">
            <c:chart xmlns:r="http://schemas.openxmlformats.org/officeDocument/2006/relationships" xmlns:c="http://schemas.openxmlformats.org/drawingml/2006/chart" r:id="R097b47ac0abb4a32"/>
          </a:graphicData>
        </a:graphic>
      </p:graphicFrame>
      <p:graphicFrame>
        <p:nvGraphicFramePr>
          <p:cNvPr id="21" name="Chart"/>
          <p:cNvGraphicFramePr/>
          <p:nvPr/>
        </p:nvGraphicFramePr>
        <p:xfrm>
          <a:off xmlns:a="http://schemas.openxmlformats.org/drawingml/2006/main" x="6096000" y="1314450"/>
          <a:ext xmlns:a="http://schemas.openxmlformats.org/drawingml/2006/main" cx="5486400" cy="2781300"/>
        </p:xfrm>
        <a:graphic xmlns:a="http://schemas.openxmlformats.org/drawingml/2006/main">
          <a:graphicData uri="http://schemas.openxmlformats.org/drawingml/2006/chart">
            <c:chart xmlns:r="http://schemas.openxmlformats.org/officeDocument/2006/relationships" xmlns:c="http://schemas.openxmlformats.org/drawingml/2006/chart" r:id="R4a7ec9ed206b40e1"/>
          </a:graphicData>
        </a:graphic>
      </p:graphicFrame>
      <p:graphicFrame>
        <p:nvGraphicFramePr>
          <p:cNvPr id="22" name=""/>
          <p:cNvGraphicFramePr/>
          <p:nvPr/>
        </p:nvGraphicFramePr>
        <p:xfrm>
          <a:off xmlns:a="http://schemas.openxmlformats.org/drawingml/2006/main" x="609600" y="4362450"/>
          <a:ext xmlns:a="http://schemas.openxmlformats.org/drawingml/2006/main" cx="10972800" cy="1562100"/>
        </p:xfrm>
        <a:graphic xmlns:a="http://schemas.openxmlformats.org/drawingml/2006/main">
          <a:graphicData uri="http://schemas.openxmlformats.org/drawingml/2006/table">
            <a:tbl>
              <a:tblPr/>
              <a:tblGrid>
                <a:gridCol w="1600200"/>
                <a:gridCol w="2057400"/>
                <a:gridCol w="4800600"/>
                <a:gridCol w="2514600"/>
              </a:tblGrid>
              <a:tr h="390525">
                <a:tc>
                  <a:txBody>
                    <a:bodyPr>
                      <a:noAutofit/>
                    </a:bodyPr>
                    <a:lstStyle/>
                    <a:p>
                      <a:pPr algn="l">
                        <a:buNone/>
                      </a:pPr>
                      <a:r>
                        <a:rPr sz="1050" b="1">
                          <a:solidFill>
                            <a:srgbClr val="FFFFFF"/>
                          </a:solidFill>
                          <a:latin typeface="Microsoft YaHei"/>
                          <a:ea typeface="Microsoft YaHei"/>
                          <a:cs typeface="Microsoft YaHei"/>
                        </a:rPr>
                        <a:t>Phase</a:t>
                      </a:r>
                    </a:p>
                  </a:txBody>
                  <a:tcPr marL="91440" marR="91440" marT="45720" marB="45720" anchor="ctr">
                    <a:solidFill>
                      <a:srgbClr val="102A43"/>
                    </a:solidFill>
                  </a:tcPr>
                </a:tc>
                <a:tc>
                  <a:txBody>
                    <a:bodyPr>
                      <a:noAutofit/>
                    </a:bodyPr>
                    <a:lstStyle/>
                    <a:p>
                      <a:pPr algn="l">
                        <a:buNone/>
                      </a:pPr>
                      <a:r>
                        <a:rPr sz="1050" b="1">
                          <a:solidFill>
                            <a:srgbClr val="FFFFFF"/>
                          </a:solidFill>
                          <a:latin typeface="Microsoft YaHei"/>
                          <a:ea typeface="Microsoft YaHei"/>
                          <a:cs typeface="Microsoft YaHei"/>
                        </a:rPr>
                        <a:t>Duration</a:t>
                      </a:r>
                    </a:p>
                  </a:txBody>
                  <a:tcPr marL="91440" marR="91440" marT="45720" marB="45720" anchor="ctr">
                    <a:solidFill>
                      <a:srgbClr val="102A43"/>
                    </a:solidFill>
                  </a:tcPr>
                </a:tc>
                <a:tc>
                  <a:txBody>
                    <a:bodyPr>
                      <a:noAutofit/>
                    </a:bodyPr>
                    <a:lstStyle/>
                    <a:p>
                      <a:pPr algn="l">
                        <a:buNone/>
                      </a:pPr>
                      <a:r>
                        <a:rPr sz="1050" b="1">
                          <a:solidFill>
                            <a:srgbClr val="FFFFFF"/>
                          </a:solidFill>
                          <a:latin typeface="Microsoft YaHei"/>
                          <a:ea typeface="Microsoft YaHei"/>
                          <a:cs typeface="Microsoft YaHei"/>
                        </a:rPr>
                        <a:t>Control operation</a:t>
                      </a:r>
                    </a:p>
                  </a:txBody>
                  <a:tcPr marL="91440" marR="91440" marT="45720" marB="45720" anchor="ctr">
                    <a:solidFill>
                      <a:srgbClr val="102A43"/>
                    </a:solidFill>
                  </a:tcPr>
                </a:tc>
                <a:tc>
                  <a:txBody>
                    <a:bodyPr>
                      <a:noAutofit/>
                    </a:bodyPr>
                    <a:lstStyle/>
                    <a:p>
                      <a:pPr algn="l">
                        <a:buNone/>
                      </a:pPr>
                      <a:r>
                        <a:rPr sz="1050" b="1">
                          <a:solidFill>
                            <a:srgbClr val="FFFFFF"/>
                          </a:solidFill>
                          <a:latin typeface="Microsoft YaHei"/>
                          <a:ea typeface="Microsoft YaHei"/>
                          <a:cs typeface="Microsoft YaHei"/>
                        </a:rPr>
                        <a:t>End-of-phase calculation</a:t>
                      </a:r>
                    </a:p>
                  </a:txBody>
                  <a:tcPr marL="91440" marR="91440" marT="45720" marB="45720" anchor="ctr">
                    <a:solidFill>
                      <a:srgbClr val="102A43"/>
                    </a:solidFill>
                  </a:tcPr>
                </a:tc>
              </a:tr>
              <a:tr h="390525">
                <a:tc>
                  <a:txBody>
                    <a:bodyPr>
                      <a:noAutofit/>
                    </a:bodyPr>
                    <a:lstStyle/>
                    <a:p>
                      <a:pPr algn="l">
                        <a:buNone/>
                      </a:pPr>
                      <a:r>
                        <a:rPr sz="1050" b="0">
                          <a:solidFill>
                            <a:srgbClr val="344054"/>
                          </a:solidFill>
                          <a:latin typeface="Microsoft YaHei"/>
                          <a:ea typeface="Microsoft YaHei"/>
                          <a:cs typeface="Microsoft YaHei"/>
                        </a:rPr>
                        <a:t>Pick-up</a:t>
                      </a:r>
                    </a:p>
                  </a:txBody>
                  <a:tcPr marL="91440" marR="91440" marT="45720" marB="45720" anchor="ctr">
                    <a:solidFill>
                      <a:srgbClr val="FFFFFF"/>
                    </a:solidFill>
                  </a:tcPr>
                </a:tc>
                <a:tc>
                  <a:txBody>
                    <a:bodyPr>
                      <a:noAutofit/>
                    </a:bodyPr>
                    <a:lstStyle/>
                    <a:p>
                      <a:pPr algn="l">
                        <a:buNone/>
                      </a:pPr>
                      <a:r>
                        <a:rPr sz="1050" b="0">
                          <a:solidFill>
                            <a:srgbClr val="344054"/>
                          </a:solidFill>
                          <a:latin typeface="Microsoft YaHei"/>
                          <a:ea typeface="Microsoft YaHei"/>
                          <a:cs typeface="Microsoft YaHei"/>
                        </a:rPr>
                        <a:t>200 / 400 / 600 µs</a:t>
                      </a:r>
                    </a:p>
                  </a:txBody>
                  <a:tcPr marL="91440" marR="91440" marT="45720" marB="45720" anchor="ctr">
                    <a:solidFill>
                      <a:srgbClr val="FFFFFF"/>
                    </a:solidFill>
                  </a:tcPr>
                </a:tc>
                <a:tc>
                  <a:txBody>
                    <a:bodyPr>
                      <a:noAutofit/>
                    </a:bodyPr>
                    <a:lstStyle/>
                    <a:p>
                      <a:pPr algn="l">
                        <a:buNone/>
                      </a:pPr>
                      <a:r>
                        <a:rPr sz="1050" b="0">
                          <a:solidFill>
                            <a:srgbClr val="344054"/>
                          </a:solidFill>
                          <a:latin typeface="Microsoft YaHei"/>
                          <a:ea typeface="Microsoft YaHei"/>
                          <a:cs typeface="Microsoft YaHei"/>
                        </a:rPr>
                        <a:t>前 48% 二次升深，后 52% constant-jerk 移动 2.4 µm</a:t>
                      </a:r>
                    </a:p>
                  </a:txBody>
                  <a:tcPr marL="91440" marR="91440" marT="45720" marB="45720" anchor="ctr">
                    <a:solidFill>
                      <a:srgbClr val="FFFFFF"/>
                    </a:solidFill>
                  </a:tcPr>
                </a:tc>
                <a:tc>
                  <a:txBody>
                    <a:bodyPr>
                      <a:noAutofit/>
                    </a:bodyPr>
                    <a:lstStyle/>
                    <a:p>
                      <a:pPr algn="l">
                        <a:buNone/>
                      </a:pPr>
                      <a:r>
                        <a:rPr sz="1050" b="0">
                          <a:solidFill>
                            <a:srgbClr val="344054"/>
                          </a:solidFill>
                          <a:latin typeface="Microsoft YaHei"/>
                          <a:ea typeface="Microsoft YaHei"/>
                          <a:cs typeface="Microsoft YaHei"/>
                        </a:rPr>
                        <a:t>进入 100 µs wait</a:t>
                      </a:r>
                    </a:p>
                  </a:txBody>
                  <a:tcPr marL="91440" marR="91440" marT="45720" marB="45720" anchor="ctr">
                    <a:solidFill>
                      <a:srgbClr val="FFFFFF"/>
                    </a:solidFill>
                  </a:tcPr>
                </a:tc>
              </a:tr>
              <a:tr h="390525">
                <a:tc>
                  <a:txBody>
                    <a:bodyPr>
                      <a:noAutofit/>
                    </a:bodyPr>
                    <a:lstStyle/>
                    <a:p>
                      <a:pPr algn="l">
                        <a:buNone/>
                      </a:pPr>
                      <a:r>
                        <a:rPr sz="1050" b="0">
                          <a:solidFill>
                            <a:srgbClr val="344054"/>
                          </a:solidFill>
                          <a:latin typeface="Microsoft YaHei"/>
                          <a:ea typeface="Microsoft YaHei"/>
                          <a:cs typeface="Microsoft YaHei"/>
                        </a:rPr>
                        <a:t>Wait</a:t>
                      </a:r>
                    </a:p>
                  </a:txBody>
                  <a:tcPr marL="91440" marR="91440" marT="45720" marB="45720" anchor="ctr">
                    <a:solidFill>
                      <a:srgbClr val="F8FAFC"/>
                    </a:solidFill>
                  </a:tcPr>
                </a:tc>
                <a:tc>
                  <a:txBody>
                    <a:bodyPr>
                      <a:noAutofit/>
                    </a:bodyPr>
                    <a:lstStyle/>
                    <a:p>
                      <a:pPr algn="l">
                        <a:buNone/>
                      </a:pPr>
                      <a:r>
                        <a:rPr sz="1050" b="0">
                          <a:solidFill>
                            <a:srgbClr val="344054"/>
                          </a:solidFill>
                          <a:latin typeface="Microsoft YaHei"/>
                          <a:ea typeface="Microsoft YaHei"/>
                          <a:cs typeface="Microsoft YaHei"/>
                        </a:rPr>
                        <a:t>100 µs</a:t>
                      </a:r>
                    </a:p>
                  </a:txBody>
                  <a:tcPr marL="91440" marR="91440" marT="45720" marB="45720" anchor="ctr">
                    <a:solidFill>
                      <a:srgbClr val="F8FAFC"/>
                    </a:solidFill>
                  </a:tcPr>
                </a:tc>
                <a:tc>
                  <a:txBody>
                    <a:bodyPr>
                      <a:noAutofit/>
                    </a:bodyPr>
                    <a:lstStyle/>
                    <a:p>
                      <a:pPr algn="l">
                        <a:buNone/>
                      </a:pPr>
                      <a:r>
                        <a:rPr sz="1050" b="0">
                          <a:solidFill>
                            <a:srgbClr val="344054"/>
                          </a:solidFill>
                          <a:latin typeface="Microsoft YaHei"/>
                          <a:ea typeface="Microsoft YaHei"/>
                          <a:cs typeface="Microsoft YaHei"/>
                        </a:rPr>
                        <a:t>SLM 关闭，AOD 保持原子</a:t>
                      </a:r>
                    </a:p>
                  </a:txBody>
                  <a:tcPr marL="91440" marR="91440" marT="45720" marB="45720" anchor="ctr">
                    <a:solidFill>
                      <a:srgbClr val="F8FAFC"/>
                    </a:solidFill>
                  </a:tcPr>
                </a:tc>
                <a:tc>
                  <a:txBody>
                    <a:bodyPr>
                      <a:noAutofit/>
                    </a:bodyPr>
                    <a:lstStyle/>
                    <a:p>
                      <a:pPr algn="l">
                        <a:buNone/>
                      </a:pPr>
                      <a:r>
                        <a:rPr sz="1050" b="0">
                          <a:solidFill>
                            <a:srgbClr val="344054"/>
                          </a:solidFill>
                          <a:latin typeface="Microsoft YaHei"/>
                          <a:ea typeface="Microsoft YaHei"/>
                          <a:cs typeface="Microsoft YaHei"/>
                        </a:rPr>
                        <a:t>计算 E_AOD&lt;0</a:t>
                      </a:r>
                    </a:p>
                  </a:txBody>
                  <a:tcPr marL="91440" marR="91440" marT="45720" marB="45720" anchor="ctr">
                    <a:solidFill>
                      <a:srgbClr val="F8FAFC"/>
                    </a:solidFill>
                  </a:tcPr>
                </a:tc>
              </a:tr>
              <a:tr h="390525">
                <a:tc>
                  <a:txBody>
                    <a:bodyPr>
                      <a:noAutofit/>
                    </a:bodyPr>
                    <a:lstStyle/>
                    <a:p>
                      <a:pPr algn="l">
                        <a:buNone/>
                      </a:pPr>
                      <a:r>
                        <a:rPr sz="1050" b="0">
                          <a:solidFill>
                            <a:srgbClr val="344054"/>
                          </a:solidFill>
                          <a:latin typeface="Microsoft YaHei"/>
                          <a:ea typeface="Microsoft YaHei"/>
                          <a:cs typeface="Microsoft YaHei"/>
                        </a:rPr>
                        <a:t>Drop-off</a:t>
                      </a:r>
                    </a:p>
                  </a:txBody>
                  <a:tcPr marL="91440" marR="91440" marT="45720" marB="45720" anchor="ctr">
                    <a:solidFill>
                      <a:srgbClr val="FFFFFF"/>
                    </a:solidFill>
                  </a:tcPr>
                </a:tc>
                <a:tc>
                  <a:txBody>
                    <a:bodyPr>
                      <a:noAutofit/>
                    </a:bodyPr>
                    <a:lstStyle/>
                    <a:p>
                      <a:pPr algn="l">
                        <a:buNone/>
                      </a:pPr>
                      <a:r>
                        <a:rPr sz="1050" b="0">
                          <a:solidFill>
                            <a:srgbClr val="344054"/>
                          </a:solidFill>
                          <a:latin typeface="Microsoft YaHei"/>
                          <a:ea typeface="Microsoft YaHei"/>
                          <a:cs typeface="Microsoft YaHei"/>
                        </a:rPr>
                        <a:t>与 pick-up 相同</a:t>
                      </a:r>
                    </a:p>
                  </a:txBody>
                  <a:tcPr marL="91440" marR="91440" marT="45720" marB="45720" anchor="ctr">
                    <a:solidFill>
                      <a:srgbClr val="FFFFFF"/>
                    </a:solidFill>
                  </a:tcPr>
                </a:tc>
                <a:tc>
                  <a:txBody>
                    <a:bodyPr>
                      <a:noAutofit/>
                    </a:bodyPr>
                    <a:lstStyle/>
                    <a:p>
                      <a:pPr algn="l">
                        <a:buNone/>
                      </a:pPr>
                      <a:r>
                        <a:rPr sz="1050" b="0">
                          <a:solidFill>
                            <a:srgbClr val="344054"/>
                          </a:solidFill>
                          <a:latin typeface="Microsoft YaHei"/>
                          <a:ea typeface="Microsoft YaHei"/>
                          <a:cs typeface="Microsoft YaHei"/>
                        </a:rPr>
                        <a:t>使用 pick-up 的严格时间反演</a:t>
                      </a:r>
                    </a:p>
                  </a:txBody>
                  <a:tcPr marL="91440" marR="91440" marT="45720" marB="45720" anchor="ctr">
                    <a:solidFill>
                      <a:srgbClr val="FFFFFF"/>
                    </a:solidFill>
                  </a:tcPr>
                </a:tc>
                <a:tc>
                  <a:txBody>
                    <a:bodyPr>
                      <a:noAutofit/>
                    </a:bodyPr>
                    <a:lstStyle/>
                    <a:p>
                      <a:pPr algn="l">
                        <a:buNone/>
                      </a:pPr>
                      <a:r>
                        <a:rPr sz="1050" b="0">
                          <a:solidFill>
                            <a:srgbClr val="344054"/>
                          </a:solidFill>
                          <a:latin typeface="Microsoft YaHei"/>
                          <a:ea typeface="Microsoft YaHei"/>
                          <a:cs typeface="Microsoft YaHei"/>
                        </a:rPr>
                        <a:t>计算 E_SLM&lt;0</a:t>
                      </a:r>
                    </a:p>
                  </a:txBody>
                  <a:tcPr marL="91440" marR="91440" marT="45720" marB="4572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F47E333A-0C01-40A1-8D47-023BCABC6FF2}"/>
              </a:ext>
            </a:extLst>
          </p:cNvPr>
          <p:cNvSpPr>
            <a:spLocks xmlns:a="http://schemas.openxmlformats.org/drawingml/2006/main" noGrp="1"/>
          </p:cNvSpPr>
          <p:nvPr/>
        </p:nvSpPr>
        <p:spPr>
          <a:xfrm xmlns:a="http://schemas.openxmlformats.org/drawingml/2006/main">
            <a:off x="819150" y="604837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63" b="0">
                <a:solidFill>
                  <a:srgbClr val="344054"/>
                </a:solidFill>
                <a:latin typeface="Microsoft YaHei"/>
                <a:ea typeface="Microsoft YaHei"/>
                <a:cs typeface="Microsoft YaHei"/>
              </a:defRPr>
            </a:pPr>
            <a:r>
              <a:rPr sz="1163" b="0">
                <a:solidFill>
                  <a:srgbClr val="344054"/>
                </a:solidFill>
                <a:latin typeface="Microsoft YaHei"/>
                <a:ea typeface="Microsoft YaHei"/>
                <a:cs typeface="Microsoft YaHei"/>
              </a:rPr>
              <a:t>一个 pick-up 判定和一个 drop-off 判定构成两次 one-way transfer；60 次单程对应最多 30 次完整往返。</a:t>
            </a:r>
          </a:p>
        </p:txBody>
      </p:sp>
      <p:sp>
        <p:nvSpPr>
          <p:cNvPr id="9" name="">
            <a:extLst xmlns:a="http://schemas.openxmlformats.org/drawingml/2006/main">
              <a:ext uri="{FF2B5EF4-FFF2-40B4-BE49-F238E27FC236}">
                <a16:creationId xmlns:a16="http://schemas.microsoft.com/office/drawing/2014/main" id="{EFA3F7CC-269D-4BE4-AE99-4613454503D1}"/>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0" name="">
            <a:extLst xmlns:a="http://schemas.openxmlformats.org/drawingml/2006/main">
              <a:ext uri="{FF2B5EF4-FFF2-40B4-BE49-F238E27FC236}">
                <a16:creationId xmlns:a16="http://schemas.microsoft.com/office/drawing/2014/main" id="{A816B7A7-C690-444B-91CB-B3B4BBFF6C63}"/>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waveforms.py · fig6d_parameters.md · level2c config</a:t>
            </a:r>
          </a:p>
        </p:txBody>
      </p:sp>
      <p:sp>
        <p:nvSpPr>
          <p:cNvPr id="11" name="">
            <a:extLst xmlns:a="http://schemas.openxmlformats.org/drawingml/2006/main">
              <a:ext uri="{FF2B5EF4-FFF2-40B4-BE49-F238E27FC236}">
                <a16:creationId xmlns:a16="http://schemas.microsoft.com/office/drawing/2014/main" id="{7F8AB732-1429-4F7A-8D0B-D276C61CC6ED}"/>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06</a:t>
            </a:r>
          </a:p>
        </p:txBody>
      </p:sp>
    </p:spTree>
    <p:extLst>
      <p:ext uri="{BB962C8B-B14F-4D97-AF65-F5344CB8AC3E}">
        <p14:creationId xmlns:p14="http://schemas.microsoft.com/office/powerpoint/2010/main" val="870899679"/>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AC1A227-4704-41A9-BB67-468E61439C39}"/>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05</a:t>
            </a:r>
          </a:p>
        </p:txBody>
      </p:sp>
      <p:sp>
        <p:nvSpPr>
          <p:cNvPr id="2" name="">
            <a:extLst xmlns:a="http://schemas.openxmlformats.org/drawingml/2006/main">
              <a:ext uri="{FF2B5EF4-FFF2-40B4-BE49-F238E27FC236}">
                <a16:creationId xmlns:a16="http://schemas.microsoft.com/office/drawing/2014/main" id="{980B0C1A-AFB3-45B2-A4B0-C35E01D36183}"/>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单个原子的数值传播与束缚判定</a:t>
            </a:r>
          </a:p>
        </p:txBody>
      </p:sp>
      <p:sp>
        <p:nvSpPr>
          <p:cNvPr id="3" name="">
            <a:extLst xmlns:a="http://schemas.openxmlformats.org/drawingml/2006/main">
              <a:ext uri="{FF2B5EF4-FFF2-40B4-BE49-F238E27FC236}">
                <a16:creationId xmlns:a16="http://schemas.microsoft.com/office/drawing/2014/main" id="{81F8D6F1-1995-441A-BE64-8883B2BE1B28}"/>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401B8D82-5CB8-4BF7-AD0F-2B6290ACCEFB}"/>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本步按 dt 更新 x、v 和注入能量；原子失败后立即退出后续计算</a:t>
            </a:r>
          </a:p>
        </p:txBody>
      </p:sp>
      <p:sp>
        <p:nvSpPr>
          <p:cNvPr id="5" name="">
            <a:extLst xmlns:a="http://schemas.openxmlformats.org/drawingml/2006/main">
              <a:ext uri="{FF2B5EF4-FFF2-40B4-BE49-F238E27FC236}">
                <a16:creationId xmlns:a16="http://schemas.microsoft.com/office/drawing/2014/main" id="{90C9AA44-0E12-4B57-831A-388500845674}"/>
              </a:ext>
            </a:extLst>
          </p:cNvPr>
          <p:cNvSpPr>
            <a:spLocks xmlns:a="http://schemas.openxmlformats.org/drawingml/2006/main" noGrp="1"/>
          </p:cNvSpPr>
          <p:nvPr/>
        </p:nvSpPr>
        <p:spPr>
          <a:xfrm xmlns:a="http://schemas.openxmlformats.org/drawingml/2006/main">
            <a:off x="609600" y="1257300"/>
            <a:ext cx="4762500" cy="3028950"/>
          </a:xfrm>
          <a:prstGeom xmlns:a="http://schemas.openxmlformats.org/drawingml/2006/main" prst="roundRect">
            <a:avLst>
              <a:gd name="adj" fmla="val 2516"/>
            </a:avLst>
          </a:prstGeom>
          <a:solidFill xmlns:a="http://schemas.openxmlformats.org/drawingml/2006/main">
            <a:srgbClr val="FFFFFF"/>
          </a:solidFill>
          <a:ln xmlns:a="http://schemas.openxmlformats.org/drawingml/2006/main" w="9525">
            <a:solidFill>
              <a:srgbClr val="EAECF0"/>
            </a:solidFill>
          </a:ln>
        </p:spPr>
      </p:sp>
      <p:sp>
        <p:nvSpPr>
          <p:cNvPr id="6" name="">
            <a:extLst xmlns:a="http://schemas.openxmlformats.org/drawingml/2006/main">
              <a:ext uri="{FF2B5EF4-FFF2-40B4-BE49-F238E27FC236}">
                <a16:creationId xmlns:a16="http://schemas.microsoft.com/office/drawing/2014/main" id="{392EA226-70C9-440B-B040-C08B5A1392A0}"/>
              </a:ext>
            </a:extLst>
          </p:cNvPr>
          <p:cNvSpPr>
            <a:spLocks xmlns:a="http://schemas.openxmlformats.org/drawingml/2006/main" noGrp="1"/>
          </p:cNvSpPr>
          <p:nvPr/>
        </p:nvSpPr>
        <p:spPr>
          <a:xfrm xmlns:a="http://schemas.openxmlformats.org/drawingml/2006/main">
            <a:off x="876300" y="15049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75" b="1">
                <a:solidFill>
                  <a:srgbClr val="102A43"/>
                </a:solidFill>
                <a:latin typeface="Microsoft YaHei"/>
                <a:ea typeface="Microsoft YaHei"/>
                <a:cs typeface="Microsoft YaHei"/>
              </a:defRPr>
            </a:pPr>
            <a:r>
              <a:rPr sz="1575" b="1">
                <a:solidFill>
                  <a:srgbClr val="102A43"/>
                </a:solidFill>
                <a:latin typeface="Microsoft YaHei"/>
                <a:ea typeface="Microsoft YaHei"/>
                <a:cs typeface="Microsoft YaHei"/>
              </a:rPr>
              <a:t>Velocity-Verlet 更新</a:t>
            </a:r>
          </a:p>
        </p:txBody>
      </p:sp>
      <p:sp>
        <p:nvSpPr>
          <p:cNvPr id="7" name="">
            <a:extLst xmlns:a="http://schemas.openxmlformats.org/drawingml/2006/main">
              <a:ext uri="{FF2B5EF4-FFF2-40B4-BE49-F238E27FC236}">
                <a16:creationId xmlns:a16="http://schemas.microsoft.com/office/drawing/2014/main" id="{3DFADC28-E18C-4248-A1B0-3C15D999F696}"/>
              </a:ext>
            </a:extLst>
          </p:cNvPr>
          <p:cNvSpPr>
            <a:spLocks xmlns:a="http://schemas.openxmlformats.org/drawingml/2006/main" noGrp="1"/>
          </p:cNvSpPr>
          <p:nvPr/>
        </p:nvSpPr>
        <p:spPr>
          <a:xfrm xmlns:a="http://schemas.openxmlformats.org/drawingml/2006/main">
            <a:off x="876300" y="2038350"/>
            <a:ext cx="422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buNone/>
              <a:defRPr sz="1500" b="1">
                <a:solidFill>
                  <a:srgbClr val="1570EF"/>
                </a:solidFill>
                <a:latin typeface="Microsoft YaHei"/>
                <a:ea typeface="Microsoft YaHei"/>
                <a:cs typeface="Microsoft YaHei"/>
              </a:defRPr>
            </a:pPr>
            <a:r>
              <a:rPr sz="1500" b="1">
                <a:solidFill>
                  <a:srgbClr val="1570EF"/>
                </a:solidFill>
                <a:latin typeface="Microsoft YaHei"/>
                <a:ea typeface="Microsoft YaHei"/>
                <a:cs typeface="Microsoft YaHei"/>
              </a:rPr>
              <a:t>a(t) = [F_SLM + F_AOD] / m</a:t>
            </a:r>
          </a:p>
        </p:txBody>
      </p:sp>
      <p:sp>
        <p:nvSpPr>
          <p:cNvPr id="8" name="">
            <a:extLst xmlns:a="http://schemas.openxmlformats.org/drawingml/2006/main">
              <a:ext uri="{FF2B5EF4-FFF2-40B4-BE49-F238E27FC236}">
                <a16:creationId xmlns:a16="http://schemas.microsoft.com/office/drawing/2014/main" id="{32FC860C-BE80-49D4-989B-11C5A4ED3304}"/>
              </a:ext>
            </a:extLst>
          </p:cNvPr>
          <p:cNvSpPr>
            <a:spLocks xmlns:a="http://schemas.openxmlformats.org/drawingml/2006/main" noGrp="1"/>
          </p:cNvSpPr>
          <p:nvPr/>
        </p:nvSpPr>
        <p:spPr>
          <a:xfrm xmlns:a="http://schemas.openxmlformats.org/drawingml/2006/main">
            <a:off x="876300" y="2571750"/>
            <a:ext cx="422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buNone/>
              <a:defRPr sz="1500" b="0">
                <a:solidFill>
                  <a:srgbClr val="344054"/>
                </a:solidFill>
                <a:latin typeface="Microsoft YaHei"/>
                <a:ea typeface="Microsoft YaHei"/>
                <a:cs typeface="Microsoft YaHei"/>
              </a:defRPr>
            </a:pPr>
            <a:r>
              <a:rPr sz="1500" b="0">
                <a:solidFill>
                  <a:srgbClr val="344054"/>
                </a:solidFill>
                <a:latin typeface="Microsoft YaHei"/>
                <a:ea typeface="Microsoft YaHei"/>
                <a:cs typeface="Microsoft YaHei"/>
              </a:rPr>
              <a:t>x(t+dt) = x + v·dt + ½a·dt²</a:t>
            </a:r>
          </a:p>
        </p:txBody>
      </p:sp>
      <p:sp>
        <p:nvSpPr>
          <p:cNvPr id="9" name="">
            <a:extLst xmlns:a="http://schemas.openxmlformats.org/drawingml/2006/main">
              <a:ext uri="{FF2B5EF4-FFF2-40B4-BE49-F238E27FC236}">
                <a16:creationId xmlns:a16="http://schemas.microsoft.com/office/drawing/2014/main" id="{7B0EE745-939C-4490-AA70-03BB06304496}"/>
              </a:ext>
            </a:extLst>
          </p:cNvPr>
          <p:cNvSpPr>
            <a:spLocks xmlns:a="http://schemas.openxmlformats.org/drawingml/2006/main" noGrp="1"/>
          </p:cNvSpPr>
          <p:nvPr/>
        </p:nvSpPr>
        <p:spPr>
          <a:xfrm xmlns:a="http://schemas.openxmlformats.org/drawingml/2006/main">
            <a:off x="876300" y="3105150"/>
            <a:ext cx="422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buNone/>
              <a:defRPr sz="1500" b="0">
                <a:solidFill>
                  <a:srgbClr val="344054"/>
                </a:solidFill>
                <a:latin typeface="Microsoft YaHei"/>
                <a:ea typeface="Microsoft YaHei"/>
                <a:cs typeface="Microsoft YaHei"/>
              </a:defRPr>
            </a:pPr>
            <a:r>
              <a:rPr sz="1500" b="0">
                <a:solidFill>
                  <a:srgbClr val="344054"/>
                </a:solidFill>
                <a:latin typeface="Microsoft YaHei"/>
                <a:ea typeface="Microsoft YaHei"/>
                <a:cs typeface="Microsoft YaHei"/>
              </a:rPr>
              <a:t>v(t+dt) = v + ½[a(t)+a(t+dt)]·dt</a:t>
            </a:r>
          </a:p>
        </p:txBody>
      </p:sp>
      <p:sp>
        <p:nvSpPr>
          <p:cNvPr id="10" name="">
            <a:extLst xmlns:a="http://schemas.openxmlformats.org/drawingml/2006/main">
              <a:ext uri="{FF2B5EF4-FFF2-40B4-BE49-F238E27FC236}">
                <a16:creationId xmlns:a16="http://schemas.microsoft.com/office/drawing/2014/main" id="{975ACA25-D485-4A60-9963-B37A1E33A597}"/>
              </a:ext>
            </a:extLst>
          </p:cNvPr>
          <p:cNvSpPr>
            <a:spLocks xmlns:a="http://schemas.openxmlformats.org/drawingml/2006/main" noGrp="1"/>
          </p:cNvSpPr>
          <p:nvPr/>
        </p:nvSpPr>
        <p:spPr>
          <a:xfrm xmlns:a="http://schemas.openxmlformats.org/drawingml/2006/main">
            <a:off x="876300" y="3695700"/>
            <a:ext cx="4229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状态在相邻阶段和相邻往返之间连续继承。代码不会在每次 transfer 前重新采样或重新热化。</a:t>
            </a:r>
          </a:p>
        </p:txBody>
      </p:sp>
      <p:sp>
        <p:nvSpPr>
          <p:cNvPr id="11" name="">
            <a:extLst xmlns:a="http://schemas.openxmlformats.org/drawingml/2006/main">
              <a:ext uri="{FF2B5EF4-FFF2-40B4-BE49-F238E27FC236}">
                <a16:creationId xmlns:a16="http://schemas.microsoft.com/office/drawing/2014/main" id="{4BBAE728-DD5D-46AA-95B2-96411E38EF58}"/>
              </a:ext>
            </a:extLst>
          </p:cNvPr>
          <p:cNvSpPr>
            <a:spLocks xmlns:a="http://schemas.openxmlformats.org/drawingml/2006/main" noGrp="1"/>
          </p:cNvSpPr>
          <p:nvPr/>
        </p:nvSpPr>
        <p:spPr>
          <a:xfrm xmlns:a="http://schemas.openxmlformats.org/drawingml/2006/main">
            <a:off x="5695950" y="1257300"/>
            <a:ext cx="5886450" cy="3028950"/>
          </a:xfrm>
          <a:prstGeom xmlns:a="http://schemas.openxmlformats.org/drawingml/2006/main" prst="roundRect">
            <a:avLst>
              <a:gd name="adj" fmla="val 2516"/>
            </a:avLst>
          </a:prstGeom>
          <a:solidFill xmlns:a="http://schemas.openxmlformats.org/drawingml/2006/main">
            <a:srgbClr val="FFFFFF"/>
          </a:solidFill>
          <a:ln xmlns:a="http://schemas.openxmlformats.org/drawingml/2006/main" w="9525">
            <a:solidFill>
              <a:srgbClr val="EAECF0"/>
            </a:solidFill>
          </a:ln>
        </p:spPr>
      </p:sp>
      <p:sp>
        <p:nvSpPr>
          <p:cNvPr id="12" name="">
            <a:extLst xmlns:a="http://schemas.openxmlformats.org/drawingml/2006/main">
              <a:ext uri="{FF2B5EF4-FFF2-40B4-BE49-F238E27FC236}">
                <a16:creationId xmlns:a16="http://schemas.microsoft.com/office/drawing/2014/main" id="{CA2B0A41-5488-4EA2-840A-C95E9E371033}"/>
              </a:ext>
            </a:extLst>
          </p:cNvPr>
          <p:cNvSpPr>
            <a:spLocks xmlns:a="http://schemas.openxmlformats.org/drawingml/2006/main" noGrp="1"/>
          </p:cNvSpPr>
          <p:nvPr/>
        </p:nvSpPr>
        <p:spPr>
          <a:xfrm xmlns:a="http://schemas.openxmlformats.org/drawingml/2006/main">
            <a:off x="5962650" y="150495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75" b="1">
                <a:solidFill>
                  <a:srgbClr val="102A43"/>
                </a:solidFill>
                <a:latin typeface="Microsoft YaHei"/>
                <a:ea typeface="Microsoft YaHei"/>
                <a:cs typeface="Microsoft YaHei"/>
              </a:defRPr>
            </a:pPr>
            <a:r>
              <a:rPr sz="1575" b="1">
                <a:solidFill>
                  <a:srgbClr val="102A43"/>
                </a:solidFill>
                <a:latin typeface="Microsoft YaHei"/>
                <a:ea typeface="Microsoft YaHei"/>
                <a:cs typeface="Microsoft YaHei"/>
              </a:rPr>
              <a:t>数值与加热参数</a:t>
            </a:r>
          </a:p>
        </p:txBody>
      </p:sp>
      <p:graphicFrame>
        <p:nvGraphicFramePr>
          <p:cNvPr id="34" name=""/>
          <p:cNvGraphicFramePr/>
          <p:nvPr/>
        </p:nvGraphicFramePr>
        <p:xfrm>
          <a:off xmlns:a="http://schemas.openxmlformats.org/drawingml/2006/main" x="5962650" y="1962150"/>
          <a:ext xmlns:a="http://schemas.openxmlformats.org/drawingml/2006/main" cx="5353050" cy="2076450"/>
        </p:xfrm>
        <a:graphic xmlns:a="http://schemas.openxmlformats.org/drawingml/2006/main">
          <a:graphicData uri="http://schemas.openxmlformats.org/drawingml/2006/table">
            <a:tbl>
              <a:tblPr/>
              <a:tblGrid>
                <a:gridCol w="1655582"/>
                <a:gridCol w="1269280"/>
                <a:gridCol w="2428188"/>
              </a:tblGrid>
              <a:tr h="346075">
                <a:tc>
                  <a:txBody>
                    <a:bodyPr>
                      <a:noAutofit/>
                    </a:bodyPr>
                    <a:lstStyle/>
                    <a:p>
                      <a:pPr algn="l">
                        <a:buNone/>
                      </a:pPr>
                      <a:r>
                        <a:rPr sz="1050" b="1">
                          <a:solidFill>
                            <a:srgbClr val="FFFFFF"/>
                          </a:solidFill>
                          <a:latin typeface="Microsoft YaHei"/>
                          <a:ea typeface="Microsoft YaHei"/>
                          <a:cs typeface="Microsoft YaHei"/>
                        </a:rPr>
                        <a:t>Parameter</a:t>
                      </a:r>
                    </a:p>
                  </a:txBody>
                  <a:tcPr marL="91440" marR="91440" marT="45720" marB="45720" anchor="ctr">
                    <a:solidFill>
                      <a:srgbClr val="102A43"/>
                    </a:solidFill>
                  </a:tcPr>
                </a:tc>
                <a:tc>
                  <a:txBody>
                    <a:bodyPr>
                      <a:noAutofit/>
                    </a:bodyPr>
                    <a:lstStyle/>
                    <a:p>
                      <a:pPr algn="l">
                        <a:buNone/>
                      </a:pPr>
                      <a:r>
                        <a:rPr sz="1050" b="1">
                          <a:solidFill>
                            <a:srgbClr val="FFFFFF"/>
                          </a:solidFill>
                          <a:latin typeface="Microsoft YaHei"/>
                          <a:ea typeface="Microsoft YaHei"/>
                          <a:cs typeface="Microsoft YaHei"/>
                        </a:rPr>
                        <a:t>Value</a:t>
                      </a:r>
                    </a:p>
                  </a:txBody>
                  <a:tcPr marL="91440" marR="91440" marT="45720" marB="45720" anchor="ctr">
                    <a:solidFill>
                      <a:srgbClr val="102A43"/>
                    </a:solidFill>
                  </a:tcPr>
                </a:tc>
                <a:tc>
                  <a:txBody>
                    <a:bodyPr>
                      <a:noAutofit/>
                    </a:bodyPr>
                    <a:lstStyle/>
                    <a:p>
                      <a:pPr algn="l">
                        <a:buNone/>
                      </a:pPr>
                      <a:r>
                        <a:rPr sz="1050" b="1">
                          <a:solidFill>
                            <a:srgbClr val="FFFFFF"/>
                          </a:solidFill>
                          <a:latin typeface="Microsoft YaHei"/>
                          <a:ea typeface="Microsoft YaHei"/>
                          <a:cs typeface="Microsoft YaHei"/>
                        </a:rPr>
                        <a:t>Meaning</a:t>
                      </a:r>
                    </a:p>
                  </a:txBody>
                  <a:tcPr marL="91440" marR="91440" marT="45720" marB="45720" anchor="ctr">
                    <a:solidFill>
                      <a:srgbClr val="102A43"/>
                    </a:solidFill>
                  </a:tcPr>
                </a:tc>
              </a:tr>
              <a:tr h="346075">
                <a:tc>
                  <a:txBody>
                    <a:bodyPr>
                      <a:noAutofit/>
                    </a:bodyPr>
                    <a:lstStyle/>
                    <a:p>
                      <a:pPr algn="l">
                        <a:buNone/>
                      </a:pPr>
                      <a:r>
                        <a:rPr sz="1050" b="0">
                          <a:solidFill>
                            <a:srgbClr val="344054"/>
                          </a:solidFill>
                          <a:latin typeface="Microsoft YaHei"/>
                          <a:ea typeface="Microsoft YaHei"/>
                          <a:cs typeface="Microsoft YaHei"/>
                        </a:rPr>
                        <a:t>Main dt</a:t>
                      </a:r>
                    </a:p>
                  </a:txBody>
                  <a:tcPr marL="91440" marR="91440" marT="45720" marB="45720" anchor="ctr">
                    <a:solidFill>
                      <a:srgbClr val="FFFFFF"/>
                    </a:solidFill>
                  </a:tcPr>
                </a:tc>
                <a:tc>
                  <a:txBody>
                    <a:bodyPr>
                      <a:noAutofit/>
                    </a:bodyPr>
                    <a:lstStyle/>
                    <a:p>
                      <a:pPr algn="l">
                        <a:buNone/>
                      </a:pPr>
                      <a:r>
                        <a:rPr sz="1050" b="0">
                          <a:solidFill>
                            <a:srgbClr val="344054"/>
                          </a:solidFill>
                          <a:latin typeface="Microsoft YaHei"/>
                          <a:ea typeface="Microsoft YaHei"/>
                          <a:cs typeface="Microsoft YaHei"/>
                        </a:rPr>
                        <a:t>0.05 µs</a:t>
                      </a:r>
                    </a:p>
                  </a:txBody>
                  <a:tcPr marL="91440" marR="91440" marT="45720" marB="45720" anchor="ctr">
                    <a:solidFill>
                      <a:srgbClr val="FFFFFF"/>
                    </a:solidFill>
                  </a:tcPr>
                </a:tc>
                <a:tc>
                  <a:txBody>
                    <a:bodyPr>
                      <a:noAutofit/>
                    </a:bodyPr>
                    <a:lstStyle/>
                    <a:p>
                      <a:pPr algn="l">
                        <a:buNone/>
                      </a:pPr>
                      <a:r>
                        <a:rPr sz="1050" b="0">
                          <a:solidFill>
                            <a:srgbClr val="344054"/>
                          </a:solidFill>
                          <a:latin typeface="Microsoft YaHei"/>
                          <a:ea typeface="Microsoft YaHei"/>
                          <a:cs typeface="Microsoft YaHei"/>
                        </a:rPr>
                        <a:t>主扫描积分步长</a:t>
                      </a:r>
                    </a:p>
                  </a:txBody>
                  <a:tcPr marL="91440" marR="91440" marT="45720" marB="45720" anchor="ctr">
                    <a:solidFill>
                      <a:srgbClr val="FFFFFF"/>
                    </a:solidFill>
                  </a:tcPr>
                </a:tc>
              </a:tr>
              <a:tr h="346075">
                <a:tc>
                  <a:txBody>
                    <a:bodyPr>
                      <a:noAutofit/>
                    </a:bodyPr>
                    <a:lstStyle/>
                    <a:p>
                      <a:pPr algn="l">
                        <a:buNone/>
                      </a:pPr>
                      <a:r>
                        <a:rPr sz="1050" b="0">
                          <a:solidFill>
                            <a:srgbClr val="344054"/>
                          </a:solidFill>
                          <a:latin typeface="Microsoft YaHei"/>
                          <a:ea typeface="Microsoft YaHei"/>
                          <a:cs typeface="Microsoft YaHei"/>
                        </a:rPr>
                        <a:t>Convergence dt</a:t>
                      </a:r>
                    </a:p>
                  </a:txBody>
                  <a:tcPr marL="91440" marR="91440" marT="45720" marB="45720" anchor="ctr">
                    <a:solidFill>
                      <a:srgbClr val="F8FAFC"/>
                    </a:solidFill>
                  </a:tcPr>
                </a:tc>
                <a:tc>
                  <a:txBody>
                    <a:bodyPr>
                      <a:noAutofit/>
                    </a:bodyPr>
                    <a:lstStyle/>
                    <a:p>
                      <a:pPr algn="l">
                        <a:buNone/>
                      </a:pPr>
                      <a:r>
                        <a:rPr sz="1050" b="0">
                          <a:solidFill>
                            <a:srgbClr val="344054"/>
                          </a:solidFill>
                          <a:latin typeface="Microsoft YaHei"/>
                          <a:ea typeface="Microsoft YaHei"/>
                          <a:cs typeface="Microsoft YaHei"/>
                        </a:rPr>
                        <a:t>0.025 µs</a:t>
                      </a:r>
                    </a:p>
                  </a:txBody>
                  <a:tcPr marL="91440" marR="91440" marT="45720" marB="45720" anchor="ctr">
                    <a:solidFill>
                      <a:srgbClr val="F8FAFC"/>
                    </a:solidFill>
                  </a:tcPr>
                </a:tc>
                <a:tc>
                  <a:txBody>
                    <a:bodyPr>
                      <a:noAutofit/>
                    </a:bodyPr>
                    <a:lstStyle/>
                    <a:p>
                      <a:pPr algn="l">
                        <a:buNone/>
                      </a:pPr>
                      <a:r>
                        <a:rPr sz="1050" b="0">
                          <a:solidFill>
                            <a:srgbClr val="344054"/>
                          </a:solidFill>
                          <a:latin typeface="Microsoft YaHei"/>
                          <a:ea typeface="Microsoft YaHei"/>
                          <a:cs typeface="Microsoft YaHei"/>
                        </a:rPr>
                        <a:t>步长减半复算</a:t>
                      </a:r>
                    </a:p>
                  </a:txBody>
                  <a:tcPr marL="91440" marR="91440" marT="45720" marB="45720" anchor="ctr">
                    <a:solidFill>
                      <a:srgbClr val="F8FAFC"/>
                    </a:solidFill>
                  </a:tcPr>
                </a:tc>
              </a:tr>
              <a:tr h="346075">
                <a:tc>
                  <a:txBody>
                    <a:bodyPr>
                      <a:noAutofit/>
                    </a:bodyPr>
                    <a:lstStyle/>
                    <a:p>
                      <a:pPr algn="l">
                        <a:buNone/>
                      </a:pPr>
                      <a:r>
                        <a:rPr sz="1050" b="0">
                          <a:solidFill>
                            <a:srgbClr val="344054"/>
                          </a:solidFill>
                          <a:latin typeface="Microsoft YaHei"/>
                          <a:ea typeface="Microsoft YaHei"/>
                          <a:cs typeface="Microsoft YaHei"/>
                        </a:rPr>
                        <a:t>Recoil rate</a:t>
                      </a:r>
                    </a:p>
                  </a:txBody>
                  <a:tcPr marL="91440" marR="91440" marT="45720" marB="45720" anchor="ctr">
                    <a:solidFill>
                      <a:srgbClr val="FFFFFF"/>
                    </a:solidFill>
                  </a:tcPr>
                </a:tc>
                <a:tc>
                  <a:txBody>
                    <a:bodyPr>
                      <a:noAutofit/>
                    </a:bodyPr>
                    <a:lstStyle/>
                    <a:p>
                      <a:pPr algn="l">
                        <a:buNone/>
                      </a:pPr>
                      <a:r>
                        <a:rPr sz="1050" b="0">
                          <a:solidFill>
                            <a:srgbClr val="344054"/>
                          </a:solidFill>
                          <a:latin typeface="Microsoft YaHei"/>
                          <a:ea typeface="Microsoft YaHei"/>
                          <a:cs typeface="Microsoft YaHei"/>
                        </a:rPr>
                        <a:t>4.23 s⁻¹</a:t>
                      </a:r>
                    </a:p>
                  </a:txBody>
                  <a:tcPr marL="91440" marR="91440" marT="45720" marB="45720" anchor="ctr">
                    <a:solidFill>
                      <a:srgbClr val="FFFFFF"/>
                    </a:solidFill>
                  </a:tcPr>
                </a:tc>
                <a:tc>
                  <a:txBody>
                    <a:bodyPr>
                      <a:noAutofit/>
                    </a:bodyPr>
                    <a:lstStyle/>
                    <a:p>
                      <a:pPr algn="l">
                        <a:buNone/>
                      </a:pPr>
                      <a:r>
                        <a:rPr sz="1050" b="0">
                          <a:solidFill>
                            <a:srgbClr val="344054"/>
                          </a:solidFill>
                          <a:latin typeface="Microsoft YaHei"/>
                          <a:ea typeface="Microsoft YaHei"/>
                          <a:cs typeface="Microsoft YaHei"/>
                        </a:rPr>
                        <a:t>平均反冲加热</a:t>
                      </a:r>
                    </a:p>
                  </a:txBody>
                  <a:tcPr marL="91440" marR="91440" marT="45720" marB="45720" anchor="ctr">
                    <a:solidFill>
                      <a:srgbClr val="FFFFFF"/>
                    </a:solidFill>
                  </a:tcPr>
                </a:tc>
              </a:tr>
              <a:tr h="346075">
                <a:tc>
                  <a:txBody>
                    <a:bodyPr>
                      <a:noAutofit/>
                    </a:bodyPr>
                    <a:lstStyle/>
                    <a:p>
                      <a:pPr algn="l">
                        <a:buNone/>
                      </a:pPr>
                      <a:r>
                        <a:rPr sz="1050" b="0">
                          <a:solidFill>
                            <a:srgbClr val="344054"/>
                          </a:solidFill>
                          <a:latin typeface="Microsoft YaHei"/>
                          <a:ea typeface="Microsoft YaHei"/>
                          <a:cs typeface="Microsoft YaHei"/>
                        </a:rPr>
                        <a:t>RIN reference ν₀</a:t>
                      </a:r>
                    </a:p>
                  </a:txBody>
                  <a:tcPr marL="91440" marR="91440" marT="45720" marB="45720" anchor="ctr">
                    <a:solidFill>
                      <a:srgbClr val="F8FAFC"/>
                    </a:solidFill>
                  </a:tcPr>
                </a:tc>
                <a:tc>
                  <a:txBody>
                    <a:bodyPr>
                      <a:noAutofit/>
                    </a:bodyPr>
                    <a:lstStyle/>
                    <a:p>
                      <a:pPr algn="l">
                        <a:buNone/>
                      </a:pPr>
                      <a:r>
                        <a:rPr sz="1050" b="0">
                          <a:solidFill>
                            <a:srgbClr val="344054"/>
                          </a:solidFill>
                          <a:latin typeface="Microsoft YaHei"/>
                          <a:ea typeface="Microsoft YaHei"/>
                          <a:cs typeface="Microsoft YaHei"/>
                        </a:rPr>
                        <a:t>36.007 kHz</a:t>
                      </a:r>
                    </a:p>
                  </a:txBody>
                  <a:tcPr marL="91440" marR="91440" marT="45720" marB="45720" anchor="ctr">
                    <a:solidFill>
                      <a:srgbClr val="F8FAFC"/>
                    </a:solidFill>
                  </a:tcPr>
                </a:tc>
                <a:tc>
                  <a:txBody>
                    <a:bodyPr>
                      <a:noAutofit/>
                    </a:bodyPr>
                    <a:lstStyle/>
                    <a:p>
                      <a:pPr algn="l">
                        <a:buNone/>
                      </a:pPr>
                      <a:r>
                        <a:rPr sz="1050" b="0">
                          <a:solidFill>
                            <a:srgbClr val="344054"/>
                          </a:solidFill>
                          <a:latin typeface="Microsoft YaHei"/>
                          <a:ea typeface="Microsoft YaHei"/>
                          <a:cs typeface="Microsoft YaHei"/>
                        </a:rPr>
                        <a:t>参量加热参考频率</a:t>
                      </a:r>
                    </a:p>
                  </a:txBody>
                  <a:tcPr marL="91440" marR="91440" marT="45720" marB="45720" anchor="ctr">
                    <a:solidFill>
                      <a:srgbClr val="F8FAFC"/>
                    </a:solidFill>
                  </a:tcPr>
                </a:tc>
              </a:tr>
              <a:tr h="346075">
                <a:tc>
                  <a:txBody>
                    <a:bodyPr>
                      <a:noAutofit/>
                    </a:bodyPr>
                    <a:lstStyle/>
                    <a:p>
                      <a:pPr algn="l">
                        <a:buNone/>
                      </a:pPr>
                      <a:r>
                        <a:rPr sz="1050" b="0">
                          <a:solidFill>
                            <a:srgbClr val="344054"/>
                          </a:solidFill>
                          <a:latin typeface="Microsoft YaHei"/>
                          <a:ea typeface="Microsoft YaHei"/>
                          <a:cs typeface="Microsoft YaHei"/>
                        </a:rPr>
                        <a:t>Noise update</a:t>
                      </a:r>
                    </a:p>
                  </a:txBody>
                  <a:tcPr marL="91440" marR="91440" marT="45720" marB="45720" anchor="ctr">
                    <a:solidFill>
                      <a:srgbClr val="FFFFFF"/>
                    </a:solidFill>
                  </a:tcPr>
                </a:tc>
                <a:tc>
                  <a:txBody>
                    <a:bodyPr>
                      <a:noAutofit/>
                    </a:bodyPr>
                    <a:lstStyle/>
                    <a:p>
                      <a:pPr algn="l">
                        <a:buNone/>
                      </a:pPr>
                      <a:r>
                        <a:rPr sz="1050" b="0">
                          <a:solidFill>
                            <a:srgbClr val="344054"/>
                          </a:solidFill>
                          <a:latin typeface="Microsoft YaHei"/>
                          <a:ea typeface="Microsoft YaHei"/>
                          <a:cs typeface="Microsoft YaHei"/>
                        </a:rPr>
                        <a:t>every dt</a:t>
                      </a:r>
                    </a:p>
                  </a:txBody>
                  <a:tcPr marL="91440" marR="91440" marT="45720" marB="45720" anchor="ctr">
                    <a:solidFill>
                      <a:srgbClr val="FFFFFF"/>
                    </a:solidFill>
                  </a:tcPr>
                </a:tc>
                <a:tc>
                  <a:txBody>
                    <a:bodyPr>
                      <a:noAutofit/>
                    </a:bodyPr>
                    <a:lstStyle/>
                    <a:p>
                      <a:pPr algn="l">
                        <a:buNone/>
                      </a:pPr>
                      <a:r>
                        <a:rPr sz="1050" b="0">
                          <a:solidFill>
                            <a:srgbClr val="344054"/>
                          </a:solidFill>
                          <a:latin typeface="Microsoft YaHei"/>
                          <a:ea typeface="Microsoft YaHei"/>
                          <a:cs typeface="Microsoft YaHei"/>
                        </a:rPr>
                        <a:t>将平均功率转换为动能增量</a:t>
                      </a:r>
                    </a:p>
                  </a:txBody>
                  <a:tcPr marL="91440" marR="91440" marT="45720" marB="45720" anchor="ctr">
                    <a:solidFill>
                      <a:srgbClr val="FFFFFF"/>
                    </a:solidFill>
                  </a:tcPr>
                </a:tc>
              </a:tr>
            </a:tbl>
          </a:graphicData>
        </a:graphic>
      </p:graphicFrame>
      <p:graphicFrame>
        <p:nvGraphicFramePr>
          <p:cNvPr id="35" name=""/>
          <p:cNvGraphicFramePr/>
          <p:nvPr/>
        </p:nvGraphicFramePr>
        <p:xfrm>
          <a:off xmlns:a="http://schemas.openxmlformats.org/drawingml/2006/main" x="609600" y="4572000"/>
          <a:ext xmlns:a="http://schemas.openxmlformats.org/drawingml/2006/main" cx="10972800" cy="1352550"/>
        </p:xfrm>
        <a:graphic xmlns:a="http://schemas.openxmlformats.org/drawingml/2006/main">
          <a:graphicData uri="http://schemas.openxmlformats.org/drawingml/2006/table">
            <a:tbl>
              <a:tblPr/>
              <a:tblGrid>
                <a:gridCol w="2545690"/>
                <a:gridCol w="5266944"/>
                <a:gridCol w="3160166"/>
              </a:tblGrid>
              <a:tr h="450850">
                <a:tc>
                  <a:txBody>
                    <a:bodyPr>
                      <a:noAutofit/>
                    </a:bodyPr>
                    <a:lstStyle/>
                    <a:p>
                      <a:pPr algn="l">
                        <a:buNone/>
                      </a:pPr>
                      <a:r>
                        <a:rPr sz="1125" b="1">
                          <a:solidFill>
                            <a:srgbClr val="FFFFFF"/>
                          </a:solidFill>
                          <a:latin typeface="Microsoft YaHei"/>
                          <a:ea typeface="Microsoft YaHei"/>
                          <a:cs typeface="Microsoft YaHei"/>
                        </a:rPr>
                        <a:t>Checkpoint</a:t>
                      </a:r>
                    </a:p>
                  </a:txBody>
                  <a:tcPr marL="91440" marR="91440" marT="45720" marB="45720" anchor="ctr">
                    <a:solidFill>
                      <a:srgbClr val="102A43"/>
                    </a:solidFill>
                  </a:tcPr>
                </a:tc>
                <a:tc>
                  <a:txBody>
                    <a:bodyPr>
                      <a:noAutofit/>
                    </a:bodyPr>
                    <a:lstStyle/>
                    <a:p>
                      <a:pPr algn="l">
                        <a:buNone/>
                      </a:pPr>
                      <a:r>
                        <a:rPr sz="1125" b="1">
                          <a:solidFill>
                            <a:srgbClr val="FFFFFF"/>
                          </a:solidFill>
                          <a:latin typeface="Microsoft YaHei"/>
                          <a:ea typeface="Microsoft YaHei"/>
                          <a:cs typeface="Microsoft YaHei"/>
                        </a:rPr>
                        <a:t>Energy used for decision</a:t>
                      </a:r>
                    </a:p>
                  </a:txBody>
                  <a:tcPr marL="91440" marR="91440" marT="45720" marB="45720" anchor="ctr">
                    <a:solidFill>
                      <a:srgbClr val="102A43"/>
                    </a:solidFill>
                  </a:tcPr>
                </a:tc>
                <a:tc>
                  <a:txBody>
                    <a:bodyPr>
                      <a:noAutofit/>
                    </a:bodyPr>
                    <a:lstStyle/>
                    <a:p>
                      <a:pPr algn="l">
                        <a:buNone/>
                      </a:pPr>
                      <a:r>
                        <a:rPr sz="1125" b="1">
                          <a:solidFill>
                            <a:srgbClr val="FFFFFF"/>
                          </a:solidFill>
                          <a:latin typeface="Microsoft YaHei"/>
                          <a:ea typeface="Microsoft YaHei"/>
                          <a:cs typeface="Microsoft YaHei"/>
                        </a:rPr>
                        <a:t>Decision</a:t>
                      </a:r>
                    </a:p>
                  </a:txBody>
                  <a:tcPr marL="91440" marR="91440" marT="45720" marB="45720" anchor="ctr">
                    <a:solidFill>
                      <a:srgbClr val="102A43"/>
                    </a:solidFill>
                  </a:tcPr>
                </a:tc>
              </a:tr>
              <a:tr h="450850">
                <a:tc>
                  <a:txBody>
                    <a:bodyPr>
                      <a:noAutofit/>
                    </a:bodyPr>
                    <a:lstStyle/>
                    <a:p>
                      <a:pPr algn="l">
                        <a:buNone/>
                      </a:pPr>
                      <a:r>
                        <a:rPr sz="1200" b="0">
                          <a:solidFill>
                            <a:srgbClr val="344054"/>
                          </a:solidFill>
                          <a:latin typeface="Microsoft YaHei"/>
                          <a:ea typeface="Microsoft YaHei"/>
                          <a:cs typeface="Microsoft YaHei"/>
                        </a:rPr>
                        <a:t>After pickup wait</a:t>
                      </a:r>
                    </a:p>
                  </a:txBody>
                  <a:tcPr marL="91440" marR="91440" marT="45720" marB="45720" anchor="ctr">
                    <a:solidFill>
                      <a:srgbClr val="FFFFFF"/>
                    </a:solidFill>
                  </a:tcPr>
                </a:tc>
                <a:tc>
                  <a:txBody>
                    <a:bodyPr>
                      <a:noAutofit/>
                    </a:bodyPr>
                    <a:lstStyle/>
                    <a:p>
                      <a:pPr algn="l">
                        <a:buNone/>
                      </a:pPr>
                      <a:r>
                        <a:rPr sz="1200" b="0">
                          <a:solidFill>
                            <a:srgbClr val="344054"/>
                          </a:solidFill>
                          <a:latin typeface="Microsoft YaHei"/>
                          <a:ea typeface="Microsoft YaHei"/>
                          <a:cs typeface="Microsoft YaHei"/>
                        </a:rPr>
                        <a:t>E_AOD = ½mv² + U_AOD(x)</a:t>
                      </a:r>
                    </a:p>
                  </a:txBody>
                  <a:tcPr marL="91440" marR="91440" marT="45720" marB="45720" anchor="ctr">
                    <a:solidFill>
                      <a:srgbClr val="FFFFFF"/>
                    </a:solidFill>
                  </a:tcPr>
                </a:tc>
                <a:tc>
                  <a:txBody>
                    <a:bodyPr>
                      <a:noAutofit/>
                    </a:bodyPr>
                    <a:lstStyle/>
                    <a:p>
                      <a:pPr algn="l">
                        <a:buNone/>
                      </a:pPr>
                      <a:r>
                        <a:rPr sz="1200" b="0">
                          <a:solidFill>
                            <a:srgbClr val="344054"/>
                          </a:solidFill>
                          <a:latin typeface="Microsoft YaHei"/>
                          <a:ea typeface="Microsoft YaHei"/>
                          <a:cs typeface="Microsoft YaHei"/>
                        </a:rPr>
                        <a:t>E_AOD&lt;0 才保留</a:t>
                      </a:r>
                    </a:p>
                  </a:txBody>
                  <a:tcPr marL="91440" marR="91440" marT="45720" marB="45720" anchor="ctr">
                    <a:solidFill>
                      <a:srgbClr val="FFFFFF"/>
                    </a:solidFill>
                  </a:tcPr>
                </a:tc>
              </a:tr>
              <a:tr h="450850">
                <a:tc>
                  <a:txBody>
                    <a:bodyPr>
                      <a:noAutofit/>
                    </a:bodyPr>
                    <a:lstStyle/>
                    <a:p>
                      <a:pPr algn="l">
                        <a:buNone/>
                      </a:pPr>
                      <a:r>
                        <a:rPr sz="1200" b="0">
                          <a:solidFill>
                            <a:srgbClr val="344054"/>
                          </a:solidFill>
                          <a:latin typeface="Microsoft YaHei"/>
                          <a:ea typeface="Microsoft YaHei"/>
                          <a:cs typeface="Microsoft YaHei"/>
                        </a:rPr>
                        <a:t>After drop-off</a:t>
                      </a:r>
                    </a:p>
                  </a:txBody>
                  <a:tcPr marL="91440" marR="91440" marT="45720" marB="45720" anchor="ctr">
                    <a:solidFill>
                      <a:srgbClr val="F8FAFC"/>
                    </a:solidFill>
                  </a:tcPr>
                </a:tc>
                <a:tc>
                  <a:txBody>
                    <a:bodyPr>
                      <a:noAutofit/>
                    </a:bodyPr>
                    <a:lstStyle/>
                    <a:p>
                      <a:pPr algn="l">
                        <a:buNone/>
                      </a:pPr>
                      <a:r>
                        <a:rPr sz="1200" b="0">
                          <a:solidFill>
                            <a:srgbClr val="344054"/>
                          </a:solidFill>
                          <a:latin typeface="Microsoft YaHei"/>
                          <a:ea typeface="Microsoft YaHei"/>
                          <a:cs typeface="Microsoft YaHei"/>
                        </a:rPr>
                        <a:t>E_SLM = ½mv² + U_SLM(x)</a:t>
                      </a:r>
                    </a:p>
                  </a:txBody>
                  <a:tcPr marL="91440" marR="91440" marT="45720" marB="45720" anchor="ctr">
                    <a:solidFill>
                      <a:srgbClr val="F8FAFC"/>
                    </a:solidFill>
                  </a:tcPr>
                </a:tc>
                <a:tc>
                  <a:txBody>
                    <a:bodyPr>
                      <a:noAutofit/>
                    </a:bodyPr>
                    <a:lstStyle/>
                    <a:p>
                      <a:pPr algn="l">
                        <a:buNone/>
                      </a:pPr>
                      <a:r>
                        <a:rPr sz="1200" b="0">
                          <a:solidFill>
                            <a:srgbClr val="344054"/>
                          </a:solidFill>
                          <a:latin typeface="Microsoft YaHei"/>
                          <a:ea typeface="Microsoft YaHei"/>
                          <a:cs typeface="Microsoft YaHei"/>
                        </a:rPr>
                        <a:t>E_SLM&lt;0 才保留</a:t>
                      </a:r>
                    </a:p>
                  </a:txBody>
                  <a:tcPr marL="91440" marR="91440" marT="45720" marB="45720" anchor="ctr">
                    <a:solidFill>
                      <a:srgbClr val="F8FAFC"/>
                    </a:solidFill>
                  </a:tcPr>
                </a:tc>
              </a:tr>
            </a:tbl>
          </a:graphicData>
        </a:graphic>
      </p:graphicFrame>
      <p:sp>
        <p:nvSpPr>
          <p:cNvPr id="15" name="">
            <a:extLst xmlns:a="http://schemas.openxmlformats.org/drawingml/2006/main">
              <a:ext uri="{FF2B5EF4-FFF2-40B4-BE49-F238E27FC236}">
                <a16:creationId xmlns:a16="http://schemas.microsoft.com/office/drawing/2014/main" id="{F52DFF94-AE4A-43B4-A56C-7C4B30BCB782}"/>
              </a:ext>
            </a:extLst>
          </p:cNvPr>
          <p:cNvSpPr>
            <a:spLocks xmlns:a="http://schemas.openxmlformats.org/drawingml/2006/main" noGrp="1"/>
          </p:cNvSpPr>
          <p:nvPr/>
        </p:nvSpPr>
        <p:spPr>
          <a:xfrm xmlns:a="http://schemas.openxmlformats.org/drawingml/2006/main">
            <a:off x="838200" y="60579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63" b="0">
                <a:solidFill>
                  <a:srgbClr val="D92D20"/>
                </a:solidFill>
                <a:latin typeface="Microsoft YaHei"/>
                <a:ea typeface="Microsoft YaHei"/>
                <a:cs typeface="Microsoft YaHei"/>
              </a:defRPr>
            </a:pPr>
            <a:r>
              <a:rPr sz="1163" b="0">
                <a:solidFill>
                  <a:srgbClr val="D92D20"/>
                </a:solidFill>
                <a:latin typeface="Microsoft YaHei"/>
                <a:ea typeface="Microsoft YaHei"/>
                <a:cs typeface="Microsoft YaHei"/>
              </a:rPr>
              <a:t>Early stop：某个 shot 首次失败后从活跃池移除，不允许在后续阶段偶然重新俘获。</a:t>
            </a:r>
          </a:p>
        </p:txBody>
      </p:sp>
      <p:sp>
        <p:nvSpPr>
          <p:cNvPr id="16" name="">
            <a:extLst xmlns:a="http://schemas.openxmlformats.org/drawingml/2006/main">
              <a:ext uri="{FF2B5EF4-FFF2-40B4-BE49-F238E27FC236}">
                <a16:creationId xmlns:a16="http://schemas.microsoft.com/office/drawing/2014/main" id="{51A7593C-00E8-4B24-8728-6AFCBE73004A}"/>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7" name="">
            <a:extLst xmlns:a="http://schemas.openxmlformats.org/drawingml/2006/main">
              <a:ext uri="{FF2B5EF4-FFF2-40B4-BE49-F238E27FC236}">
                <a16:creationId xmlns:a16="http://schemas.microsoft.com/office/drawing/2014/main" id="{BF9D40A3-667F-4659-B17A-666570CC2CA0}"/>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survival_engine.py · noise_heating.py · work-energy implementation</a:t>
            </a:r>
          </a:p>
        </p:txBody>
      </p:sp>
      <p:sp>
        <p:nvSpPr>
          <p:cNvPr id="18" name="">
            <a:extLst xmlns:a="http://schemas.openxmlformats.org/drawingml/2006/main">
              <a:ext uri="{FF2B5EF4-FFF2-40B4-BE49-F238E27FC236}">
                <a16:creationId xmlns:a16="http://schemas.microsoft.com/office/drawing/2014/main" id="{C6425FCA-4703-427A-9194-F3953F01E88E}"/>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07</a:t>
            </a:r>
          </a:p>
        </p:txBody>
      </p:sp>
    </p:spTree>
    <p:extLst>
      <p:ext uri="{BB962C8B-B14F-4D97-AF65-F5344CB8AC3E}">
        <p14:creationId xmlns:p14="http://schemas.microsoft.com/office/powerpoint/2010/main" val="1797530926"/>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1DAC05B-04DC-4ABB-B8DD-F432C2BE56BD}"/>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06</a:t>
            </a:r>
          </a:p>
        </p:txBody>
      </p:sp>
      <p:sp>
        <p:nvSpPr>
          <p:cNvPr id="2" name="">
            <a:extLst xmlns:a="http://schemas.openxmlformats.org/drawingml/2006/main">
              <a:ext uri="{FF2B5EF4-FFF2-40B4-BE49-F238E27FC236}">
                <a16:creationId xmlns:a16="http://schemas.microsoft.com/office/drawing/2014/main" id="{31A36BB1-BCAB-46B5-84C7-00EC9B31C5AE}"/>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从逐原子判定到存活曲线 S(n)</a:t>
            </a:r>
          </a:p>
        </p:txBody>
      </p:sp>
      <p:sp>
        <p:nvSpPr>
          <p:cNvPr id="3" name="">
            <a:extLst xmlns:a="http://schemas.openxmlformats.org/drawingml/2006/main">
              <a:ext uri="{FF2B5EF4-FFF2-40B4-BE49-F238E27FC236}">
                <a16:creationId xmlns:a16="http://schemas.microsoft.com/office/drawing/2014/main" id="{97DA5C20-DD7D-4E3B-932E-E8DA080EFEE4}"/>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00CE72A5-E534-41BE-A4EB-5E4C03F2ED36}"/>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每个 n 统计仍在活跃池中的 shot；图中阶梯来自有限样本计数</a:t>
            </a:r>
          </a:p>
        </p:txBody>
      </p:sp>
      <p:graphicFrame>
        <p:nvGraphicFramePr>
          <p:cNvPr id="24" name="Chart"/>
          <p:cNvGraphicFramePr/>
          <p:nvPr/>
        </p:nvGraphicFramePr>
        <p:xfrm>
          <a:off xmlns:a="http://schemas.openxmlformats.org/drawingml/2006/main" x="609600" y="1352550"/>
          <a:ext xmlns:a="http://schemas.openxmlformats.org/drawingml/2006/main" cx="6953250" cy="3981450"/>
        </p:xfrm>
        <a:graphic xmlns:a="http://schemas.openxmlformats.org/drawingml/2006/main">
          <a:graphicData uri="http://schemas.openxmlformats.org/drawingml/2006/chart">
            <c:chart xmlns:r="http://schemas.openxmlformats.org/officeDocument/2006/relationships" xmlns:c="http://schemas.openxmlformats.org/drawingml/2006/chart" r:id="R854d9ef011cd48a6"/>
          </a:graphicData>
        </a:graphic>
      </p:graphicFrame>
      <p:sp>
        <p:nvSpPr>
          <p:cNvPr id="6" name="">
            <a:extLst xmlns:a="http://schemas.openxmlformats.org/drawingml/2006/main">
              <a:ext uri="{FF2B5EF4-FFF2-40B4-BE49-F238E27FC236}">
                <a16:creationId xmlns:a16="http://schemas.microsoft.com/office/drawing/2014/main" id="{D6C67D3B-ECB5-4B74-BB39-33BE21301791}"/>
              </a:ext>
            </a:extLst>
          </p:cNvPr>
          <p:cNvSpPr>
            <a:spLocks xmlns:a="http://schemas.openxmlformats.org/drawingml/2006/main" noGrp="1"/>
          </p:cNvSpPr>
          <p:nvPr/>
        </p:nvSpPr>
        <p:spPr>
          <a:xfrm xmlns:a="http://schemas.openxmlformats.org/drawingml/2006/main">
            <a:off x="7867650" y="1352550"/>
            <a:ext cx="3714750" cy="39814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EAECF0"/>
            </a:solidFill>
          </a:ln>
        </p:spPr>
      </p:sp>
      <p:sp>
        <p:nvSpPr>
          <p:cNvPr id="7" name="">
            <a:extLst xmlns:a="http://schemas.openxmlformats.org/drawingml/2006/main">
              <a:ext uri="{FF2B5EF4-FFF2-40B4-BE49-F238E27FC236}">
                <a16:creationId xmlns:a16="http://schemas.microsoft.com/office/drawing/2014/main" id="{8CB6FF85-6A8F-421D-A677-1ECAB788918D}"/>
              </a:ext>
            </a:extLst>
          </p:cNvPr>
          <p:cNvSpPr>
            <a:spLocks xmlns:a="http://schemas.openxmlformats.org/drawingml/2006/main" noGrp="1"/>
          </p:cNvSpPr>
          <p:nvPr/>
        </p:nvSpPr>
        <p:spPr>
          <a:xfrm xmlns:a="http://schemas.openxmlformats.org/drawingml/2006/main">
            <a:off x="8134350" y="1600200"/>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00" b="1">
                <a:solidFill>
                  <a:srgbClr val="102A43"/>
                </a:solidFill>
                <a:latin typeface="Microsoft YaHei"/>
                <a:ea typeface="Microsoft YaHei"/>
                <a:cs typeface="Microsoft YaHei"/>
              </a:defRPr>
            </a:pPr>
            <a:r>
              <a:rPr sz="1500" b="1">
                <a:solidFill>
                  <a:srgbClr val="102A43"/>
                </a:solidFill>
                <a:latin typeface="Microsoft YaHei"/>
                <a:ea typeface="Microsoft YaHei"/>
                <a:cs typeface="Microsoft YaHei"/>
              </a:rPr>
              <a:t>统计量</a:t>
            </a:r>
          </a:p>
        </p:txBody>
      </p:sp>
      <p:sp>
        <p:nvSpPr>
          <p:cNvPr id="8" name="">
            <a:extLst xmlns:a="http://schemas.openxmlformats.org/drawingml/2006/main">
              <a:ext uri="{FF2B5EF4-FFF2-40B4-BE49-F238E27FC236}">
                <a16:creationId xmlns:a16="http://schemas.microsoft.com/office/drawing/2014/main" id="{35E1C092-20EE-4C2B-BD08-7C235EE77E1F}"/>
              </a:ext>
            </a:extLst>
          </p:cNvPr>
          <p:cNvSpPr>
            <a:spLocks xmlns:a="http://schemas.openxmlformats.org/drawingml/2006/main" noGrp="1"/>
          </p:cNvSpPr>
          <p:nvPr/>
        </p:nvSpPr>
        <p:spPr>
          <a:xfrm xmlns:a="http://schemas.openxmlformats.org/drawingml/2006/main">
            <a:off x="8134350" y="2095500"/>
            <a:ext cx="3181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buNone/>
              <a:defRPr sz="1650" b="1">
                <a:solidFill>
                  <a:srgbClr val="1570EF"/>
                </a:solidFill>
                <a:latin typeface="Microsoft YaHei"/>
                <a:ea typeface="Microsoft YaHei"/>
                <a:cs typeface="Microsoft YaHei"/>
              </a:defRPr>
            </a:pPr>
            <a:r>
              <a:rPr sz="1650" b="1">
                <a:solidFill>
                  <a:srgbClr val="1570EF"/>
                </a:solidFill>
                <a:latin typeface="Microsoft YaHei"/>
                <a:ea typeface="Microsoft YaHei"/>
                <a:cs typeface="Microsoft YaHei"/>
              </a:rPr>
              <a:t>S(n) = N_survive(n) / N₀</a:t>
            </a:r>
          </a:p>
        </p:txBody>
      </p:sp>
      <p:sp>
        <p:nvSpPr>
          <p:cNvPr id="9" name="">
            <a:extLst xmlns:a="http://schemas.openxmlformats.org/drawingml/2006/main">
              <a:ext uri="{FF2B5EF4-FFF2-40B4-BE49-F238E27FC236}">
                <a16:creationId xmlns:a16="http://schemas.microsoft.com/office/drawing/2014/main" id="{71E5BE6C-9FB5-482F-8E12-AEAB50E8A683}"/>
              </a:ext>
            </a:extLst>
          </p:cNvPr>
          <p:cNvSpPr>
            <a:spLocks xmlns:a="http://schemas.openxmlformats.org/drawingml/2006/main" noGrp="1"/>
          </p:cNvSpPr>
          <p:nvPr/>
        </p:nvSpPr>
        <p:spPr>
          <a:xfrm xmlns:a="http://schemas.openxmlformats.org/drawingml/2006/main">
            <a:off x="8134350" y="278130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75" b="1">
                <a:solidFill>
                  <a:srgbClr val="102A43"/>
                </a:solidFill>
                <a:latin typeface="Microsoft YaHei"/>
                <a:ea typeface="Microsoft YaHei"/>
                <a:cs typeface="Microsoft YaHei"/>
              </a:defRPr>
            </a:pPr>
            <a:r>
              <a:rPr sz="1275" b="1">
                <a:solidFill>
                  <a:srgbClr val="102A43"/>
                </a:solidFill>
                <a:latin typeface="Microsoft YaHei"/>
                <a:ea typeface="Microsoft YaHei"/>
                <a:cs typeface="Microsoft YaHei"/>
              </a:rPr>
              <a:t>几何等效每程损失</a:t>
            </a:r>
          </a:p>
        </p:txBody>
      </p:sp>
      <p:sp>
        <p:nvSpPr>
          <p:cNvPr id="10" name="">
            <a:extLst xmlns:a="http://schemas.openxmlformats.org/drawingml/2006/main">
              <a:ext uri="{FF2B5EF4-FFF2-40B4-BE49-F238E27FC236}">
                <a16:creationId xmlns:a16="http://schemas.microsoft.com/office/drawing/2014/main" id="{A4829359-C95A-4B45-A83A-7A6D17322321}"/>
              </a:ext>
            </a:extLst>
          </p:cNvPr>
          <p:cNvSpPr>
            <a:spLocks xmlns:a="http://schemas.openxmlformats.org/drawingml/2006/main" noGrp="1"/>
          </p:cNvSpPr>
          <p:nvPr/>
        </p:nvSpPr>
        <p:spPr>
          <a:xfrm xmlns:a="http://schemas.openxmlformats.org/drawingml/2006/main">
            <a:off x="8134350" y="3143250"/>
            <a:ext cx="3181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buNone/>
              <a:defRPr sz="1500" b="0">
                <a:solidFill>
                  <a:srgbClr val="344054"/>
                </a:solidFill>
                <a:latin typeface="Microsoft YaHei"/>
                <a:ea typeface="Microsoft YaHei"/>
                <a:cs typeface="Microsoft YaHei"/>
              </a:defRPr>
            </a:pPr>
            <a:r>
              <a:rPr sz="1500" b="0">
                <a:solidFill>
                  <a:srgbClr val="344054"/>
                </a:solidFill>
                <a:latin typeface="Microsoft YaHei"/>
                <a:ea typeface="Microsoft YaHei"/>
                <a:cs typeface="Microsoft YaHei"/>
              </a:rPr>
              <a:t>L_eq = 1 − S(n)^(1/n)</a:t>
            </a:r>
          </a:p>
        </p:txBody>
      </p:sp>
      <p:sp>
        <p:nvSpPr>
          <p:cNvPr id="11" name="">
            <a:extLst xmlns:a="http://schemas.openxmlformats.org/drawingml/2006/main">
              <a:ext uri="{FF2B5EF4-FFF2-40B4-BE49-F238E27FC236}">
                <a16:creationId xmlns:a16="http://schemas.microsoft.com/office/drawing/2014/main" id="{BFF3DEE9-C7AB-4FBE-9288-805A144EC89C}"/>
              </a:ext>
            </a:extLst>
          </p:cNvPr>
          <p:cNvSpPr>
            <a:spLocks xmlns:a="http://schemas.openxmlformats.org/drawingml/2006/main" noGrp="1"/>
          </p:cNvSpPr>
          <p:nvPr/>
        </p:nvSpPr>
        <p:spPr>
          <a:xfrm xmlns:a="http://schemas.openxmlformats.org/drawingml/2006/main">
            <a:off x="8134350" y="3867150"/>
            <a:ext cx="3143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扫描池：256 shots，seed 23001</a:t>
            </a:r>
          </a:p>
          <a:p xmlns:a="http://schemas.openxmlformats.org/drawingml/2006/main">
            <a:pPr algn="l">
              <a:buNone/>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复核池：512 shots，seed 23002</a:t>
            </a:r>
          </a:p>
          <a:p xmlns:a="http://schemas.openxmlformats.org/drawingml/2006/main">
            <a:pPr algn="l">
              <a:buNone/>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场景间使用同一随机池做 CRN 配对。</a:t>
            </a:r>
          </a:p>
        </p:txBody>
      </p:sp>
      <p:sp>
        <p:nvSpPr>
          <p:cNvPr id="12" name="">
            <a:extLst xmlns:a="http://schemas.openxmlformats.org/drawingml/2006/main">
              <a:ext uri="{FF2B5EF4-FFF2-40B4-BE49-F238E27FC236}">
                <a16:creationId xmlns:a16="http://schemas.microsoft.com/office/drawing/2014/main" id="{A9C043FC-0C8E-49B6-931C-205E2A9BCCAF}"/>
              </a:ext>
            </a:extLst>
          </p:cNvPr>
          <p:cNvSpPr>
            <a:spLocks xmlns:a="http://schemas.openxmlformats.org/drawingml/2006/main" noGrp="1"/>
          </p:cNvSpPr>
          <p:nvPr/>
        </p:nvSpPr>
        <p:spPr>
          <a:xfrm xmlns:a="http://schemas.openxmlformats.org/drawingml/2006/main">
            <a:off x="8134350" y="4838700"/>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013" b="0">
                <a:solidFill>
                  <a:srgbClr val="D92D20"/>
                </a:solidFill>
                <a:latin typeface="Microsoft YaHei"/>
                <a:ea typeface="Microsoft YaHei"/>
                <a:cs typeface="Microsoft YaHei"/>
              </a:defRPr>
            </a:pPr>
            <a:r>
              <a:rPr sz="1013" b="0">
                <a:solidFill>
                  <a:srgbClr val="D92D20"/>
                </a:solidFill>
                <a:latin typeface="Microsoft YaHei"/>
                <a:ea typeface="Microsoft YaHei"/>
                <a:cs typeface="Microsoft YaHei"/>
              </a:rPr>
              <a:t>L_eq 仅为端点换算，不是论文三参数拟合的瞬时损失。</a:t>
            </a:r>
          </a:p>
        </p:txBody>
      </p:sp>
      <p:sp>
        <p:nvSpPr>
          <p:cNvPr id="13" name="">
            <a:extLst xmlns:a="http://schemas.openxmlformats.org/drawingml/2006/main">
              <a:ext uri="{FF2B5EF4-FFF2-40B4-BE49-F238E27FC236}">
                <a16:creationId xmlns:a16="http://schemas.microsoft.com/office/drawing/2014/main" id="{08DE63C8-96F2-43F8-8EB2-1388117E9196}"/>
              </a:ext>
            </a:extLst>
          </p:cNvPr>
          <p:cNvSpPr>
            <a:spLocks xmlns:a="http://schemas.openxmlformats.org/drawingml/2006/main" noGrp="1"/>
          </p:cNvSpPr>
          <p:nvPr/>
        </p:nvSpPr>
        <p:spPr>
          <a:xfrm xmlns:a="http://schemas.openxmlformats.org/drawingml/2006/main">
            <a:off x="609600" y="5619750"/>
            <a:ext cx="10972800" cy="609600"/>
          </a:xfrm>
          <a:prstGeom xmlns:a="http://schemas.openxmlformats.org/drawingml/2006/main" prst="roundRect">
            <a:avLst>
              <a:gd name="adj" fmla="val 12500"/>
            </a:avLst>
          </a:prstGeom>
          <a:solidFill xmlns:a="http://schemas.openxmlformats.org/drawingml/2006/main">
            <a:srgbClr val="F2F4F7"/>
          </a:solidFill>
          <a:ln xmlns:a="http://schemas.openxmlformats.org/drawingml/2006/main" w="9525">
            <a:solidFill>
              <a:srgbClr val="EAECF0"/>
            </a:solidFill>
          </a:ln>
        </p:spPr>
      </p:sp>
      <p:sp>
        <p:nvSpPr>
          <p:cNvPr id="14" name="">
            <a:extLst xmlns:a="http://schemas.openxmlformats.org/drawingml/2006/main">
              <a:ext uri="{FF2B5EF4-FFF2-40B4-BE49-F238E27FC236}">
                <a16:creationId xmlns:a16="http://schemas.microsoft.com/office/drawing/2014/main" id="{EE31CCC1-B49E-4F1D-9D8B-13924499F047}"/>
              </a:ext>
            </a:extLst>
          </p:cNvPr>
          <p:cNvSpPr>
            <a:spLocks xmlns:a="http://schemas.openxmlformats.org/drawingml/2006/main" noGrp="1"/>
          </p:cNvSpPr>
          <p:nvPr/>
        </p:nvSpPr>
        <p:spPr>
          <a:xfrm xmlns:a="http://schemas.openxmlformats.org/drawingml/2006/main">
            <a:off x="838200" y="5772150"/>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图中 baseline 的离散小台阶由 256 个 shot 的整数计数产生。它们应当单调不增，但不代表连续概率曲线的真实细纹。</a:t>
            </a:r>
          </a:p>
        </p:txBody>
      </p:sp>
      <p:sp>
        <p:nvSpPr>
          <p:cNvPr id="15" name="">
            <a:extLst xmlns:a="http://schemas.openxmlformats.org/drawingml/2006/main">
              <a:ext uri="{FF2B5EF4-FFF2-40B4-BE49-F238E27FC236}">
                <a16:creationId xmlns:a16="http://schemas.microsoft.com/office/drawing/2014/main" id="{E398DAD4-D050-41C9-8B26-558DE6AB9244}"/>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6" name="">
            <a:extLst xmlns:a="http://schemas.openxmlformats.org/drawingml/2006/main">
              <a:ext uri="{FF2B5EF4-FFF2-40B4-BE49-F238E27FC236}">
                <a16:creationId xmlns:a16="http://schemas.microsoft.com/office/drawing/2014/main" id="{C7C96C3C-AE51-47B0-8E01-FADEF09F880F}"/>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demo/survival_scan_results.csv · survival_engine.py · statistics.py</a:t>
            </a:r>
          </a:p>
        </p:txBody>
      </p:sp>
      <p:sp>
        <p:nvSpPr>
          <p:cNvPr id="17" name="">
            <a:extLst xmlns:a="http://schemas.openxmlformats.org/drawingml/2006/main">
              <a:ext uri="{FF2B5EF4-FFF2-40B4-BE49-F238E27FC236}">
                <a16:creationId xmlns:a16="http://schemas.microsoft.com/office/drawing/2014/main" id="{40EC6F8D-851F-4E1D-ADB4-7499C35096B5}"/>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08</a:t>
            </a:r>
          </a:p>
        </p:txBody>
      </p:sp>
    </p:spTree>
    <p:extLst>
      <p:ext uri="{BB962C8B-B14F-4D97-AF65-F5344CB8AC3E}">
        <p14:creationId xmlns:p14="http://schemas.microsoft.com/office/powerpoint/2010/main" val="1858418795"/>
      </p:ext>
    </p:extLst>
  </p:cSld>
</p:sld>
</file>

<file path=ppt/slides/slide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667D1BF-FDE2-4E33-B7C9-B9F5493520F8}"/>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07</a:t>
            </a:r>
          </a:p>
        </p:txBody>
      </p:sp>
      <p:sp>
        <p:nvSpPr>
          <p:cNvPr id="2" name="">
            <a:extLst xmlns:a="http://schemas.openxmlformats.org/drawingml/2006/main">
              <a:ext uri="{FF2B5EF4-FFF2-40B4-BE49-F238E27FC236}">
                <a16:creationId xmlns:a16="http://schemas.microsoft.com/office/drawing/2014/main" id="{F236F9E7-925C-48F4-9663-926826ED8E86}"/>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Baseline 计算结果</a:t>
            </a:r>
          </a:p>
        </p:txBody>
      </p:sp>
      <p:sp>
        <p:nvSpPr>
          <p:cNvPr id="3" name="">
            <a:extLst xmlns:a="http://schemas.openxmlformats.org/drawingml/2006/main">
              <a:ext uri="{FF2B5EF4-FFF2-40B4-BE49-F238E27FC236}">
                <a16:creationId xmlns:a16="http://schemas.microsoft.com/office/drawing/2014/main" id="{8B188224-621D-42BD-8E8C-1B14C8A98D40}"/>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2D19014D-4EAD-4C2F-870A-CE63C0DB6AE9}"/>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先用仓库默认参数建立参照，再决定需要扫描哪些机制</a:t>
            </a:r>
          </a:p>
        </p:txBody>
      </p:sp>
      <p:graphicFrame>
        <p:nvGraphicFramePr>
          <p:cNvPr id="23" name="Chart"/>
          <p:cNvGraphicFramePr/>
          <p:nvPr/>
        </p:nvGraphicFramePr>
        <p:xfrm>
          <a:off xmlns:a="http://schemas.openxmlformats.org/drawingml/2006/main" x="609600" y="1371600"/>
          <a:ext xmlns:a="http://schemas.openxmlformats.org/drawingml/2006/main" cx="6858000" cy="3905250"/>
        </p:xfrm>
        <a:graphic xmlns:a="http://schemas.openxmlformats.org/drawingml/2006/main">
          <a:graphicData uri="http://schemas.openxmlformats.org/drawingml/2006/chart">
            <c:chart xmlns:r="http://schemas.openxmlformats.org/officeDocument/2006/relationships" xmlns:c="http://schemas.openxmlformats.org/drawingml/2006/chart" r:id="R7878735f56fd4900"/>
          </a:graphicData>
        </a:graphic>
      </p:graphicFrame>
      <p:sp>
        <p:nvSpPr>
          <p:cNvPr id="6" name="">
            <a:extLst xmlns:a="http://schemas.openxmlformats.org/drawingml/2006/main">
              <a:ext uri="{FF2B5EF4-FFF2-40B4-BE49-F238E27FC236}">
                <a16:creationId xmlns:a16="http://schemas.microsoft.com/office/drawing/2014/main" id="{AAB6BA17-1D08-470F-A8C5-BD3D64B2DD61}"/>
              </a:ext>
            </a:extLst>
          </p:cNvPr>
          <p:cNvSpPr>
            <a:spLocks xmlns:a="http://schemas.openxmlformats.org/drawingml/2006/main" noGrp="1"/>
          </p:cNvSpPr>
          <p:nvPr/>
        </p:nvSpPr>
        <p:spPr>
          <a:xfrm xmlns:a="http://schemas.openxmlformats.org/drawingml/2006/main">
            <a:off x="7810500" y="1371600"/>
            <a:ext cx="3771900" cy="3905250"/>
          </a:xfrm>
          <a:prstGeom xmlns:a="http://schemas.openxmlformats.org/drawingml/2006/main" prst="roundRect">
            <a:avLst>
              <a:gd name="adj" fmla="val 2020"/>
            </a:avLst>
          </a:prstGeom>
          <a:solidFill xmlns:a="http://schemas.openxmlformats.org/drawingml/2006/main">
            <a:srgbClr val="FFFFFF"/>
          </a:solidFill>
          <a:ln xmlns:a="http://schemas.openxmlformats.org/drawingml/2006/main" w="9525">
            <a:solidFill>
              <a:srgbClr val="EAECF0"/>
            </a:solidFill>
          </a:ln>
        </p:spPr>
      </p:sp>
      <p:sp>
        <p:nvSpPr>
          <p:cNvPr id="7" name="">
            <a:extLst xmlns:a="http://schemas.openxmlformats.org/drawingml/2006/main">
              <a:ext uri="{FF2B5EF4-FFF2-40B4-BE49-F238E27FC236}">
                <a16:creationId xmlns:a16="http://schemas.microsoft.com/office/drawing/2014/main" id="{1381CC50-47FA-4DEB-8B81-EF8DE2ECA89B}"/>
              </a:ext>
            </a:extLst>
          </p:cNvPr>
          <p:cNvSpPr>
            <a:spLocks xmlns:a="http://schemas.openxmlformats.org/drawingml/2006/main" noGrp="1"/>
          </p:cNvSpPr>
          <p:nvPr/>
        </p:nvSpPr>
        <p:spPr>
          <a:xfrm xmlns:a="http://schemas.openxmlformats.org/drawingml/2006/main">
            <a:off x="8077200" y="16192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00" b="1">
                <a:solidFill>
                  <a:srgbClr val="102A43"/>
                </a:solidFill>
                <a:latin typeface="Microsoft YaHei"/>
                <a:ea typeface="Microsoft YaHei"/>
                <a:cs typeface="Microsoft YaHei"/>
              </a:defRPr>
            </a:pPr>
            <a:r>
              <a:rPr sz="1500" b="1">
                <a:solidFill>
                  <a:srgbClr val="102A43"/>
                </a:solidFill>
                <a:latin typeface="Microsoft YaHei"/>
                <a:ea typeface="Microsoft YaHei"/>
                <a:cs typeface="Microsoft YaHei"/>
              </a:rPr>
              <a:t>Baseline 参数</a:t>
            </a:r>
          </a:p>
        </p:txBody>
      </p:sp>
      <p:graphicFrame>
        <p:nvGraphicFramePr>
          <p:cNvPr id="26" name=""/>
          <p:cNvGraphicFramePr/>
          <p:nvPr/>
        </p:nvGraphicFramePr>
        <p:xfrm>
          <a:off xmlns:a="http://schemas.openxmlformats.org/drawingml/2006/main" x="8077200" y="2038350"/>
          <a:ext xmlns:a="http://schemas.openxmlformats.org/drawingml/2006/main" cx="3238500" cy="2476500"/>
        </p:xfrm>
        <a:graphic xmlns:a="http://schemas.openxmlformats.org/drawingml/2006/main">
          <a:graphicData uri="http://schemas.openxmlformats.org/drawingml/2006/table">
            <a:tbl>
              <a:tblPr/>
              <a:tblGrid>
                <a:gridCol w="1673225"/>
                <a:gridCol w="1565275"/>
              </a:tblGrid>
              <a:tr h="353786">
                <a:tc>
                  <a:txBody>
                    <a:bodyPr>
                      <a:noAutofit/>
                    </a:bodyPr>
                    <a:lstStyle/>
                    <a:p>
                      <a:pPr algn="l">
                        <a:buNone/>
                      </a:pPr>
                      <a:r>
                        <a:rPr sz="1050" b="1">
                          <a:solidFill>
                            <a:srgbClr val="FFFFFF"/>
                          </a:solidFill>
                          <a:latin typeface="Microsoft YaHei"/>
                          <a:ea typeface="Microsoft YaHei"/>
                          <a:cs typeface="Microsoft YaHei"/>
                        </a:rPr>
                        <a:t>Input</a:t>
                      </a:r>
                    </a:p>
                  </a:txBody>
                  <a:tcPr marL="91440" marR="91440" marT="45720" marB="45720" anchor="ctr">
                    <a:solidFill>
                      <a:srgbClr val="102A43"/>
                    </a:solidFill>
                  </a:tcPr>
                </a:tc>
                <a:tc>
                  <a:txBody>
                    <a:bodyPr>
                      <a:noAutofit/>
                    </a:bodyPr>
                    <a:lstStyle/>
                    <a:p>
                      <a:pPr algn="l">
                        <a:buNone/>
                      </a:pPr>
                      <a:r>
                        <a:rPr sz="1050" b="1">
                          <a:solidFill>
                            <a:srgbClr val="FFFFFF"/>
                          </a:solidFill>
                          <a:latin typeface="Microsoft YaHei"/>
                          <a:ea typeface="Microsoft YaHei"/>
                          <a:cs typeface="Microsoft YaHei"/>
                        </a:rPr>
                        <a:t>Value</a:t>
                      </a:r>
                    </a:p>
                  </a:txBody>
                  <a:tcPr marL="91440" marR="91440" marT="45720" marB="45720" anchor="ctr">
                    <a:solidFill>
                      <a:srgbClr val="102A43"/>
                    </a:solidFill>
                  </a:tcPr>
                </a:tc>
              </a:tr>
              <a:tr h="353786">
                <a:tc>
                  <a:txBody>
                    <a:bodyPr>
                      <a:noAutofit/>
                    </a:bodyPr>
                    <a:lstStyle/>
                    <a:p>
                      <a:pPr algn="l">
                        <a:buNone/>
                      </a:pPr>
                      <a:r>
                        <a:rPr sz="1050" b="0">
                          <a:solidFill>
                            <a:srgbClr val="344054"/>
                          </a:solidFill>
                          <a:latin typeface="Microsoft YaHei"/>
                          <a:ea typeface="Microsoft YaHei"/>
                          <a:cs typeface="Microsoft YaHei"/>
                        </a:rPr>
                        <a:t>Temperature</a:t>
                      </a:r>
                    </a:p>
                  </a:txBody>
                  <a:tcPr marL="91440" marR="91440" marT="45720" marB="45720" anchor="ctr">
                    <a:solidFill>
                      <a:srgbClr val="FFFFFF"/>
                    </a:solidFill>
                  </a:tcPr>
                </a:tc>
                <a:tc>
                  <a:txBody>
                    <a:bodyPr>
                      <a:noAutofit/>
                    </a:bodyPr>
                    <a:lstStyle/>
                    <a:p>
                      <a:pPr algn="l">
                        <a:buNone/>
                      </a:pPr>
                      <a:r>
                        <a:rPr sz="1050" b="0">
                          <a:solidFill>
                            <a:srgbClr val="344054"/>
                          </a:solidFill>
                          <a:latin typeface="Microsoft YaHei"/>
                          <a:ea typeface="Microsoft YaHei"/>
                          <a:cs typeface="Microsoft YaHei"/>
                        </a:rPr>
                        <a:t>5 µK</a:t>
                      </a:r>
                    </a:p>
                  </a:txBody>
                  <a:tcPr marL="91440" marR="91440" marT="45720" marB="45720" anchor="ctr">
                    <a:solidFill>
                      <a:srgbClr val="FFFFFF"/>
                    </a:solidFill>
                  </a:tcPr>
                </a:tc>
              </a:tr>
              <a:tr h="353786">
                <a:tc>
                  <a:txBody>
                    <a:bodyPr>
                      <a:noAutofit/>
                    </a:bodyPr>
                    <a:lstStyle/>
                    <a:p>
                      <a:pPr algn="l">
                        <a:buNone/>
                      </a:pPr>
                      <a:r>
                        <a:rPr sz="1050" b="0">
                          <a:solidFill>
                            <a:srgbClr val="344054"/>
                          </a:solidFill>
                          <a:latin typeface="Microsoft YaHei"/>
                          <a:ea typeface="Microsoft YaHei"/>
                          <a:cs typeface="Microsoft YaHei"/>
                        </a:rPr>
                        <a:t>RIN PSD</a:t>
                      </a:r>
                    </a:p>
                  </a:txBody>
                  <a:tcPr marL="91440" marR="91440" marT="45720" marB="45720" anchor="ctr">
                    <a:solidFill>
                      <a:srgbClr val="F8FAFC"/>
                    </a:solidFill>
                  </a:tcPr>
                </a:tc>
                <a:tc>
                  <a:txBody>
                    <a:bodyPr>
                      <a:noAutofit/>
                    </a:bodyPr>
                    <a:lstStyle/>
                    <a:p>
                      <a:pPr algn="l">
                        <a:buNone/>
                      </a:pPr>
                      <a:r>
                        <a:rPr sz="1050" b="0">
                          <a:solidFill>
                            <a:srgbClr val="344054"/>
                          </a:solidFill>
                          <a:latin typeface="Microsoft YaHei"/>
                          <a:ea typeface="Microsoft YaHei"/>
                          <a:cs typeface="Microsoft YaHei"/>
                        </a:rPr>
                        <a:t>1×10⁻⁸ Hz⁻¹</a:t>
                      </a:r>
                    </a:p>
                  </a:txBody>
                  <a:tcPr marL="91440" marR="91440" marT="45720" marB="45720" anchor="ctr">
                    <a:solidFill>
                      <a:srgbClr val="F8FAFC"/>
                    </a:solidFill>
                  </a:tcPr>
                </a:tc>
              </a:tr>
              <a:tr h="353786">
                <a:tc>
                  <a:txBody>
                    <a:bodyPr>
                      <a:noAutofit/>
                    </a:bodyPr>
                    <a:lstStyle/>
                    <a:p>
                      <a:pPr algn="l">
                        <a:buNone/>
                      </a:pPr>
                      <a:r>
                        <a:rPr sz="1050" b="0">
                          <a:solidFill>
                            <a:srgbClr val="344054"/>
                          </a:solidFill>
                          <a:latin typeface="Microsoft YaHei"/>
                          <a:ea typeface="Microsoft YaHei"/>
                          <a:cs typeface="Microsoft YaHei"/>
                        </a:rPr>
                        <a:t>Static alignment σ</a:t>
                      </a:r>
                    </a:p>
                  </a:txBody>
                  <a:tcPr marL="91440" marR="91440" marT="45720" marB="45720" anchor="ctr">
                    <a:solidFill>
                      <a:srgbClr val="FFFFFF"/>
                    </a:solidFill>
                  </a:tcPr>
                </a:tc>
                <a:tc>
                  <a:txBody>
                    <a:bodyPr>
                      <a:noAutofit/>
                    </a:bodyPr>
                    <a:lstStyle/>
                    <a:p>
                      <a:pPr algn="l">
                        <a:buNone/>
                      </a:pPr>
                      <a:r>
                        <a:rPr sz="1050" b="0">
                          <a:solidFill>
                            <a:srgbClr val="344054"/>
                          </a:solidFill>
                          <a:latin typeface="Microsoft YaHei"/>
                          <a:ea typeface="Microsoft YaHei"/>
                          <a:cs typeface="Microsoft YaHei"/>
                        </a:rPr>
                        <a:t>0.05 µm</a:t>
                      </a:r>
                    </a:p>
                  </a:txBody>
                  <a:tcPr marL="91440" marR="91440" marT="45720" marB="45720" anchor="ctr">
                    <a:solidFill>
                      <a:srgbClr val="FFFFFF"/>
                    </a:solidFill>
                  </a:tcPr>
                </a:tc>
              </a:tr>
              <a:tr h="353786">
                <a:tc>
                  <a:txBody>
                    <a:bodyPr>
                      <a:noAutofit/>
                    </a:bodyPr>
                    <a:lstStyle/>
                    <a:p>
                      <a:pPr algn="l">
                        <a:buNone/>
                      </a:pPr>
                      <a:r>
                        <a:rPr sz="1050" b="0">
                          <a:solidFill>
                            <a:srgbClr val="344054"/>
                          </a:solidFill>
                          <a:latin typeface="Microsoft YaHei"/>
                          <a:ea typeface="Microsoft YaHei"/>
                          <a:cs typeface="Microsoft YaHei"/>
                        </a:rPr>
                        <a:t>Leg-wise jitter σ</a:t>
                      </a:r>
                    </a:p>
                  </a:txBody>
                  <a:tcPr marL="91440" marR="91440" marT="45720" marB="45720" anchor="ctr">
                    <a:solidFill>
                      <a:srgbClr val="F8FAFC"/>
                    </a:solidFill>
                  </a:tcPr>
                </a:tc>
                <a:tc>
                  <a:txBody>
                    <a:bodyPr>
                      <a:noAutofit/>
                    </a:bodyPr>
                    <a:lstStyle/>
                    <a:p>
                      <a:pPr algn="l">
                        <a:buNone/>
                      </a:pPr>
                      <a:r>
                        <a:rPr sz="1050" b="0">
                          <a:solidFill>
                            <a:srgbClr val="344054"/>
                          </a:solidFill>
                          <a:latin typeface="Microsoft YaHei"/>
                          <a:ea typeface="Microsoft YaHei"/>
                          <a:cs typeface="Microsoft YaHei"/>
                        </a:rPr>
                        <a:t>0.01 µm</a:t>
                      </a:r>
                    </a:p>
                  </a:txBody>
                  <a:tcPr marL="91440" marR="91440" marT="45720" marB="45720" anchor="ctr">
                    <a:solidFill>
                      <a:srgbClr val="F8FAFC"/>
                    </a:solidFill>
                  </a:tcPr>
                </a:tc>
              </a:tr>
              <a:tr h="353786">
                <a:tc>
                  <a:txBody>
                    <a:bodyPr>
                      <a:noAutofit/>
                    </a:bodyPr>
                    <a:lstStyle/>
                    <a:p>
                      <a:pPr algn="l">
                        <a:buNone/>
                      </a:pPr>
                      <a:r>
                        <a:rPr sz="1050" b="0">
                          <a:solidFill>
                            <a:srgbClr val="344054"/>
                          </a:solidFill>
                          <a:latin typeface="Microsoft YaHei"/>
                          <a:ea typeface="Microsoft YaHei"/>
                          <a:cs typeface="Microsoft YaHei"/>
                        </a:rPr>
                        <a:t>SLM depth σ</a:t>
                      </a:r>
                    </a:p>
                  </a:txBody>
                  <a:tcPr marL="91440" marR="91440" marT="45720" marB="45720" anchor="ctr">
                    <a:solidFill>
                      <a:srgbClr val="FFFFFF"/>
                    </a:solidFill>
                  </a:tcPr>
                </a:tc>
                <a:tc>
                  <a:txBody>
                    <a:bodyPr>
                      <a:noAutofit/>
                    </a:bodyPr>
                    <a:lstStyle/>
                    <a:p>
                      <a:pPr algn="l">
                        <a:buNone/>
                      </a:pPr>
                      <a:r>
                        <a:rPr sz="1050" b="0">
                          <a:solidFill>
                            <a:srgbClr val="344054"/>
                          </a:solidFill>
                          <a:latin typeface="Microsoft YaHei"/>
                          <a:ea typeface="Microsoft YaHei"/>
                          <a:cs typeface="Microsoft YaHei"/>
                        </a:rPr>
                        <a:t>11.4%</a:t>
                      </a:r>
                    </a:p>
                  </a:txBody>
                  <a:tcPr marL="91440" marR="91440" marT="45720" marB="45720" anchor="ctr">
                    <a:solidFill>
                      <a:srgbClr val="FFFFFF"/>
                    </a:solidFill>
                  </a:tcPr>
                </a:tc>
              </a:tr>
              <a:tr h="353786">
                <a:tc>
                  <a:txBody>
                    <a:bodyPr>
                      <a:noAutofit/>
                    </a:bodyPr>
                    <a:lstStyle/>
                    <a:p>
                      <a:pPr algn="l">
                        <a:buNone/>
                      </a:pPr>
                      <a:r>
                        <a:rPr sz="1050" b="0">
                          <a:solidFill>
                            <a:srgbClr val="344054"/>
                          </a:solidFill>
                          <a:latin typeface="Microsoft YaHei"/>
                          <a:ea typeface="Microsoft YaHei"/>
                          <a:cs typeface="Microsoft YaHei"/>
                        </a:rPr>
                        <a:t>AOD depth / waist σ</a:t>
                      </a:r>
                    </a:p>
                  </a:txBody>
                  <a:tcPr marL="91440" marR="91440" marT="45720" marB="45720" anchor="ctr">
                    <a:solidFill>
                      <a:srgbClr val="F8FAFC"/>
                    </a:solidFill>
                  </a:tcPr>
                </a:tc>
                <a:tc>
                  <a:txBody>
                    <a:bodyPr>
                      <a:noAutofit/>
                    </a:bodyPr>
                    <a:lstStyle/>
                    <a:p>
                      <a:pPr algn="l">
                        <a:buNone/>
                      </a:pPr>
                      <a:r>
                        <a:rPr sz="1050" b="0">
                          <a:solidFill>
                            <a:srgbClr val="344054"/>
                          </a:solidFill>
                          <a:latin typeface="Microsoft YaHei"/>
                          <a:ea typeface="Microsoft YaHei"/>
                          <a:cs typeface="Microsoft YaHei"/>
                        </a:rPr>
                        <a:t>2% / 2%</a:t>
                      </a:r>
                    </a:p>
                  </a:txBody>
                  <a:tcPr marL="91440" marR="91440" marT="45720" marB="45720" anchor="ctr">
                    <a:solidFill>
                      <a:srgbClr val="F8FAFC"/>
                    </a:solidFill>
                  </a:tcPr>
                </a:tc>
              </a:tr>
            </a:tbl>
          </a:graphicData>
        </a:graphic>
      </p:graphicFrame>
      <p:sp>
        <p:nvSpPr>
          <p:cNvPr id="9" name="">
            <a:extLst xmlns:a="http://schemas.openxmlformats.org/drawingml/2006/main">
              <a:ext uri="{FF2B5EF4-FFF2-40B4-BE49-F238E27FC236}">
                <a16:creationId xmlns:a16="http://schemas.microsoft.com/office/drawing/2014/main" id="{0AA64700-079A-4BCC-988D-A1C890A1E1A3}"/>
              </a:ext>
            </a:extLst>
          </p:cNvPr>
          <p:cNvSpPr>
            <a:spLocks xmlns:a="http://schemas.openxmlformats.org/drawingml/2006/main" noGrp="1"/>
          </p:cNvSpPr>
          <p:nvPr/>
        </p:nvSpPr>
        <p:spPr>
          <a:xfrm xmlns:a="http://schemas.openxmlformats.org/drawingml/2006/main">
            <a:off x="8077200" y="4629150"/>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75" b="1">
                <a:solidFill>
                  <a:srgbClr val="D92D20"/>
                </a:solidFill>
                <a:latin typeface="Microsoft YaHei"/>
                <a:ea typeface="Microsoft YaHei"/>
                <a:cs typeface="Microsoft YaHei"/>
              </a:defRPr>
            </a:pPr>
            <a:r>
              <a:rPr sz="1275" b="1">
                <a:solidFill>
                  <a:srgbClr val="D92D20"/>
                </a:solidFill>
                <a:latin typeface="Microsoft YaHei"/>
                <a:ea typeface="Microsoft YaHei"/>
                <a:cs typeface="Microsoft YaHei"/>
              </a:rPr>
              <a:t>主要发现</a:t>
            </a:r>
          </a:p>
        </p:txBody>
      </p:sp>
      <p:sp>
        <p:nvSpPr>
          <p:cNvPr id="10" name="">
            <a:extLst xmlns:a="http://schemas.openxmlformats.org/drawingml/2006/main">
              <a:ext uri="{FF2B5EF4-FFF2-40B4-BE49-F238E27FC236}">
                <a16:creationId xmlns:a16="http://schemas.microsoft.com/office/drawing/2014/main" id="{5128BEDA-94DE-469A-B046-833639981A3E}"/>
              </a:ext>
            </a:extLst>
          </p:cNvPr>
          <p:cNvSpPr>
            <a:spLocks xmlns:a="http://schemas.openxmlformats.org/drawingml/2006/main" noGrp="1"/>
          </p:cNvSpPr>
          <p:nvPr/>
        </p:nvSpPr>
        <p:spPr>
          <a:xfrm xmlns:a="http://schemas.openxmlformats.org/drawingml/2006/main">
            <a:off x="8077200" y="4914900"/>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013" b="0">
                <a:solidFill>
                  <a:srgbClr val="344054"/>
                </a:solidFill>
                <a:latin typeface="Microsoft YaHei"/>
                <a:ea typeface="Microsoft YaHei"/>
                <a:cs typeface="Microsoft YaHei"/>
              </a:defRPr>
            </a:pPr>
            <a:r>
              <a:rPr sz="1013" b="0">
                <a:solidFill>
                  <a:srgbClr val="344054"/>
                </a:solidFill>
                <a:latin typeface="Microsoft YaHei"/>
                <a:ea typeface="Microsoft YaHei"/>
                <a:cs typeface="Microsoft YaHei"/>
              </a:rPr>
              <a:t>Manual 400/600 均高于论文，说明默认模型的损失强度不足。</a:t>
            </a:r>
          </a:p>
        </p:txBody>
      </p:sp>
      <p:sp>
        <p:nvSpPr>
          <p:cNvPr id="11" name="">
            <a:extLst xmlns:a="http://schemas.openxmlformats.org/drawingml/2006/main">
              <a:ext uri="{FF2B5EF4-FFF2-40B4-BE49-F238E27FC236}">
                <a16:creationId xmlns:a16="http://schemas.microsoft.com/office/drawing/2014/main" id="{7A936192-DD91-414F-954E-831AF5C362A8}"/>
              </a:ext>
            </a:extLst>
          </p:cNvPr>
          <p:cNvSpPr>
            <a:spLocks xmlns:a="http://schemas.openxmlformats.org/drawingml/2006/main" noGrp="1"/>
          </p:cNvSpPr>
          <p:nvPr/>
        </p:nvSpPr>
        <p:spPr>
          <a:xfrm xmlns:a="http://schemas.openxmlformats.org/drawingml/2006/main">
            <a:off x="609600" y="5715000"/>
            <a:ext cx="10972800" cy="514350"/>
          </a:xfrm>
          <a:prstGeom xmlns:a="http://schemas.openxmlformats.org/drawingml/2006/main" prst="roundRect">
            <a:avLst>
              <a:gd name="adj" fmla="val 14815"/>
            </a:avLst>
          </a:prstGeom>
          <a:solidFill xmlns:a="http://schemas.openxmlformats.org/drawingml/2006/main">
            <a:srgbClr val="FFF6ED"/>
          </a:solidFill>
          <a:ln xmlns:a="http://schemas.openxmlformats.org/drawingml/2006/main" w="9525">
            <a:solidFill>
              <a:srgbClr val="FEDF89"/>
            </a:solidFill>
          </a:ln>
        </p:spPr>
      </p:sp>
      <p:sp>
        <p:nvSpPr>
          <p:cNvPr id="12" name="">
            <a:extLst xmlns:a="http://schemas.openxmlformats.org/drawingml/2006/main">
              <a:ext uri="{FF2B5EF4-FFF2-40B4-BE49-F238E27FC236}">
                <a16:creationId xmlns:a16="http://schemas.microsoft.com/office/drawing/2014/main" id="{B187583E-BEA6-43CD-93A5-6B6492D0113A}"/>
              </a:ext>
            </a:extLst>
          </p:cNvPr>
          <p:cNvSpPr>
            <a:spLocks xmlns:a="http://schemas.openxmlformats.org/drawingml/2006/main" noGrp="1"/>
          </p:cNvSpPr>
          <p:nvPr/>
        </p:nvSpPr>
        <p:spPr>
          <a:xfrm xmlns:a="http://schemas.openxmlformats.org/drawingml/2006/main">
            <a:off x="838200" y="583882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75" b="1">
                <a:solidFill>
                  <a:srgbClr val="F79009"/>
                </a:solidFill>
                <a:latin typeface="Microsoft YaHei"/>
                <a:ea typeface="Microsoft YaHei"/>
                <a:cs typeface="Microsoft YaHei"/>
              </a:defRPr>
            </a:pPr>
            <a:r>
              <a:rPr sz="1275" b="1">
                <a:solidFill>
                  <a:srgbClr val="F79009"/>
                </a:solidFill>
                <a:latin typeface="Microsoft YaHei"/>
                <a:ea typeface="Microsoft YaHei"/>
                <a:cs typeface="Microsoft YaHei"/>
              </a:rPr>
              <a:t>Baseline 是仓库默认参考点，不是实验标定值，也不是通过验收的最佳拟合配置。</a:t>
            </a:r>
          </a:p>
        </p:txBody>
      </p:sp>
      <p:sp>
        <p:nvSpPr>
          <p:cNvPr id="13" name="">
            <a:extLst xmlns:a="http://schemas.openxmlformats.org/drawingml/2006/main">
              <a:ext uri="{FF2B5EF4-FFF2-40B4-BE49-F238E27FC236}">
                <a16:creationId xmlns:a16="http://schemas.microsoft.com/office/drawing/2014/main" id="{164C1171-D5AF-4BC1-AAAE-4EA3778F6FBC}"/>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4" name="">
            <a:extLst xmlns:a="http://schemas.openxmlformats.org/drawingml/2006/main">
              <a:ext uri="{FF2B5EF4-FFF2-40B4-BE49-F238E27FC236}">
                <a16:creationId xmlns:a16="http://schemas.microsoft.com/office/drawing/2014/main" id="{F0E27553-45D9-4B89-8001-3C28CC14AE54}"/>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demo/survival_scan_results.csv · paper monotone reference</a:t>
            </a:r>
          </a:p>
        </p:txBody>
      </p:sp>
      <p:sp>
        <p:nvSpPr>
          <p:cNvPr id="15" name="">
            <a:extLst xmlns:a="http://schemas.openxmlformats.org/drawingml/2006/main">
              <a:ext uri="{FF2B5EF4-FFF2-40B4-BE49-F238E27FC236}">
                <a16:creationId xmlns:a16="http://schemas.microsoft.com/office/drawing/2014/main" id="{4414A20D-CD7E-43B2-BA32-6703E9A4B457}"/>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09</a:t>
            </a:r>
          </a:p>
        </p:txBody>
      </p:sp>
    </p:spTree>
    <p:extLst>
      <p:ext uri="{BB962C8B-B14F-4D97-AF65-F5344CB8AC3E}">
        <p14:creationId xmlns:p14="http://schemas.microsoft.com/office/powerpoint/2010/main" val="613686594"/>
      </p:ext>
    </p:extLst>
  </p:cSld>
</p:sld>
</file>

<file path=ppt/slides/slide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403CAE9-EDC5-43FE-AD22-49674E2FE9BE}"/>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08</a:t>
            </a:r>
          </a:p>
        </p:txBody>
      </p:sp>
      <p:sp>
        <p:nvSpPr>
          <p:cNvPr id="2" name="">
            <a:extLst xmlns:a="http://schemas.openxmlformats.org/drawingml/2006/main">
              <a:ext uri="{FF2B5EF4-FFF2-40B4-BE49-F238E27FC236}">
                <a16:creationId xmlns:a16="http://schemas.microsoft.com/office/drawing/2014/main" id="{9CB5FC15-5DFC-4790-B221-1C62AA0B0B6A}"/>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历史参数扫描设计与复核</a:t>
            </a:r>
          </a:p>
        </p:txBody>
      </p:sp>
      <p:sp>
        <p:nvSpPr>
          <p:cNvPr id="3" name="">
            <a:extLst xmlns:a="http://schemas.openxmlformats.org/drawingml/2006/main">
              <a:ext uri="{FF2B5EF4-FFF2-40B4-BE49-F238E27FC236}">
                <a16:creationId xmlns:a16="http://schemas.microsoft.com/office/drawing/2014/main" id="{92D05030-28AB-4DE2-BA65-45960729EBB4}"/>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5F33ABEB-8802-478A-A3BD-F43CEA8A7410}"/>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复核：温度扫描同时改变默认参量加热参考能量，不能视为纯初温效应</a:t>
            </a:r>
          </a:p>
        </p:txBody>
      </p:sp>
      <p:graphicFrame>
        <p:nvGraphicFramePr>
          <p:cNvPr id="18" name=""/>
          <p:cNvGraphicFramePr/>
          <p:nvPr/>
        </p:nvGraphicFramePr>
        <p:xfrm>
          <a:off xmlns:a="http://schemas.openxmlformats.org/drawingml/2006/main" x="609600" y="1352550"/>
          <a:ext xmlns:a="http://schemas.openxmlformats.org/drawingml/2006/main" cx="10972800" cy="2647950"/>
        </p:xfrm>
        <a:graphic xmlns:a="http://schemas.openxmlformats.org/drawingml/2006/main">
          <a:graphicData uri="http://schemas.openxmlformats.org/drawingml/2006/table">
            <a:tbl>
              <a:tblPr/>
              <a:tblGrid>
                <a:gridCol w="1976467"/>
                <a:gridCol w="1976467"/>
                <a:gridCol w="2862470"/>
                <a:gridCol w="4157396"/>
              </a:tblGrid>
              <a:tr h="529590">
                <a:tc>
                  <a:txBody>
                    <a:bodyPr>
                      <a:noAutofit/>
                    </a:bodyPr>
                    <a:lstStyle/>
                    <a:p>
                      <a:pPr algn="l">
                        <a:buNone/>
                      </a:pPr>
                      <a:r>
                        <a:rPr sz="1050" b="1">
                          <a:solidFill>
                            <a:srgbClr val="FFFFFF"/>
                          </a:solidFill>
                          <a:latin typeface="Microsoft YaHei"/>
                          <a:ea typeface="Microsoft YaHei"/>
                          <a:cs typeface="Microsoft YaHei"/>
                        </a:rPr>
                        <a:t>Parameter</a:t>
                      </a:r>
                    </a:p>
                  </a:txBody>
                  <a:tcPr marL="91440" marR="91440" marT="45720" marB="45720" anchor="ctr">
                    <a:solidFill>
                      <a:srgbClr val="102A43"/>
                    </a:solidFill>
                  </a:tcPr>
                </a:tc>
                <a:tc>
                  <a:txBody>
                    <a:bodyPr>
                      <a:noAutofit/>
                    </a:bodyPr>
                    <a:lstStyle/>
                    <a:p>
                      <a:pPr algn="l">
                        <a:buNone/>
                      </a:pPr>
                      <a:r>
                        <a:rPr sz="1050" b="1">
                          <a:solidFill>
                            <a:srgbClr val="FFFFFF"/>
                          </a:solidFill>
                          <a:latin typeface="Microsoft YaHei"/>
                          <a:ea typeface="Microsoft YaHei"/>
                          <a:cs typeface="Microsoft YaHei"/>
                        </a:rPr>
                        <a:t>Baseline</a:t>
                      </a:r>
                    </a:p>
                  </a:txBody>
                  <a:tcPr marL="91440" marR="91440" marT="45720" marB="45720" anchor="ctr">
                    <a:solidFill>
                      <a:srgbClr val="102A43"/>
                    </a:solidFill>
                  </a:tcPr>
                </a:tc>
                <a:tc>
                  <a:txBody>
                    <a:bodyPr>
                      <a:noAutofit/>
                    </a:bodyPr>
                    <a:lstStyle/>
                    <a:p>
                      <a:pPr algn="l">
                        <a:buNone/>
                      </a:pPr>
                      <a:r>
                        <a:rPr sz="1050" b="1">
                          <a:solidFill>
                            <a:srgbClr val="FFFFFF"/>
                          </a:solidFill>
                          <a:latin typeface="Microsoft YaHei"/>
                          <a:ea typeface="Microsoft YaHei"/>
                          <a:cs typeface="Microsoft YaHei"/>
                        </a:rPr>
                        <a:t>Scan values</a:t>
                      </a:r>
                    </a:p>
                  </a:txBody>
                  <a:tcPr marL="91440" marR="91440" marT="45720" marB="45720" anchor="ctr">
                    <a:solidFill>
                      <a:srgbClr val="102A43"/>
                    </a:solidFill>
                  </a:tcPr>
                </a:tc>
                <a:tc>
                  <a:txBody>
                    <a:bodyPr>
                      <a:noAutofit/>
                    </a:bodyPr>
                    <a:lstStyle/>
                    <a:p>
                      <a:pPr algn="l">
                        <a:buNone/>
                      </a:pPr>
                      <a:r>
                        <a:rPr sz="1050" b="1">
                          <a:solidFill>
                            <a:srgbClr val="FFFFFF"/>
                          </a:solidFill>
                          <a:latin typeface="Microsoft YaHei"/>
                          <a:ea typeface="Microsoft YaHei"/>
                          <a:cs typeface="Microsoft YaHei"/>
                        </a:rPr>
                        <a:t>What the scan tests</a:t>
                      </a:r>
                    </a:p>
                  </a:txBody>
                  <a:tcPr marL="91440" marR="91440" marT="45720" marB="45720" anchor="ctr">
                    <a:solidFill>
                      <a:srgbClr val="102A43"/>
                    </a:solidFill>
                  </a:tcPr>
                </a:tc>
              </a:tr>
              <a:tr h="529590">
                <a:tc>
                  <a:txBody>
                    <a:bodyPr>
                      <a:noAutofit/>
                    </a:bodyPr>
                    <a:lstStyle/>
                    <a:p>
                      <a:pPr algn="l">
                        <a:buNone/>
                      </a:pPr>
                      <a:r>
                        <a:rPr sz="1125" b="0">
                          <a:solidFill>
                            <a:srgbClr val="344054"/>
                          </a:solidFill>
                          <a:latin typeface="Microsoft YaHei"/>
                          <a:ea typeface="Microsoft YaHei"/>
                          <a:cs typeface="Microsoft YaHei"/>
                        </a:rPr>
                        <a:t>Initial T</a:t>
                      </a:r>
                    </a:p>
                  </a:txBody>
                  <a:tcPr marL="91440" marR="91440" marT="45720" marB="45720" anchor="ctr">
                    <a:solidFill>
                      <a:srgbClr val="FFFFFF"/>
                    </a:solidFill>
                  </a:tcPr>
                </a:tc>
                <a:tc>
                  <a:txBody>
                    <a:bodyPr>
                      <a:noAutofit/>
                    </a:bodyPr>
                    <a:lstStyle/>
                    <a:p>
                      <a:pPr algn="l">
                        <a:buNone/>
                      </a:pPr>
                      <a:r>
                        <a:rPr sz="1125" b="0">
                          <a:solidFill>
                            <a:srgbClr val="344054"/>
                          </a:solidFill>
                          <a:latin typeface="Microsoft YaHei"/>
                          <a:ea typeface="Microsoft YaHei"/>
                          <a:cs typeface="Microsoft YaHei"/>
                        </a:rPr>
                        <a:t>5 µK</a:t>
                      </a:r>
                    </a:p>
                  </a:txBody>
                  <a:tcPr marL="91440" marR="91440" marT="45720" marB="45720" anchor="ctr">
                    <a:solidFill>
                      <a:srgbClr val="FFFFFF"/>
                    </a:solidFill>
                  </a:tcPr>
                </a:tc>
                <a:tc>
                  <a:txBody>
                    <a:bodyPr>
                      <a:noAutofit/>
                    </a:bodyPr>
                    <a:lstStyle/>
                    <a:p>
                      <a:pPr algn="l">
                        <a:buNone/>
                      </a:pPr>
                      <a:r>
                        <a:rPr sz="1125" b="0">
                          <a:solidFill>
                            <a:srgbClr val="344054"/>
                          </a:solidFill>
                          <a:latin typeface="Microsoft YaHei"/>
                          <a:ea typeface="Microsoft YaHei"/>
                          <a:cs typeface="Microsoft YaHei"/>
                        </a:rPr>
                        <a:t>10 / 20 / 30 / 40 µK</a:t>
                      </a:r>
                    </a:p>
                  </a:txBody>
                  <a:tcPr marL="91440" marR="91440" marT="45720" marB="45720" anchor="ctr">
                    <a:solidFill>
                      <a:srgbClr val="FFFFFF"/>
                    </a:solidFill>
                  </a:tcPr>
                </a:tc>
                <a:tc>
                  <a:txBody>
                    <a:bodyPr>
                      <a:noAutofit/>
                    </a:bodyPr>
                    <a:lstStyle/>
                    <a:p>
                      <a:pPr algn="l">
                        <a:buNone/>
                      </a:pPr>
                      <a:r>
                        <a:rPr sz="1125" b="0">
                          <a:solidFill>
                            <a:srgbClr val="344054"/>
                          </a:solidFill>
                          <a:latin typeface="Microsoft YaHei"/>
                          <a:ea typeface="Microsoft YaHei"/>
                          <a:cs typeface="Microsoft YaHei"/>
                        </a:rPr>
                        <a:t>初始能量分布是否靠近逃逸阈值</a:t>
                      </a:r>
                    </a:p>
                  </a:txBody>
                  <a:tcPr marL="91440" marR="91440" marT="45720" marB="45720" anchor="ctr">
                    <a:solidFill>
                      <a:srgbClr val="FFFFFF"/>
                    </a:solidFill>
                  </a:tcPr>
                </a:tc>
              </a:tr>
              <a:tr h="529590">
                <a:tc>
                  <a:txBody>
                    <a:bodyPr>
                      <a:noAutofit/>
                    </a:bodyPr>
                    <a:lstStyle/>
                    <a:p>
                      <a:pPr algn="l">
                        <a:buNone/>
                      </a:pPr>
                      <a:r>
                        <a:rPr sz="1125" b="0">
                          <a:solidFill>
                            <a:srgbClr val="344054"/>
                          </a:solidFill>
                          <a:latin typeface="Microsoft YaHei"/>
                          <a:ea typeface="Microsoft YaHei"/>
                          <a:cs typeface="Microsoft YaHei"/>
                        </a:rPr>
                        <a:t>RIN PSD</a:t>
                      </a:r>
                    </a:p>
                  </a:txBody>
                  <a:tcPr marL="91440" marR="91440" marT="45720" marB="45720" anchor="ctr">
                    <a:solidFill>
                      <a:srgbClr val="F8FAFC"/>
                    </a:solidFill>
                  </a:tcPr>
                </a:tc>
                <a:tc>
                  <a:txBody>
                    <a:bodyPr>
                      <a:noAutofit/>
                    </a:bodyPr>
                    <a:lstStyle/>
                    <a:p>
                      <a:pPr algn="l">
                        <a:buNone/>
                      </a:pPr>
                      <a:r>
                        <a:rPr sz="1125" b="0">
                          <a:solidFill>
                            <a:srgbClr val="344054"/>
                          </a:solidFill>
                          <a:latin typeface="Microsoft YaHei"/>
                          <a:ea typeface="Microsoft YaHei"/>
                          <a:cs typeface="Microsoft YaHei"/>
                        </a:rPr>
                        <a:t>1×10⁻⁸ Hz⁻¹</a:t>
                      </a:r>
                    </a:p>
                  </a:txBody>
                  <a:tcPr marL="91440" marR="91440" marT="45720" marB="45720" anchor="ctr">
                    <a:solidFill>
                      <a:srgbClr val="F8FAFC"/>
                    </a:solidFill>
                  </a:tcPr>
                </a:tc>
                <a:tc>
                  <a:txBody>
                    <a:bodyPr>
                      <a:noAutofit/>
                    </a:bodyPr>
                    <a:lstStyle/>
                    <a:p>
                      <a:pPr algn="l">
                        <a:buNone/>
                      </a:pPr>
                      <a:r>
                        <a:rPr sz="1125" b="0">
                          <a:solidFill>
                            <a:srgbClr val="344054"/>
                          </a:solidFill>
                          <a:latin typeface="Microsoft YaHei"/>
                          <a:ea typeface="Microsoft YaHei"/>
                          <a:cs typeface="Microsoft YaHei"/>
                        </a:rPr>
                        <a:t>1×10⁻⁷ / 3×10⁻⁷ Hz⁻¹</a:t>
                      </a:r>
                    </a:p>
                  </a:txBody>
                  <a:tcPr marL="91440" marR="91440" marT="45720" marB="45720" anchor="ctr">
                    <a:solidFill>
                      <a:srgbClr val="F8FAFC"/>
                    </a:solidFill>
                  </a:tcPr>
                </a:tc>
                <a:tc>
                  <a:txBody>
                    <a:bodyPr>
                      <a:noAutofit/>
                    </a:bodyPr>
                    <a:lstStyle/>
                    <a:p>
                      <a:pPr algn="l">
                        <a:buNone/>
                      </a:pPr>
                      <a:r>
                        <a:rPr sz="1125" b="0">
                          <a:solidFill>
                            <a:srgbClr val="344054"/>
                          </a:solidFill>
                          <a:latin typeface="Microsoft YaHei"/>
                          <a:ea typeface="Microsoft YaHei"/>
                          <a:cs typeface="Microsoft YaHei"/>
                        </a:rPr>
                        <a:t>传播过程中的平均参量加热</a:t>
                      </a:r>
                    </a:p>
                  </a:txBody>
                  <a:tcPr marL="91440" marR="91440" marT="45720" marB="45720" anchor="ctr">
                    <a:solidFill>
                      <a:srgbClr val="F8FAFC"/>
                    </a:solidFill>
                  </a:tcPr>
                </a:tc>
              </a:tr>
              <a:tr h="529590">
                <a:tc>
                  <a:txBody>
                    <a:bodyPr>
                      <a:noAutofit/>
                    </a:bodyPr>
                    <a:lstStyle/>
                    <a:p>
                      <a:pPr algn="l">
                        <a:buNone/>
                      </a:pPr>
                      <a:r>
                        <a:rPr sz="1125" b="0">
                          <a:solidFill>
                            <a:srgbClr val="344054"/>
                          </a:solidFill>
                          <a:latin typeface="Microsoft YaHei"/>
                          <a:ea typeface="Microsoft YaHei"/>
                          <a:cs typeface="Microsoft YaHei"/>
                        </a:rPr>
                        <a:t>Static alignment σ</a:t>
                      </a:r>
                    </a:p>
                  </a:txBody>
                  <a:tcPr marL="91440" marR="91440" marT="45720" marB="45720" anchor="ctr">
                    <a:solidFill>
                      <a:srgbClr val="FFFFFF"/>
                    </a:solidFill>
                  </a:tcPr>
                </a:tc>
                <a:tc>
                  <a:txBody>
                    <a:bodyPr>
                      <a:noAutofit/>
                    </a:bodyPr>
                    <a:lstStyle/>
                    <a:p>
                      <a:pPr algn="l">
                        <a:buNone/>
                      </a:pPr>
                      <a:r>
                        <a:rPr sz="1125" b="0">
                          <a:solidFill>
                            <a:srgbClr val="344054"/>
                          </a:solidFill>
                          <a:latin typeface="Microsoft YaHei"/>
                          <a:ea typeface="Microsoft YaHei"/>
                          <a:cs typeface="Microsoft YaHei"/>
                        </a:rPr>
                        <a:t>0.05 µm</a:t>
                      </a:r>
                    </a:p>
                  </a:txBody>
                  <a:tcPr marL="91440" marR="91440" marT="45720" marB="45720" anchor="ctr">
                    <a:solidFill>
                      <a:srgbClr val="FFFFFF"/>
                    </a:solidFill>
                  </a:tcPr>
                </a:tc>
                <a:tc>
                  <a:txBody>
                    <a:bodyPr>
                      <a:noAutofit/>
                    </a:bodyPr>
                    <a:lstStyle/>
                    <a:p>
                      <a:pPr algn="l">
                        <a:buNone/>
                      </a:pPr>
                      <a:r>
                        <a:rPr sz="1125" b="0">
                          <a:solidFill>
                            <a:srgbClr val="344054"/>
                          </a:solidFill>
                          <a:latin typeface="Microsoft YaHei"/>
                          <a:ea typeface="Microsoft YaHei"/>
                          <a:cs typeface="Microsoft YaHei"/>
                        </a:rPr>
                        <a:t>0.15 / 0.30 µm</a:t>
                      </a:r>
                    </a:p>
                  </a:txBody>
                  <a:tcPr marL="91440" marR="91440" marT="45720" marB="45720" anchor="ctr">
                    <a:solidFill>
                      <a:srgbClr val="FFFFFF"/>
                    </a:solidFill>
                  </a:tcPr>
                </a:tc>
                <a:tc>
                  <a:txBody>
                    <a:bodyPr>
                      <a:noAutofit/>
                    </a:bodyPr>
                    <a:lstStyle/>
                    <a:p>
                      <a:pPr algn="l">
                        <a:buNone/>
                      </a:pPr>
                      <a:r>
                        <a:rPr sz="1125" b="0">
                          <a:solidFill>
                            <a:srgbClr val="344054"/>
                          </a:solidFill>
                          <a:latin typeface="Microsoft YaHei"/>
                          <a:ea typeface="Microsoft YaHei"/>
                          <a:cs typeface="Microsoft YaHei"/>
                        </a:rPr>
                        <a:t>全程固定的 AOD–SLM 中心失配</a:t>
                      </a:r>
                    </a:p>
                  </a:txBody>
                  <a:tcPr marL="91440" marR="91440" marT="45720" marB="45720" anchor="ctr">
                    <a:solidFill>
                      <a:srgbClr val="FFFFFF"/>
                    </a:solidFill>
                  </a:tcPr>
                </a:tc>
              </a:tr>
              <a:tr h="529590">
                <a:tc>
                  <a:txBody>
                    <a:bodyPr>
                      <a:noAutofit/>
                    </a:bodyPr>
                    <a:lstStyle/>
                    <a:p>
                      <a:pPr algn="l">
                        <a:buNone/>
                      </a:pPr>
                      <a:r>
                        <a:rPr sz="1125" b="0">
                          <a:solidFill>
                            <a:srgbClr val="344054"/>
                          </a:solidFill>
                          <a:latin typeface="Microsoft YaHei"/>
                          <a:ea typeface="Microsoft YaHei"/>
                          <a:cs typeface="Microsoft YaHei"/>
                        </a:rPr>
                        <a:t>Leg-wise jitter σ</a:t>
                      </a:r>
                    </a:p>
                  </a:txBody>
                  <a:tcPr marL="91440" marR="91440" marT="45720" marB="45720" anchor="ctr">
                    <a:solidFill>
                      <a:srgbClr val="F8FAFC"/>
                    </a:solidFill>
                  </a:tcPr>
                </a:tc>
                <a:tc>
                  <a:txBody>
                    <a:bodyPr>
                      <a:noAutofit/>
                    </a:bodyPr>
                    <a:lstStyle/>
                    <a:p>
                      <a:pPr algn="l">
                        <a:buNone/>
                      </a:pPr>
                      <a:r>
                        <a:rPr sz="1125" b="0">
                          <a:solidFill>
                            <a:srgbClr val="344054"/>
                          </a:solidFill>
                          <a:latin typeface="Microsoft YaHei"/>
                          <a:ea typeface="Microsoft YaHei"/>
                          <a:cs typeface="Microsoft YaHei"/>
                        </a:rPr>
                        <a:t>0.01 µm</a:t>
                      </a:r>
                    </a:p>
                  </a:txBody>
                  <a:tcPr marL="91440" marR="91440" marT="45720" marB="45720" anchor="ctr">
                    <a:solidFill>
                      <a:srgbClr val="F8FAFC"/>
                    </a:solidFill>
                  </a:tcPr>
                </a:tc>
                <a:tc>
                  <a:txBody>
                    <a:bodyPr>
                      <a:noAutofit/>
                    </a:bodyPr>
                    <a:lstStyle/>
                    <a:p>
                      <a:pPr algn="l">
                        <a:buNone/>
                      </a:pPr>
                      <a:r>
                        <a:rPr sz="1125" b="0">
                          <a:solidFill>
                            <a:srgbClr val="344054"/>
                          </a:solidFill>
                          <a:latin typeface="Microsoft YaHei"/>
                          <a:ea typeface="Microsoft YaHei"/>
                          <a:cs typeface="Microsoft YaHei"/>
                        </a:rPr>
                        <a:t>0.03 / 0.10 µm</a:t>
                      </a:r>
                    </a:p>
                  </a:txBody>
                  <a:tcPr marL="91440" marR="91440" marT="45720" marB="45720" anchor="ctr">
                    <a:solidFill>
                      <a:srgbClr val="F8FAFC"/>
                    </a:solidFill>
                  </a:tcPr>
                </a:tc>
                <a:tc>
                  <a:txBody>
                    <a:bodyPr>
                      <a:noAutofit/>
                    </a:bodyPr>
                    <a:lstStyle/>
                    <a:p>
                      <a:pPr algn="l">
                        <a:buNone/>
                      </a:pPr>
                      <a:r>
                        <a:rPr sz="1125" b="0">
                          <a:solidFill>
                            <a:srgbClr val="344054"/>
                          </a:solidFill>
                          <a:latin typeface="Microsoft YaHei"/>
                          <a:ea typeface="Microsoft YaHei"/>
                          <a:cs typeface="Microsoft YaHei"/>
                        </a:rPr>
                        <a:t>每个阶段重新抽样的对准扰动</a:t>
                      </a:r>
                    </a:p>
                  </a:txBody>
                  <a:tcPr marL="91440" marR="91440" marT="45720" marB="45720" anchor="ctr">
                    <a:solidFill>
                      <a:srgbClr val="F8FAFC"/>
                    </a:solidFill>
                  </a:tcPr>
                </a:tc>
              </a:tr>
            </a:tbl>
          </a:graphicData>
        </a:graphic>
      </p:graphicFrame>
      <p:sp>
        <p:nvSpPr>
          <p:cNvPr id="6" name="">
            <a:extLst xmlns:a="http://schemas.openxmlformats.org/drawingml/2006/main">
              <a:ext uri="{FF2B5EF4-FFF2-40B4-BE49-F238E27FC236}">
                <a16:creationId xmlns:a16="http://schemas.microsoft.com/office/drawing/2014/main" id="{1787D1A6-F01A-44A3-B8A1-766152F3AA25}"/>
              </a:ext>
            </a:extLst>
          </p:cNvPr>
          <p:cNvSpPr>
            <a:spLocks xmlns:a="http://schemas.openxmlformats.org/drawingml/2006/main" noGrp="1"/>
          </p:cNvSpPr>
          <p:nvPr/>
        </p:nvSpPr>
        <p:spPr>
          <a:xfrm xmlns:a="http://schemas.openxmlformats.org/drawingml/2006/main">
            <a:off x="609600" y="43243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75" b="1">
                <a:solidFill>
                  <a:srgbClr val="102A43"/>
                </a:solidFill>
                <a:latin typeface="Microsoft YaHei"/>
                <a:ea typeface="Microsoft YaHei"/>
                <a:cs typeface="Microsoft YaHei"/>
              </a:defRPr>
            </a:pPr>
            <a:r>
              <a:rPr sz="1575" b="1">
                <a:solidFill>
                  <a:srgbClr val="102A43"/>
                </a:solidFill>
                <a:latin typeface="Microsoft YaHei"/>
                <a:ea typeface="Microsoft YaHei"/>
                <a:cs typeface="Microsoft YaHei"/>
              </a:rPr>
              <a:t>所有场景保持不变的量</a:t>
            </a:r>
          </a:p>
        </p:txBody>
      </p:sp>
      <p:graphicFrame>
        <p:nvGraphicFramePr>
          <p:cNvPr id="20" name=""/>
          <p:cNvGraphicFramePr/>
          <p:nvPr/>
        </p:nvGraphicFramePr>
        <p:xfrm>
          <a:off xmlns:a="http://schemas.openxmlformats.org/drawingml/2006/main" x="609600" y="4724400"/>
          <a:ext xmlns:a="http://schemas.openxmlformats.org/drawingml/2006/main" cx="10972800" cy="1428750"/>
        </p:xfrm>
        <a:graphic xmlns:a="http://schemas.openxmlformats.org/drawingml/2006/main">
          <a:graphicData uri="http://schemas.openxmlformats.org/drawingml/2006/table">
            <a:tbl>
              <a:tblPr/>
              <a:tblGrid>
                <a:gridCol w="2116183"/>
                <a:gridCol w="5094514"/>
                <a:gridCol w="3762103"/>
              </a:tblGrid>
              <a:tr h="285750">
                <a:tc>
                  <a:txBody>
                    <a:bodyPr>
                      <a:noAutofit/>
                    </a:bodyPr>
                    <a:lstStyle/>
                    <a:p>
                      <a:pPr algn="l">
                        <a:buNone/>
                      </a:pPr>
                      <a:r>
                        <a:rPr sz="1050" b="1">
                          <a:solidFill>
                            <a:srgbClr val="FFFFFF"/>
                          </a:solidFill>
                          <a:latin typeface="Microsoft YaHei"/>
                          <a:ea typeface="Microsoft YaHei"/>
                          <a:cs typeface="Microsoft YaHei"/>
                        </a:rPr>
                        <a:t>Control</a:t>
                      </a:r>
                    </a:p>
                  </a:txBody>
                  <a:tcPr marL="91440" marR="91440" marT="45720" marB="45720" anchor="ctr">
                    <a:solidFill>
                      <a:srgbClr val="102A43"/>
                    </a:solidFill>
                  </a:tcPr>
                </a:tc>
                <a:tc>
                  <a:txBody>
                    <a:bodyPr>
                      <a:noAutofit/>
                    </a:bodyPr>
                    <a:lstStyle/>
                    <a:p>
                      <a:pPr algn="l">
                        <a:buNone/>
                      </a:pPr>
                      <a:r>
                        <a:rPr sz="1050" b="1">
                          <a:solidFill>
                            <a:srgbClr val="FFFFFF"/>
                          </a:solidFill>
                          <a:latin typeface="Microsoft YaHei"/>
                          <a:ea typeface="Microsoft YaHei"/>
                          <a:cs typeface="Microsoft YaHei"/>
                        </a:rPr>
                        <a:t>Fixed value</a:t>
                      </a:r>
                    </a:p>
                  </a:txBody>
                  <a:tcPr marL="91440" marR="91440" marT="45720" marB="45720" anchor="ctr">
                    <a:solidFill>
                      <a:srgbClr val="102A43"/>
                    </a:solidFill>
                  </a:tcPr>
                </a:tc>
                <a:tc>
                  <a:txBody>
                    <a:bodyPr>
                      <a:noAutofit/>
                    </a:bodyPr>
                    <a:lstStyle/>
                    <a:p>
                      <a:pPr algn="l">
                        <a:buNone/>
                      </a:pPr>
                      <a:r>
                        <a:rPr sz="1050" b="1">
                          <a:solidFill>
                            <a:srgbClr val="FFFFFF"/>
                          </a:solidFill>
                          <a:latin typeface="Microsoft YaHei"/>
                          <a:ea typeface="Microsoft YaHei"/>
                          <a:cs typeface="Microsoft YaHei"/>
                        </a:rPr>
                        <a:t>Reason</a:t>
                      </a:r>
                    </a:p>
                  </a:txBody>
                  <a:tcPr marL="91440" marR="91440" marT="45720" marB="45720" anchor="ctr">
                    <a:solidFill>
                      <a:srgbClr val="102A43"/>
                    </a:solidFill>
                  </a:tcPr>
                </a:tc>
              </a:tr>
              <a:tr h="285750">
                <a:tc>
                  <a:txBody>
                    <a:bodyPr>
                      <a:noAutofit/>
                    </a:bodyPr>
                    <a:lstStyle/>
                    <a:p>
                      <a:pPr algn="l">
                        <a:buNone/>
                      </a:pPr>
                      <a:r>
                        <a:rPr sz="1050" b="0">
                          <a:solidFill>
                            <a:srgbClr val="344054"/>
                          </a:solidFill>
                          <a:latin typeface="Microsoft YaHei"/>
                          <a:ea typeface="Microsoft YaHei"/>
                          <a:cs typeface="Microsoft YaHei"/>
                        </a:rPr>
                        <a:t>Trap geometry</a:t>
                      </a:r>
                    </a:p>
                  </a:txBody>
                  <a:tcPr marL="91440" marR="91440" marT="45720" marB="45720" anchor="ctr">
                    <a:solidFill>
                      <a:srgbClr val="FFFFFF"/>
                    </a:solidFill>
                  </a:tcPr>
                </a:tc>
                <a:tc>
                  <a:txBody>
                    <a:bodyPr>
                      <a:noAutofit/>
                    </a:bodyPr>
                    <a:lstStyle/>
                    <a:p>
                      <a:pPr algn="l">
                        <a:buNone/>
                      </a:pPr>
                      <a:r>
                        <a:rPr sz="1050" b="0">
                          <a:solidFill>
                            <a:srgbClr val="344054"/>
                          </a:solidFill>
                          <a:latin typeface="Microsoft YaHei"/>
                          <a:ea typeface="Microsoft YaHei"/>
                          <a:cs typeface="Microsoft YaHei"/>
                        </a:rPr>
                        <a:t>SLM 140 µK, AOD 280 µK, w=1.17 µm, d=2.4 µm</a:t>
                      </a:r>
                    </a:p>
                  </a:txBody>
                  <a:tcPr marL="91440" marR="91440" marT="45720" marB="45720" anchor="ctr">
                    <a:solidFill>
                      <a:srgbClr val="FFFFFF"/>
                    </a:solidFill>
                  </a:tcPr>
                </a:tc>
                <a:tc>
                  <a:txBody>
                    <a:bodyPr>
                      <a:noAutofit/>
                    </a:bodyPr>
                    <a:lstStyle/>
                    <a:p>
                      <a:pPr algn="l">
                        <a:buNone/>
                      </a:pPr>
                      <a:r>
                        <a:rPr sz="1050" b="0">
                          <a:solidFill>
                            <a:srgbClr val="344054"/>
                          </a:solidFill>
                          <a:latin typeface="Microsoft YaHei"/>
                          <a:ea typeface="Microsoft YaHei"/>
                          <a:cs typeface="Microsoft YaHei"/>
                        </a:rPr>
                        <a:t>避免同时改变势能尺度</a:t>
                      </a:r>
                    </a:p>
                  </a:txBody>
                  <a:tcPr marL="91440" marR="91440" marT="45720" marB="45720" anchor="ctr">
                    <a:solidFill>
                      <a:srgbClr val="FFFFFF"/>
                    </a:solidFill>
                  </a:tcPr>
                </a:tc>
              </a:tr>
              <a:tr h="285750">
                <a:tc>
                  <a:txBody>
                    <a:bodyPr>
                      <a:noAutofit/>
                    </a:bodyPr>
                    <a:lstStyle/>
                    <a:p>
                      <a:pPr algn="l">
                        <a:buNone/>
                      </a:pPr>
                      <a:r>
                        <a:rPr sz="1050" b="0">
                          <a:solidFill>
                            <a:srgbClr val="344054"/>
                          </a:solidFill>
                          <a:latin typeface="Microsoft YaHei"/>
                          <a:ea typeface="Microsoft YaHei"/>
                          <a:cs typeface="Microsoft YaHei"/>
                        </a:rPr>
                        <a:t>Numerics</a:t>
                      </a:r>
                    </a:p>
                  </a:txBody>
                  <a:tcPr marL="91440" marR="91440" marT="45720" marB="45720" anchor="ctr">
                    <a:solidFill>
                      <a:srgbClr val="F8FAFC"/>
                    </a:solidFill>
                  </a:tcPr>
                </a:tc>
                <a:tc>
                  <a:txBody>
                    <a:bodyPr>
                      <a:noAutofit/>
                    </a:bodyPr>
                    <a:lstStyle/>
                    <a:p>
                      <a:pPr algn="l">
                        <a:buNone/>
                      </a:pPr>
                      <a:r>
                        <a:rPr sz="1050" b="0">
                          <a:solidFill>
                            <a:srgbClr val="344054"/>
                          </a:solidFill>
                          <a:latin typeface="Microsoft YaHei"/>
                          <a:ea typeface="Microsoft YaHei"/>
                          <a:cs typeface="Microsoft YaHei"/>
                        </a:rPr>
                        <a:t>dt=0.05 µs, 256 shots</a:t>
                      </a:r>
                    </a:p>
                  </a:txBody>
                  <a:tcPr marL="91440" marR="91440" marT="45720" marB="45720" anchor="ctr">
                    <a:solidFill>
                      <a:srgbClr val="F8FAFC"/>
                    </a:solidFill>
                  </a:tcPr>
                </a:tc>
                <a:tc>
                  <a:txBody>
                    <a:bodyPr>
                      <a:noAutofit/>
                    </a:bodyPr>
                    <a:lstStyle/>
                    <a:p>
                      <a:pPr algn="l">
                        <a:buNone/>
                      </a:pPr>
                      <a:r>
                        <a:rPr sz="1050" b="0">
                          <a:solidFill>
                            <a:srgbClr val="344054"/>
                          </a:solidFill>
                          <a:latin typeface="Microsoft YaHei"/>
                          <a:ea typeface="Microsoft YaHei"/>
                          <a:cs typeface="Microsoft YaHei"/>
                        </a:rPr>
                        <a:t>保持统计和离散化口径</a:t>
                      </a:r>
                    </a:p>
                  </a:txBody>
                  <a:tcPr marL="91440" marR="91440" marT="45720" marB="45720" anchor="ctr">
                    <a:solidFill>
                      <a:srgbClr val="F8FAFC"/>
                    </a:solidFill>
                  </a:tcPr>
                </a:tc>
              </a:tr>
              <a:tr h="285750">
                <a:tc>
                  <a:txBody>
                    <a:bodyPr>
                      <a:noAutofit/>
                    </a:bodyPr>
                    <a:lstStyle/>
                    <a:p>
                      <a:pPr algn="l">
                        <a:buNone/>
                      </a:pPr>
                      <a:r>
                        <a:rPr sz="1050" b="0">
                          <a:solidFill>
                            <a:srgbClr val="344054"/>
                          </a:solidFill>
                          <a:latin typeface="Microsoft YaHei"/>
                          <a:ea typeface="Microsoft YaHei"/>
                          <a:cs typeface="Microsoft YaHei"/>
                        </a:rPr>
                        <a:t>Random pool</a:t>
                      </a:r>
                    </a:p>
                  </a:txBody>
                  <a:tcPr marL="91440" marR="91440" marT="45720" marB="45720" anchor="ctr">
                    <a:solidFill>
                      <a:srgbClr val="FFFFFF"/>
                    </a:solidFill>
                  </a:tcPr>
                </a:tc>
                <a:tc>
                  <a:txBody>
                    <a:bodyPr>
                      <a:noAutofit/>
                    </a:bodyPr>
                    <a:lstStyle/>
                    <a:p>
                      <a:pPr algn="l">
                        <a:buNone/>
                      </a:pPr>
                      <a:r>
                        <a:rPr sz="1050" b="0">
                          <a:solidFill>
                            <a:srgbClr val="344054"/>
                          </a:solidFill>
                          <a:latin typeface="Microsoft YaHei"/>
                          <a:ea typeface="Microsoft YaHei"/>
                          <a:cs typeface="Microsoft YaHei"/>
                        </a:rPr>
                        <a:t>scan_seed=23001</a:t>
                      </a:r>
                    </a:p>
                  </a:txBody>
                  <a:tcPr marL="91440" marR="91440" marT="45720" marB="45720" anchor="ctr">
                    <a:solidFill>
                      <a:srgbClr val="FFFFFF"/>
                    </a:solidFill>
                  </a:tcPr>
                </a:tc>
                <a:tc>
                  <a:txBody>
                    <a:bodyPr>
                      <a:noAutofit/>
                    </a:bodyPr>
                    <a:lstStyle/>
                    <a:p>
                      <a:pPr algn="l">
                        <a:buNone/>
                      </a:pPr>
                      <a:r>
                        <a:rPr sz="1050" b="0">
                          <a:solidFill>
                            <a:srgbClr val="344054"/>
                          </a:solidFill>
                          <a:latin typeface="Microsoft YaHei"/>
                          <a:ea typeface="Microsoft YaHei"/>
                          <a:cs typeface="Microsoft YaHei"/>
                        </a:rPr>
                        <a:t>跨场景 CRN 配对</a:t>
                      </a:r>
                    </a:p>
                  </a:txBody>
                  <a:tcPr marL="91440" marR="91440" marT="45720" marB="45720" anchor="ctr">
                    <a:solidFill>
                      <a:srgbClr val="FFFFFF"/>
                    </a:solidFill>
                  </a:tcPr>
                </a:tc>
              </a:tr>
              <a:tr h="285750">
                <a:tc>
                  <a:txBody>
                    <a:bodyPr>
                      <a:noAutofit/>
                    </a:bodyPr>
                    <a:lstStyle/>
                    <a:p>
                      <a:pPr algn="l">
                        <a:buNone/>
                      </a:pPr>
                      <a:r>
                        <a:rPr sz="1050" b="0">
                          <a:solidFill>
                            <a:srgbClr val="344054"/>
                          </a:solidFill>
                          <a:latin typeface="Microsoft YaHei"/>
                          <a:ea typeface="Microsoft YaHei"/>
                          <a:cs typeface="Microsoft YaHei"/>
                        </a:rPr>
                        <a:t>Waveforms</a:t>
                      </a:r>
                    </a:p>
                  </a:txBody>
                  <a:tcPr marL="91440" marR="91440" marT="45720" marB="45720" anchor="ctr">
                    <a:solidFill>
                      <a:srgbClr val="F8FAFC"/>
                    </a:solidFill>
                  </a:tcPr>
                </a:tc>
                <a:tc>
                  <a:txBody>
                    <a:bodyPr>
                      <a:noAutofit/>
                    </a:bodyPr>
                    <a:lstStyle/>
                    <a:p>
                      <a:pPr algn="l">
                        <a:buNone/>
                      </a:pPr>
                      <a:r>
                        <a:rPr sz="1050" b="0">
                          <a:solidFill>
                            <a:srgbClr val="344054"/>
                          </a:solidFill>
                          <a:latin typeface="Microsoft YaHei"/>
                          <a:ea typeface="Microsoft YaHei"/>
                          <a:cs typeface="Microsoft YaHei"/>
                        </a:rPr>
                        <a:t>Manual 200 / 400 / 600 µs</a:t>
                      </a:r>
                    </a:p>
                  </a:txBody>
                  <a:tcPr marL="91440" marR="91440" marT="45720" marB="45720" anchor="ctr">
                    <a:solidFill>
                      <a:srgbClr val="F8FAFC"/>
                    </a:solidFill>
                  </a:tcPr>
                </a:tc>
                <a:tc>
                  <a:txBody>
                    <a:bodyPr>
                      <a:noAutofit/>
                    </a:bodyPr>
                    <a:lstStyle/>
                    <a:p>
                      <a:pPr algn="l">
                        <a:buNone/>
                      </a:pPr>
                      <a:r>
                        <a:rPr sz="1050" b="0">
                          <a:solidFill>
                            <a:srgbClr val="344054"/>
                          </a:solidFill>
                          <a:latin typeface="Microsoft YaHei"/>
                          <a:ea typeface="Microsoft YaHei"/>
                          <a:cs typeface="Microsoft YaHei"/>
                        </a:rPr>
                        <a:t>用时长排序区分损失机制</a:t>
                      </a:r>
                    </a:p>
                  </a:txBody>
                  <a:tcPr marL="91440" marR="91440" marT="45720" marB="45720" anchor="ctr">
                    <a:solidFill>
                      <a:srgbClr val="F8FAFC"/>
                    </a:solidFill>
                  </a:tcPr>
                </a:tc>
              </a:tr>
            </a:tbl>
          </a:graphicData>
        </a:graphic>
      </p:graphicFrame>
      <p:sp>
        <p:nvSpPr>
          <p:cNvPr id="8" name="">
            <a:extLst xmlns:a="http://schemas.openxmlformats.org/drawingml/2006/main">
              <a:ext uri="{FF2B5EF4-FFF2-40B4-BE49-F238E27FC236}">
                <a16:creationId xmlns:a16="http://schemas.microsoft.com/office/drawing/2014/main" id="{5B04FCA7-44F2-4E1A-A32F-7EE8D7709EF2}"/>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9" name="">
            <a:extLst xmlns:a="http://schemas.openxmlformats.org/drawingml/2006/main">
              <a:ext uri="{FF2B5EF4-FFF2-40B4-BE49-F238E27FC236}">
                <a16:creationId xmlns:a16="http://schemas.microsoft.com/office/drawing/2014/main" id="{9C1A2D9F-B762-4FC3-A33D-0808249D272F}"/>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configs/scan_stage1/*.yaml · summary_stage1.md</a:t>
            </a:r>
          </a:p>
        </p:txBody>
      </p:sp>
      <p:sp>
        <p:nvSpPr>
          <p:cNvPr id="10" name="">
            <a:extLst xmlns:a="http://schemas.openxmlformats.org/drawingml/2006/main">
              <a:ext uri="{FF2B5EF4-FFF2-40B4-BE49-F238E27FC236}">
                <a16:creationId xmlns:a16="http://schemas.microsoft.com/office/drawing/2014/main" id="{F10F8CFF-2427-4781-AD1F-C6C11DC47145}"/>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10</a:t>
            </a:r>
          </a:p>
        </p:txBody>
      </p:sp>
    </p:spTree>
    <p:extLst>
      <p:ext uri="{BB962C8B-B14F-4D97-AF65-F5344CB8AC3E}">
        <p14:creationId xmlns:p14="http://schemas.microsoft.com/office/powerpoint/2010/main" val="1760242756"/>
      </p:ext>
    </p:extLst>
  </p:cSld>
</p:sld>
</file>

<file path=ppt/slides/slide1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B4581AD-EE6D-4D22-833B-6B497016E653}"/>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09</a:t>
            </a:r>
          </a:p>
        </p:txBody>
      </p:sp>
      <p:sp>
        <p:nvSpPr>
          <p:cNvPr id="2" name="">
            <a:extLst xmlns:a="http://schemas.openxmlformats.org/drawingml/2006/main">
              <a:ext uri="{FF2B5EF4-FFF2-40B4-BE49-F238E27FC236}">
                <a16:creationId xmlns:a16="http://schemas.microsoft.com/office/drawing/2014/main" id="{536C7970-0BDB-42A9-B611-E608E1E97079}"/>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历史参数扫描结果</a:t>
            </a:r>
          </a:p>
        </p:txBody>
      </p:sp>
      <p:sp>
        <p:nvSpPr>
          <p:cNvPr id="3" name="">
            <a:extLst xmlns:a="http://schemas.openxmlformats.org/drawingml/2006/main">
              <a:ext uri="{FF2B5EF4-FFF2-40B4-BE49-F238E27FC236}">
                <a16:creationId xmlns:a16="http://schemas.microsoft.com/office/drawing/2014/main" id="{4F5A95F2-02B2-4F84-9B77-1491FFE59226}"/>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460596FB-BEE9-405E-8143-AC50CBB19E01}"/>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温度和 RIN 改变损失量级；静态对准影响很小，强抖动产生错误的时长结构</a:t>
            </a:r>
          </a:p>
        </p:txBody>
      </p:sp>
      <p:graphicFrame>
        <p:nvGraphicFramePr>
          <p:cNvPr id="21" name="Chart"/>
          <p:cNvGraphicFramePr/>
          <p:nvPr/>
        </p:nvGraphicFramePr>
        <p:xfrm>
          <a:off xmlns:a="http://schemas.openxmlformats.org/drawingml/2006/main" x="609600" y="1352550"/>
          <a:ext xmlns:a="http://schemas.openxmlformats.org/drawingml/2006/main" cx="5219700" cy="3524250"/>
        </p:xfrm>
        <a:graphic xmlns:a="http://schemas.openxmlformats.org/drawingml/2006/main">
          <a:graphicData uri="http://schemas.openxmlformats.org/drawingml/2006/chart">
            <c:chart xmlns:r="http://schemas.openxmlformats.org/officeDocument/2006/relationships" xmlns:c="http://schemas.openxmlformats.org/drawingml/2006/chart" r:id="R008005a6e6b2471c"/>
          </a:graphicData>
        </a:graphic>
      </p:graphicFrame>
      <p:graphicFrame>
        <p:nvGraphicFramePr>
          <p:cNvPr id="22" name="Chart"/>
          <p:cNvGraphicFramePr/>
          <p:nvPr/>
        </p:nvGraphicFramePr>
        <p:xfrm>
          <a:off xmlns:a="http://schemas.openxmlformats.org/drawingml/2006/main" x="6115050" y="1352550"/>
          <a:ext xmlns:a="http://schemas.openxmlformats.org/drawingml/2006/main" cx="5467350" cy="3524250"/>
        </p:xfrm>
        <a:graphic xmlns:a="http://schemas.openxmlformats.org/drawingml/2006/main">
          <a:graphicData uri="http://schemas.openxmlformats.org/drawingml/2006/chart">
            <c:chart xmlns:r="http://schemas.openxmlformats.org/officeDocument/2006/relationships" xmlns:c="http://schemas.openxmlformats.org/drawingml/2006/chart" r:id="Ra721c8e3b25a43dc"/>
          </a:graphicData>
        </a:graphic>
      </p:graphicFrame>
      <p:sp>
        <p:nvSpPr>
          <p:cNvPr id="7" name="">
            <a:extLst xmlns:a="http://schemas.openxmlformats.org/drawingml/2006/main">
              <a:ext uri="{FF2B5EF4-FFF2-40B4-BE49-F238E27FC236}">
                <a16:creationId xmlns:a16="http://schemas.microsoft.com/office/drawing/2014/main" id="{9319564B-DFB9-4C70-A8C0-9557F86FC5AF}"/>
              </a:ext>
            </a:extLst>
          </p:cNvPr>
          <p:cNvSpPr>
            <a:spLocks xmlns:a="http://schemas.openxmlformats.org/drawingml/2006/main" noGrp="1"/>
          </p:cNvSpPr>
          <p:nvPr/>
        </p:nvSpPr>
        <p:spPr>
          <a:xfrm xmlns:a="http://schemas.openxmlformats.org/drawingml/2006/main">
            <a:off x="609600" y="5143500"/>
            <a:ext cx="10972800" cy="1085850"/>
          </a:xfrm>
          <a:prstGeom xmlns:a="http://schemas.openxmlformats.org/drawingml/2006/main" prst="roundRect">
            <a:avLst>
              <a:gd name="adj" fmla="val 7018"/>
            </a:avLst>
          </a:prstGeom>
          <a:solidFill xmlns:a="http://schemas.openxmlformats.org/drawingml/2006/main">
            <a:srgbClr val="F2F4F7"/>
          </a:solidFill>
          <a:ln xmlns:a="http://schemas.openxmlformats.org/drawingml/2006/main" w="9525">
            <a:solidFill>
              <a:srgbClr val="EAECF0"/>
            </a:solidFill>
          </a:ln>
        </p:spPr>
      </p:sp>
      <p:sp>
        <p:nvSpPr>
          <p:cNvPr id="8" name="">
            <a:extLst xmlns:a="http://schemas.openxmlformats.org/drawingml/2006/main">
              <a:ext uri="{FF2B5EF4-FFF2-40B4-BE49-F238E27FC236}">
                <a16:creationId xmlns:a16="http://schemas.microsoft.com/office/drawing/2014/main" id="{DEB8C545-11FF-4F86-AFC5-C028C2731B95}"/>
              </a:ext>
            </a:extLst>
          </p:cNvPr>
          <p:cNvSpPr>
            <a:spLocks xmlns:a="http://schemas.openxmlformats.org/drawingml/2006/main" noGrp="1"/>
          </p:cNvSpPr>
          <p:nvPr/>
        </p:nvSpPr>
        <p:spPr>
          <a:xfrm xmlns:a="http://schemas.openxmlformats.org/drawingml/2006/main">
            <a:off x="838200" y="5314950"/>
            <a:ext cx="857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读数</a:t>
            </a:r>
          </a:p>
        </p:txBody>
      </p:sp>
      <p:sp>
        <p:nvSpPr>
          <p:cNvPr id="9" name="">
            <a:extLst xmlns:a="http://schemas.openxmlformats.org/drawingml/2006/main">
              <a:ext uri="{FF2B5EF4-FFF2-40B4-BE49-F238E27FC236}">
                <a16:creationId xmlns:a16="http://schemas.microsoft.com/office/drawing/2014/main" id="{CCA2B77A-61F0-41F6-82BD-49B746220EA4}"/>
              </a:ext>
            </a:extLst>
          </p:cNvPr>
          <p:cNvSpPr>
            <a:spLocks xmlns:a="http://schemas.openxmlformats.org/drawingml/2006/main" noGrp="1"/>
          </p:cNvSpPr>
          <p:nvPr/>
        </p:nvSpPr>
        <p:spPr>
          <a:xfrm xmlns:a="http://schemas.openxmlformats.org/drawingml/2006/main">
            <a:off x="1695450" y="5276850"/>
            <a:ext cx="9601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63" b="0">
                <a:solidFill>
                  <a:srgbClr val="344054"/>
                </a:solidFill>
                <a:latin typeface="Microsoft YaHei"/>
                <a:ea typeface="Microsoft YaHei"/>
                <a:cs typeface="Microsoft YaHei"/>
              </a:defRPr>
            </a:pPr>
            <a:r>
              <a:rPr sz="1163" b="0">
                <a:solidFill>
                  <a:srgbClr val="344054"/>
                </a:solidFill>
                <a:latin typeface="Microsoft YaHei"/>
                <a:ea typeface="Microsoft YaHei"/>
                <a:cs typeface="Microsoft YaHei"/>
              </a:rPr>
              <a:t>Paper 400 / 600 µs：0.414 / 0.573。T40：0.527 / 0.680。RIN 3×10⁻⁷：0.359 / 0.434。A0.15/A0.30 接近 baseline；J0.10 为 0.094 / 0.105。</a:t>
            </a:r>
          </a:p>
        </p:txBody>
      </p:sp>
      <p:sp>
        <p:nvSpPr>
          <p:cNvPr id="10" name="">
            <a:extLst xmlns:a="http://schemas.openxmlformats.org/drawingml/2006/main">
              <a:ext uri="{FF2B5EF4-FFF2-40B4-BE49-F238E27FC236}">
                <a16:creationId xmlns:a16="http://schemas.microsoft.com/office/drawing/2014/main" id="{DE58BDF8-F225-438E-A316-EB36F06396C4}"/>
              </a:ext>
            </a:extLst>
          </p:cNvPr>
          <p:cNvSpPr>
            <a:spLocks xmlns:a="http://schemas.openxmlformats.org/drawingml/2006/main" noGrp="1"/>
          </p:cNvSpPr>
          <p:nvPr/>
        </p:nvSpPr>
        <p:spPr>
          <a:xfrm xmlns:a="http://schemas.openxmlformats.org/drawingml/2006/main">
            <a:off x="1695450" y="5772150"/>
            <a:ext cx="9601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63" b="0">
                <a:solidFill>
                  <a:srgbClr val="D92D20"/>
                </a:solidFill>
                <a:latin typeface="Microsoft YaHei"/>
                <a:ea typeface="Microsoft YaHei"/>
                <a:cs typeface="Microsoft YaHei"/>
              </a:defRPr>
            </a:pPr>
            <a:r>
              <a:rPr sz="1163" b="0">
                <a:solidFill>
                  <a:srgbClr val="D92D20"/>
                </a:solidFill>
                <a:latin typeface="Microsoft YaHei"/>
                <a:ea typeface="Microsoft YaHei"/>
                <a:cs typeface="Microsoft YaHei"/>
              </a:rPr>
              <a:t>T40 同时改变初温与参量加热参考能量。数值保留作历史对照，不能据此单独标定初温。</a:t>
            </a:r>
          </a:p>
        </p:txBody>
      </p:sp>
      <p:sp>
        <p:nvSpPr>
          <p:cNvPr id="11" name="">
            <a:extLst xmlns:a="http://schemas.openxmlformats.org/drawingml/2006/main">
              <a:ext uri="{FF2B5EF4-FFF2-40B4-BE49-F238E27FC236}">
                <a16:creationId xmlns:a16="http://schemas.microsoft.com/office/drawing/2014/main" id="{B6469606-AEE7-496D-8C1D-197BCA666288}"/>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2" name="">
            <a:extLst xmlns:a="http://schemas.openxmlformats.org/drawingml/2006/main">
              <a:ext uri="{FF2B5EF4-FFF2-40B4-BE49-F238E27FC236}">
                <a16:creationId xmlns:a16="http://schemas.microsoft.com/office/drawing/2014/main" id="{0C5C5F6C-2D51-4D7C-A8DD-64CB0D341189}"/>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raw Stage-1 survival_scan_results.csv for T / RIN / alignment / jitter</a:t>
            </a:r>
          </a:p>
        </p:txBody>
      </p:sp>
      <p:sp>
        <p:nvSpPr>
          <p:cNvPr id="13" name="">
            <a:extLst xmlns:a="http://schemas.openxmlformats.org/drawingml/2006/main">
              <a:ext uri="{FF2B5EF4-FFF2-40B4-BE49-F238E27FC236}">
                <a16:creationId xmlns:a16="http://schemas.microsoft.com/office/drawing/2014/main" id="{8B6A9541-D4B1-4265-B7A1-BF02E2023BD4}"/>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11</a:t>
            </a:r>
          </a:p>
        </p:txBody>
      </p:sp>
    </p:spTree>
    <p:extLst>
      <p:ext uri="{BB962C8B-B14F-4D97-AF65-F5344CB8AC3E}">
        <p14:creationId xmlns:p14="http://schemas.microsoft.com/office/powerpoint/2010/main" val="213832833"/>
      </p:ext>
    </p:extLst>
  </p:cSld>
</p:sld>
</file>

<file path=ppt/slides/slide1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F75283D-9B42-4637-8AEB-F6D3918AD111}"/>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10</a:t>
            </a:r>
          </a:p>
        </p:txBody>
      </p:sp>
      <p:sp>
        <p:nvSpPr>
          <p:cNvPr id="2" name="">
            <a:extLst xmlns:a="http://schemas.openxmlformats.org/drawingml/2006/main">
              <a:ext uri="{FF2B5EF4-FFF2-40B4-BE49-F238E27FC236}">
                <a16:creationId xmlns:a16="http://schemas.microsoft.com/office/drawing/2014/main" id="{EC418AC5-D311-4FA1-A7F2-5466E568A94E}"/>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T40 的完整时长曲线</a:t>
            </a:r>
          </a:p>
        </p:txBody>
      </p:sp>
      <p:sp>
        <p:nvSpPr>
          <p:cNvPr id="3" name="">
            <a:extLst xmlns:a="http://schemas.openxmlformats.org/drawingml/2006/main">
              <a:ext uri="{FF2B5EF4-FFF2-40B4-BE49-F238E27FC236}">
                <a16:creationId xmlns:a16="http://schemas.microsoft.com/office/drawing/2014/main" id="{8313B733-2929-4420-A10F-86AAD6CF9DAB}"/>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035F9812-2063-4CD7-88CE-43B72405936F}"/>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Paper 使用单调锚点重建；MC 使用 512-shot 独立复核池</a:t>
            </a:r>
          </a:p>
        </p:txBody>
      </p:sp>
      <p:graphicFrame>
        <p:nvGraphicFramePr>
          <p:cNvPr id="20" name="Chart"/>
          <p:cNvGraphicFramePr/>
          <p:nvPr/>
        </p:nvGraphicFramePr>
        <p:xfrm>
          <a:off xmlns:a="http://schemas.openxmlformats.org/drawingml/2006/main" x="609600" y="1352550"/>
          <a:ext xmlns:a="http://schemas.openxmlformats.org/drawingml/2006/main" cx="4095750" cy="3714750"/>
        </p:xfrm>
        <a:graphic xmlns:a="http://schemas.openxmlformats.org/drawingml/2006/main">
          <a:graphicData uri="http://schemas.openxmlformats.org/drawingml/2006/chart">
            <c:chart xmlns:r="http://schemas.openxmlformats.org/officeDocument/2006/relationships" xmlns:c="http://schemas.openxmlformats.org/drawingml/2006/chart" r:id="Rcc44a8d171fd462e"/>
          </a:graphicData>
        </a:graphic>
      </p:graphicFrame>
      <p:graphicFrame>
        <p:nvGraphicFramePr>
          <p:cNvPr id="21" name="Chart"/>
          <p:cNvGraphicFramePr/>
          <p:nvPr/>
        </p:nvGraphicFramePr>
        <p:xfrm>
          <a:off xmlns:a="http://schemas.openxmlformats.org/drawingml/2006/main" x="4876800" y="1352550"/>
          <a:ext xmlns:a="http://schemas.openxmlformats.org/drawingml/2006/main" cx="6705600" cy="3714750"/>
        </p:xfrm>
        <a:graphic xmlns:a="http://schemas.openxmlformats.org/drawingml/2006/main">
          <a:graphicData uri="http://schemas.openxmlformats.org/drawingml/2006/chart">
            <c:chart xmlns:r="http://schemas.openxmlformats.org/officeDocument/2006/relationships" xmlns:c="http://schemas.openxmlformats.org/drawingml/2006/chart" r:id="Raadf734812504e1e"/>
          </a:graphicData>
        </a:graphic>
      </p:graphicFrame>
      <p:sp>
        <p:nvSpPr>
          <p:cNvPr id="7" name="">
            <a:extLst xmlns:a="http://schemas.openxmlformats.org/drawingml/2006/main">
              <a:ext uri="{FF2B5EF4-FFF2-40B4-BE49-F238E27FC236}">
                <a16:creationId xmlns:a16="http://schemas.microsoft.com/office/drawing/2014/main" id="{B5EB6665-2A88-4A05-BB67-EBED5256F0B6}"/>
              </a:ext>
            </a:extLst>
          </p:cNvPr>
          <p:cNvSpPr>
            <a:spLocks xmlns:a="http://schemas.openxmlformats.org/drawingml/2006/main" noGrp="1"/>
          </p:cNvSpPr>
          <p:nvPr/>
        </p:nvSpPr>
        <p:spPr>
          <a:xfrm xmlns:a="http://schemas.openxmlformats.org/drawingml/2006/main">
            <a:off x="609600" y="5276850"/>
            <a:ext cx="10972800" cy="819150"/>
          </a:xfrm>
          <a:prstGeom xmlns:a="http://schemas.openxmlformats.org/drawingml/2006/main" prst="roundRect">
            <a:avLst>
              <a:gd name="adj" fmla="val 9302"/>
            </a:avLst>
          </a:prstGeom>
          <a:solidFill xmlns:a="http://schemas.openxmlformats.org/drawingml/2006/main">
            <a:srgbClr val="F2F4F7"/>
          </a:solidFill>
          <a:ln xmlns:a="http://schemas.openxmlformats.org/drawingml/2006/main" w="9525">
            <a:solidFill>
              <a:srgbClr val="EAECF0"/>
            </a:solidFill>
          </a:ln>
        </p:spPr>
      </p:sp>
      <p:sp>
        <p:nvSpPr>
          <p:cNvPr id="8" name="">
            <a:extLst xmlns:a="http://schemas.openxmlformats.org/drawingml/2006/main">
              <a:ext uri="{FF2B5EF4-FFF2-40B4-BE49-F238E27FC236}">
                <a16:creationId xmlns:a16="http://schemas.microsoft.com/office/drawing/2014/main" id="{895891F0-CEEF-4054-AC28-2D6D841EBDEE}"/>
              </a:ext>
            </a:extLst>
          </p:cNvPr>
          <p:cNvSpPr>
            <a:spLocks xmlns:a="http://schemas.openxmlformats.org/drawingml/2006/main" noGrp="1"/>
          </p:cNvSpPr>
          <p:nvPr/>
        </p:nvSpPr>
        <p:spPr>
          <a:xfrm xmlns:a="http://schemas.openxmlformats.org/drawingml/2006/main">
            <a:off x="838200" y="5467350"/>
            <a:ext cx="876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结论</a:t>
            </a:r>
          </a:p>
        </p:txBody>
      </p:sp>
      <p:sp>
        <p:nvSpPr>
          <p:cNvPr id="9" name="">
            <a:extLst xmlns:a="http://schemas.openxmlformats.org/drawingml/2006/main">
              <a:ext uri="{FF2B5EF4-FFF2-40B4-BE49-F238E27FC236}">
                <a16:creationId xmlns:a16="http://schemas.microsoft.com/office/drawing/2014/main" id="{5C45A987-BC43-4449-B69B-CCC25DB2F5A0}"/>
              </a:ext>
            </a:extLst>
          </p:cNvPr>
          <p:cNvSpPr>
            <a:spLocks xmlns:a="http://schemas.openxmlformats.org/drawingml/2006/main" noGrp="1"/>
          </p:cNvSpPr>
          <p:nvPr/>
        </p:nvSpPr>
        <p:spPr>
          <a:xfrm xmlns:a="http://schemas.openxmlformats.org/drawingml/2006/main">
            <a:off x="1733550" y="5429250"/>
            <a:ext cx="9544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75" b="0">
                <a:solidFill>
                  <a:srgbClr val="344054"/>
                </a:solidFill>
                <a:latin typeface="Microsoft YaHei"/>
                <a:ea typeface="Microsoft YaHei"/>
                <a:cs typeface="Microsoft YaHei"/>
              </a:defRPr>
            </a:pPr>
            <a:r>
              <a:rPr sz="1275" b="0">
                <a:solidFill>
                  <a:srgbClr val="344054"/>
                </a:solidFill>
                <a:latin typeface="Microsoft YaHei"/>
                <a:ea typeface="Microsoft YaHei"/>
                <a:cs typeface="Microsoft YaHei"/>
              </a:rPr>
              <a:t>排序 200 &lt; 400 &lt; 600 与论文一致；200 µs 全程偏低，400/600 µs 从早期偏低转为后期偏高，因此误差不是单一 absolute offset。</a:t>
            </a:r>
          </a:p>
        </p:txBody>
      </p:sp>
      <p:sp>
        <p:nvSpPr>
          <p:cNvPr id="10" name="">
            <a:extLst xmlns:a="http://schemas.openxmlformats.org/drawingml/2006/main">
              <a:ext uri="{FF2B5EF4-FFF2-40B4-BE49-F238E27FC236}">
                <a16:creationId xmlns:a16="http://schemas.microsoft.com/office/drawing/2014/main" id="{45F44C9B-A874-43D5-9FCB-D8A915F3317A}"/>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1" name="">
            <a:extLst xmlns:a="http://schemas.openxmlformats.org/drawingml/2006/main">
              <a:ext uri="{FF2B5EF4-FFF2-40B4-BE49-F238E27FC236}">
                <a16:creationId xmlns:a16="http://schemas.microsoft.com/office/drawing/2014/main" id="{721F8274-6D9F-4103-8A0F-A3C13CFC90BA}"/>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T40/comparison_to_paper.json · fig6d_survival_digitized.csv</a:t>
            </a:r>
          </a:p>
        </p:txBody>
      </p:sp>
      <p:sp>
        <p:nvSpPr>
          <p:cNvPr id="12" name="">
            <a:extLst xmlns:a="http://schemas.openxmlformats.org/drawingml/2006/main">
              <a:ext uri="{FF2B5EF4-FFF2-40B4-BE49-F238E27FC236}">
                <a16:creationId xmlns:a16="http://schemas.microsoft.com/office/drawing/2014/main" id="{C4DDF88F-963B-42A9-8211-EAA9428509E7}"/>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12</a:t>
            </a:r>
          </a:p>
        </p:txBody>
      </p:sp>
    </p:spTree>
    <p:extLst>
      <p:ext uri="{BB962C8B-B14F-4D97-AF65-F5344CB8AC3E}">
        <p14:creationId xmlns:p14="http://schemas.microsoft.com/office/powerpoint/2010/main" val="162718939"/>
      </p:ext>
    </p:extLst>
  </p:cSld>
</p:sld>
</file>

<file path=ppt/slides/slide1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E5303D6-AAFB-45CF-9C90-8D2D1E1F1C52}"/>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11</a:t>
            </a:r>
          </a:p>
        </p:txBody>
      </p:sp>
      <p:sp>
        <p:nvSpPr>
          <p:cNvPr id="2" name="">
            <a:extLst xmlns:a="http://schemas.openxmlformats.org/drawingml/2006/main">
              <a:ext uri="{FF2B5EF4-FFF2-40B4-BE49-F238E27FC236}">
                <a16:creationId xmlns:a16="http://schemas.microsoft.com/office/drawing/2014/main" id="{F8C42AF1-280F-457F-A25C-CDDD7EA702D6}"/>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Fig. 6c ML 波形的数字化输入</a:t>
            </a:r>
          </a:p>
        </p:txBody>
      </p:sp>
      <p:sp>
        <p:nvSpPr>
          <p:cNvPr id="3" name="">
            <a:extLst xmlns:a="http://schemas.openxmlformats.org/drawingml/2006/main">
              <a:ext uri="{FF2B5EF4-FFF2-40B4-BE49-F238E27FC236}">
                <a16:creationId xmlns:a16="http://schemas.microsoft.com/office/drawing/2014/main" id="{C60DE573-0378-4F9C-8638-9FD5D065C85D}"/>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A9062A57-0747-4326-BA07-963C12D80B9E}"/>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从 PDF 矢量路径读取位置和深度，再在同一 400 µs 网格上与手工波形比较</a:t>
            </a:r>
          </a:p>
        </p:txBody>
      </p:sp>
      <p:graphicFrame>
        <p:nvGraphicFramePr>
          <p:cNvPr id="20" name="Chart"/>
          <p:cNvGraphicFramePr/>
          <p:nvPr/>
        </p:nvGraphicFramePr>
        <p:xfrm>
          <a:off xmlns:a="http://schemas.openxmlformats.org/drawingml/2006/main" x="609600" y="1352550"/>
          <a:ext xmlns:a="http://schemas.openxmlformats.org/drawingml/2006/main" cx="5334000" cy="3619500"/>
        </p:xfrm>
        <a:graphic xmlns:a="http://schemas.openxmlformats.org/drawingml/2006/main">
          <a:graphicData uri="http://schemas.openxmlformats.org/drawingml/2006/chart">
            <c:chart xmlns:r="http://schemas.openxmlformats.org/officeDocument/2006/relationships" xmlns:c="http://schemas.openxmlformats.org/drawingml/2006/chart" r:id="R9755d117d59c4739"/>
          </a:graphicData>
        </a:graphic>
      </p:graphicFrame>
      <p:graphicFrame>
        <p:nvGraphicFramePr>
          <p:cNvPr id="21" name="Chart"/>
          <p:cNvGraphicFramePr/>
          <p:nvPr/>
        </p:nvGraphicFramePr>
        <p:xfrm>
          <a:off xmlns:a="http://schemas.openxmlformats.org/drawingml/2006/main" x="6248400" y="1352550"/>
          <a:ext xmlns:a="http://schemas.openxmlformats.org/drawingml/2006/main" cx="5334000" cy="3619500"/>
        </p:xfrm>
        <a:graphic xmlns:a="http://schemas.openxmlformats.org/drawingml/2006/main">
          <a:graphicData uri="http://schemas.openxmlformats.org/drawingml/2006/chart">
            <c:chart xmlns:r="http://schemas.openxmlformats.org/officeDocument/2006/relationships" xmlns:c="http://schemas.openxmlformats.org/drawingml/2006/chart" r:id="Rcecca0bf6d5f4bd2"/>
          </a:graphicData>
        </a:graphic>
      </p:graphicFrame>
      <p:sp>
        <p:nvSpPr>
          <p:cNvPr id="7" name="">
            <a:extLst xmlns:a="http://schemas.openxmlformats.org/drawingml/2006/main">
              <a:ext uri="{FF2B5EF4-FFF2-40B4-BE49-F238E27FC236}">
                <a16:creationId xmlns:a16="http://schemas.microsoft.com/office/drawing/2014/main" id="{FA47DAC4-B1BC-445C-90F3-99493F646DEE}"/>
              </a:ext>
            </a:extLst>
          </p:cNvPr>
          <p:cNvSpPr>
            <a:spLocks xmlns:a="http://schemas.openxmlformats.org/drawingml/2006/main" noGrp="1"/>
          </p:cNvSpPr>
          <p:nvPr/>
        </p:nvSpPr>
        <p:spPr>
          <a:xfrm xmlns:a="http://schemas.openxmlformats.org/drawingml/2006/main">
            <a:off x="609600" y="5219700"/>
            <a:ext cx="10972800" cy="876300"/>
          </a:xfrm>
          <a:prstGeom xmlns:a="http://schemas.openxmlformats.org/drawingml/2006/main" prst="roundRect">
            <a:avLst>
              <a:gd name="adj" fmla="val 8696"/>
            </a:avLst>
          </a:prstGeom>
          <a:solidFill xmlns:a="http://schemas.openxmlformats.org/drawingml/2006/main">
            <a:srgbClr val="F2F4F7"/>
          </a:solidFill>
          <a:ln xmlns:a="http://schemas.openxmlformats.org/drawingml/2006/main" w="9525">
            <a:solidFill>
              <a:srgbClr val="EAECF0"/>
            </a:solidFill>
          </a:ln>
        </p:spPr>
      </p:sp>
      <p:sp>
        <p:nvSpPr>
          <p:cNvPr id="8" name="">
            <a:extLst xmlns:a="http://schemas.openxmlformats.org/drawingml/2006/main">
              <a:ext uri="{FF2B5EF4-FFF2-40B4-BE49-F238E27FC236}">
                <a16:creationId xmlns:a16="http://schemas.microsoft.com/office/drawing/2014/main" id="{375729A5-58F9-49DE-8A5E-F587F5983313}"/>
              </a:ext>
            </a:extLst>
          </p:cNvPr>
          <p:cNvSpPr>
            <a:spLocks xmlns:a="http://schemas.openxmlformats.org/drawingml/2006/main" noGrp="1"/>
          </p:cNvSpPr>
          <p:nvPr/>
        </p:nvSpPr>
        <p:spPr>
          <a:xfrm xmlns:a="http://schemas.openxmlformats.org/drawingml/2006/main">
            <a:off x="838200" y="541020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输入构造</a:t>
            </a:r>
          </a:p>
        </p:txBody>
      </p:sp>
      <p:sp>
        <p:nvSpPr>
          <p:cNvPr id="9" name="">
            <a:extLst xmlns:a="http://schemas.openxmlformats.org/drawingml/2006/main">
              <a:ext uri="{FF2B5EF4-FFF2-40B4-BE49-F238E27FC236}">
                <a16:creationId xmlns:a16="http://schemas.microsoft.com/office/drawing/2014/main" id="{9D1CE04E-0AA0-4934-8F39-F81DEC065F3D}"/>
              </a:ext>
            </a:extLst>
          </p:cNvPr>
          <p:cNvSpPr>
            <a:spLocks xmlns:a="http://schemas.openxmlformats.org/drawingml/2006/main" noGrp="1"/>
          </p:cNvSpPr>
          <p:nvPr/>
        </p:nvSpPr>
        <p:spPr>
          <a:xfrm xmlns:a="http://schemas.openxmlformats.org/drawingml/2006/main">
            <a:off x="2095500" y="5353050"/>
            <a:ext cx="9220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38" b="0">
                <a:solidFill>
                  <a:srgbClr val="344054"/>
                </a:solidFill>
                <a:latin typeface="Microsoft YaHei"/>
                <a:ea typeface="Microsoft YaHei"/>
                <a:cs typeface="Microsoft YaHei"/>
              </a:defRPr>
            </a:pPr>
            <a:r>
              <a:rPr sz="1238" b="0">
                <a:solidFill>
                  <a:srgbClr val="344054"/>
                </a:solidFill>
                <a:latin typeface="Microsoft YaHei"/>
                <a:ea typeface="Microsoft YaHei"/>
                <a:cs typeface="Microsoft YaHei"/>
              </a:rPr>
              <a:t>矢量提取得到 15 个绘制节点，间隔约 28.57 µs。位置先在约 0.11 µm 停留，待 AOD 接近满深后再加速移动并平缓收尾。普通三次插值连接节点。</a:t>
            </a:r>
          </a:p>
        </p:txBody>
      </p:sp>
      <p:sp>
        <p:nvSpPr>
          <p:cNvPr id="10" name="">
            <a:extLst xmlns:a="http://schemas.openxmlformats.org/drawingml/2006/main">
              <a:ext uri="{FF2B5EF4-FFF2-40B4-BE49-F238E27FC236}">
                <a16:creationId xmlns:a16="http://schemas.microsoft.com/office/drawing/2014/main" id="{4D8493A0-1D89-4518-B4C4-7DDF75BC6B20}"/>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1" name="">
            <a:extLst xmlns:a="http://schemas.openxmlformats.org/drawingml/2006/main">
              <a:ext uri="{FF2B5EF4-FFF2-40B4-BE49-F238E27FC236}">
                <a16:creationId xmlns:a16="http://schemas.microsoft.com/office/drawing/2014/main" id="{C67EEBB9-BC47-4BC2-BB79-ADAE92748B45}"/>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fig6c_ml_trajectory_digitized.json · waveforms.py · PDF page 7</a:t>
            </a:r>
          </a:p>
        </p:txBody>
      </p:sp>
      <p:sp>
        <p:nvSpPr>
          <p:cNvPr id="12" name="">
            <a:extLst xmlns:a="http://schemas.openxmlformats.org/drawingml/2006/main">
              <a:ext uri="{FF2B5EF4-FFF2-40B4-BE49-F238E27FC236}">
                <a16:creationId xmlns:a16="http://schemas.microsoft.com/office/drawing/2014/main" id="{3735BC91-CFA5-4651-AE87-766E46DCD5EA}"/>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13</a:t>
            </a:r>
          </a:p>
        </p:txBody>
      </p:sp>
    </p:spTree>
    <p:extLst>
      <p:ext uri="{BB962C8B-B14F-4D97-AF65-F5344CB8AC3E}">
        <p14:creationId xmlns:p14="http://schemas.microsoft.com/office/powerpoint/2010/main" val="704812125"/>
      </p:ext>
    </p:extLst>
  </p:cSld>
</p:sld>
</file>

<file path=ppt/slides/slide1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D52CD93-5D10-4EC4-A24A-DC620C97CA59}"/>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12</a:t>
            </a:r>
          </a:p>
        </p:txBody>
      </p:sp>
      <p:sp>
        <p:nvSpPr>
          <p:cNvPr id="2" name="">
            <a:extLst xmlns:a="http://schemas.openxmlformats.org/drawingml/2006/main">
              <a:ext uri="{FF2B5EF4-FFF2-40B4-BE49-F238E27FC236}">
                <a16:creationId xmlns:a16="http://schemas.microsoft.com/office/drawing/2014/main" id="{79322749-5EE3-484D-BFBF-42BA345017D5}"/>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Manual 与 Fig. 6c ML 的端点比较</a:t>
            </a:r>
          </a:p>
        </p:txBody>
      </p:sp>
      <p:sp>
        <p:nvSpPr>
          <p:cNvPr id="3" name="">
            <a:extLst xmlns:a="http://schemas.openxmlformats.org/drawingml/2006/main">
              <a:ext uri="{FF2B5EF4-FFF2-40B4-BE49-F238E27FC236}">
                <a16:creationId xmlns:a16="http://schemas.microsoft.com/office/drawing/2014/main" id="{7C902246-C78B-438C-A01B-BF223FD41650}"/>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681F0EF5-A15C-400B-B5CB-6F258B0DB3E8}"/>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在 T40 的同一 256-shot CRN 随机池中回放两条 400 µs 波形</a:t>
            </a:r>
          </a:p>
        </p:txBody>
      </p:sp>
      <p:graphicFrame>
        <p:nvGraphicFramePr>
          <p:cNvPr id="26" name="Chart"/>
          <p:cNvGraphicFramePr/>
          <p:nvPr/>
        </p:nvGraphicFramePr>
        <p:xfrm>
          <a:off xmlns:a="http://schemas.openxmlformats.org/drawingml/2006/main" x="666750" y="1381125"/>
          <a:ext xmlns:a="http://schemas.openxmlformats.org/drawingml/2006/main" cx="7048500" cy="4191000"/>
        </p:xfrm>
        <a:graphic xmlns:a="http://schemas.openxmlformats.org/drawingml/2006/main">
          <a:graphicData uri="http://schemas.openxmlformats.org/drawingml/2006/chart">
            <c:chart xmlns:r="http://schemas.openxmlformats.org/officeDocument/2006/relationships" xmlns:c="http://schemas.openxmlformats.org/drawingml/2006/chart" r:id="R4603c868b40a420c"/>
          </a:graphicData>
        </a:graphic>
      </p:graphicFrame>
      <p:sp>
        <p:nvSpPr>
          <p:cNvPr id="6" name="">
            <a:extLst xmlns:a="http://schemas.openxmlformats.org/drawingml/2006/main">
              <a:ext uri="{FF2B5EF4-FFF2-40B4-BE49-F238E27FC236}">
                <a16:creationId xmlns:a16="http://schemas.microsoft.com/office/drawing/2014/main" id="{9BAA9B96-2E6E-4CD7-989B-39FF449CD0E2}"/>
              </a:ext>
            </a:extLst>
          </p:cNvPr>
          <p:cNvSpPr>
            <a:spLocks xmlns:a="http://schemas.openxmlformats.org/drawingml/2006/main" noGrp="1"/>
          </p:cNvSpPr>
          <p:nvPr/>
        </p:nvSpPr>
        <p:spPr>
          <a:xfrm xmlns:a="http://schemas.openxmlformats.org/drawingml/2006/main">
            <a:off x="8039100" y="1524000"/>
            <a:ext cx="3200400" cy="1581150"/>
          </a:xfrm>
          <a:prstGeom xmlns:a="http://schemas.openxmlformats.org/drawingml/2006/main" prst="roundRect">
            <a:avLst>
              <a:gd name="adj" fmla="val 4819"/>
            </a:avLst>
          </a:prstGeom>
          <a:solidFill xmlns:a="http://schemas.openxmlformats.org/drawingml/2006/main">
            <a:srgbClr val="ECFDF3"/>
          </a:solidFill>
          <a:ln xmlns:a="http://schemas.openxmlformats.org/drawingml/2006/main" w="9525">
            <a:solidFill>
              <a:srgbClr val="ABEFC6"/>
            </a:solidFill>
          </a:ln>
        </p:spPr>
      </p:sp>
      <p:sp>
        <p:nvSpPr>
          <p:cNvPr id="7" name="">
            <a:extLst xmlns:a="http://schemas.openxmlformats.org/drawingml/2006/main">
              <a:ext uri="{FF2B5EF4-FFF2-40B4-BE49-F238E27FC236}">
                <a16:creationId xmlns:a16="http://schemas.microsoft.com/office/drawing/2014/main" id="{1F87D249-2EA4-4F2B-A1A6-CF337A8F3710}"/>
              </a:ext>
            </a:extLst>
          </p:cNvPr>
          <p:cNvSpPr>
            <a:spLocks xmlns:a="http://schemas.openxmlformats.org/drawingml/2006/main" noGrp="1"/>
          </p:cNvSpPr>
          <p:nvPr/>
        </p:nvSpPr>
        <p:spPr>
          <a:xfrm xmlns:a="http://schemas.openxmlformats.org/drawingml/2006/main">
            <a:off x="8286750" y="17526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75" b="1">
                <a:solidFill>
                  <a:srgbClr val="0E9384"/>
                </a:solidFill>
                <a:latin typeface="Microsoft YaHei"/>
                <a:ea typeface="Microsoft YaHei"/>
                <a:cs typeface="Microsoft YaHei"/>
              </a:defRPr>
            </a:pPr>
            <a:r>
              <a:rPr sz="1275" b="1">
                <a:solidFill>
                  <a:srgbClr val="0E9384"/>
                </a:solidFill>
                <a:latin typeface="Microsoft YaHei"/>
                <a:ea typeface="Microsoft YaHei"/>
                <a:cs typeface="Microsoft YaHei"/>
              </a:rPr>
              <a:t>Paper ΔS</a:t>
            </a:r>
          </a:p>
        </p:txBody>
      </p:sp>
      <p:sp>
        <p:nvSpPr>
          <p:cNvPr id="8" name="">
            <a:extLst xmlns:a="http://schemas.openxmlformats.org/drawingml/2006/main">
              <a:ext uri="{FF2B5EF4-FFF2-40B4-BE49-F238E27FC236}">
                <a16:creationId xmlns:a16="http://schemas.microsoft.com/office/drawing/2014/main" id="{4E4720AE-CCFF-4565-A14C-5EAE0EDACC1A}"/>
              </a:ext>
            </a:extLst>
          </p:cNvPr>
          <p:cNvSpPr>
            <a:spLocks xmlns:a="http://schemas.openxmlformats.org/drawingml/2006/main" noGrp="1"/>
          </p:cNvSpPr>
          <p:nvPr/>
        </p:nvSpPr>
        <p:spPr>
          <a:xfrm xmlns:a="http://schemas.openxmlformats.org/drawingml/2006/main">
            <a:off x="8286750" y="2095500"/>
            <a:ext cx="266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850" b="1">
                <a:solidFill>
                  <a:srgbClr val="0E9384"/>
                </a:solidFill>
                <a:latin typeface="Microsoft YaHei"/>
                <a:ea typeface="Microsoft YaHei"/>
                <a:cs typeface="Microsoft YaHei"/>
              </a:defRPr>
            </a:pPr>
            <a:r>
              <a:rPr sz="2850" b="1">
                <a:solidFill>
                  <a:srgbClr val="0E9384"/>
                </a:solidFill>
                <a:latin typeface="Microsoft YaHei"/>
                <a:ea typeface="Microsoft YaHei"/>
                <a:cs typeface="Microsoft YaHei"/>
              </a:rPr>
              <a:t>+0.250</a:t>
            </a:r>
          </a:p>
        </p:txBody>
      </p:sp>
      <p:sp>
        <p:nvSpPr>
          <p:cNvPr id="9" name="">
            <a:extLst xmlns:a="http://schemas.openxmlformats.org/drawingml/2006/main">
              <a:ext uri="{FF2B5EF4-FFF2-40B4-BE49-F238E27FC236}">
                <a16:creationId xmlns:a16="http://schemas.microsoft.com/office/drawing/2014/main" id="{89A36DD8-1E18-47FE-B775-F7EA80FE02C4}"/>
              </a:ext>
            </a:extLst>
          </p:cNvPr>
          <p:cNvSpPr>
            <a:spLocks xmlns:a="http://schemas.openxmlformats.org/drawingml/2006/main" noGrp="1"/>
          </p:cNvSpPr>
          <p:nvPr/>
        </p:nvSpPr>
        <p:spPr>
          <a:xfrm xmlns:a="http://schemas.openxmlformats.org/drawingml/2006/main">
            <a:off x="8286750" y="264795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41.3% to 66.3%</a:t>
            </a:r>
          </a:p>
        </p:txBody>
      </p:sp>
      <p:sp>
        <p:nvSpPr>
          <p:cNvPr id="10" name="">
            <a:extLst xmlns:a="http://schemas.openxmlformats.org/drawingml/2006/main">
              <a:ext uri="{FF2B5EF4-FFF2-40B4-BE49-F238E27FC236}">
                <a16:creationId xmlns:a16="http://schemas.microsoft.com/office/drawing/2014/main" id="{D89473E8-DC90-4551-A8D7-813287F5AD43}"/>
              </a:ext>
            </a:extLst>
          </p:cNvPr>
          <p:cNvSpPr>
            <a:spLocks xmlns:a="http://schemas.openxmlformats.org/drawingml/2006/main" noGrp="1"/>
          </p:cNvSpPr>
          <p:nvPr/>
        </p:nvSpPr>
        <p:spPr>
          <a:xfrm xmlns:a="http://schemas.openxmlformats.org/drawingml/2006/main">
            <a:off x="8286750" y="2886075"/>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Equivalent loss 1.46% to 0.68%</a:t>
            </a:r>
          </a:p>
        </p:txBody>
      </p:sp>
      <p:sp>
        <p:nvSpPr>
          <p:cNvPr id="11" name="">
            <a:extLst xmlns:a="http://schemas.openxmlformats.org/drawingml/2006/main">
              <a:ext uri="{FF2B5EF4-FFF2-40B4-BE49-F238E27FC236}">
                <a16:creationId xmlns:a16="http://schemas.microsoft.com/office/drawing/2014/main" id="{0BD07B35-F3EE-40F9-9757-89C80A6693AE}"/>
              </a:ext>
            </a:extLst>
          </p:cNvPr>
          <p:cNvSpPr>
            <a:spLocks xmlns:a="http://schemas.openxmlformats.org/drawingml/2006/main" noGrp="1"/>
          </p:cNvSpPr>
          <p:nvPr/>
        </p:nvSpPr>
        <p:spPr>
          <a:xfrm xmlns:a="http://schemas.openxmlformats.org/drawingml/2006/main">
            <a:off x="8039100" y="3333750"/>
            <a:ext cx="3200400" cy="1581150"/>
          </a:xfrm>
          <a:prstGeom xmlns:a="http://schemas.openxmlformats.org/drawingml/2006/main" prst="roundRect">
            <a:avLst>
              <a:gd name="adj" fmla="val 4819"/>
            </a:avLst>
          </a:prstGeom>
          <a:solidFill xmlns:a="http://schemas.openxmlformats.org/drawingml/2006/main">
            <a:srgbClr val="EFF8FF"/>
          </a:solidFill>
          <a:ln xmlns:a="http://schemas.openxmlformats.org/drawingml/2006/main" w="9525">
            <a:solidFill>
              <a:srgbClr val="B2DDFF"/>
            </a:solidFill>
          </a:ln>
        </p:spPr>
      </p:sp>
      <p:sp>
        <p:nvSpPr>
          <p:cNvPr id="12" name="">
            <a:extLst xmlns:a="http://schemas.openxmlformats.org/drawingml/2006/main">
              <a:ext uri="{FF2B5EF4-FFF2-40B4-BE49-F238E27FC236}">
                <a16:creationId xmlns:a16="http://schemas.microsoft.com/office/drawing/2014/main" id="{4393E85B-7597-4494-AB93-B912B147DED4}"/>
              </a:ext>
            </a:extLst>
          </p:cNvPr>
          <p:cNvSpPr>
            <a:spLocks xmlns:a="http://schemas.openxmlformats.org/drawingml/2006/main" noGrp="1"/>
          </p:cNvSpPr>
          <p:nvPr/>
        </p:nvSpPr>
        <p:spPr>
          <a:xfrm xmlns:a="http://schemas.openxmlformats.org/drawingml/2006/main">
            <a:off x="8286750" y="356235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75" b="1">
                <a:solidFill>
                  <a:srgbClr val="1570EF"/>
                </a:solidFill>
                <a:latin typeface="Microsoft YaHei"/>
                <a:ea typeface="Microsoft YaHei"/>
                <a:cs typeface="Microsoft YaHei"/>
              </a:defRPr>
            </a:pPr>
            <a:r>
              <a:rPr sz="1275" b="1">
                <a:solidFill>
                  <a:srgbClr val="1570EF"/>
                </a:solidFill>
                <a:latin typeface="Microsoft YaHei"/>
                <a:ea typeface="Microsoft YaHei"/>
                <a:cs typeface="Microsoft YaHei"/>
              </a:rPr>
              <a:t>MC T40 ΔS</a:t>
            </a:r>
          </a:p>
        </p:txBody>
      </p:sp>
      <p:sp>
        <p:nvSpPr>
          <p:cNvPr id="13" name="">
            <a:extLst xmlns:a="http://schemas.openxmlformats.org/drawingml/2006/main">
              <a:ext uri="{FF2B5EF4-FFF2-40B4-BE49-F238E27FC236}">
                <a16:creationId xmlns:a16="http://schemas.microsoft.com/office/drawing/2014/main" id="{7F6A791C-8625-411F-815F-03F5733EDAA8}"/>
              </a:ext>
            </a:extLst>
          </p:cNvPr>
          <p:cNvSpPr>
            <a:spLocks xmlns:a="http://schemas.openxmlformats.org/drawingml/2006/main" noGrp="1"/>
          </p:cNvSpPr>
          <p:nvPr/>
        </p:nvSpPr>
        <p:spPr>
          <a:xfrm xmlns:a="http://schemas.openxmlformats.org/drawingml/2006/main">
            <a:off x="8286750" y="3905250"/>
            <a:ext cx="266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850" b="1">
                <a:solidFill>
                  <a:srgbClr val="1570EF"/>
                </a:solidFill>
                <a:latin typeface="Microsoft YaHei"/>
                <a:ea typeface="Microsoft YaHei"/>
                <a:cs typeface="Microsoft YaHei"/>
              </a:defRPr>
            </a:pPr>
            <a:r>
              <a:rPr sz="2850" b="1">
                <a:solidFill>
                  <a:srgbClr val="1570EF"/>
                </a:solidFill>
                <a:latin typeface="Microsoft YaHei"/>
                <a:ea typeface="Microsoft YaHei"/>
                <a:cs typeface="Microsoft YaHei"/>
              </a:rPr>
              <a:t>+0.230</a:t>
            </a:r>
          </a:p>
        </p:txBody>
      </p:sp>
      <p:sp>
        <p:nvSpPr>
          <p:cNvPr id="14" name="">
            <a:extLst xmlns:a="http://schemas.openxmlformats.org/drawingml/2006/main">
              <a:ext uri="{FF2B5EF4-FFF2-40B4-BE49-F238E27FC236}">
                <a16:creationId xmlns:a16="http://schemas.microsoft.com/office/drawing/2014/main" id="{A312AF73-7B95-4CD0-A142-42B82A2401A4}"/>
              </a:ext>
            </a:extLst>
          </p:cNvPr>
          <p:cNvSpPr>
            <a:spLocks xmlns:a="http://schemas.openxmlformats.org/drawingml/2006/main" noGrp="1"/>
          </p:cNvSpPr>
          <p:nvPr/>
        </p:nvSpPr>
        <p:spPr>
          <a:xfrm xmlns:a="http://schemas.openxmlformats.org/drawingml/2006/main">
            <a:off x="8286750" y="4457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52.7% to 75.8%</a:t>
            </a:r>
          </a:p>
        </p:txBody>
      </p:sp>
      <p:sp>
        <p:nvSpPr>
          <p:cNvPr id="15" name="">
            <a:extLst xmlns:a="http://schemas.openxmlformats.org/drawingml/2006/main">
              <a:ext uri="{FF2B5EF4-FFF2-40B4-BE49-F238E27FC236}">
                <a16:creationId xmlns:a16="http://schemas.microsoft.com/office/drawing/2014/main" id="{81F44E4B-7D50-4F78-8A30-375A11635636}"/>
              </a:ext>
            </a:extLst>
          </p:cNvPr>
          <p:cNvSpPr>
            <a:spLocks xmlns:a="http://schemas.openxmlformats.org/drawingml/2006/main" noGrp="1"/>
          </p:cNvSpPr>
          <p:nvPr/>
        </p:nvSpPr>
        <p:spPr>
          <a:xfrm xmlns:a="http://schemas.openxmlformats.org/drawingml/2006/main">
            <a:off x="8286750" y="4695825"/>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Equivalent loss 1.06% to 0.46%</a:t>
            </a:r>
          </a:p>
        </p:txBody>
      </p:sp>
      <p:sp>
        <p:nvSpPr>
          <p:cNvPr id="16" name="">
            <a:extLst xmlns:a="http://schemas.openxmlformats.org/drawingml/2006/main">
              <a:ext uri="{FF2B5EF4-FFF2-40B4-BE49-F238E27FC236}">
                <a16:creationId xmlns:a16="http://schemas.microsoft.com/office/drawing/2014/main" id="{54834280-DE41-48DE-B837-894F29F4D9B5}"/>
              </a:ext>
            </a:extLst>
          </p:cNvPr>
          <p:cNvSpPr>
            <a:spLocks xmlns:a="http://schemas.openxmlformats.org/drawingml/2006/main" noGrp="1"/>
          </p:cNvSpPr>
          <p:nvPr/>
        </p:nvSpPr>
        <p:spPr>
          <a:xfrm xmlns:a="http://schemas.openxmlformats.org/drawingml/2006/main">
            <a:off x="8039100" y="5257800"/>
            <a:ext cx="320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75" b="0">
                <a:solidFill>
                  <a:srgbClr val="D92D20"/>
                </a:solidFill>
                <a:latin typeface="Microsoft YaHei"/>
                <a:ea typeface="Microsoft YaHei"/>
                <a:cs typeface="Microsoft YaHei"/>
              </a:defRPr>
            </a:pPr>
            <a:r>
              <a:rPr sz="1275" b="0">
                <a:solidFill>
                  <a:srgbClr val="D92D20"/>
                </a:solidFill>
                <a:latin typeface="Microsoft YaHei"/>
                <a:ea typeface="Microsoft YaHei"/>
                <a:cs typeface="Microsoft YaHei"/>
              </a:rPr>
              <a:t>相对增益接近论文，但 MC 的 Manual 和 ML 绝对存活率仍偏高。</a:t>
            </a:r>
          </a:p>
        </p:txBody>
      </p:sp>
      <p:sp>
        <p:nvSpPr>
          <p:cNvPr id="17" name="">
            <a:extLst xmlns:a="http://schemas.openxmlformats.org/drawingml/2006/main">
              <a:ext uri="{FF2B5EF4-FFF2-40B4-BE49-F238E27FC236}">
                <a16:creationId xmlns:a16="http://schemas.microsoft.com/office/drawing/2014/main" id="{699269C9-1C26-44E1-B3F7-14C323E9A893}"/>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8" name="">
            <a:extLst xmlns:a="http://schemas.openxmlformats.org/drawingml/2006/main">
              <a:ext uri="{FF2B5EF4-FFF2-40B4-BE49-F238E27FC236}">
                <a16:creationId xmlns:a16="http://schemas.microsoft.com/office/drawing/2014/main" id="{49C2046B-1E76-4695-9076-8CD259457109}"/>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paper_ml_eval.json · fig6d_survival_digitized.csv</a:t>
            </a:r>
          </a:p>
        </p:txBody>
      </p:sp>
      <p:sp>
        <p:nvSpPr>
          <p:cNvPr id="19" name="">
            <a:extLst xmlns:a="http://schemas.openxmlformats.org/drawingml/2006/main">
              <a:ext uri="{FF2B5EF4-FFF2-40B4-BE49-F238E27FC236}">
                <a16:creationId xmlns:a16="http://schemas.microsoft.com/office/drawing/2014/main" id="{C84679B1-130A-4F1B-9DFB-BADD658A544B}"/>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14</a:t>
            </a:r>
          </a:p>
        </p:txBody>
      </p:sp>
    </p:spTree>
    <p:extLst>
      <p:ext uri="{BB962C8B-B14F-4D97-AF65-F5344CB8AC3E}">
        <p14:creationId xmlns:p14="http://schemas.microsoft.com/office/powerpoint/2010/main" val="2062077617"/>
      </p:ext>
    </p:extLst>
  </p:cSld>
</p:sld>
</file>

<file path=ppt/slides/slide1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E39C000-1208-426D-ADA7-3D4376035FA1}"/>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13</a:t>
            </a:r>
          </a:p>
        </p:txBody>
      </p:sp>
      <p:sp>
        <p:nvSpPr>
          <p:cNvPr id="2" name="">
            <a:extLst xmlns:a="http://schemas.openxmlformats.org/drawingml/2006/main">
              <a:ext uri="{FF2B5EF4-FFF2-40B4-BE49-F238E27FC236}">
                <a16:creationId xmlns:a16="http://schemas.microsoft.com/office/drawing/2014/main" id="{4E7D4BE4-AFF6-4F15-B659-18993110C453}"/>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2×2 交叉消融定位 ML 增益来源</a:t>
            </a:r>
          </a:p>
        </p:txBody>
      </p:sp>
      <p:sp>
        <p:nvSpPr>
          <p:cNvPr id="3" name="">
            <a:extLst xmlns:a="http://schemas.openxmlformats.org/drawingml/2006/main">
              <a:ext uri="{FF2B5EF4-FFF2-40B4-BE49-F238E27FC236}">
                <a16:creationId xmlns:a16="http://schemas.microsoft.com/office/drawing/2014/main" id="{4AE4DEBD-791D-44FC-A0C1-025A82BA1F30}"/>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9F00B59E-91A2-4FE7-83A2-E2982577F224}"/>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分别替换 position 和 depth，在同一 T40、512-shot 条件下计算四个组合</a:t>
            </a:r>
          </a:p>
        </p:txBody>
      </p:sp>
      <p:graphicFrame>
        <p:nvGraphicFramePr>
          <p:cNvPr id="24" name="Chart"/>
          <p:cNvGraphicFramePr/>
          <p:nvPr/>
        </p:nvGraphicFramePr>
        <p:xfrm>
          <a:off xmlns:a="http://schemas.openxmlformats.org/drawingml/2006/main" x="628650" y="1409700"/>
          <a:ext xmlns:a="http://schemas.openxmlformats.org/drawingml/2006/main" cx="6858000" cy="4095750"/>
        </p:xfrm>
        <a:graphic xmlns:a="http://schemas.openxmlformats.org/drawingml/2006/main">
          <a:graphicData uri="http://schemas.openxmlformats.org/drawingml/2006/chart">
            <c:chart xmlns:r="http://schemas.openxmlformats.org/officeDocument/2006/relationships" xmlns:c="http://schemas.openxmlformats.org/drawingml/2006/chart" r:id="R8dad425e278a466d"/>
          </a:graphicData>
        </a:graphic>
      </p:graphicFrame>
      <p:sp>
        <p:nvSpPr>
          <p:cNvPr id="6" name="">
            <a:extLst xmlns:a="http://schemas.openxmlformats.org/drawingml/2006/main">
              <a:ext uri="{FF2B5EF4-FFF2-40B4-BE49-F238E27FC236}">
                <a16:creationId xmlns:a16="http://schemas.microsoft.com/office/drawing/2014/main" id="{54A0093E-F631-43F7-91AF-170EFBB52375}"/>
              </a:ext>
            </a:extLst>
          </p:cNvPr>
          <p:cNvSpPr>
            <a:spLocks xmlns:a="http://schemas.openxmlformats.org/drawingml/2006/main" noGrp="1"/>
          </p:cNvSpPr>
          <p:nvPr/>
        </p:nvSpPr>
        <p:spPr>
          <a:xfrm xmlns:a="http://schemas.openxmlformats.org/drawingml/2006/main">
            <a:off x="7848600" y="1466850"/>
            <a:ext cx="3429000" cy="1733550"/>
          </a:xfrm>
          <a:prstGeom xmlns:a="http://schemas.openxmlformats.org/drawingml/2006/main" prst="roundRect">
            <a:avLst>
              <a:gd name="adj" fmla="val 4396"/>
            </a:avLst>
          </a:prstGeom>
          <a:solidFill xmlns:a="http://schemas.openxmlformats.org/drawingml/2006/main">
            <a:srgbClr val="ECFDF3"/>
          </a:solidFill>
          <a:ln xmlns:a="http://schemas.openxmlformats.org/drawingml/2006/main" w="9525">
            <a:solidFill>
              <a:srgbClr val="ABEFC6"/>
            </a:solidFill>
          </a:ln>
        </p:spPr>
      </p:sp>
      <p:sp>
        <p:nvSpPr>
          <p:cNvPr id="7" name="">
            <a:extLst xmlns:a="http://schemas.openxmlformats.org/drawingml/2006/main">
              <a:ext uri="{FF2B5EF4-FFF2-40B4-BE49-F238E27FC236}">
                <a16:creationId xmlns:a16="http://schemas.microsoft.com/office/drawing/2014/main" id="{FA0E9D7B-C916-4185-BFAF-8DBC007944A7}"/>
              </a:ext>
            </a:extLst>
          </p:cNvPr>
          <p:cNvSpPr>
            <a:spLocks xmlns:a="http://schemas.openxmlformats.org/drawingml/2006/main" noGrp="1"/>
          </p:cNvSpPr>
          <p:nvPr/>
        </p:nvSpPr>
        <p:spPr>
          <a:xfrm xmlns:a="http://schemas.openxmlformats.org/drawingml/2006/main">
            <a:off x="8096250" y="1695450"/>
            <a:ext cx="2914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75" b="1">
                <a:solidFill>
                  <a:srgbClr val="0E9384"/>
                </a:solidFill>
                <a:latin typeface="Microsoft YaHei"/>
                <a:ea typeface="Microsoft YaHei"/>
                <a:cs typeface="Microsoft YaHei"/>
              </a:defRPr>
            </a:pPr>
            <a:r>
              <a:rPr sz="1275" b="1">
                <a:solidFill>
                  <a:srgbClr val="0E9384"/>
                </a:solidFill>
                <a:latin typeface="Microsoft YaHei"/>
                <a:ea typeface="Microsoft YaHei"/>
                <a:cs typeface="Microsoft YaHei"/>
              </a:rPr>
              <a:t>位置替换的增益</a:t>
            </a:r>
          </a:p>
        </p:txBody>
      </p:sp>
      <p:sp>
        <p:nvSpPr>
          <p:cNvPr id="8" name="">
            <a:extLst xmlns:a="http://schemas.openxmlformats.org/drawingml/2006/main">
              <a:ext uri="{FF2B5EF4-FFF2-40B4-BE49-F238E27FC236}">
                <a16:creationId xmlns:a16="http://schemas.microsoft.com/office/drawing/2014/main" id="{F5D07A89-94F7-4EB1-A24B-F377D152826E}"/>
              </a:ext>
            </a:extLst>
          </p:cNvPr>
          <p:cNvSpPr>
            <a:spLocks xmlns:a="http://schemas.openxmlformats.org/drawingml/2006/main" noGrp="1"/>
          </p:cNvSpPr>
          <p:nvPr/>
        </p:nvSpPr>
        <p:spPr>
          <a:xfrm xmlns:a="http://schemas.openxmlformats.org/drawingml/2006/main">
            <a:off x="8096250" y="2076450"/>
            <a:ext cx="2914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250" b="1">
                <a:solidFill>
                  <a:srgbClr val="0E9384"/>
                </a:solidFill>
                <a:latin typeface="Microsoft YaHei"/>
                <a:ea typeface="Microsoft YaHei"/>
                <a:cs typeface="Microsoft YaHei"/>
              </a:defRPr>
            </a:pPr>
            <a:r>
              <a:rPr sz="2250" b="1">
                <a:solidFill>
                  <a:srgbClr val="0E9384"/>
                </a:solidFill>
                <a:latin typeface="Microsoft YaHei"/>
                <a:ea typeface="Microsoft YaHei"/>
                <a:cs typeface="Microsoft YaHei"/>
              </a:rPr>
              <a:t>+0.283 / +0.275</a:t>
            </a:r>
          </a:p>
        </p:txBody>
      </p:sp>
      <p:sp>
        <p:nvSpPr>
          <p:cNvPr id="9" name="">
            <a:extLst xmlns:a="http://schemas.openxmlformats.org/drawingml/2006/main">
              <a:ext uri="{FF2B5EF4-FFF2-40B4-BE49-F238E27FC236}">
                <a16:creationId xmlns:a16="http://schemas.microsoft.com/office/drawing/2014/main" id="{8CE3A120-F35F-43E6-B69E-7A8471CE9509}"/>
              </a:ext>
            </a:extLst>
          </p:cNvPr>
          <p:cNvSpPr>
            <a:spLocks xmlns:a="http://schemas.openxmlformats.org/drawingml/2006/main" noGrp="1"/>
          </p:cNvSpPr>
          <p:nvPr/>
        </p:nvSpPr>
        <p:spPr>
          <a:xfrm xmlns:a="http://schemas.openxmlformats.org/drawingml/2006/main">
            <a:off x="8096250" y="2647950"/>
            <a:ext cx="2914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深度来源不同的两组对照均成立</a:t>
            </a:r>
          </a:p>
        </p:txBody>
      </p:sp>
      <p:sp>
        <p:nvSpPr>
          <p:cNvPr id="10" name="">
            <a:extLst xmlns:a="http://schemas.openxmlformats.org/drawingml/2006/main">
              <a:ext uri="{FF2B5EF4-FFF2-40B4-BE49-F238E27FC236}">
                <a16:creationId xmlns:a16="http://schemas.microsoft.com/office/drawing/2014/main" id="{FA8C1F69-1C97-49D6-8E3E-D6AEEE3C3735}"/>
              </a:ext>
            </a:extLst>
          </p:cNvPr>
          <p:cNvSpPr>
            <a:spLocks xmlns:a="http://schemas.openxmlformats.org/drawingml/2006/main" noGrp="1"/>
          </p:cNvSpPr>
          <p:nvPr/>
        </p:nvSpPr>
        <p:spPr>
          <a:xfrm xmlns:a="http://schemas.openxmlformats.org/drawingml/2006/main">
            <a:off x="7848600" y="3429000"/>
            <a:ext cx="3429000" cy="1733550"/>
          </a:xfrm>
          <a:prstGeom xmlns:a="http://schemas.openxmlformats.org/drawingml/2006/main" prst="roundRect">
            <a:avLst>
              <a:gd name="adj" fmla="val 4396"/>
            </a:avLst>
          </a:prstGeom>
          <a:solidFill xmlns:a="http://schemas.openxmlformats.org/drawingml/2006/main">
            <a:srgbClr val="FFF6ED"/>
          </a:solidFill>
          <a:ln xmlns:a="http://schemas.openxmlformats.org/drawingml/2006/main" w="9525">
            <a:solidFill>
              <a:srgbClr val="FEDF89"/>
            </a:solidFill>
          </a:ln>
        </p:spPr>
      </p:sp>
      <p:sp>
        <p:nvSpPr>
          <p:cNvPr id="11" name="">
            <a:extLst xmlns:a="http://schemas.openxmlformats.org/drawingml/2006/main">
              <a:ext uri="{FF2B5EF4-FFF2-40B4-BE49-F238E27FC236}">
                <a16:creationId xmlns:a16="http://schemas.microsoft.com/office/drawing/2014/main" id="{5532CC2D-5EEF-4658-B77A-BA0694F9D8DC}"/>
              </a:ext>
            </a:extLst>
          </p:cNvPr>
          <p:cNvSpPr>
            <a:spLocks xmlns:a="http://schemas.openxmlformats.org/drawingml/2006/main" noGrp="1"/>
          </p:cNvSpPr>
          <p:nvPr/>
        </p:nvSpPr>
        <p:spPr>
          <a:xfrm xmlns:a="http://schemas.openxmlformats.org/drawingml/2006/main">
            <a:off x="8096250" y="3657600"/>
            <a:ext cx="2914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75" b="1">
                <a:solidFill>
                  <a:srgbClr val="F79009"/>
                </a:solidFill>
                <a:latin typeface="Microsoft YaHei"/>
                <a:ea typeface="Microsoft YaHei"/>
                <a:cs typeface="Microsoft YaHei"/>
              </a:defRPr>
            </a:pPr>
            <a:r>
              <a:rPr sz="1275" b="1">
                <a:solidFill>
                  <a:srgbClr val="F79009"/>
                </a:solidFill>
                <a:latin typeface="Microsoft YaHei"/>
                <a:ea typeface="Microsoft YaHei"/>
                <a:cs typeface="Microsoft YaHei"/>
              </a:rPr>
              <a:t>深度替换的增益</a:t>
            </a:r>
          </a:p>
        </p:txBody>
      </p:sp>
      <p:sp>
        <p:nvSpPr>
          <p:cNvPr id="12" name="">
            <a:extLst xmlns:a="http://schemas.openxmlformats.org/drawingml/2006/main">
              <a:ext uri="{FF2B5EF4-FFF2-40B4-BE49-F238E27FC236}">
                <a16:creationId xmlns:a16="http://schemas.microsoft.com/office/drawing/2014/main" id="{B192F024-7BA9-4EDA-B9D5-0D8BBD8C03B7}"/>
              </a:ext>
            </a:extLst>
          </p:cNvPr>
          <p:cNvSpPr>
            <a:spLocks xmlns:a="http://schemas.openxmlformats.org/drawingml/2006/main" noGrp="1"/>
          </p:cNvSpPr>
          <p:nvPr/>
        </p:nvSpPr>
        <p:spPr>
          <a:xfrm xmlns:a="http://schemas.openxmlformats.org/drawingml/2006/main">
            <a:off x="8096250" y="4038600"/>
            <a:ext cx="2914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250" b="1">
                <a:solidFill>
                  <a:srgbClr val="F79009"/>
                </a:solidFill>
                <a:latin typeface="Microsoft YaHei"/>
                <a:ea typeface="Microsoft YaHei"/>
                <a:cs typeface="Microsoft YaHei"/>
              </a:defRPr>
            </a:pPr>
            <a:r>
              <a:rPr sz="2250" b="1">
                <a:solidFill>
                  <a:srgbClr val="F79009"/>
                </a:solidFill>
                <a:latin typeface="Microsoft YaHei"/>
                <a:ea typeface="Microsoft YaHei"/>
                <a:cs typeface="Microsoft YaHei"/>
              </a:rPr>
              <a:t>+0.004 / −0.004</a:t>
            </a:r>
          </a:p>
        </p:txBody>
      </p:sp>
      <p:sp>
        <p:nvSpPr>
          <p:cNvPr id="13" name="">
            <a:extLst xmlns:a="http://schemas.openxmlformats.org/drawingml/2006/main">
              <a:ext uri="{FF2B5EF4-FFF2-40B4-BE49-F238E27FC236}">
                <a16:creationId xmlns:a16="http://schemas.microsoft.com/office/drawing/2014/main" id="{B64937EF-DE1F-45FA-B174-AAE23BCE1788}"/>
              </a:ext>
            </a:extLst>
          </p:cNvPr>
          <p:cNvSpPr>
            <a:spLocks xmlns:a="http://schemas.openxmlformats.org/drawingml/2006/main" noGrp="1"/>
          </p:cNvSpPr>
          <p:nvPr/>
        </p:nvSpPr>
        <p:spPr>
          <a:xfrm xmlns:a="http://schemas.openxmlformats.org/drawingml/2006/main">
            <a:off x="8096250" y="4610100"/>
            <a:ext cx="2914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在该模型和场景下与统计分辨率相当</a:t>
            </a:r>
          </a:p>
        </p:txBody>
      </p:sp>
      <p:sp>
        <p:nvSpPr>
          <p:cNvPr id="14" name="">
            <a:extLst xmlns:a="http://schemas.openxmlformats.org/drawingml/2006/main">
              <a:ext uri="{FF2B5EF4-FFF2-40B4-BE49-F238E27FC236}">
                <a16:creationId xmlns:a16="http://schemas.microsoft.com/office/drawing/2014/main" id="{C35D3703-4D0E-44A3-BC7A-B59A7721A2E9}"/>
              </a:ext>
            </a:extLst>
          </p:cNvPr>
          <p:cNvSpPr>
            <a:spLocks xmlns:a="http://schemas.openxmlformats.org/drawingml/2006/main" noGrp="1"/>
          </p:cNvSpPr>
          <p:nvPr/>
        </p:nvSpPr>
        <p:spPr>
          <a:xfrm xmlns:a="http://schemas.openxmlformats.org/drawingml/2006/main">
            <a:off x="628650" y="57150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75" b="0">
                <a:solidFill>
                  <a:srgbClr val="D92D20"/>
                </a:solidFill>
                <a:latin typeface="Microsoft YaHei"/>
                <a:ea typeface="Microsoft YaHei"/>
                <a:cs typeface="Microsoft YaHei"/>
              </a:defRPr>
            </a:pPr>
            <a:r>
              <a:rPr sz="1275" b="0">
                <a:solidFill>
                  <a:srgbClr val="D92D20"/>
                </a:solidFill>
                <a:latin typeface="Microsoft YaHei"/>
                <a:ea typeface="Microsoft YaHei"/>
                <a:cs typeface="Microsoft YaHei"/>
              </a:rPr>
              <a:t>95% 以上的丢失发生在 pickup_wait 的 AOD 束缚判定，而非 drop-off。</a:t>
            </a:r>
          </a:p>
        </p:txBody>
      </p:sp>
      <p:sp>
        <p:nvSpPr>
          <p:cNvPr id="15" name="">
            <a:extLst xmlns:a="http://schemas.openxmlformats.org/drawingml/2006/main">
              <a:ext uri="{FF2B5EF4-FFF2-40B4-BE49-F238E27FC236}">
                <a16:creationId xmlns:a16="http://schemas.microsoft.com/office/drawing/2014/main" id="{6663B031-5D5B-43F5-B94E-D788EA783674}"/>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6" name="">
            <a:extLst xmlns:a="http://schemas.openxmlformats.org/drawingml/2006/main">
              <a:ext uri="{FF2B5EF4-FFF2-40B4-BE49-F238E27FC236}">
                <a16:creationId xmlns:a16="http://schemas.microsoft.com/office/drawing/2014/main" id="{60DE2539-C0DA-49AD-BDEE-79D5E2AB1BA2}"/>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 summary_stage1.md §6.1 · reproducible script ablation_cross_2x2.py</a:t>
            </a:r>
          </a:p>
        </p:txBody>
      </p:sp>
      <p:sp>
        <p:nvSpPr>
          <p:cNvPr id="17" name="">
            <a:extLst xmlns:a="http://schemas.openxmlformats.org/drawingml/2006/main">
              <a:ext uri="{FF2B5EF4-FFF2-40B4-BE49-F238E27FC236}">
                <a16:creationId xmlns:a16="http://schemas.microsoft.com/office/drawing/2014/main" id="{9011429D-6DE0-41AE-8719-23D57C2948F0}"/>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15</a:t>
            </a:r>
          </a:p>
        </p:txBody>
      </p:sp>
    </p:spTree>
    <p:extLst>
      <p:ext uri="{BB962C8B-B14F-4D97-AF65-F5344CB8AC3E}">
        <p14:creationId xmlns:p14="http://schemas.microsoft.com/office/powerpoint/2010/main" val="792790014"/>
      </p:ext>
    </p:extLst>
  </p:cSld>
</p:sld>
</file>

<file path=ppt/slides/slide1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49075B9-6E45-4D25-87D5-B0E487A92B8A}"/>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14</a:t>
            </a:r>
          </a:p>
        </p:txBody>
      </p:sp>
      <p:sp>
        <p:nvSpPr>
          <p:cNvPr id="2" name="">
            <a:extLst xmlns:a="http://schemas.openxmlformats.org/drawingml/2006/main">
              <a:ext uri="{FF2B5EF4-FFF2-40B4-BE49-F238E27FC236}">
                <a16:creationId xmlns:a16="http://schemas.microsoft.com/office/drawing/2014/main" id="{05F1C1B1-31A3-4CB2-99FA-109D39E0A43D}"/>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用逐点误差执行定量验收</a:t>
            </a:r>
          </a:p>
        </p:txBody>
      </p:sp>
      <p:sp>
        <p:nvSpPr>
          <p:cNvPr id="3" name="">
            <a:extLst xmlns:a="http://schemas.openxmlformats.org/drawingml/2006/main">
              <a:ext uri="{FF2B5EF4-FFF2-40B4-BE49-F238E27FC236}">
                <a16:creationId xmlns:a16="http://schemas.microsoft.com/office/drawing/2014/main" id="{9DF19651-536F-4A7A-8847-99E16C762BAC}"/>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C760C904-E7EF-4584-B766-6C0E4CECB667}"/>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Manual 使用 T40 的 512-shot 完整曲线；Fig. 6c ML 只验收已提交的 256-shot 端点</a:t>
            </a:r>
          </a:p>
        </p:txBody>
      </p:sp>
      <p:graphicFrame>
        <p:nvGraphicFramePr>
          <p:cNvPr id="21" name=""/>
          <p:cNvGraphicFramePr/>
          <p:nvPr/>
        </p:nvGraphicFramePr>
        <p:xfrm>
          <a:off xmlns:a="http://schemas.openxmlformats.org/drawingml/2006/main" x="609600" y="1466850"/>
          <a:ext xmlns:a="http://schemas.openxmlformats.org/drawingml/2006/main" cx="10972800" cy="2724150"/>
        </p:xfrm>
        <a:graphic xmlns:a="http://schemas.openxmlformats.org/drawingml/2006/main">
          <a:graphicData uri="http://schemas.openxmlformats.org/drawingml/2006/table">
            <a:tbl>
              <a:tblPr/>
              <a:tblGrid>
                <a:gridCol w="2112775"/>
                <a:gridCol w="1158619"/>
                <a:gridCol w="1226773"/>
                <a:gridCol w="1226773"/>
                <a:gridCol w="1499389"/>
                <a:gridCol w="2112775"/>
                <a:gridCol w="1635697"/>
              </a:tblGrid>
              <a:tr h="544830">
                <a:tc>
                  <a:txBody>
                    <a:bodyPr>
                      <a:noAutofit/>
                    </a:bodyPr>
                    <a:lstStyle/>
                    <a:p>
                      <a:pPr algn="l">
                        <a:buNone/>
                      </a:pPr>
                      <a:r>
                        <a:rPr sz="975" b="1">
                          <a:solidFill>
                            <a:srgbClr val="FFFFFF"/>
                          </a:solidFill>
                          <a:latin typeface="Microsoft YaHei"/>
                          <a:ea typeface="Microsoft YaHei"/>
                          <a:cs typeface="Microsoft YaHei"/>
                        </a:rPr>
                        <a:t>Trajectory</a:t>
                      </a:r>
                    </a:p>
                  </a:txBody>
                  <a:tcPr marL="91440" marR="91440" marT="45720" marB="45720" anchor="ctr">
                    <a:solidFill>
                      <a:srgbClr val="102A43"/>
                    </a:solidFill>
                  </a:tcPr>
                </a:tc>
                <a:tc>
                  <a:txBody>
                    <a:bodyPr>
                      <a:noAutofit/>
                    </a:bodyPr>
                    <a:lstStyle/>
                    <a:p>
                      <a:pPr algn="ctr">
                        <a:buNone/>
                      </a:pPr>
                      <a:r>
                        <a:rPr sz="975" b="1">
                          <a:solidFill>
                            <a:srgbClr val="FFFFFF"/>
                          </a:solidFill>
                          <a:latin typeface="Microsoft YaHei"/>
                          <a:ea typeface="Microsoft YaHei"/>
                          <a:cs typeface="Microsoft YaHei"/>
                        </a:rPr>
                        <a:t>Endpoint</a:t>
                      </a:r>
                    </a:p>
                  </a:txBody>
                  <a:tcPr marL="91440" marR="91440" marT="45720" marB="45720" anchor="ctr">
                    <a:solidFill>
                      <a:srgbClr val="102A43"/>
                    </a:solidFill>
                  </a:tcPr>
                </a:tc>
                <a:tc>
                  <a:txBody>
                    <a:bodyPr>
                      <a:noAutofit/>
                    </a:bodyPr>
                    <a:lstStyle/>
                    <a:p>
                      <a:pPr algn="ctr">
                        <a:buNone/>
                      </a:pPr>
                      <a:r>
                        <a:rPr sz="975" b="1">
                          <a:solidFill>
                            <a:srgbClr val="FFFFFF"/>
                          </a:solidFill>
                          <a:latin typeface="Microsoft YaHei"/>
                          <a:ea typeface="Microsoft YaHei"/>
                          <a:cs typeface="Microsoft YaHei"/>
                        </a:rPr>
                        <a:t>Paper</a:t>
                      </a:r>
                    </a:p>
                  </a:txBody>
                  <a:tcPr marL="91440" marR="91440" marT="45720" marB="45720" anchor="ctr">
                    <a:solidFill>
                      <a:srgbClr val="102A43"/>
                    </a:solidFill>
                  </a:tcPr>
                </a:tc>
                <a:tc>
                  <a:txBody>
                    <a:bodyPr>
                      <a:noAutofit/>
                    </a:bodyPr>
                    <a:lstStyle/>
                    <a:p>
                      <a:pPr algn="ctr">
                        <a:buNone/>
                      </a:pPr>
                      <a:r>
                        <a:rPr sz="975" b="1">
                          <a:solidFill>
                            <a:srgbClr val="FFFFFF"/>
                          </a:solidFill>
                          <a:latin typeface="Microsoft YaHei"/>
                          <a:ea typeface="Microsoft YaHei"/>
                          <a:cs typeface="Microsoft YaHei"/>
                        </a:rPr>
                        <a:t>MC</a:t>
                      </a:r>
                    </a:p>
                  </a:txBody>
                  <a:tcPr marL="91440" marR="91440" marT="45720" marB="45720" anchor="ctr">
                    <a:solidFill>
                      <a:srgbClr val="102A43"/>
                    </a:solidFill>
                  </a:tcPr>
                </a:tc>
                <a:tc>
                  <a:txBody>
                    <a:bodyPr>
                      <a:noAutofit/>
                    </a:bodyPr>
                    <a:lstStyle/>
                    <a:p>
                      <a:pPr algn="ctr">
                        <a:buNone/>
                      </a:pPr>
                      <a:r>
                        <a:rPr sz="975" b="1">
                          <a:solidFill>
                            <a:srgbClr val="FFFFFF"/>
                          </a:solidFill>
                          <a:latin typeface="Microsoft YaHei"/>
                          <a:ea typeface="Microsoft YaHei"/>
                          <a:cs typeface="Microsoft YaHei"/>
                        </a:rPr>
                        <a:t>MC−Paper</a:t>
                      </a:r>
                    </a:p>
                  </a:txBody>
                  <a:tcPr marL="91440" marR="91440" marT="45720" marB="45720" anchor="ctr">
                    <a:solidFill>
                      <a:srgbClr val="102A43"/>
                    </a:solidFill>
                  </a:tcPr>
                </a:tc>
                <a:tc>
                  <a:txBody>
                    <a:bodyPr>
                      <a:noAutofit/>
                    </a:bodyPr>
                    <a:lstStyle/>
                    <a:p>
                      <a:pPr algn="ctr">
                        <a:buNone/>
                      </a:pPr>
                      <a:r>
                        <a:rPr sz="975" b="1">
                          <a:solidFill>
                            <a:srgbClr val="FFFFFF"/>
                          </a:solidFill>
                          <a:latin typeface="Microsoft YaHei"/>
                          <a:ea typeface="Microsoft YaHei"/>
                          <a:cs typeface="Microsoft YaHei"/>
                        </a:rPr>
                        <a:t>Max |curve error|</a:t>
                      </a:r>
                    </a:p>
                  </a:txBody>
                  <a:tcPr marL="91440" marR="91440" marT="45720" marB="45720" anchor="ctr">
                    <a:solidFill>
                      <a:srgbClr val="102A43"/>
                    </a:solidFill>
                  </a:tcPr>
                </a:tc>
                <a:tc>
                  <a:txBody>
                    <a:bodyPr>
                      <a:noAutofit/>
                    </a:bodyPr>
                    <a:lstStyle/>
                    <a:p>
                      <a:pPr algn="ctr">
                        <a:buNone/>
                      </a:pPr>
                      <a:r>
                        <a:rPr sz="975" b="1">
                          <a:solidFill>
                            <a:srgbClr val="FFFFFF"/>
                          </a:solidFill>
                          <a:latin typeface="Microsoft YaHei"/>
                          <a:ea typeface="Microsoft YaHei"/>
                          <a:cs typeface="Microsoft YaHei"/>
                        </a:rPr>
                        <a:t>Within ±0.02</a:t>
                      </a:r>
                    </a:p>
                  </a:txBody>
                  <a:tcPr marL="91440" marR="91440" marT="45720" marB="45720" anchor="ctr">
                    <a:solidFill>
                      <a:srgbClr val="102A43"/>
                    </a:solidFill>
                  </a:tcPr>
                </a:tc>
              </a:tr>
              <a:tr h="544830">
                <a:tc>
                  <a:txBody>
                    <a:bodyPr>
                      <a:noAutofit/>
                    </a:bodyPr>
                    <a:lstStyle/>
                    <a:p>
                      <a:pPr algn="l">
                        <a:buNone/>
                      </a:pPr>
                      <a:r>
                        <a:rPr sz="1050" b="0">
                          <a:solidFill>
                            <a:srgbClr val="344054"/>
                          </a:solidFill>
                          <a:latin typeface="Microsoft YaHei"/>
                          <a:ea typeface="Microsoft YaHei"/>
                          <a:cs typeface="Microsoft YaHei"/>
                        </a:rPr>
                        <a:t>Manual 200</a:t>
                      </a:r>
                    </a:p>
                  </a:txBody>
                  <a:tcPr marL="91440" marR="91440" marT="45720" marB="45720" anchor="ctr">
                    <a:solidFill>
                      <a:srgbClr val="FFFFFF"/>
                    </a:solidFill>
                  </a:tcPr>
                </a:tc>
                <a:tc>
                  <a:txBody>
                    <a:bodyPr>
                      <a:noAutofit/>
                    </a:bodyPr>
                    <a:lstStyle/>
                    <a:p>
                      <a:pPr algn="ctr">
                        <a:buNone/>
                      </a:pPr>
                      <a:r>
                        <a:rPr sz="1050" b="0">
                          <a:solidFill>
                            <a:srgbClr val="344054"/>
                          </a:solidFill>
                          <a:latin typeface="Microsoft YaHei"/>
                          <a:ea typeface="Microsoft YaHei"/>
                          <a:cs typeface="Microsoft YaHei"/>
                        </a:rPr>
                        <a:t>S(31)</a:t>
                      </a:r>
                    </a:p>
                  </a:txBody>
                  <a:tcPr marL="91440" marR="91440" marT="45720" marB="45720" anchor="ctr">
                    <a:solidFill>
                      <a:srgbClr val="FFFFFF"/>
                    </a:solidFill>
                  </a:tcPr>
                </a:tc>
                <a:tc>
                  <a:txBody>
                    <a:bodyPr>
                      <a:noAutofit/>
                    </a:bodyPr>
                    <a:lstStyle/>
                    <a:p>
                      <a:pPr algn="ctr">
                        <a:buNone/>
                      </a:pPr>
                      <a:r>
                        <a:rPr sz="1050" b="0">
                          <a:solidFill>
                            <a:srgbClr val="344054"/>
                          </a:solidFill>
                          <a:latin typeface="Microsoft YaHei"/>
                          <a:ea typeface="Microsoft YaHei"/>
                          <a:cs typeface="Microsoft YaHei"/>
                        </a:rPr>
                        <a:t>33.4%</a:t>
                      </a:r>
                    </a:p>
                  </a:txBody>
                  <a:tcPr marL="91440" marR="91440" marT="45720" marB="45720" anchor="ctr">
                    <a:solidFill>
                      <a:srgbClr val="FFFFFF"/>
                    </a:solidFill>
                  </a:tcPr>
                </a:tc>
                <a:tc>
                  <a:txBody>
                    <a:bodyPr>
                      <a:noAutofit/>
                    </a:bodyPr>
                    <a:lstStyle/>
                    <a:p>
                      <a:pPr algn="ctr">
                        <a:buNone/>
                      </a:pPr>
                      <a:r>
                        <a:rPr sz="1050" b="0">
                          <a:solidFill>
                            <a:srgbClr val="344054"/>
                          </a:solidFill>
                          <a:latin typeface="Microsoft YaHei"/>
                          <a:ea typeface="Microsoft YaHei"/>
                          <a:cs typeface="Microsoft YaHei"/>
                        </a:rPr>
                        <a:t>24.0%</a:t>
                      </a:r>
                    </a:p>
                  </a:txBody>
                  <a:tcPr marL="91440" marR="91440" marT="45720" marB="45720" anchor="ctr">
                    <a:solidFill>
                      <a:srgbClr val="FFFFFF"/>
                    </a:solidFill>
                  </a:tcPr>
                </a:tc>
                <a:tc>
                  <a:txBody>
                    <a:bodyPr>
                      <a:noAutofit/>
                    </a:bodyPr>
                    <a:lstStyle/>
                    <a:p>
                      <a:pPr algn="ctr">
                        <a:buNone/>
                      </a:pPr>
                      <a:r>
                        <a:rPr sz="1050" b="0">
                          <a:solidFill>
                            <a:srgbClr val="344054"/>
                          </a:solidFill>
                          <a:latin typeface="Microsoft YaHei"/>
                          <a:ea typeface="Microsoft YaHei"/>
                          <a:cs typeface="Microsoft YaHei"/>
                        </a:rPr>
                        <a:t>-9.4 pp</a:t>
                      </a:r>
                    </a:p>
                  </a:txBody>
                  <a:tcPr marL="91440" marR="91440" marT="45720" marB="45720" anchor="ctr">
                    <a:solidFill>
                      <a:srgbClr val="FFFFFF"/>
                    </a:solidFill>
                  </a:tcPr>
                </a:tc>
                <a:tc>
                  <a:txBody>
                    <a:bodyPr>
                      <a:noAutofit/>
                    </a:bodyPr>
                    <a:lstStyle/>
                    <a:p>
                      <a:pPr algn="ctr">
                        <a:buNone/>
                      </a:pPr>
                      <a:r>
                        <a:rPr sz="1050" b="0">
                          <a:solidFill>
                            <a:srgbClr val="344054"/>
                          </a:solidFill>
                          <a:latin typeface="Microsoft YaHei"/>
                          <a:ea typeface="Microsoft YaHei"/>
                          <a:cs typeface="Microsoft YaHei"/>
                        </a:rPr>
                        <a:t>17.8 pp</a:t>
                      </a:r>
                    </a:p>
                  </a:txBody>
                  <a:tcPr marL="91440" marR="91440" marT="45720" marB="45720" anchor="ctr">
                    <a:solidFill>
                      <a:srgbClr val="FFFFFF"/>
                    </a:solidFill>
                  </a:tcPr>
                </a:tc>
                <a:tc>
                  <a:txBody>
                    <a:bodyPr>
                      <a:noAutofit/>
                    </a:bodyPr>
                    <a:lstStyle/>
                    <a:p>
                      <a:pPr algn="ctr">
                        <a:buNone/>
                      </a:pPr>
                      <a:r>
                        <a:rPr sz="1050" b="0">
                          <a:solidFill>
                            <a:srgbClr val="344054"/>
                          </a:solidFill>
                          <a:latin typeface="Microsoft YaHei"/>
                          <a:ea typeface="Microsoft YaHei"/>
                          <a:cs typeface="Microsoft YaHei"/>
                        </a:rPr>
                        <a:t>0%</a:t>
                      </a:r>
                    </a:p>
                  </a:txBody>
                  <a:tcPr marL="91440" marR="91440" marT="45720" marB="45720" anchor="ctr">
                    <a:solidFill>
                      <a:srgbClr val="FFFFFF"/>
                    </a:solidFill>
                  </a:tcPr>
                </a:tc>
              </a:tr>
              <a:tr h="544830">
                <a:tc>
                  <a:txBody>
                    <a:bodyPr>
                      <a:noAutofit/>
                    </a:bodyPr>
                    <a:lstStyle/>
                    <a:p>
                      <a:pPr algn="l">
                        <a:buNone/>
                      </a:pPr>
                      <a:r>
                        <a:rPr sz="1050" b="0">
                          <a:solidFill>
                            <a:srgbClr val="344054"/>
                          </a:solidFill>
                          <a:latin typeface="Microsoft YaHei"/>
                          <a:ea typeface="Microsoft YaHei"/>
                          <a:cs typeface="Microsoft YaHei"/>
                        </a:rPr>
                        <a:t>Manual 400</a:t>
                      </a:r>
                    </a:p>
                  </a:txBody>
                  <a:tcPr marL="91440" marR="91440" marT="45720" marB="45720" anchor="ctr">
                    <a:solidFill>
                      <a:srgbClr val="F8FAFC"/>
                    </a:solidFill>
                  </a:tcPr>
                </a:tc>
                <a:tc>
                  <a:txBody>
                    <a:bodyPr>
                      <a:noAutofit/>
                    </a:bodyPr>
                    <a:lstStyle/>
                    <a:p>
                      <a:pPr algn="ctr">
                        <a:buNone/>
                      </a:pPr>
                      <a:r>
                        <a:rPr sz="1050" b="0">
                          <a:solidFill>
                            <a:srgbClr val="344054"/>
                          </a:solidFill>
                          <a:latin typeface="Microsoft YaHei"/>
                          <a:ea typeface="Microsoft YaHei"/>
                          <a:cs typeface="Microsoft YaHei"/>
                        </a:rPr>
                        <a:t>S(60)</a:t>
                      </a:r>
                    </a:p>
                  </a:txBody>
                  <a:tcPr marL="91440" marR="91440" marT="45720" marB="45720" anchor="ctr">
                    <a:solidFill>
                      <a:srgbClr val="F8FAFC"/>
                    </a:solidFill>
                  </a:tcPr>
                </a:tc>
                <a:tc>
                  <a:txBody>
                    <a:bodyPr>
                      <a:noAutofit/>
                    </a:bodyPr>
                    <a:lstStyle/>
                    <a:p>
                      <a:pPr algn="ctr">
                        <a:buNone/>
                      </a:pPr>
                      <a:r>
                        <a:rPr sz="1050" b="0">
                          <a:solidFill>
                            <a:srgbClr val="344054"/>
                          </a:solidFill>
                          <a:latin typeface="Microsoft YaHei"/>
                          <a:ea typeface="Microsoft YaHei"/>
                          <a:cs typeface="Microsoft YaHei"/>
                        </a:rPr>
                        <a:t>41.3%</a:t>
                      </a:r>
                    </a:p>
                  </a:txBody>
                  <a:tcPr marL="91440" marR="91440" marT="45720" marB="45720" anchor="ctr">
                    <a:solidFill>
                      <a:srgbClr val="F8FAFC"/>
                    </a:solidFill>
                  </a:tcPr>
                </a:tc>
                <a:tc>
                  <a:txBody>
                    <a:bodyPr>
                      <a:noAutofit/>
                    </a:bodyPr>
                    <a:lstStyle/>
                    <a:p>
                      <a:pPr algn="ctr">
                        <a:buNone/>
                      </a:pPr>
                      <a:r>
                        <a:rPr sz="1050" b="0">
                          <a:solidFill>
                            <a:srgbClr val="344054"/>
                          </a:solidFill>
                          <a:latin typeface="Microsoft YaHei"/>
                          <a:ea typeface="Microsoft YaHei"/>
                          <a:cs typeface="Microsoft YaHei"/>
                        </a:rPr>
                        <a:t>52.5%</a:t>
                      </a:r>
                    </a:p>
                  </a:txBody>
                  <a:tcPr marL="91440" marR="91440" marT="45720" marB="45720" anchor="ctr">
                    <a:solidFill>
                      <a:srgbClr val="F8FAFC"/>
                    </a:solidFill>
                  </a:tcPr>
                </a:tc>
                <a:tc>
                  <a:txBody>
                    <a:bodyPr>
                      <a:noAutofit/>
                    </a:bodyPr>
                    <a:lstStyle/>
                    <a:p>
                      <a:pPr algn="ctr">
                        <a:buNone/>
                      </a:pPr>
                      <a:r>
                        <a:rPr sz="1050" b="0">
                          <a:solidFill>
                            <a:srgbClr val="344054"/>
                          </a:solidFill>
                          <a:latin typeface="Microsoft YaHei"/>
                          <a:ea typeface="Microsoft YaHei"/>
                          <a:cs typeface="Microsoft YaHei"/>
                        </a:rPr>
                        <a:t>11.2 pp</a:t>
                      </a:r>
                    </a:p>
                  </a:txBody>
                  <a:tcPr marL="91440" marR="91440" marT="45720" marB="45720" anchor="ctr">
                    <a:solidFill>
                      <a:srgbClr val="F8FAFC"/>
                    </a:solidFill>
                  </a:tcPr>
                </a:tc>
                <a:tc>
                  <a:txBody>
                    <a:bodyPr>
                      <a:noAutofit/>
                    </a:bodyPr>
                    <a:lstStyle/>
                    <a:p>
                      <a:pPr algn="ctr">
                        <a:buNone/>
                      </a:pPr>
                      <a:r>
                        <a:rPr sz="1050" b="0">
                          <a:solidFill>
                            <a:srgbClr val="344054"/>
                          </a:solidFill>
                          <a:latin typeface="Microsoft YaHei"/>
                          <a:ea typeface="Microsoft YaHei"/>
                          <a:cs typeface="Microsoft YaHei"/>
                        </a:rPr>
                        <a:t>11.2 pp</a:t>
                      </a:r>
                    </a:p>
                  </a:txBody>
                  <a:tcPr marL="91440" marR="91440" marT="45720" marB="45720" anchor="ctr">
                    <a:solidFill>
                      <a:srgbClr val="F8FAFC"/>
                    </a:solidFill>
                  </a:tcPr>
                </a:tc>
                <a:tc>
                  <a:txBody>
                    <a:bodyPr>
                      <a:noAutofit/>
                    </a:bodyPr>
                    <a:lstStyle/>
                    <a:p>
                      <a:pPr algn="ctr">
                        <a:buNone/>
                      </a:pPr>
                      <a:r>
                        <a:rPr sz="1050" b="0">
                          <a:solidFill>
                            <a:srgbClr val="344054"/>
                          </a:solidFill>
                          <a:latin typeface="Microsoft YaHei"/>
                          <a:ea typeface="Microsoft YaHei"/>
                          <a:cs typeface="Microsoft YaHei"/>
                        </a:rPr>
                        <a:t>20%</a:t>
                      </a:r>
                    </a:p>
                  </a:txBody>
                  <a:tcPr marL="91440" marR="91440" marT="45720" marB="45720" anchor="ctr">
                    <a:solidFill>
                      <a:srgbClr val="F8FAFC"/>
                    </a:solidFill>
                  </a:tcPr>
                </a:tc>
              </a:tr>
              <a:tr h="544830">
                <a:tc>
                  <a:txBody>
                    <a:bodyPr>
                      <a:noAutofit/>
                    </a:bodyPr>
                    <a:lstStyle/>
                    <a:p>
                      <a:pPr algn="l">
                        <a:buNone/>
                      </a:pPr>
                      <a:r>
                        <a:rPr sz="1050" b="0">
                          <a:solidFill>
                            <a:srgbClr val="344054"/>
                          </a:solidFill>
                          <a:latin typeface="Microsoft YaHei"/>
                          <a:ea typeface="Microsoft YaHei"/>
                          <a:cs typeface="Microsoft YaHei"/>
                        </a:rPr>
                        <a:t>Manual 600</a:t>
                      </a:r>
                    </a:p>
                  </a:txBody>
                  <a:tcPr marL="91440" marR="91440" marT="45720" marB="45720" anchor="ctr">
                    <a:solidFill>
                      <a:srgbClr val="FFFFFF"/>
                    </a:solidFill>
                  </a:tcPr>
                </a:tc>
                <a:tc>
                  <a:txBody>
                    <a:bodyPr>
                      <a:noAutofit/>
                    </a:bodyPr>
                    <a:lstStyle/>
                    <a:p>
                      <a:pPr algn="ctr">
                        <a:buNone/>
                      </a:pPr>
                      <a:r>
                        <a:rPr sz="1050" b="0">
                          <a:solidFill>
                            <a:srgbClr val="344054"/>
                          </a:solidFill>
                          <a:latin typeface="Microsoft YaHei"/>
                          <a:ea typeface="Microsoft YaHei"/>
                          <a:cs typeface="Microsoft YaHei"/>
                        </a:rPr>
                        <a:t>S(60)</a:t>
                      </a:r>
                    </a:p>
                  </a:txBody>
                  <a:tcPr marL="91440" marR="91440" marT="45720" marB="45720" anchor="ctr">
                    <a:solidFill>
                      <a:srgbClr val="FFFFFF"/>
                    </a:solidFill>
                  </a:tcPr>
                </a:tc>
                <a:tc>
                  <a:txBody>
                    <a:bodyPr>
                      <a:noAutofit/>
                    </a:bodyPr>
                    <a:lstStyle/>
                    <a:p>
                      <a:pPr algn="ctr">
                        <a:buNone/>
                      </a:pPr>
                      <a:r>
                        <a:rPr sz="1050" b="0">
                          <a:solidFill>
                            <a:srgbClr val="344054"/>
                          </a:solidFill>
                          <a:latin typeface="Microsoft YaHei"/>
                          <a:ea typeface="Microsoft YaHei"/>
                          <a:cs typeface="Microsoft YaHei"/>
                        </a:rPr>
                        <a:t>57.3%</a:t>
                      </a:r>
                    </a:p>
                  </a:txBody>
                  <a:tcPr marL="91440" marR="91440" marT="45720" marB="45720" anchor="ctr">
                    <a:solidFill>
                      <a:srgbClr val="FFFFFF"/>
                    </a:solidFill>
                  </a:tcPr>
                </a:tc>
                <a:tc>
                  <a:txBody>
                    <a:bodyPr>
                      <a:noAutofit/>
                    </a:bodyPr>
                    <a:lstStyle/>
                    <a:p>
                      <a:pPr algn="ctr">
                        <a:buNone/>
                      </a:pPr>
                      <a:r>
                        <a:rPr sz="1050" b="0">
                          <a:solidFill>
                            <a:srgbClr val="344054"/>
                          </a:solidFill>
                          <a:latin typeface="Microsoft YaHei"/>
                          <a:ea typeface="Microsoft YaHei"/>
                          <a:cs typeface="Microsoft YaHei"/>
                        </a:rPr>
                        <a:t>68.4%</a:t>
                      </a:r>
                    </a:p>
                  </a:txBody>
                  <a:tcPr marL="91440" marR="91440" marT="45720" marB="45720" anchor="ctr">
                    <a:solidFill>
                      <a:srgbClr val="FFFFFF"/>
                    </a:solidFill>
                  </a:tcPr>
                </a:tc>
                <a:tc>
                  <a:txBody>
                    <a:bodyPr>
                      <a:noAutofit/>
                    </a:bodyPr>
                    <a:lstStyle/>
                    <a:p>
                      <a:pPr algn="ctr">
                        <a:buNone/>
                      </a:pPr>
                      <a:r>
                        <a:rPr sz="1050" b="0">
                          <a:solidFill>
                            <a:srgbClr val="344054"/>
                          </a:solidFill>
                          <a:latin typeface="Microsoft YaHei"/>
                          <a:ea typeface="Microsoft YaHei"/>
                          <a:cs typeface="Microsoft YaHei"/>
                        </a:rPr>
                        <a:t>11.1 pp</a:t>
                      </a:r>
                    </a:p>
                  </a:txBody>
                  <a:tcPr marL="91440" marR="91440" marT="45720" marB="45720" anchor="ctr">
                    <a:solidFill>
                      <a:srgbClr val="FFFFFF"/>
                    </a:solidFill>
                  </a:tcPr>
                </a:tc>
                <a:tc>
                  <a:txBody>
                    <a:bodyPr>
                      <a:noAutofit/>
                    </a:bodyPr>
                    <a:lstStyle/>
                    <a:p>
                      <a:pPr algn="ctr">
                        <a:buNone/>
                      </a:pPr>
                      <a:r>
                        <a:rPr sz="1050" b="0">
                          <a:solidFill>
                            <a:srgbClr val="344054"/>
                          </a:solidFill>
                          <a:latin typeface="Microsoft YaHei"/>
                          <a:ea typeface="Microsoft YaHei"/>
                          <a:cs typeface="Microsoft YaHei"/>
                        </a:rPr>
                        <a:t>11.7 pp</a:t>
                      </a:r>
                    </a:p>
                  </a:txBody>
                  <a:tcPr marL="91440" marR="91440" marT="45720" marB="45720" anchor="ctr">
                    <a:solidFill>
                      <a:srgbClr val="FFFFFF"/>
                    </a:solidFill>
                  </a:tcPr>
                </a:tc>
                <a:tc>
                  <a:txBody>
                    <a:bodyPr>
                      <a:noAutofit/>
                    </a:bodyPr>
                    <a:lstStyle/>
                    <a:p>
                      <a:pPr algn="ctr">
                        <a:buNone/>
                      </a:pPr>
                      <a:r>
                        <a:rPr sz="1050" b="0">
                          <a:solidFill>
                            <a:srgbClr val="344054"/>
                          </a:solidFill>
                          <a:latin typeface="Microsoft YaHei"/>
                          <a:ea typeface="Microsoft YaHei"/>
                          <a:cs typeface="Microsoft YaHei"/>
                        </a:rPr>
                        <a:t>34%</a:t>
                      </a:r>
                    </a:p>
                  </a:txBody>
                  <a:tcPr marL="91440" marR="91440" marT="45720" marB="45720" anchor="ctr">
                    <a:solidFill>
                      <a:srgbClr val="FFFFFF"/>
                    </a:solidFill>
                  </a:tcPr>
                </a:tc>
              </a:tr>
              <a:tr h="544830">
                <a:tc>
                  <a:txBody>
                    <a:bodyPr>
                      <a:noAutofit/>
                    </a:bodyPr>
                    <a:lstStyle/>
                    <a:p>
                      <a:pPr algn="l">
                        <a:buNone/>
                      </a:pPr>
                      <a:r>
                        <a:rPr sz="1050" b="0">
                          <a:solidFill>
                            <a:srgbClr val="344054"/>
                          </a:solidFill>
                          <a:latin typeface="Microsoft YaHei"/>
                          <a:ea typeface="Microsoft YaHei"/>
                          <a:cs typeface="Microsoft YaHei"/>
                        </a:rPr>
                        <a:t>Fig. 6c ML 400</a:t>
                      </a:r>
                    </a:p>
                  </a:txBody>
                  <a:tcPr marL="91440" marR="91440" marT="45720" marB="45720" anchor="ctr">
                    <a:solidFill>
                      <a:srgbClr val="EFF8FF"/>
                    </a:solidFill>
                  </a:tcPr>
                </a:tc>
                <a:tc>
                  <a:txBody>
                    <a:bodyPr>
                      <a:noAutofit/>
                    </a:bodyPr>
                    <a:lstStyle/>
                    <a:p>
                      <a:pPr algn="ctr">
                        <a:buNone/>
                      </a:pPr>
                      <a:r>
                        <a:rPr sz="1050" b="0">
                          <a:solidFill>
                            <a:srgbClr val="344054"/>
                          </a:solidFill>
                          <a:latin typeface="Microsoft YaHei"/>
                          <a:ea typeface="Microsoft YaHei"/>
                          <a:cs typeface="Microsoft YaHei"/>
                        </a:rPr>
                        <a:t>S(60)</a:t>
                      </a:r>
                    </a:p>
                  </a:txBody>
                  <a:tcPr marL="91440" marR="91440" marT="45720" marB="45720" anchor="ctr">
                    <a:solidFill>
                      <a:srgbClr val="EFF8FF"/>
                    </a:solidFill>
                  </a:tcPr>
                </a:tc>
                <a:tc>
                  <a:txBody>
                    <a:bodyPr>
                      <a:noAutofit/>
                    </a:bodyPr>
                    <a:lstStyle/>
                    <a:p>
                      <a:pPr algn="ctr">
                        <a:buNone/>
                      </a:pPr>
                      <a:r>
                        <a:rPr sz="1050" b="0">
                          <a:solidFill>
                            <a:srgbClr val="344054"/>
                          </a:solidFill>
                          <a:latin typeface="Microsoft YaHei"/>
                          <a:ea typeface="Microsoft YaHei"/>
                          <a:cs typeface="Microsoft YaHei"/>
                        </a:rPr>
                        <a:t>66.3%</a:t>
                      </a:r>
                    </a:p>
                  </a:txBody>
                  <a:tcPr marL="91440" marR="91440" marT="45720" marB="45720" anchor="ctr">
                    <a:solidFill>
                      <a:srgbClr val="EFF8FF"/>
                    </a:solidFill>
                  </a:tcPr>
                </a:tc>
                <a:tc>
                  <a:txBody>
                    <a:bodyPr>
                      <a:noAutofit/>
                    </a:bodyPr>
                    <a:lstStyle/>
                    <a:p>
                      <a:pPr algn="ctr">
                        <a:buNone/>
                      </a:pPr>
                      <a:r>
                        <a:rPr sz="1050" b="0">
                          <a:solidFill>
                            <a:srgbClr val="344054"/>
                          </a:solidFill>
                          <a:latin typeface="Microsoft YaHei"/>
                          <a:ea typeface="Microsoft YaHei"/>
                          <a:cs typeface="Microsoft YaHei"/>
                        </a:rPr>
                        <a:t>75.8%</a:t>
                      </a:r>
                    </a:p>
                  </a:txBody>
                  <a:tcPr marL="91440" marR="91440" marT="45720" marB="45720" anchor="ctr">
                    <a:solidFill>
                      <a:srgbClr val="EFF8FF"/>
                    </a:solidFill>
                  </a:tcPr>
                </a:tc>
                <a:tc>
                  <a:txBody>
                    <a:bodyPr>
                      <a:noAutofit/>
                    </a:bodyPr>
                    <a:lstStyle/>
                    <a:p>
                      <a:pPr algn="ctr">
                        <a:buNone/>
                      </a:pPr>
                      <a:r>
                        <a:rPr sz="1050" b="0">
                          <a:solidFill>
                            <a:srgbClr val="344054"/>
                          </a:solidFill>
                          <a:latin typeface="Microsoft YaHei"/>
                          <a:ea typeface="Microsoft YaHei"/>
                          <a:cs typeface="Microsoft YaHei"/>
                        </a:rPr>
                        <a:t>9.5 pp</a:t>
                      </a:r>
                    </a:p>
                  </a:txBody>
                  <a:tcPr marL="91440" marR="91440" marT="45720" marB="45720" anchor="ctr">
                    <a:solidFill>
                      <a:srgbClr val="EFF8FF"/>
                    </a:solidFill>
                  </a:tcPr>
                </a:tc>
                <a:tc>
                  <a:txBody>
                    <a:bodyPr>
                      <a:noAutofit/>
                    </a:bodyPr>
                    <a:lstStyle/>
                    <a:p>
                      <a:pPr algn="ctr">
                        <a:buNone/>
                      </a:pPr>
                      <a:r>
                        <a:rPr sz="1050" b="0">
                          <a:solidFill>
                            <a:srgbClr val="344054"/>
                          </a:solidFill>
                          <a:latin typeface="Microsoft YaHei"/>
                          <a:ea typeface="Microsoft YaHei"/>
                          <a:cs typeface="Microsoft YaHei"/>
                        </a:rPr>
                        <a:t>full curve not committed</a:t>
                      </a:r>
                    </a:p>
                  </a:txBody>
                  <a:tcPr marL="91440" marR="91440" marT="45720" marB="45720" anchor="ctr">
                    <a:solidFill>
                      <a:srgbClr val="EFF8FF"/>
                    </a:solidFill>
                  </a:tcPr>
                </a:tc>
                <a:tc>
                  <a:txBody>
                    <a:bodyPr>
                      <a:noAutofit/>
                    </a:bodyPr>
                    <a:lstStyle/>
                    <a:p>
                      <a:pPr algn="ctr">
                        <a:buNone/>
                      </a:pPr>
                      <a:r>
                        <a:rPr sz="1050" b="0">
                          <a:solidFill>
                            <a:srgbClr val="344054"/>
                          </a:solidFill>
                          <a:latin typeface="Microsoft YaHei"/>
                          <a:ea typeface="Microsoft YaHei"/>
                          <a:cs typeface="Microsoft YaHei"/>
                        </a:rPr>
                        <a:t>not evaluable</a:t>
                      </a:r>
                    </a:p>
                  </a:txBody>
                  <a:tcPr marL="91440" marR="91440" marT="45720" marB="45720" anchor="ctr">
                    <a:solidFill>
                      <a:srgbClr val="EFF8FF"/>
                    </a:solidFill>
                  </a:tcPr>
                </a:tc>
              </a:tr>
            </a:tbl>
          </a:graphicData>
        </a:graphic>
      </p:graphicFrame>
      <p:sp>
        <p:nvSpPr>
          <p:cNvPr id="6" name="">
            <a:extLst xmlns:a="http://schemas.openxmlformats.org/drawingml/2006/main">
              <a:ext uri="{FF2B5EF4-FFF2-40B4-BE49-F238E27FC236}">
                <a16:creationId xmlns:a16="http://schemas.microsoft.com/office/drawing/2014/main" id="{EE60FFDD-3777-4B4D-A7FA-BEA8DDE79E94}"/>
              </a:ext>
            </a:extLst>
          </p:cNvPr>
          <p:cNvSpPr>
            <a:spLocks xmlns:a="http://schemas.openxmlformats.org/drawingml/2006/main" noGrp="1"/>
          </p:cNvSpPr>
          <p:nvPr/>
        </p:nvSpPr>
        <p:spPr>
          <a:xfrm xmlns:a="http://schemas.openxmlformats.org/drawingml/2006/main">
            <a:off x="609600" y="4495800"/>
            <a:ext cx="5257800" cy="1428750"/>
          </a:xfrm>
          <a:prstGeom xmlns:a="http://schemas.openxmlformats.org/drawingml/2006/main" prst="roundRect">
            <a:avLst>
              <a:gd name="adj" fmla="val 5333"/>
            </a:avLst>
          </a:prstGeom>
          <a:solidFill xmlns:a="http://schemas.openxmlformats.org/drawingml/2006/main">
            <a:srgbClr val="FEF3F2"/>
          </a:solidFill>
          <a:ln xmlns:a="http://schemas.openxmlformats.org/drawingml/2006/main" w="9525">
            <a:solidFill>
              <a:srgbClr val="FECDCA"/>
            </a:solidFill>
          </a:ln>
        </p:spPr>
      </p:sp>
      <p:sp>
        <p:nvSpPr>
          <p:cNvPr id="7" name="">
            <a:extLst xmlns:a="http://schemas.openxmlformats.org/drawingml/2006/main">
              <a:ext uri="{FF2B5EF4-FFF2-40B4-BE49-F238E27FC236}">
                <a16:creationId xmlns:a16="http://schemas.microsoft.com/office/drawing/2014/main" id="{72BDFD80-D448-4330-B409-E63B29A83366}"/>
              </a:ext>
            </a:extLst>
          </p:cNvPr>
          <p:cNvSpPr>
            <a:spLocks xmlns:a="http://schemas.openxmlformats.org/drawingml/2006/main" noGrp="1"/>
          </p:cNvSpPr>
          <p:nvPr/>
        </p:nvSpPr>
        <p:spPr>
          <a:xfrm xmlns:a="http://schemas.openxmlformats.org/drawingml/2006/main">
            <a:off x="857250" y="47053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1">
                <a:solidFill>
                  <a:srgbClr val="D92D20"/>
                </a:solidFill>
                <a:latin typeface="Microsoft YaHei"/>
                <a:ea typeface="Microsoft YaHei"/>
                <a:cs typeface="Microsoft YaHei"/>
              </a:defRPr>
            </a:pPr>
            <a:r>
              <a:rPr sz="1350" b="1">
                <a:solidFill>
                  <a:srgbClr val="D92D20"/>
                </a:solidFill>
                <a:latin typeface="Microsoft YaHei"/>
                <a:ea typeface="Microsoft YaHei"/>
                <a:cs typeface="Microsoft YaHei"/>
              </a:rPr>
              <a:t>Absolute scale</a:t>
            </a:r>
          </a:p>
        </p:txBody>
      </p:sp>
      <p:sp>
        <p:nvSpPr>
          <p:cNvPr id="8" name="">
            <a:extLst xmlns:a="http://schemas.openxmlformats.org/drawingml/2006/main">
              <a:ext uri="{FF2B5EF4-FFF2-40B4-BE49-F238E27FC236}">
                <a16:creationId xmlns:a16="http://schemas.microsoft.com/office/drawing/2014/main" id="{A1C24691-FDFC-4879-8286-B6847850B0B0}"/>
              </a:ext>
            </a:extLst>
          </p:cNvPr>
          <p:cNvSpPr>
            <a:spLocks xmlns:a="http://schemas.openxmlformats.org/drawingml/2006/main" noGrp="1"/>
          </p:cNvSpPr>
          <p:nvPr/>
        </p:nvSpPr>
        <p:spPr>
          <a:xfrm xmlns:a="http://schemas.openxmlformats.org/drawingml/2006/main">
            <a:off x="857250" y="5086350"/>
            <a:ext cx="4686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Manual 400/600 和 Fig. 6c ML 的终点偏高约 9–11 pp；Manual 200 在 n=31 偏低 9.4 pp。</a:t>
            </a:r>
          </a:p>
        </p:txBody>
      </p:sp>
      <p:sp>
        <p:nvSpPr>
          <p:cNvPr id="9" name="">
            <a:extLst xmlns:a="http://schemas.openxmlformats.org/drawingml/2006/main">
              <a:ext uri="{FF2B5EF4-FFF2-40B4-BE49-F238E27FC236}">
                <a16:creationId xmlns:a16="http://schemas.microsoft.com/office/drawing/2014/main" id="{F46799C9-124D-4985-918B-55315E1DFCFF}"/>
              </a:ext>
            </a:extLst>
          </p:cNvPr>
          <p:cNvSpPr>
            <a:spLocks xmlns:a="http://schemas.openxmlformats.org/drawingml/2006/main" noGrp="1"/>
          </p:cNvSpPr>
          <p:nvPr/>
        </p:nvSpPr>
        <p:spPr>
          <a:xfrm xmlns:a="http://schemas.openxmlformats.org/drawingml/2006/main">
            <a:off x="6134100" y="4495800"/>
            <a:ext cx="5448300" cy="1428750"/>
          </a:xfrm>
          <a:prstGeom xmlns:a="http://schemas.openxmlformats.org/drawingml/2006/main" prst="roundRect">
            <a:avLst>
              <a:gd name="adj" fmla="val 5333"/>
            </a:avLst>
          </a:prstGeom>
          <a:solidFill xmlns:a="http://schemas.openxmlformats.org/drawingml/2006/main">
            <a:srgbClr val="FFF6ED"/>
          </a:solidFill>
          <a:ln xmlns:a="http://schemas.openxmlformats.org/drawingml/2006/main" w="9525">
            <a:solidFill>
              <a:srgbClr val="FEDF89"/>
            </a:solidFill>
          </a:ln>
        </p:spPr>
      </p:sp>
      <p:sp>
        <p:nvSpPr>
          <p:cNvPr id="10" name="">
            <a:extLst xmlns:a="http://schemas.openxmlformats.org/drawingml/2006/main">
              <a:ext uri="{FF2B5EF4-FFF2-40B4-BE49-F238E27FC236}">
                <a16:creationId xmlns:a16="http://schemas.microsoft.com/office/drawing/2014/main" id="{5C8A3BD9-5017-419D-8308-BEB109D5C2E7}"/>
              </a:ext>
            </a:extLst>
          </p:cNvPr>
          <p:cNvSpPr>
            <a:spLocks xmlns:a="http://schemas.openxmlformats.org/drawingml/2006/main" noGrp="1"/>
          </p:cNvSpPr>
          <p:nvPr/>
        </p:nvSpPr>
        <p:spPr>
          <a:xfrm xmlns:a="http://schemas.openxmlformats.org/drawingml/2006/main">
            <a:off x="6381750" y="47053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1">
                <a:solidFill>
                  <a:srgbClr val="F79009"/>
                </a:solidFill>
                <a:latin typeface="Microsoft YaHei"/>
                <a:ea typeface="Microsoft YaHei"/>
                <a:cs typeface="Microsoft YaHei"/>
              </a:defRPr>
            </a:pPr>
            <a:r>
              <a:rPr sz="1350" b="1">
                <a:solidFill>
                  <a:srgbClr val="F79009"/>
                </a:solidFill>
                <a:latin typeface="Microsoft YaHei"/>
                <a:ea typeface="Microsoft YaHei"/>
                <a:cs typeface="Microsoft YaHei"/>
              </a:rPr>
              <a:t>Evidence gap</a:t>
            </a:r>
          </a:p>
        </p:txBody>
      </p:sp>
      <p:sp>
        <p:nvSpPr>
          <p:cNvPr id="11" name="">
            <a:extLst xmlns:a="http://schemas.openxmlformats.org/drawingml/2006/main">
              <a:ext uri="{FF2B5EF4-FFF2-40B4-BE49-F238E27FC236}">
                <a16:creationId xmlns:a16="http://schemas.microsoft.com/office/drawing/2014/main" id="{BD9FF5A8-57CC-4771-93A7-4B95393FBE49}"/>
              </a:ext>
            </a:extLst>
          </p:cNvPr>
          <p:cNvSpPr>
            <a:spLocks xmlns:a="http://schemas.openxmlformats.org/drawingml/2006/main" noGrp="1"/>
          </p:cNvSpPr>
          <p:nvPr/>
        </p:nvSpPr>
        <p:spPr>
          <a:xfrm xmlns:a="http://schemas.openxmlformats.org/drawingml/2006/main">
            <a:off x="6381750" y="5086350"/>
            <a:ext cx="4876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最新 Fig. 6c replay 只提交了 endpoint JSON。旧 `ml_400us` 全曲线对应原冻结候选，不能替代最新轨迹。</a:t>
            </a:r>
          </a:p>
        </p:txBody>
      </p:sp>
      <p:sp>
        <p:nvSpPr>
          <p:cNvPr id="12" name="">
            <a:extLst xmlns:a="http://schemas.openxmlformats.org/drawingml/2006/main">
              <a:ext uri="{FF2B5EF4-FFF2-40B4-BE49-F238E27FC236}">
                <a16:creationId xmlns:a16="http://schemas.microsoft.com/office/drawing/2014/main" id="{45A9AB92-5A59-4931-8C4C-3B4CDEBBAB41}"/>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3" name="">
            <a:extLst xmlns:a="http://schemas.openxmlformats.org/drawingml/2006/main">
              <a:ext uri="{FF2B5EF4-FFF2-40B4-BE49-F238E27FC236}">
                <a16:creationId xmlns:a16="http://schemas.microsoft.com/office/drawing/2014/main" id="{5211E653-F69A-4FD6-9B93-B9206E126466}"/>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T40/comparison_to_paper.json · paper_ml_eval.json · monotone paper reconstruction</a:t>
            </a:r>
          </a:p>
        </p:txBody>
      </p:sp>
      <p:sp>
        <p:nvSpPr>
          <p:cNvPr id="14" name="">
            <a:extLst xmlns:a="http://schemas.openxmlformats.org/drawingml/2006/main">
              <a:ext uri="{FF2B5EF4-FFF2-40B4-BE49-F238E27FC236}">
                <a16:creationId xmlns:a16="http://schemas.microsoft.com/office/drawing/2014/main" id="{08F80FE3-F305-4F88-A64C-E85D8FA10937}"/>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16</a:t>
            </a:r>
          </a:p>
        </p:txBody>
      </p:sp>
    </p:spTree>
    <p:extLst>
      <p:ext uri="{BB962C8B-B14F-4D97-AF65-F5344CB8AC3E}">
        <p14:creationId xmlns:p14="http://schemas.microsoft.com/office/powerpoint/2010/main" val="1582429340"/>
      </p:ext>
    </p:extLst>
  </p:cSld>
</p:sld>
</file>

<file path=ppt/slides/slide1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B4E2EF0-DAD8-47AB-B336-9220E2ADB0C4}"/>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15</a:t>
            </a:r>
          </a:p>
        </p:txBody>
      </p:sp>
      <p:sp>
        <p:nvSpPr>
          <p:cNvPr id="2" name="">
            <a:extLst xmlns:a="http://schemas.openxmlformats.org/drawingml/2006/main">
              <a:ext uri="{FF2B5EF4-FFF2-40B4-BE49-F238E27FC236}">
                <a16:creationId xmlns:a16="http://schemas.microsoft.com/office/drawing/2014/main" id="{A47E176C-24DB-41A8-8FAF-B79A5BA01501}"/>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检查逐点残差并界定模型边界</a:t>
            </a:r>
          </a:p>
        </p:txBody>
      </p:sp>
      <p:sp>
        <p:nvSpPr>
          <p:cNvPr id="3" name="">
            <a:extLst xmlns:a="http://schemas.openxmlformats.org/drawingml/2006/main">
              <a:ext uri="{FF2B5EF4-FFF2-40B4-BE49-F238E27FC236}">
                <a16:creationId xmlns:a16="http://schemas.microsoft.com/office/drawing/2014/main" id="{67B53697-500D-4034-B827-1091094ACA6B}"/>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3A8B9F46-8C2C-474C-BCB6-B6FED026AFF4}"/>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Deviation = MC T40 − 单调论文重建；误差变号说明不仅是整体损失尺度不同</a:t>
            </a:r>
          </a:p>
        </p:txBody>
      </p:sp>
      <p:graphicFrame>
        <p:nvGraphicFramePr>
          <p:cNvPr id="19" name="Chart"/>
          <p:cNvGraphicFramePr/>
          <p:nvPr/>
        </p:nvGraphicFramePr>
        <p:xfrm>
          <a:off xmlns:a="http://schemas.openxmlformats.org/drawingml/2006/main" x="609600" y="1390650"/>
          <a:ext xmlns:a="http://schemas.openxmlformats.org/drawingml/2006/main" cx="4095750" cy="3790950"/>
        </p:xfrm>
        <a:graphic xmlns:a="http://schemas.openxmlformats.org/drawingml/2006/main">
          <a:graphicData uri="http://schemas.openxmlformats.org/drawingml/2006/chart">
            <c:chart xmlns:r="http://schemas.openxmlformats.org/officeDocument/2006/relationships" xmlns:c="http://schemas.openxmlformats.org/drawingml/2006/chart" r:id="R823fc5a83ad64583"/>
          </a:graphicData>
        </a:graphic>
      </p:graphicFrame>
      <p:graphicFrame>
        <p:nvGraphicFramePr>
          <p:cNvPr id="20" name="Chart"/>
          <p:cNvGraphicFramePr/>
          <p:nvPr/>
        </p:nvGraphicFramePr>
        <p:xfrm>
          <a:off xmlns:a="http://schemas.openxmlformats.org/drawingml/2006/main" x="4876800" y="1390650"/>
          <a:ext xmlns:a="http://schemas.openxmlformats.org/drawingml/2006/main" cx="6705600" cy="3790950"/>
        </p:xfrm>
        <a:graphic xmlns:a="http://schemas.openxmlformats.org/drawingml/2006/main">
          <a:graphicData uri="http://schemas.openxmlformats.org/drawingml/2006/chart">
            <c:chart xmlns:r="http://schemas.openxmlformats.org/officeDocument/2006/relationships" xmlns:c="http://schemas.openxmlformats.org/drawingml/2006/chart" r:id="R6ebad763236248ea"/>
          </a:graphicData>
        </a:graphic>
      </p:graphicFrame>
      <p:sp>
        <p:nvSpPr>
          <p:cNvPr id="7" name="">
            <a:extLst xmlns:a="http://schemas.openxmlformats.org/drawingml/2006/main">
              <a:ext uri="{FF2B5EF4-FFF2-40B4-BE49-F238E27FC236}">
                <a16:creationId xmlns:a16="http://schemas.microsoft.com/office/drawing/2014/main" id="{74C3371D-FDA5-4704-844F-5C3C031A306D}"/>
              </a:ext>
            </a:extLst>
          </p:cNvPr>
          <p:cNvSpPr>
            <a:spLocks xmlns:a="http://schemas.openxmlformats.org/drawingml/2006/main" noGrp="1"/>
          </p:cNvSpPr>
          <p:nvPr/>
        </p:nvSpPr>
        <p:spPr>
          <a:xfrm xmlns:a="http://schemas.openxmlformats.org/drawingml/2006/main">
            <a:off x="609600" y="5391150"/>
            <a:ext cx="10972800" cy="819150"/>
          </a:xfrm>
          <a:prstGeom xmlns:a="http://schemas.openxmlformats.org/drawingml/2006/main" prst="roundRect">
            <a:avLst>
              <a:gd name="adj" fmla="val 9302"/>
            </a:avLst>
          </a:prstGeom>
          <a:solidFill xmlns:a="http://schemas.openxmlformats.org/drawingml/2006/main">
            <a:srgbClr val="F2F4F7"/>
          </a:solidFill>
          <a:ln xmlns:a="http://schemas.openxmlformats.org/drawingml/2006/main" w="9525">
            <a:solidFill>
              <a:srgbClr val="EAECF0"/>
            </a:solidFill>
          </a:ln>
        </p:spPr>
      </p:sp>
      <p:sp>
        <p:nvSpPr>
          <p:cNvPr id="8" name="">
            <a:extLst xmlns:a="http://schemas.openxmlformats.org/drawingml/2006/main">
              <a:ext uri="{FF2B5EF4-FFF2-40B4-BE49-F238E27FC236}">
                <a16:creationId xmlns:a16="http://schemas.microsoft.com/office/drawing/2014/main" id="{4610B1FA-B004-4CED-ADE6-0832FD097D54}"/>
              </a:ext>
            </a:extLst>
          </p:cNvPr>
          <p:cNvSpPr>
            <a:spLocks xmlns:a="http://schemas.openxmlformats.org/drawingml/2006/main" noGrp="1"/>
          </p:cNvSpPr>
          <p:nvPr/>
        </p:nvSpPr>
        <p:spPr>
          <a:xfrm xmlns:a="http://schemas.openxmlformats.org/drawingml/2006/main">
            <a:off x="838200" y="5524500"/>
            <a:ext cx="10439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200 µs 持续负偏差且早期衰减过快。400/600 µs 早期偏低、后期偏高，late-time decay 太慢。当前 Level 2C 仍未包含真空寿命、随机噪声谱和真实 AWG/光学响应。</a:t>
            </a:r>
          </a:p>
        </p:txBody>
      </p:sp>
      <p:sp>
        <p:nvSpPr>
          <p:cNvPr id="9" name="">
            <a:extLst xmlns:a="http://schemas.openxmlformats.org/drawingml/2006/main">
              <a:ext uri="{FF2B5EF4-FFF2-40B4-BE49-F238E27FC236}">
                <a16:creationId xmlns:a16="http://schemas.microsoft.com/office/drawing/2014/main" id="{CF9103BD-112E-46F2-8A19-561040234B69}"/>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0" name="">
            <a:extLst xmlns:a="http://schemas.openxmlformats.org/drawingml/2006/main">
              <a:ext uri="{FF2B5EF4-FFF2-40B4-BE49-F238E27FC236}">
                <a16:creationId xmlns:a16="http://schemas.microsoft.com/office/drawing/2014/main" id="{AA07BDBB-49BD-4A60-BEB6-DEB25255260B}"/>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T40/comparison_to_paper.json · monotone paper reconstruction · Level 2C source audit</a:t>
            </a:r>
          </a:p>
        </p:txBody>
      </p:sp>
      <p:sp>
        <p:nvSpPr>
          <p:cNvPr id="11" name="">
            <a:extLst xmlns:a="http://schemas.openxmlformats.org/drawingml/2006/main">
              <a:ext uri="{FF2B5EF4-FFF2-40B4-BE49-F238E27FC236}">
                <a16:creationId xmlns:a16="http://schemas.microsoft.com/office/drawing/2014/main" id="{498E37DD-B8AE-43D4-82C9-07A33CCDDE3D}"/>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17</a:t>
            </a:r>
          </a:p>
        </p:txBody>
      </p:sp>
    </p:spTree>
    <p:extLst>
      <p:ext uri="{BB962C8B-B14F-4D97-AF65-F5344CB8AC3E}">
        <p14:creationId xmlns:p14="http://schemas.microsoft.com/office/powerpoint/2010/main" val="741334689"/>
      </p:ext>
    </p:extLst>
  </p:cSld>
</p:sld>
</file>

<file path=ppt/slides/slide18.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DAA06E5-6817-485D-A771-043CF908DB0D}"/>
              </a:ext>
            </a:extLst>
          </p:cNvPr>
          <p:cNvSpPr>
            <a:spLocks xmlns:a="http://schemas.openxmlformats.org/drawingml/2006/main" noGrp="1"/>
          </p:cNvSpPr>
          <p:nvPr/>
        </p:nvSpPr>
        <p:spPr>
          <a:xfrm xmlns:a="http://schemas.openxmlformats.org/drawingml/2006/main">
            <a:off x="685800" y="5334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Level 2C 已有结果与复核边界</a:t>
            </a:r>
          </a:p>
        </p:txBody>
      </p:sp>
      <p:sp>
        <p:nvSpPr>
          <p:cNvPr id="2" name="">
            <a:extLst xmlns:a="http://schemas.openxmlformats.org/drawingml/2006/main">
              <a:ext uri="{FF2B5EF4-FFF2-40B4-BE49-F238E27FC236}">
                <a16:creationId xmlns:a16="http://schemas.microsoft.com/office/drawing/2014/main" id="{4EB1BFB2-86E0-4496-8D2C-A937361D9DA1}"/>
              </a:ext>
            </a:extLst>
          </p:cNvPr>
          <p:cNvSpPr>
            <a:spLocks xmlns:a="http://schemas.openxmlformats.org/drawingml/2006/main" noGrp="1"/>
          </p:cNvSpPr>
          <p:nvPr/>
        </p:nvSpPr>
        <p:spPr>
          <a:xfrm xmlns:a="http://schemas.openxmlformats.org/drawingml/2006/main">
            <a:off x="685800" y="1200150"/>
            <a:ext cx="838200" cy="47625"/>
          </a:xfrm>
          <a:prstGeom xmlns:a="http://schemas.openxmlformats.org/drawingml/2006/main" prst="rect">
            <a:avLst/>
          </a:prstGeom>
          <a:solidFill xmlns:a="http://schemas.openxmlformats.org/drawingml/2006/main">
            <a:srgbClr val="0BA5EC"/>
          </a:solidFill>
          <a:ln xmlns:a="http://schemas.openxmlformats.org/drawingml/2006/main" w="0">
            <a:solidFill>
              <a:srgbClr val="0BA5EC"/>
            </a:solidFill>
          </a:ln>
        </p:spPr>
      </p:sp>
      <p:sp>
        <p:nvSpPr>
          <p:cNvPr id="3" name="">
            <a:extLst xmlns:a="http://schemas.openxmlformats.org/drawingml/2006/main">
              <a:ext uri="{FF2B5EF4-FFF2-40B4-BE49-F238E27FC236}">
                <a16:creationId xmlns:a16="http://schemas.microsoft.com/office/drawing/2014/main" id="{5E7439BC-D593-4884-949A-6AFBCC03E42D}"/>
              </a:ext>
            </a:extLst>
          </p:cNvPr>
          <p:cNvSpPr>
            <a:spLocks xmlns:a="http://schemas.openxmlformats.org/drawingml/2006/main" noGrp="1"/>
          </p:cNvSpPr>
          <p:nvPr/>
        </p:nvSpPr>
        <p:spPr>
          <a:xfrm xmlns:a="http://schemas.openxmlformats.org/drawingml/2006/main">
            <a:off x="723900" y="16192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1">
                <a:solidFill>
                  <a:srgbClr val="0BA5EC"/>
                </a:solidFill>
                <a:latin typeface="Microsoft YaHei"/>
                <a:ea typeface="Microsoft YaHei"/>
                <a:cs typeface="Microsoft YaHei"/>
              </a:defRPr>
            </a:pPr>
            <a:r>
              <a:rPr sz="1350" b="1">
                <a:solidFill>
                  <a:srgbClr val="0BA5EC"/>
                </a:solidFill>
                <a:latin typeface="Microsoft YaHei"/>
                <a:ea typeface="Microsoft YaHei"/>
                <a:cs typeface="Microsoft YaHei"/>
              </a:rPr>
              <a:t>01</a:t>
            </a:r>
          </a:p>
        </p:txBody>
      </p:sp>
      <p:sp>
        <p:nvSpPr>
          <p:cNvPr id="4" name="">
            <a:extLst xmlns:a="http://schemas.openxmlformats.org/drawingml/2006/main">
              <a:ext uri="{FF2B5EF4-FFF2-40B4-BE49-F238E27FC236}">
                <a16:creationId xmlns:a16="http://schemas.microsoft.com/office/drawing/2014/main" id="{E69CC8E5-6935-488C-BD8D-25FD8D8D3E0B}"/>
              </a:ext>
            </a:extLst>
          </p:cNvPr>
          <p:cNvSpPr>
            <a:spLocks xmlns:a="http://schemas.openxmlformats.org/drawingml/2006/main" noGrp="1"/>
          </p:cNvSpPr>
          <p:nvPr/>
        </p:nvSpPr>
        <p:spPr>
          <a:xfrm xmlns:a="http://schemas.openxmlformats.org/drawingml/2006/main">
            <a:off x="1485900" y="16002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75" b="1">
                <a:solidFill>
                  <a:srgbClr val="FFFFFF"/>
                </a:solidFill>
                <a:latin typeface="Microsoft YaHei"/>
                <a:ea typeface="Microsoft YaHei"/>
                <a:cs typeface="Microsoft YaHei"/>
              </a:defRPr>
            </a:pPr>
            <a:r>
              <a:rPr sz="1575" b="1">
                <a:solidFill>
                  <a:srgbClr val="FFFFFF"/>
                </a:solidFill>
                <a:latin typeface="Microsoft YaHei"/>
                <a:ea typeface="Microsoft YaHei"/>
                <a:cs typeface="Microsoft YaHei"/>
              </a:rPr>
              <a:t>固定输入与验收口径</a:t>
            </a:r>
          </a:p>
        </p:txBody>
      </p:sp>
      <p:sp>
        <p:nvSpPr>
          <p:cNvPr id="5" name="">
            <a:extLst xmlns:a="http://schemas.openxmlformats.org/drawingml/2006/main">
              <a:ext uri="{FF2B5EF4-FFF2-40B4-BE49-F238E27FC236}">
                <a16:creationId xmlns:a16="http://schemas.microsoft.com/office/drawing/2014/main" id="{F0133875-A1CB-4D85-83AB-477AD4BE196F}"/>
              </a:ext>
            </a:extLst>
          </p:cNvPr>
          <p:cNvSpPr>
            <a:spLocks xmlns:a="http://schemas.openxmlformats.org/drawingml/2006/main" noGrp="1"/>
          </p:cNvSpPr>
          <p:nvPr/>
        </p:nvSpPr>
        <p:spPr>
          <a:xfrm xmlns:a="http://schemas.openxmlformats.org/drawingml/2006/main">
            <a:off x="4095750" y="16002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75" b="0">
                <a:solidFill>
                  <a:srgbClr val="D0DFF0"/>
                </a:solidFill>
                <a:latin typeface="Microsoft YaHei"/>
                <a:ea typeface="Microsoft YaHei"/>
                <a:cs typeface="Microsoft YaHei"/>
              </a:defRPr>
            </a:pPr>
            <a:r>
              <a:rPr sz="1275" b="0">
                <a:solidFill>
                  <a:srgbClr val="D0DFF0"/>
                </a:solidFill>
                <a:latin typeface="Microsoft YaHei"/>
                <a:ea typeface="Microsoft YaHei"/>
                <a:cs typeface="Microsoft YaHei"/>
              </a:rPr>
              <a:t>数字化 Fig. 6d，分开处理 paper survival 与 IRB fidelity，并把 ±0.02 设为逐点验收带。</a:t>
            </a:r>
          </a:p>
        </p:txBody>
      </p:sp>
      <p:sp>
        <p:nvSpPr>
          <p:cNvPr id="6" name="">
            <a:extLst xmlns:a="http://schemas.openxmlformats.org/drawingml/2006/main">
              <a:ext uri="{FF2B5EF4-FFF2-40B4-BE49-F238E27FC236}">
                <a16:creationId xmlns:a16="http://schemas.microsoft.com/office/drawing/2014/main" id="{A38E84A0-699F-4579-988F-BD35936B30AF}"/>
              </a:ext>
            </a:extLst>
          </p:cNvPr>
          <p:cNvSpPr>
            <a:spLocks xmlns:a="http://schemas.openxmlformats.org/drawingml/2006/main" noGrp="1"/>
          </p:cNvSpPr>
          <p:nvPr/>
        </p:nvSpPr>
        <p:spPr>
          <a:xfrm xmlns:a="http://schemas.openxmlformats.org/drawingml/2006/main">
            <a:off x="1485900" y="2362200"/>
            <a:ext cx="9848850" cy="9525"/>
          </a:xfrm>
          <a:prstGeom xmlns:a="http://schemas.openxmlformats.org/drawingml/2006/main" prst="rect">
            <a:avLst/>
          </a:prstGeom>
          <a:solidFill xmlns:a="http://schemas.openxmlformats.org/drawingml/2006/main">
            <a:srgbClr val="294A67"/>
          </a:solidFill>
          <a:ln xmlns:a="http://schemas.openxmlformats.org/drawingml/2006/main" w="0">
            <a:solidFill>
              <a:srgbClr val="294A67"/>
            </a:solidFill>
          </a:ln>
        </p:spPr>
      </p:sp>
      <p:sp>
        <p:nvSpPr>
          <p:cNvPr id="7" name="">
            <a:extLst xmlns:a="http://schemas.openxmlformats.org/drawingml/2006/main">
              <a:ext uri="{FF2B5EF4-FFF2-40B4-BE49-F238E27FC236}">
                <a16:creationId xmlns:a16="http://schemas.microsoft.com/office/drawing/2014/main" id="{F2CA863F-78CD-4199-A329-FA1F6C7FE29B}"/>
              </a:ext>
            </a:extLst>
          </p:cNvPr>
          <p:cNvSpPr>
            <a:spLocks xmlns:a="http://schemas.openxmlformats.org/drawingml/2006/main" noGrp="1"/>
          </p:cNvSpPr>
          <p:nvPr/>
        </p:nvSpPr>
        <p:spPr>
          <a:xfrm xmlns:a="http://schemas.openxmlformats.org/drawingml/2006/main">
            <a:off x="723900" y="26860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1">
                <a:solidFill>
                  <a:srgbClr val="0BA5EC"/>
                </a:solidFill>
                <a:latin typeface="Microsoft YaHei"/>
                <a:ea typeface="Microsoft YaHei"/>
                <a:cs typeface="Microsoft YaHei"/>
              </a:defRPr>
            </a:pPr>
            <a:r>
              <a:rPr sz="1350" b="1">
                <a:solidFill>
                  <a:srgbClr val="0BA5EC"/>
                </a:solidFill>
                <a:latin typeface="Microsoft YaHei"/>
                <a:ea typeface="Microsoft YaHei"/>
                <a:cs typeface="Microsoft YaHei"/>
              </a:rPr>
              <a:t>02</a:t>
            </a:r>
          </a:p>
        </p:txBody>
      </p:sp>
      <p:sp>
        <p:nvSpPr>
          <p:cNvPr id="8" name="">
            <a:extLst xmlns:a="http://schemas.openxmlformats.org/drawingml/2006/main">
              <a:ext uri="{FF2B5EF4-FFF2-40B4-BE49-F238E27FC236}">
                <a16:creationId xmlns:a16="http://schemas.microsoft.com/office/drawing/2014/main" id="{970185AF-CEF6-4B76-BA9C-1C8EC3DA8D47}"/>
              </a:ext>
            </a:extLst>
          </p:cNvPr>
          <p:cNvSpPr>
            <a:spLocks xmlns:a="http://schemas.openxmlformats.org/drawingml/2006/main" noGrp="1"/>
          </p:cNvSpPr>
          <p:nvPr/>
        </p:nvSpPr>
        <p:spPr>
          <a:xfrm xmlns:a="http://schemas.openxmlformats.org/drawingml/2006/main">
            <a:off x="1485900" y="26670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75" b="1">
                <a:solidFill>
                  <a:srgbClr val="FFFFFF"/>
                </a:solidFill>
                <a:latin typeface="Microsoft YaHei"/>
                <a:ea typeface="Microsoft YaHei"/>
                <a:cs typeface="Microsoft YaHei"/>
              </a:defRPr>
            </a:pPr>
            <a:r>
              <a:rPr sz="1575" b="1">
                <a:solidFill>
                  <a:srgbClr val="FFFFFF"/>
                </a:solidFill>
                <a:latin typeface="Microsoft YaHei"/>
                <a:ea typeface="Microsoft YaHei"/>
                <a:cs typeface="Microsoft YaHei"/>
              </a:rPr>
              <a:t>复核基线并扫描机制</a:t>
            </a:r>
          </a:p>
        </p:txBody>
      </p:sp>
      <p:sp>
        <p:nvSpPr>
          <p:cNvPr id="9" name="">
            <a:extLst xmlns:a="http://schemas.openxmlformats.org/drawingml/2006/main">
              <a:ext uri="{FF2B5EF4-FFF2-40B4-BE49-F238E27FC236}">
                <a16:creationId xmlns:a16="http://schemas.microsoft.com/office/drawing/2014/main" id="{903236CA-5528-4A2D-B674-FA66D5E08009}"/>
              </a:ext>
            </a:extLst>
          </p:cNvPr>
          <p:cNvSpPr>
            <a:spLocks xmlns:a="http://schemas.openxmlformats.org/drawingml/2006/main" noGrp="1"/>
          </p:cNvSpPr>
          <p:nvPr/>
        </p:nvSpPr>
        <p:spPr>
          <a:xfrm xmlns:a="http://schemas.openxmlformats.org/drawingml/2006/main">
            <a:off x="4095750" y="26670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75" b="0">
                <a:solidFill>
                  <a:srgbClr val="D0DFF0"/>
                </a:solidFill>
                <a:latin typeface="Microsoft YaHei"/>
                <a:ea typeface="Microsoft YaHei"/>
                <a:cs typeface="Microsoft YaHei"/>
              </a:defRPr>
            </a:pPr>
            <a:r>
              <a:rPr sz="1275" b="0">
                <a:solidFill>
                  <a:srgbClr val="D0DFF0"/>
                </a:solidFill>
                <a:latin typeface="Microsoft YaHei"/>
                <a:ea typeface="Microsoft YaHei"/>
                <a:cs typeface="Microsoft YaHei"/>
              </a:rPr>
              <a:t>历史 T40 曲线较接近论文时长排序，但初温与加热参考能量同时变化，机制归因需要拆分。</a:t>
            </a:r>
          </a:p>
        </p:txBody>
      </p:sp>
      <p:sp>
        <p:nvSpPr>
          <p:cNvPr id="10" name="">
            <a:extLst xmlns:a="http://schemas.openxmlformats.org/drawingml/2006/main">
              <a:ext uri="{FF2B5EF4-FFF2-40B4-BE49-F238E27FC236}">
                <a16:creationId xmlns:a16="http://schemas.microsoft.com/office/drawing/2014/main" id="{2A460478-EE0B-48A9-8FE1-6ECFEDEF6E7B}"/>
              </a:ext>
            </a:extLst>
          </p:cNvPr>
          <p:cNvSpPr>
            <a:spLocks xmlns:a="http://schemas.openxmlformats.org/drawingml/2006/main" noGrp="1"/>
          </p:cNvSpPr>
          <p:nvPr/>
        </p:nvSpPr>
        <p:spPr>
          <a:xfrm xmlns:a="http://schemas.openxmlformats.org/drawingml/2006/main">
            <a:off x="1485900" y="3429000"/>
            <a:ext cx="9848850" cy="9525"/>
          </a:xfrm>
          <a:prstGeom xmlns:a="http://schemas.openxmlformats.org/drawingml/2006/main" prst="rect">
            <a:avLst/>
          </a:prstGeom>
          <a:solidFill xmlns:a="http://schemas.openxmlformats.org/drawingml/2006/main">
            <a:srgbClr val="294A67"/>
          </a:solidFill>
          <a:ln xmlns:a="http://schemas.openxmlformats.org/drawingml/2006/main" w="0">
            <a:solidFill>
              <a:srgbClr val="294A67"/>
            </a:solidFill>
          </a:ln>
        </p:spPr>
      </p:sp>
      <p:sp>
        <p:nvSpPr>
          <p:cNvPr id="11" name="">
            <a:extLst xmlns:a="http://schemas.openxmlformats.org/drawingml/2006/main">
              <a:ext uri="{FF2B5EF4-FFF2-40B4-BE49-F238E27FC236}">
                <a16:creationId xmlns:a16="http://schemas.microsoft.com/office/drawing/2014/main" id="{93F9754C-2E9A-4848-8D5F-B2548D0F2C7C}"/>
              </a:ext>
            </a:extLst>
          </p:cNvPr>
          <p:cNvSpPr>
            <a:spLocks xmlns:a="http://schemas.openxmlformats.org/drawingml/2006/main" noGrp="1"/>
          </p:cNvSpPr>
          <p:nvPr/>
        </p:nvSpPr>
        <p:spPr>
          <a:xfrm xmlns:a="http://schemas.openxmlformats.org/drawingml/2006/main">
            <a:off x="723900" y="37528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1">
                <a:solidFill>
                  <a:srgbClr val="0BA5EC"/>
                </a:solidFill>
                <a:latin typeface="Microsoft YaHei"/>
                <a:ea typeface="Microsoft YaHei"/>
                <a:cs typeface="Microsoft YaHei"/>
              </a:defRPr>
            </a:pPr>
            <a:r>
              <a:rPr sz="1350" b="1">
                <a:solidFill>
                  <a:srgbClr val="0BA5EC"/>
                </a:solidFill>
                <a:latin typeface="Microsoft YaHei"/>
                <a:ea typeface="Microsoft YaHei"/>
                <a:cs typeface="Microsoft YaHei"/>
              </a:rPr>
              <a:t>03</a:t>
            </a:r>
          </a:p>
        </p:txBody>
      </p:sp>
      <p:sp>
        <p:nvSpPr>
          <p:cNvPr id="12" name="">
            <a:extLst xmlns:a="http://schemas.openxmlformats.org/drawingml/2006/main">
              <a:ext uri="{FF2B5EF4-FFF2-40B4-BE49-F238E27FC236}">
                <a16:creationId xmlns:a16="http://schemas.microsoft.com/office/drawing/2014/main" id="{01C66EF5-A304-4BA2-81CC-39763374055C}"/>
              </a:ext>
            </a:extLst>
          </p:cNvPr>
          <p:cNvSpPr>
            <a:spLocks xmlns:a="http://schemas.openxmlformats.org/drawingml/2006/main" noGrp="1"/>
          </p:cNvSpPr>
          <p:nvPr/>
        </p:nvSpPr>
        <p:spPr>
          <a:xfrm xmlns:a="http://schemas.openxmlformats.org/drawingml/2006/main">
            <a:off x="1485900" y="37338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75" b="1">
                <a:solidFill>
                  <a:srgbClr val="FFFFFF"/>
                </a:solidFill>
                <a:latin typeface="Microsoft YaHei"/>
                <a:ea typeface="Microsoft YaHei"/>
                <a:cs typeface="Microsoft YaHei"/>
              </a:defRPr>
            </a:pPr>
            <a:r>
              <a:rPr sz="1575" b="1">
                <a:solidFill>
                  <a:srgbClr val="FFFFFF"/>
                </a:solidFill>
                <a:latin typeface="Microsoft YaHei"/>
                <a:ea typeface="Microsoft YaHei"/>
                <a:cs typeface="Microsoft YaHei"/>
              </a:rPr>
              <a:t>回放 ML 并定位增益</a:t>
            </a:r>
          </a:p>
        </p:txBody>
      </p:sp>
      <p:sp>
        <p:nvSpPr>
          <p:cNvPr id="13" name="">
            <a:extLst xmlns:a="http://schemas.openxmlformats.org/drawingml/2006/main">
              <a:ext uri="{FF2B5EF4-FFF2-40B4-BE49-F238E27FC236}">
                <a16:creationId xmlns:a16="http://schemas.microsoft.com/office/drawing/2014/main" id="{C86D4F75-BE15-4308-B44E-0A4AD9B98722}"/>
              </a:ext>
            </a:extLst>
          </p:cNvPr>
          <p:cNvSpPr>
            <a:spLocks xmlns:a="http://schemas.openxmlformats.org/drawingml/2006/main" noGrp="1"/>
          </p:cNvSpPr>
          <p:nvPr/>
        </p:nvSpPr>
        <p:spPr>
          <a:xfrm xmlns:a="http://schemas.openxmlformats.org/drawingml/2006/main">
            <a:off x="4095750" y="37338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75" b="0">
                <a:solidFill>
                  <a:srgbClr val="D0DFF0"/>
                </a:solidFill>
                <a:latin typeface="Microsoft YaHei"/>
                <a:ea typeface="Microsoft YaHei"/>
                <a:cs typeface="Microsoft YaHei"/>
              </a:defRPr>
            </a:pPr>
            <a:r>
              <a:rPr sz="1275" b="0">
                <a:solidFill>
                  <a:srgbClr val="D0DFF0"/>
                </a:solidFill>
                <a:latin typeface="Microsoft YaHei"/>
                <a:ea typeface="Microsoft YaHei"/>
                <a:cs typeface="Microsoft YaHei"/>
              </a:rPr>
              <a:t>数字化 Fig. 6c，得到 T40 下 ΔS=+0.231；2×2 消融表明模型内增益主要来自 position trajectory。</a:t>
            </a:r>
          </a:p>
        </p:txBody>
      </p:sp>
      <p:sp>
        <p:nvSpPr>
          <p:cNvPr id="14" name="">
            <a:extLst xmlns:a="http://schemas.openxmlformats.org/drawingml/2006/main">
              <a:ext uri="{FF2B5EF4-FFF2-40B4-BE49-F238E27FC236}">
                <a16:creationId xmlns:a16="http://schemas.microsoft.com/office/drawing/2014/main" id="{55B50356-AD76-4376-95C5-F9D7AC8112C6}"/>
              </a:ext>
            </a:extLst>
          </p:cNvPr>
          <p:cNvSpPr>
            <a:spLocks xmlns:a="http://schemas.openxmlformats.org/drawingml/2006/main" noGrp="1"/>
          </p:cNvSpPr>
          <p:nvPr/>
        </p:nvSpPr>
        <p:spPr>
          <a:xfrm xmlns:a="http://schemas.openxmlformats.org/drawingml/2006/main">
            <a:off x="1485900" y="4495800"/>
            <a:ext cx="9848850" cy="9525"/>
          </a:xfrm>
          <a:prstGeom xmlns:a="http://schemas.openxmlformats.org/drawingml/2006/main" prst="rect">
            <a:avLst/>
          </a:prstGeom>
          <a:solidFill xmlns:a="http://schemas.openxmlformats.org/drawingml/2006/main">
            <a:srgbClr val="294A67"/>
          </a:solidFill>
          <a:ln xmlns:a="http://schemas.openxmlformats.org/drawingml/2006/main" w="0">
            <a:solidFill>
              <a:srgbClr val="294A67"/>
            </a:solidFill>
          </a:ln>
        </p:spPr>
      </p:sp>
      <p:sp>
        <p:nvSpPr>
          <p:cNvPr id="15" name="">
            <a:extLst xmlns:a="http://schemas.openxmlformats.org/drawingml/2006/main">
              <a:ext uri="{FF2B5EF4-FFF2-40B4-BE49-F238E27FC236}">
                <a16:creationId xmlns:a16="http://schemas.microsoft.com/office/drawing/2014/main" id="{D9B0042E-9894-4D24-9F98-6F93971EF3CF}"/>
              </a:ext>
            </a:extLst>
          </p:cNvPr>
          <p:cNvSpPr>
            <a:spLocks xmlns:a="http://schemas.openxmlformats.org/drawingml/2006/main" noGrp="1"/>
          </p:cNvSpPr>
          <p:nvPr/>
        </p:nvSpPr>
        <p:spPr>
          <a:xfrm xmlns:a="http://schemas.openxmlformats.org/drawingml/2006/main">
            <a:off x="723900" y="48196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1">
                <a:solidFill>
                  <a:srgbClr val="0BA5EC"/>
                </a:solidFill>
                <a:latin typeface="Microsoft YaHei"/>
                <a:ea typeface="Microsoft YaHei"/>
                <a:cs typeface="Microsoft YaHei"/>
              </a:defRPr>
            </a:pPr>
            <a:r>
              <a:rPr sz="1350" b="1">
                <a:solidFill>
                  <a:srgbClr val="0BA5EC"/>
                </a:solidFill>
                <a:latin typeface="Microsoft YaHei"/>
                <a:ea typeface="Microsoft YaHei"/>
                <a:cs typeface="Microsoft YaHei"/>
              </a:rPr>
              <a:t>04</a:t>
            </a:r>
          </a:p>
        </p:txBody>
      </p:sp>
      <p:sp>
        <p:nvSpPr>
          <p:cNvPr id="16" name="">
            <a:extLst xmlns:a="http://schemas.openxmlformats.org/drawingml/2006/main">
              <a:ext uri="{FF2B5EF4-FFF2-40B4-BE49-F238E27FC236}">
                <a16:creationId xmlns:a16="http://schemas.microsoft.com/office/drawing/2014/main" id="{44374805-F8CB-45D5-860A-F5CAF0A68103}"/>
              </a:ext>
            </a:extLst>
          </p:cNvPr>
          <p:cNvSpPr>
            <a:spLocks xmlns:a="http://schemas.openxmlformats.org/drawingml/2006/main" noGrp="1"/>
          </p:cNvSpPr>
          <p:nvPr/>
        </p:nvSpPr>
        <p:spPr>
          <a:xfrm xmlns:a="http://schemas.openxmlformats.org/drawingml/2006/main">
            <a:off x="1485900" y="48006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75" b="1">
                <a:solidFill>
                  <a:srgbClr val="FFFFFF"/>
                </a:solidFill>
                <a:latin typeface="Microsoft YaHei"/>
                <a:ea typeface="Microsoft YaHei"/>
                <a:cs typeface="Microsoft YaHei"/>
              </a:defRPr>
            </a:pPr>
            <a:r>
              <a:rPr sz="1575" b="1">
                <a:solidFill>
                  <a:srgbClr val="FFFFFF"/>
                </a:solidFill>
                <a:latin typeface="Microsoft YaHei"/>
                <a:ea typeface="Microsoft YaHei"/>
                <a:cs typeface="Microsoft YaHei"/>
              </a:rPr>
              <a:t>验收结果与边界</a:t>
            </a:r>
          </a:p>
        </p:txBody>
      </p:sp>
      <p:sp>
        <p:nvSpPr>
          <p:cNvPr id="17" name="">
            <a:extLst xmlns:a="http://schemas.openxmlformats.org/drawingml/2006/main">
              <a:ext uri="{FF2B5EF4-FFF2-40B4-BE49-F238E27FC236}">
                <a16:creationId xmlns:a16="http://schemas.microsoft.com/office/drawing/2014/main" id="{54756DBB-C05D-43FE-8E00-C6F9F97ADE59}"/>
              </a:ext>
            </a:extLst>
          </p:cNvPr>
          <p:cNvSpPr>
            <a:spLocks xmlns:a="http://schemas.openxmlformats.org/drawingml/2006/main" noGrp="1"/>
          </p:cNvSpPr>
          <p:nvPr/>
        </p:nvSpPr>
        <p:spPr>
          <a:xfrm xmlns:a="http://schemas.openxmlformats.org/drawingml/2006/main">
            <a:off x="4095750" y="48006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75" b="0">
                <a:solidFill>
                  <a:srgbClr val="D0DFF0"/>
                </a:solidFill>
                <a:latin typeface="Microsoft YaHei"/>
                <a:ea typeface="Microsoft YaHei"/>
                <a:cs typeface="Microsoft YaHei"/>
              </a:defRPr>
            </a:pPr>
            <a:r>
              <a:rPr sz="1275" b="0">
                <a:solidFill>
                  <a:srgbClr val="D0DFF0"/>
                </a:solidFill>
                <a:latin typeface="Microsoft YaHei"/>
                <a:ea typeface="Microsoft YaHei"/>
                <a:cs typeface="Microsoft YaHei"/>
              </a:rPr>
              <a:t>所有 manual 曲线仍未通过 ±0.02。真空寿命、随机噪声谱和真实 AWG/光学响应尚未进入 Level 2C。</a:t>
            </a:r>
          </a:p>
        </p:txBody>
      </p:sp>
      <p:sp>
        <p:nvSpPr>
          <p:cNvPr id="18" name="">
            <a:extLst xmlns:a="http://schemas.openxmlformats.org/drawingml/2006/main">
              <a:ext uri="{FF2B5EF4-FFF2-40B4-BE49-F238E27FC236}">
                <a16:creationId xmlns:a16="http://schemas.microsoft.com/office/drawing/2014/main" id="{62B374BE-4BC9-41B1-979E-D900E185C4A6}"/>
              </a:ext>
            </a:extLst>
          </p:cNvPr>
          <p:cNvSpPr>
            <a:spLocks xmlns:a="http://schemas.openxmlformats.org/drawingml/2006/main" noGrp="1"/>
          </p:cNvSpPr>
          <p:nvPr/>
        </p:nvSpPr>
        <p:spPr>
          <a:xfrm xmlns:a="http://schemas.openxmlformats.org/drawingml/2006/main">
            <a:off x="723900" y="62293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050" b="0">
                <a:solidFill>
                  <a:srgbClr val="98AFC7"/>
                </a:solidFill>
                <a:latin typeface="Microsoft YaHei"/>
                <a:ea typeface="Microsoft YaHei"/>
                <a:cs typeface="Microsoft YaHei"/>
              </a:defRPr>
            </a:pPr>
            <a:r>
              <a:rPr sz="1050" b="0">
                <a:solidFill>
                  <a:srgbClr val="98AFC7"/>
                </a:solidFill>
                <a:latin typeface="Microsoft YaHei"/>
                <a:ea typeface="Microsoft YaHei"/>
                <a:cs typeface="Microsoft YaHei"/>
              </a:rPr>
              <a:t>结论：当前工作达到机制验证和相对比较阶段，尚未达到实验级绝对定量预测。</a:t>
            </a:r>
          </a:p>
        </p:txBody>
      </p:sp>
      <p:sp>
        <p:nvSpPr>
          <p:cNvPr id="19" name="">
            <a:extLst xmlns:a="http://schemas.openxmlformats.org/drawingml/2006/main">
              <a:ext uri="{FF2B5EF4-FFF2-40B4-BE49-F238E27FC236}">
                <a16:creationId xmlns:a16="http://schemas.microsoft.com/office/drawing/2014/main" id="{D628F85B-42E6-4B77-A5E1-D02FE90FF5BD}"/>
              </a:ext>
            </a:extLst>
          </p:cNvPr>
          <p:cNvSpPr>
            <a:spLocks xmlns:a="http://schemas.openxmlformats.org/drawingml/2006/main" noGrp="1"/>
          </p:cNvSpPr>
          <p:nvPr/>
        </p:nvSpPr>
        <p:spPr>
          <a:xfrm xmlns:a="http://schemas.openxmlformats.org/drawingml/2006/main">
            <a:off x="10934700" y="62293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975" b="0">
                <a:solidFill>
                  <a:srgbClr val="98AFC7"/>
                </a:solidFill>
                <a:latin typeface="Microsoft YaHei"/>
                <a:ea typeface="Microsoft YaHei"/>
                <a:cs typeface="Microsoft YaHei"/>
              </a:defRPr>
            </a:pPr>
            <a:r>
              <a:rPr sz="975" b="0">
                <a:solidFill>
                  <a:srgbClr val="98AFC7"/>
                </a:solidFill>
                <a:latin typeface="Microsoft YaHei"/>
                <a:ea typeface="Microsoft YaHei"/>
                <a:cs typeface="Microsoft YaHei"/>
              </a:rPr>
              <a:t>18</a:t>
            </a:r>
          </a:p>
        </p:txBody>
      </p:sp>
    </p:spTree>
    <p:extLst>
      <p:ext uri="{BB962C8B-B14F-4D97-AF65-F5344CB8AC3E}">
        <p14:creationId xmlns:p14="http://schemas.microsoft.com/office/powerpoint/2010/main" val="335572684"/>
      </p:ext>
    </p:extLst>
  </p:cSld>
</p:sld>
</file>

<file path=ppt/slides/slide1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0BDFE98-AA2C-4810-8BBB-F4D3118E612E}"/>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Level 2C、3、4、5 的计算关系</a:t>
            </a:r>
          </a:p>
        </p:txBody>
      </p:sp>
      <p:sp>
        <p:nvSpPr>
          <p:cNvPr id="2" name="">
            <a:extLst xmlns:a="http://schemas.openxmlformats.org/drawingml/2006/main">
              <a:ext uri="{FF2B5EF4-FFF2-40B4-BE49-F238E27FC236}">
                <a16:creationId xmlns:a16="http://schemas.microsoft.com/office/drawing/2014/main" id="{73B11996-63F7-41A6-A312-24134B8D9186}"/>
              </a:ext>
            </a:extLst>
          </p:cNvPr>
          <p:cNvSpPr>
            <a:spLocks xmlns:a="http://schemas.openxmlformats.org/drawingml/2006/main" noGrp="1"/>
          </p:cNvSpPr>
          <p:nvPr/>
        </p:nvSpPr>
        <p:spPr>
          <a:xfrm xmlns:a="http://schemas.openxmlformats.org/drawingml/2006/main">
            <a:off x="609600" y="933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67085"/>
                </a:solidFill>
                <a:latin typeface="Microsoft YaHei"/>
                <a:ea typeface="Microsoft YaHei"/>
                <a:cs typeface="Microsoft YaHei"/>
              </a:defRPr>
            </a:pPr>
            <a:r>
              <a:rPr sz="1350" b="0">
                <a:solidFill>
                  <a:srgbClr val="667085"/>
                </a:solidFill>
                <a:latin typeface="Microsoft YaHei"/>
                <a:ea typeface="Microsoft YaHei"/>
                <a:cs typeface="Microsoft YaHei"/>
              </a:rPr>
              <a:t>统一入口管理各模块；每个层级保留明确的物理对象与统计单位</a:t>
            </a:r>
          </a:p>
        </p:txBody>
      </p:sp>
      <p:sp>
        <p:nvSpPr>
          <p:cNvPr id="3" name="">
            <a:extLst xmlns:a="http://schemas.openxmlformats.org/drawingml/2006/main">
              <a:ext uri="{FF2B5EF4-FFF2-40B4-BE49-F238E27FC236}">
                <a16:creationId xmlns:a16="http://schemas.microsoft.com/office/drawing/2014/main" id="{FB8AA859-8EB2-4513-B550-3A614A2E771C}"/>
              </a:ext>
            </a:extLst>
          </p:cNvPr>
          <p:cNvSpPr>
            <a:spLocks xmlns:a="http://schemas.openxmlformats.org/drawingml/2006/main" noGrp="1"/>
          </p:cNvSpPr>
          <p:nvPr/>
        </p:nvSpPr>
        <p:spPr>
          <a:xfrm xmlns:a="http://schemas.openxmlformats.org/drawingml/2006/main">
            <a:off x="609600" y="6524625"/>
            <a:ext cx="1009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Level 2C–5 综合报告  ·  历史数值及状态详见配套报告</a:t>
            </a:r>
          </a:p>
        </p:txBody>
      </p:sp>
      <p:sp>
        <p:nvSpPr>
          <p:cNvPr id="4" name="">
            <a:extLst xmlns:a="http://schemas.openxmlformats.org/drawingml/2006/main">
              <a:ext uri="{FF2B5EF4-FFF2-40B4-BE49-F238E27FC236}">
                <a16:creationId xmlns:a16="http://schemas.microsoft.com/office/drawing/2014/main" id="{7611579B-5617-4C03-9B3F-2AC7C75F43E9}"/>
              </a:ext>
            </a:extLst>
          </p:cNvPr>
          <p:cNvSpPr>
            <a:spLocks xmlns:a="http://schemas.openxmlformats.org/drawingml/2006/main" noGrp="1"/>
          </p:cNvSpPr>
          <p:nvPr/>
        </p:nvSpPr>
        <p:spPr>
          <a:xfrm xmlns:a="http://schemas.openxmlformats.org/drawingml/2006/main">
            <a:off x="11049000" y="65151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19</a:t>
            </a:r>
          </a:p>
        </p:txBody>
      </p:sp>
      <p:graphicFrame>
        <p:nvGraphicFramePr>
          <p:cNvPr id="14" name=""/>
          <p:cNvGraphicFramePr/>
          <p:nvPr/>
        </p:nvGraphicFramePr>
        <p:xfrm>
          <a:off xmlns:a="http://schemas.openxmlformats.org/drawingml/2006/main" x="609600" y="1524000"/>
          <a:ext xmlns:a="http://schemas.openxmlformats.org/drawingml/2006/main" cx="10972800" cy="3333750"/>
        </p:xfrm>
        <a:graphic xmlns:a="http://schemas.openxmlformats.org/drawingml/2006/main">
          <a:graphicData uri="http://schemas.openxmlformats.org/drawingml/2006/table">
            <a:tbl>
              <a:tblPr/>
              <a:tblGrid>
                <a:gridCol w="1081825"/>
                <a:gridCol w="3090930"/>
                <a:gridCol w="3090930"/>
                <a:gridCol w="3709115"/>
              </a:tblGrid>
              <a:tr h="666750">
                <a:tc>
                  <a:txBody>
                    <a:bodyPr>
                      <a:noAutofit/>
                    </a:bodyPr>
                    <a:lstStyle/>
                    <a:p>
                      <a:r>
                        <a:rPr sz="1500" b="1">
                          <a:solidFill>
                            <a:srgbClr val="FFFFFF"/>
                          </a:solidFill>
                          <a:latin typeface="Microsoft YaHei"/>
                          <a:ea typeface="Microsoft YaHei"/>
                          <a:cs typeface="Microsoft YaHei"/>
                        </a:rPr>
                        <a:t>层级</a:t>
                      </a:r>
                    </a:p>
                  </a:txBody>
                  <a:tcPr marL="91440" marR="91440" marT="45720" marB="45720" anchor="ctr">
                    <a:solidFill>
                      <a:srgbClr val="102A43"/>
                    </a:solidFill>
                  </a:tcPr>
                </a:tc>
                <a:tc>
                  <a:txBody>
                    <a:bodyPr>
                      <a:noAutofit/>
                    </a:bodyPr>
                    <a:lstStyle/>
                    <a:p>
                      <a:r>
                        <a:rPr sz="1500" b="1">
                          <a:solidFill>
                            <a:srgbClr val="FFFFFF"/>
                          </a:solidFill>
                          <a:latin typeface="Microsoft YaHei"/>
                          <a:ea typeface="Microsoft YaHei"/>
                          <a:cs typeface="Microsoft YaHei"/>
                        </a:rPr>
                        <a:t>计算对象</a:t>
                      </a:r>
                    </a:p>
                  </a:txBody>
                  <a:tcPr marL="91440" marR="91440" marT="45720" marB="45720" anchor="ctr">
                    <a:solidFill>
                      <a:srgbClr val="102A43"/>
                    </a:solidFill>
                  </a:tcPr>
                </a:tc>
                <a:tc>
                  <a:txBody>
                    <a:bodyPr>
                      <a:noAutofit/>
                    </a:bodyPr>
                    <a:lstStyle/>
                    <a:p>
                      <a:r>
                        <a:rPr sz="1500" b="1">
                          <a:solidFill>
                            <a:srgbClr val="FFFFFF"/>
                          </a:solidFill>
                          <a:latin typeface="Microsoft YaHei"/>
                          <a:ea typeface="Microsoft YaHei"/>
                          <a:cs typeface="Microsoft YaHei"/>
                        </a:rPr>
                        <a:t>主要输出</a:t>
                      </a:r>
                    </a:p>
                  </a:txBody>
                  <a:tcPr marL="91440" marR="91440" marT="45720" marB="45720" anchor="ctr">
                    <a:solidFill>
                      <a:srgbClr val="102A43"/>
                    </a:solidFill>
                  </a:tcPr>
                </a:tc>
                <a:tc>
                  <a:txBody>
                    <a:bodyPr>
                      <a:noAutofit/>
                    </a:bodyPr>
                    <a:lstStyle/>
                    <a:p>
                      <a:r>
                        <a:rPr sz="1500" b="1">
                          <a:solidFill>
                            <a:srgbClr val="FFFFFF"/>
                          </a:solidFill>
                          <a:latin typeface="Microsoft YaHei"/>
                          <a:ea typeface="Microsoft YaHei"/>
                          <a:cs typeface="Microsoft YaHei"/>
                        </a:rPr>
                        <a:t>当前衔接</a:t>
                      </a:r>
                    </a:p>
                  </a:txBody>
                  <a:tcPr marL="91440" marR="91440" marT="45720" marB="45720" anchor="ctr">
                    <a:solidFill>
                      <a:srgbClr val="102A43"/>
                    </a:solidFill>
                  </a:tcPr>
                </a:tc>
              </a:tr>
              <a:tr h="666750">
                <a:tc>
                  <a:txBody>
                    <a:bodyPr>
                      <a:noAutofit/>
                    </a:bodyPr>
                    <a:lstStyle/>
                    <a:p>
                      <a:r>
                        <a:rPr sz="1500" b="0">
                          <a:solidFill>
                            <a:srgbClr val="344054"/>
                          </a:solidFill>
                          <a:latin typeface="Microsoft YaHei"/>
                          <a:ea typeface="Microsoft YaHei"/>
                          <a:cs typeface="Microsoft YaHei"/>
                        </a:rPr>
                        <a:t>2C</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一维短距离拾取与放回</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单程存活 S(n)</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使用 Level 2 引擎</a:t>
                      </a:r>
                    </a:p>
                  </a:txBody>
                  <a:tcPr marL="91440" marR="91440" marT="45720" marB="45720" anchor="ctr">
                    <a:solidFill>
                      <a:srgbClr val="FFFFFF"/>
                    </a:solidFill>
                  </a:tcPr>
                </a:tc>
              </a:tr>
              <a:tr h="666750">
                <a:tc>
                  <a:txBody>
                    <a:bodyPr>
                      <a:noAutofit/>
                    </a:bodyPr>
                    <a:lstStyle/>
                    <a:p>
                      <a:r>
                        <a:rPr sz="1500" b="0">
                          <a:solidFill>
                            <a:srgbClr val="344054"/>
                          </a:solidFill>
                          <a:latin typeface="Microsoft YaHei"/>
                          <a:ea typeface="Microsoft YaHei"/>
                          <a:cs typeface="Microsoft YaHei"/>
                        </a:rPr>
                        <a:t>3</a:t>
                      </a:r>
                    </a:p>
                  </a:txBody>
                  <a:tcPr marL="91440" marR="91440" marT="45720" marB="45720" anchor="ctr">
                    <a:solidFill>
                      <a:srgbClr val="F2F4F7"/>
                    </a:solidFill>
                  </a:tcPr>
                </a:tc>
                <a:tc>
                  <a:txBody>
                    <a:bodyPr>
                      <a:noAutofit/>
                    </a:bodyPr>
                    <a:lstStyle/>
                    <a:p>
                      <a:r>
                        <a:rPr sz="1500" b="0">
                          <a:solidFill>
                            <a:srgbClr val="344054"/>
                          </a:solidFill>
                          <a:latin typeface="Microsoft YaHei"/>
                          <a:ea typeface="Microsoft YaHei"/>
                          <a:cs typeface="Microsoft YaHei"/>
                        </a:rPr>
                        <a:t>三维 AOD 单次长运输</a:t>
                      </a:r>
                    </a:p>
                  </a:txBody>
                  <a:tcPr marL="91440" marR="91440" marT="45720" marB="45720" anchor="ctr">
                    <a:solidFill>
                      <a:srgbClr val="F2F4F7"/>
                    </a:solidFill>
                  </a:tcPr>
                </a:tc>
                <a:tc>
                  <a:txBody>
                    <a:bodyPr>
                      <a:noAutofit/>
                    </a:bodyPr>
                    <a:lstStyle/>
                    <a:p>
                      <a:r>
                        <a:rPr sz="1500" b="0">
                          <a:solidFill>
                            <a:srgbClr val="344054"/>
                          </a:solidFill>
                          <a:latin typeface="Microsoft YaHei"/>
                          <a:ea typeface="Microsoft YaHei"/>
                          <a:cs typeface="Microsoft YaHei"/>
                        </a:rPr>
                        <a:t>留阱、机械激发、透镜效应</a:t>
                      </a:r>
                    </a:p>
                  </a:txBody>
                  <a:tcPr marL="91440" marR="91440" marT="45720" marB="45720" anchor="ctr">
                    <a:solidFill>
                      <a:srgbClr val="F2F4F7"/>
                    </a:solidFill>
                  </a:tcPr>
                </a:tc>
                <a:tc>
                  <a:txBody>
                    <a:bodyPr>
                      <a:noAutofit/>
                    </a:bodyPr>
                    <a:lstStyle/>
                    <a:p>
                      <a:r>
                        <a:rPr sz="1500" b="0">
                          <a:solidFill>
                            <a:srgbClr val="344054"/>
                          </a:solidFill>
                          <a:latin typeface="Microsoft YaHei"/>
                          <a:ea typeface="Microsoft YaHei"/>
                          <a:cs typeface="Microsoft YaHei"/>
                        </a:rPr>
                        <a:t>给 Level 4 提供运输模型</a:t>
                      </a:r>
                    </a:p>
                  </a:txBody>
                  <a:tcPr marL="91440" marR="91440" marT="45720" marB="45720" anchor="ctr">
                    <a:solidFill>
                      <a:srgbClr val="F2F4F7"/>
                    </a:solidFill>
                  </a:tcPr>
                </a:tc>
              </a:tr>
              <a:tr h="666750">
                <a:tc>
                  <a:txBody>
                    <a:bodyPr>
                      <a:noAutofit/>
                    </a:bodyPr>
                    <a:lstStyle/>
                    <a:p>
                      <a:r>
                        <a:rPr sz="1500" b="0">
                          <a:solidFill>
                            <a:srgbClr val="344054"/>
                          </a:solidFill>
                          <a:latin typeface="Microsoft YaHei"/>
                          <a:ea typeface="Microsoft YaHei"/>
                          <a:cs typeface="Microsoft YaHei"/>
                        </a:rPr>
                        <a:t>4</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完整拾取—运输—返回—放回</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连续多轮成功率与相位对比度</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使用 Level 2 冻结波形与 Level 3</a:t>
                      </a:r>
                    </a:p>
                  </a:txBody>
                  <a:tcPr marL="91440" marR="91440" marT="45720" marB="45720" anchor="ctr">
                    <a:solidFill>
                      <a:srgbClr val="FFFFFF"/>
                    </a:solidFill>
                  </a:tcPr>
                </a:tc>
              </a:tr>
              <a:tr h="666750">
                <a:tc>
                  <a:txBody>
                    <a:bodyPr>
                      <a:noAutofit/>
                    </a:bodyPr>
                    <a:lstStyle/>
                    <a:p>
                      <a:r>
                        <a:rPr sz="1500" b="0">
                          <a:solidFill>
                            <a:srgbClr val="344054"/>
                          </a:solidFill>
                          <a:latin typeface="Microsoft YaHei"/>
                          <a:ea typeface="Microsoft YaHei"/>
                          <a:cs typeface="Microsoft YaHei"/>
                        </a:rPr>
                        <a:t>5</a:t>
                      </a:r>
                    </a:p>
                  </a:txBody>
                  <a:tcPr marL="91440" marR="91440" marT="45720" marB="45720" anchor="ctr">
                    <a:solidFill>
                      <a:srgbClr val="F2F4F7"/>
                    </a:solidFill>
                  </a:tcPr>
                </a:tc>
                <a:tc>
                  <a:txBody>
                    <a:bodyPr>
                      <a:noAutofit/>
                    </a:bodyPr>
                    <a:lstStyle/>
                    <a:p>
                      <a:r>
                        <a:rPr sz="1500" b="0">
                          <a:solidFill>
                            <a:srgbClr val="344054"/>
                          </a:solidFill>
                          <a:latin typeface="Microsoft YaHei"/>
                          <a:ea typeface="Microsoft YaHei"/>
                          <a:cs typeface="Microsoft YaHei"/>
                        </a:rPr>
                        <a:t>冻结轨迹上的有限脉冲量子态</a:t>
                      </a:r>
                    </a:p>
                  </a:txBody>
                  <a:tcPr marL="91440" marR="91440" marT="45720" marB="45720" anchor="ctr">
                    <a:solidFill>
                      <a:srgbClr val="F2F4F7"/>
                    </a:solidFill>
                  </a:tcPr>
                </a:tc>
                <a:tc>
                  <a:txBody>
                    <a:bodyPr>
                      <a:noAutofit/>
                    </a:bodyPr>
                    <a:lstStyle/>
                    <a:p>
                      <a:r>
                        <a:rPr sz="1500" b="0">
                          <a:solidFill>
                            <a:srgbClr val="344054"/>
                          </a:solidFill>
                          <a:latin typeface="Microsoft YaHei"/>
                          <a:ea typeface="Microsoft YaHei"/>
                          <a:cs typeface="Microsoft YaHei"/>
                        </a:rPr>
                        <a:t>PTM、RB/IRB、站点统计</a:t>
                      </a:r>
                    </a:p>
                  </a:txBody>
                  <a:tcPr marL="91440" marR="91440" marT="45720" marB="45720" anchor="ctr">
                    <a:solidFill>
                      <a:srgbClr val="F2F4F7"/>
                    </a:solidFill>
                  </a:tcPr>
                </a:tc>
                <a:tc>
                  <a:txBody>
                    <a:bodyPr>
                      <a:noAutofit/>
                    </a:bodyPr>
                    <a:lstStyle/>
                    <a:p>
                      <a:r>
                        <a:rPr sz="1500" b="0">
                          <a:solidFill>
                            <a:srgbClr val="344054"/>
                          </a:solidFill>
                          <a:latin typeface="Microsoft YaHei"/>
                          <a:ea typeface="Microsoft YaHei"/>
                          <a:cs typeface="Microsoft YaHei"/>
                        </a:rPr>
                        <a:t>使用 Level 4 协议与轨迹池</a:t>
                      </a:r>
                    </a:p>
                  </a:txBody>
                  <a:tcPr marL="91440" marR="91440" marT="45720" marB="45720" anchor="ctr">
                    <a:solidFill>
                      <a:srgbClr val="F2F4F7"/>
                    </a:solidFill>
                  </a:tcPr>
                </a:tc>
              </a:tr>
            </a:tbl>
          </a:graphicData>
        </a:graphic>
      </p:graphicFrame>
      <p:sp>
        <p:nvSpPr>
          <p:cNvPr id="6" name="">
            <a:extLst xmlns:a="http://schemas.openxmlformats.org/drawingml/2006/main">
              <a:ext uri="{FF2B5EF4-FFF2-40B4-BE49-F238E27FC236}">
                <a16:creationId xmlns:a16="http://schemas.microsoft.com/office/drawing/2014/main" id="{B1D1B975-A851-4234-8E03-6458C19FFB8B}"/>
              </a:ext>
            </a:extLst>
          </p:cNvPr>
          <p:cNvSpPr>
            <a:spLocks xmlns:a="http://schemas.openxmlformats.org/drawingml/2006/main" noGrp="1"/>
          </p:cNvSpPr>
          <p:nvPr/>
        </p:nvSpPr>
        <p:spPr>
          <a:xfrm xmlns:a="http://schemas.openxmlformats.org/drawingml/2006/main">
            <a:off x="609600" y="51435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1570EF"/>
                </a:solidFill>
                <a:latin typeface="Microsoft YaHei"/>
                <a:ea typeface="Microsoft YaHei"/>
                <a:cs typeface="Microsoft YaHei"/>
              </a:defRPr>
            </a:pPr>
            <a:r>
              <a:rPr sz="1875" b="1">
                <a:solidFill>
                  <a:srgbClr val="1570EF"/>
                </a:solidFill>
                <a:latin typeface="Microsoft YaHei"/>
                <a:ea typeface="Microsoft YaHei"/>
                <a:cs typeface="Microsoft YaHei"/>
              </a:rPr>
              <a:t>新增 full 入口已接入 Level 2C 连续全流程。</a:t>
            </a:r>
          </a:p>
        </p:txBody>
      </p:sp>
      <p:sp>
        <p:nvSpPr>
          <p:cNvPr id="7" name="">
            <a:extLst xmlns:a="http://schemas.openxmlformats.org/drawingml/2006/main">
              <a:ext uri="{FF2B5EF4-FFF2-40B4-BE49-F238E27FC236}">
                <a16:creationId xmlns:a16="http://schemas.microsoft.com/office/drawing/2014/main" id="{0CF3648E-1A77-4AA5-B10E-4320EA65DFBA}"/>
              </a:ext>
            </a:extLst>
          </p:cNvPr>
          <p:cNvSpPr>
            <a:spLocks xmlns:a="http://schemas.openxmlformats.org/drawingml/2006/main" noGrp="1"/>
          </p:cNvSpPr>
          <p:nvPr/>
        </p:nvSpPr>
        <p:spPr>
          <a:xfrm xmlns:a="http://schemas.openxmlformats.org/drawingml/2006/main">
            <a:off x="609600" y="567690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344054"/>
                </a:solidFill>
                <a:latin typeface="Microsoft YaHei"/>
                <a:ea typeface="Microsoft YaHei"/>
                <a:cs typeface="Microsoft YaHei"/>
              </a:defRPr>
            </a:pPr>
            <a:r>
              <a:rPr sz="1575" b="0">
                <a:solidFill>
                  <a:srgbClr val="344054"/>
                </a:solidFill>
                <a:latin typeface="Microsoft YaHei"/>
                <a:ea typeface="Microsoft YaHei"/>
                <a:cs typeface="Microsoft YaHei"/>
              </a:rPr>
              <a:t>上表保留独立模块关系。第 33–43 页报告新的连续协议、重算结果及验收。</a:t>
            </a:r>
          </a:p>
        </p:txBody>
      </p:sp>
    </p:spTree>
    <p:extLst>
      <p:ext uri="{BB962C8B-B14F-4D97-AF65-F5344CB8AC3E}">
        <p14:creationId xmlns:p14="http://schemas.microsoft.com/office/powerpoint/2010/main" val="93305623"/>
      </p:ext>
    </p:extLst>
  </p:cSld>
</p:sld>
</file>

<file path=ppt/slides/slide2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BDB4864-1385-493F-A4FE-75C908881E51}"/>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Level 3：三维长运输模型</a:t>
            </a:r>
          </a:p>
        </p:txBody>
      </p:sp>
      <p:sp>
        <p:nvSpPr>
          <p:cNvPr id="2" name="">
            <a:extLst xmlns:a="http://schemas.openxmlformats.org/drawingml/2006/main">
              <a:ext uri="{FF2B5EF4-FFF2-40B4-BE49-F238E27FC236}">
                <a16:creationId xmlns:a16="http://schemas.microsoft.com/office/drawing/2014/main" id="{261B60EE-8505-4A06-9C93-ADFEE6EBF459}"/>
              </a:ext>
            </a:extLst>
          </p:cNvPr>
          <p:cNvSpPr>
            <a:spLocks xmlns:a="http://schemas.openxmlformats.org/drawingml/2006/main" noGrp="1"/>
          </p:cNvSpPr>
          <p:nvPr/>
        </p:nvSpPr>
        <p:spPr>
          <a:xfrm xmlns:a="http://schemas.openxmlformats.org/drawingml/2006/main">
            <a:off x="609600" y="933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67085"/>
                </a:solidFill>
                <a:latin typeface="Microsoft YaHei"/>
                <a:ea typeface="Microsoft YaHei"/>
                <a:cs typeface="Microsoft YaHei"/>
              </a:defRPr>
            </a:pPr>
            <a:r>
              <a:rPr sz="1350" b="0">
                <a:solidFill>
                  <a:srgbClr val="667085"/>
                </a:solidFill>
                <a:latin typeface="Microsoft YaHei"/>
                <a:ea typeface="Microsoft YaHei"/>
                <a:cs typeface="Microsoft YaHei"/>
              </a:rPr>
              <a:t>AOD 中的热初态，经一次运输和 100 μs 静止保持后判断是否仍然束缚</a:t>
            </a:r>
          </a:p>
        </p:txBody>
      </p:sp>
      <p:sp>
        <p:nvSpPr>
          <p:cNvPr id="3" name="">
            <a:extLst xmlns:a="http://schemas.openxmlformats.org/drawingml/2006/main">
              <a:ext uri="{FF2B5EF4-FFF2-40B4-BE49-F238E27FC236}">
                <a16:creationId xmlns:a16="http://schemas.microsoft.com/office/drawing/2014/main" id="{AD2A7662-BF1C-4AE2-8256-87AB340615D9}"/>
              </a:ext>
            </a:extLst>
          </p:cNvPr>
          <p:cNvSpPr>
            <a:spLocks xmlns:a="http://schemas.openxmlformats.org/drawingml/2006/main" noGrp="1"/>
          </p:cNvSpPr>
          <p:nvPr/>
        </p:nvSpPr>
        <p:spPr>
          <a:xfrm xmlns:a="http://schemas.openxmlformats.org/drawingml/2006/main">
            <a:off x="609600" y="6524625"/>
            <a:ext cx="1009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Level 2C–5 综合报告  ·  历史数值及状态详见配套报告</a:t>
            </a:r>
          </a:p>
        </p:txBody>
      </p:sp>
      <p:sp>
        <p:nvSpPr>
          <p:cNvPr id="4" name="">
            <a:extLst xmlns:a="http://schemas.openxmlformats.org/drawingml/2006/main">
              <a:ext uri="{FF2B5EF4-FFF2-40B4-BE49-F238E27FC236}">
                <a16:creationId xmlns:a16="http://schemas.microsoft.com/office/drawing/2014/main" id="{AB9B91D3-1D2B-4BF7-83AD-7EE17BC013B3}"/>
              </a:ext>
            </a:extLst>
          </p:cNvPr>
          <p:cNvSpPr>
            <a:spLocks xmlns:a="http://schemas.openxmlformats.org/drawingml/2006/main" noGrp="1"/>
          </p:cNvSpPr>
          <p:nvPr/>
        </p:nvSpPr>
        <p:spPr>
          <a:xfrm xmlns:a="http://schemas.openxmlformats.org/drawingml/2006/main">
            <a:off x="11049000" y="65151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20</a:t>
            </a:r>
          </a:p>
        </p:txBody>
      </p:sp>
      <p:graphicFrame>
        <p:nvGraphicFramePr>
          <p:cNvPr id="14" name=""/>
          <p:cNvGraphicFramePr/>
          <p:nvPr/>
        </p:nvGraphicFramePr>
        <p:xfrm>
          <a:off xmlns:a="http://schemas.openxmlformats.org/drawingml/2006/main" x="609600" y="1524000"/>
          <a:ext xmlns:a="http://schemas.openxmlformats.org/drawingml/2006/main" cx="10972800" cy="3714750"/>
        </p:xfrm>
        <a:graphic xmlns:a="http://schemas.openxmlformats.org/drawingml/2006/main">
          <a:graphicData uri="http://schemas.openxmlformats.org/drawingml/2006/table">
            <a:tbl>
              <a:tblPr/>
              <a:tblGrid>
                <a:gridCol w="2603715"/>
                <a:gridCol w="8369085"/>
              </a:tblGrid>
              <a:tr h="530679">
                <a:tc>
                  <a:txBody>
                    <a:bodyPr>
                      <a:noAutofit/>
                    </a:bodyPr>
                    <a:lstStyle/>
                    <a:p>
                      <a:r>
                        <a:rPr sz="1575" b="1">
                          <a:solidFill>
                            <a:srgbClr val="FFFFFF"/>
                          </a:solidFill>
                          <a:latin typeface="Microsoft YaHei"/>
                          <a:ea typeface="Microsoft YaHei"/>
                          <a:cs typeface="Microsoft YaHei"/>
                        </a:rPr>
                        <a:t>输入 / 方法</a:t>
                      </a:r>
                    </a:p>
                  </a:txBody>
                  <a:tcPr marL="91440" marR="91440" marT="45720" marB="45720" anchor="ctr">
                    <a:solidFill>
                      <a:srgbClr val="102A43"/>
                    </a:solidFill>
                  </a:tcPr>
                </a:tc>
                <a:tc>
                  <a:txBody>
                    <a:bodyPr>
                      <a:noAutofit/>
                    </a:bodyPr>
                    <a:lstStyle/>
                    <a:p>
                      <a:r>
                        <a:rPr sz="1575" b="1">
                          <a:solidFill>
                            <a:srgbClr val="FFFFFF"/>
                          </a:solidFill>
                          <a:latin typeface="Microsoft YaHei"/>
                          <a:ea typeface="Microsoft YaHei"/>
                          <a:cs typeface="Microsoft YaHei"/>
                        </a:rPr>
                        <a:t>当前实现</a:t>
                      </a:r>
                    </a:p>
                  </a:txBody>
                  <a:tcPr marL="91440" marR="91440" marT="45720" marB="45720" anchor="ctr">
                    <a:solidFill>
                      <a:srgbClr val="102A43"/>
                    </a:solidFill>
                  </a:tcPr>
                </a:tc>
              </a:tr>
              <a:tr h="530679">
                <a:tc>
                  <a:txBody>
                    <a:bodyPr>
                      <a:noAutofit/>
                    </a:bodyPr>
                    <a:lstStyle/>
                    <a:p>
                      <a:r>
                        <a:rPr sz="1575" b="0">
                          <a:solidFill>
                            <a:srgbClr val="344054"/>
                          </a:solidFill>
                          <a:latin typeface="Microsoft YaHei"/>
                          <a:ea typeface="Microsoft YaHei"/>
                          <a:cs typeface="Microsoft YaHei"/>
                        </a:rPr>
                        <a:t>原子与光阱</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Cs-133；1055 nm；w = 1.17 μm；D/kB = 280 μK</a:t>
                      </a:r>
                    </a:p>
                  </a:txBody>
                  <a:tcPr marL="91440" marR="91440" marT="45720" marB="45720" anchor="ctr">
                    <a:solidFill>
                      <a:srgbClr val="FFFFFF"/>
                    </a:solidFill>
                  </a:tcPr>
                </a:tc>
              </a:tr>
              <a:tr h="530679">
                <a:tc>
                  <a:txBody>
                    <a:bodyPr>
                      <a:noAutofit/>
                    </a:bodyPr>
                    <a:lstStyle/>
                    <a:p>
                      <a:r>
                        <a:rPr sz="1575" b="0">
                          <a:solidFill>
                            <a:srgbClr val="344054"/>
                          </a:solidFill>
                          <a:latin typeface="Microsoft YaHei"/>
                          <a:ea typeface="Microsoft YaHei"/>
                          <a:cs typeface="Microsoft YaHei"/>
                        </a:rPr>
                        <a:t>初态与传播</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T = 5 μK；三维谐振提议 + 束缚拒绝；velocity-Verlet</a:t>
                      </a:r>
                    </a:p>
                  </a:txBody>
                  <a:tcPr marL="91440" marR="91440" marT="45720" marB="45720" anchor="ctr">
                    <a:solidFill>
                      <a:srgbClr val="F2F4F7"/>
                    </a:solidFill>
                  </a:tcPr>
                </a:tc>
              </a:tr>
              <a:tr h="530679">
                <a:tc>
                  <a:txBody>
                    <a:bodyPr>
                      <a:noAutofit/>
                    </a:bodyPr>
                    <a:lstStyle/>
                    <a:p>
                      <a:r>
                        <a:rPr sz="1575" b="0">
                          <a:solidFill>
                            <a:srgbClr val="344054"/>
                          </a:solidFill>
                          <a:latin typeface="Microsoft YaHei"/>
                          <a:ea typeface="Microsoft YaHei"/>
                          <a:cs typeface="Microsoft YaHei"/>
                        </a:rPr>
                        <a:t>几何与距离</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直线 / 对角；270 / 510 / 610 μm（路径总长度）</a:t>
                      </a:r>
                    </a:p>
                  </a:txBody>
                  <a:tcPr marL="91440" marR="91440" marT="45720" marB="45720" anchor="ctr">
                    <a:solidFill>
                      <a:srgbClr val="FFFFFF"/>
                    </a:solidFill>
                  </a:tcPr>
                </a:tc>
              </a:tr>
              <a:tr h="530679">
                <a:tc>
                  <a:txBody>
                    <a:bodyPr>
                      <a:noAutofit/>
                    </a:bodyPr>
                    <a:lstStyle/>
                    <a:p>
                      <a:r>
                        <a:rPr sz="1575" b="0">
                          <a:solidFill>
                            <a:srgbClr val="344054"/>
                          </a:solidFill>
                          <a:latin typeface="Microsoft YaHei"/>
                          <a:ea typeface="Microsoft YaHei"/>
                          <a:cs typeface="Microsoft YaHei"/>
                        </a:rPr>
                        <a:t>轨迹与时长</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sine / 四段 constant-jerk / minimum-jerk；400–2000 μs</a:t>
                      </a:r>
                    </a:p>
                  </a:txBody>
                  <a:tcPr marL="91440" marR="91440" marT="45720" marB="45720" anchor="ctr">
                    <a:solidFill>
                      <a:srgbClr val="F2F4F7"/>
                    </a:solidFill>
                  </a:tcPr>
                </a:tc>
              </a:tr>
              <a:tr h="530679">
                <a:tc>
                  <a:txBody>
                    <a:bodyPr>
                      <a:noAutofit/>
                    </a:bodyPr>
                    <a:lstStyle/>
                    <a:p>
                      <a:r>
                        <a:rPr sz="1575" b="0">
                          <a:solidFill>
                            <a:srgbClr val="344054"/>
                          </a:solidFill>
                          <a:latin typeface="Microsoft YaHei"/>
                          <a:ea typeface="Microsoft YaHei"/>
                          <a:cs typeface="Microsoft YaHei"/>
                        </a:rPr>
                        <a:t>透镜效应</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扫频速度决定两轴焦点偏移；有效深度下降、轴向分岔</a:t>
                      </a:r>
                    </a:p>
                  </a:txBody>
                  <a:tcPr marL="91440" marR="91440" marT="45720" marB="45720" anchor="ctr">
                    <a:solidFill>
                      <a:srgbClr val="FFFFFF"/>
                    </a:solidFill>
                  </a:tcPr>
                </a:tc>
              </a:tr>
              <a:tr h="530679">
                <a:tc>
                  <a:txBody>
                    <a:bodyPr>
                      <a:noAutofit/>
                    </a:bodyPr>
                    <a:lstStyle/>
                    <a:p>
                      <a:r>
                        <a:rPr sz="1575" b="0">
                          <a:solidFill>
                            <a:srgbClr val="344054"/>
                          </a:solidFill>
                          <a:latin typeface="Microsoft YaHei"/>
                          <a:ea typeface="Microsoft YaHei"/>
                          <a:cs typeface="Microsoft YaHei"/>
                        </a:rPr>
                        <a:t>判据与步长</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末态 E &lt; 0；正式 dt = 0.05 μs；0.025 μs 复核</a:t>
                      </a:r>
                    </a:p>
                  </a:txBody>
                  <a:tcPr marL="91440" marR="91440" marT="45720" marB="45720" anchor="ctr">
                    <a:solidFill>
                      <a:srgbClr val="F2F4F7"/>
                    </a:solidFill>
                  </a:tcPr>
                </a:tc>
              </a:tr>
            </a:tbl>
          </a:graphicData>
        </a:graphic>
      </p:graphicFrame>
      <p:sp>
        <p:nvSpPr>
          <p:cNvPr id="6" name="">
            <a:extLst xmlns:a="http://schemas.openxmlformats.org/drawingml/2006/main">
              <a:ext uri="{FF2B5EF4-FFF2-40B4-BE49-F238E27FC236}">
                <a16:creationId xmlns:a16="http://schemas.microsoft.com/office/drawing/2014/main" id="{2AD78583-0B21-453D-B2AD-6C1A5B067F47}"/>
              </a:ext>
            </a:extLst>
          </p:cNvPr>
          <p:cNvSpPr>
            <a:spLocks xmlns:a="http://schemas.openxmlformats.org/drawingml/2006/main" noGrp="1"/>
          </p:cNvSpPr>
          <p:nvPr/>
        </p:nvSpPr>
        <p:spPr>
          <a:xfrm xmlns:a="http://schemas.openxmlformats.org/drawingml/2006/main">
            <a:off x="609600" y="55054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1570EF"/>
                </a:solidFill>
                <a:latin typeface="Microsoft YaHei"/>
                <a:ea typeface="Microsoft YaHei"/>
                <a:cs typeface="Microsoft YaHei"/>
              </a:defRPr>
            </a:pPr>
            <a:r>
              <a:rPr sz="1800" b="1">
                <a:solidFill>
                  <a:srgbClr val="1570EF"/>
                </a:solidFill>
                <a:latin typeface="Microsoft YaHei"/>
                <a:ea typeface="Microsoft YaHei"/>
                <a:cs typeface="Microsoft YaHei"/>
              </a:rPr>
              <a:t>对角 610 μm：每轴位移约 431 μm。</a:t>
            </a:r>
          </a:p>
        </p:txBody>
      </p:sp>
      <p:sp>
        <p:nvSpPr>
          <p:cNvPr id="7" name="">
            <a:extLst xmlns:a="http://schemas.openxmlformats.org/drawingml/2006/main">
              <a:ext uri="{FF2B5EF4-FFF2-40B4-BE49-F238E27FC236}">
                <a16:creationId xmlns:a16="http://schemas.microsoft.com/office/drawing/2014/main" id="{580F1F1F-60A7-4C83-9FCD-BD9E5A89EC41}"/>
              </a:ext>
            </a:extLst>
          </p:cNvPr>
          <p:cNvSpPr>
            <a:spLocks xmlns:a="http://schemas.openxmlformats.org/drawingml/2006/main" noGrp="1"/>
          </p:cNvSpPr>
          <p:nvPr/>
        </p:nvSpPr>
        <p:spPr>
          <a:xfrm xmlns:a="http://schemas.openxmlformats.org/drawingml/2006/main">
            <a:off x="609600" y="59626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344054"/>
                </a:solidFill>
                <a:latin typeface="Microsoft YaHei"/>
                <a:ea typeface="Microsoft YaHei"/>
                <a:cs typeface="Microsoft YaHei"/>
              </a:defRPr>
            </a:pPr>
            <a:r>
              <a:rPr sz="1500" b="0">
                <a:solidFill>
                  <a:srgbClr val="344054"/>
                </a:solidFill>
                <a:latin typeface="Microsoft YaHei"/>
                <a:ea typeface="Microsoft YaHei"/>
                <a:cs typeface="Microsoft YaHei"/>
              </a:rPr>
              <a:t>本级不含 SLM 拾取/放回、重复往返或量子内部态。</a:t>
            </a:r>
          </a:p>
        </p:txBody>
      </p:sp>
    </p:spTree>
    <p:extLst>
      <p:ext uri="{BB962C8B-B14F-4D97-AF65-F5344CB8AC3E}">
        <p14:creationId xmlns:p14="http://schemas.microsoft.com/office/powerpoint/2010/main" val="352203445"/>
      </p:ext>
    </p:extLst>
  </p:cSld>
</p:sld>
</file>

<file path=ppt/slides/slide2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1ADA6C6-1703-410A-BCB6-DD900961623E}"/>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Level 3：长运输的经典留阱结果</a:t>
            </a:r>
          </a:p>
        </p:txBody>
      </p:sp>
      <p:sp>
        <p:nvSpPr>
          <p:cNvPr id="2" name="">
            <a:extLst xmlns:a="http://schemas.openxmlformats.org/drawingml/2006/main">
              <a:ext uri="{FF2B5EF4-FFF2-40B4-BE49-F238E27FC236}">
                <a16:creationId xmlns:a16="http://schemas.microsoft.com/office/drawing/2014/main" id="{A9139826-6B9E-40EC-9BDB-DC82A82CA918}"/>
              </a:ext>
            </a:extLst>
          </p:cNvPr>
          <p:cNvSpPr>
            <a:spLocks xmlns:a="http://schemas.openxmlformats.org/drawingml/2006/main" noGrp="1"/>
          </p:cNvSpPr>
          <p:nvPr/>
        </p:nvSpPr>
        <p:spPr>
          <a:xfrm xmlns:a="http://schemas.openxmlformats.org/drawingml/2006/main">
            <a:off x="609600" y="933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67085"/>
                </a:solidFill>
                <a:latin typeface="Microsoft YaHei"/>
                <a:ea typeface="Microsoft YaHei"/>
                <a:cs typeface="Microsoft YaHei"/>
              </a:defRPr>
            </a:pPr>
            <a:r>
              <a:rPr sz="1350" b="0">
                <a:solidFill>
                  <a:srgbClr val="667085"/>
                </a:solidFill>
                <a:latin typeface="Microsoft YaHei"/>
                <a:ea typeface="Microsoft YaHei"/>
                <a:cs typeface="Microsoft YaHei"/>
              </a:rPr>
              <a:t>已有 96 格点粗扫描是配置范围的子集；下图为 adiabatic-sine，128 shots/点</a:t>
            </a:r>
          </a:p>
        </p:txBody>
      </p:sp>
      <p:sp>
        <p:nvSpPr>
          <p:cNvPr id="3" name="">
            <a:extLst xmlns:a="http://schemas.openxmlformats.org/drawingml/2006/main">
              <a:ext uri="{FF2B5EF4-FFF2-40B4-BE49-F238E27FC236}">
                <a16:creationId xmlns:a16="http://schemas.microsoft.com/office/drawing/2014/main" id="{4E74D828-9F32-44AE-9228-1C2D4F39DDE8}"/>
              </a:ext>
            </a:extLst>
          </p:cNvPr>
          <p:cNvSpPr>
            <a:spLocks xmlns:a="http://schemas.openxmlformats.org/drawingml/2006/main" noGrp="1"/>
          </p:cNvSpPr>
          <p:nvPr/>
        </p:nvSpPr>
        <p:spPr>
          <a:xfrm xmlns:a="http://schemas.openxmlformats.org/drawingml/2006/main">
            <a:off x="609600" y="6524625"/>
            <a:ext cx="1009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Level 2C–5 综合报告  ·  历史数值及状态详见配套报告</a:t>
            </a:r>
          </a:p>
        </p:txBody>
      </p:sp>
      <p:sp>
        <p:nvSpPr>
          <p:cNvPr id="4" name="">
            <a:extLst xmlns:a="http://schemas.openxmlformats.org/drawingml/2006/main">
              <a:ext uri="{FF2B5EF4-FFF2-40B4-BE49-F238E27FC236}">
                <a16:creationId xmlns:a16="http://schemas.microsoft.com/office/drawing/2014/main" id="{C232B96D-0537-4476-860B-B84A24B336AF}"/>
              </a:ext>
            </a:extLst>
          </p:cNvPr>
          <p:cNvSpPr>
            <a:spLocks xmlns:a="http://schemas.openxmlformats.org/drawingml/2006/main" noGrp="1"/>
          </p:cNvSpPr>
          <p:nvPr/>
        </p:nvSpPr>
        <p:spPr>
          <a:xfrm xmlns:a="http://schemas.openxmlformats.org/drawingml/2006/main">
            <a:off x="11049000" y="65151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21</a:t>
            </a:r>
          </a:p>
        </p:txBody>
      </p:sp>
      <p:graphicFrame>
        <p:nvGraphicFramePr>
          <p:cNvPr id="16" name="Chart"/>
          <p:cNvGraphicFramePr/>
          <p:nvPr/>
        </p:nvGraphicFramePr>
        <p:xfrm>
          <a:off xmlns:a="http://schemas.openxmlformats.org/drawingml/2006/main" x="609600" y="1504950"/>
          <a:ext xmlns:a="http://schemas.openxmlformats.org/drawingml/2006/main" cx="7620000" cy="3524250"/>
        </p:xfrm>
        <a:graphic xmlns:a="http://schemas.openxmlformats.org/drawingml/2006/main">
          <a:graphicData uri="http://schemas.openxmlformats.org/drawingml/2006/chart">
            <c:chart xmlns:r="http://schemas.openxmlformats.org/officeDocument/2006/relationships" xmlns:c="http://schemas.openxmlformats.org/drawingml/2006/chart" r:id="R8eabd8ef42984637"/>
          </a:graphicData>
        </a:graphic>
      </p:graphicFrame>
      <p:sp>
        <p:nvSpPr>
          <p:cNvPr id="6" name="">
            <a:extLst xmlns:a="http://schemas.openxmlformats.org/drawingml/2006/main">
              <a:ext uri="{FF2B5EF4-FFF2-40B4-BE49-F238E27FC236}">
                <a16:creationId xmlns:a16="http://schemas.microsoft.com/office/drawing/2014/main" id="{44E483AB-4B08-47A7-A151-B1C47FB8C1C1}"/>
              </a:ext>
            </a:extLst>
          </p:cNvPr>
          <p:cNvSpPr>
            <a:spLocks xmlns:a="http://schemas.openxmlformats.org/drawingml/2006/main" noGrp="1"/>
          </p:cNvSpPr>
          <p:nvPr/>
        </p:nvSpPr>
        <p:spPr>
          <a:xfrm xmlns:a="http://schemas.openxmlformats.org/drawingml/2006/main">
            <a:off x="8572500" y="1657350"/>
            <a:ext cx="2876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102A43"/>
                </a:solidFill>
                <a:latin typeface="Microsoft YaHei"/>
                <a:ea typeface="Microsoft YaHei"/>
                <a:cs typeface="Microsoft YaHei"/>
              </a:defRPr>
            </a:pPr>
            <a:r>
              <a:rPr sz="1875" b="1">
                <a:solidFill>
                  <a:srgbClr val="102A43"/>
                </a:solidFill>
                <a:latin typeface="Microsoft YaHei"/>
                <a:ea typeface="Microsoft YaHei"/>
                <a:cs typeface="Microsoft YaHei"/>
              </a:rPr>
              <a:t>冻结主条件</a:t>
            </a:r>
          </a:p>
        </p:txBody>
      </p:sp>
      <p:sp>
        <p:nvSpPr>
          <p:cNvPr id="7" name="">
            <a:extLst xmlns:a="http://schemas.openxmlformats.org/drawingml/2006/main">
              <a:ext uri="{FF2B5EF4-FFF2-40B4-BE49-F238E27FC236}">
                <a16:creationId xmlns:a16="http://schemas.microsoft.com/office/drawing/2014/main" id="{9A27945C-8F41-421C-A7EE-A63E77022C9B}"/>
              </a:ext>
            </a:extLst>
          </p:cNvPr>
          <p:cNvSpPr>
            <a:spLocks xmlns:a="http://schemas.openxmlformats.org/drawingml/2006/main" noGrp="1"/>
          </p:cNvSpPr>
          <p:nvPr/>
        </p:nvSpPr>
        <p:spPr>
          <a:xfrm xmlns:a="http://schemas.openxmlformats.org/drawingml/2006/main">
            <a:off x="8572500" y="2190750"/>
            <a:ext cx="2876550"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344054"/>
                </a:solidFill>
                <a:latin typeface="Microsoft YaHei"/>
                <a:ea typeface="Microsoft YaHei"/>
                <a:cs typeface="Microsoft YaHei"/>
              </a:defRPr>
            </a:pPr>
            <a:r>
              <a:rPr sz="1725" b="0">
                <a:solidFill>
                  <a:srgbClr val="344054"/>
                </a:solidFill>
                <a:latin typeface="Microsoft YaHei"/>
                <a:ea typeface="Microsoft YaHei"/>
                <a:cs typeface="Microsoft YaHei"/>
              </a:rPr>
              <a:t>8 个条件</a:t>
            </a:r>
          </a:p>
          <a:p xmlns:a="http://schemas.openxmlformats.org/drawingml/2006/main">
            <a:pPr>
              <a:buNone/>
              <a:defRPr sz="1725" b="0">
                <a:solidFill>
                  <a:srgbClr val="344054"/>
                </a:solidFill>
                <a:latin typeface="Microsoft YaHei"/>
                <a:ea typeface="Microsoft YaHei"/>
                <a:cs typeface="Microsoft YaHei"/>
              </a:defRPr>
            </a:pPr>
            <a:r>
              <a:rPr sz="1725" b="0">
                <a:solidFill>
                  <a:srgbClr val="344054"/>
                </a:solidFill>
                <a:latin typeface="Microsoft YaHei"/>
                <a:ea typeface="Microsoft YaHei"/>
                <a:cs typeface="Microsoft YaHei"/>
              </a:rPr>
              <a:t>每个 2000/2000 留阱</a:t>
            </a:r>
          </a:p>
          <a:p xmlns:a="http://schemas.openxmlformats.org/drawingml/2006/main">
            <a:pPr>
              <a:buNone/>
              <a:defRPr sz="1725" b="0">
                <a:solidFill>
                  <a:srgbClr val="344054"/>
                </a:solidFill>
                <a:latin typeface="Microsoft YaHei"/>
                <a:ea typeface="Microsoft YaHei"/>
                <a:cs typeface="Microsoft YaHei"/>
              </a:defRPr>
            </a:pPr>
            <a:r>
              <a:rPr sz="1725" b="0">
                <a:solidFill>
                  <a:srgbClr val="344054"/>
                </a:solidFill>
                <a:latin typeface="Microsoft YaHei"/>
                <a:ea typeface="Microsoft YaHei"/>
                <a:cs typeface="Microsoft YaHei"/>
              </a:rPr>
              <a:t>95% 区间约</a:t>
            </a:r>
          </a:p>
          <a:p xmlns:a="http://schemas.openxmlformats.org/drawingml/2006/main">
            <a:pPr>
              <a:buNone/>
              <a:defRPr sz="1725" b="0">
                <a:solidFill>
                  <a:srgbClr val="344054"/>
                </a:solidFill>
                <a:latin typeface="Microsoft YaHei"/>
                <a:ea typeface="Microsoft YaHei"/>
                <a:cs typeface="Microsoft YaHei"/>
              </a:defRPr>
            </a:pPr>
            <a:r>
              <a:rPr sz="1725" b="0">
                <a:solidFill>
                  <a:srgbClr val="344054"/>
                </a:solidFill>
                <a:latin typeface="Microsoft YaHei"/>
                <a:ea typeface="Microsoft YaHei"/>
                <a:cs typeface="Microsoft YaHei"/>
              </a:rPr>
              <a:t>[0.9981, 1.0000]</a:t>
            </a:r>
          </a:p>
        </p:txBody>
      </p:sp>
      <p:sp>
        <p:nvSpPr>
          <p:cNvPr id="8" name="">
            <a:extLst xmlns:a="http://schemas.openxmlformats.org/drawingml/2006/main">
              <a:ext uri="{FF2B5EF4-FFF2-40B4-BE49-F238E27FC236}">
                <a16:creationId xmlns:a16="http://schemas.microsoft.com/office/drawing/2014/main" id="{22BC1679-8BD3-45C1-89B6-0BB497526D4F}"/>
              </a:ext>
            </a:extLst>
          </p:cNvPr>
          <p:cNvSpPr>
            <a:spLocks xmlns:a="http://schemas.openxmlformats.org/drawingml/2006/main" noGrp="1"/>
          </p:cNvSpPr>
          <p:nvPr/>
        </p:nvSpPr>
        <p:spPr>
          <a:xfrm xmlns:a="http://schemas.openxmlformats.org/drawingml/2006/main">
            <a:off x="8572500" y="4095750"/>
            <a:ext cx="28765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344054"/>
                </a:solidFill>
                <a:latin typeface="Microsoft YaHei"/>
                <a:ea typeface="Microsoft YaHei"/>
                <a:cs typeface="Microsoft YaHei"/>
              </a:defRPr>
            </a:pPr>
            <a:r>
              <a:rPr sz="1425" b="0">
                <a:solidFill>
                  <a:srgbClr val="344054"/>
                </a:solidFill>
                <a:latin typeface="Microsoft YaHei"/>
                <a:ea typeface="Microsoft YaHei"/>
                <a:cs typeface="Microsoft YaHei"/>
              </a:rPr>
              <a:t>范围：510 μm 直线、610 μm 对角，1.6 ms，sine / constant-jerk。</a:t>
            </a:r>
          </a:p>
        </p:txBody>
      </p:sp>
      <p:sp>
        <p:nvSpPr>
          <p:cNvPr id="9" name="">
            <a:extLst xmlns:a="http://schemas.openxmlformats.org/drawingml/2006/main">
              <a:ext uri="{FF2B5EF4-FFF2-40B4-BE49-F238E27FC236}">
                <a16:creationId xmlns:a16="http://schemas.microsoft.com/office/drawing/2014/main" id="{7E2D1A41-745F-4175-BF7D-DAE7EF02FAD6}"/>
              </a:ext>
            </a:extLst>
          </p:cNvPr>
          <p:cNvSpPr>
            <a:spLocks xmlns:a="http://schemas.openxmlformats.org/drawingml/2006/main" noGrp="1"/>
          </p:cNvSpPr>
          <p:nvPr/>
        </p:nvSpPr>
        <p:spPr>
          <a:xfrm xmlns:a="http://schemas.openxmlformats.org/drawingml/2006/main">
            <a:off x="609600" y="561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570EF"/>
                </a:solidFill>
                <a:latin typeface="Microsoft YaHei"/>
                <a:ea typeface="Microsoft YaHei"/>
                <a:cs typeface="Microsoft YaHei"/>
              </a:defRPr>
            </a:pPr>
            <a:r>
              <a:rPr sz="1725" b="1">
                <a:solidFill>
                  <a:srgbClr val="1570EF"/>
                </a:solidFill>
                <a:latin typeface="Microsoft YaHei"/>
                <a:ea typeface="Microsoft YaHei"/>
                <a:cs typeface="Microsoft YaHei"/>
              </a:rPr>
              <a:t>主条件未观察到失阱，不能推断实验零损失；留阱率也不是量子门保真度。</a:t>
            </a:r>
          </a:p>
        </p:txBody>
      </p:sp>
    </p:spTree>
    <p:extLst>
      <p:ext uri="{BB962C8B-B14F-4D97-AF65-F5344CB8AC3E}">
        <p14:creationId xmlns:p14="http://schemas.microsoft.com/office/powerpoint/2010/main" val="931342925"/>
      </p:ext>
    </p:extLst>
  </p:cSld>
</p:sld>
</file>

<file path=ppt/slides/slide2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E345AA1-6A3D-4653-AE8D-DE58B1884A7F}"/>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Level 3：透镜标定与深度补偿边界</a:t>
            </a:r>
          </a:p>
        </p:txBody>
      </p:sp>
      <p:sp>
        <p:nvSpPr>
          <p:cNvPr id="2" name="">
            <a:extLst xmlns:a="http://schemas.openxmlformats.org/drawingml/2006/main">
              <a:ext uri="{FF2B5EF4-FFF2-40B4-BE49-F238E27FC236}">
                <a16:creationId xmlns:a16="http://schemas.microsoft.com/office/drawing/2014/main" id="{7966C26E-9A9E-44AB-AC4C-355A5368D4AC}"/>
              </a:ext>
            </a:extLst>
          </p:cNvPr>
          <p:cNvSpPr>
            <a:spLocks xmlns:a="http://schemas.openxmlformats.org/drawingml/2006/main" noGrp="1"/>
          </p:cNvSpPr>
          <p:nvPr/>
        </p:nvSpPr>
        <p:spPr>
          <a:xfrm xmlns:a="http://schemas.openxmlformats.org/drawingml/2006/main">
            <a:off x="609600" y="933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67085"/>
                </a:solidFill>
                <a:latin typeface="Microsoft YaHei"/>
                <a:ea typeface="Microsoft YaHei"/>
                <a:cs typeface="Microsoft YaHei"/>
              </a:defRPr>
            </a:pPr>
            <a:r>
              <a:rPr sz="1350" b="0">
                <a:solidFill>
                  <a:srgbClr val="667085"/>
                </a:solidFill>
                <a:latin typeface="Microsoft YaHei"/>
                <a:ea typeface="Microsoft YaHei"/>
                <a:cs typeface="Microsoft YaHei"/>
              </a:rPr>
              <a:t>默认 severity 是相对场景；器件临界速度没有独立实验标定</a:t>
            </a:r>
          </a:p>
        </p:txBody>
      </p:sp>
      <p:sp>
        <p:nvSpPr>
          <p:cNvPr id="3" name="">
            <a:extLst xmlns:a="http://schemas.openxmlformats.org/drawingml/2006/main">
              <a:ext uri="{FF2B5EF4-FFF2-40B4-BE49-F238E27FC236}">
                <a16:creationId xmlns:a16="http://schemas.microsoft.com/office/drawing/2014/main" id="{47EEDE17-8023-4B20-A81A-CF51048C09B5}"/>
              </a:ext>
            </a:extLst>
          </p:cNvPr>
          <p:cNvSpPr>
            <a:spLocks xmlns:a="http://schemas.openxmlformats.org/drawingml/2006/main" noGrp="1"/>
          </p:cNvSpPr>
          <p:nvPr/>
        </p:nvSpPr>
        <p:spPr>
          <a:xfrm xmlns:a="http://schemas.openxmlformats.org/drawingml/2006/main">
            <a:off x="609600" y="6524625"/>
            <a:ext cx="1009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Level 2C–5 综合报告  ·  历史数值及状态详见配套报告</a:t>
            </a:r>
          </a:p>
        </p:txBody>
      </p:sp>
      <p:sp>
        <p:nvSpPr>
          <p:cNvPr id="4" name="">
            <a:extLst xmlns:a="http://schemas.openxmlformats.org/drawingml/2006/main">
              <a:ext uri="{FF2B5EF4-FFF2-40B4-BE49-F238E27FC236}">
                <a16:creationId xmlns:a16="http://schemas.microsoft.com/office/drawing/2014/main" id="{2977C37F-C403-47E9-93F2-D82895354B57}"/>
              </a:ext>
            </a:extLst>
          </p:cNvPr>
          <p:cNvSpPr>
            <a:spLocks xmlns:a="http://schemas.openxmlformats.org/drawingml/2006/main" noGrp="1"/>
          </p:cNvSpPr>
          <p:nvPr/>
        </p:nvSpPr>
        <p:spPr>
          <a:xfrm xmlns:a="http://schemas.openxmlformats.org/drawingml/2006/main">
            <a:off x="11049000" y="65151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22</a:t>
            </a:r>
          </a:p>
        </p:txBody>
      </p:sp>
      <p:sp>
        <p:nvSpPr>
          <p:cNvPr id="5" name="">
            <a:extLst xmlns:a="http://schemas.openxmlformats.org/drawingml/2006/main">
              <a:ext uri="{FF2B5EF4-FFF2-40B4-BE49-F238E27FC236}">
                <a16:creationId xmlns:a16="http://schemas.microsoft.com/office/drawing/2014/main" id="{6F578BE7-94AF-47B7-B9DB-14F4233EABE9}"/>
              </a:ext>
            </a:extLst>
          </p:cNvPr>
          <p:cNvSpPr>
            <a:spLocks xmlns:a="http://schemas.openxmlformats.org/drawingml/2006/main" noGrp="1"/>
          </p:cNvSpPr>
          <p:nvPr/>
        </p:nvSpPr>
        <p:spPr>
          <a:xfrm xmlns:a="http://schemas.openxmlformats.org/drawingml/2006/main">
            <a:off x="609600" y="15621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570EF"/>
                </a:solidFill>
                <a:latin typeface="Microsoft YaHei"/>
                <a:ea typeface="Microsoft YaHei"/>
                <a:cs typeface="Microsoft YaHei"/>
              </a:defRPr>
            </a:pPr>
            <a:r>
              <a:rPr sz="1950" b="1">
                <a:solidFill>
                  <a:srgbClr val="1570EF"/>
                </a:solidFill>
                <a:latin typeface="Microsoft YaHei"/>
                <a:ea typeface="Microsoft YaHei"/>
                <a:cs typeface="Microsoft YaHei"/>
              </a:rPr>
              <a:t>severity = 1 对应 v_s ≈ 0.53917 m/s</a:t>
            </a:r>
          </a:p>
        </p:txBody>
      </p:sp>
      <p:sp>
        <p:nvSpPr>
          <p:cNvPr id="6" name="">
            <a:extLst xmlns:a="http://schemas.openxmlformats.org/drawingml/2006/main">
              <a:ext uri="{FF2B5EF4-FFF2-40B4-BE49-F238E27FC236}">
                <a16:creationId xmlns:a16="http://schemas.microsoft.com/office/drawing/2014/main" id="{BE16F939-D2F3-45BD-9B73-B466108378C6}"/>
              </a:ext>
            </a:extLst>
          </p:cNvPr>
          <p:cNvSpPr>
            <a:spLocks xmlns:a="http://schemas.openxmlformats.org/drawingml/2006/main" noGrp="1"/>
          </p:cNvSpPr>
          <p:nvPr/>
        </p:nvSpPr>
        <p:spPr>
          <a:xfrm xmlns:a="http://schemas.openxmlformats.org/drawingml/2006/main">
            <a:off x="609600" y="20383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344054"/>
                </a:solidFill>
                <a:latin typeface="Microsoft YaHei"/>
                <a:ea typeface="Microsoft YaHei"/>
                <a:cs typeface="Microsoft YaHei"/>
              </a:defRPr>
            </a:pPr>
            <a:r>
              <a:rPr sz="1650" b="0">
                <a:solidFill>
                  <a:srgbClr val="344054"/>
                </a:solidFill>
                <a:latin typeface="Microsoft YaHei"/>
                <a:ea typeface="Microsoft YaHei"/>
                <a:cs typeface="Microsoft YaHei"/>
              </a:rPr>
              <a:t>该值由 610 μm / 1.6 ms 的参考对角轨迹推导，不能作为论文实测硬件参数。</a:t>
            </a:r>
          </a:p>
        </p:txBody>
      </p:sp>
      <p:graphicFrame>
        <p:nvGraphicFramePr>
          <p:cNvPr id="18" name=""/>
          <p:cNvGraphicFramePr/>
          <p:nvPr/>
        </p:nvGraphicFramePr>
        <p:xfrm>
          <a:off xmlns:a="http://schemas.openxmlformats.org/drawingml/2006/main" x="609600" y="2762250"/>
          <a:ext xmlns:a="http://schemas.openxmlformats.org/drawingml/2006/main" cx="10972800" cy="2286000"/>
        </p:xfrm>
        <a:graphic xmlns:a="http://schemas.openxmlformats.org/drawingml/2006/main">
          <a:graphicData uri="http://schemas.openxmlformats.org/drawingml/2006/table">
            <a:tbl>
              <a:tblPr/>
              <a:tblGrid>
                <a:gridCol w="4702629"/>
                <a:gridCol w="3135086"/>
                <a:gridCol w="3135086"/>
              </a:tblGrid>
              <a:tr h="457200">
                <a:tc>
                  <a:txBody>
                    <a:bodyPr>
                      <a:noAutofit/>
                    </a:bodyPr>
                    <a:lstStyle/>
                    <a:p>
                      <a:r>
                        <a:rPr sz="1575" b="1">
                          <a:solidFill>
                            <a:srgbClr val="FFFFFF"/>
                          </a:solidFill>
                          <a:latin typeface="Microsoft YaHei"/>
                          <a:ea typeface="Microsoft YaHei"/>
                          <a:cs typeface="Microsoft YaHei"/>
                        </a:rPr>
                        <a:t>510 μm 直线 / 1.6 ms</a:t>
                      </a:r>
                    </a:p>
                  </a:txBody>
                  <a:tcPr marL="91440" marR="91440" marT="45720" marB="45720" anchor="ctr">
                    <a:solidFill>
                      <a:srgbClr val="102A43"/>
                    </a:solidFill>
                  </a:tcPr>
                </a:tc>
                <a:tc>
                  <a:txBody>
                    <a:bodyPr>
                      <a:noAutofit/>
                    </a:bodyPr>
                    <a:lstStyle/>
                    <a:p>
                      <a:r>
                        <a:rPr sz="1575" b="1">
                          <a:solidFill>
                            <a:srgbClr val="FFFFFF"/>
                          </a:solidFill>
                          <a:latin typeface="Microsoft YaHei"/>
                          <a:ea typeface="Microsoft YaHei"/>
                          <a:cs typeface="Microsoft YaHei"/>
                        </a:rPr>
                        <a:t>未补偿</a:t>
                      </a:r>
                    </a:p>
                  </a:txBody>
                  <a:tcPr marL="91440" marR="91440" marT="45720" marB="45720" anchor="ctr">
                    <a:solidFill>
                      <a:srgbClr val="102A43"/>
                    </a:solidFill>
                  </a:tcPr>
                </a:tc>
                <a:tc>
                  <a:txBody>
                    <a:bodyPr>
                      <a:noAutofit/>
                    </a:bodyPr>
                    <a:lstStyle/>
                    <a:p>
                      <a:r>
                        <a:rPr sz="1575" b="1">
                          <a:solidFill>
                            <a:srgbClr val="FFFFFF"/>
                          </a:solidFill>
                          <a:latin typeface="Microsoft YaHei"/>
                          <a:ea typeface="Microsoft YaHei"/>
                          <a:cs typeface="Microsoft YaHei"/>
                        </a:rPr>
                        <a:t>探索性补偿</a:t>
                      </a:r>
                    </a:p>
                  </a:txBody>
                  <a:tcPr marL="91440" marR="91440" marT="45720" marB="45720" anchor="ctr">
                    <a:solidFill>
                      <a:srgbClr val="102A43"/>
                    </a:solidFill>
                  </a:tcPr>
                </a:tc>
              </a:tr>
              <a:tr h="457200">
                <a:tc>
                  <a:txBody>
                    <a:bodyPr>
                      <a:noAutofit/>
                    </a:bodyPr>
                    <a:lstStyle/>
                    <a:p>
                      <a:r>
                        <a:rPr sz="1575" b="0">
                          <a:solidFill>
                            <a:srgbClr val="344054"/>
                          </a:solidFill>
                          <a:latin typeface="Microsoft YaHei"/>
                          <a:ea typeface="Microsoft YaHei"/>
                          <a:cs typeface="Microsoft YaHei"/>
                        </a:rPr>
                        <a:t>功率倍率上限</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1</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2</a:t>
                      </a:r>
                    </a:p>
                  </a:txBody>
                  <a:tcPr marL="91440" marR="91440" marT="45720" marB="45720" anchor="ctr">
                    <a:solidFill>
                      <a:srgbClr val="FFFFFF"/>
                    </a:solidFill>
                  </a:tcPr>
                </a:tc>
              </a:tr>
              <a:tr h="457200">
                <a:tc>
                  <a:txBody>
                    <a:bodyPr>
                      <a:noAutofit/>
                    </a:bodyPr>
                    <a:lstStyle/>
                    <a:p>
                      <a:r>
                        <a:rPr sz="1575" b="0">
                          <a:solidFill>
                            <a:srgbClr val="344054"/>
                          </a:solidFill>
                          <a:latin typeface="Microsoft YaHei"/>
                          <a:ea typeface="Microsoft YaHei"/>
                          <a:cs typeface="Microsoft YaHei"/>
                        </a:rPr>
                        <a:t>最低有效深度</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118.4 μK</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236.8 μK</a:t>
                      </a:r>
                    </a:p>
                  </a:txBody>
                  <a:tcPr marL="91440" marR="91440" marT="45720" marB="45720" anchor="ctr">
                    <a:solidFill>
                      <a:srgbClr val="F2F4F7"/>
                    </a:solidFill>
                  </a:tcPr>
                </a:tc>
              </a:tr>
              <a:tr h="457200">
                <a:tc>
                  <a:txBody>
                    <a:bodyPr>
                      <a:noAutofit/>
                    </a:bodyPr>
                    <a:lstStyle/>
                    <a:p>
                      <a:r>
                        <a:rPr sz="1575" b="0">
                          <a:solidFill>
                            <a:srgbClr val="344054"/>
                          </a:solidFill>
                          <a:latin typeface="Microsoft YaHei"/>
                          <a:ea typeface="Microsoft YaHei"/>
                          <a:cs typeface="Microsoft YaHei"/>
                        </a:rPr>
                        <a:t>留阱</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500/500</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500/500</a:t>
                      </a:r>
                    </a:p>
                  </a:txBody>
                  <a:tcPr marL="91440" marR="91440" marT="45720" marB="45720" anchor="ctr">
                    <a:solidFill>
                      <a:srgbClr val="FFFFFF"/>
                    </a:solidFill>
                  </a:tcPr>
                </a:tc>
              </a:tr>
              <a:tr h="457200">
                <a:tc>
                  <a:txBody>
                    <a:bodyPr>
                      <a:noAutofit/>
                    </a:bodyPr>
                    <a:lstStyle/>
                    <a:p>
                      <a:r>
                        <a:rPr sz="1575" b="0">
                          <a:solidFill>
                            <a:srgbClr val="344054"/>
                          </a:solidFill>
                          <a:latin typeface="Microsoft YaHei"/>
                          <a:ea typeface="Microsoft YaHei"/>
                          <a:cs typeface="Microsoft YaHei"/>
                        </a:rPr>
                        <a:t>中位激发能增量</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15.833 μK</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17.647 μK</a:t>
                      </a:r>
                    </a:p>
                  </a:txBody>
                  <a:tcPr marL="91440" marR="91440" marT="45720" marB="45720" anchor="ctr">
                    <a:solidFill>
                      <a:srgbClr val="F2F4F7"/>
                    </a:solidFill>
                  </a:tcPr>
                </a:tc>
              </a:tr>
            </a:tbl>
          </a:graphicData>
        </a:graphic>
      </p:graphicFrame>
      <p:sp>
        <p:nvSpPr>
          <p:cNvPr id="8" name="">
            <a:extLst xmlns:a="http://schemas.openxmlformats.org/drawingml/2006/main">
              <a:ext uri="{FF2B5EF4-FFF2-40B4-BE49-F238E27FC236}">
                <a16:creationId xmlns:a16="http://schemas.microsoft.com/office/drawing/2014/main" id="{79153C82-3313-460C-8600-F8B07BECAC67}"/>
              </a:ext>
            </a:extLst>
          </p:cNvPr>
          <p:cNvSpPr>
            <a:spLocks xmlns:a="http://schemas.openxmlformats.org/drawingml/2006/main" noGrp="1"/>
          </p:cNvSpPr>
          <p:nvPr/>
        </p:nvSpPr>
        <p:spPr>
          <a:xfrm xmlns:a="http://schemas.openxmlformats.org/drawingml/2006/main">
            <a:off x="609600" y="529590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02A43"/>
                </a:solidFill>
                <a:latin typeface="Microsoft YaHei"/>
                <a:ea typeface="Microsoft YaHei"/>
                <a:cs typeface="Microsoft YaHei"/>
              </a:defRPr>
            </a:pPr>
            <a:r>
              <a:rPr sz="1725" b="1">
                <a:solidFill>
                  <a:srgbClr val="102A43"/>
                </a:solidFill>
                <a:latin typeface="Microsoft YaHei"/>
                <a:ea typeface="Microsoft YaHei"/>
                <a:cs typeface="Microsoft YaHei"/>
              </a:rPr>
              <a:t>所需峰值倍率约 2.36，超过上限；改善阱深没有自动降低加热。</a:t>
            </a:r>
          </a:p>
        </p:txBody>
      </p:sp>
      <p:sp>
        <p:nvSpPr>
          <p:cNvPr id="9" name="">
            <a:extLst xmlns:a="http://schemas.openxmlformats.org/drawingml/2006/main">
              <a:ext uri="{FF2B5EF4-FFF2-40B4-BE49-F238E27FC236}">
                <a16:creationId xmlns:a16="http://schemas.microsoft.com/office/drawing/2014/main" id="{470C9381-632E-478C-A59A-8B4702D928AC}"/>
              </a:ext>
            </a:extLst>
          </p:cNvPr>
          <p:cNvSpPr>
            <a:spLocks xmlns:a="http://schemas.openxmlformats.org/drawingml/2006/main" noGrp="1"/>
          </p:cNvSpPr>
          <p:nvPr/>
        </p:nvSpPr>
        <p:spPr>
          <a:xfrm xmlns:a="http://schemas.openxmlformats.org/drawingml/2006/main">
            <a:off x="609600" y="584835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344054"/>
                </a:solidFill>
                <a:latin typeface="Microsoft YaHei"/>
                <a:ea typeface="Microsoft YaHei"/>
                <a:cs typeface="Microsoft YaHei"/>
              </a:defRPr>
            </a:pPr>
            <a:r>
              <a:rPr sz="1575" b="0">
                <a:solidFill>
                  <a:srgbClr val="344054"/>
                </a:solidFill>
                <a:latin typeface="Microsoft YaHei"/>
                <a:ea typeface="Microsoft YaHei"/>
                <a:cs typeface="Microsoft YaHei"/>
              </a:rPr>
              <a:t>四段 constant-jerk 的 T⁻⁶ 标度仍需与论文的具体波形定义核对。</a:t>
            </a:r>
          </a:p>
        </p:txBody>
      </p:sp>
    </p:spTree>
    <p:extLst>
      <p:ext uri="{BB962C8B-B14F-4D97-AF65-F5344CB8AC3E}">
        <p14:creationId xmlns:p14="http://schemas.microsoft.com/office/powerpoint/2010/main" val="423182708"/>
      </p:ext>
    </p:extLst>
  </p:cSld>
</p:sld>
</file>

<file path=ppt/slides/slide2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9D42210-686B-4606-A0EC-639E9E9EEC18}"/>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Level 4：完整组合往返协议</a:t>
            </a:r>
          </a:p>
        </p:txBody>
      </p:sp>
      <p:sp>
        <p:nvSpPr>
          <p:cNvPr id="2" name="">
            <a:extLst xmlns:a="http://schemas.openxmlformats.org/drawingml/2006/main">
              <a:ext uri="{FF2B5EF4-FFF2-40B4-BE49-F238E27FC236}">
                <a16:creationId xmlns:a16="http://schemas.microsoft.com/office/drawing/2014/main" id="{29D46D21-3E82-4386-97E4-8CFE88F5019A}"/>
              </a:ext>
            </a:extLst>
          </p:cNvPr>
          <p:cNvSpPr>
            <a:spLocks xmlns:a="http://schemas.openxmlformats.org/drawingml/2006/main" noGrp="1"/>
          </p:cNvSpPr>
          <p:nvPr/>
        </p:nvSpPr>
        <p:spPr>
          <a:xfrm xmlns:a="http://schemas.openxmlformats.org/drawingml/2006/main">
            <a:off x="609600" y="933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67085"/>
                </a:solidFill>
                <a:latin typeface="Microsoft YaHei"/>
                <a:ea typeface="Microsoft YaHei"/>
                <a:cs typeface="Microsoft YaHei"/>
              </a:defRPr>
            </a:pPr>
            <a:r>
              <a:rPr sz="1350" b="0">
                <a:solidFill>
                  <a:srgbClr val="667085"/>
                </a:solidFill>
                <a:latin typeface="Microsoft YaHei"/>
                <a:ea typeface="Microsoft YaHei"/>
                <a:cs typeface="Microsoft YaHei"/>
              </a:rPr>
              <a:t>短距离 split/merge 与长距离去程/回程都包含在一轮操作中</a:t>
            </a:r>
          </a:p>
        </p:txBody>
      </p:sp>
      <p:sp>
        <p:nvSpPr>
          <p:cNvPr id="3" name="">
            <a:extLst xmlns:a="http://schemas.openxmlformats.org/drawingml/2006/main">
              <a:ext uri="{FF2B5EF4-FFF2-40B4-BE49-F238E27FC236}">
                <a16:creationId xmlns:a16="http://schemas.microsoft.com/office/drawing/2014/main" id="{A65496EF-3036-4A84-AC33-B6070667D795}"/>
              </a:ext>
            </a:extLst>
          </p:cNvPr>
          <p:cNvSpPr>
            <a:spLocks xmlns:a="http://schemas.openxmlformats.org/drawingml/2006/main" noGrp="1"/>
          </p:cNvSpPr>
          <p:nvPr/>
        </p:nvSpPr>
        <p:spPr>
          <a:xfrm xmlns:a="http://schemas.openxmlformats.org/drawingml/2006/main">
            <a:off x="609600" y="6524625"/>
            <a:ext cx="1009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Level 2C–5 综合报告  ·  历史数值及状态详见配套报告</a:t>
            </a:r>
          </a:p>
        </p:txBody>
      </p:sp>
      <p:sp>
        <p:nvSpPr>
          <p:cNvPr id="4" name="">
            <a:extLst xmlns:a="http://schemas.openxmlformats.org/drawingml/2006/main">
              <a:ext uri="{FF2B5EF4-FFF2-40B4-BE49-F238E27FC236}">
                <a16:creationId xmlns:a16="http://schemas.microsoft.com/office/drawing/2014/main" id="{29756C0D-4D74-472E-AE48-2E48808FD6FF}"/>
              </a:ext>
            </a:extLst>
          </p:cNvPr>
          <p:cNvSpPr>
            <a:spLocks xmlns:a="http://schemas.openxmlformats.org/drawingml/2006/main" noGrp="1"/>
          </p:cNvSpPr>
          <p:nvPr/>
        </p:nvSpPr>
        <p:spPr>
          <a:xfrm xmlns:a="http://schemas.openxmlformats.org/drawingml/2006/main">
            <a:off x="11049000" y="65151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23</a:t>
            </a:r>
          </a:p>
        </p:txBody>
      </p:sp>
      <p:graphicFrame>
        <p:nvGraphicFramePr>
          <p:cNvPr id="17" name=""/>
          <p:cNvGraphicFramePr/>
          <p:nvPr/>
        </p:nvGraphicFramePr>
        <p:xfrm>
          <a:off xmlns:a="http://schemas.openxmlformats.org/drawingml/2006/main" x="609600" y="1524000"/>
          <a:ext xmlns:a="http://schemas.openxmlformats.org/drawingml/2006/main" cx="6667500" cy="4476750"/>
        </p:xfrm>
        <a:graphic xmlns:a="http://schemas.openxmlformats.org/drawingml/2006/main">
          <a:graphicData uri="http://schemas.openxmlformats.org/drawingml/2006/table">
            <a:tbl>
              <a:tblPr/>
              <a:tblGrid>
                <a:gridCol w="3145047"/>
                <a:gridCol w="1635425"/>
                <a:gridCol w="1887028"/>
              </a:tblGrid>
              <a:tr h="447675">
                <a:tc>
                  <a:txBody>
                    <a:bodyPr>
                      <a:noAutofit/>
                    </a:bodyPr>
                    <a:lstStyle/>
                    <a:p>
                      <a:r>
                        <a:rPr sz="1500" b="1">
                          <a:solidFill>
                            <a:srgbClr val="FFFFFF"/>
                          </a:solidFill>
                          <a:latin typeface="Microsoft YaHei"/>
                          <a:ea typeface="Microsoft YaHei"/>
                          <a:cs typeface="Microsoft YaHei"/>
                        </a:rPr>
                        <a:t>Protocol A 阶段</a:t>
                      </a:r>
                    </a:p>
                  </a:txBody>
                  <a:tcPr marL="91440" marR="91440" marT="45720" marB="45720" anchor="ctr">
                    <a:solidFill>
                      <a:srgbClr val="102A43"/>
                    </a:solidFill>
                  </a:tcPr>
                </a:tc>
                <a:tc>
                  <a:txBody>
                    <a:bodyPr>
                      <a:noAutofit/>
                    </a:bodyPr>
                    <a:lstStyle/>
                    <a:p>
                      <a:r>
                        <a:rPr sz="1500" b="1">
                          <a:solidFill>
                            <a:srgbClr val="FFFFFF"/>
                          </a:solidFill>
                          <a:latin typeface="Microsoft YaHei"/>
                          <a:ea typeface="Microsoft YaHei"/>
                          <a:cs typeface="Microsoft YaHei"/>
                        </a:rPr>
                        <a:t>时长 / μs</a:t>
                      </a:r>
                    </a:p>
                  </a:txBody>
                  <a:tcPr marL="91440" marR="91440" marT="45720" marB="45720" anchor="ctr">
                    <a:solidFill>
                      <a:srgbClr val="102A43"/>
                    </a:solidFill>
                  </a:tcPr>
                </a:tc>
                <a:tc>
                  <a:txBody>
                    <a:bodyPr>
                      <a:noAutofit/>
                    </a:bodyPr>
                    <a:lstStyle/>
                    <a:p>
                      <a:r>
                        <a:rPr sz="1500" b="1">
                          <a:solidFill>
                            <a:srgbClr val="FFFFFF"/>
                          </a:solidFill>
                          <a:latin typeface="Microsoft YaHei"/>
                          <a:ea typeface="Microsoft YaHei"/>
                          <a:cs typeface="Microsoft YaHei"/>
                        </a:rPr>
                        <a:t>AOD 路程</a:t>
                      </a:r>
                    </a:p>
                  </a:txBody>
                  <a:tcPr marL="91440" marR="91440" marT="45720" marB="45720" anchor="ctr">
                    <a:solidFill>
                      <a:srgbClr val="102A43"/>
                    </a:solidFill>
                  </a:tcPr>
                </a:tc>
              </a:tr>
              <a:tr h="447675">
                <a:tc>
                  <a:txBody>
                    <a:bodyPr>
                      <a:noAutofit/>
                    </a:bodyPr>
                    <a:lstStyle/>
                    <a:p>
                      <a:r>
                        <a:rPr sz="1500" b="0">
                          <a:solidFill>
                            <a:srgbClr val="344054"/>
                          </a:solidFill>
                          <a:latin typeface="Microsoft YaHei"/>
                          <a:ea typeface="Microsoft YaHei"/>
                          <a:cs typeface="Microsoft YaHei"/>
                        </a:rPr>
                        <a:t>初始保持</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100</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0</a:t>
                      </a:r>
                    </a:p>
                  </a:txBody>
                  <a:tcPr marL="91440" marR="91440" marT="45720" marB="45720" anchor="ctr">
                    <a:solidFill>
                      <a:srgbClr val="FFFFFF"/>
                    </a:solidFill>
                  </a:tcPr>
                </a:tc>
              </a:tr>
              <a:tr h="447675">
                <a:tc>
                  <a:txBody>
                    <a:bodyPr>
                      <a:noAutofit/>
                    </a:bodyPr>
                    <a:lstStyle/>
                    <a:p>
                      <a:r>
                        <a:rPr sz="1500" b="0">
                          <a:solidFill>
                            <a:srgbClr val="344054"/>
                          </a:solidFill>
                          <a:latin typeface="Microsoft YaHei"/>
                          <a:ea typeface="Microsoft YaHei"/>
                          <a:cs typeface="Microsoft YaHei"/>
                        </a:rPr>
                        <a:t>pick-up</a:t>
                      </a:r>
                    </a:p>
                  </a:txBody>
                  <a:tcPr marL="91440" marR="91440" marT="45720" marB="45720" anchor="ctr">
                    <a:solidFill>
                      <a:srgbClr val="F2F4F7"/>
                    </a:solidFill>
                  </a:tcPr>
                </a:tc>
                <a:tc>
                  <a:txBody>
                    <a:bodyPr>
                      <a:noAutofit/>
                    </a:bodyPr>
                    <a:lstStyle/>
                    <a:p>
                      <a:r>
                        <a:rPr sz="1500" b="0">
                          <a:solidFill>
                            <a:srgbClr val="344054"/>
                          </a:solidFill>
                          <a:latin typeface="Microsoft YaHei"/>
                          <a:ea typeface="Microsoft YaHei"/>
                          <a:cs typeface="Microsoft YaHei"/>
                        </a:rPr>
                        <a:t>850</a:t>
                      </a:r>
                    </a:p>
                  </a:txBody>
                  <a:tcPr marL="91440" marR="91440" marT="45720" marB="45720" anchor="ctr">
                    <a:solidFill>
                      <a:srgbClr val="F2F4F7"/>
                    </a:solidFill>
                  </a:tcPr>
                </a:tc>
                <a:tc>
                  <a:txBody>
                    <a:bodyPr>
                      <a:noAutofit/>
                    </a:bodyPr>
                    <a:lstStyle/>
                    <a:p>
                      <a:r>
                        <a:rPr sz="1500" b="0">
                          <a:solidFill>
                            <a:srgbClr val="344054"/>
                          </a:solidFill>
                          <a:latin typeface="Microsoft YaHei"/>
                          <a:ea typeface="Microsoft YaHei"/>
                          <a:cs typeface="Microsoft YaHei"/>
                        </a:rPr>
                        <a:t>0</a:t>
                      </a:r>
                    </a:p>
                  </a:txBody>
                  <a:tcPr marL="91440" marR="91440" marT="45720" marB="45720" anchor="ctr">
                    <a:solidFill>
                      <a:srgbClr val="F2F4F7"/>
                    </a:solidFill>
                  </a:tcPr>
                </a:tc>
              </a:tr>
              <a:tr h="447675">
                <a:tc>
                  <a:txBody>
                    <a:bodyPr>
                      <a:noAutofit/>
                    </a:bodyPr>
                    <a:lstStyle/>
                    <a:p>
                      <a:r>
                        <a:rPr sz="1500" b="0">
                          <a:solidFill>
                            <a:srgbClr val="344054"/>
                          </a:solidFill>
                          <a:latin typeface="Microsoft YaHei"/>
                          <a:ea typeface="Microsoft YaHei"/>
                          <a:cs typeface="Microsoft YaHei"/>
                        </a:rPr>
                        <a:t>split</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400</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2.4 μm</a:t>
                      </a:r>
                    </a:p>
                  </a:txBody>
                  <a:tcPr marL="91440" marR="91440" marT="45720" marB="45720" anchor="ctr">
                    <a:solidFill>
                      <a:srgbClr val="FFFFFF"/>
                    </a:solidFill>
                  </a:tcPr>
                </a:tc>
              </a:tr>
              <a:tr h="447675">
                <a:tc>
                  <a:txBody>
                    <a:bodyPr>
                      <a:noAutofit/>
                    </a:bodyPr>
                    <a:lstStyle/>
                    <a:p>
                      <a:r>
                        <a:rPr sz="1500" b="0">
                          <a:solidFill>
                            <a:srgbClr val="344054"/>
                          </a:solidFill>
                          <a:latin typeface="Microsoft YaHei"/>
                          <a:ea typeface="Microsoft YaHei"/>
                          <a:cs typeface="Microsoft YaHei"/>
                        </a:rPr>
                        <a:t>长距离去程</a:t>
                      </a:r>
                    </a:p>
                  </a:txBody>
                  <a:tcPr marL="91440" marR="91440" marT="45720" marB="45720" anchor="ctr">
                    <a:solidFill>
                      <a:srgbClr val="F2F4F7"/>
                    </a:solidFill>
                  </a:tcPr>
                </a:tc>
                <a:tc>
                  <a:txBody>
                    <a:bodyPr>
                      <a:noAutofit/>
                    </a:bodyPr>
                    <a:lstStyle/>
                    <a:p>
                      <a:r>
                        <a:rPr sz="1500" b="0">
                          <a:solidFill>
                            <a:srgbClr val="344054"/>
                          </a:solidFill>
                          <a:latin typeface="Microsoft YaHei"/>
                          <a:ea typeface="Microsoft YaHei"/>
                          <a:cs typeface="Microsoft YaHei"/>
                        </a:rPr>
                        <a:t>1450</a:t>
                      </a:r>
                    </a:p>
                  </a:txBody>
                  <a:tcPr marL="91440" marR="91440" marT="45720" marB="45720" anchor="ctr">
                    <a:solidFill>
                      <a:srgbClr val="F2F4F7"/>
                    </a:solidFill>
                  </a:tcPr>
                </a:tc>
                <a:tc>
                  <a:txBody>
                    <a:bodyPr>
                      <a:noAutofit/>
                    </a:bodyPr>
                    <a:lstStyle/>
                    <a:p>
                      <a:r>
                        <a:rPr sz="1500" b="0">
                          <a:solidFill>
                            <a:srgbClr val="344054"/>
                          </a:solidFill>
                          <a:latin typeface="Microsoft YaHei"/>
                          <a:ea typeface="Microsoft YaHei"/>
                          <a:cs typeface="Microsoft YaHei"/>
                        </a:rPr>
                        <a:t>375 μm</a:t>
                      </a:r>
                    </a:p>
                  </a:txBody>
                  <a:tcPr marL="91440" marR="91440" marT="45720" marB="45720" anchor="ctr">
                    <a:solidFill>
                      <a:srgbClr val="F2F4F7"/>
                    </a:solidFill>
                  </a:tcPr>
                </a:tc>
              </a:tr>
              <a:tr h="447675">
                <a:tc>
                  <a:txBody>
                    <a:bodyPr>
                      <a:noAutofit/>
                    </a:bodyPr>
                    <a:lstStyle/>
                    <a:p>
                      <a:r>
                        <a:rPr sz="1500" b="0">
                          <a:solidFill>
                            <a:srgbClr val="344054"/>
                          </a:solidFill>
                          <a:latin typeface="Microsoft YaHei"/>
                          <a:ea typeface="Microsoft YaHei"/>
                          <a:cs typeface="Microsoft YaHei"/>
                        </a:rPr>
                        <a:t>远端保持窗口</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54</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0</a:t>
                      </a:r>
                    </a:p>
                  </a:txBody>
                  <a:tcPr marL="91440" marR="91440" marT="45720" marB="45720" anchor="ctr">
                    <a:solidFill>
                      <a:srgbClr val="FFFFFF"/>
                    </a:solidFill>
                  </a:tcPr>
                </a:tc>
              </a:tr>
              <a:tr h="447675">
                <a:tc>
                  <a:txBody>
                    <a:bodyPr>
                      <a:noAutofit/>
                    </a:bodyPr>
                    <a:lstStyle/>
                    <a:p>
                      <a:r>
                        <a:rPr sz="1500" b="0">
                          <a:solidFill>
                            <a:srgbClr val="344054"/>
                          </a:solidFill>
                          <a:latin typeface="Microsoft YaHei"/>
                          <a:ea typeface="Microsoft YaHei"/>
                          <a:cs typeface="Microsoft YaHei"/>
                        </a:rPr>
                        <a:t>长距离回程</a:t>
                      </a:r>
                    </a:p>
                  </a:txBody>
                  <a:tcPr marL="91440" marR="91440" marT="45720" marB="45720" anchor="ctr">
                    <a:solidFill>
                      <a:srgbClr val="F2F4F7"/>
                    </a:solidFill>
                  </a:tcPr>
                </a:tc>
                <a:tc>
                  <a:txBody>
                    <a:bodyPr>
                      <a:noAutofit/>
                    </a:bodyPr>
                    <a:lstStyle/>
                    <a:p>
                      <a:r>
                        <a:rPr sz="1500" b="0">
                          <a:solidFill>
                            <a:srgbClr val="344054"/>
                          </a:solidFill>
                          <a:latin typeface="Microsoft YaHei"/>
                          <a:ea typeface="Microsoft YaHei"/>
                          <a:cs typeface="Microsoft YaHei"/>
                        </a:rPr>
                        <a:t>1450</a:t>
                      </a:r>
                    </a:p>
                  </a:txBody>
                  <a:tcPr marL="91440" marR="91440" marT="45720" marB="45720" anchor="ctr">
                    <a:solidFill>
                      <a:srgbClr val="F2F4F7"/>
                    </a:solidFill>
                  </a:tcPr>
                </a:tc>
                <a:tc>
                  <a:txBody>
                    <a:bodyPr>
                      <a:noAutofit/>
                    </a:bodyPr>
                    <a:lstStyle/>
                    <a:p>
                      <a:r>
                        <a:rPr sz="1500" b="0">
                          <a:solidFill>
                            <a:srgbClr val="344054"/>
                          </a:solidFill>
                          <a:latin typeface="Microsoft YaHei"/>
                          <a:ea typeface="Microsoft YaHei"/>
                          <a:cs typeface="Microsoft YaHei"/>
                        </a:rPr>
                        <a:t>375 μm</a:t>
                      </a:r>
                    </a:p>
                  </a:txBody>
                  <a:tcPr marL="91440" marR="91440" marT="45720" marB="45720" anchor="ctr">
                    <a:solidFill>
                      <a:srgbClr val="F2F4F7"/>
                    </a:solidFill>
                  </a:tcPr>
                </a:tc>
              </a:tr>
              <a:tr h="447675">
                <a:tc>
                  <a:txBody>
                    <a:bodyPr>
                      <a:noAutofit/>
                    </a:bodyPr>
                    <a:lstStyle/>
                    <a:p>
                      <a:r>
                        <a:rPr sz="1500" b="0">
                          <a:solidFill>
                            <a:srgbClr val="344054"/>
                          </a:solidFill>
                          <a:latin typeface="Microsoft YaHei"/>
                          <a:ea typeface="Microsoft YaHei"/>
                          <a:cs typeface="Microsoft YaHei"/>
                        </a:rPr>
                        <a:t>merge</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400</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2.4 μm</a:t>
                      </a:r>
                    </a:p>
                  </a:txBody>
                  <a:tcPr marL="91440" marR="91440" marT="45720" marB="45720" anchor="ctr">
                    <a:solidFill>
                      <a:srgbClr val="FFFFFF"/>
                    </a:solidFill>
                  </a:tcPr>
                </a:tc>
              </a:tr>
              <a:tr h="447675">
                <a:tc>
                  <a:txBody>
                    <a:bodyPr>
                      <a:noAutofit/>
                    </a:bodyPr>
                    <a:lstStyle/>
                    <a:p>
                      <a:r>
                        <a:rPr sz="1500" b="0">
                          <a:solidFill>
                            <a:srgbClr val="344054"/>
                          </a:solidFill>
                          <a:latin typeface="Microsoft YaHei"/>
                          <a:ea typeface="Microsoft YaHei"/>
                          <a:cs typeface="Microsoft YaHei"/>
                        </a:rPr>
                        <a:t>drop-off</a:t>
                      </a:r>
                    </a:p>
                  </a:txBody>
                  <a:tcPr marL="91440" marR="91440" marT="45720" marB="45720" anchor="ctr">
                    <a:solidFill>
                      <a:srgbClr val="F2F4F7"/>
                    </a:solidFill>
                  </a:tcPr>
                </a:tc>
                <a:tc>
                  <a:txBody>
                    <a:bodyPr>
                      <a:noAutofit/>
                    </a:bodyPr>
                    <a:lstStyle/>
                    <a:p>
                      <a:r>
                        <a:rPr sz="1500" b="0">
                          <a:solidFill>
                            <a:srgbClr val="344054"/>
                          </a:solidFill>
                          <a:latin typeface="Microsoft YaHei"/>
                          <a:ea typeface="Microsoft YaHei"/>
                          <a:cs typeface="Microsoft YaHei"/>
                        </a:rPr>
                        <a:t>850</a:t>
                      </a:r>
                    </a:p>
                  </a:txBody>
                  <a:tcPr marL="91440" marR="91440" marT="45720" marB="45720" anchor="ctr">
                    <a:solidFill>
                      <a:srgbClr val="F2F4F7"/>
                    </a:solidFill>
                  </a:tcPr>
                </a:tc>
                <a:tc>
                  <a:txBody>
                    <a:bodyPr>
                      <a:noAutofit/>
                    </a:bodyPr>
                    <a:lstStyle/>
                    <a:p>
                      <a:r>
                        <a:rPr sz="1500" b="0">
                          <a:solidFill>
                            <a:srgbClr val="344054"/>
                          </a:solidFill>
                          <a:latin typeface="Microsoft YaHei"/>
                          <a:ea typeface="Microsoft YaHei"/>
                          <a:cs typeface="Microsoft YaHei"/>
                        </a:rPr>
                        <a:t>0</a:t>
                      </a:r>
                    </a:p>
                  </a:txBody>
                  <a:tcPr marL="91440" marR="91440" marT="45720" marB="45720" anchor="ctr">
                    <a:solidFill>
                      <a:srgbClr val="F2F4F7"/>
                    </a:solidFill>
                  </a:tcPr>
                </a:tc>
              </a:tr>
              <a:tr h="447675">
                <a:tc>
                  <a:txBody>
                    <a:bodyPr>
                      <a:noAutofit/>
                    </a:bodyPr>
                    <a:lstStyle/>
                    <a:p>
                      <a:r>
                        <a:rPr sz="1500" b="0">
                          <a:solidFill>
                            <a:srgbClr val="344054"/>
                          </a:solidFill>
                          <a:latin typeface="Microsoft YaHei"/>
                          <a:ea typeface="Microsoft YaHei"/>
                          <a:cs typeface="Microsoft YaHei"/>
                        </a:rPr>
                        <a:t>最终保持</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100</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0</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187718D-ACE4-4DFC-BC8B-94D2CC812F9C}"/>
              </a:ext>
            </a:extLst>
          </p:cNvPr>
          <p:cNvSpPr>
            <a:spLocks xmlns:a="http://schemas.openxmlformats.org/drawingml/2006/main" noGrp="1"/>
          </p:cNvSpPr>
          <p:nvPr/>
        </p:nvSpPr>
        <p:spPr>
          <a:xfrm xmlns:a="http://schemas.openxmlformats.org/drawingml/2006/main">
            <a:off x="7810500" y="165735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02A43"/>
                </a:solidFill>
                <a:latin typeface="Microsoft YaHei"/>
                <a:ea typeface="Microsoft YaHei"/>
                <a:cs typeface="Microsoft YaHei"/>
              </a:defRPr>
            </a:pPr>
            <a:r>
              <a:rPr sz="1950" b="1">
                <a:solidFill>
                  <a:srgbClr val="102A43"/>
                </a:solidFill>
                <a:latin typeface="Microsoft YaHei"/>
                <a:ea typeface="Microsoft YaHei"/>
                <a:cs typeface="Microsoft YaHei"/>
              </a:rPr>
              <a:t>Protocol A</a:t>
            </a:r>
          </a:p>
        </p:txBody>
      </p:sp>
      <p:sp>
        <p:nvSpPr>
          <p:cNvPr id="7" name="">
            <a:extLst xmlns:a="http://schemas.openxmlformats.org/drawingml/2006/main">
              <a:ext uri="{FF2B5EF4-FFF2-40B4-BE49-F238E27FC236}">
                <a16:creationId xmlns:a16="http://schemas.microsoft.com/office/drawing/2014/main" id="{C3239AB7-DC8A-4461-8953-98D0500F3709}"/>
              </a:ext>
            </a:extLst>
          </p:cNvPr>
          <p:cNvSpPr>
            <a:spLocks xmlns:a="http://schemas.openxmlformats.org/drawingml/2006/main" noGrp="1"/>
          </p:cNvSpPr>
          <p:nvPr/>
        </p:nvSpPr>
        <p:spPr>
          <a:xfrm xmlns:a="http://schemas.openxmlformats.org/drawingml/2006/main">
            <a:off x="7810500" y="2114550"/>
            <a:ext cx="3476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344054"/>
                </a:solidFill>
                <a:latin typeface="Microsoft YaHei"/>
                <a:ea typeface="Microsoft YaHei"/>
                <a:cs typeface="Microsoft YaHei"/>
              </a:defRPr>
            </a:pPr>
            <a:r>
              <a:rPr sz="1725" b="0">
                <a:solidFill>
                  <a:srgbClr val="344054"/>
                </a:solidFill>
                <a:latin typeface="Microsoft YaHei"/>
                <a:ea typeface="Microsoft YaHei"/>
                <a:cs typeface="Microsoft YaHei"/>
              </a:rPr>
              <a:t>总时长 5654 μs</a:t>
            </a:r>
          </a:p>
          <a:p xmlns:a="http://schemas.openxmlformats.org/drawingml/2006/main">
            <a:pPr>
              <a:buNone/>
              <a:defRPr sz="1725" b="0">
                <a:solidFill>
                  <a:srgbClr val="344054"/>
                </a:solidFill>
                <a:latin typeface="Microsoft YaHei"/>
                <a:ea typeface="Microsoft YaHei"/>
                <a:cs typeface="Microsoft YaHei"/>
              </a:defRPr>
            </a:pPr>
            <a:r>
              <a:rPr sz="1725" b="0">
                <a:solidFill>
                  <a:srgbClr val="344054"/>
                </a:solidFill>
                <a:latin typeface="Microsoft YaHei"/>
                <a:ea typeface="Microsoft YaHei"/>
                <a:cs typeface="Microsoft YaHei"/>
              </a:rPr>
              <a:t>SLM：180→60→180 μK</a:t>
            </a:r>
          </a:p>
          <a:p xmlns:a="http://schemas.openxmlformats.org/drawingml/2006/main">
            <a:pPr>
              <a:buNone/>
              <a:defRPr sz="1725" b="0">
                <a:solidFill>
                  <a:srgbClr val="344054"/>
                </a:solidFill>
                <a:latin typeface="Microsoft YaHei"/>
                <a:ea typeface="Microsoft YaHei"/>
                <a:cs typeface="Microsoft YaHei"/>
              </a:defRPr>
            </a:pPr>
            <a:r>
              <a:rPr sz="1725" b="0">
                <a:solidFill>
                  <a:srgbClr val="344054"/>
                </a:solidFill>
                <a:latin typeface="Microsoft YaHei"/>
                <a:ea typeface="Microsoft YaHei"/>
                <a:cs typeface="Microsoft YaHei"/>
              </a:rPr>
              <a:t>AOD 峰值：280 μK</a:t>
            </a:r>
          </a:p>
        </p:txBody>
      </p:sp>
      <p:sp>
        <p:nvSpPr>
          <p:cNvPr id="8" name="">
            <a:extLst xmlns:a="http://schemas.openxmlformats.org/drawingml/2006/main">
              <a:ext uri="{FF2B5EF4-FFF2-40B4-BE49-F238E27FC236}">
                <a16:creationId xmlns:a16="http://schemas.microsoft.com/office/drawing/2014/main" id="{19F3AE74-A417-47E5-BFB6-48140FFA9F05}"/>
              </a:ext>
            </a:extLst>
          </p:cNvPr>
          <p:cNvSpPr>
            <a:spLocks xmlns:a="http://schemas.openxmlformats.org/drawingml/2006/main" noGrp="1"/>
          </p:cNvSpPr>
          <p:nvPr/>
        </p:nvSpPr>
        <p:spPr>
          <a:xfrm xmlns:a="http://schemas.openxmlformats.org/drawingml/2006/main">
            <a:off x="7810500" y="360045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02A43"/>
                </a:solidFill>
                <a:latin typeface="Microsoft YaHei"/>
                <a:ea typeface="Microsoft YaHei"/>
                <a:cs typeface="Microsoft YaHei"/>
              </a:defRPr>
            </a:pPr>
            <a:r>
              <a:rPr sz="1950" b="1">
                <a:solidFill>
                  <a:srgbClr val="102A43"/>
                </a:solidFill>
                <a:latin typeface="Microsoft YaHei"/>
                <a:ea typeface="Microsoft YaHei"/>
                <a:cs typeface="Microsoft YaHei"/>
              </a:rPr>
              <a:t>Protocol B</a:t>
            </a:r>
          </a:p>
        </p:txBody>
      </p:sp>
      <p:sp>
        <p:nvSpPr>
          <p:cNvPr id="9" name="">
            <a:extLst xmlns:a="http://schemas.openxmlformats.org/drawingml/2006/main">
              <a:ext uri="{FF2B5EF4-FFF2-40B4-BE49-F238E27FC236}">
                <a16:creationId xmlns:a16="http://schemas.microsoft.com/office/drawing/2014/main" id="{A8BD343A-801F-43EF-AB88-76F7E72691C7}"/>
              </a:ext>
            </a:extLst>
          </p:cNvPr>
          <p:cNvSpPr>
            <a:spLocks xmlns:a="http://schemas.openxmlformats.org/drawingml/2006/main" noGrp="1"/>
          </p:cNvSpPr>
          <p:nvPr/>
        </p:nvSpPr>
        <p:spPr>
          <a:xfrm xmlns:a="http://schemas.openxmlformats.org/drawingml/2006/main">
            <a:off x="7810500" y="4057650"/>
            <a:ext cx="35433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344054"/>
                </a:solidFill>
                <a:latin typeface="Microsoft YaHei"/>
                <a:ea typeface="Microsoft YaHei"/>
                <a:cs typeface="Microsoft YaHei"/>
              </a:defRPr>
            </a:pPr>
            <a:r>
              <a:rPr sz="1650" b="0">
                <a:solidFill>
                  <a:srgbClr val="344054"/>
                </a:solidFill>
                <a:latin typeface="Microsoft YaHei"/>
                <a:ea typeface="Microsoft YaHei"/>
                <a:cs typeface="Microsoft YaHei"/>
              </a:rPr>
              <a:t>总时长 3954 μs</a:t>
            </a:r>
          </a:p>
          <a:p xmlns:a="http://schemas.openxmlformats.org/drawingml/2006/main">
            <a:pPr>
              <a:buNone/>
              <a:defRPr sz="1650" b="0">
                <a:solidFill>
                  <a:srgbClr val="344054"/>
                </a:solidFill>
                <a:latin typeface="Microsoft YaHei"/>
                <a:ea typeface="Microsoft YaHei"/>
                <a:cs typeface="Microsoft YaHei"/>
              </a:defRPr>
            </a:pPr>
            <a:r>
              <a:rPr sz="1650" b="0">
                <a:solidFill>
                  <a:srgbClr val="344054"/>
                </a:solidFill>
                <a:latin typeface="Microsoft YaHei"/>
                <a:ea typeface="Microsoft YaHei"/>
                <a:cs typeface="Microsoft YaHei"/>
              </a:rPr>
              <a:t>SLM 恒 140 μK</a:t>
            </a:r>
          </a:p>
          <a:p xmlns:a="http://schemas.openxmlformats.org/drawingml/2006/main">
            <a:pPr>
              <a:buNone/>
              <a:defRPr sz="1650" b="0">
                <a:solidFill>
                  <a:srgbClr val="344054"/>
                </a:solidFill>
                <a:latin typeface="Microsoft YaHei"/>
                <a:ea typeface="Microsoft YaHei"/>
                <a:cs typeface="Microsoft YaHei"/>
              </a:defRPr>
            </a:pPr>
            <a:r>
              <a:rPr sz="1650" b="0">
                <a:solidFill>
                  <a:srgbClr val="344054"/>
                </a:solidFill>
                <a:latin typeface="Microsoft YaHei"/>
                <a:ea typeface="Microsoft YaHei"/>
                <a:cs typeface="Microsoft YaHei"/>
              </a:rPr>
              <a:t>Level 2 冻结波形自带</a:t>
            </a:r>
          </a:p>
          <a:p xmlns:a="http://schemas.openxmlformats.org/drawingml/2006/main">
            <a:pPr>
              <a:buNone/>
              <a:defRPr sz="1650" b="0">
                <a:solidFill>
                  <a:srgbClr val="344054"/>
                </a:solidFill>
                <a:latin typeface="Microsoft YaHei"/>
                <a:ea typeface="Microsoft YaHei"/>
                <a:cs typeface="Microsoft YaHei"/>
              </a:defRPr>
            </a:pPr>
            <a:r>
              <a:rPr sz="1650" b="0">
                <a:solidFill>
                  <a:srgbClr val="344054"/>
                </a:solidFill>
                <a:latin typeface="Microsoft YaHei"/>
                <a:ea typeface="Microsoft YaHei"/>
                <a:cs typeface="Microsoft YaHei"/>
              </a:rPr>
              <a:t>短移动，不重复 split/merge</a:t>
            </a:r>
          </a:p>
        </p:txBody>
      </p:sp>
      <p:sp>
        <p:nvSpPr>
          <p:cNvPr id="10" name="">
            <a:extLst xmlns:a="http://schemas.openxmlformats.org/drawingml/2006/main">
              <a:ext uri="{FF2B5EF4-FFF2-40B4-BE49-F238E27FC236}">
                <a16:creationId xmlns:a16="http://schemas.microsoft.com/office/drawing/2014/main" id="{B399FC00-82C1-4499-B102-CB8CBA77B717}"/>
              </a:ext>
            </a:extLst>
          </p:cNvPr>
          <p:cNvSpPr>
            <a:spLocks xmlns:a="http://schemas.openxmlformats.org/drawingml/2006/main" noGrp="1"/>
          </p:cNvSpPr>
          <p:nvPr/>
        </p:nvSpPr>
        <p:spPr>
          <a:xfrm xmlns:a="http://schemas.openxmlformats.org/drawingml/2006/main">
            <a:off x="7810500" y="56197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667085"/>
                </a:solidFill>
                <a:latin typeface="Microsoft YaHei"/>
                <a:ea typeface="Microsoft YaHei"/>
                <a:cs typeface="Microsoft YaHei"/>
              </a:defRPr>
            </a:pPr>
            <a:r>
              <a:rPr sz="1425" b="0">
                <a:solidFill>
                  <a:srgbClr val="667085"/>
                </a:solidFill>
                <a:latin typeface="Microsoft YaHei"/>
                <a:ea typeface="Microsoft YaHei"/>
                <a:cs typeface="Microsoft YaHei"/>
              </a:rPr>
              <a:t>54 μs 只表示保持窗口，没有实际两比特门。</a:t>
            </a:r>
          </a:p>
        </p:txBody>
      </p:sp>
    </p:spTree>
    <p:extLst>
      <p:ext uri="{BB962C8B-B14F-4D97-AF65-F5344CB8AC3E}">
        <p14:creationId xmlns:p14="http://schemas.microsoft.com/office/powerpoint/2010/main" val="2112712613"/>
      </p:ext>
    </p:extLst>
  </p:cSld>
</p:sld>
</file>

<file path=ppt/slides/slide2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C624186-69EC-4DC0-AB0B-0C5778537046}"/>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Level 4：单轮成功与条件相干对比度</a:t>
            </a:r>
          </a:p>
        </p:txBody>
      </p:sp>
      <p:sp>
        <p:nvSpPr>
          <p:cNvPr id="2" name="">
            <a:extLst xmlns:a="http://schemas.openxmlformats.org/drawingml/2006/main">
              <a:ext uri="{FF2B5EF4-FFF2-40B4-BE49-F238E27FC236}">
                <a16:creationId xmlns:a16="http://schemas.microsoft.com/office/drawing/2014/main" id="{72DC1876-CC12-4EFA-B1CC-0824537E6C8B}"/>
              </a:ext>
            </a:extLst>
          </p:cNvPr>
          <p:cNvSpPr>
            <a:spLocks xmlns:a="http://schemas.openxmlformats.org/drawingml/2006/main" noGrp="1"/>
          </p:cNvSpPr>
          <p:nvPr/>
        </p:nvSpPr>
        <p:spPr>
          <a:xfrm xmlns:a="http://schemas.openxmlformats.org/drawingml/2006/main">
            <a:off x="609600" y="933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67085"/>
                </a:solidFill>
                <a:latin typeface="Microsoft YaHei"/>
                <a:ea typeface="Microsoft YaHei"/>
                <a:cs typeface="Microsoft YaHei"/>
              </a:defRPr>
            </a:pPr>
            <a:r>
              <a:rPr sz="1350" b="0">
                <a:solidFill>
                  <a:srgbClr val="667085"/>
                </a:solidFill>
                <a:latin typeface="Microsoft YaHei"/>
                <a:ea typeface="Microsoft YaHei"/>
                <a:cs typeface="Microsoft YaHei"/>
              </a:rPr>
              <a:t>2000 shots/条件，dt = 0.05 μs；相位模型采用理想瞬时 DD</a:t>
            </a:r>
          </a:p>
        </p:txBody>
      </p:sp>
      <p:sp>
        <p:nvSpPr>
          <p:cNvPr id="3" name="">
            <a:extLst xmlns:a="http://schemas.openxmlformats.org/drawingml/2006/main">
              <a:ext uri="{FF2B5EF4-FFF2-40B4-BE49-F238E27FC236}">
                <a16:creationId xmlns:a16="http://schemas.microsoft.com/office/drawing/2014/main" id="{17CD5B4E-070C-40A4-937A-11F27DC96A22}"/>
              </a:ext>
            </a:extLst>
          </p:cNvPr>
          <p:cNvSpPr>
            <a:spLocks xmlns:a="http://schemas.openxmlformats.org/drawingml/2006/main" noGrp="1"/>
          </p:cNvSpPr>
          <p:nvPr/>
        </p:nvSpPr>
        <p:spPr>
          <a:xfrm xmlns:a="http://schemas.openxmlformats.org/drawingml/2006/main">
            <a:off x="609600" y="6524625"/>
            <a:ext cx="1009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Level 2C–5 综合报告  ·  历史数值及状态详见配套报告</a:t>
            </a:r>
          </a:p>
        </p:txBody>
      </p:sp>
      <p:sp>
        <p:nvSpPr>
          <p:cNvPr id="4" name="">
            <a:extLst xmlns:a="http://schemas.openxmlformats.org/drawingml/2006/main">
              <a:ext uri="{FF2B5EF4-FFF2-40B4-BE49-F238E27FC236}">
                <a16:creationId xmlns:a16="http://schemas.microsoft.com/office/drawing/2014/main" id="{9E295959-E190-486D-B26C-4EF2965E8B07}"/>
              </a:ext>
            </a:extLst>
          </p:cNvPr>
          <p:cNvSpPr>
            <a:spLocks xmlns:a="http://schemas.openxmlformats.org/drawingml/2006/main" noGrp="1"/>
          </p:cNvSpPr>
          <p:nvPr/>
        </p:nvSpPr>
        <p:spPr>
          <a:xfrm xmlns:a="http://schemas.openxmlformats.org/drawingml/2006/main">
            <a:off x="11049000" y="65151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24</a:t>
            </a:r>
          </a:p>
        </p:txBody>
      </p:sp>
      <p:graphicFrame>
        <p:nvGraphicFramePr>
          <p:cNvPr id="17" name=""/>
          <p:cNvGraphicFramePr/>
          <p:nvPr/>
        </p:nvGraphicFramePr>
        <p:xfrm>
          <a:off xmlns:a="http://schemas.openxmlformats.org/drawingml/2006/main" x="609600" y="1676400"/>
          <a:ext xmlns:a="http://schemas.openxmlformats.org/drawingml/2006/main" cx="6667500" cy="2905125"/>
        </p:xfrm>
        <a:graphic xmlns:a="http://schemas.openxmlformats.org/drawingml/2006/main">
          <a:graphicData uri="http://schemas.openxmlformats.org/drawingml/2006/table">
            <a:tbl>
              <a:tblPr/>
              <a:tblGrid>
                <a:gridCol w="3333750"/>
                <a:gridCol w="1805781"/>
                <a:gridCol w="1527969"/>
              </a:tblGrid>
              <a:tr h="581025">
                <a:tc>
                  <a:txBody>
                    <a:bodyPr>
                      <a:noAutofit/>
                    </a:bodyPr>
                    <a:lstStyle/>
                    <a:p>
                      <a:r>
                        <a:rPr sz="1500" b="1">
                          <a:solidFill>
                            <a:srgbClr val="FFFFFF"/>
                          </a:solidFill>
                          <a:latin typeface="Microsoft YaHei"/>
                          <a:ea typeface="Microsoft YaHei"/>
                          <a:cs typeface="Microsoft YaHei"/>
                        </a:rPr>
                        <a:t>单轮条件</a:t>
                      </a:r>
                    </a:p>
                  </a:txBody>
                  <a:tcPr marL="91440" marR="91440" marT="45720" marB="45720" anchor="ctr">
                    <a:solidFill>
                      <a:srgbClr val="102A43"/>
                    </a:solidFill>
                  </a:tcPr>
                </a:tc>
                <a:tc>
                  <a:txBody>
                    <a:bodyPr>
                      <a:noAutofit/>
                    </a:bodyPr>
                    <a:lstStyle/>
                    <a:p>
                      <a:r>
                        <a:rPr sz="1500" b="1">
                          <a:solidFill>
                            <a:srgbClr val="FFFFFF"/>
                          </a:solidFill>
                          <a:latin typeface="Microsoft YaHei"/>
                          <a:ea typeface="Microsoft YaHei"/>
                          <a:cs typeface="Microsoft YaHei"/>
                        </a:rPr>
                        <a:t>成功数</a:t>
                      </a:r>
                    </a:p>
                  </a:txBody>
                  <a:tcPr marL="91440" marR="91440" marT="45720" marB="45720" anchor="ctr">
                    <a:solidFill>
                      <a:srgbClr val="102A43"/>
                    </a:solidFill>
                  </a:tcPr>
                </a:tc>
                <a:tc>
                  <a:txBody>
                    <a:bodyPr>
                      <a:noAutofit/>
                    </a:bodyPr>
                    <a:lstStyle/>
                    <a:p>
                      <a:r>
                        <a:rPr sz="1500" b="1">
                          <a:solidFill>
                            <a:srgbClr val="FFFFFF"/>
                          </a:solidFill>
                          <a:latin typeface="Microsoft YaHei"/>
                          <a:ea typeface="Microsoft YaHei"/>
                          <a:cs typeface="Microsoft YaHei"/>
                        </a:rPr>
                        <a:t>成功率</a:t>
                      </a:r>
                    </a:p>
                  </a:txBody>
                  <a:tcPr marL="91440" marR="91440" marT="45720" marB="45720" anchor="ctr">
                    <a:solidFill>
                      <a:srgbClr val="102A43"/>
                    </a:solidFill>
                  </a:tcPr>
                </a:tc>
              </a:tr>
              <a:tr h="581025">
                <a:tc>
                  <a:txBody>
                    <a:bodyPr>
                      <a:noAutofit/>
                    </a:bodyPr>
                    <a:lstStyle/>
                    <a:p>
                      <a:r>
                        <a:rPr sz="1500" b="0">
                          <a:solidFill>
                            <a:srgbClr val="344054"/>
                          </a:solidFill>
                          <a:latin typeface="Microsoft YaHei"/>
                          <a:ea typeface="Microsoft YaHei"/>
                          <a:cs typeface="Microsoft YaHei"/>
                        </a:rPr>
                        <a:t>Protocol A / lensing</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2000/2000</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1.0000</a:t>
                      </a:r>
                    </a:p>
                  </a:txBody>
                  <a:tcPr marL="91440" marR="91440" marT="45720" marB="45720" anchor="ctr">
                    <a:solidFill>
                      <a:srgbClr val="FFFFFF"/>
                    </a:solidFill>
                  </a:tcPr>
                </a:tc>
              </a:tr>
              <a:tr h="581025">
                <a:tc>
                  <a:txBody>
                    <a:bodyPr>
                      <a:noAutofit/>
                    </a:bodyPr>
                    <a:lstStyle/>
                    <a:p>
                      <a:r>
                        <a:rPr sz="1500" b="0">
                          <a:solidFill>
                            <a:srgbClr val="344054"/>
                          </a:solidFill>
                          <a:latin typeface="Microsoft YaHei"/>
                          <a:ea typeface="Microsoft YaHei"/>
                          <a:cs typeface="Microsoft YaHei"/>
                        </a:rPr>
                        <a:t>Protocol A / lensing off</a:t>
                      </a:r>
                    </a:p>
                  </a:txBody>
                  <a:tcPr marL="91440" marR="91440" marT="45720" marB="45720" anchor="ctr">
                    <a:solidFill>
                      <a:srgbClr val="F2F4F7"/>
                    </a:solidFill>
                  </a:tcPr>
                </a:tc>
                <a:tc>
                  <a:txBody>
                    <a:bodyPr>
                      <a:noAutofit/>
                    </a:bodyPr>
                    <a:lstStyle/>
                    <a:p>
                      <a:r>
                        <a:rPr sz="1500" b="0">
                          <a:solidFill>
                            <a:srgbClr val="344054"/>
                          </a:solidFill>
                          <a:latin typeface="Microsoft YaHei"/>
                          <a:ea typeface="Microsoft YaHei"/>
                          <a:cs typeface="Microsoft YaHei"/>
                        </a:rPr>
                        <a:t>2000/2000</a:t>
                      </a:r>
                    </a:p>
                  </a:txBody>
                  <a:tcPr marL="91440" marR="91440" marT="45720" marB="45720" anchor="ctr">
                    <a:solidFill>
                      <a:srgbClr val="F2F4F7"/>
                    </a:solidFill>
                  </a:tcPr>
                </a:tc>
                <a:tc>
                  <a:txBody>
                    <a:bodyPr>
                      <a:noAutofit/>
                    </a:bodyPr>
                    <a:lstStyle/>
                    <a:p>
                      <a:r>
                        <a:rPr sz="1500" b="0">
                          <a:solidFill>
                            <a:srgbClr val="344054"/>
                          </a:solidFill>
                          <a:latin typeface="Microsoft YaHei"/>
                          <a:ea typeface="Microsoft YaHei"/>
                          <a:cs typeface="Microsoft YaHei"/>
                        </a:rPr>
                        <a:t>1.0000</a:t>
                      </a:r>
                    </a:p>
                  </a:txBody>
                  <a:tcPr marL="91440" marR="91440" marT="45720" marB="45720" anchor="ctr">
                    <a:solidFill>
                      <a:srgbClr val="F2F4F7"/>
                    </a:solidFill>
                  </a:tcPr>
                </a:tc>
              </a:tr>
              <a:tr h="581025">
                <a:tc>
                  <a:txBody>
                    <a:bodyPr>
                      <a:noAutofit/>
                    </a:bodyPr>
                    <a:lstStyle/>
                    <a:p>
                      <a:r>
                        <a:rPr sz="1500" b="0">
                          <a:solidFill>
                            <a:srgbClr val="344054"/>
                          </a:solidFill>
                          <a:latin typeface="Microsoft YaHei"/>
                          <a:ea typeface="Microsoft YaHei"/>
                          <a:cs typeface="Microsoft YaHei"/>
                        </a:rPr>
                        <a:t>Protocol B / frozen</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2000/2000</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1.0000</a:t>
                      </a:r>
                    </a:p>
                  </a:txBody>
                  <a:tcPr marL="91440" marR="91440" marT="45720" marB="45720" anchor="ctr">
                    <a:solidFill>
                      <a:srgbClr val="FFFFFF"/>
                    </a:solidFill>
                  </a:tcPr>
                </a:tc>
              </a:tr>
              <a:tr h="581025">
                <a:tc>
                  <a:txBody>
                    <a:bodyPr>
                      <a:noAutofit/>
                    </a:bodyPr>
                    <a:lstStyle/>
                    <a:p>
                      <a:r>
                        <a:rPr sz="1500" b="0">
                          <a:solidFill>
                            <a:srgbClr val="344054"/>
                          </a:solidFill>
                          <a:latin typeface="Microsoft YaHei"/>
                          <a:ea typeface="Microsoft YaHei"/>
                          <a:cs typeface="Microsoft YaHei"/>
                        </a:rPr>
                        <a:t>同时间静止保持</a:t>
                      </a:r>
                    </a:p>
                  </a:txBody>
                  <a:tcPr marL="91440" marR="91440" marT="45720" marB="45720" anchor="ctr">
                    <a:solidFill>
                      <a:srgbClr val="F2F4F7"/>
                    </a:solidFill>
                  </a:tcPr>
                </a:tc>
                <a:tc>
                  <a:txBody>
                    <a:bodyPr>
                      <a:noAutofit/>
                    </a:bodyPr>
                    <a:lstStyle/>
                    <a:p>
                      <a:r>
                        <a:rPr sz="1500" b="0">
                          <a:solidFill>
                            <a:srgbClr val="344054"/>
                          </a:solidFill>
                          <a:latin typeface="Microsoft YaHei"/>
                          <a:ea typeface="Microsoft YaHei"/>
                          <a:cs typeface="Microsoft YaHei"/>
                        </a:rPr>
                        <a:t>2000/2000</a:t>
                      </a:r>
                    </a:p>
                  </a:txBody>
                  <a:tcPr marL="91440" marR="91440" marT="45720" marB="45720" anchor="ctr">
                    <a:solidFill>
                      <a:srgbClr val="F2F4F7"/>
                    </a:solidFill>
                  </a:tcPr>
                </a:tc>
                <a:tc>
                  <a:txBody>
                    <a:bodyPr>
                      <a:noAutofit/>
                    </a:bodyPr>
                    <a:lstStyle/>
                    <a:p>
                      <a:r>
                        <a:rPr sz="1500" b="0">
                          <a:solidFill>
                            <a:srgbClr val="344054"/>
                          </a:solidFill>
                          <a:latin typeface="Microsoft YaHei"/>
                          <a:ea typeface="Microsoft YaHei"/>
                          <a:cs typeface="Microsoft YaHei"/>
                        </a:rPr>
                        <a:t>1.0000</a:t>
                      </a:r>
                    </a:p>
                  </a:txBody>
                  <a:tcPr marL="91440" marR="91440" marT="45720" marB="45720" anchor="ctr">
                    <a:solidFill>
                      <a:srgbClr val="F2F4F7"/>
                    </a:solidFill>
                  </a:tcPr>
                </a:tc>
              </a:tr>
            </a:tbl>
          </a:graphicData>
        </a:graphic>
      </p:graphicFrame>
      <p:graphicFrame>
        <p:nvGraphicFramePr>
          <p:cNvPr id="18" name=""/>
          <p:cNvGraphicFramePr/>
          <p:nvPr/>
        </p:nvGraphicFramePr>
        <p:xfrm>
          <a:off xmlns:a="http://schemas.openxmlformats.org/drawingml/2006/main" x="7620000" y="1676400"/>
          <a:ext xmlns:a="http://schemas.openxmlformats.org/drawingml/2006/main" cx="3962400" cy="2905125"/>
        </p:xfrm>
        <a:graphic xmlns:a="http://schemas.openxmlformats.org/drawingml/2006/main">
          <a:graphicData uri="http://schemas.openxmlformats.org/drawingml/2006/table">
            <a:tbl>
              <a:tblPr/>
              <a:tblGrid>
                <a:gridCol w="2641600"/>
                <a:gridCol w="1320800"/>
              </a:tblGrid>
              <a:tr h="726281">
                <a:tc>
                  <a:txBody>
                    <a:bodyPr>
                      <a:noAutofit/>
                    </a:bodyPr>
                    <a:lstStyle/>
                    <a:p>
                      <a:r>
                        <a:rPr sz="1500" b="1">
                          <a:solidFill>
                            <a:srgbClr val="FFFFFF"/>
                          </a:solidFill>
                          <a:latin typeface="Microsoft YaHei"/>
                          <a:ea typeface="Microsoft YaHei"/>
                          <a:cs typeface="Microsoft YaHei"/>
                        </a:rPr>
                        <a:t>Protocol A DD</a:t>
                      </a:r>
                    </a:p>
                  </a:txBody>
                  <a:tcPr marL="91440" marR="91440" marT="45720" marB="45720" anchor="ctr">
                    <a:solidFill>
                      <a:srgbClr val="102A43"/>
                    </a:solidFill>
                  </a:tcPr>
                </a:tc>
                <a:tc>
                  <a:txBody>
                    <a:bodyPr>
                      <a:noAutofit/>
                    </a:bodyPr>
                    <a:lstStyle/>
                    <a:p>
                      <a:r>
                        <a:rPr sz="1500" b="1">
                          <a:solidFill>
                            <a:srgbClr val="FFFFFF"/>
                          </a:solidFill>
                          <a:latin typeface="Microsoft YaHei"/>
                          <a:ea typeface="Microsoft YaHei"/>
                          <a:cs typeface="Microsoft YaHei"/>
                        </a:rPr>
                        <a:t>C_cond</a:t>
                      </a:r>
                    </a:p>
                  </a:txBody>
                  <a:tcPr marL="91440" marR="91440" marT="45720" marB="45720" anchor="ctr">
                    <a:solidFill>
                      <a:srgbClr val="102A43"/>
                    </a:solidFill>
                  </a:tcPr>
                </a:tc>
              </a:tr>
              <a:tr h="726281">
                <a:tc>
                  <a:txBody>
                    <a:bodyPr>
                      <a:noAutofit/>
                    </a:bodyPr>
                    <a:lstStyle/>
                    <a:p>
                      <a:r>
                        <a:rPr sz="1500" b="0">
                          <a:solidFill>
                            <a:srgbClr val="344054"/>
                          </a:solidFill>
                          <a:latin typeface="Microsoft YaHei"/>
                          <a:ea typeface="Microsoft YaHei"/>
                          <a:cs typeface="Microsoft YaHei"/>
                        </a:rPr>
                        <a:t>None</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0.8797</a:t>
                      </a:r>
                    </a:p>
                  </a:txBody>
                  <a:tcPr marL="91440" marR="91440" marT="45720" marB="45720" anchor="ctr">
                    <a:solidFill>
                      <a:srgbClr val="FFFFFF"/>
                    </a:solidFill>
                  </a:tcPr>
                </a:tc>
              </a:tr>
              <a:tr h="726281">
                <a:tc>
                  <a:txBody>
                    <a:bodyPr>
                      <a:noAutofit/>
                    </a:bodyPr>
                    <a:lstStyle/>
                    <a:p>
                      <a:r>
                        <a:rPr sz="1500" b="0">
                          <a:solidFill>
                            <a:srgbClr val="344054"/>
                          </a:solidFill>
                          <a:latin typeface="Microsoft YaHei"/>
                          <a:ea typeface="Microsoft YaHei"/>
                          <a:cs typeface="Microsoft YaHei"/>
                        </a:rPr>
                        <a:t>Spin echo</a:t>
                      </a:r>
                    </a:p>
                  </a:txBody>
                  <a:tcPr marL="91440" marR="91440" marT="45720" marB="45720" anchor="ctr">
                    <a:solidFill>
                      <a:srgbClr val="F2F4F7"/>
                    </a:solidFill>
                  </a:tcPr>
                </a:tc>
                <a:tc>
                  <a:txBody>
                    <a:bodyPr>
                      <a:noAutofit/>
                    </a:bodyPr>
                    <a:lstStyle/>
                    <a:p>
                      <a:r>
                        <a:rPr sz="1500" b="0">
                          <a:solidFill>
                            <a:srgbClr val="344054"/>
                          </a:solidFill>
                          <a:latin typeface="Microsoft YaHei"/>
                          <a:ea typeface="Microsoft YaHei"/>
                          <a:cs typeface="Microsoft YaHei"/>
                        </a:rPr>
                        <a:t>1.0000</a:t>
                      </a:r>
                    </a:p>
                  </a:txBody>
                  <a:tcPr marL="91440" marR="91440" marT="45720" marB="45720" anchor="ctr">
                    <a:solidFill>
                      <a:srgbClr val="F2F4F7"/>
                    </a:solidFill>
                  </a:tcPr>
                </a:tc>
              </a:tr>
              <a:tr h="726281">
                <a:tc>
                  <a:txBody>
                    <a:bodyPr>
                      <a:noAutofit/>
                    </a:bodyPr>
                    <a:lstStyle/>
                    <a:p>
                      <a:r>
                        <a:rPr sz="1500" b="0">
                          <a:solidFill>
                            <a:srgbClr val="344054"/>
                          </a:solidFill>
                          <a:latin typeface="Microsoft YaHei"/>
                          <a:ea typeface="Microsoft YaHei"/>
                          <a:cs typeface="Microsoft YaHei"/>
                        </a:rPr>
                        <a:t>每段长移动 XY4</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0.9695</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EB424210-A890-4C8A-99D1-52D8809A6776}"/>
              </a:ext>
            </a:extLst>
          </p:cNvPr>
          <p:cNvSpPr>
            <a:spLocks xmlns:a="http://schemas.openxmlformats.org/drawingml/2006/main" noGrp="1"/>
          </p:cNvSpPr>
          <p:nvPr/>
        </p:nvSpPr>
        <p:spPr>
          <a:xfrm xmlns:a="http://schemas.openxmlformats.org/drawingml/2006/main">
            <a:off x="609600" y="4953000"/>
            <a:ext cx="1093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344054"/>
                </a:solidFill>
                <a:latin typeface="Microsoft YaHei"/>
                <a:ea typeface="Microsoft YaHei"/>
                <a:cs typeface="Microsoft YaHei"/>
              </a:defRPr>
            </a:pPr>
            <a:r>
              <a:rPr sz="1725" b="0">
                <a:solidFill>
                  <a:srgbClr val="344054"/>
                </a:solidFill>
                <a:latin typeface="Microsoft YaHei"/>
                <a:ea typeface="Microsoft YaHei"/>
                <a:cs typeface="Microsoft YaHei"/>
              </a:rPr>
              <a:t>成功率的 Wilson 95% 区间约 [0.9981, 1.0000]。</a:t>
            </a:r>
          </a:p>
        </p:txBody>
      </p:sp>
      <p:sp>
        <p:nvSpPr>
          <p:cNvPr id="8" name="">
            <a:extLst xmlns:a="http://schemas.openxmlformats.org/drawingml/2006/main">
              <a:ext uri="{FF2B5EF4-FFF2-40B4-BE49-F238E27FC236}">
                <a16:creationId xmlns:a16="http://schemas.microsoft.com/office/drawing/2014/main" id="{AD9E7093-588D-4BD4-8D84-F51BE7C4D70F}"/>
              </a:ext>
            </a:extLst>
          </p:cNvPr>
          <p:cNvSpPr>
            <a:spLocks xmlns:a="http://schemas.openxmlformats.org/drawingml/2006/main" noGrp="1"/>
          </p:cNvSpPr>
          <p:nvPr/>
        </p:nvSpPr>
        <p:spPr>
          <a:xfrm xmlns:a="http://schemas.openxmlformats.org/drawingml/2006/main">
            <a:off x="609600" y="5467350"/>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570EF"/>
                </a:solidFill>
                <a:latin typeface="Microsoft YaHei"/>
                <a:ea typeface="Microsoft YaHei"/>
                <a:cs typeface="Microsoft YaHei"/>
              </a:defRPr>
            </a:pPr>
            <a:r>
              <a:rPr sz="1725" b="1">
                <a:solidFill>
                  <a:srgbClr val="1570EF"/>
                </a:solidFill>
                <a:latin typeface="Microsoft YaHei"/>
                <a:ea typeface="Microsoft YaHei"/>
                <a:cs typeface="Microsoft YaHei"/>
              </a:rPr>
              <a:t>相位 φ = ∫ y(t)ηU/ħ dt；C_cond = |⟨exp(iφ)⟩|。</a:t>
            </a:r>
          </a:p>
        </p:txBody>
      </p:sp>
      <p:sp>
        <p:nvSpPr>
          <p:cNvPr id="9" name="">
            <a:extLst xmlns:a="http://schemas.openxmlformats.org/drawingml/2006/main">
              <a:ext uri="{FF2B5EF4-FFF2-40B4-BE49-F238E27FC236}">
                <a16:creationId xmlns:a16="http://schemas.microsoft.com/office/drawing/2014/main" id="{C6D6B194-E028-412C-AD3F-159A9EBCBA8F}"/>
              </a:ext>
            </a:extLst>
          </p:cNvPr>
          <p:cNvSpPr>
            <a:spLocks xmlns:a="http://schemas.openxmlformats.org/drawingml/2006/main" noGrp="1"/>
          </p:cNvSpPr>
          <p:nvPr/>
        </p:nvSpPr>
        <p:spPr>
          <a:xfrm xmlns:a="http://schemas.openxmlformats.org/drawingml/2006/main">
            <a:off x="609600" y="59626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344054"/>
                </a:solidFill>
                <a:latin typeface="Microsoft YaHei"/>
                <a:ea typeface="Microsoft YaHei"/>
                <a:cs typeface="Microsoft YaHei"/>
              </a:defRPr>
            </a:pPr>
            <a:r>
              <a:rPr sz="1500" b="0">
                <a:solidFill>
                  <a:srgbClr val="344054"/>
                </a:solidFill>
                <a:latin typeface="Microsoft YaHei"/>
                <a:ea typeface="Microsoft YaHei"/>
                <a:cs typeface="Microsoft YaHei"/>
              </a:rPr>
              <a:t>条件对比度与 P(success)×C_cond 都不能直接替代论文 IRB 保真度。</a:t>
            </a:r>
          </a:p>
        </p:txBody>
      </p:sp>
    </p:spTree>
    <p:extLst>
      <p:ext uri="{BB962C8B-B14F-4D97-AF65-F5344CB8AC3E}">
        <p14:creationId xmlns:p14="http://schemas.microsoft.com/office/powerpoint/2010/main" val="1526088571"/>
      </p:ext>
    </p:extLst>
  </p:cSld>
</p:sld>
</file>

<file path=ppt/slides/slide2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1923FE8-08BA-4073-A451-88075AA6507E}"/>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Level 4：连续重复往返</a:t>
            </a:r>
          </a:p>
        </p:txBody>
      </p:sp>
      <p:sp>
        <p:nvSpPr>
          <p:cNvPr id="2" name="">
            <a:extLst xmlns:a="http://schemas.openxmlformats.org/drawingml/2006/main">
              <a:ext uri="{FF2B5EF4-FFF2-40B4-BE49-F238E27FC236}">
                <a16:creationId xmlns:a16="http://schemas.microsoft.com/office/drawing/2014/main" id="{8E181897-EF31-41C4-ABCE-A55B0D4151A5}"/>
              </a:ext>
            </a:extLst>
          </p:cNvPr>
          <p:cNvSpPr>
            <a:spLocks xmlns:a="http://schemas.openxmlformats.org/drawingml/2006/main" noGrp="1"/>
          </p:cNvSpPr>
          <p:nvPr/>
        </p:nvSpPr>
        <p:spPr>
          <a:xfrm xmlns:a="http://schemas.openxmlformats.org/drawingml/2006/main">
            <a:off x="609600" y="933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67085"/>
                </a:solidFill>
                <a:latin typeface="Microsoft YaHei"/>
                <a:ea typeface="Microsoft YaHei"/>
                <a:cs typeface="Microsoft YaHei"/>
              </a:defRPr>
            </a:pPr>
            <a:r>
              <a:rPr sz="1350" b="0">
                <a:solidFill>
                  <a:srgbClr val="667085"/>
                </a:solidFill>
                <a:latin typeface="Microsoft YaHei"/>
                <a:ea typeface="Microsoft YaHei"/>
                <a:cs typeface="Microsoft YaHei"/>
              </a:rPr>
              <a:t>每轮继承原子的位置与速度；下图为 500-shot Protocol A 历史结果</a:t>
            </a:r>
          </a:p>
        </p:txBody>
      </p:sp>
      <p:sp>
        <p:nvSpPr>
          <p:cNvPr id="3" name="">
            <a:extLst xmlns:a="http://schemas.openxmlformats.org/drawingml/2006/main">
              <a:ext uri="{FF2B5EF4-FFF2-40B4-BE49-F238E27FC236}">
                <a16:creationId xmlns:a16="http://schemas.microsoft.com/office/drawing/2014/main" id="{08105AB6-6F38-437C-8DF5-F131CE352E56}"/>
              </a:ext>
            </a:extLst>
          </p:cNvPr>
          <p:cNvSpPr>
            <a:spLocks xmlns:a="http://schemas.openxmlformats.org/drawingml/2006/main" noGrp="1"/>
          </p:cNvSpPr>
          <p:nvPr/>
        </p:nvSpPr>
        <p:spPr>
          <a:xfrm xmlns:a="http://schemas.openxmlformats.org/drawingml/2006/main">
            <a:off x="609600" y="6524625"/>
            <a:ext cx="1009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Level 2C–5 综合报告  ·  历史数值及状态详见配套报告</a:t>
            </a:r>
          </a:p>
        </p:txBody>
      </p:sp>
      <p:sp>
        <p:nvSpPr>
          <p:cNvPr id="4" name="">
            <a:extLst xmlns:a="http://schemas.openxmlformats.org/drawingml/2006/main">
              <a:ext uri="{FF2B5EF4-FFF2-40B4-BE49-F238E27FC236}">
                <a16:creationId xmlns:a16="http://schemas.microsoft.com/office/drawing/2014/main" id="{C2F8C150-7D5D-416F-8B9D-A55D2D7204B5}"/>
              </a:ext>
            </a:extLst>
          </p:cNvPr>
          <p:cNvSpPr>
            <a:spLocks xmlns:a="http://schemas.openxmlformats.org/drawingml/2006/main" noGrp="1"/>
          </p:cNvSpPr>
          <p:nvPr/>
        </p:nvSpPr>
        <p:spPr>
          <a:xfrm xmlns:a="http://schemas.openxmlformats.org/drawingml/2006/main">
            <a:off x="11049000" y="65151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25</a:t>
            </a:r>
          </a:p>
        </p:txBody>
      </p:sp>
      <p:graphicFrame>
        <p:nvGraphicFramePr>
          <p:cNvPr id="16" name="Chart"/>
          <p:cNvGraphicFramePr/>
          <p:nvPr/>
        </p:nvGraphicFramePr>
        <p:xfrm>
          <a:off xmlns:a="http://schemas.openxmlformats.org/drawingml/2006/main" x="609600" y="1571625"/>
          <a:ext xmlns:a="http://schemas.openxmlformats.org/drawingml/2006/main" cx="7677150" cy="3552825"/>
        </p:xfrm>
        <a:graphic xmlns:a="http://schemas.openxmlformats.org/drawingml/2006/main">
          <a:graphicData uri="http://schemas.openxmlformats.org/drawingml/2006/chart">
            <c:chart xmlns:r="http://schemas.openxmlformats.org/officeDocument/2006/relationships" xmlns:c="http://schemas.openxmlformats.org/drawingml/2006/chart" r:id="R1248c18fa58946c9"/>
          </a:graphicData>
        </a:graphic>
      </p:graphicFrame>
      <p:sp>
        <p:nvSpPr>
          <p:cNvPr id="6" name="">
            <a:extLst xmlns:a="http://schemas.openxmlformats.org/drawingml/2006/main">
              <a:ext uri="{FF2B5EF4-FFF2-40B4-BE49-F238E27FC236}">
                <a16:creationId xmlns:a16="http://schemas.microsoft.com/office/drawing/2014/main" id="{5CE5E051-B5E6-416C-81F6-A7EB6D2FB964}"/>
              </a:ext>
            </a:extLst>
          </p:cNvPr>
          <p:cNvSpPr>
            <a:spLocks xmlns:a="http://schemas.openxmlformats.org/drawingml/2006/main" noGrp="1"/>
          </p:cNvSpPr>
          <p:nvPr/>
        </p:nvSpPr>
        <p:spPr>
          <a:xfrm xmlns:a="http://schemas.openxmlformats.org/drawingml/2006/main">
            <a:off x="8667750" y="1724025"/>
            <a:ext cx="2714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02A43"/>
                </a:solidFill>
                <a:latin typeface="Microsoft YaHei"/>
                <a:ea typeface="Microsoft YaHei"/>
                <a:cs typeface="Microsoft YaHei"/>
              </a:defRPr>
            </a:pPr>
            <a:r>
              <a:rPr sz="1950" b="1">
                <a:solidFill>
                  <a:srgbClr val="102A43"/>
                </a:solidFill>
                <a:latin typeface="Microsoft YaHei"/>
                <a:ea typeface="Microsoft YaHei"/>
                <a:cs typeface="Microsoft YaHei"/>
              </a:rPr>
              <a:t>第 10 轮</a:t>
            </a:r>
          </a:p>
        </p:txBody>
      </p:sp>
      <p:sp>
        <p:nvSpPr>
          <p:cNvPr id="7" name="">
            <a:extLst xmlns:a="http://schemas.openxmlformats.org/drawingml/2006/main">
              <a:ext uri="{FF2B5EF4-FFF2-40B4-BE49-F238E27FC236}">
                <a16:creationId xmlns:a16="http://schemas.microsoft.com/office/drawing/2014/main" id="{163A4723-BDE2-4AA0-A403-1919D20775FF}"/>
              </a:ext>
            </a:extLst>
          </p:cNvPr>
          <p:cNvSpPr>
            <a:spLocks xmlns:a="http://schemas.openxmlformats.org/drawingml/2006/main" noGrp="1"/>
          </p:cNvSpPr>
          <p:nvPr/>
        </p:nvSpPr>
        <p:spPr>
          <a:xfrm xmlns:a="http://schemas.openxmlformats.org/drawingml/2006/main">
            <a:off x="8667750" y="2238375"/>
            <a:ext cx="27813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344054"/>
                </a:solidFill>
                <a:latin typeface="Microsoft YaHei"/>
                <a:ea typeface="Microsoft YaHei"/>
                <a:cs typeface="Microsoft YaHei"/>
              </a:defRPr>
            </a:pPr>
            <a:r>
              <a:rPr sz="1650" b="0">
                <a:solidFill>
                  <a:srgbClr val="344054"/>
                </a:solidFill>
                <a:latin typeface="Microsoft YaHei"/>
                <a:ea typeface="Microsoft YaHei"/>
                <a:cs typeface="Microsoft YaHei"/>
              </a:rPr>
              <a:t>成功 500/500</a:t>
            </a:r>
          </a:p>
          <a:p xmlns:a="http://schemas.openxmlformats.org/drawingml/2006/main">
            <a:pPr>
              <a:buNone/>
              <a:defRPr sz="1650" b="0">
                <a:solidFill>
                  <a:srgbClr val="344054"/>
                </a:solidFill>
                <a:latin typeface="Microsoft YaHei"/>
                <a:ea typeface="Microsoft YaHei"/>
                <a:cs typeface="Microsoft YaHei"/>
              </a:defRPr>
            </a:pPr>
            <a:r>
              <a:rPr sz="1650" b="0">
                <a:solidFill>
                  <a:srgbClr val="344054"/>
                </a:solidFill>
                <a:latin typeface="Microsoft YaHei"/>
                <a:ea typeface="Microsoft YaHei"/>
                <a:cs typeface="Microsoft YaHei"/>
              </a:rPr>
              <a:t>C_none = 0.0568</a:t>
            </a:r>
          </a:p>
          <a:p xmlns:a="http://schemas.openxmlformats.org/drawingml/2006/main">
            <a:pPr>
              <a:buNone/>
              <a:defRPr sz="1650" b="0">
                <a:solidFill>
                  <a:srgbClr val="344054"/>
                </a:solidFill>
                <a:latin typeface="Microsoft YaHei"/>
                <a:ea typeface="Microsoft YaHei"/>
                <a:cs typeface="Microsoft YaHei"/>
              </a:defRPr>
            </a:pPr>
            <a:r>
              <a:rPr sz="1650" b="0">
                <a:solidFill>
                  <a:srgbClr val="344054"/>
                </a:solidFill>
                <a:latin typeface="Microsoft YaHei"/>
                <a:ea typeface="Microsoft YaHei"/>
                <a:cs typeface="Microsoft YaHei"/>
              </a:rPr>
              <a:t>C_echo = 0.0351</a:t>
            </a:r>
          </a:p>
          <a:p xmlns:a="http://schemas.openxmlformats.org/drawingml/2006/main">
            <a:pPr>
              <a:buNone/>
              <a:defRPr sz="1650" b="0">
                <a:solidFill>
                  <a:srgbClr val="344054"/>
                </a:solidFill>
                <a:latin typeface="Microsoft YaHei"/>
                <a:ea typeface="Microsoft YaHei"/>
                <a:cs typeface="Microsoft YaHei"/>
              </a:defRPr>
            </a:pPr>
            <a:r>
              <a:rPr sz="1650" b="0">
                <a:solidFill>
                  <a:srgbClr val="344054"/>
                </a:solidFill>
                <a:latin typeface="Microsoft YaHei"/>
                <a:ea typeface="Microsoft YaHei"/>
                <a:cs typeface="Microsoft YaHei"/>
              </a:rPr>
              <a:t>C_XY4 = 0.0496</a:t>
            </a:r>
          </a:p>
        </p:txBody>
      </p:sp>
      <p:sp>
        <p:nvSpPr>
          <p:cNvPr id="8" name="">
            <a:extLst xmlns:a="http://schemas.openxmlformats.org/drawingml/2006/main">
              <a:ext uri="{FF2B5EF4-FFF2-40B4-BE49-F238E27FC236}">
                <a16:creationId xmlns:a16="http://schemas.microsoft.com/office/drawing/2014/main" id="{BB0A6BBC-8334-4458-909B-0D846BC2E4FD}"/>
              </a:ext>
            </a:extLst>
          </p:cNvPr>
          <p:cNvSpPr>
            <a:spLocks xmlns:a="http://schemas.openxmlformats.org/drawingml/2006/main" noGrp="1"/>
          </p:cNvSpPr>
          <p:nvPr/>
        </p:nvSpPr>
        <p:spPr>
          <a:xfrm xmlns:a="http://schemas.openxmlformats.org/drawingml/2006/main">
            <a:off x="8667750" y="4257675"/>
            <a:ext cx="2714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102A43"/>
                </a:solidFill>
                <a:latin typeface="Microsoft YaHei"/>
                <a:ea typeface="Microsoft YaHei"/>
                <a:cs typeface="Microsoft YaHei"/>
              </a:defRPr>
            </a:pPr>
            <a:r>
              <a:rPr sz="1800" b="1">
                <a:solidFill>
                  <a:srgbClr val="102A43"/>
                </a:solidFill>
                <a:latin typeface="Microsoft YaHei"/>
                <a:ea typeface="Microsoft YaHei"/>
                <a:cs typeface="Microsoft YaHei"/>
              </a:rPr>
              <a:t>40 轮长尾</a:t>
            </a:r>
          </a:p>
          <a:p xmlns:a="http://schemas.openxmlformats.org/drawingml/2006/main">
            <a:pPr>
              <a:buNone/>
              <a:defRPr sz="1800" b="1">
                <a:solidFill>
                  <a:srgbClr val="102A43"/>
                </a:solidFill>
                <a:latin typeface="Microsoft YaHei"/>
                <a:ea typeface="Microsoft YaHei"/>
                <a:cs typeface="Microsoft YaHei"/>
              </a:defRPr>
            </a:pPr>
            <a:r>
              <a:rPr sz="1800" b="1">
                <a:solidFill>
                  <a:srgbClr val="102A43"/>
                </a:solidFill>
                <a:latin typeface="Microsoft YaHei"/>
                <a:ea typeface="Microsoft YaHei"/>
                <a:cs typeface="Microsoft YaHei"/>
              </a:rPr>
              <a:t>128/128 成功</a:t>
            </a:r>
          </a:p>
        </p:txBody>
      </p:sp>
      <p:sp>
        <p:nvSpPr>
          <p:cNvPr id="9" name="">
            <a:extLst xmlns:a="http://schemas.openxmlformats.org/drawingml/2006/main">
              <a:ext uri="{FF2B5EF4-FFF2-40B4-BE49-F238E27FC236}">
                <a16:creationId xmlns:a16="http://schemas.microsoft.com/office/drawing/2014/main" id="{04F35604-E6A8-47FD-A916-23E0155AD1A5}"/>
              </a:ext>
            </a:extLst>
          </p:cNvPr>
          <p:cNvSpPr>
            <a:spLocks xmlns:a="http://schemas.openxmlformats.org/drawingml/2006/main" noGrp="1"/>
          </p:cNvSpPr>
          <p:nvPr/>
        </p:nvSpPr>
        <p:spPr>
          <a:xfrm xmlns:a="http://schemas.openxmlformats.org/drawingml/2006/main">
            <a:off x="609600" y="55245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344054"/>
                </a:solidFill>
                <a:latin typeface="Microsoft YaHei"/>
                <a:ea typeface="Microsoft YaHei"/>
                <a:cs typeface="Microsoft YaHei"/>
              </a:defRPr>
            </a:pPr>
            <a:r>
              <a:rPr sz="1725" b="0">
                <a:solidFill>
                  <a:srgbClr val="344054"/>
                </a:solidFill>
                <a:latin typeface="Microsoft YaHei"/>
                <a:ea typeface="Microsoft YaHei"/>
                <a:cs typeface="Microsoft YaHei"/>
              </a:rPr>
              <a:t>留阱与相干性反映不同退化通道；上述曲线依赖当前重复协议及相位统计定义。</a:t>
            </a:r>
          </a:p>
        </p:txBody>
      </p:sp>
    </p:spTree>
    <p:extLst>
      <p:ext uri="{BB962C8B-B14F-4D97-AF65-F5344CB8AC3E}">
        <p14:creationId xmlns:p14="http://schemas.microsoft.com/office/powerpoint/2010/main" val="117205827"/>
      </p:ext>
    </p:extLst>
  </p:cSld>
</p:sld>
</file>

<file path=ppt/slides/slide2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602A6EF-E8A7-4578-B62A-546CDAFBE95B}"/>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Level 5：有限脉冲单比特动力学</a:t>
            </a:r>
          </a:p>
        </p:txBody>
      </p:sp>
      <p:sp>
        <p:nvSpPr>
          <p:cNvPr id="2" name="">
            <a:extLst xmlns:a="http://schemas.openxmlformats.org/drawingml/2006/main">
              <a:ext uri="{FF2B5EF4-FFF2-40B4-BE49-F238E27FC236}">
                <a16:creationId xmlns:a16="http://schemas.microsoft.com/office/drawing/2014/main" id="{E72E3952-0EA7-4F0D-AE3D-296914F85F98}"/>
              </a:ext>
            </a:extLst>
          </p:cNvPr>
          <p:cNvSpPr>
            <a:spLocks xmlns:a="http://schemas.openxmlformats.org/drawingml/2006/main" noGrp="1"/>
          </p:cNvSpPr>
          <p:nvPr/>
        </p:nvSpPr>
        <p:spPr>
          <a:xfrm xmlns:a="http://schemas.openxmlformats.org/drawingml/2006/main">
            <a:off x="609600" y="933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67085"/>
                </a:solidFill>
                <a:latin typeface="Microsoft YaHei"/>
                <a:ea typeface="Microsoft YaHei"/>
                <a:cs typeface="Microsoft YaHei"/>
              </a:defRPr>
            </a:pPr>
            <a:r>
              <a:rPr sz="1350" b="0">
                <a:solidFill>
                  <a:srgbClr val="667085"/>
                </a:solidFill>
                <a:latin typeface="Microsoft YaHei"/>
                <a:ea typeface="Microsoft YaHei"/>
                <a:cs typeface="Microsoft YaHei"/>
              </a:rPr>
              <a:t>在 Level 4 冻结势能轨迹上计算内部态，运动轨迹不受量子态反作用</a:t>
            </a:r>
          </a:p>
        </p:txBody>
      </p:sp>
      <p:sp>
        <p:nvSpPr>
          <p:cNvPr id="3" name="">
            <a:extLst xmlns:a="http://schemas.openxmlformats.org/drawingml/2006/main">
              <a:ext uri="{FF2B5EF4-FFF2-40B4-BE49-F238E27FC236}">
                <a16:creationId xmlns:a16="http://schemas.microsoft.com/office/drawing/2014/main" id="{F9EBE0E2-E95C-4A1B-AECA-FAEC0D91CD74}"/>
              </a:ext>
            </a:extLst>
          </p:cNvPr>
          <p:cNvSpPr>
            <a:spLocks xmlns:a="http://schemas.openxmlformats.org/drawingml/2006/main" noGrp="1"/>
          </p:cNvSpPr>
          <p:nvPr/>
        </p:nvSpPr>
        <p:spPr>
          <a:xfrm xmlns:a="http://schemas.openxmlformats.org/drawingml/2006/main">
            <a:off x="609600" y="6524625"/>
            <a:ext cx="1009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Level 2C–5 综合报告  ·  历史数值及状态详见配套报告</a:t>
            </a:r>
          </a:p>
        </p:txBody>
      </p:sp>
      <p:sp>
        <p:nvSpPr>
          <p:cNvPr id="4" name="">
            <a:extLst xmlns:a="http://schemas.openxmlformats.org/drawingml/2006/main">
              <a:ext uri="{FF2B5EF4-FFF2-40B4-BE49-F238E27FC236}">
                <a16:creationId xmlns:a16="http://schemas.microsoft.com/office/drawing/2014/main" id="{A7EECBD2-76A3-4000-ACF5-246CA9244A6A}"/>
              </a:ext>
            </a:extLst>
          </p:cNvPr>
          <p:cNvSpPr>
            <a:spLocks xmlns:a="http://schemas.openxmlformats.org/drawingml/2006/main" noGrp="1"/>
          </p:cNvSpPr>
          <p:nvPr/>
        </p:nvSpPr>
        <p:spPr>
          <a:xfrm xmlns:a="http://schemas.openxmlformats.org/drawingml/2006/main">
            <a:off x="11049000" y="65151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26</a:t>
            </a:r>
          </a:p>
        </p:txBody>
      </p:sp>
      <p:sp>
        <p:nvSpPr>
          <p:cNvPr id="5" name="">
            <a:extLst xmlns:a="http://schemas.openxmlformats.org/drawingml/2006/main">
              <a:ext uri="{FF2B5EF4-FFF2-40B4-BE49-F238E27FC236}">
                <a16:creationId xmlns:a16="http://schemas.microsoft.com/office/drawing/2014/main" id="{0E42784D-CFEA-4EFB-AF10-DDDB7A4E3A27}"/>
              </a:ext>
            </a:extLst>
          </p:cNvPr>
          <p:cNvSpPr>
            <a:spLocks xmlns:a="http://schemas.openxmlformats.org/drawingml/2006/main" noGrp="1"/>
          </p:cNvSpPr>
          <p:nvPr/>
        </p:nvSpPr>
        <p:spPr>
          <a:xfrm xmlns:a="http://schemas.openxmlformats.org/drawingml/2006/main">
            <a:off x="609600" y="151447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570EF"/>
                </a:solidFill>
                <a:latin typeface="Microsoft YaHei"/>
                <a:ea typeface="Microsoft YaHei"/>
                <a:cs typeface="Microsoft YaHei"/>
              </a:defRPr>
            </a:pPr>
            <a:r>
              <a:rPr sz="2100" b="1">
                <a:solidFill>
                  <a:srgbClr val="1570EF"/>
                </a:solidFill>
                <a:latin typeface="Microsoft YaHei"/>
                <a:ea typeface="Microsoft YaHei"/>
                <a:cs typeface="Microsoft YaHei"/>
              </a:rPr>
              <a:t>H/ħ = [Δσz + Ω(cosφ σx + sinφ σy)] / 2</a:t>
            </a:r>
          </a:p>
        </p:txBody>
      </p:sp>
      <p:graphicFrame>
        <p:nvGraphicFramePr>
          <p:cNvPr id="15" name=""/>
          <p:cNvGraphicFramePr/>
          <p:nvPr/>
        </p:nvGraphicFramePr>
        <p:xfrm>
          <a:off xmlns:a="http://schemas.openxmlformats.org/drawingml/2006/main" x="609600" y="2247900"/>
          <a:ext xmlns:a="http://schemas.openxmlformats.org/drawingml/2006/main" cx="10972800" cy="3314700"/>
        </p:xfrm>
        <a:graphic xmlns:a="http://schemas.openxmlformats.org/drawingml/2006/main">
          <a:graphicData uri="http://schemas.openxmlformats.org/drawingml/2006/table">
            <a:tbl>
              <a:tblPr/>
              <a:tblGrid>
                <a:gridCol w="2194560"/>
                <a:gridCol w="8778240"/>
              </a:tblGrid>
              <a:tr h="473529">
                <a:tc>
                  <a:txBody>
                    <a:bodyPr>
                      <a:noAutofit/>
                    </a:bodyPr>
                    <a:lstStyle/>
                    <a:p>
                      <a:r>
                        <a:rPr sz="1575" b="1">
                          <a:solidFill>
                            <a:srgbClr val="FFFFFF"/>
                          </a:solidFill>
                          <a:latin typeface="Microsoft YaHei"/>
                          <a:ea typeface="Microsoft YaHei"/>
                          <a:cs typeface="Microsoft YaHei"/>
                        </a:rPr>
                        <a:t>部分</a:t>
                      </a:r>
                    </a:p>
                  </a:txBody>
                  <a:tcPr marL="91440" marR="91440" marT="45720" marB="45720" anchor="ctr">
                    <a:solidFill>
                      <a:srgbClr val="102A43"/>
                    </a:solidFill>
                  </a:tcPr>
                </a:tc>
                <a:tc>
                  <a:txBody>
                    <a:bodyPr>
                      <a:noAutofit/>
                    </a:bodyPr>
                    <a:lstStyle/>
                    <a:p>
                      <a:r>
                        <a:rPr sz="1575" b="1">
                          <a:solidFill>
                            <a:srgbClr val="FFFFFF"/>
                          </a:solidFill>
                          <a:latin typeface="Microsoft YaHei"/>
                          <a:ea typeface="Microsoft YaHei"/>
                          <a:cs typeface="Microsoft YaHei"/>
                        </a:rPr>
                        <a:t>内容</a:t>
                      </a:r>
                    </a:p>
                  </a:txBody>
                  <a:tcPr marL="91440" marR="91440" marT="45720" marB="45720" anchor="ctr">
                    <a:solidFill>
                      <a:srgbClr val="102A43"/>
                    </a:solidFill>
                  </a:tcPr>
                </a:tc>
              </a:tr>
              <a:tr h="473529">
                <a:tc>
                  <a:txBody>
                    <a:bodyPr>
                      <a:noAutofit/>
                    </a:bodyPr>
                    <a:lstStyle/>
                    <a:p>
                      <a:r>
                        <a:rPr sz="1575" b="0">
                          <a:solidFill>
                            <a:srgbClr val="344054"/>
                          </a:solidFill>
                          <a:latin typeface="Microsoft YaHei"/>
                          <a:ea typeface="Microsoft YaHei"/>
                          <a:cs typeface="Microsoft YaHei"/>
                        </a:rPr>
                        <a:t>驱动与光移</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Ω/(2π)=24.611 kHz；η_SLM=η_AOD=1.3×10⁻⁴</a:t>
                      </a:r>
                    </a:p>
                  </a:txBody>
                  <a:tcPr marL="91440" marR="91440" marT="45720" marB="45720" anchor="ctr">
                    <a:solidFill>
                      <a:srgbClr val="FFFFFF"/>
                    </a:solidFill>
                  </a:tcPr>
                </a:tc>
              </a:tr>
              <a:tr h="473529">
                <a:tc>
                  <a:txBody>
                    <a:bodyPr>
                      <a:noAutofit/>
                    </a:bodyPr>
                    <a:lstStyle/>
                    <a:p>
                      <a:r>
                        <a:rPr sz="1575" b="0">
                          <a:solidFill>
                            <a:srgbClr val="344054"/>
                          </a:solidFill>
                          <a:latin typeface="Microsoft YaHei"/>
                          <a:ea typeface="Microsoft YaHei"/>
                          <a:cs typeface="Microsoft YaHei"/>
                        </a:rPr>
                        <a:t>有限脉冲</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bare / SCROFULOUS；解析 SU(2) 子步传播</a:t>
                      </a:r>
                    </a:p>
                  </a:txBody>
                  <a:tcPr marL="91440" marR="91440" marT="45720" marB="45720" anchor="ctr">
                    <a:solidFill>
                      <a:srgbClr val="F2F4F7"/>
                    </a:solidFill>
                  </a:tcPr>
                </a:tc>
              </a:tr>
              <a:tr h="473529">
                <a:tc>
                  <a:txBody>
                    <a:bodyPr>
                      <a:noAutofit/>
                    </a:bodyPr>
                    <a:lstStyle/>
                    <a:p>
                      <a:r>
                        <a:rPr sz="1575" b="0">
                          <a:solidFill>
                            <a:srgbClr val="344054"/>
                          </a:solidFill>
                          <a:latin typeface="Microsoft YaHei"/>
                          <a:ea typeface="Microsoft YaHei"/>
                          <a:cs typeface="Microsoft YaHei"/>
                        </a:rPr>
                        <a:t>动力学解耦</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none、spin-echo、XY4/XY16、每段长移动 XY4</a:t>
                      </a:r>
                    </a:p>
                  </a:txBody>
                  <a:tcPr marL="91440" marR="91440" marT="45720" marB="45720" anchor="ctr">
                    <a:solidFill>
                      <a:srgbClr val="FFFFFF"/>
                    </a:solidFill>
                  </a:tcPr>
                </a:tc>
              </a:tr>
              <a:tr h="473529">
                <a:tc>
                  <a:txBody>
                    <a:bodyPr>
                      <a:noAutofit/>
                    </a:bodyPr>
                    <a:lstStyle/>
                    <a:p>
                      <a:r>
                        <a:rPr sz="1575" b="0">
                          <a:solidFill>
                            <a:srgbClr val="344054"/>
                          </a:solidFill>
                          <a:latin typeface="Microsoft YaHei"/>
                          <a:ea typeface="Microsoft YaHei"/>
                          <a:cs typeface="Microsoft YaHei"/>
                        </a:rPr>
                        <a:t>通道表征</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六输入态、PTM、条件平均门保真度与 bootstrap 区间</a:t>
                      </a:r>
                    </a:p>
                  </a:txBody>
                  <a:tcPr marL="91440" marR="91440" marT="45720" marB="45720" anchor="ctr">
                    <a:solidFill>
                      <a:srgbClr val="F2F4F7"/>
                    </a:solidFill>
                  </a:tcPr>
                </a:tc>
              </a:tr>
              <a:tr h="473529">
                <a:tc>
                  <a:txBody>
                    <a:bodyPr>
                      <a:noAutofit/>
                    </a:bodyPr>
                    <a:lstStyle/>
                    <a:p>
                      <a:r>
                        <a:rPr sz="1575" b="0">
                          <a:solidFill>
                            <a:srgbClr val="344054"/>
                          </a:solidFill>
                          <a:latin typeface="Microsoft YaHei"/>
                          <a:ea typeface="Microsoft YaHei"/>
                          <a:cs typeface="Microsoft YaHei"/>
                        </a:rPr>
                        <a:t>随机基准测试</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24 个 Clifford；reference RB；固定 N=80 的 M 扫描</a:t>
                      </a:r>
                    </a:p>
                  </a:txBody>
                  <a:tcPr marL="91440" marR="91440" marT="45720" marB="45720" anchor="ctr">
                    <a:solidFill>
                      <a:srgbClr val="FFFFFF"/>
                    </a:solidFill>
                  </a:tcPr>
                </a:tc>
              </a:tr>
              <a:tr h="473529">
                <a:tc>
                  <a:txBody>
                    <a:bodyPr>
                      <a:noAutofit/>
                    </a:bodyPr>
                    <a:lstStyle/>
                    <a:p>
                      <a:r>
                        <a:rPr sz="1575" b="0">
                          <a:solidFill>
                            <a:srgbClr val="344054"/>
                          </a:solidFill>
                          <a:latin typeface="Microsoft YaHei"/>
                          <a:ea typeface="Microsoft YaHei"/>
                          <a:cs typeface="Microsoft YaHei"/>
                        </a:rPr>
                        <a:t>站点与噪声</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47/195 站点；共同/局域噪声与站点参数可配置</a:t>
                      </a:r>
                    </a:p>
                  </a:txBody>
                  <a:tcPr marL="91440" marR="91440" marT="45720" marB="45720" anchor="ctr">
                    <a:solidFill>
                      <a:srgbClr val="F2F4F7"/>
                    </a:solidFill>
                  </a:tcPr>
                </a:tc>
              </a:tr>
            </a:tbl>
          </a:graphicData>
        </a:graphic>
      </p:graphicFrame>
      <p:sp>
        <p:nvSpPr>
          <p:cNvPr id="7" name="">
            <a:extLst xmlns:a="http://schemas.openxmlformats.org/drawingml/2006/main">
              <a:ext uri="{FF2B5EF4-FFF2-40B4-BE49-F238E27FC236}">
                <a16:creationId xmlns:a16="http://schemas.microsoft.com/office/drawing/2014/main" id="{503C8D5E-DD84-4851-B487-9EC381B5CE6A}"/>
              </a:ext>
            </a:extLst>
          </p:cNvPr>
          <p:cNvSpPr>
            <a:spLocks xmlns:a="http://schemas.openxmlformats.org/drawingml/2006/main" noGrp="1"/>
          </p:cNvSpPr>
          <p:nvPr/>
        </p:nvSpPr>
        <p:spPr>
          <a:xfrm xmlns:a="http://schemas.openxmlformats.org/drawingml/2006/main">
            <a:off x="609600" y="58483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344054"/>
                </a:solidFill>
                <a:latin typeface="Microsoft YaHei"/>
                <a:ea typeface="Microsoft YaHei"/>
                <a:cs typeface="Microsoft YaHei"/>
              </a:defRPr>
            </a:pPr>
            <a:r>
              <a:rPr sz="1575" b="0">
                <a:solidFill>
                  <a:srgbClr val="344054"/>
                </a:solidFill>
                <a:latin typeface="Microsoft YaHei"/>
                <a:ea typeface="Microsoft YaHei"/>
                <a:cs typeface="Microsoft YaHei"/>
              </a:rPr>
              <a:t>默认噪声与站点散布为零；完整 transformed Clifford frame 未接入正式传播。</a:t>
            </a:r>
          </a:p>
        </p:txBody>
      </p:sp>
    </p:spTree>
    <p:extLst>
      <p:ext uri="{BB962C8B-B14F-4D97-AF65-F5344CB8AC3E}">
        <p14:creationId xmlns:p14="http://schemas.microsoft.com/office/powerpoint/2010/main" val="2145873478"/>
      </p:ext>
    </p:extLst>
  </p:cSld>
</p:sld>
</file>

<file path=ppt/slides/slide2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828F5BD-FE5E-49BA-991F-9403EE256602}"/>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Level 5：单通道 PTM 的历史结果</a:t>
            </a:r>
          </a:p>
        </p:txBody>
      </p:sp>
      <p:sp>
        <p:nvSpPr>
          <p:cNvPr id="2" name="">
            <a:extLst xmlns:a="http://schemas.openxmlformats.org/drawingml/2006/main">
              <a:ext uri="{FF2B5EF4-FFF2-40B4-BE49-F238E27FC236}">
                <a16:creationId xmlns:a16="http://schemas.microsoft.com/office/drawing/2014/main" id="{7A75C0CE-4F66-4D9C-B77C-A5A4343BD815}"/>
              </a:ext>
            </a:extLst>
          </p:cNvPr>
          <p:cNvSpPr>
            <a:spLocks xmlns:a="http://schemas.openxmlformats.org/drawingml/2006/main" noGrp="1"/>
          </p:cNvSpPr>
          <p:nvPr/>
        </p:nvSpPr>
        <p:spPr>
          <a:xfrm xmlns:a="http://schemas.openxmlformats.org/drawingml/2006/main">
            <a:off x="609600" y="933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67085"/>
                </a:solidFill>
                <a:latin typeface="Microsoft YaHei"/>
                <a:ea typeface="Microsoft YaHei"/>
                <a:cs typeface="Microsoft YaHei"/>
              </a:defRPr>
            </a:pPr>
            <a:r>
              <a:rPr sz="1350" b="0">
                <a:solidFill>
                  <a:srgbClr val="667085"/>
                </a:solidFill>
                <a:latin typeface="Microsoft YaHei"/>
                <a:ea typeface="Microsoft YaHei"/>
                <a:cs typeface="Microsoft YaHei"/>
              </a:rPr>
              <a:t>以下结果不经过 IRB 索引路径；目标门定义决定 F_avg 的含义</a:t>
            </a:r>
          </a:p>
        </p:txBody>
      </p:sp>
      <p:sp>
        <p:nvSpPr>
          <p:cNvPr id="3" name="">
            <a:extLst xmlns:a="http://schemas.openxmlformats.org/drawingml/2006/main">
              <a:ext uri="{FF2B5EF4-FFF2-40B4-BE49-F238E27FC236}">
                <a16:creationId xmlns:a16="http://schemas.microsoft.com/office/drawing/2014/main" id="{7CD5F391-C0CE-4A49-A6CC-3C87A448C4F6}"/>
              </a:ext>
            </a:extLst>
          </p:cNvPr>
          <p:cNvSpPr>
            <a:spLocks xmlns:a="http://schemas.openxmlformats.org/drawingml/2006/main" noGrp="1"/>
          </p:cNvSpPr>
          <p:nvPr/>
        </p:nvSpPr>
        <p:spPr>
          <a:xfrm xmlns:a="http://schemas.openxmlformats.org/drawingml/2006/main">
            <a:off x="609600" y="6524625"/>
            <a:ext cx="1009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Level 2C–5 综合报告  ·  历史数值及状态详见配套报告</a:t>
            </a:r>
          </a:p>
        </p:txBody>
      </p:sp>
      <p:sp>
        <p:nvSpPr>
          <p:cNvPr id="4" name="">
            <a:extLst xmlns:a="http://schemas.openxmlformats.org/drawingml/2006/main">
              <a:ext uri="{FF2B5EF4-FFF2-40B4-BE49-F238E27FC236}">
                <a16:creationId xmlns:a16="http://schemas.microsoft.com/office/drawing/2014/main" id="{52AF953A-02D2-4093-8A82-066C8F494884}"/>
              </a:ext>
            </a:extLst>
          </p:cNvPr>
          <p:cNvSpPr>
            <a:spLocks xmlns:a="http://schemas.openxmlformats.org/drawingml/2006/main" noGrp="1"/>
          </p:cNvSpPr>
          <p:nvPr/>
        </p:nvSpPr>
        <p:spPr>
          <a:xfrm xmlns:a="http://schemas.openxmlformats.org/drawingml/2006/main">
            <a:off x="11049000" y="65151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27</a:t>
            </a:r>
          </a:p>
        </p:txBody>
      </p:sp>
      <p:graphicFrame>
        <p:nvGraphicFramePr>
          <p:cNvPr id="16" name="Chart"/>
          <p:cNvGraphicFramePr/>
          <p:nvPr/>
        </p:nvGraphicFramePr>
        <p:xfrm>
          <a:off xmlns:a="http://schemas.openxmlformats.org/drawingml/2006/main" x="609600" y="1609725"/>
          <a:ext xmlns:a="http://schemas.openxmlformats.org/drawingml/2006/main" cx="7639050" cy="3657600"/>
        </p:xfrm>
        <a:graphic xmlns:a="http://schemas.openxmlformats.org/drawingml/2006/main">
          <a:graphicData uri="http://schemas.openxmlformats.org/drawingml/2006/chart">
            <c:chart xmlns:r="http://schemas.openxmlformats.org/officeDocument/2006/relationships" xmlns:c="http://schemas.openxmlformats.org/drawingml/2006/chart" r:id="R9c6490f7d3d24d01"/>
          </a:graphicData>
        </a:graphic>
      </p:graphicFrame>
      <p:sp>
        <p:nvSpPr>
          <p:cNvPr id="6" name="">
            <a:extLst xmlns:a="http://schemas.openxmlformats.org/drawingml/2006/main">
              <a:ext uri="{FF2B5EF4-FFF2-40B4-BE49-F238E27FC236}">
                <a16:creationId xmlns:a16="http://schemas.microsoft.com/office/drawing/2014/main" id="{8DCEA87D-760C-410A-A702-409A0659251F}"/>
              </a:ext>
            </a:extLst>
          </p:cNvPr>
          <p:cNvSpPr>
            <a:spLocks xmlns:a="http://schemas.openxmlformats.org/drawingml/2006/main" noGrp="1"/>
          </p:cNvSpPr>
          <p:nvPr/>
        </p:nvSpPr>
        <p:spPr>
          <a:xfrm xmlns:a="http://schemas.openxmlformats.org/drawingml/2006/main">
            <a:off x="8629650" y="1685925"/>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102A43"/>
                </a:solidFill>
                <a:latin typeface="Microsoft YaHei"/>
                <a:ea typeface="Microsoft YaHei"/>
                <a:cs typeface="Microsoft YaHei"/>
              </a:defRPr>
            </a:pPr>
            <a:r>
              <a:rPr sz="1875" b="1">
                <a:solidFill>
                  <a:srgbClr val="102A43"/>
                </a:solidFill>
                <a:latin typeface="Microsoft YaHei"/>
                <a:ea typeface="Microsoft YaHei"/>
                <a:cs typeface="Microsoft YaHei"/>
              </a:rPr>
              <a:t>目标门：恒等 I</a:t>
            </a:r>
          </a:p>
        </p:txBody>
      </p:sp>
      <p:sp>
        <p:nvSpPr>
          <p:cNvPr id="7" name="">
            <a:extLst xmlns:a="http://schemas.openxmlformats.org/drawingml/2006/main">
              <a:ext uri="{FF2B5EF4-FFF2-40B4-BE49-F238E27FC236}">
                <a16:creationId xmlns:a16="http://schemas.microsoft.com/office/drawing/2014/main" id="{E9E7240A-B3EC-4007-9B51-FC050E0DE8B3}"/>
              </a:ext>
            </a:extLst>
          </p:cNvPr>
          <p:cNvSpPr>
            <a:spLocks xmlns:a="http://schemas.openxmlformats.org/drawingml/2006/main" noGrp="1"/>
          </p:cNvSpPr>
          <p:nvPr/>
        </p:nvSpPr>
        <p:spPr>
          <a:xfrm xmlns:a="http://schemas.openxmlformats.org/drawingml/2006/main">
            <a:off x="8629650" y="2257425"/>
            <a:ext cx="28575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344054"/>
                </a:solidFill>
                <a:latin typeface="Microsoft YaHei"/>
                <a:ea typeface="Microsoft YaHei"/>
                <a:cs typeface="Microsoft YaHei"/>
              </a:defRPr>
            </a:pPr>
            <a:r>
              <a:rPr sz="1725" b="0">
                <a:solidFill>
                  <a:srgbClr val="344054"/>
                </a:solidFill>
                <a:latin typeface="Microsoft YaHei"/>
                <a:ea typeface="Microsoft YaHei"/>
                <a:cs typeface="Microsoft YaHei"/>
              </a:rPr>
              <a:t>spin-echo 的净 π 操作</a:t>
            </a:r>
          </a:p>
          <a:p xmlns:a="http://schemas.openxmlformats.org/drawingml/2006/main">
            <a:pPr>
              <a:buNone/>
              <a:defRPr sz="1725" b="0">
                <a:solidFill>
                  <a:srgbClr val="344054"/>
                </a:solidFill>
                <a:latin typeface="Microsoft YaHei"/>
                <a:ea typeface="Microsoft YaHei"/>
                <a:cs typeface="Microsoft YaHei"/>
              </a:defRPr>
            </a:pPr>
            <a:r>
              <a:rPr sz="1725" b="0">
                <a:solidFill>
                  <a:srgbClr val="344054"/>
                </a:solidFill>
                <a:latin typeface="Microsoft YaHei"/>
                <a:ea typeface="Microsoft YaHei"/>
                <a:cs typeface="Microsoft YaHei"/>
              </a:rPr>
              <a:t>与恒等门不同。</a:t>
            </a:r>
          </a:p>
          <a:p xmlns:a="http://schemas.openxmlformats.org/drawingml/2006/main">
            <a:pPr>
              <a:buNone/>
              <a:defRPr sz="1725" b="0">
                <a:solidFill>
                  <a:srgbClr val="344054"/>
                </a:solidFill>
                <a:latin typeface="Microsoft YaHei"/>
                <a:ea typeface="Microsoft YaHei"/>
                <a:cs typeface="Microsoft YaHei"/>
              </a:defRPr>
            </a:pPr>
            <a:r>
              <a:rPr sz="1725" b="0">
                <a:solidFill>
                  <a:srgbClr val="344054"/>
                </a:solidFill>
                <a:latin typeface="Microsoft YaHei"/>
                <a:ea typeface="Microsoft YaHei"/>
                <a:cs typeface="Microsoft YaHei"/>
              </a:rPr>
              <a:t>约 1/3 的读数不能</a:t>
            </a:r>
          </a:p>
          <a:p xmlns:a="http://schemas.openxmlformats.org/drawingml/2006/main">
            <a:pPr>
              <a:buNone/>
              <a:defRPr sz="1725" b="0">
                <a:solidFill>
                  <a:srgbClr val="344054"/>
                </a:solidFill>
                <a:latin typeface="Microsoft YaHei"/>
                <a:ea typeface="Microsoft YaHei"/>
                <a:cs typeface="Microsoft YaHei"/>
              </a:defRPr>
            </a:pPr>
            <a:r>
              <a:rPr sz="1725" b="0">
                <a:solidFill>
                  <a:srgbClr val="344054"/>
                </a:solidFill>
                <a:latin typeface="Microsoft YaHei"/>
                <a:ea typeface="Microsoft YaHei"/>
                <a:cs typeface="Microsoft YaHei"/>
              </a:rPr>
              <a:t>直接解释为失相干。</a:t>
            </a:r>
          </a:p>
        </p:txBody>
      </p:sp>
      <p:sp>
        <p:nvSpPr>
          <p:cNvPr id="8" name="">
            <a:extLst xmlns:a="http://schemas.openxmlformats.org/drawingml/2006/main">
              <a:ext uri="{FF2B5EF4-FFF2-40B4-BE49-F238E27FC236}">
                <a16:creationId xmlns:a16="http://schemas.microsoft.com/office/drawing/2014/main" id="{07BAF436-B41B-492B-88C4-D42E28458E58}"/>
              </a:ext>
            </a:extLst>
          </p:cNvPr>
          <p:cNvSpPr>
            <a:spLocks xmlns:a="http://schemas.openxmlformats.org/drawingml/2006/main" noGrp="1"/>
          </p:cNvSpPr>
          <p:nvPr/>
        </p:nvSpPr>
        <p:spPr>
          <a:xfrm xmlns:a="http://schemas.openxmlformats.org/drawingml/2006/main">
            <a:off x="8629650" y="44100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67085"/>
                </a:solidFill>
                <a:latin typeface="Microsoft YaHei"/>
                <a:ea typeface="Microsoft YaHei"/>
                <a:cs typeface="Microsoft YaHei"/>
              </a:defRPr>
            </a:pPr>
            <a:r>
              <a:rPr sz="1575" b="0">
                <a:solidFill>
                  <a:srgbClr val="667085"/>
                </a:solidFill>
                <a:latin typeface="Microsoft YaHei"/>
                <a:ea typeface="Microsoft YaHei"/>
                <a:cs typeface="Microsoft YaHei"/>
              </a:rPr>
              <a:t>各条件经典 survival = 1</a:t>
            </a:r>
          </a:p>
          <a:p xmlns:a="http://schemas.openxmlformats.org/drawingml/2006/main">
            <a:pPr>
              <a:buNone/>
              <a:defRPr sz="1575" b="0">
                <a:solidFill>
                  <a:srgbClr val="667085"/>
                </a:solidFill>
                <a:latin typeface="Microsoft YaHei"/>
                <a:ea typeface="Microsoft YaHei"/>
                <a:cs typeface="Microsoft YaHei"/>
              </a:defRPr>
            </a:pPr>
            <a:r>
              <a:rPr sz="1575" b="0">
                <a:solidFill>
                  <a:srgbClr val="667085"/>
                </a:solidFill>
                <a:latin typeface="Microsoft YaHei"/>
                <a:ea typeface="Microsoft YaHei"/>
                <a:cs typeface="Microsoft YaHei"/>
              </a:rPr>
              <a:t>数值来自旧通道输出。</a:t>
            </a:r>
          </a:p>
        </p:txBody>
      </p:sp>
      <p:sp>
        <p:nvSpPr>
          <p:cNvPr id="9" name="">
            <a:extLst xmlns:a="http://schemas.openxmlformats.org/drawingml/2006/main">
              <a:ext uri="{FF2B5EF4-FFF2-40B4-BE49-F238E27FC236}">
                <a16:creationId xmlns:a16="http://schemas.microsoft.com/office/drawing/2014/main" id="{B0AF642A-63FB-4B41-9BAA-320AFB3974DF}"/>
              </a:ext>
            </a:extLst>
          </p:cNvPr>
          <p:cNvSpPr>
            <a:spLocks xmlns:a="http://schemas.openxmlformats.org/drawingml/2006/main" noGrp="1"/>
          </p:cNvSpPr>
          <p:nvPr/>
        </p:nvSpPr>
        <p:spPr>
          <a:xfrm xmlns:a="http://schemas.openxmlformats.org/drawingml/2006/main">
            <a:off x="609600" y="56102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570EF"/>
                </a:solidFill>
                <a:latin typeface="Microsoft YaHei"/>
                <a:ea typeface="Microsoft YaHei"/>
                <a:cs typeface="Microsoft YaHei"/>
              </a:defRPr>
            </a:pPr>
            <a:r>
              <a:rPr sz="1725" b="1">
                <a:solidFill>
                  <a:srgbClr val="1570EF"/>
                </a:solidFill>
                <a:latin typeface="Microsoft YaHei"/>
                <a:ea typeface="Microsoft YaHei"/>
                <a:cs typeface="Microsoft YaHei"/>
              </a:rPr>
              <a:t>比较 DD 性能前，需要统一目标门或移除理想净旋转；这些数值不是论文实验 IRB。</a:t>
            </a:r>
          </a:p>
        </p:txBody>
      </p:sp>
    </p:spTree>
    <p:extLst>
      <p:ext uri="{BB962C8B-B14F-4D97-AF65-F5344CB8AC3E}">
        <p14:creationId xmlns:p14="http://schemas.microsoft.com/office/powerpoint/2010/main" val="654724539"/>
      </p:ext>
    </p:extLst>
  </p:cSld>
</p:sld>
</file>

<file path=ppt/slides/slide2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45D65A8-869A-4DE6-86F8-4225874CC2CF}"/>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Level 5：RB/IRB 设计与结果状态</a:t>
            </a:r>
          </a:p>
        </p:txBody>
      </p:sp>
      <p:sp>
        <p:nvSpPr>
          <p:cNvPr id="2" name="">
            <a:extLst xmlns:a="http://schemas.openxmlformats.org/drawingml/2006/main">
              <a:ext uri="{FF2B5EF4-FFF2-40B4-BE49-F238E27FC236}">
                <a16:creationId xmlns:a16="http://schemas.microsoft.com/office/drawing/2014/main" id="{A0ABFBDE-388E-4189-A05C-B5AC50996F49}"/>
              </a:ext>
            </a:extLst>
          </p:cNvPr>
          <p:cNvSpPr>
            <a:spLocks xmlns:a="http://schemas.openxmlformats.org/drawingml/2006/main" noGrp="1"/>
          </p:cNvSpPr>
          <p:nvPr/>
        </p:nvSpPr>
        <p:spPr>
          <a:xfrm xmlns:a="http://schemas.openxmlformats.org/drawingml/2006/main">
            <a:off x="609600" y="933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67085"/>
                </a:solidFill>
                <a:latin typeface="Microsoft YaHei"/>
                <a:ea typeface="Microsoft YaHei"/>
                <a:cs typeface="Microsoft YaHei"/>
              </a:defRPr>
            </a:pPr>
            <a:r>
              <a:rPr sz="1350" b="0">
                <a:solidFill>
                  <a:srgbClr val="667085"/>
                </a:solidFill>
                <a:latin typeface="Microsoft YaHei"/>
                <a:ea typeface="Microsoft YaHei"/>
                <a:cs typeface="Microsoft YaHei"/>
              </a:rPr>
              <a:t>旧多站点 IRB 需要重跑，当前报告不发布其保真度或阵列性能结论</a:t>
            </a:r>
          </a:p>
        </p:txBody>
      </p:sp>
      <p:sp>
        <p:nvSpPr>
          <p:cNvPr id="3" name="">
            <a:extLst xmlns:a="http://schemas.openxmlformats.org/drawingml/2006/main">
              <a:ext uri="{FF2B5EF4-FFF2-40B4-BE49-F238E27FC236}">
                <a16:creationId xmlns:a16="http://schemas.microsoft.com/office/drawing/2014/main" id="{6B2331C5-36A4-45EF-80F6-74716CC6273C}"/>
              </a:ext>
            </a:extLst>
          </p:cNvPr>
          <p:cNvSpPr>
            <a:spLocks xmlns:a="http://schemas.openxmlformats.org/drawingml/2006/main" noGrp="1"/>
          </p:cNvSpPr>
          <p:nvPr/>
        </p:nvSpPr>
        <p:spPr>
          <a:xfrm xmlns:a="http://schemas.openxmlformats.org/drawingml/2006/main">
            <a:off x="609600" y="6524625"/>
            <a:ext cx="1009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Level 2C–5 综合报告  ·  历史数值及状态详见配套报告</a:t>
            </a:r>
          </a:p>
        </p:txBody>
      </p:sp>
      <p:sp>
        <p:nvSpPr>
          <p:cNvPr id="4" name="">
            <a:extLst xmlns:a="http://schemas.openxmlformats.org/drawingml/2006/main">
              <a:ext uri="{FF2B5EF4-FFF2-40B4-BE49-F238E27FC236}">
                <a16:creationId xmlns:a16="http://schemas.microsoft.com/office/drawing/2014/main" id="{17EAAD4E-8155-416E-8B6F-FD55A449015B}"/>
              </a:ext>
            </a:extLst>
          </p:cNvPr>
          <p:cNvSpPr>
            <a:spLocks xmlns:a="http://schemas.openxmlformats.org/drawingml/2006/main" noGrp="1"/>
          </p:cNvSpPr>
          <p:nvPr/>
        </p:nvSpPr>
        <p:spPr>
          <a:xfrm xmlns:a="http://schemas.openxmlformats.org/drawingml/2006/main">
            <a:off x="11049000" y="65151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28</a:t>
            </a:r>
          </a:p>
        </p:txBody>
      </p:sp>
      <p:graphicFrame>
        <p:nvGraphicFramePr>
          <p:cNvPr id="14" name=""/>
          <p:cNvGraphicFramePr/>
          <p:nvPr/>
        </p:nvGraphicFramePr>
        <p:xfrm>
          <a:off xmlns:a="http://schemas.openxmlformats.org/drawingml/2006/main" x="609600" y="1571625"/>
          <a:ext xmlns:a="http://schemas.openxmlformats.org/drawingml/2006/main" cx="10972800" cy="3143250"/>
        </p:xfrm>
        <a:graphic xmlns:a="http://schemas.openxmlformats.org/drawingml/2006/main">
          <a:graphicData uri="http://schemas.openxmlformats.org/drawingml/2006/table">
            <a:tbl>
              <a:tblPr/>
              <a:tblGrid>
                <a:gridCol w="2560320"/>
                <a:gridCol w="8412480"/>
              </a:tblGrid>
              <a:tr h="523875">
                <a:tc>
                  <a:txBody>
                    <a:bodyPr>
                      <a:noAutofit/>
                    </a:bodyPr>
                    <a:lstStyle/>
                    <a:p>
                      <a:r>
                        <a:rPr sz="1650" b="1">
                          <a:solidFill>
                            <a:srgbClr val="FFFFFF"/>
                          </a:solidFill>
                          <a:latin typeface="Microsoft YaHei"/>
                          <a:ea typeface="Microsoft YaHei"/>
                          <a:cs typeface="Microsoft YaHei"/>
                        </a:rPr>
                        <a:t>项目</a:t>
                      </a:r>
                    </a:p>
                  </a:txBody>
                  <a:tcPr marL="91440" marR="91440" marT="45720" marB="45720" anchor="ctr">
                    <a:solidFill>
                      <a:srgbClr val="102A43"/>
                    </a:solidFill>
                  </a:tcPr>
                </a:tc>
                <a:tc>
                  <a:txBody>
                    <a:bodyPr>
                      <a:noAutofit/>
                    </a:bodyPr>
                    <a:lstStyle/>
                    <a:p>
                      <a:r>
                        <a:rPr sz="1650" b="1">
                          <a:solidFill>
                            <a:srgbClr val="FFFFFF"/>
                          </a:solidFill>
                          <a:latin typeface="Microsoft YaHei"/>
                          <a:ea typeface="Microsoft YaHei"/>
                          <a:cs typeface="Microsoft YaHei"/>
                        </a:rPr>
                        <a:t>当前设计 / 状态</a:t>
                      </a:r>
                    </a:p>
                  </a:txBody>
                  <a:tcPr marL="91440" marR="91440" marT="45720" marB="45720" anchor="ctr">
                    <a:solidFill>
                      <a:srgbClr val="102A43"/>
                    </a:solidFill>
                  </a:tcPr>
                </a:tc>
              </a:tr>
              <a:tr h="523875">
                <a:tc>
                  <a:txBody>
                    <a:bodyPr>
                      <a:noAutofit/>
                    </a:bodyPr>
                    <a:lstStyle/>
                    <a:p>
                      <a:r>
                        <a:rPr sz="1650" b="0">
                          <a:solidFill>
                            <a:srgbClr val="344054"/>
                          </a:solidFill>
                          <a:latin typeface="Microsoft YaHei"/>
                          <a:ea typeface="Microsoft YaHei"/>
                          <a:cs typeface="Microsoft YaHei"/>
                        </a:rPr>
                        <a:t>Reference RB</a:t>
                      </a:r>
                    </a:p>
                  </a:txBody>
                  <a:tcPr marL="91440" marR="91440" marT="45720" marB="45720" anchor="ctr">
                    <a:solidFill>
                      <a:srgbClr val="FFFFFF"/>
                    </a:solidFill>
                  </a:tcPr>
                </a:tc>
                <a:tc>
                  <a:txBody>
                    <a:bodyPr>
                      <a:noAutofit/>
                    </a:bodyPr>
                    <a:lstStyle/>
                    <a:p>
                      <a:r>
                        <a:rPr sz="1650" b="0">
                          <a:solidFill>
                            <a:srgbClr val="344054"/>
                          </a:solidFill>
                          <a:latin typeface="Microsoft YaHei"/>
                          <a:ea typeface="Microsoft YaHei"/>
                          <a:cs typeface="Microsoft YaHei"/>
                        </a:rPr>
                        <a:t>Clifford 长度 1–1000；72 序列/点；47 站点</a:t>
                      </a:r>
                    </a:p>
                  </a:txBody>
                  <a:tcPr marL="91440" marR="91440" marT="45720" marB="45720" anchor="ctr">
                    <a:solidFill>
                      <a:srgbClr val="FFFFFF"/>
                    </a:solidFill>
                  </a:tcPr>
                </a:tc>
              </a:tr>
              <a:tr h="523875">
                <a:tc>
                  <a:txBody>
                    <a:bodyPr>
                      <a:noAutofit/>
                    </a:bodyPr>
                    <a:lstStyle/>
                    <a:p>
                      <a:r>
                        <a:rPr sz="1650" b="0">
                          <a:solidFill>
                            <a:srgbClr val="344054"/>
                          </a:solidFill>
                          <a:latin typeface="Microsoft YaHei"/>
                          <a:ea typeface="Microsoft YaHei"/>
                          <a:cs typeface="Microsoft YaHei"/>
                        </a:rPr>
                        <a:t>运输插入</a:t>
                      </a:r>
                    </a:p>
                  </a:txBody>
                  <a:tcPr marL="91440" marR="91440" marT="45720" marB="45720" anchor="ctr">
                    <a:solidFill>
                      <a:srgbClr val="F2F4F7"/>
                    </a:solidFill>
                  </a:tcPr>
                </a:tc>
                <a:tc>
                  <a:txBody>
                    <a:bodyPr>
                      <a:noAutofit/>
                    </a:bodyPr>
                    <a:lstStyle/>
                    <a:p>
                      <a:r>
                        <a:rPr sz="1650" b="0">
                          <a:solidFill>
                            <a:srgbClr val="344054"/>
                          </a:solidFill>
                          <a:latin typeface="Microsoft YaHei"/>
                          <a:ea typeface="Microsoft YaHei"/>
                          <a:cs typeface="Microsoft YaHei"/>
                        </a:rPr>
                        <a:t>固定 N=80；扫描 M=0–80；每点 72 strings</a:t>
                      </a:r>
                    </a:p>
                  </a:txBody>
                  <a:tcPr marL="91440" marR="91440" marT="45720" marB="45720" anchor="ctr">
                    <a:solidFill>
                      <a:srgbClr val="F2F4F7"/>
                    </a:solidFill>
                  </a:tcPr>
                </a:tc>
              </a:tr>
              <a:tr h="523875">
                <a:tc>
                  <a:txBody>
                    <a:bodyPr>
                      <a:noAutofit/>
                    </a:bodyPr>
                    <a:lstStyle/>
                    <a:p>
                      <a:r>
                        <a:rPr sz="1650" b="0">
                          <a:solidFill>
                            <a:srgbClr val="344054"/>
                          </a:solidFill>
                          <a:latin typeface="Microsoft YaHei"/>
                          <a:ea typeface="Microsoft YaHei"/>
                          <a:cs typeface="Microsoft YaHei"/>
                        </a:rPr>
                        <a:t>每个 move</a:t>
                      </a:r>
                    </a:p>
                  </a:txBody>
                  <a:tcPr marL="91440" marR="91440" marT="45720" marB="45720" anchor="ctr">
                    <a:solidFill>
                      <a:srgbClr val="FFFFFF"/>
                    </a:solidFill>
                  </a:tcPr>
                </a:tc>
                <a:tc>
                  <a:txBody>
                    <a:bodyPr>
                      <a:noAutofit/>
                    </a:bodyPr>
                    <a:lstStyle/>
                    <a:p>
                      <a:r>
                        <a:rPr sz="1650" b="0">
                          <a:solidFill>
                            <a:srgbClr val="344054"/>
                          </a:solidFill>
                          <a:latin typeface="Microsoft YaHei"/>
                          <a:ea typeface="Microsoft YaHei"/>
                          <a:cs typeface="Microsoft YaHei"/>
                        </a:rPr>
                        <a:t>默认完整组合往返；独立抽取 Level 4 单轮冻结轨迹</a:t>
                      </a:r>
                    </a:p>
                  </a:txBody>
                  <a:tcPr marL="91440" marR="91440" marT="45720" marB="45720" anchor="ctr">
                    <a:solidFill>
                      <a:srgbClr val="FFFFFF"/>
                    </a:solidFill>
                  </a:tcPr>
                </a:tc>
              </a:tr>
              <a:tr h="523875">
                <a:tc>
                  <a:txBody>
                    <a:bodyPr>
                      <a:noAutofit/>
                    </a:bodyPr>
                    <a:lstStyle/>
                    <a:p>
                      <a:r>
                        <a:rPr sz="1650" b="0">
                          <a:solidFill>
                            <a:srgbClr val="344054"/>
                          </a:solidFill>
                          <a:latin typeface="Microsoft YaHei"/>
                          <a:ea typeface="Microsoft YaHei"/>
                          <a:cs typeface="Microsoft YaHei"/>
                        </a:rPr>
                        <a:t>历史 IRB / 阵列</a:t>
                      </a:r>
                    </a:p>
                  </a:txBody>
                  <a:tcPr marL="91440" marR="91440" marT="45720" marB="45720" anchor="ctr">
                    <a:solidFill>
                      <a:srgbClr val="F2F4F7"/>
                    </a:solidFill>
                  </a:tcPr>
                </a:tc>
                <a:tc>
                  <a:txBody>
                    <a:bodyPr>
                      <a:noAutofit/>
                    </a:bodyPr>
                    <a:lstStyle/>
                    <a:p>
                      <a:r>
                        <a:rPr sz="1650" b="0">
                          <a:solidFill>
                            <a:srgbClr val="344054"/>
                          </a:solidFill>
                          <a:latin typeface="Microsoft YaHei"/>
                          <a:ea typeface="Microsoft YaHei"/>
                          <a:cs typeface="Microsoft YaHei"/>
                        </a:rPr>
                        <a:t>移动索引串写影响多站点结果；修复后尚未全量重跑</a:t>
                      </a:r>
                    </a:p>
                  </a:txBody>
                  <a:tcPr marL="91440" marR="91440" marT="45720" marB="45720" anchor="ctr">
                    <a:solidFill>
                      <a:srgbClr val="F2F4F7"/>
                    </a:solidFill>
                  </a:tcPr>
                </a:tc>
              </a:tr>
              <a:tr h="523875">
                <a:tc>
                  <a:txBody>
                    <a:bodyPr>
                      <a:noAutofit/>
                    </a:bodyPr>
                    <a:lstStyle/>
                    <a:p>
                      <a:r>
                        <a:rPr sz="1650" b="0">
                          <a:solidFill>
                            <a:srgbClr val="344054"/>
                          </a:solidFill>
                          <a:latin typeface="Microsoft YaHei"/>
                          <a:ea typeface="Microsoft YaHei"/>
                          <a:cs typeface="Microsoft YaHei"/>
                        </a:rPr>
                        <a:t>拟合解释</a:t>
                      </a:r>
                    </a:p>
                  </a:txBody>
                  <a:tcPr marL="91440" marR="91440" marT="45720" marB="45720" anchor="ctr">
                    <a:solidFill>
                      <a:srgbClr val="FFFFFF"/>
                    </a:solidFill>
                  </a:tcPr>
                </a:tc>
                <a:tc>
                  <a:txBody>
                    <a:bodyPr>
                      <a:noAutofit/>
                    </a:bodyPr>
                    <a:lstStyle/>
                    <a:p>
                      <a:r>
                        <a:rPr sz="1650" b="0">
                          <a:solidFill>
                            <a:srgbClr val="344054"/>
                          </a:solidFill>
                          <a:latin typeface="Microsoft YaHei"/>
                          <a:ea typeface="Microsoft YaHei"/>
                          <a:cs typeface="Microsoft YaHei"/>
                        </a:rPr>
                        <a:t>p(M) 与 reference p(n) 自变量不同，禁止套标准比值</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113DE99D-ABD3-425B-BC49-E1E520DAB8AC}"/>
              </a:ext>
            </a:extLst>
          </p:cNvPr>
          <p:cNvSpPr>
            <a:spLocks xmlns:a="http://schemas.openxmlformats.org/drawingml/2006/main" noGrp="1"/>
          </p:cNvSpPr>
          <p:nvPr/>
        </p:nvSpPr>
        <p:spPr>
          <a:xfrm xmlns:a="http://schemas.openxmlformats.org/drawingml/2006/main">
            <a:off x="609600" y="5029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D92D20"/>
                </a:solidFill>
                <a:latin typeface="Microsoft YaHei"/>
                <a:ea typeface="Microsoft YaHei"/>
                <a:cs typeface="Microsoft YaHei"/>
              </a:defRPr>
            </a:pPr>
            <a:r>
              <a:rPr sz="2100" b="1">
                <a:solidFill>
                  <a:srgbClr val="D92D20"/>
                </a:solidFill>
                <a:latin typeface="Microsoft YaHei"/>
                <a:ea typeface="Microsoft YaHei"/>
                <a:cs typeface="Microsoft YaHei"/>
              </a:rPr>
              <a:t>历史 F_avg = 1.001650 不可解释。</a:t>
            </a:r>
          </a:p>
        </p:txBody>
      </p:sp>
      <p:sp>
        <p:nvSpPr>
          <p:cNvPr id="7" name="">
            <a:extLst xmlns:a="http://schemas.openxmlformats.org/drawingml/2006/main">
              <a:ext uri="{FF2B5EF4-FFF2-40B4-BE49-F238E27FC236}">
                <a16:creationId xmlns:a16="http://schemas.microsoft.com/office/drawing/2014/main" id="{DAE924F2-5B88-4DAF-8FDA-54F3BAD7ECFD}"/>
              </a:ext>
            </a:extLst>
          </p:cNvPr>
          <p:cNvSpPr>
            <a:spLocks xmlns:a="http://schemas.openxmlformats.org/drawingml/2006/main" noGrp="1"/>
          </p:cNvSpPr>
          <p:nvPr/>
        </p:nvSpPr>
        <p:spPr>
          <a:xfrm xmlns:a="http://schemas.openxmlformats.org/drawingml/2006/main">
            <a:off x="609600" y="56197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344054"/>
                </a:solidFill>
                <a:latin typeface="Microsoft YaHei"/>
                <a:ea typeface="Microsoft YaHei"/>
                <a:cs typeface="Microsoft YaHei"/>
              </a:defRPr>
            </a:pPr>
            <a:r>
              <a:rPr sz="1650" b="0">
                <a:solidFill>
                  <a:srgbClr val="344054"/>
                </a:solidFill>
                <a:latin typeface="Microsoft YaHei"/>
                <a:ea typeface="Microsoft YaHei"/>
                <a:cs typeface="Microsoft YaHei"/>
              </a:rPr>
              <a:t>新版保留原始数据与状态说明；报告衰减参数时也必须检验目标、设计和拟合质量。</a:t>
            </a:r>
          </a:p>
        </p:txBody>
      </p:sp>
    </p:spTree>
    <p:extLst>
      <p:ext uri="{BB962C8B-B14F-4D97-AF65-F5344CB8AC3E}">
        <p14:creationId xmlns:p14="http://schemas.microsoft.com/office/powerpoint/2010/main" val="1039104713"/>
      </p:ext>
    </p:extLst>
  </p:cSld>
</p:sld>
</file>

<file path=ppt/slides/slide2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DAEF6DC-26DE-4693-986F-323709E25543}"/>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运输距离与“60 次”的统一口径</a:t>
            </a:r>
          </a:p>
        </p:txBody>
      </p:sp>
      <p:sp>
        <p:nvSpPr>
          <p:cNvPr id="2" name="">
            <a:extLst xmlns:a="http://schemas.openxmlformats.org/drawingml/2006/main">
              <a:ext uri="{FF2B5EF4-FFF2-40B4-BE49-F238E27FC236}">
                <a16:creationId xmlns:a16="http://schemas.microsoft.com/office/drawing/2014/main" id="{54FFA630-F394-4CF3-ACB1-1E552EE6BC3F}"/>
              </a:ext>
            </a:extLst>
          </p:cNvPr>
          <p:cNvSpPr>
            <a:spLocks xmlns:a="http://schemas.openxmlformats.org/drawingml/2006/main" noGrp="1"/>
          </p:cNvSpPr>
          <p:nvPr/>
        </p:nvSpPr>
        <p:spPr>
          <a:xfrm xmlns:a="http://schemas.openxmlformats.org/drawingml/2006/main">
            <a:off x="609600" y="933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67085"/>
                </a:solidFill>
                <a:latin typeface="Microsoft YaHei"/>
                <a:ea typeface="Microsoft YaHei"/>
                <a:cs typeface="Microsoft YaHei"/>
              </a:defRPr>
            </a:pPr>
            <a:r>
              <a:rPr sz="1350" b="0">
                <a:solidFill>
                  <a:srgbClr val="667085"/>
                </a:solidFill>
                <a:latin typeface="Microsoft YaHei"/>
                <a:ea typeface="Microsoft YaHei"/>
                <a:cs typeface="Microsoft YaHei"/>
              </a:rPr>
              <a:t>总路程统计实际运动段；静止保持段不增加距离</a:t>
            </a:r>
          </a:p>
        </p:txBody>
      </p:sp>
      <p:sp>
        <p:nvSpPr>
          <p:cNvPr id="3" name="">
            <a:extLst xmlns:a="http://schemas.openxmlformats.org/drawingml/2006/main">
              <a:ext uri="{FF2B5EF4-FFF2-40B4-BE49-F238E27FC236}">
                <a16:creationId xmlns:a16="http://schemas.microsoft.com/office/drawing/2014/main" id="{B5FBCAFB-B7B6-4EC4-ADA5-8643C2FCC19A}"/>
              </a:ext>
            </a:extLst>
          </p:cNvPr>
          <p:cNvSpPr>
            <a:spLocks xmlns:a="http://schemas.openxmlformats.org/drawingml/2006/main" noGrp="1"/>
          </p:cNvSpPr>
          <p:nvPr/>
        </p:nvSpPr>
        <p:spPr>
          <a:xfrm xmlns:a="http://schemas.openxmlformats.org/drawingml/2006/main">
            <a:off x="609600" y="6524625"/>
            <a:ext cx="1009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Level 2C–5 综合报告  ·  历史数值及状态详见配套报告</a:t>
            </a:r>
          </a:p>
        </p:txBody>
      </p:sp>
      <p:sp>
        <p:nvSpPr>
          <p:cNvPr id="4" name="">
            <a:extLst xmlns:a="http://schemas.openxmlformats.org/drawingml/2006/main">
              <a:ext uri="{FF2B5EF4-FFF2-40B4-BE49-F238E27FC236}">
                <a16:creationId xmlns:a16="http://schemas.microsoft.com/office/drawing/2014/main" id="{F357D1DF-2EF6-4DD3-9E05-567F0925DBDB}"/>
              </a:ext>
            </a:extLst>
          </p:cNvPr>
          <p:cNvSpPr>
            <a:spLocks xmlns:a="http://schemas.openxmlformats.org/drawingml/2006/main" noGrp="1"/>
          </p:cNvSpPr>
          <p:nvPr/>
        </p:nvSpPr>
        <p:spPr>
          <a:xfrm xmlns:a="http://schemas.openxmlformats.org/drawingml/2006/main">
            <a:off x="11049000" y="65151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29</a:t>
            </a:r>
          </a:p>
        </p:txBody>
      </p:sp>
      <p:graphicFrame>
        <p:nvGraphicFramePr>
          <p:cNvPr id="14" name=""/>
          <p:cNvGraphicFramePr/>
          <p:nvPr/>
        </p:nvGraphicFramePr>
        <p:xfrm>
          <a:off xmlns:a="http://schemas.openxmlformats.org/drawingml/2006/main" x="609600" y="1628775"/>
          <a:ext xmlns:a="http://schemas.openxmlformats.org/drawingml/2006/main" cx="10972800" cy="3228975"/>
        </p:xfrm>
        <a:graphic xmlns:a="http://schemas.openxmlformats.org/drawingml/2006/main">
          <a:graphicData uri="http://schemas.openxmlformats.org/drawingml/2006/table">
            <a:tbl>
              <a:tblPr/>
              <a:tblGrid>
                <a:gridCol w="1981200"/>
                <a:gridCol w="4267200"/>
                <a:gridCol w="4724400"/>
              </a:tblGrid>
              <a:tr h="645795">
                <a:tc>
                  <a:txBody>
                    <a:bodyPr>
                      <a:noAutofit/>
                    </a:bodyPr>
                    <a:lstStyle/>
                    <a:p>
                      <a:r>
                        <a:rPr sz="1650" b="1">
                          <a:solidFill>
                            <a:srgbClr val="FFFFFF"/>
                          </a:solidFill>
                          <a:latin typeface="Microsoft YaHei"/>
                          <a:ea typeface="Microsoft YaHei"/>
                          <a:cs typeface="Microsoft YaHei"/>
                        </a:rPr>
                        <a:t>场景</a:t>
                      </a:r>
                    </a:p>
                  </a:txBody>
                  <a:tcPr marL="91440" marR="91440" marT="45720" marB="45720" anchor="ctr">
                    <a:solidFill>
                      <a:srgbClr val="102A43"/>
                    </a:solidFill>
                  </a:tcPr>
                </a:tc>
                <a:tc>
                  <a:txBody>
                    <a:bodyPr>
                      <a:noAutofit/>
                    </a:bodyPr>
                    <a:lstStyle/>
                    <a:p>
                      <a:r>
                        <a:rPr sz="1650" b="1">
                          <a:solidFill>
                            <a:srgbClr val="FFFFFF"/>
                          </a:solidFill>
                          <a:latin typeface="Microsoft YaHei"/>
                          <a:ea typeface="Microsoft YaHei"/>
                          <a:cs typeface="Microsoft YaHei"/>
                        </a:rPr>
                        <a:t>一次操作</a:t>
                      </a:r>
                    </a:p>
                  </a:txBody>
                  <a:tcPr marL="91440" marR="91440" marT="45720" marB="45720" anchor="ctr">
                    <a:solidFill>
                      <a:srgbClr val="102A43"/>
                    </a:solidFill>
                  </a:tcPr>
                </a:tc>
                <a:tc>
                  <a:txBody>
                    <a:bodyPr>
                      <a:noAutofit/>
                    </a:bodyPr>
                    <a:lstStyle/>
                    <a:p>
                      <a:r>
                        <a:rPr sz="1650" b="1">
                          <a:solidFill>
                            <a:srgbClr val="FFFFFF"/>
                          </a:solidFill>
                          <a:latin typeface="Microsoft YaHei"/>
                          <a:ea typeface="Microsoft YaHei"/>
                          <a:cs typeface="Microsoft YaHei"/>
                        </a:rPr>
                        <a:t>次数 / 累计路程</a:t>
                      </a:r>
                    </a:p>
                  </a:txBody>
                  <a:tcPr marL="91440" marR="91440" marT="45720" marB="45720" anchor="ctr">
                    <a:solidFill>
                      <a:srgbClr val="102A43"/>
                    </a:solidFill>
                  </a:tcPr>
                </a:tc>
              </a:tr>
              <a:tr h="645795">
                <a:tc>
                  <a:txBody>
                    <a:bodyPr>
                      <a:noAutofit/>
                    </a:bodyPr>
                    <a:lstStyle/>
                    <a:p>
                      <a:r>
                        <a:rPr sz="1650" b="0">
                          <a:solidFill>
                            <a:srgbClr val="344054"/>
                          </a:solidFill>
                          <a:latin typeface="Microsoft YaHei"/>
                          <a:ea typeface="Microsoft YaHei"/>
                          <a:cs typeface="Microsoft YaHei"/>
                        </a:rPr>
                        <a:t>Level 2C</a:t>
                      </a:r>
                    </a:p>
                  </a:txBody>
                  <a:tcPr marL="91440" marR="91440" marT="45720" marB="45720" anchor="ctr">
                    <a:solidFill>
                      <a:srgbClr val="FFFFFF"/>
                    </a:solidFill>
                  </a:tcPr>
                </a:tc>
                <a:tc>
                  <a:txBody>
                    <a:bodyPr>
                      <a:noAutofit/>
                    </a:bodyPr>
                    <a:lstStyle/>
                    <a:p>
                      <a:r>
                        <a:rPr sz="1650" b="0">
                          <a:solidFill>
                            <a:srgbClr val="344054"/>
                          </a:solidFill>
                          <a:latin typeface="Microsoft YaHei"/>
                          <a:ea typeface="Microsoft YaHei"/>
                          <a:cs typeface="Microsoft YaHei"/>
                        </a:rPr>
                        <a:t>2.4 μm 单程短转移</a:t>
                      </a:r>
                    </a:p>
                  </a:txBody>
                  <a:tcPr marL="91440" marR="91440" marT="45720" marB="45720" anchor="ctr">
                    <a:solidFill>
                      <a:srgbClr val="FFFFFF"/>
                    </a:solidFill>
                  </a:tcPr>
                </a:tc>
                <a:tc>
                  <a:txBody>
                    <a:bodyPr>
                      <a:noAutofit/>
                    </a:bodyPr>
                    <a:lstStyle/>
                    <a:p>
                      <a:r>
                        <a:rPr sz="1650" b="0">
                          <a:solidFill>
                            <a:srgbClr val="344054"/>
                          </a:solidFill>
                          <a:latin typeface="Microsoft YaHei"/>
                          <a:ea typeface="Microsoft YaHei"/>
                          <a:cs typeface="Microsoft YaHei"/>
                        </a:rPr>
                        <a:t>n=60：144 μm；30 次短往返</a:t>
                      </a:r>
                    </a:p>
                  </a:txBody>
                  <a:tcPr marL="91440" marR="91440" marT="45720" marB="45720" anchor="ctr">
                    <a:solidFill>
                      <a:srgbClr val="FFFFFF"/>
                    </a:solidFill>
                  </a:tcPr>
                </a:tc>
              </a:tr>
              <a:tr h="645795">
                <a:tc>
                  <a:txBody>
                    <a:bodyPr>
                      <a:noAutofit/>
                    </a:bodyPr>
                    <a:lstStyle/>
                    <a:p>
                      <a:r>
                        <a:rPr sz="1650" b="0">
                          <a:solidFill>
                            <a:srgbClr val="344054"/>
                          </a:solidFill>
                          <a:latin typeface="Microsoft YaHei"/>
                          <a:ea typeface="Microsoft YaHei"/>
                          <a:cs typeface="Microsoft YaHei"/>
                        </a:rPr>
                        <a:t>Level 3</a:t>
                      </a:r>
                    </a:p>
                  </a:txBody>
                  <a:tcPr marL="91440" marR="91440" marT="45720" marB="45720" anchor="ctr">
                    <a:solidFill>
                      <a:srgbClr val="F2F4F7"/>
                    </a:solidFill>
                  </a:tcPr>
                </a:tc>
                <a:tc>
                  <a:txBody>
                    <a:bodyPr>
                      <a:noAutofit/>
                    </a:bodyPr>
                    <a:lstStyle/>
                    <a:p>
                      <a:r>
                        <a:rPr sz="1650" b="0">
                          <a:solidFill>
                            <a:srgbClr val="344054"/>
                          </a:solidFill>
                          <a:latin typeface="Microsoft YaHei"/>
                          <a:ea typeface="Microsoft YaHei"/>
                          <a:cs typeface="Microsoft YaHei"/>
                        </a:rPr>
                        <a:t>一次长运输 270/510/610 μm</a:t>
                      </a:r>
                    </a:p>
                  </a:txBody>
                  <a:tcPr marL="91440" marR="91440" marT="45720" marB="45720" anchor="ctr">
                    <a:solidFill>
                      <a:srgbClr val="F2F4F7"/>
                    </a:solidFill>
                  </a:tcPr>
                </a:tc>
                <a:tc>
                  <a:txBody>
                    <a:bodyPr>
                      <a:noAutofit/>
                    </a:bodyPr>
                    <a:lstStyle/>
                    <a:p>
                      <a:r>
                        <a:rPr sz="1650" b="0">
                          <a:solidFill>
                            <a:srgbClr val="344054"/>
                          </a:solidFill>
                          <a:latin typeface="Microsoft YaHei"/>
                          <a:ea typeface="Microsoft YaHei"/>
                          <a:cs typeface="Microsoft YaHei"/>
                        </a:rPr>
                        <a:t>无默认重复往返</a:t>
                      </a:r>
                    </a:p>
                  </a:txBody>
                  <a:tcPr marL="91440" marR="91440" marT="45720" marB="45720" anchor="ctr">
                    <a:solidFill>
                      <a:srgbClr val="F2F4F7"/>
                    </a:solidFill>
                  </a:tcPr>
                </a:tc>
              </a:tr>
              <a:tr h="645795">
                <a:tc>
                  <a:txBody>
                    <a:bodyPr>
                      <a:noAutofit/>
                    </a:bodyPr>
                    <a:lstStyle/>
                    <a:p>
                      <a:r>
                        <a:rPr sz="1650" b="0">
                          <a:solidFill>
                            <a:srgbClr val="344054"/>
                          </a:solidFill>
                          <a:latin typeface="Microsoft YaHei"/>
                          <a:ea typeface="Microsoft YaHei"/>
                          <a:cs typeface="Microsoft YaHei"/>
                        </a:rPr>
                        <a:t>Level 4</a:t>
                      </a:r>
                    </a:p>
                  </a:txBody>
                  <a:tcPr marL="91440" marR="91440" marT="45720" marB="45720" anchor="ctr">
                    <a:solidFill>
                      <a:srgbClr val="FFFFFF"/>
                    </a:solidFill>
                  </a:tcPr>
                </a:tc>
                <a:tc>
                  <a:txBody>
                    <a:bodyPr>
                      <a:noAutofit/>
                    </a:bodyPr>
                    <a:lstStyle/>
                    <a:p>
                      <a:r>
                        <a:rPr sz="1650" b="0">
                          <a:solidFill>
                            <a:srgbClr val="344054"/>
                          </a:solidFill>
                          <a:latin typeface="Microsoft YaHei"/>
                          <a:ea typeface="Microsoft YaHei"/>
                          <a:cs typeface="Microsoft YaHei"/>
                        </a:rPr>
                        <a:t>2.4 + 375 + 375 + 2.4 μm</a:t>
                      </a:r>
                    </a:p>
                  </a:txBody>
                  <a:tcPr marL="91440" marR="91440" marT="45720" marB="45720" anchor="ctr">
                    <a:solidFill>
                      <a:srgbClr val="FFFFFF"/>
                    </a:solidFill>
                  </a:tcPr>
                </a:tc>
                <a:tc>
                  <a:txBody>
                    <a:bodyPr>
                      <a:noAutofit/>
                    </a:bodyPr>
                    <a:lstStyle/>
                    <a:p>
                      <a:r>
                        <a:rPr sz="1650" b="0">
                          <a:solidFill>
                            <a:srgbClr val="344054"/>
                          </a:solidFill>
                          <a:latin typeface="Microsoft YaHei"/>
                          <a:ea typeface="Microsoft YaHei"/>
                          <a:cs typeface="Microsoft YaHei"/>
                        </a:rPr>
                        <a:t>每轮 754.8 μm；默认 10/40 轮</a:t>
                      </a:r>
                    </a:p>
                  </a:txBody>
                  <a:tcPr marL="91440" marR="91440" marT="45720" marB="45720" anchor="ctr">
                    <a:solidFill>
                      <a:srgbClr val="FFFFFF"/>
                    </a:solidFill>
                  </a:tcPr>
                </a:tc>
              </a:tr>
              <a:tr h="645795">
                <a:tc>
                  <a:txBody>
                    <a:bodyPr>
                      <a:noAutofit/>
                    </a:bodyPr>
                    <a:lstStyle/>
                    <a:p>
                      <a:r>
                        <a:rPr sz="1650" b="0">
                          <a:solidFill>
                            <a:srgbClr val="344054"/>
                          </a:solidFill>
                          <a:latin typeface="Microsoft YaHei"/>
                          <a:ea typeface="Microsoft YaHei"/>
                          <a:cs typeface="Microsoft YaHei"/>
                        </a:rPr>
                        <a:t>Level 5 默认 M=60</a:t>
                      </a:r>
                    </a:p>
                  </a:txBody>
                  <a:tcPr marL="91440" marR="91440" marT="45720" marB="45720" anchor="ctr">
                    <a:solidFill>
                      <a:srgbClr val="F2F4F7"/>
                    </a:solidFill>
                  </a:tcPr>
                </a:tc>
                <a:tc>
                  <a:txBody>
                    <a:bodyPr>
                      <a:noAutofit/>
                    </a:bodyPr>
                    <a:lstStyle/>
                    <a:p>
                      <a:r>
                        <a:rPr sz="1650" b="0">
                          <a:solidFill>
                            <a:srgbClr val="344054"/>
                          </a:solidFill>
                          <a:latin typeface="Microsoft YaHei"/>
                          <a:ea typeface="Microsoft YaHei"/>
                          <a:cs typeface="Microsoft YaHei"/>
                        </a:rPr>
                        <a:t>60 个完整组合往返通道</a:t>
                      </a:r>
                    </a:p>
                  </a:txBody>
                  <a:tcPr marL="91440" marR="91440" marT="45720" marB="45720" anchor="ctr">
                    <a:solidFill>
                      <a:srgbClr val="F2F4F7"/>
                    </a:solidFill>
                  </a:tcPr>
                </a:tc>
                <a:tc>
                  <a:txBody>
                    <a:bodyPr>
                      <a:noAutofit/>
                    </a:bodyPr>
                    <a:lstStyle/>
                    <a:p>
                      <a:r>
                        <a:rPr sz="1650" b="0">
                          <a:solidFill>
                            <a:srgbClr val="344054"/>
                          </a:solidFill>
                          <a:latin typeface="Microsoft YaHei"/>
                          <a:ea typeface="Microsoft YaHei"/>
                          <a:cs typeface="Microsoft YaHei"/>
                        </a:rPr>
                        <a:t>45,288 μm = 45.288 mm</a:t>
                      </a:r>
                    </a:p>
                  </a:txBody>
                  <a:tcPr marL="91440" marR="91440" marT="45720" marB="45720" anchor="ctr">
                    <a:solidFill>
                      <a:srgbClr val="F2F4F7"/>
                    </a:solidFill>
                  </a:tcPr>
                </a:tc>
              </a:tr>
            </a:tbl>
          </a:graphicData>
        </a:graphic>
      </p:graphicFrame>
      <p:sp>
        <p:nvSpPr>
          <p:cNvPr id="6" name="">
            <a:extLst xmlns:a="http://schemas.openxmlformats.org/drawingml/2006/main">
              <a:ext uri="{FF2B5EF4-FFF2-40B4-BE49-F238E27FC236}">
                <a16:creationId xmlns:a16="http://schemas.microsoft.com/office/drawing/2014/main" id="{B88A9FBF-636E-49DA-96DD-FAF5E1F793B2}"/>
              </a:ext>
            </a:extLst>
          </p:cNvPr>
          <p:cNvSpPr>
            <a:spLocks xmlns:a="http://schemas.openxmlformats.org/drawingml/2006/main" noGrp="1"/>
          </p:cNvSpPr>
          <p:nvPr/>
        </p:nvSpPr>
        <p:spPr>
          <a:xfrm xmlns:a="http://schemas.openxmlformats.org/drawingml/2006/main">
            <a:off x="609600" y="51720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570EF"/>
                </a:solidFill>
                <a:latin typeface="Microsoft YaHei"/>
                <a:ea typeface="Microsoft YaHei"/>
                <a:cs typeface="Microsoft YaHei"/>
              </a:defRPr>
            </a:pPr>
            <a:r>
              <a:rPr sz="1950" b="1">
                <a:solidFill>
                  <a:srgbClr val="1570EF"/>
                </a:solidFill>
                <a:latin typeface="Microsoft YaHei"/>
                <a:ea typeface="Microsoft YaHei"/>
                <a:cs typeface="Microsoft YaHei"/>
              </a:rPr>
              <a:t>Level 4/5 的完整组合操作包含长距离运输段。</a:t>
            </a:r>
          </a:p>
        </p:txBody>
      </p:sp>
      <p:sp>
        <p:nvSpPr>
          <p:cNvPr id="7" name="">
            <a:extLst xmlns:a="http://schemas.openxmlformats.org/drawingml/2006/main">
              <a:ext uri="{FF2B5EF4-FFF2-40B4-BE49-F238E27FC236}">
                <a16:creationId xmlns:a16="http://schemas.microsoft.com/office/drawing/2014/main" id="{EFC4CC30-725D-4256-9E65-D2A71624E40C}"/>
              </a:ext>
            </a:extLst>
          </p:cNvPr>
          <p:cNvSpPr>
            <a:spLocks xmlns:a="http://schemas.openxmlformats.org/drawingml/2006/main" noGrp="1"/>
          </p:cNvSpPr>
          <p:nvPr/>
        </p:nvSpPr>
        <p:spPr>
          <a:xfrm xmlns:a="http://schemas.openxmlformats.org/drawingml/2006/main">
            <a:off x="609600" y="578167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344054"/>
                </a:solidFill>
                <a:latin typeface="Microsoft YaHei"/>
                <a:ea typeface="Microsoft YaHei"/>
                <a:cs typeface="Microsoft YaHei"/>
              </a:defRPr>
            </a:pPr>
            <a:r>
              <a:rPr sz="1650" b="0">
                <a:solidFill>
                  <a:srgbClr val="344054"/>
                </a:solidFill>
                <a:latin typeface="Microsoft YaHei"/>
                <a:ea typeface="Microsoft YaHei"/>
                <a:cs typeface="Microsoft YaHei"/>
              </a:rPr>
              <a:t>Level 5 的路程是操作定义的累计计数；它没有连续传播同一个经典原子 60 轮。</a:t>
            </a:r>
          </a:p>
        </p:txBody>
      </p:sp>
    </p:spTree>
    <p:extLst>
      <p:ext uri="{BB962C8B-B14F-4D97-AF65-F5344CB8AC3E}">
        <p14:creationId xmlns:p14="http://schemas.microsoft.com/office/powerpoint/2010/main" val="969627461"/>
      </p:ext>
    </p:extLst>
  </p:cSld>
</p:sld>
</file>

<file path=ppt/slides/slide3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B1EBBC7-6958-4AAC-B4F7-B6588A67C4D8}"/>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仓库统一入口与产物追溯</a:t>
            </a:r>
          </a:p>
        </p:txBody>
      </p:sp>
      <p:sp>
        <p:nvSpPr>
          <p:cNvPr id="2" name="">
            <a:extLst xmlns:a="http://schemas.openxmlformats.org/drawingml/2006/main">
              <a:ext uri="{FF2B5EF4-FFF2-40B4-BE49-F238E27FC236}">
                <a16:creationId xmlns:a16="http://schemas.microsoft.com/office/drawing/2014/main" id="{443DA087-D807-491A-AAFE-CD902BD63D81}"/>
              </a:ext>
            </a:extLst>
          </p:cNvPr>
          <p:cNvSpPr>
            <a:spLocks xmlns:a="http://schemas.openxmlformats.org/drawingml/2006/main" noGrp="1"/>
          </p:cNvSpPr>
          <p:nvPr/>
        </p:nvSpPr>
        <p:spPr>
          <a:xfrm xmlns:a="http://schemas.openxmlformats.org/drawingml/2006/main">
            <a:off x="609600" y="933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67085"/>
                </a:solidFill>
                <a:latin typeface="Microsoft YaHei"/>
                <a:ea typeface="Microsoft YaHei"/>
                <a:cs typeface="Microsoft YaHei"/>
              </a:defRPr>
            </a:pPr>
            <a:r>
              <a:rPr sz="1350" b="0">
                <a:solidFill>
                  <a:srgbClr val="667085"/>
                </a:solidFill>
                <a:latin typeface="Microsoft YaHei"/>
                <a:ea typeface="Microsoft YaHei"/>
                <a:cs typeface="Microsoft YaHei"/>
              </a:rPr>
              <a:t>从仓库根目录运行，仍由各层级原 CLI 执行其物理模型</a:t>
            </a:r>
          </a:p>
        </p:txBody>
      </p:sp>
      <p:sp>
        <p:nvSpPr>
          <p:cNvPr id="3" name="">
            <a:extLst xmlns:a="http://schemas.openxmlformats.org/drawingml/2006/main">
              <a:ext uri="{FF2B5EF4-FFF2-40B4-BE49-F238E27FC236}">
                <a16:creationId xmlns:a16="http://schemas.microsoft.com/office/drawing/2014/main" id="{B3B259DD-A14C-49D9-8307-64634FA24E58}"/>
              </a:ext>
            </a:extLst>
          </p:cNvPr>
          <p:cNvSpPr>
            <a:spLocks xmlns:a="http://schemas.openxmlformats.org/drawingml/2006/main" noGrp="1"/>
          </p:cNvSpPr>
          <p:nvPr/>
        </p:nvSpPr>
        <p:spPr>
          <a:xfrm xmlns:a="http://schemas.openxmlformats.org/drawingml/2006/main">
            <a:off x="609600" y="6524625"/>
            <a:ext cx="1009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Level 2C–5 综合报告  ·  历史数值及状态详见配套报告</a:t>
            </a:r>
          </a:p>
        </p:txBody>
      </p:sp>
      <p:sp>
        <p:nvSpPr>
          <p:cNvPr id="4" name="">
            <a:extLst xmlns:a="http://schemas.openxmlformats.org/drawingml/2006/main">
              <a:ext uri="{FF2B5EF4-FFF2-40B4-BE49-F238E27FC236}">
                <a16:creationId xmlns:a16="http://schemas.microsoft.com/office/drawing/2014/main" id="{A538EB84-5E15-4FC4-8CB0-84791995CDDB}"/>
              </a:ext>
            </a:extLst>
          </p:cNvPr>
          <p:cNvSpPr>
            <a:spLocks xmlns:a="http://schemas.openxmlformats.org/drawingml/2006/main" noGrp="1"/>
          </p:cNvSpPr>
          <p:nvPr/>
        </p:nvSpPr>
        <p:spPr>
          <a:xfrm xmlns:a="http://schemas.openxmlformats.org/drawingml/2006/main">
            <a:off x="11049000" y="65151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30</a:t>
            </a:r>
          </a:p>
        </p:txBody>
      </p:sp>
      <p:graphicFrame>
        <p:nvGraphicFramePr>
          <p:cNvPr id="14" name=""/>
          <p:cNvGraphicFramePr/>
          <p:nvPr/>
        </p:nvGraphicFramePr>
        <p:xfrm>
          <a:off xmlns:a="http://schemas.openxmlformats.org/drawingml/2006/main" x="609600" y="1628775"/>
          <a:ext xmlns:a="http://schemas.openxmlformats.org/drawingml/2006/main" cx="10972800" cy="3248025"/>
        </p:xfrm>
        <a:graphic xmlns:a="http://schemas.openxmlformats.org/drawingml/2006/main">
          <a:graphicData uri="http://schemas.openxmlformats.org/drawingml/2006/table">
            <a:tbl>
              <a:tblPr/>
              <a:tblGrid>
                <a:gridCol w="6343650"/>
                <a:gridCol w="4629150"/>
              </a:tblGrid>
              <a:tr h="541338">
                <a:tc>
                  <a:txBody>
                    <a:bodyPr>
                      <a:noAutofit/>
                    </a:bodyPr>
                    <a:lstStyle/>
                    <a:p>
                      <a:r>
                        <a:rPr sz="1425" b="1">
                          <a:solidFill>
                            <a:srgbClr val="FFFFFF"/>
                          </a:solidFill>
                          <a:latin typeface="Microsoft YaHei"/>
                          <a:ea typeface="Microsoft YaHei"/>
                          <a:cs typeface="Microsoft YaHei"/>
                        </a:rPr>
                        <a:t>命令</a:t>
                      </a:r>
                    </a:p>
                  </a:txBody>
                  <a:tcPr marL="91440" marR="91440" marT="45720" marB="45720" anchor="ctr">
                    <a:solidFill>
                      <a:srgbClr val="102A43"/>
                    </a:solidFill>
                  </a:tcPr>
                </a:tc>
                <a:tc>
                  <a:txBody>
                    <a:bodyPr>
                      <a:noAutofit/>
                    </a:bodyPr>
                    <a:lstStyle/>
                    <a:p>
                      <a:r>
                        <a:rPr sz="1425" b="1">
                          <a:solidFill>
                            <a:srgbClr val="FFFFFF"/>
                          </a:solidFill>
                          <a:latin typeface="Microsoft YaHei"/>
                          <a:ea typeface="Microsoft YaHei"/>
                          <a:cs typeface="Microsoft YaHei"/>
                        </a:rPr>
                        <a:t>用途</a:t>
                      </a:r>
                    </a:p>
                  </a:txBody>
                  <a:tcPr marL="91440" marR="91440" marT="45720" marB="45720" anchor="ctr">
                    <a:solidFill>
                      <a:srgbClr val="102A43"/>
                    </a:solidFill>
                  </a:tcPr>
                </a:tc>
              </a:tr>
              <a:tr h="541338">
                <a:tc>
                  <a:txBody>
                    <a:bodyPr>
                      <a:noAutofit/>
                    </a:bodyPr>
                    <a:lstStyle/>
                    <a:p>
                      <a:r>
                        <a:rPr sz="1425" b="0">
                          <a:solidFill>
                            <a:srgbClr val="344054"/>
                          </a:solidFill>
                          <a:latin typeface="Microsoft YaHei"/>
                          <a:ea typeface="Microsoft YaHei"/>
                          <a:cs typeface="Microsoft YaHei"/>
                        </a:rPr>
                        <a:t>python run_simulation.py list</a:t>
                      </a:r>
                    </a:p>
                  </a:txBody>
                  <a:tcPr marL="91440" marR="91440" marT="45720" marB="45720" anchor="ctr">
                    <a:solidFill>
                      <a:srgbClr val="FFFFFF"/>
                    </a:solidFill>
                  </a:tcPr>
                </a:tc>
                <a:tc>
                  <a:txBody>
                    <a:bodyPr>
                      <a:noAutofit/>
                    </a:bodyPr>
                    <a:lstStyle/>
                    <a:p>
                      <a:r>
                        <a:rPr sz="1425" b="0">
                          <a:solidFill>
                            <a:srgbClr val="344054"/>
                          </a:solidFill>
                          <a:latin typeface="Microsoft YaHei"/>
                          <a:ea typeface="Microsoft YaHei"/>
                          <a:cs typeface="Microsoft YaHei"/>
                        </a:rPr>
                        <a:t>查看层级、操作单位和依赖</a:t>
                      </a:r>
                    </a:p>
                  </a:txBody>
                  <a:tcPr marL="91440" marR="91440" marT="45720" marB="45720" anchor="ctr">
                    <a:solidFill>
                      <a:srgbClr val="FFFFFF"/>
                    </a:solidFill>
                  </a:tcPr>
                </a:tc>
              </a:tr>
              <a:tr h="541338">
                <a:tc>
                  <a:txBody>
                    <a:bodyPr>
                      <a:noAutofit/>
                    </a:bodyPr>
                    <a:lstStyle/>
                    <a:p>
                      <a:r>
                        <a:rPr sz="1425" b="0">
                          <a:solidFill>
                            <a:srgbClr val="344054"/>
                          </a:solidFill>
                          <a:latin typeface="Microsoft YaHei"/>
                          <a:ea typeface="Microsoft YaHei"/>
                          <a:cs typeface="Microsoft YaHei"/>
                        </a:rPr>
                        <a:t>python run_simulation.py check --json</a:t>
                      </a:r>
                    </a:p>
                  </a:txBody>
                  <a:tcPr marL="91440" marR="91440" marT="45720" marB="45720" anchor="ctr">
                    <a:solidFill>
                      <a:srgbClr val="F2F4F7"/>
                    </a:solidFill>
                  </a:tcPr>
                </a:tc>
                <a:tc>
                  <a:txBody>
                    <a:bodyPr>
                      <a:noAutofit/>
                    </a:bodyPr>
                    <a:lstStyle/>
                    <a:p>
                      <a:r>
                        <a:rPr sz="1425" b="0">
                          <a:solidFill>
                            <a:srgbClr val="344054"/>
                          </a:solidFill>
                          <a:latin typeface="Microsoft YaHei"/>
                          <a:ea typeface="Microsoft YaHei"/>
                          <a:cs typeface="Microsoft YaHei"/>
                        </a:rPr>
                        <a:t>检查源文件 / 配置 / 历史指标，并输出 SHA-256</a:t>
                      </a:r>
                    </a:p>
                  </a:txBody>
                  <a:tcPr marL="91440" marR="91440" marT="45720" marB="45720" anchor="ctr">
                    <a:solidFill>
                      <a:srgbClr val="F2F4F7"/>
                    </a:solidFill>
                  </a:tcPr>
                </a:tc>
              </a:tr>
              <a:tr h="541338">
                <a:tc>
                  <a:txBody>
                    <a:bodyPr>
                      <a:noAutofit/>
                    </a:bodyPr>
                    <a:lstStyle/>
                    <a:p>
                      <a:r>
                        <a:rPr sz="1425" b="0">
                          <a:solidFill>
                            <a:srgbClr val="344054"/>
                          </a:solidFill>
                          <a:latin typeface="Microsoft YaHei"/>
                          <a:ea typeface="Microsoft YaHei"/>
                          <a:cs typeface="Microsoft YaHei"/>
                        </a:rPr>
                        <a:t>python run_simulation.py run 3 --stage preflight</a:t>
                      </a:r>
                    </a:p>
                  </a:txBody>
                  <a:tcPr marL="91440" marR="91440" marT="45720" marB="45720" anchor="ctr">
                    <a:solidFill>
                      <a:srgbClr val="FFFFFF"/>
                    </a:solidFill>
                  </a:tcPr>
                </a:tc>
                <a:tc>
                  <a:txBody>
                    <a:bodyPr>
                      <a:noAutofit/>
                    </a:bodyPr>
                    <a:lstStyle/>
                    <a:p>
                      <a:r>
                        <a:rPr sz="1425" b="0">
                          <a:solidFill>
                            <a:srgbClr val="344054"/>
                          </a:solidFill>
                          <a:latin typeface="Microsoft YaHei"/>
                          <a:ea typeface="Microsoft YaHei"/>
                          <a:cs typeface="Microsoft YaHei"/>
                        </a:rPr>
                        <a:t>Level 3 数值预检查</a:t>
                      </a:r>
                    </a:p>
                  </a:txBody>
                  <a:tcPr marL="91440" marR="91440" marT="45720" marB="45720" anchor="ctr">
                    <a:solidFill>
                      <a:srgbClr val="FFFFFF"/>
                    </a:solidFill>
                  </a:tcPr>
                </a:tc>
              </a:tr>
              <a:tr h="541338">
                <a:tc>
                  <a:txBody>
                    <a:bodyPr>
                      <a:noAutofit/>
                    </a:bodyPr>
                    <a:lstStyle/>
                    <a:p>
                      <a:r>
                        <a:rPr sz="1425" b="0">
                          <a:solidFill>
                            <a:srgbClr val="344054"/>
                          </a:solidFill>
                          <a:latin typeface="Microsoft YaHei"/>
                          <a:ea typeface="Microsoft YaHei"/>
                          <a:cs typeface="Microsoft YaHei"/>
                        </a:rPr>
                        <a:t>python run_simulation.py run 4 --stage single_round</a:t>
                      </a:r>
                    </a:p>
                  </a:txBody>
                  <a:tcPr marL="91440" marR="91440" marT="45720" marB="45720" anchor="ctr">
                    <a:solidFill>
                      <a:srgbClr val="F2F4F7"/>
                    </a:solidFill>
                  </a:tcPr>
                </a:tc>
                <a:tc>
                  <a:txBody>
                    <a:bodyPr>
                      <a:noAutofit/>
                    </a:bodyPr>
                    <a:lstStyle/>
                    <a:p>
                      <a:r>
                        <a:rPr sz="1425" b="0">
                          <a:solidFill>
                            <a:srgbClr val="344054"/>
                          </a:solidFill>
                          <a:latin typeface="Microsoft YaHei"/>
                          <a:ea typeface="Microsoft YaHei"/>
                          <a:cs typeface="Microsoft YaHei"/>
                        </a:rPr>
                        <a:t>Level 4 单轮阶段</a:t>
                      </a:r>
                    </a:p>
                  </a:txBody>
                  <a:tcPr marL="91440" marR="91440" marT="45720" marB="45720" anchor="ctr">
                    <a:solidFill>
                      <a:srgbClr val="F2F4F7"/>
                    </a:solidFill>
                  </a:tcPr>
                </a:tc>
              </a:tr>
              <a:tr h="541338">
                <a:tc>
                  <a:txBody>
                    <a:bodyPr>
                      <a:noAutofit/>
                    </a:bodyPr>
                    <a:lstStyle/>
                    <a:p>
                      <a:r>
                        <a:rPr sz="1425" b="0">
                          <a:solidFill>
                            <a:srgbClr val="344054"/>
                          </a:solidFill>
                          <a:latin typeface="Microsoft YaHei"/>
                          <a:ea typeface="Microsoft YaHei"/>
                          <a:cs typeface="Microsoft YaHei"/>
                        </a:rPr>
                        <a:t>python run_simulation.py run 5 --stage preflight</a:t>
                      </a:r>
                    </a:p>
                  </a:txBody>
                  <a:tcPr marL="91440" marR="91440" marT="45720" marB="45720" anchor="ctr">
                    <a:solidFill>
                      <a:srgbClr val="FFFFFF"/>
                    </a:solidFill>
                  </a:tcPr>
                </a:tc>
                <a:tc>
                  <a:txBody>
                    <a:bodyPr>
                      <a:noAutofit/>
                    </a:bodyPr>
                    <a:lstStyle/>
                    <a:p>
                      <a:r>
                        <a:rPr sz="1425" b="0">
                          <a:solidFill>
                            <a:srgbClr val="344054"/>
                          </a:solidFill>
                          <a:latin typeface="Microsoft YaHei"/>
                          <a:ea typeface="Microsoft YaHei"/>
                          <a:cs typeface="Microsoft YaHei"/>
                        </a:rPr>
                        <a:t>Level 5 预检查与轨迹池准备</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8DC2B7D-B0E1-4367-9361-0A2512A6F115}"/>
              </a:ext>
            </a:extLst>
          </p:cNvPr>
          <p:cNvSpPr>
            <a:spLocks xmlns:a="http://schemas.openxmlformats.org/drawingml/2006/main" noGrp="1"/>
          </p:cNvSpPr>
          <p:nvPr/>
        </p:nvSpPr>
        <p:spPr>
          <a:xfrm xmlns:a="http://schemas.openxmlformats.org/drawingml/2006/main">
            <a:off x="609600" y="51720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570EF"/>
                </a:solidFill>
                <a:latin typeface="Microsoft YaHei"/>
                <a:ea typeface="Microsoft YaHei"/>
                <a:cs typeface="Microsoft YaHei"/>
              </a:defRPr>
            </a:pPr>
            <a:r>
              <a:rPr sz="1725" b="1">
                <a:solidFill>
                  <a:srgbClr val="1570EF"/>
                </a:solidFill>
                <a:latin typeface="Microsoft YaHei"/>
                <a:ea typeface="Microsoft YaHei"/>
                <a:cs typeface="Microsoft YaHei"/>
              </a:rPr>
              <a:t>默认写入新目录；分阶段续跑需显式指定同一个 --output-dir。</a:t>
            </a:r>
          </a:p>
        </p:txBody>
      </p:sp>
      <p:sp>
        <p:nvSpPr>
          <p:cNvPr id="7" name="">
            <a:extLst xmlns:a="http://schemas.openxmlformats.org/drawingml/2006/main">
              <a:ext uri="{FF2B5EF4-FFF2-40B4-BE49-F238E27FC236}">
                <a16:creationId xmlns:a16="http://schemas.microsoft.com/office/drawing/2014/main" id="{CFC7C2BE-690F-4A56-9EC6-B9828A86C077}"/>
              </a:ext>
            </a:extLst>
          </p:cNvPr>
          <p:cNvSpPr>
            <a:spLocks xmlns:a="http://schemas.openxmlformats.org/drawingml/2006/main" noGrp="1"/>
          </p:cNvSpPr>
          <p:nvPr/>
        </p:nvSpPr>
        <p:spPr>
          <a:xfrm xmlns:a="http://schemas.openxmlformats.org/drawingml/2006/main">
            <a:off x="609600" y="579120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344054"/>
                </a:solidFill>
                <a:latin typeface="Microsoft YaHei"/>
                <a:ea typeface="Microsoft YaHei"/>
                <a:cs typeface="Microsoft YaHei"/>
              </a:defRPr>
            </a:pPr>
            <a:r>
              <a:rPr sz="1575" b="0">
                <a:solidFill>
                  <a:srgbClr val="344054"/>
                </a:solidFill>
                <a:latin typeface="Microsoft YaHei"/>
                <a:ea typeface="Microsoft YaHei"/>
                <a:cs typeface="Microsoft YaHei"/>
              </a:rPr>
              <a:t>新上游结果需在配置中明确路径；自动发现不保证选中最新目录。--dry-run 只显示命令。</a:t>
            </a:r>
          </a:p>
        </p:txBody>
      </p:sp>
    </p:spTree>
    <p:extLst>
      <p:ext uri="{BB962C8B-B14F-4D97-AF65-F5344CB8AC3E}">
        <p14:creationId xmlns:p14="http://schemas.microsoft.com/office/powerpoint/2010/main" val="1046747508"/>
      </p:ext>
    </p:extLst>
  </p:cSld>
</p:sld>
</file>

<file path=ppt/slides/slide3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EED320D-4B79-43F4-A7C7-B4A4111B678E}"/>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v9 代码修复与验证记录</a:t>
            </a:r>
          </a:p>
        </p:txBody>
      </p:sp>
      <p:sp>
        <p:nvSpPr>
          <p:cNvPr id="2" name="">
            <a:extLst xmlns:a="http://schemas.openxmlformats.org/drawingml/2006/main">
              <a:ext uri="{FF2B5EF4-FFF2-40B4-BE49-F238E27FC236}">
                <a16:creationId xmlns:a16="http://schemas.microsoft.com/office/drawing/2014/main" id="{326E73E0-60B1-4CC6-B483-77F0984303E4}"/>
              </a:ext>
            </a:extLst>
          </p:cNvPr>
          <p:cNvSpPr>
            <a:spLocks xmlns:a="http://schemas.openxmlformats.org/drawingml/2006/main" noGrp="1"/>
          </p:cNvSpPr>
          <p:nvPr/>
        </p:nvSpPr>
        <p:spPr>
          <a:xfrm xmlns:a="http://schemas.openxmlformats.org/drawingml/2006/main">
            <a:off x="609600" y="933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67085"/>
                </a:solidFill>
                <a:latin typeface="Microsoft YaHei"/>
                <a:ea typeface="Microsoft YaHei"/>
                <a:cs typeface="Microsoft YaHei"/>
              </a:defRPr>
            </a:pPr>
            <a:r>
              <a:rPr sz="1350" b="0">
                <a:solidFill>
                  <a:srgbClr val="667085"/>
                </a:solidFill>
                <a:latin typeface="Microsoft YaHei"/>
                <a:ea typeface="Microsoft YaHei"/>
                <a:cs typeface="Microsoft YaHei"/>
              </a:rPr>
              <a:t>单元测试证明指定行为，不能代替正式规模重跑或实验校准</a:t>
            </a:r>
          </a:p>
        </p:txBody>
      </p:sp>
      <p:sp>
        <p:nvSpPr>
          <p:cNvPr id="3" name="">
            <a:extLst xmlns:a="http://schemas.openxmlformats.org/drawingml/2006/main">
              <a:ext uri="{FF2B5EF4-FFF2-40B4-BE49-F238E27FC236}">
                <a16:creationId xmlns:a16="http://schemas.microsoft.com/office/drawing/2014/main" id="{F82262FF-2A46-4F5A-ADAB-92B913E483D8}"/>
              </a:ext>
            </a:extLst>
          </p:cNvPr>
          <p:cNvSpPr>
            <a:spLocks xmlns:a="http://schemas.openxmlformats.org/drawingml/2006/main" noGrp="1"/>
          </p:cNvSpPr>
          <p:nvPr/>
        </p:nvSpPr>
        <p:spPr>
          <a:xfrm xmlns:a="http://schemas.openxmlformats.org/drawingml/2006/main">
            <a:off x="609600" y="6524625"/>
            <a:ext cx="1009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Level 2C–5 综合报告  ·  历史数值及状态详见配套报告</a:t>
            </a:r>
          </a:p>
        </p:txBody>
      </p:sp>
      <p:sp>
        <p:nvSpPr>
          <p:cNvPr id="4" name="">
            <a:extLst xmlns:a="http://schemas.openxmlformats.org/drawingml/2006/main">
              <a:ext uri="{FF2B5EF4-FFF2-40B4-BE49-F238E27FC236}">
                <a16:creationId xmlns:a16="http://schemas.microsoft.com/office/drawing/2014/main" id="{786CEF5B-B256-4E20-A237-5ECA92038BA9}"/>
              </a:ext>
            </a:extLst>
          </p:cNvPr>
          <p:cNvSpPr>
            <a:spLocks xmlns:a="http://schemas.openxmlformats.org/drawingml/2006/main" noGrp="1"/>
          </p:cNvSpPr>
          <p:nvPr/>
        </p:nvSpPr>
        <p:spPr>
          <a:xfrm xmlns:a="http://schemas.openxmlformats.org/drawingml/2006/main">
            <a:off x="11049000" y="65151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31</a:t>
            </a:r>
          </a:p>
        </p:txBody>
      </p:sp>
      <p:graphicFrame>
        <p:nvGraphicFramePr>
          <p:cNvPr id="14" name=""/>
          <p:cNvGraphicFramePr/>
          <p:nvPr/>
        </p:nvGraphicFramePr>
        <p:xfrm>
          <a:off xmlns:a="http://schemas.openxmlformats.org/drawingml/2006/main" x="609600" y="1609725"/>
          <a:ext xmlns:a="http://schemas.openxmlformats.org/drawingml/2006/main" cx="10972800" cy="3495675"/>
        </p:xfrm>
        <a:graphic xmlns:a="http://schemas.openxmlformats.org/drawingml/2006/main">
          <a:graphicData uri="http://schemas.openxmlformats.org/drawingml/2006/table">
            <a:tbl>
              <a:tblPr/>
              <a:tblGrid>
                <a:gridCol w="3657600"/>
                <a:gridCol w="7315200"/>
              </a:tblGrid>
              <a:tr h="499382">
                <a:tc>
                  <a:txBody>
                    <a:bodyPr>
                      <a:noAutofit/>
                    </a:bodyPr>
                    <a:lstStyle/>
                    <a:p>
                      <a:r>
                        <a:rPr sz="1575" b="1">
                          <a:solidFill>
                            <a:srgbClr val="FFFFFF"/>
                          </a:solidFill>
                          <a:latin typeface="Microsoft YaHei"/>
                          <a:ea typeface="Microsoft YaHei"/>
                          <a:cs typeface="Microsoft YaHei"/>
                        </a:rPr>
                        <a:t>修复 / 验证项</a:t>
                      </a:r>
                    </a:p>
                  </a:txBody>
                  <a:tcPr marL="91440" marR="91440" marT="45720" marB="45720" anchor="ctr">
                    <a:solidFill>
                      <a:srgbClr val="102A43"/>
                    </a:solidFill>
                  </a:tcPr>
                </a:tc>
                <a:tc>
                  <a:txBody>
                    <a:bodyPr>
                      <a:noAutofit/>
                    </a:bodyPr>
                    <a:lstStyle/>
                    <a:p>
                      <a:r>
                        <a:rPr sz="1575" b="1">
                          <a:solidFill>
                            <a:srgbClr val="FFFFFF"/>
                          </a:solidFill>
                          <a:latin typeface="Microsoft YaHei"/>
                          <a:ea typeface="Microsoft YaHei"/>
                          <a:cs typeface="Microsoft YaHei"/>
                        </a:rPr>
                        <a:t>结果</a:t>
                      </a:r>
                    </a:p>
                  </a:txBody>
                  <a:tcPr marL="91440" marR="91440" marT="45720" marB="45720" anchor="ctr">
                    <a:solidFill>
                      <a:srgbClr val="102A43"/>
                    </a:solidFill>
                  </a:tcPr>
                </a:tc>
              </a:tr>
              <a:tr h="499382">
                <a:tc>
                  <a:txBody>
                    <a:bodyPr>
                      <a:noAutofit/>
                    </a:bodyPr>
                    <a:lstStyle/>
                    <a:p>
                      <a:r>
                        <a:rPr sz="1575" b="0">
                          <a:solidFill>
                            <a:srgbClr val="344054"/>
                          </a:solidFill>
                          <a:latin typeface="Microsoft YaHei"/>
                          <a:ea typeface="Microsoft YaHei"/>
                          <a:cs typeface="Microsoft YaHei"/>
                        </a:rPr>
                        <a:t>多站点移动索引</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sequence × n_sites + site，逐站点唯一更新</a:t>
                      </a:r>
                    </a:p>
                  </a:txBody>
                  <a:tcPr marL="91440" marR="91440" marT="45720" marB="45720" anchor="ctr">
                    <a:solidFill>
                      <a:srgbClr val="FFFFFF"/>
                    </a:solidFill>
                  </a:tcPr>
                </a:tc>
              </a:tr>
              <a:tr h="499382">
                <a:tc>
                  <a:txBody>
                    <a:bodyPr>
                      <a:noAutofit/>
                    </a:bodyPr>
                    <a:lstStyle/>
                    <a:p>
                      <a:r>
                        <a:rPr sz="1575" b="0">
                          <a:solidFill>
                            <a:srgbClr val="344054"/>
                          </a:solidFill>
                          <a:latin typeface="Microsoft YaHei"/>
                          <a:ea typeface="Microsoft YaHei"/>
                          <a:cs typeface="Microsoft YaHei"/>
                        </a:rPr>
                        <a:t>插入移动后的时间</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将 move 总时长计入后续门的回放时间</a:t>
                      </a:r>
                    </a:p>
                  </a:txBody>
                  <a:tcPr marL="91440" marR="91440" marT="45720" marB="45720" anchor="ctr">
                    <a:solidFill>
                      <a:srgbClr val="F2F4F7"/>
                    </a:solidFill>
                  </a:tcPr>
                </a:tc>
              </a:tr>
              <a:tr h="499382">
                <a:tc>
                  <a:txBody>
                    <a:bodyPr>
                      <a:noAutofit/>
                    </a:bodyPr>
                    <a:lstStyle/>
                    <a:p>
                      <a:r>
                        <a:rPr sz="1575" b="0">
                          <a:solidFill>
                            <a:srgbClr val="344054"/>
                          </a:solidFill>
                          <a:latin typeface="Microsoft YaHei"/>
                          <a:ea typeface="Microsoft YaHei"/>
                          <a:cs typeface="Microsoft YaHei"/>
                        </a:rPr>
                        <a:t>IRB 公式适用性</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固定 N 的 M 扫描不输出标准比值保真度</a:t>
                      </a:r>
                    </a:p>
                  </a:txBody>
                  <a:tcPr marL="91440" marR="91440" marT="45720" marB="45720" anchor="ctr">
                    <a:solidFill>
                      <a:srgbClr val="FFFFFF"/>
                    </a:solidFill>
                  </a:tcPr>
                </a:tc>
              </a:tr>
              <a:tr h="499382">
                <a:tc>
                  <a:txBody>
                    <a:bodyPr>
                      <a:noAutofit/>
                    </a:bodyPr>
                    <a:lstStyle/>
                    <a:p>
                      <a:r>
                        <a:rPr sz="1575" b="0">
                          <a:solidFill>
                            <a:srgbClr val="344054"/>
                          </a:solidFill>
                          <a:latin typeface="Microsoft YaHei"/>
                          <a:ea typeface="Microsoft YaHei"/>
                          <a:cs typeface="Microsoft YaHei"/>
                        </a:rPr>
                        <a:t>解析回归</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1/3/47 站点；M=0/1/2/60；状态、吸收损失、耗时</a:t>
                      </a:r>
                    </a:p>
                  </a:txBody>
                  <a:tcPr marL="91440" marR="91440" marT="45720" marB="45720" anchor="ctr">
                    <a:solidFill>
                      <a:srgbClr val="F2F4F7"/>
                    </a:solidFill>
                  </a:tcPr>
                </a:tc>
              </a:tr>
              <a:tr h="499382">
                <a:tc>
                  <a:txBody>
                    <a:bodyPr>
                      <a:noAutofit/>
                    </a:bodyPr>
                    <a:lstStyle/>
                    <a:p>
                      <a:r>
                        <a:rPr sz="1575" b="0">
                          <a:solidFill>
                            <a:srgbClr val="344054"/>
                          </a:solidFill>
                          <a:latin typeface="Microsoft YaHei"/>
                          <a:ea typeface="Microsoft YaHei"/>
                          <a:cs typeface="Microsoft YaHei"/>
                        </a:rPr>
                        <a:t>模型与新增回归</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89 项通过；8 项慢速 / CLI / preflight 未运行</a:t>
                      </a:r>
                    </a:p>
                  </a:txBody>
                  <a:tcPr marL="91440" marR="91440" marT="45720" marB="45720" anchor="ctr">
                    <a:solidFill>
                      <a:srgbClr val="FFFFFF"/>
                    </a:solidFill>
                  </a:tcPr>
                </a:tc>
              </a:tr>
              <a:tr h="499382">
                <a:tc>
                  <a:txBody>
                    <a:bodyPr>
                      <a:noAutofit/>
                    </a:bodyPr>
                    <a:lstStyle/>
                    <a:p>
                      <a:r>
                        <a:rPr sz="1575" b="0">
                          <a:solidFill>
                            <a:srgbClr val="344054"/>
                          </a:solidFill>
                          <a:latin typeface="Microsoft YaHei"/>
                          <a:ea typeface="Microsoft YaHei"/>
                          <a:cs typeface="Microsoft YaHei"/>
                        </a:rPr>
                        <a:t>统一入口</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6 项通过；本轮合计 95 项测试通过</a:t>
                      </a:r>
                    </a:p>
                  </a:txBody>
                  <a:tcPr marL="91440" marR="91440" marT="45720" marB="45720" anchor="ctr">
                    <a:solidFill>
                      <a:srgbClr val="F2F4F7"/>
                    </a:solidFill>
                  </a:tcPr>
                </a:tc>
              </a:tr>
            </a:tbl>
          </a:graphicData>
        </a:graphic>
      </p:graphicFrame>
      <p:sp>
        <p:nvSpPr>
          <p:cNvPr id="6" name="">
            <a:extLst xmlns:a="http://schemas.openxmlformats.org/drawingml/2006/main">
              <a:ext uri="{FF2B5EF4-FFF2-40B4-BE49-F238E27FC236}">
                <a16:creationId xmlns:a16="http://schemas.microsoft.com/office/drawing/2014/main" id="{FD645DFC-CB0F-4201-A696-44762A875220}"/>
              </a:ext>
            </a:extLst>
          </p:cNvPr>
          <p:cNvSpPr>
            <a:spLocks xmlns:a="http://schemas.openxmlformats.org/drawingml/2006/main" noGrp="1"/>
          </p:cNvSpPr>
          <p:nvPr/>
        </p:nvSpPr>
        <p:spPr>
          <a:xfrm xmlns:a="http://schemas.openxmlformats.org/drawingml/2006/main">
            <a:off x="609600" y="544830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1570EF"/>
                </a:solidFill>
                <a:latin typeface="Microsoft YaHei"/>
                <a:ea typeface="Microsoft YaHei"/>
                <a:cs typeface="Microsoft YaHei"/>
              </a:defRPr>
            </a:pPr>
            <a:r>
              <a:rPr sz="1875" b="1">
                <a:solidFill>
                  <a:srgbClr val="1570EF"/>
                </a:solidFill>
                <a:latin typeface="Microsoft YaHei"/>
                <a:ea typeface="Microsoft YaHei"/>
                <a:cs typeface="Microsoft YaHei"/>
              </a:rPr>
              <a:t>此页为 v9 记录。新增 full 计算与 4096-shot 复核见后续页。</a:t>
            </a:r>
          </a:p>
        </p:txBody>
      </p:sp>
      <p:sp>
        <p:nvSpPr>
          <p:cNvPr id="7" name="">
            <a:extLst xmlns:a="http://schemas.openxmlformats.org/drawingml/2006/main">
              <a:ext uri="{FF2B5EF4-FFF2-40B4-BE49-F238E27FC236}">
                <a16:creationId xmlns:a16="http://schemas.microsoft.com/office/drawing/2014/main" id="{FF9CE4B7-1260-4D9D-AC53-096EF9EDF1F4}"/>
              </a:ext>
            </a:extLst>
          </p:cNvPr>
          <p:cNvSpPr>
            <a:spLocks xmlns:a="http://schemas.openxmlformats.org/drawingml/2006/main" noGrp="1"/>
          </p:cNvSpPr>
          <p:nvPr/>
        </p:nvSpPr>
        <p:spPr>
          <a:xfrm xmlns:a="http://schemas.openxmlformats.org/drawingml/2006/main">
            <a:off x="609600" y="5991225"/>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344054"/>
                </a:solidFill>
                <a:latin typeface="Microsoft YaHei"/>
                <a:ea typeface="Microsoft YaHei"/>
                <a:cs typeface="Microsoft YaHei"/>
              </a:defRPr>
            </a:pPr>
            <a:r>
              <a:rPr sz="1500" b="0">
                <a:solidFill>
                  <a:srgbClr val="344054"/>
                </a:solidFill>
                <a:latin typeface="Microsoft YaHei"/>
                <a:ea typeface="Microsoft YaHei"/>
                <a:cs typeface="Microsoft YaHei"/>
              </a:rPr>
              <a:t>旧 IRB 与阵列数值已标记失效待重跑，原始输出保留用于追溯。</a:t>
            </a:r>
          </a:p>
        </p:txBody>
      </p:sp>
    </p:spTree>
    <p:extLst>
      <p:ext uri="{BB962C8B-B14F-4D97-AF65-F5344CB8AC3E}">
        <p14:creationId xmlns:p14="http://schemas.microsoft.com/office/powerpoint/2010/main" val="1835978708"/>
      </p:ext>
    </p:extLst>
  </p:cSld>
</p:sld>
</file>

<file path=ppt/slides/slide3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1CBF8FB-879A-438C-91A5-2F89465C90F6}"/>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独立模块范围与连续扩展</a:t>
            </a:r>
          </a:p>
        </p:txBody>
      </p:sp>
      <p:sp>
        <p:nvSpPr>
          <p:cNvPr id="2" name="">
            <a:extLst xmlns:a="http://schemas.openxmlformats.org/drawingml/2006/main">
              <a:ext uri="{FF2B5EF4-FFF2-40B4-BE49-F238E27FC236}">
                <a16:creationId xmlns:a16="http://schemas.microsoft.com/office/drawing/2014/main" id="{8ECA7AD1-0041-4774-9D7B-A35B461871B3}"/>
              </a:ext>
            </a:extLst>
          </p:cNvPr>
          <p:cNvSpPr>
            <a:spLocks xmlns:a="http://schemas.openxmlformats.org/drawingml/2006/main" noGrp="1"/>
          </p:cNvSpPr>
          <p:nvPr/>
        </p:nvSpPr>
        <p:spPr>
          <a:xfrm xmlns:a="http://schemas.openxmlformats.org/drawingml/2006/main">
            <a:off x="609600" y="933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67085"/>
                </a:solidFill>
                <a:latin typeface="Microsoft YaHei"/>
                <a:ea typeface="Microsoft YaHei"/>
                <a:cs typeface="Microsoft YaHei"/>
              </a:defRPr>
            </a:pPr>
            <a:r>
              <a:rPr sz="1350" b="0">
                <a:solidFill>
                  <a:srgbClr val="667085"/>
                </a:solidFill>
                <a:latin typeface="Microsoft YaHei"/>
                <a:ea typeface="Microsoft YaHei"/>
                <a:cs typeface="Microsoft YaHei"/>
              </a:rPr>
              <a:t>第 1–32 页保留既有模型和历史证据，后续页给出连续全流程的新结果</a:t>
            </a:r>
          </a:p>
        </p:txBody>
      </p:sp>
      <p:sp>
        <p:nvSpPr>
          <p:cNvPr id="3" name="">
            <a:extLst xmlns:a="http://schemas.openxmlformats.org/drawingml/2006/main">
              <a:ext uri="{FF2B5EF4-FFF2-40B4-BE49-F238E27FC236}">
                <a16:creationId xmlns:a16="http://schemas.microsoft.com/office/drawing/2014/main" id="{6FAB3025-309F-41F3-9C2E-4288A7766CA5}"/>
              </a:ext>
            </a:extLst>
          </p:cNvPr>
          <p:cNvSpPr>
            <a:spLocks xmlns:a="http://schemas.openxmlformats.org/drawingml/2006/main" noGrp="1"/>
          </p:cNvSpPr>
          <p:nvPr/>
        </p:nvSpPr>
        <p:spPr>
          <a:xfrm xmlns:a="http://schemas.openxmlformats.org/drawingml/2006/main">
            <a:off x="609600" y="6524625"/>
            <a:ext cx="1009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Level 2C–5 综合报告  ·  历史数值及状态详见配套报告</a:t>
            </a:r>
          </a:p>
        </p:txBody>
      </p:sp>
      <p:sp>
        <p:nvSpPr>
          <p:cNvPr id="4" name="">
            <a:extLst xmlns:a="http://schemas.openxmlformats.org/drawingml/2006/main">
              <a:ext uri="{FF2B5EF4-FFF2-40B4-BE49-F238E27FC236}">
                <a16:creationId xmlns:a16="http://schemas.microsoft.com/office/drawing/2014/main" id="{593B57F3-D239-4C4B-8696-CA59F3E10919}"/>
              </a:ext>
            </a:extLst>
          </p:cNvPr>
          <p:cNvSpPr>
            <a:spLocks xmlns:a="http://schemas.openxmlformats.org/drawingml/2006/main" noGrp="1"/>
          </p:cNvSpPr>
          <p:nvPr/>
        </p:nvSpPr>
        <p:spPr>
          <a:xfrm xmlns:a="http://schemas.openxmlformats.org/drawingml/2006/main">
            <a:off x="11049000" y="65151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32</a:t>
            </a:r>
          </a:p>
        </p:txBody>
      </p:sp>
      <p:sp>
        <p:nvSpPr>
          <p:cNvPr id="5" name="">
            <a:extLst xmlns:a="http://schemas.openxmlformats.org/drawingml/2006/main">
              <a:ext uri="{FF2B5EF4-FFF2-40B4-BE49-F238E27FC236}">
                <a16:creationId xmlns:a16="http://schemas.microsoft.com/office/drawing/2014/main" id="{453A4EAF-B65A-43E1-8D53-7367E380F25E}"/>
              </a:ext>
            </a:extLst>
          </p:cNvPr>
          <p:cNvSpPr>
            <a:spLocks xmlns:a="http://schemas.openxmlformats.org/drawingml/2006/main" noGrp="1"/>
          </p:cNvSpPr>
          <p:nvPr/>
        </p:nvSpPr>
        <p:spPr>
          <a:xfrm xmlns:a="http://schemas.openxmlformats.org/drawingml/2006/main">
            <a:off x="609600" y="1581150"/>
            <a:ext cx="314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570EF"/>
                </a:solidFill>
                <a:latin typeface="Microsoft YaHei"/>
                <a:ea typeface="Microsoft YaHei"/>
                <a:cs typeface="Microsoft YaHei"/>
              </a:defRPr>
            </a:pPr>
            <a:r>
              <a:rPr sz="2100" b="1">
                <a:solidFill>
                  <a:srgbClr val="1570EF"/>
                </a:solidFill>
                <a:latin typeface="Microsoft YaHei"/>
                <a:ea typeface="Microsoft YaHei"/>
                <a:cs typeface="Microsoft YaHei"/>
              </a:rPr>
              <a:t>已覆盖</a:t>
            </a:r>
          </a:p>
        </p:txBody>
      </p:sp>
      <p:sp>
        <p:nvSpPr>
          <p:cNvPr id="6" name="">
            <a:extLst xmlns:a="http://schemas.openxmlformats.org/drawingml/2006/main">
              <a:ext uri="{FF2B5EF4-FFF2-40B4-BE49-F238E27FC236}">
                <a16:creationId xmlns:a16="http://schemas.microsoft.com/office/drawing/2014/main" id="{94B2DC5F-903A-4616-9EC0-579717CE07F1}"/>
              </a:ext>
            </a:extLst>
          </p:cNvPr>
          <p:cNvSpPr>
            <a:spLocks xmlns:a="http://schemas.openxmlformats.org/drawingml/2006/main" noGrp="1"/>
          </p:cNvSpPr>
          <p:nvPr/>
        </p:nvSpPr>
        <p:spPr>
          <a:xfrm xmlns:a="http://schemas.openxmlformats.org/drawingml/2006/main">
            <a:off x="609600" y="2162175"/>
            <a:ext cx="1047750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344054"/>
                </a:solidFill>
                <a:latin typeface="Microsoft YaHei"/>
                <a:ea typeface="Microsoft YaHei"/>
                <a:cs typeface="Microsoft YaHei"/>
              </a:defRPr>
            </a:pPr>
            <a:r>
              <a:rPr sz="1875" b="0">
                <a:solidFill>
                  <a:srgbClr val="344054"/>
                </a:solidFill>
                <a:latin typeface="Microsoft YaHei"/>
                <a:ea typeface="Microsoft YaHei"/>
                <a:cs typeface="Microsoft YaHei"/>
              </a:rPr>
              <a:t>短转移存活与波形比较</a:t>
            </a:r>
          </a:p>
          <a:p xmlns:a="http://schemas.openxmlformats.org/drawingml/2006/main">
            <a:pPr>
              <a:buNone/>
              <a:defRPr sz="1875" b="0">
                <a:solidFill>
                  <a:srgbClr val="344054"/>
                </a:solidFill>
                <a:latin typeface="Microsoft YaHei"/>
                <a:ea typeface="Microsoft YaHei"/>
                <a:cs typeface="Microsoft YaHei"/>
              </a:defRPr>
            </a:pPr>
            <a:r>
              <a:rPr sz="1875" b="0">
                <a:solidFill>
                  <a:srgbClr val="344054"/>
                </a:solidFill>
                <a:latin typeface="Microsoft YaHei"/>
                <a:ea typeface="Microsoft YaHei"/>
                <a:cs typeface="Microsoft YaHei"/>
              </a:rPr>
              <a:t>三维 AOD 长运输和透镜效应</a:t>
            </a:r>
          </a:p>
          <a:p xmlns:a="http://schemas.openxmlformats.org/drawingml/2006/main">
            <a:pPr>
              <a:buNone/>
              <a:defRPr sz="1875" b="0">
                <a:solidFill>
                  <a:srgbClr val="344054"/>
                </a:solidFill>
                <a:latin typeface="Microsoft YaHei"/>
                <a:ea typeface="Microsoft YaHei"/>
                <a:cs typeface="Microsoft YaHei"/>
              </a:defRPr>
            </a:pPr>
            <a:r>
              <a:rPr sz="1875" b="0">
                <a:solidFill>
                  <a:srgbClr val="344054"/>
                </a:solidFill>
                <a:latin typeface="Microsoft YaHei"/>
                <a:ea typeface="Microsoft YaHei"/>
                <a:cs typeface="Microsoft YaHei"/>
              </a:rPr>
              <a:t>完整组合往返与连续运动相位</a:t>
            </a:r>
          </a:p>
          <a:p xmlns:a="http://schemas.openxmlformats.org/drawingml/2006/main">
            <a:pPr>
              <a:buNone/>
              <a:defRPr sz="1875" b="0">
                <a:solidFill>
                  <a:srgbClr val="344054"/>
                </a:solidFill>
                <a:latin typeface="Microsoft YaHei"/>
                <a:ea typeface="Microsoft YaHei"/>
                <a:cs typeface="Microsoft YaHei"/>
              </a:defRPr>
            </a:pPr>
            <a:r>
              <a:rPr sz="1875" b="0">
                <a:solidFill>
                  <a:srgbClr val="344054"/>
                </a:solidFill>
                <a:latin typeface="Microsoft YaHei"/>
                <a:ea typeface="Microsoft YaHei"/>
                <a:cs typeface="Microsoft YaHei"/>
              </a:rPr>
              <a:t>有限脉冲、PTM 和多站点 RB/IRB 框架</a:t>
            </a:r>
          </a:p>
        </p:txBody>
      </p:sp>
      <p:sp>
        <p:nvSpPr>
          <p:cNvPr id="7" name="">
            <a:extLst xmlns:a="http://schemas.openxmlformats.org/drawingml/2006/main">
              <a:ext uri="{FF2B5EF4-FFF2-40B4-BE49-F238E27FC236}">
                <a16:creationId xmlns:a16="http://schemas.microsoft.com/office/drawing/2014/main" id="{206CB3AC-465F-4B7C-A57B-A4638DCEF208}"/>
              </a:ext>
            </a:extLst>
          </p:cNvPr>
          <p:cNvSpPr>
            <a:spLocks xmlns:a="http://schemas.openxmlformats.org/drawingml/2006/main" noGrp="1"/>
          </p:cNvSpPr>
          <p:nvPr/>
        </p:nvSpPr>
        <p:spPr>
          <a:xfrm xmlns:a="http://schemas.openxmlformats.org/drawingml/2006/main">
            <a:off x="609600" y="418147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02A43"/>
                </a:solidFill>
                <a:latin typeface="Microsoft YaHei"/>
                <a:ea typeface="Microsoft YaHei"/>
                <a:cs typeface="Microsoft YaHei"/>
              </a:defRPr>
            </a:pPr>
            <a:r>
              <a:rPr sz="2100" b="1">
                <a:solidFill>
                  <a:srgbClr val="102A43"/>
                </a:solidFill>
                <a:latin typeface="Microsoft YaHei"/>
                <a:ea typeface="Microsoft YaHei"/>
                <a:cs typeface="Microsoft YaHei"/>
              </a:rPr>
              <a:t>优先补齐的物理证据</a:t>
            </a:r>
          </a:p>
        </p:txBody>
      </p:sp>
      <p:sp>
        <p:nvSpPr>
          <p:cNvPr id="8" name="">
            <a:extLst xmlns:a="http://schemas.openxmlformats.org/drawingml/2006/main">
              <a:ext uri="{FF2B5EF4-FFF2-40B4-BE49-F238E27FC236}">
                <a16:creationId xmlns:a16="http://schemas.microsoft.com/office/drawing/2014/main" id="{859EA939-8199-4841-BAF0-7C243A62B74E}"/>
              </a:ext>
            </a:extLst>
          </p:cNvPr>
          <p:cNvSpPr>
            <a:spLocks xmlns:a="http://schemas.openxmlformats.org/drawingml/2006/main" noGrp="1"/>
          </p:cNvSpPr>
          <p:nvPr/>
        </p:nvSpPr>
        <p:spPr>
          <a:xfrm xmlns:a="http://schemas.openxmlformats.org/drawingml/2006/main">
            <a:off x="609600" y="4743450"/>
            <a:ext cx="106680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344054"/>
                </a:solidFill>
                <a:latin typeface="Microsoft YaHei"/>
                <a:ea typeface="Microsoft YaHei"/>
                <a:cs typeface="Microsoft YaHei"/>
              </a:defRPr>
            </a:pPr>
            <a:r>
              <a:rPr sz="1800" b="0">
                <a:solidFill>
                  <a:srgbClr val="344054"/>
                </a:solidFill>
                <a:latin typeface="Microsoft YaHei"/>
                <a:ea typeface="Microsoft YaHei"/>
                <a:cs typeface="Microsoft YaHei"/>
              </a:rPr>
              <a:t>原有 RB 独立协议仍需单独重跑与目标门核查</a:t>
            </a:r>
          </a:p>
          <a:p xmlns:a="http://schemas.openxmlformats.org/drawingml/2006/main">
            <a:pPr>
              <a:buNone/>
              <a:defRPr sz="1800" b="0">
                <a:solidFill>
                  <a:srgbClr val="344054"/>
                </a:solidFill>
                <a:latin typeface="Microsoft YaHei"/>
                <a:ea typeface="Microsoft YaHei"/>
                <a:cs typeface="Microsoft YaHei"/>
              </a:defRPr>
            </a:pPr>
            <a:r>
              <a:rPr sz="1800" b="0">
                <a:solidFill>
                  <a:srgbClr val="344054"/>
                </a:solidFill>
                <a:latin typeface="Microsoft YaHei"/>
                <a:ea typeface="Microsoft YaHei"/>
                <a:cs typeface="Microsoft YaHei"/>
              </a:rPr>
              <a:t>论文波形定义、绝对 AOD 标定及噪声系数仍待核对</a:t>
            </a:r>
          </a:p>
          <a:p xmlns:a="http://schemas.openxmlformats.org/drawingml/2006/main">
            <a:pPr>
              <a:buNone/>
              <a:defRPr sz="1800" b="0">
                <a:solidFill>
                  <a:srgbClr val="344054"/>
                </a:solidFill>
                <a:latin typeface="Microsoft YaHei"/>
                <a:ea typeface="Microsoft YaHei"/>
                <a:cs typeface="Microsoft YaHei"/>
              </a:defRPr>
            </a:pPr>
            <a:r>
              <a:rPr sz="1800" b="0">
                <a:solidFill>
                  <a:srgbClr val="344054"/>
                </a:solidFill>
                <a:latin typeface="Microsoft YaHei"/>
                <a:ea typeface="Microsoft YaHei"/>
                <a:cs typeface="Microsoft YaHei"/>
              </a:rPr>
              <a:t>最新波形连续接入、重算及数值复核已在后续页完成</a:t>
            </a:r>
          </a:p>
        </p:txBody>
      </p:sp>
    </p:spTree>
    <p:extLst>
      <p:ext uri="{BB962C8B-B14F-4D97-AF65-F5344CB8AC3E}">
        <p14:creationId xmlns:p14="http://schemas.microsoft.com/office/powerpoint/2010/main" val="952851927"/>
      </p:ext>
    </p:extLst>
  </p:cSld>
</p:sld>
</file>

<file path=ppt/slides/slide3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8AF0119-1677-4A40-81A9-E675BC9583DD}"/>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连续全流程接入后的验收结果</a:t>
            </a:r>
          </a:p>
        </p:txBody>
      </p:sp>
      <p:sp>
        <p:nvSpPr>
          <p:cNvPr id="2" name="">
            <a:extLst xmlns:a="http://schemas.openxmlformats.org/drawingml/2006/main">
              <a:ext uri="{FF2B5EF4-FFF2-40B4-BE49-F238E27FC236}">
                <a16:creationId xmlns:a16="http://schemas.microsoft.com/office/drawing/2014/main" id="{52224FD3-3541-41DF-AC32-674E5DD6D482}"/>
              </a:ext>
            </a:extLst>
          </p:cNvPr>
          <p:cNvSpPr>
            <a:spLocks xmlns:a="http://schemas.openxmlformats.org/drawingml/2006/main" noGrp="1"/>
          </p:cNvSpPr>
          <p:nvPr/>
        </p:nvSpPr>
        <p:spPr>
          <a:xfrm xmlns:a="http://schemas.openxmlformats.org/drawingml/2006/main">
            <a:off x="609600" y="9334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7085"/>
                </a:solidFill>
                <a:latin typeface="Microsoft YaHei"/>
                <a:ea typeface="Microsoft YaHei"/>
                <a:cs typeface="Microsoft YaHei"/>
              </a:defRPr>
            </a:pPr>
            <a:r>
              <a:rPr sz="1350" b="0">
                <a:solidFill>
                  <a:srgbClr val="667085"/>
                </a:solidFill>
                <a:latin typeface="Microsoft YaHei"/>
                <a:ea typeface="Microsoft YaHei"/>
                <a:cs typeface="Microsoft YaHei"/>
              </a:rPr>
              <a:t>原始四条波形保持不变，使用独立样本检查整条存活曲线</a:t>
            </a:r>
          </a:p>
        </p:txBody>
      </p:sp>
      <p:sp>
        <p:nvSpPr>
          <p:cNvPr id="3" name="">
            <a:extLst xmlns:a="http://schemas.openxmlformats.org/drawingml/2006/main">
              <a:ext uri="{FF2B5EF4-FFF2-40B4-BE49-F238E27FC236}">
                <a16:creationId xmlns:a16="http://schemas.microsoft.com/office/drawing/2014/main" id="{F348C895-28EA-4C62-8F76-24D87C6AB65A}"/>
              </a:ext>
            </a:extLst>
          </p:cNvPr>
          <p:cNvSpPr>
            <a:spLocks xmlns:a="http://schemas.openxmlformats.org/drawingml/2006/main" noGrp="1"/>
          </p:cNvSpPr>
          <p:nvPr/>
        </p:nvSpPr>
        <p:spPr>
          <a:xfrm xmlns:a="http://schemas.openxmlformats.org/drawingml/2006/main">
            <a:off x="609600" y="6524625"/>
            <a:ext cx="1009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连续全流程重算  ·  参数与数值来源见配套报告 v10</a:t>
            </a:r>
          </a:p>
        </p:txBody>
      </p:sp>
      <p:sp>
        <p:nvSpPr>
          <p:cNvPr id="4" name="">
            <a:extLst xmlns:a="http://schemas.openxmlformats.org/drawingml/2006/main">
              <a:ext uri="{FF2B5EF4-FFF2-40B4-BE49-F238E27FC236}">
                <a16:creationId xmlns:a16="http://schemas.microsoft.com/office/drawing/2014/main" id="{2C7E75BC-D076-4F21-A5D4-982C8BD5E720}"/>
              </a:ext>
            </a:extLst>
          </p:cNvPr>
          <p:cNvSpPr>
            <a:spLocks xmlns:a="http://schemas.openxmlformats.org/drawingml/2006/main" noGrp="1"/>
          </p:cNvSpPr>
          <p:nvPr/>
        </p:nvSpPr>
        <p:spPr>
          <a:xfrm xmlns:a="http://schemas.openxmlformats.org/drawingml/2006/main">
            <a:off x="11049000" y="65151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33</a:t>
            </a:r>
          </a:p>
        </p:txBody>
      </p:sp>
      <p:sp>
        <p:nvSpPr>
          <p:cNvPr id="5" name="">
            <a:extLst xmlns:a="http://schemas.openxmlformats.org/drawingml/2006/main">
              <a:ext uri="{FF2B5EF4-FFF2-40B4-BE49-F238E27FC236}">
                <a16:creationId xmlns:a16="http://schemas.microsoft.com/office/drawing/2014/main" id="{E9C162B8-A9BB-4557-A7AE-6499D86C4AE8}"/>
              </a:ext>
            </a:extLst>
          </p:cNvPr>
          <p:cNvSpPr>
            <a:spLocks xmlns:a="http://schemas.openxmlformats.org/drawingml/2006/main" noGrp="1"/>
          </p:cNvSpPr>
          <p:nvPr/>
        </p:nvSpPr>
        <p:spPr>
          <a:xfrm xmlns:a="http://schemas.openxmlformats.org/drawingml/2006/main">
            <a:off x="609600" y="15430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D92D20"/>
                </a:solidFill>
                <a:latin typeface="Microsoft YaHei"/>
                <a:ea typeface="Microsoft YaHei"/>
                <a:cs typeface="Microsoft YaHei"/>
              </a:defRPr>
            </a:pPr>
            <a:r>
              <a:rPr sz="2175" b="1">
                <a:solidFill>
                  <a:srgbClr val="D92D20"/>
                </a:solidFill>
                <a:latin typeface="Microsoft YaHei"/>
                <a:ea typeface="Microsoft YaHei"/>
                <a:cs typeface="Microsoft YaHei"/>
              </a:rPr>
              <a:t>本次测试未找到同时拟合四条曲线的共同参数</a:t>
            </a:r>
          </a:p>
        </p:txBody>
      </p:sp>
      <p:graphicFrame>
        <p:nvGraphicFramePr>
          <p:cNvPr id="14" name=""/>
          <p:cNvGraphicFramePr/>
          <p:nvPr/>
        </p:nvGraphicFramePr>
        <p:xfrm>
          <a:off xmlns:a="http://schemas.openxmlformats.org/drawingml/2006/main" x="609600" y="2238375"/>
          <a:ext xmlns:a="http://schemas.openxmlformats.org/drawingml/2006/main" cx="10972800" cy="2733675"/>
        </p:xfrm>
        <a:graphic xmlns:a="http://schemas.openxmlformats.org/drawingml/2006/main">
          <a:graphicData uri="http://schemas.openxmlformats.org/drawingml/2006/table">
            <a:tbl>
              <a:tblPr/>
              <a:tblGrid>
                <a:gridCol w="2220686"/>
                <a:gridCol w="2351314"/>
                <a:gridCol w="2090057"/>
                <a:gridCol w="1698171"/>
                <a:gridCol w="2612571"/>
              </a:tblGrid>
              <a:tr h="546735">
                <a:tc>
                  <a:txBody>
                    <a:bodyPr>
                      <a:noAutofit/>
                    </a:bodyPr>
                    <a:lstStyle/>
                    <a:p>
                      <a:r>
                        <a:rPr sz="1575" b="1">
                          <a:solidFill>
                            <a:srgbClr val="FFFFFF"/>
                          </a:solidFill>
                          <a:latin typeface="Microsoft YaHei"/>
                          <a:ea typeface="Microsoft YaHei"/>
                          <a:cs typeface="Microsoft YaHei"/>
                        </a:rPr>
                        <a:t>波形</a:t>
                      </a:r>
                    </a:p>
                  </a:txBody>
                  <a:tcPr marL="91440" marR="91440" marT="45720" marB="45720" anchor="ctr">
                    <a:solidFill>
                      <a:srgbClr val="102A43"/>
                    </a:solidFill>
                  </a:tcPr>
                </a:tc>
                <a:tc>
                  <a:txBody>
                    <a:bodyPr>
                      <a:noAutofit/>
                    </a:bodyPr>
                    <a:lstStyle/>
                    <a:p>
                      <a:r>
                        <a:rPr sz="1575" b="1">
                          <a:solidFill>
                            <a:srgbClr val="FFFFFF"/>
                          </a:solidFill>
                          <a:latin typeface="Microsoft YaHei"/>
                          <a:ea typeface="Microsoft YaHei"/>
                          <a:cs typeface="Microsoft YaHei"/>
                        </a:rPr>
                        <a:t>逐曲线扫描选择 T</a:t>
                      </a:r>
                    </a:p>
                  </a:txBody>
                  <a:tcPr marL="91440" marR="91440" marT="45720" marB="45720" anchor="ctr">
                    <a:solidFill>
                      <a:srgbClr val="102A43"/>
                    </a:solidFill>
                  </a:tcPr>
                </a:tc>
                <a:tc>
                  <a:txBody>
                    <a:bodyPr>
                      <a:noAutofit/>
                    </a:bodyPr>
                    <a:lstStyle/>
                    <a:p>
                      <a:r>
                        <a:rPr sz="1575" b="1">
                          <a:solidFill>
                            <a:srgbClr val="FFFFFF"/>
                          </a:solidFill>
                          <a:latin typeface="Microsoft YaHei"/>
                          <a:ea typeface="Microsoft YaHei"/>
                          <a:cs typeface="Microsoft YaHei"/>
                        </a:rPr>
                        <a:t>4096-shot 末点</a:t>
                      </a:r>
                    </a:p>
                  </a:txBody>
                  <a:tcPr marL="91440" marR="91440" marT="45720" marB="45720" anchor="ctr">
                    <a:solidFill>
                      <a:srgbClr val="102A43"/>
                    </a:solidFill>
                  </a:tcPr>
                </a:tc>
                <a:tc>
                  <a:txBody>
                    <a:bodyPr>
                      <a:noAutofit/>
                    </a:bodyPr>
                    <a:lstStyle/>
                    <a:p>
                      <a:r>
                        <a:rPr sz="1575" b="1">
                          <a:solidFill>
                            <a:srgbClr val="FFFFFF"/>
                          </a:solidFill>
                          <a:latin typeface="Microsoft YaHei"/>
                          <a:ea typeface="Microsoft YaHei"/>
                          <a:cs typeface="Microsoft YaHei"/>
                        </a:rPr>
                        <a:t>论文末点</a:t>
                      </a:r>
                    </a:p>
                  </a:txBody>
                  <a:tcPr marL="91440" marR="91440" marT="45720" marB="45720" anchor="ctr">
                    <a:solidFill>
                      <a:srgbClr val="102A43"/>
                    </a:solidFill>
                  </a:tcPr>
                </a:tc>
                <a:tc>
                  <a:txBody>
                    <a:bodyPr>
                      <a:noAutofit/>
                    </a:bodyPr>
                    <a:lstStyle/>
                    <a:p>
                      <a:r>
                        <a:rPr sz="1575" b="1">
                          <a:solidFill>
                            <a:srgbClr val="FFFFFF"/>
                          </a:solidFill>
                          <a:latin typeface="Microsoft YaHei"/>
                          <a:ea typeface="Microsoft YaHei"/>
                          <a:cs typeface="Microsoft YaHei"/>
                        </a:rPr>
                        <a:t>整曲线通过 ±0.02</a:t>
                      </a:r>
                    </a:p>
                  </a:txBody>
                  <a:tcPr marL="91440" marR="91440" marT="45720" marB="45720" anchor="ctr">
                    <a:solidFill>
                      <a:srgbClr val="102A43"/>
                    </a:solidFill>
                  </a:tcPr>
                </a:tc>
              </a:tr>
              <a:tr h="546735">
                <a:tc>
                  <a:txBody>
                    <a:bodyPr>
                      <a:noAutofit/>
                    </a:bodyPr>
                    <a:lstStyle/>
                    <a:p>
                      <a:r>
                        <a:rPr sz="1575" b="0">
                          <a:solidFill>
                            <a:srgbClr val="344054"/>
                          </a:solidFill>
                          <a:latin typeface="Microsoft YaHei"/>
                          <a:ea typeface="Microsoft YaHei"/>
                          <a:cs typeface="Microsoft YaHei"/>
                        </a:rPr>
                        <a:t>手工 200 μs</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5 μK</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0.2610</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0.3344</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否</a:t>
                      </a:r>
                    </a:p>
                  </a:txBody>
                  <a:tcPr marL="91440" marR="91440" marT="45720" marB="45720" anchor="ctr">
                    <a:solidFill>
                      <a:srgbClr val="FFFFFF"/>
                    </a:solidFill>
                  </a:tcPr>
                </a:tc>
              </a:tr>
              <a:tr h="546735">
                <a:tc>
                  <a:txBody>
                    <a:bodyPr>
                      <a:noAutofit/>
                    </a:bodyPr>
                    <a:lstStyle/>
                    <a:p>
                      <a:r>
                        <a:rPr sz="1575" b="0">
                          <a:solidFill>
                            <a:srgbClr val="344054"/>
                          </a:solidFill>
                          <a:latin typeface="Microsoft YaHei"/>
                          <a:ea typeface="Microsoft YaHei"/>
                          <a:cs typeface="Microsoft YaHei"/>
                        </a:rPr>
                        <a:t>手工 400 μs</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15 μK</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0.4949</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0.4135</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否</a:t>
                      </a:r>
                    </a:p>
                  </a:txBody>
                  <a:tcPr marL="91440" marR="91440" marT="45720" marB="45720" anchor="ctr">
                    <a:solidFill>
                      <a:srgbClr val="F2F4F7"/>
                    </a:solidFill>
                  </a:tcPr>
                </a:tc>
              </a:tr>
              <a:tr h="546735">
                <a:tc>
                  <a:txBody>
                    <a:bodyPr>
                      <a:noAutofit/>
                    </a:bodyPr>
                    <a:lstStyle/>
                    <a:p>
                      <a:r>
                        <a:rPr sz="1575" b="0">
                          <a:solidFill>
                            <a:srgbClr val="344054"/>
                          </a:solidFill>
                          <a:latin typeface="Microsoft YaHei"/>
                          <a:ea typeface="Microsoft YaHei"/>
                          <a:cs typeface="Microsoft YaHei"/>
                        </a:rPr>
                        <a:t>手工 600 μs</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25 μK</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0.6284</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0.5726</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否</a:t>
                      </a:r>
                    </a:p>
                  </a:txBody>
                  <a:tcPr marL="91440" marR="91440" marT="45720" marB="45720" anchor="ctr">
                    <a:solidFill>
                      <a:srgbClr val="FFFFFF"/>
                    </a:solidFill>
                  </a:tcPr>
                </a:tc>
              </a:tr>
              <a:tr h="546735">
                <a:tc>
                  <a:txBody>
                    <a:bodyPr>
                      <a:noAutofit/>
                    </a:bodyPr>
                    <a:lstStyle/>
                    <a:p>
                      <a:r>
                        <a:rPr sz="1575" b="0">
                          <a:solidFill>
                            <a:srgbClr val="344054"/>
                          </a:solidFill>
                          <a:latin typeface="Microsoft YaHei"/>
                          <a:ea typeface="Microsoft YaHei"/>
                          <a:cs typeface="Microsoft YaHei"/>
                        </a:rPr>
                        <a:t>论文 ML 400 μs</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25 μK</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0.7471</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0.6633</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否</a:t>
                      </a:r>
                    </a:p>
                  </a:txBody>
                  <a:tcPr marL="91440" marR="91440" marT="45720" marB="45720" anchor="ctr">
                    <a:solidFill>
                      <a:srgbClr val="F2F4F7"/>
                    </a:solidFill>
                  </a:tcPr>
                </a:tc>
              </a:tr>
            </a:tbl>
          </a:graphicData>
        </a:graphic>
      </p:graphicFrame>
      <p:sp>
        <p:nvSpPr>
          <p:cNvPr id="7" name="">
            <a:extLst xmlns:a="http://schemas.openxmlformats.org/drawingml/2006/main">
              <a:ext uri="{FF2B5EF4-FFF2-40B4-BE49-F238E27FC236}">
                <a16:creationId xmlns:a16="http://schemas.microsoft.com/office/drawing/2014/main" id="{6CAC3F22-EF4C-4190-8706-6A528C49F1AB}"/>
              </a:ext>
            </a:extLst>
          </p:cNvPr>
          <p:cNvSpPr>
            <a:spLocks xmlns:a="http://schemas.openxmlformats.org/drawingml/2006/main" noGrp="1"/>
          </p:cNvSpPr>
          <p:nvPr/>
        </p:nvSpPr>
        <p:spPr>
          <a:xfrm xmlns:a="http://schemas.openxmlformats.org/drawingml/2006/main">
            <a:off x="609600" y="52292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02A43"/>
                </a:solidFill>
                <a:latin typeface="Microsoft YaHei"/>
                <a:ea typeface="Microsoft YaHei"/>
                <a:cs typeface="Microsoft YaHei"/>
              </a:defRPr>
            </a:pPr>
            <a:r>
              <a:rPr sz="1875" b="1">
                <a:solidFill>
                  <a:srgbClr val="102A43"/>
                </a:solidFill>
                <a:latin typeface="Microsoft YaHei"/>
                <a:ea typeface="Microsoft YaHei"/>
                <a:cs typeface="Microsoft YaHei"/>
              </a:rPr>
              <a:t>表中不同 T 仅用于诊断，不能视为同一实验条件。</a:t>
            </a:r>
          </a:p>
        </p:txBody>
      </p:sp>
      <p:sp>
        <p:nvSpPr>
          <p:cNvPr id="8" name="">
            <a:extLst xmlns:a="http://schemas.openxmlformats.org/drawingml/2006/main">
              <a:ext uri="{FF2B5EF4-FFF2-40B4-BE49-F238E27FC236}">
                <a16:creationId xmlns:a16="http://schemas.microsoft.com/office/drawing/2014/main" id="{30A2FC32-5F47-4DA7-8F7A-E7A2FE6D5310}"/>
              </a:ext>
            </a:extLst>
          </p:cNvPr>
          <p:cNvSpPr>
            <a:spLocks xmlns:a="http://schemas.openxmlformats.org/drawingml/2006/main" noGrp="1"/>
          </p:cNvSpPr>
          <p:nvPr/>
        </p:nvSpPr>
        <p:spPr>
          <a:xfrm xmlns:a="http://schemas.openxmlformats.org/drawingml/2006/main">
            <a:off x="609600" y="57912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344054"/>
                </a:solidFill>
                <a:latin typeface="Microsoft YaHei"/>
                <a:ea typeface="Microsoft YaHei"/>
                <a:cs typeface="Microsoft YaHei"/>
              </a:defRPr>
            </a:pPr>
            <a:r>
              <a:rPr sz="1575" b="0">
                <a:solidFill>
                  <a:srgbClr val="344054"/>
                </a:solidFill>
                <a:latin typeface="Microsoft YaHei"/>
                <a:ea typeface="Microsoft YaHei"/>
                <a:cs typeface="Microsoft YaHei"/>
              </a:rPr>
              <a:t>200 μs 比较 n=31，其余比较 n=60。独立 seed=23003，dt=0.0125 μs。</a:t>
            </a:r>
          </a:p>
        </p:txBody>
      </p:sp>
    </p:spTree>
    <p:extLst>
      <p:ext uri="{BB962C8B-B14F-4D97-AF65-F5344CB8AC3E}">
        <p14:creationId xmlns:p14="http://schemas.microsoft.com/office/powerpoint/2010/main" val="66709293"/>
      </p:ext>
    </p:extLst>
  </p:cSld>
</p:sld>
</file>

<file path=ppt/slides/slide3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43169C2-FE16-45C1-8039-C20AF38156A4}"/>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连续协议与距离口径</a:t>
            </a:r>
          </a:p>
        </p:txBody>
      </p:sp>
      <p:sp>
        <p:nvSpPr>
          <p:cNvPr id="2" name="">
            <a:extLst xmlns:a="http://schemas.openxmlformats.org/drawingml/2006/main">
              <a:ext uri="{FF2B5EF4-FFF2-40B4-BE49-F238E27FC236}">
                <a16:creationId xmlns:a16="http://schemas.microsoft.com/office/drawing/2014/main" id="{14E666A5-0703-41C1-99A1-A4968B23550C}"/>
              </a:ext>
            </a:extLst>
          </p:cNvPr>
          <p:cNvSpPr>
            <a:spLocks xmlns:a="http://schemas.openxmlformats.org/drawingml/2006/main" noGrp="1"/>
          </p:cNvSpPr>
          <p:nvPr/>
        </p:nvSpPr>
        <p:spPr>
          <a:xfrm xmlns:a="http://schemas.openxmlformats.org/drawingml/2006/main">
            <a:off x="609600" y="9334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7085"/>
                </a:solidFill>
                <a:latin typeface="Microsoft YaHei"/>
                <a:ea typeface="Microsoft YaHei"/>
                <a:cs typeface="Microsoft YaHei"/>
              </a:defRPr>
            </a:pPr>
            <a:r>
              <a:rPr sz="1350" b="0">
                <a:solidFill>
                  <a:srgbClr val="667085"/>
                </a:solidFill>
                <a:latin typeface="Microsoft YaHei"/>
                <a:ea typeface="Microsoft YaHei"/>
                <a:cs typeface="Microsoft YaHei"/>
              </a:rPr>
              <a:t>matched 沿用 Fig. 6d，extended 另加长距离去程与回程</a:t>
            </a:r>
          </a:p>
        </p:txBody>
      </p:sp>
      <p:sp>
        <p:nvSpPr>
          <p:cNvPr id="3" name="">
            <a:extLst xmlns:a="http://schemas.openxmlformats.org/drawingml/2006/main">
              <a:ext uri="{FF2B5EF4-FFF2-40B4-BE49-F238E27FC236}">
                <a16:creationId xmlns:a16="http://schemas.microsoft.com/office/drawing/2014/main" id="{0275C840-FD3D-4181-BE9F-DA470C8F7BEE}"/>
              </a:ext>
            </a:extLst>
          </p:cNvPr>
          <p:cNvSpPr>
            <a:spLocks xmlns:a="http://schemas.openxmlformats.org/drawingml/2006/main" noGrp="1"/>
          </p:cNvSpPr>
          <p:nvPr/>
        </p:nvSpPr>
        <p:spPr>
          <a:xfrm xmlns:a="http://schemas.openxmlformats.org/drawingml/2006/main">
            <a:off x="609600" y="6524625"/>
            <a:ext cx="1009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连续全流程重算  ·  参数与数值来源见配套报告 v10</a:t>
            </a:r>
          </a:p>
        </p:txBody>
      </p:sp>
      <p:sp>
        <p:nvSpPr>
          <p:cNvPr id="4" name="">
            <a:extLst xmlns:a="http://schemas.openxmlformats.org/drawingml/2006/main">
              <a:ext uri="{FF2B5EF4-FFF2-40B4-BE49-F238E27FC236}">
                <a16:creationId xmlns:a16="http://schemas.microsoft.com/office/drawing/2014/main" id="{AB21DFC3-0EAF-4E01-9DF8-445DC8C6E8F4}"/>
              </a:ext>
            </a:extLst>
          </p:cNvPr>
          <p:cNvSpPr>
            <a:spLocks xmlns:a="http://schemas.openxmlformats.org/drawingml/2006/main" noGrp="1"/>
          </p:cNvSpPr>
          <p:nvPr/>
        </p:nvSpPr>
        <p:spPr>
          <a:xfrm xmlns:a="http://schemas.openxmlformats.org/drawingml/2006/main">
            <a:off x="11049000" y="65151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34</a:t>
            </a:r>
          </a:p>
        </p:txBody>
      </p:sp>
      <p:graphicFrame>
        <p:nvGraphicFramePr>
          <p:cNvPr id="12" name=""/>
          <p:cNvGraphicFramePr/>
          <p:nvPr/>
        </p:nvGraphicFramePr>
        <p:xfrm>
          <a:off xmlns:a="http://schemas.openxmlformats.org/drawingml/2006/main" x="609600" y="1571625"/>
          <a:ext xmlns:a="http://schemas.openxmlformats.org/drawingml/2006/main" cx="10972800" cy="3686175"/>
        </p:xfrm>
        <a:graphic xmlns:a="http://schemas.openxmlformats.org/drawingml/2006/main">
          <a:graphicData uri="http://schemas.openxmlformats.org/drawingml/2006/table">
            <a:tbl>
              <a:tblPr/>
              <a:tblGrid>
                <a:gridCol w="2627290"/>
                <a:gridCol w="4018208"/>
                <a:gridCol w="4327301"/>
              </a:tblGrid>
              <a:tr h="526596">
                <a:tc>
                  <a:txBody>
                    <a:bodyPr>
                      <a:noAutofit/>
                    </a:bodyPr>
                    <a:lstStyle/>
                    <a:p>
                      <a:r>
                        <a:rPr sz="1575" b="1">
                          <a:solidFill>
                            <a:srgbClr val="FFFFFF"/>
                          </a:solidFill>
                          <a:latin typeface="Microsoft YaHei"/>
                          <a:ea typeface="Microsoft YaHei"/>
                          <a:cs typeface="Microsoft YaHei"/>
                        </a:rPr>
                        <a:t>项目</a:t>
                      </a:r>
                    </a:p>
                  </a:txBody>
                  <a:tcPr marL="91440" marR="91440" marT="45720" marB="45720" anchor="ctr">
                    <a:solidFill>
                      <a:srgbClr val="102A43"/>
                    </a:solidFill>
                  </a:tcPr>
                </a:tc>
                <a:tc>
                  <a:txBody>
                    <a:bodyPr>
                      <a:noAutofit/>
                    </a:bodyPr>
                    <a:lstStyle/>
                    <a:p>
                      <a:r>
                        <a:rPr sz="1575" b="1">
                          <a:solidFill>
                            <a:srgbClr val="FFFFFF"/>
                          </a:solidFill>
                          <a:latin typeface="Microsoft YaHei"/>
                          <a:ea typeface="Microsoft YaHei"/>
                          <a:cs typeface="Microsoft YaHei"/>
                        </a:rPr>
                        <a:t>matched 短转移对照</a:t>
                      </a:r>
                    </a:p>
                  </a:txBody>
                  <a:tcPr marL="91440" marR="91440" marT="45720" marB="45720" anchor="ctr">
                    <a:solidFill>
                      <a:srgbClr val="102A43"/>
                    </a:solidFill>
                  </a:tcPr>
                </a:tc>
                <a:tc>
                  <a:txBody>
                    <a:bodyPr>
                      <a:noAutofit/>
                    </a:bodyPr>
                    <a:lstStyle/>
                    <a:p>
                      <a:r>
                        <a:rPr sz="1575" b="1">
                          <a:solidFill>
                            <a:srgbClr val="FFFFFF"/>
                          </a:solidFill>
                          <a:latin typeface="Microsoft YaHei"/>
                          <a:ea typeface="Microsoft YaHei"/>
                          <a:cs typeface="Microsoft YaHei"/>
                        </a:rPr>
                        <a:t>extended 组合运输</a:t>
                      </a:r>
                    </a:p>
                  </a:txBody>
                  <a:tcPr marL="91440" marR="91440" marT="45720" marB="45720" anchor="ctr">
                    <a:solidFill>
                      <a:srgbClr val="102A43"/>
                    </a:solidFill>
                  </a:tcPr>
                </a:tc>
              </a:tr>
              <a:tr h="526596">
                <a:tc>
                  <a:txBody>
                    <a:bodyPr>
                      <a:noAutofit/>
                    </a:bodyPr>
                    <a:lstStyle/>
                    <a:p>
                      <a:r>
                        <a:rPr sz="1575" b="0">
                          <a:solidFill>
                            <a:srgbClr val="344054"/>
                          </a:solidFill>
                          <a:latin typeface="Microsoft YaHei"/>
                          <a:ea typeface="Microsoft YaHei"/>
                          <a:cs typeface="Microsoft YaHei"/>
                        </a:rPr>
                        <a:t>每轮阶段</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拾取、100 μs 等待、放回</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另插入去程、远端保持、回程</a:t>
                      </a:r>
                    </a:p>
                  </a:txBody>
                  <a:tcPr marL="91440" marR="91440" marT="45720" marB="45720" anchor="ctr">
                    <a:solidFill>
                      <a:srgbClr val="FFFFFF"/>
                    </a:solidFill>
                  </a:tcPr>
                </a:tc>
              </a:tr>
              <a:tr h="526596">
                <a:tc>
                  <a:txBody>
                    <a:bodyPr>
                      <a:noAutofit/>
                    </a:bodyPr>
                    <a:lstStyle/>
                    <a:p>
                      <a:r>
                        <a:rPr sz="1575" b="0">
                          <a:solidFill>
                            <a:srgbClr val="344054"/>
                          </a:solidFill>
                          <a:latin typeface="Microsoft YaHei"/>
                          <a:ea typeface="Microsoft YaHei"/>
                          <a:cs typeface="Microsoft YaHei"/>
                        </a:rPr>
                        <a:t>新增长距离</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无</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375 μm + 375 μm，xy 对角</a:t>
                      </a:r>
                    </a:p>
                  </a:txBody>
                  <a:tcPr marL="91440" marR="91440" marT="45720" marB="45720" anchor="ctr">
                    <a:solidFill>
                      <a:srgbClr val="F2F4F7"/>
                    </a:solidFill>
                  </a:tcPr>
                </a:tc>
              </a:tr>
              <a:tr h="526596">
                <a:tc>
                  <a:txBody>
                    <a:bodyPr>
                      <a:noAutofit/>
                    </a:bodyPr>
                    <a:lstStyle/>
                    <a:p>
                      <a:r>
                        <a:rPr sz="1575" b="0">
                          <a:solidFill>
                            <a:srgbClr val="344054"/>
                          </a:solidFill>
                          <a:latin typeface="Microsoft YaHei"/>
                          <a:ea typeface="Microsoft YaHei"/>
                          <a:cs typeface="Microsoft YaHei"/>
                        </a:rPr>
                        <a:t>400 μs 波形单轮时长</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900 μs</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3854 μs</a:t>
                      </a:r>
                    </a:p>
                  </a:txBody>
                  <a:tcPr marL="91440" marR="91440" marT="45720" marB="45720" anchor="ctr">
                    <a:solidFill>
                      <a:srgbClr val="FFFFFF"/>
                    </a:solidFill>
                  </a:tcPr>
                </a:tc>
              </a:tr>
              <a:tr h="526596">
                <a:tc>
                  <a:txBody>
                    <a:bodyPr>
                      <a:noAutofit/>
                    </a:bodyPr>
                    <a:lstStyle/>
                    <a:p>
                      <a:r>
                        <a:rPr sz="1575" b="0">
                          <a:solidFill>
                            <a:srgbClr val="344054"/>
                          </a:solidFill>
                          <a:latin typeface="Microsoft YaHei"/>
                          <a:ea typeface="Microsoft YaHei"/>
                          <a:cs typeface="Microsoft YaHei"/>
                        </a:rPr>
                        <a:t>手工波形单轮名义路程</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4.8 μm</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754.8 μm</a:t>
                      </a:r>
                    </a:p>
                  </a:txBody>
                  <a:tcPr marL="91440" marR="91440" marT="45720" marB="45720" anchor="ctr">
                    <a:solidFill>
                      <a:srgbClr val="F2F4F7"/>
                    </a:solidFill>
                  </a:tcPr>
                </a:tc>
              </a:tr>
              <a:tr h="526596">
                <a:tc>
                  <a:txBody>
                    <a:bodyPr>
                      <a:noAutofit/>
                    </a:bodyPr>
                    <a:lstStyle/>
                    <a:p>
                      <a:r>
                        <a:rPr sz="1575" b="0">
                          <a:solidFill>
                            <a:srgbClr val="344054"/>
                          </a:solidFill>
                          <a:latin typeface="Microsoft YaHei"/>
                          <a:ea typeface="Microsoft YaHei"/>
                          <a:cs typeface="Microsoft YaHei"/>
                        </a:rPr>
                        <a:t>n=60 的含义</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30 轮，共约 144 μm</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30 轮，共约 22.644 mm</a:t>
                      </a:r>
                    </a:p>
                  </a:txBody>
                  <a:tcPr marL="91440" marR="91440" marT="45720" marB="45720" anchor="ctr">
                    <a:solidFill>
                      <a:srgbClr val="FFFFFF"/>
                    </a:solidFill>
                  </a:tcPr>
                </a:tc>
              </a:tr>
              <a:tr h="526596">
                <a:tc>
                  <a:txBody>
                    <a:bodyPr>
                      <a:noAutofit/>
                    </a:bodyPr>
                    <a:lstStyle/>
                    <a:p>
                      <a:r>
                        <a:rPr sz="1575" b="0">
                          <a:solidFill>
                            <a:srgbClr val="344054"/>
                          </a:solidFill>
                          <a:latin typeface="Microsoft YaHei"/>
                          <a:ea typeface="Microsoft YaHei"/>
                          <a:cs typeface="Microsoft YaHei"/>
                        </a:rPr>
                        <a:t>对应论文验收</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沿用原 Level 2C 标准</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作为扩展预测单列</a:t>
                      </a:r>
                    </a:p>
                  </a:txBody>
                  <a:tcPr marL="91440" marR="91440" marT="45720" marB="45720" anchor="ctr">
                    <a:solidFill>
                      <a:srgbClr val="F2F4F7"/>
                    </a:solidFill>
                  </a:tcPr>
                </a:tc>
              </a:tr>
            </a:tbl>
          </a:graphicData>
        </a:graphic>
      </p:graphicFrame>
      <p:sp>
        <p:nvSpPr>
          <p:cNvPr id="6" name="">
            <a:extLst xmlns:a="http://schemas.openxmlformats.org/drawingml/2006/main">
              <a:ext uri="{FF2B5EF4-FFF2-40B4-BE49-F238E27FC236}">
                <a16:creationId xmlns:a16="http://schemas.microsoft.com/office/drawing/2014/main" id="{7EE248CE-B87D-4C23-85A6-324D6E4113F8}"/>
              </a:ext>
            </a:extLst>
          </p:cNvPr>
          <p:cNvSpPr>
            <a:spLocks xmlns:a="http://schemas.openxmlformats.org/drawingml/2006/main" noGrp="1"/>
          </p:cNvSpPr>
          <p:nvPr/>
        </p:nvSpPr>
        <p:spPr>
          <a:xfrm xmlns:a="http://schemas.openxmlformats.org/drawingml/2006/main">
            <a:off x="609600" y="55054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70EF"/>
                </a:solidFill>
                <a:latin typeface="Microsoft YaHei"/>
                <a:ea typeface="Microsoft YaHei"/>
                <a:cs typeface="Microsoft YaHei"/>
              </a:defRPr>
            </a:pPr>
            <a:r>
              <a:rPr sz="1800" b="1">
                <a:solidFill>
                  <a:srgbClr val="1570EF"/>
                </a:solidFill>
                <a:latin typeface="Microsoft YaHei"/>
                <a:ea typeface="Microsoft YaHei"/>
                <a:cs typeface="Microsoft YaHei"/>
              </a:rPr>
              <a:t>每个原子的运动状态、内部态和累计加热贯穿所有段与所有轮。</a:t>
            </a:r>
          </a:p>
        </p:txBody>
      </p:sp>
      <p:sp>
        <p:nvSpPr>
          <p:cNvPr id="7" name="">
            <a:extLst xmlns:a="http://schemas.openxmlformats.org/drawingml/2006/main">
              <a:ext uri="{FF2B5EF4-FFF2-40B4-BE49-F238E27FC236}">
                <a16:creationId xmlns:a16="http://schemas.microsoft.com/office/drawing/2014/main" id="{EBEF557E-166F-4935-A708-2931EE5D5EAA}"/>
              </a:ext>
            </a:extLst>
          </p:cNvPr>
          <p:cNvSpPr>
            <a:spLocks xmlns:a="http://schemas.openxmlformats.org/drawingml/2006/main" noGrp="1"/>
          </p:cNvSpPr>
          <p:nvPr/>
        </p:nvSpPr>
        <p:spPr>
          <a:xfrm xmlns:a="http://schemas.openxmlformats.org/drawingml/2006/main">
            <a:off x="609600" y="59912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344054"/>
                </a:solidFill>
                <a:latin typeface="Microsoft YaHei"/>
                <a:ea typeface="Microsoft YaHei"/>
                <a:cs typeface="Microsoft YaHei"/>
              </a:defRPr>
            </a:pPr>
            <a:r>
              <a:rPr sz="1500" b="0">
                <a:solidFill>
                  <a:srgbClr val="344054"/>
                </a:solidFill>
                <a:latin typeface="Microsoft YaHei"/>
                <a:ea typeface="Microsoft YaHei"/>
                <a:cs typeface="Microsoft YaHei"/>
              </a:rPr>
              <a:t>失阱后停止演化。SLM 开关改变势场，位置和速度不重置。</a:t>
            </a:r>
          </a:p>
        </p:txBody>
      </p:sp>
    </p:spTree>
    <p:extLst>
      <p:ext uri="{BB962C8B-B14F-4D97-AF65-F5344CB8AC3E}">
        <p14:creationId xmlns:p14="http://schemas.microsoft.com/office/powerpoint/2010/main" val="1721308100"/>
      </p:ext>
    </p:extLst>
  </p:cSld>
</p:sld>
</file>

<file path=ppt/slides/slide3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009E3E0-236B-4796-8C6C-3F73E071245F}"/>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手工 200 μs：连续存活曲线</a:t>
            </a:r>
          </a:p>
        </p:txBody>
      </p:sp>
      <p:sp>
        <p:nvSpPr>
          <p:cNvPr id="2" name="">
            <a:extLst xmlns:a="http://schemas.openxmlformats.org/drawingml/2006/main">
              <a:ext uri="{FF2B5EF4-FFF2-40B4-BE49-F238E27FC236}">
                <a16:creationId xmlns:a16="http://schemas.microsoft.com/office/drawing/2014/main" id="{3163B760-D5B2-4338-96C3-25FDD3534D22}"/>
              </a:ext>
            </a:extLst>
          </p:cNvPr>
          <p:cNvSpPr>
            <a:spLocks xmlns:a="http://schemas.openxmlformats.org/drawingml/2006/main" noGrp="1"/>
          </p:cNvSpPr>
          <p:nvPr/>
        </p:nvSpPr>
        <p:spPr>
          <a:xfrm xmlns:a="http://schemas.openxmlformats.org/drawingml/2006/main">
            <a:off x="609600" y="9334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7085"/>
                </a:solidFill>
                <a:latin typeface="Microsoft YaHei"/>
                <a:ea typeface="Microsoft YaHei"/>
                <a:cs typeface="Microsoft YaHei"/>
              </a:defRPr>
            </a:pPr>
            <a:r>
              <a:rPr sz="1350" b="0">
                <a:solidFill>
                  <a:srgbClr val="667085"/>
                </a:solidFill>
                <a:latin typeface="Microsoft YaHei"/>
                <a:ea typeface="Microsoft YaHei"/>
                <a:cs typeface="Microsoft YaHei"/>
              </a:rPr>
              <a:t>按原始 Fig. 6d 数字化点验收，要求所有点偏差不超过 0.02</a:t>
            </a:r>
          </a:p>
        </p:txBody>
      </p:sp>
      <p:sp>
        <p:nvSpPr>
          <p:cNvPr id="3" name="">
            <a:extLst xmlns:a="http://schemas.openxmlformats.org/drawingml/2006/main">
              <a:ext uri="{FF2B5EF4-FFF2-40B4-BE49-F238E27FC236}">
                <a16:creationId xmlns:a16="http://schemas.microsoft.com/office/drawing/2014/main" id="{D7BDD5CB-2086-4599-A0DA-5A84BE4B998E}"/>
              </a:ext>
            </a:extLst>
          </p:cNvPr>
          <p:cNvSpPr>
            <a:spLocks xmlns:a="http://schemas.openxmlformats.org/drawingml/2006/main" noGrp="1"/>
          </p:cNvSpPr>
          <p:nvPr/>
        </p:nvSpPr>
        <p:spPr>
          <a:xfrm xmlns:a="http://schemas.openxmlformats.org/drawingml/2006/main">
            <a:off x="609600" y="6524625"/>
            <a:ext cx="1009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连续全流程重算  ·  参数与数值来源见配套报告 v10</a:t>
            </a:r>
          </a:p>
        </p:txBody>
      </p:sp>
      <p:sp>
        <p:nvSpPr>
          <p:cNvPr id="4" name="">
            <a:extLst xmlns:a="http://schemas.openxmlformats.org/drawingml/2006/main">
              <a:ext uri="{FF2B5EF4-FFF2-40B4-BE49-F238E27FC236}">
                <a16:creationId xmlns:a16="http://schemas.microsoft.com/office/drawing/2014/main" id="{A8DD0672-BB09-4E92-B2F1-BF78BD043D22}"/>
              </a:ext>
            </a:extLst>
          </p:cNvPr>
          <p:cNvSpPr>
            <a:spLocks xmlns:a="http://schemas.openxmlformats.org/drawingml/2006/main" noGrp="1"/>
          </p:cNvSpPr>
          <p:nvPr/>
        </p:nvSpPr>
        <p:spPr>
          <a:xfrm xmlns:a="http://schemas.openxmlformats.org/drawingml/2006/main">
            <a:off x="11049000" y="65151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35</a:t>
            </a:r>
          </a:p>
        </p:txBody>
      </p:sp>
      <p:graphicFrame>
        <p:nvGraphicFramePr>
          <p:cNvPr id="14" name="Chart"/>
          <p:cNvGraphicFramePr/>
          <p:nvPr/>
        </p:nvGraphicFramePr>
        <p:xfrm>
          <a:off xmlns:a="http://schemas.openxmlformats.org/drawingml/2006/main" x="609600" y="1571625"/>
          <a:ext xmlns:a="http://schemas.openxmlformats.org/drawingml/2006/main" cx="7810500" cy="4000500"/>
        </p:xfrm>
        <a:graphic xmlns:a="http://schemas.openxmlformats.org/drawingml/2006/main">
          <a:graphicData uri="http://schemas.openxmlformats.org/drawingml/2006/chart">
            <c:chart xmlns:r="http://schemas.openxmlformats.org/officeDocument/2006/relationships" xmlns:c="http://schemas.openxmlformats.org/drawingml/2006/chart" r:id="R36daa523f74d486b"/>
          </a:graphicData>
        </a:graphic>
      </p:graphicFrame>
      <p:sp>
        <p:nvSpPr>
          <p:cNvPr id="6" name="">
            <a:extLst xmlns:a="http://schemas.openxmlformats.org/drawingml/2006/main">
              <a:ext uri="{FF2B5EF4-FFF2-40B4-BE49-F238E27FC236}">
                <a16:creationId xmlns:a16="http://schemas.microsoft.com/office/drawing/2014/main" id="{572DF5C4-CF89-41DC-9791-26BB5E2A4921}"/>
              </a:ext>
            </a:extLst>
          </p:cNvPr>
          <p:cNvSpPr>
            <a:spLocks xmlns:a="http://schemas.openxmlformats.org/drawingml/2006/main" noGrp="1"/>
          </p:cNvSpPr>
          <p:nvPr/>
        </p:nvSpPr>
        <p:spPr>
          <a:xfrm xmlns:a="http://schemas.openxmlformats.org/drawingml/2006/main">
            <a:off x="8763000" y="1657350"/>
            <a:ext cx="2743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02A43"/>
                </a:solidFill>
                <a:latin typeface="Microsoft YaHei"/>
                <a:ea typeface="Microsoft YaHei"/>
                <a:cs typeface="Microsoft YaHei"/>
              </a:defRPr>
            </a:pPr>
            <a:r>
              <a:rPr sz="1875" b="1">
                <a:solidFill>
                  <a:srgbClr val="102A43"/>
                </a:solidFill>
                <a:latin typeface="Microsoft YaHei"/>
                <a:ea typeface="Microsoft YaHei"/>
                <a:cs typeface="Microsoft YaHei"/>
              </a:rPr>
              <a:t>冻结参数复核</a:t>
            </a:r>
          </a:p>
        </p:txBody>
      </p:sp>
      <p:sp>
        <p:nvSpPr>
          <p:cNvPr id="7" name="">
            <a:extLst xmlns:a="http://schemas.openxmlformats.org/drawingml/2006/main">
              <a:ext uri="{FF2B5EF4-FFF2-40B4-BE49-F238E27FC236}">
                <a16:creationId xmlns:a16="http://schemas.microsoft.com/office/drawing/2014/main" id="{A9EAB6BF-9D42-437D-A99F-C9C852A5DC9D}"/>
              </a:ext>
            </a:extLst>
          </p:cNvPr>
          <p:cNvSpPr>
            <a:spLocks xmlns:a="http://schemas.openxmlformats.org/drawingml/2006/main" noGrp="1"/>
          </p:cNvSpPr>
          <p:nvPr/>
        </p:nvSpPr>
        <p:spPr>
          <a:xfrm xmlns:a="http://schemas.openxmlformats.org/drawingml/2006/main">
            <a:off x="8763000" y="2200275"/>
            <a:ext cx="27432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44054"/>
                </a:solidFill>
                <a:latin typeface="Microsoft YaHei"/>
                <a:ea typeface="Microsoft YaHei"/>
                <a:cs typeface="Microsoft YaHei"/>
              </a:defRPr>
            </a:pPr>
            <a:r>
              <a:rPr sz="1800" b="0">
                <a:solidFill>
                  <a:srgbClr val="344054"/>
                </a:solidFill>
                <a:latin typeface="Microsoft YaHei"/>
                <a:ea typeface="Microsoft YaHei"/>
                <a:cs typeface="Microsoft YaHei"/>
              </a:rPr>
              <a:t>T = Tref = 5 μK</a:t>
            </a:r>
          </a:p>
          <a:p xmlns:a="http://schemas.openxmlformats.org/drawingml/2006/main">
            <a:pPr>
              <a:defRPr sz="1800" b="0">
                <a:solidFill>
                  <a:srgbClr val="344054"/>
                </a:solidFill>
                <a:latin typeface="Microsoft YaHei"/>
                <a:ea typeface="Microsoft YaHei"/>
                <a:cs typeface="Microsoft YaHei"/>
              </a:defRPr>
            </a:pPr>
            <a:r>
              <a:rPr sz="1800" b="0">
                <a:solidFill>
                  <a:srgbClr val="344054"/>
                </a:solidFill>
                <a:latin typeface="Microsoft YaHei"/>
                <a:ea typeface="Microsoft YaHei"/>
                <a:cs typeface="Microsoft YaHei"/>
              </a:rPr>
              <a:t>末点 0.2610</a:t>
            </a:r>
          </a:p>
          <a:p xmlns:a="http://schemas.openxmlformats.org/drawingml/2006/main">
            <a:pPr>
              <a:defRPr sz="1800" b="0">
                <a:solidFill>
                  <a:srgbClr val="344054"/>
                </a:solidFill>
                <a:latin typeface="Microsoft YaHei"/>
                <a:ea typeface="Microsoft YaHei"/>
                <a:cs typeface="Microsoft YaHei"/>
              </a:defRPr>
            </a:pPr>
            <a:r>
              <a:rPr sz="1800" b="0">
                <a:solidFill>
                  <a:srgbClr val="344054"/>
                </a:solidFill>
                <a:latin typeface="Microsoft YaHei"/>
                <a:ea typeface="Microsoft YaHei"/>
                <a:cs typeface="Microsoft YaHei"/>
              </a:rPr>
              <a:t>论文 0.3344</a:t>
            </a:r>
          </a:p>
        </p:txBody>
      </p:sp>
      <p:sp>
        <p:nvSpPr>
          <p:cNvPr id="8" name="">
            <a:extLst xmlns:a="http://schemas.openxmlformats.org/drawingml/2006/main">
              <a:ext uri="{FF2B5EF4-FFF2-40B4-BE49-F238E27FC236}">
                <a16:creationId xmlns:a16="http://schemas.microsoft.com/office/drawing/2014/main" id="{5AEA6D47-C5AA-4E54-96B8-6CC43F30BF45}"/>
              </a:ext>
            </a:extLst>
          </p:cNvPr>
          <p:cNvSpPr>
            <a:spLocks xmlns:a="http://schemas.openxmlformats.org/drawingml/2006/main" noGrp="1"/>
          </p:cNvSpPr>
          <p:nvPr/>
        </p:nvSpPr>
        <p:spPr>
          <a:xfrm xmlns:a="http://schemas.openxmlformats.org/drawingml/2006/main">
            <a:off x="8763000" y="3876675"/>
            <a:ext cx="2743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D92D20"/>
                </a:solidFill>
                <a:latin typeface="Microsoft YaHei"/>
                <a:ea typeface="Microsoft YaHei"/>
                <a:cs typeface="Microsoft YaHei"/>
              </a:defRPr>
            </a:pPr>
            <a:r>
              <a:rPr sz="1650" b="1">
                <a:solidFill>
                  <a:srgbClr val="D92D20"/>
                </a:solidFill>
                <a:latin typeface="Microsoft YaHei"/>
                <a:ea typeface="Microsoft YaHei"/>
                <a:cs typeface="Microsoft YaHei"/>
              </a:rPr>
              <a:t>最大偏差 0.0757</a:t>
            </a:r>
          </a:p>
          <a:p xmlns:a="http://schemas.openxmlformats.org/drawingml/2006/main">
            <a:pPr>
              <a:defRPr sz="1650" b="1">
                <a:solidFill>
                  <a:srgbClr val="D92D20"/>
                </a:solidFill>
                <a:latin typeface="Microsoft YaHei"/>
                <a:ea typeface="Microsoft YaHei"/>
                <a:cs typeface="Microsoft YaHei"/>
              </a:defRPr>
            </a:pPr>
            <a:r>
              <a:rPr sz="1650" b="1">
                <a:solidFill>
                  <a:srgbClr val="D92D20"/>
                </a:solidFill>
                <a:latin typeface="Microsoft YaHei"/>
                <a:ea typeface="Microsoft YaHei"/>
                <a:cs typeface="Microsoft YaHei"/>
              </a:rPr>
              <a:t>最差位置 n=21</a:t>
            </a:r>
          </a:p>
          <a:p xmlns:a="http://schemas.openxmlformats.org/drawingml/2006/main">
            <a:pPr>
              <a:defRPr sz="1650" b="1">
                <a:solidFill>
                  <a:srgbClr val="D92D20"/>
                </a:solidFill>
                <a:latin typeface="Microsoft YaHei"/>
                <a:ea typeface="Microsoft YaHei"/>
                <a:cs typeface="Microsoft YaHei"/>
              </a:defRPr>
            </a:pPr>
            <a:r>
              <a:rPr sz="1650" b="1">
                <a:solidFill>
                  <a:srgbClr val="D92D20"/>
                </a:solidFill>
                <a:latin typeface="Microsoft YaHei"/>
                <a:ea typeface="Microsoft YaHei"/>
                <a:cs typeface="Microsoft YaHei"/>
              </a:rPr>
              <a:t>整曲线未通过</a:t>
            </a:r>
          </a:p>
        </p:txBody>
      </p:sp>
      <p:sp>
        <p:nvSpPr>
          <p:cNvPr id="9" name="">
            <a:extLst xmlns:a="http://schemas.openxmlformats.org/drawingml/2006/main">
              <a:ext uri="{FF2B5EF4-FFF2-40B4-BE49-F238E27FC236}">
                <a16:creationId xmlns:a16="http://schemas.microsoft.com/office/drawing/2014/main" id="{7CE8D93F-5F32-46B2-84EC-B35502B8DB58}"/>
              </a:ext>
            </a:extLst>
          </p:cNvPr>
          <p:cNvSpPr>
            <a:spLocks xmlns:a="http://schemas.openxmlformats.org/drawingml/2006/main" noGrp="1"/>
          </p:cNvSpPr>
          <p:nvPr/>
        </p:nvSpPr>
        <p:spPr>
          <a:xfrm xmlns:a="http://schemas.openxmlformats.org/drawingml/2006/main">
            <a:off x="609600" y="58102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344054"/>
                </a:solidFill>
                <a:latin typeface="Microsoft YaHei"/>
                <a:ea typeface="Microsoft YaHei"/>
                <a:cs typeface="Microsoft YaHei"/>
              </a:defRPr>
            </a:pPr>
            <a:r>
              <a:rPr sz="1500" b="0">
                <a:solidFill>
                  <a:srgbClr val="344054"/>
                </a:solidFill>
                <a:latin typeface="Microsoft YaHei"/>
                <a:ea typeface="Microsoft YaHei"/>
                <a:cs typeface="Microsoft YaHei"/>
              </a:rPr>
              <a:t>灰/蓝线为 512-shot、dt=0.05 μs 对照。红线为 4096-shot、dt=0.0125 μs 独立复核。</a:t>
            </a:r>
          </a:p>
        </p:txBody>
      </p:sp>
    </p:spTree>
    <p:extLst>
      <p:ext uri="{BB962C8B-B14F-4D97-AF65-F5344CB8AC3E}">
        <p14:creationId xmlns:p14="http://schemas.microsoft.com/office/powerpoint/2010/main" val="136214490"/>
      </p:ext>
    </p:extLst>
  </p:cSld>
</p:sld>
</file>

<file path=ppt/slides/slide3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4A70186-D429-4F6F-B4C8-989CCDDE9554}"/>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手工 400 μs：连续存活曲线</a:t>
            </a:r>
          </a:p>
        </p:txBody>
      </p:sp>
      <p:sp>
        <p:nvSpPr>
          <p:cNvPr id="2" name="">
            <a:extLst xmlns:a="http://schemas.openxmlformats.org/drawingml/2006/main">
              <a:ext uri="{FF2B5EF4-FFF2-40B4-BE49-F238E27FC236}">
                <a16:creationId xmlns:a16="http://schemas.microsoft.com/office/drawing/2014/main" id="{10065236-3B7F-431A-8CE4-A2F993D22745}"/>
              </a:ext>
            </a:extLst>
          </p:cNvPr>
          <p:cNvSpPr>
            <a:spLocks xmlns:a="http://schemas.openxmlformats.org/drawingml/2006/main" noGrp="1"/>
          </p:cNvSpPr>
          <p:nvPr/>
        </p:nvSpPr>
        <p:spPr>
          <a:xfrm xmlns:a="http://schemas.openxmlformats.org/drawingml/2006/main">
            <a:off x="609600" y="9334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7085"/>
                </a:solidFill>
                <a:latin typeface="Microsoft YaHei"/>
                <a:ea typeface="Microsoft YaHei"/>
                <a:cs typeface="Microsoft YaHei"/>
              </a:defRPr>
            </a:pPr>
            <a:r>
              <a:rPr sz="1350" b="0">
                <a:solidFill>
                  <a:srgbClr val="667085"/>
                </a:solidFill>
                <a:latin typeface="Microsoft YaHei"/>
                <a:ea typeface="Microsoft YaHei"/>
                <a:cs typeface="Microsoft YaHei"/>
              </a:rPr>
              <a:t>按原始 Fig. 6d 数字化点验收，要求所有点偏差不超过 0.02</a:t>
            </a:r>
          </a:p>
        </p:txBody>
      </p:sp>
      <p:sp>
        <p:nvSpPr>
          <p:cNvPr id="3" name="">
            <a:extLst xmlns:a="http://schemas.openxmlformats.org/drawingml/2006/main">
              <a:ext uri="{FF2B5EF4-FFF2-40B4-BE49-F238E27FC236}">
                <a16:creationId xmlns:a16="http://schemas.microsoft.com/office/drawing/2014/main" id="{331316D5-1434-48E3-9361-BEF63D8C7441}"/>
              </a:ext>
            </a:extLst>
          </p:cNvPr>
          <p:cNvSpPr>
            <a:spLocks xmlns:a="http://schemas.openxmlformats.org/drawingml/2006/main" noGrp="1"/>
          </p:cNvSpPr>
          <p:nvPr/>
        </p:nvSpPr>
        <p:spPr>
          <a:xfrm xmlns:a="http://schemas.openxmlformats.org/drawingml/2006/main">
            <a:off x="609600" y="6524625"/>
            <a:ext cx="1009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连续全流程重算  ·  参数与数值来源见配套报告 v10</a:t>
            </a:r>
          </a:p>
        </p:txBody>
      </p:sp>
      <p:sp>
        <p:nvSpPr>
          <p:cNvPr id="4" name="">
            <a:extLst xmlns:a="http://schemas.openxmlformats.org/drawingml/2006/main">
              <a:ext uri="{FF2B5EF4-FFF2-40B4-BE49-F238E27FC236}">
                <a16:creationId xmlns:a16="http://schemas.microsoft.com/office/drawing/2014/main" id="{5C57DD20-238F-47FB-BA0D-3A679470A693}"/>
              </a:ext>
            </a:extLst>
          </p:cNvPr>
          <p:cNvSpPr>
            <a:spLocks xmlns:a="http://schemas.openxmlformats.org/drawingml/2006/main" noGrp="1"/>
          </p:cNvSpPr>
          <p:nvPr/>
        </p:nvSpPr>
        <p:spPr>
          <a:xfrm xmlns:a="http://schemas.openxmlformats.org/drawingml/2006/main">
            <a:off x="11049000" y="65151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36</a:t>
            </a:r>
          </a:p>
        </p:txBody>
      </p:sp>
      <p:graphicFrame>
        <p:nvGraphicFramePr>
          <p:cNvPr id="14" name="Chart"/>
          <p:cNvGraphicFramePr/>
          <p:nvPr/>
        </p:nvGraphicFramePr>
        <p:xfrm>
          <a:off xmlns:a="http://schemas.openxmlformats.org/drawingml/2006/main" x="609600" y="1571625"/>
          <a:ext xmlns:a="http://schemas.openxmlformats.org/drawingml/2006/main" cx="7810500" cy="4000500"/>
        </p:xfrm>
        <a:graphic xmlns:a="http://schemas.openxmlformats.org/drawingml/2006/main">
          <a:graphicData uri="http://schemas.openxmlformats.org/drawingml/2006/chart">
            <c:chart xmlns:r="http://schemas.openxmlformats.org/officeDocument/2006/relationships" xmlns:c="http://schemas.openxmlformats.org/drawingml/2006/chart" r:id="R0e289b1c2f514808"/>
          </a:graphicData>
        </a:graphic>
      </p:graphicFrame>
      <p:sp>
        <p:nvSpPr>
          <p:cNvPr id="6" name="">
            <a:extLst xmlns:a="http://schemas.openxmlformats.org/drawingml/2006/main">
              <a:ext uri="{FF2B5EF4-FFF2-40B4-BE49-F238E27FC236}">
                <a16:creationId xmlns:a16="http://schemas.microsoft.com/office/drawing/2014/main" id="{C2071EE8-B216-4CB9-899A-077F16157E68}"/>
              </a:ext>
            </a:extLst>
          </p:cNvPr>
          <p:cNvSpPr>
            <a:spLocks xmlns:a="http://schemas.openxmlformats.org/drawingml/2006/main" noGrp="1"/>
          </p:cNvSpPr>
          <p:nvPr/>
        </p:nvSpPr>
        <p:spPr>
          <a:xfrm xmlns:a="http://schemas.openxmlformats.org/drawingml/2006/main">
            <a:off x="8763000" y="1657350"/>
            <a:ext cx="2743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02A43"/>
                </a:solidFill>
                <a:latin typeface="Microsoft YaHei"/>
                <a:ea typeface="Microsoft YaHei"/>
                <a:cs typeface="Microsoft YaHei"/>
              </a:defRPr>
            </a:pPr>
            <a:r>
              <a:rPr sz="1875" b="1">
                <a:solidFill>
                  <a:srgbClr val="102A43"/>
                </a:solidFill>
                <a:latin typeface="Microsoft YaHei"/>
                <a:ea typeface="Microsoft YaHei"/>
                <a:cs typeface="Microsoft YaHei"/>
              </a:rPr>
              <a:t>冻结参数复核</a:t>
            </a:r>
          </a:p>
        </p:txBody>
      </p:sp>
      <p:sp>
        <p:nvSpPr>
          <p:cNvPr id="7" name="">
            <a:extLst xmlns:a="http://schemas.openxmlformats.org/drawingml/2006/main">
              <a:ext uri="{FF2B5EF4-FFF2-40B4-BE49-F238E27FC236}">
                <a16:creationId xmlns:a16="http://schemas.microsoft.com/office/drawing/2014/main" id="{4EE3FB60-B4B7-4C1B-9FBF-F78CBC724CE4}"/>
              </a:ext>
            </a:extLst>
          </p:cNvPr>
          <p:cNvSpPr>
            <a:spLocks xmlns:a="http://schemas.openxmlformats.org/drawingml/2006/main" noGrp="1"/>
          </p:cNvSpPr>
          <p:nvPr/>
        </p:nvSpPr>
        <p:spPr>
          <a:xfrm xmlns:a="http://schemas.openxmlformats.org/drawingml/2006/main">
            <a:off x="8763000" y="2200275"/>
            <a:ext cx="27432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44054"/>
                </a:solidFill>
                <a:latin typeface="Microsoft YaHei"/>
                <a:ea typeface="Microsoft YaHei"/>
                <a:cs typeface="Microsoft YaHei"/>
              </a:defRPr>
            </a:pPr>
            <a:r>
              <a:rPr sz="1800" b="0">
                <a:solidFill>
                  <a:srgbClr val="344054"/>
                </a:solidFill>
                <a:latin typeface="Microsoft YaHei"/>
                <a:ea typeface="Microsoft YaHei"/>
                <a:cs typeface="Microsoft YaHei"/>
              </a:rPr>
              <a:t>T = Tref = 15 μK</a:t>
            </a:r>
          </a:p>
          <a:p xmlns:a="http://schemas.openxmlformats.org/drawingml/2006/main">
            <a:pPr>
              <a:defRPr sz="1800" b="0">
                <a:solidFill>
                  <a:srgbClr val="344054"/>
                </a:solidFill>
                <a:latin typeface="Microsoft YaHei"/>
                <a:ea typeface="Microsoft YaHei"/>
                <a:cs typeface="Microsoft YaHei"/>
              </a:defRPr>
            </a:pPr>
            <a:r>
              <a:rPr sz="1800" b="0">
                <a:solidFill>
                  <a:srgbClr val="344054"/>
                </a:solidFill>
                <a:latin typeface="Microsoft YaHei"/>
                <a:ea typeface="Microsoft YaHei"/>
                <a:cs typeface="Microsoft YaHei"/>
              </a:rPr>
              <a:t>末点 0.4949</a:t>
            </a:r>
          </a:p>
          <a:p xmlns:a="http://schemas.openxmlformats.org/drawingml/2006/main">
            <a:pPr>
              <a:defRPr sz="1800" b="0">
                <a:solidFill>
                  <a:srgbClr val="344054"/>
                </a:solidFill>
                <a:latin typeface="Microsoft YaHei"/>
                <a:ea typeface="Microsoft YaHei"/>
                <a:cs typeface="Microsoft YaHei"/>
              </a:defRPr>
            </a:pPr>
            <a:r>
              <a:rPr sz="1800" b="0">
                <a:solidFill>
                  <a:srgbClr val="344054"/>
                </a:solidFill>
                <a:latin typeface="Microsoft YaHei"/>
                <a:ea typeface="Microsoft YaHei"/>
                <a:cs typeface="Microsoft YaHei"/>
              </a:rPr>
              <a:t>论文 0.4135</a:t>
            </a:r>
          </a:p>
        </p:txBody>
      </p:sp>
      <p:sp>
        <p:nvSpPr>
          <p:cNvPr id="8" name="">
            <a:extLst xmlns:a="http://schemas.openxmlformats.org/drawingml/2006/main">
              <a:ext uri="{FF2B5EF4-FFF2-40B4-BE49-F238E27FC236}">
                <a16:creationId xmlns:a16="http://schemas.microsoft.com/office/drawing/2014/main" id="{675BC63B-D93E-40A9-8F39-2E54DEB51830}"/>
              </a:ext>
            </a:extLst>
          </p:cNvPr>
          <p:cNvSpPr>
            <a:spLocks xmlns:a="http://schemas.openxmlformats.org/drawingml/2006/main" noGrp="1"/>
          </p:cNvSpPr>
          <p:nvPr/>
        </p:nvSpPr>
        <p:spPr>
          <a:xfrm xmlns:a="http://schemas.openxmlformats.org/drawingml/2006/main">
            <a:off x="8763000" y="3876675"/>
            <a:ext cx="2743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D92D20"/>
                </a:solidFill>
                <a:latin typeface="Microsoft YaHei"/>
                <a:ea typeface="Microsoft YaHei"/>
                <a:cs typeface="Microsoft YaHei"/>
              </a:defRPr>
            </a:pPr>
            <a:r>
              <a:rPr sz="1650" b="1">
                <a:solidFill>
                  <a:srgbClr val="D92D20"/>
                </a:solidFill>
                <a:latin typeface="Microsoft YaHei"/>
                <a:ea typeface="Microsoft YaHei"/>
                <a:cs typeface="Microsoft YaHei"/>
              </a:rPr>
              <a:t>最大偏差 0.0981</a:t>
            </a:r>
          </a:p>
          <a:p xmlns:a="http://schemas.openxmlformats.org/drawingml/2006/main">
            <a:pPr>
              <a:defRPr sz="1650" b="1">
                <a:solidFill>
                  <a:srgbClr val="D92D20"/>
                </a:solidFill>
                <a:latin typeface="Microsoft YaHei"/>
                <a:ea typeface="Microsoft YaHei"/>
                <a:cs typeface="Microsoft YaHei"/>
              </a:defRPr>
            </a:pPr>
            <a:r>
              <a:rPr sz="1650" b="1">
                <a:solidFill>
                  <a:srgbClr val="D92D20"/>
                </a:solidFill>
                <a:latin typeface="Microsoft YaHei"/>
                <a:ea typeface="Microsoft YaHei"/>
                <a:cs typeface="Microsoft YaHei"/>
              </a:rPr>
              <a:t>最差位置 n=39</a:t>
            </a:r>
          </a:p>
          <a:p xmlns:a="http://schemas.openxmlformats.org/drawingml/2006/main">
            <a:pPr>
              <a:defRPr sz="1650" b="1">
                <a:solidFill>
                  <a:srgbClr val="D92D20"/>
                </a:solidFill>
                <a:latin typeface="Microsoft YaHei"/>
                <a:ea typeface="Microsoft YaHei"/>
                <a:cs typeface="Microsoft YaHei"/>
              </a:defRPr>
            </a:pPr>
            <a:r>
              <a:rPr sz="1650" b="1">
                <a:solidFill>
                  <a:srgbClr val="D92D20"/>
                </a:solidFill>
                <a:latin typeface="Microsoft YaHei"/>
                <a:ea typeface="Microsoft YaHei"/>
                <a:cs typeface="Microsoft YaHei"/>
              </a:rPr>
              <a:t>整曲线未通过</a:t>
            </a:r>
          </a:p>
        </p:txBody>
      </p:sp>
      <p:sp>
        <p:nvSpPr>
          <p:cNvPr id="9" name="">
            <a:extLst xmlns:a="http://schemas.openxmlformats.org/drawingml/2006/main">
              <a:ext uri="{FF2B5EF4-FFF2-40B4-BE49-F238E27FC236}">
                <a16:creationId xmlns:a16="http://schemas.microsoft.com/office/drawing/2014/main" id="{44AA1B14-33C4-48A3-8B5B-0B2D1F0398FD}"/>
              </a:ext>
            </a:extLst>
          </p:cNvPr>
          <p:cNvSpPr>
            <a:spLocks xmlns:a="http://schemas.openxmlformats.org/drawingml/2006/main" noGrp="1"/>
          </p:cNvSpPr>
          <p:nvPr/>
        </p:nvSpPr>
        <p:spPr>
          <a:xfrm xmlns:a="http://schemas.openxmlformats.org/drawingml/2006/main">
            <a:off x="609600" y="58102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344054"/>
                </a:solidFill>
                <a:latin typeface="Microsoft YaHei"/>
                <a:ea typeface="Microsoft YaHei"/>
                <a:cs typeface="Microsoft YaHei"/>
              </a:defRPr>
            </a:pPr>
            <a:r>
              <a:rPr sz="1500" b="0">
                <a:solidFill>
                  <a:srgbClr val="344054"/>
                </a:solidFill>
                <a:latin typeface="Microsoft YaHei"/>
                <a:ea typeface="Microsoft YaHei"/>
                <a:cs typeface="Microsoft YaHei"/>
              </a:rPr>
              <a:t>灰/蓝线为 512-shot、dt=0.05 μs 对照。红线为 4096-shot、dt=0.0125 μs 独立复核。</a:t>
            </a:r>
          </a:p>
        </p:txBody>
      </p:sp>
    </p:spTree>
    <p:extLst>
      <p:ext uri="{BB962C8B-B14F-4D97-AF65-F5344CB8AC3E}">
        <p14:creationId xmlns:p14="http://schemas.microsoft.com/office/powerpoint/2010/main" val="36473049"/>
      </p:ext>
    </p:extLst>
  </p:cSld>
</p:sld>
</file>

<file path=ppt/slides/slide3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79FE251-7FD1-46E2-93B3-927A11AF6A88}"/>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手工 600 μs：连续存活曲线</a:t>
            </a:r>
          </a:p>
        </p:txBody>
      </p:sp>
      <p:sp>
        <p:nvSpPr>
          <p:cNvPr id="2" name="">
            <a:extLst xmlns:a="http://schemas.openxmlformats.org/drawingml/2006/main">
              <a:ext uri="{FF2B5EF4-FFF2-40B4-BE49-F238E27FC236}">
                <a16:creationId xmlns:a16="http://schemas.microsoft.com/office/drawing/2014/main" id="{DBCACDD5-B593-4969-BBA2-1DC1E5F14BD5}"/>
              </a:ext>
            </a:extLst>
          </p:cNvPr>
          <p:cNvSpPr>
            <a:spLocks xmlns:a="http://schemas.openxmlformats.org/drawingml/2006/main" noGrp="1"/>
          </p:cNvSpPr>
          <p:nvPr/>
        </p:nvSpPr>
        <p:spPr>
          <a:xfrm xmlns:a="http://schemas.openxmlformats.org/drawingml/2006/main">
            <a:off x="609600" y="9334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7085"/>
                </a:solidFill>
                <a:latin typeface="Microsoft YaHei"/>
                <a:ea typeface="Microsoft YaHei"/>
                <a:cs typeface="Microsoft YaHei"/>
              </a:defRPr>
            </a:pPr>
            <a:r>
              <a:rPr sz="1350" b="0">
                <a:solidFill>
                  <a:srgbClr val="667085"/>
                </a:solidFill>
                <a:latin typeface="Microsoft YaHei"/>
                <a:ea typeface="Microsoft YaHei"/>
                <a:cs typeface="Microsoft YaHei"/>
              </a:rPr>
              <a:t>按原始 Fig. 6d 数字化点验收，要求所有点偏差不超过 0.02</a:t>
            </a:r>
          </a:p>
        </p:txBody>
      </p:sp>
      <p:sp>
        <p:nvSpPr>
          <p:cNvPr id="3" name="">
            <a:extLst xmlns:a="http://schemas.openxmlformats.org/drawingml/2006/main">
              <a:ext uri="{FF2B5EF4-FFF2-40B4-BE49-F238E27FC236}">
                <a16:creationId xmlns:a16="http://schemas.microsoft.com/office/drawing/2014/main" id="{06034746-5246-48D9-89AD-CF1C1FC569F3}"/>
              </a:ext>
            </a:extLst>
          </p:cNvPr>
          <p:cNvSpPr>
            <a:spLocks xmlns:a="http://schemas.openxmlformats.org/drawingml/2006/main" noGrp="1"/>
          </p:cNvSpPr>
          <p:nvPr/>
        </p:nvSpPr>
        <p:spPr>
          <a:xfrm xmlns:a="http://schemas.openxmlformats.org/drawingml/2006/main">
            <a:off x="609600" y="6524625"/>
            <a:ext cx="1009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连续全流程重算  ·  参数与数值来源见配套报告 v10</a:t>
            </a:r>
          </a:p>
        </p:txBody>
      </p:sp>
      <p:sp>
        <p:nvSpPr>
          <p:cNvPr id="4" name="">
            <a:extLst xmlns:a="http://schemas.openxmlformats.org/drawingml/2006/main">
              <a:ext uri="{FF2B5EF4-FFF2-40B4-BE49-F238E27FC236}">
                <a16:creationId xmlns:a16="http://schemas.microsoft.com/office/drawing/2014/main" id="{159B08EA-A529-4180-8A8C-8A89BA096514}"/>
              </a:ext>
            </a:extLst>
          </p:cNvPr>
          <p:cNvSpPr>
            <a:spLocks xmlns:a="http://schemas.openxmlformats.org/drawingml/2006/main" noGrp="1"/>
          </p:cNvSpPr>
          <p:nvPr/>
        </p:nvSpPr>
        <p:spPr>
          <a:xfrm xmlns:a="http://schemas.openxmlformats.org/drawingml/2006/main">
            <a:off x="11049000" y="65151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37</a:t>
            </a:r>
          </a:p>
        </p:txBody>
      </p:sp>
      <p:graphicFrame>
        <p:nvGraphicFramePr>
          <p:cNvPr id="14" name="Chart"/>
          <p:cNvGraphicFramePr/>
          <p:nvPr/>
        </p:nvGraphicFramePr>
        <p:xfrm>
          <a:off xmlns:a="http://schemas.openxmlformats.org/drawingml/2006/main" x="609600" y="1571625"/>
          <a:ext xmlns:a="http://schemas.openxmlformats.org/drawingml/2006/main" cx="7810500" cy="4000500"/>
        </p:xfrm>
        <a:graphic xmlns:a="http://schemas.openxmlformats.org/drawingml/2006/main">
          <a:graphicData uri="http://schemas.openxmlformats.org/drawingml/2006/chart">
            <c:chart xmlns:r="http://schemas.openxmlformats.org/officeDocument/2006/relationships" xmlns:c="http://schemas.openxmlformats.org/drawingml/2006/chart" r:id="R7c4358bdfe58480d"/>
          </a:graphicData>
        </a:graphic>
      </p:graphicFrame>
      <p:sp>
        <p:nvSpPr>
          <p:cNvPr id="6" name="">
            <a:extLst xmlns:a="http://schemas.openxmlformats.org/drawingml/2006/main">
              <a:ext uri="{FF2B5EF4-FFF2-40B4-BE49-F238E27FC236}">
                <a16:creationId xmlns:a16="http://schemas.microsoft.com/office/drawing/2014/main" id="{1E1D671C-7B97-41D5-BCD9-177FA5F916DE}"/>
              </a:ext>
            </a:extLst>
          </p:cNvPr>
          <p:cNvSpPr>
            <a:spLocks xmlns:a="http://schemas.openxmlformats.org/drawingml/2006/main" noGrp="1"/>
          </p:cNvSpPr>
          <p:nvPr/>
        </p:nvSpPr>
        <p:spPr>
          <a:xfrm xmlns:a="http://schemas.openxmlformats.org/drawingml/2006/main">
            <a:off x="8763000" y="1657350"/>
            <a:ext cx="2743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02A43"/>
                </a:solidFill>
                <a:latin typeface="Microsoft YaHei"/>
                <a:ea typeface="Microsoft YaHei"/>
                <a:cs typeface="Microsoft YaHei"/>
              </a:defRPr>
            </a:pPr>
            <a:r>
              <a:rPr sz="1875" b="1">
                <a:solidFill>
                  <a:srgbClr val="102A43"/>
                </a:solidFill>
                <a:latin typeface="Microsoft YaHei"/>
                <a:ea typeface="Microsoft YaHei"/>
                <a:cs typeface="Microsoft YaHei"/>
              </a:rPr>
              <a:t>冻结参数复核</a:t>
            </a:r>
          </a:p>
        </p:txBody>
      </p:sp>
      <p:sp>
        <p:nvSpPr>
          <p:cNvPr id="7" name="">
            <a:extLst xmlns:a="http://schemas.openxmlformats.org/drawingml/2006/main">
              <a:ext uri="{FF2B5EF4-FFF2-40B4-BE49-F238E27FC236}">
                <a16:creationId xmlns:a16="http://schemas.microsoft.com/office/drawing/2014/main" id="{9D9AE0C8-9991-49F9-B825-96017BA0E82A}"/>
              </a:ext>
            </a:extLst>
          </p:cNvPr>
          <p:cNvSpPr>
            <a:spLocks xmlns:a="http://schemas.openxmlformats.org/drawingml/2006/main" noGrp="1"/>
          </p:cNvSpPr>
          <p:nvPr/>
        </p:nvSpPr>
        <p:spPr>
          <a:xfrm xmlns:a="http://schemas.openxmlformats.org/drawingml/2006/main">
            <a:off x="8763000" y="2200275"/>
            <a:ext cx="27432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44054"/>
                </a:solidFill>
                <a:latin typeface="Microsoft YaHei"/>
                <a:ea typeface="Microsoft YaHei"/>
                <a:cs typeface="Microsoft YaHei"/>
              </a:defRPr>
            </a:pPr>
            <a:r>
              <a:rPr sz="1800" b="0">
                <a:solidFill>
                  <a:srgbClr val="344054"/>
                </a:solidFill>
                <a:latin typeface="Microsoft YaHei"/>
                <a:ea typeface="Microsoft YaHei"/>
                <a:cs typeface="Microsoft YaHei"/>
              </a:rPr>
              <a:t>T = Tref = 25 μK</a:t>
            </a:r>
          </a:p>
          <a:p xmlns:a="http://schemas.openxmlformats.org/drawingml/2006/main">
            <a:pPr>
              <a:defRPr sz="1800" b="0">
                <a:solidFill>
                  <a:srgbClr val="344054"/>
                </a:solidFill>
                <a:latin typeface="Microsoft YaHei"/>
                <a:ea typeface="Microsoft YaHei"/>
                <a:cs typeface="Microsoft YaHei"/>
              </a:defRPr>
            </a:pPr>
            <a:r>
              <a:rPr sz="1800" b="0">
                <a:solidFill>
                  <a:srgbClr val="344054"/>
                </a:solidFill>
                <a:latin typeface="Microsoft YaHei"/>
                <a:ea typeface="Microsoft YaHei"/>
                <a:cs typeface="Microsoft YaHei"/>
              </a:rPr>
              <a:t>末点 0.6284</a:t>
            </a:r>
          </a:p>
          <a:p xmlns:a="http://schemas.openxmlformats.org/drawingml/2006/main">
            <a:pPr>
              <a:defRPr sz="1800" b="0">
                <a:solidFill>
                  <a:srgbClr val="344054"/>
                </a:solidFill>
                <a:latin typeface="Microsoft YaHei"/>
                <a:ea typeface="Microsoft YaHei"/>
                <a:cs typeface="Microsoft YaHei"/>
              </a:defRPr>
            </a:pPr>
            <a:r>
              <a:rPr sz="1800" b="0">
                <a:solidFill>
                  <a:srgbClr val="344054"/>
                </a:solidFill>
                <a:latin typeface="Microsoft YaHei"/>
                <a:ea typeface="Microsoft YaHei"/>
                <a:cs typeface="Microsoft YaHei"/>
              </a:rPr>
              <a:t>论文 0.5726</a:t>
            </a:r>
          </a:p>
        </p:txBody>
      </p:sp>
      <p:sp>
        <p:nvSpPr>
          <p:cNvPr id="8" name="">
            <a:extLst xmlns:a="http://schemas.openxmlformats.org/drawingml/2006/main">
              <a:ext uri="{FF2B5EF4-FFF2-40B4-BE49-F238E27FC236}">
                <a16:creationId xmlns:a16="http://schemas.microsoft.com/office/drawing/2014/main" id="{5C7C5917-58C1-4C02-A877-79956DEFC66D}"/>
              </a:ext>
            </a:extLst>
          </p:cNvPr>
          <p:cNvSpPr>
            <a:spLocks xmlns:a="http://schemas.openxmlformats.org/drawingml/2006/main" noGrp="1"/>
          </p:cNvSpPr>
          <p:nvPr/>
        </p:nvSpPr>
        <p:spPr>
          <a:xfrm xmlns:a="http://schemas.openxmlformats.org/drawingml/2006/main">
            <a:off x="8763000" y="3876675"/>
            <a:ext cx="2743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D92D20"/>
                </a:solidFill>
                <a:latin typeface="Microsoft YaHei"/>
                <a:ea typeface="Microsoft YaHei"/>
                <a:cs typeface="Microsoft YaHei"/>
              </a:defRPr>
            </a:pPr>
            <a:r>
              <a:rPr sz="1650" b="1">
                <a:solidFill>
                  <a:srgbClr val="D92D20"/>
                </a:solidFill>
                <a:latin typeface="Microsoft YaHei"/>
                <a:ea typeface="Microsoft YaHei"/>
                <a:cs typeface="Microsoft YaHei"/>
              </a:rPr>
              <a:t>最大偏差 0.0773</a:t>
            </a:r>
          </a:p>
          <a:p xmlns:a="http://schemas.openxmlformats.org/drawingml/2006/main">
            <a:pPr>
              <a:defRPr sz="1650" b="1">
                <a:solidFill>
                  <a:srgbClr val="D92D20"/>
                </a:solidFill>
                <a:latin typeface="Microsoft YaHei"/>
                <a:ea typeface="Microsoft YaHei"/>
                <a:cs typeface="Microsoft YaHei"/>
              </a:defRPr>
            </a:pPr>
            <a:r>
              <a:rPr sz="1650" b="1">
                <a:solidFill>
                  <a:srgbClr val="D92D20"/>
                </a:solidFill>
                <a:latin typeface="Microsoft YaHei"/>
                <a:ea typeface="Microsoft YaHei"/>
                <a:cs typeface="Microsoft YaHei"/>
              </a:rPr>
              <a:t>最差位置 n=18</a:t>
            </a:r>
          </a:p>
          <a:p xmlns:a="http://schemas.openxmlformats.org/drawingml/2006/main">
            <a:pPr>
              <a:defRPr sz="1650" b="1">
                <a:solidFill>
                  <a:srgbClr val="D92D20"/>
                </a:solidFill>
                <a:latin typeface="Microsoft YaHei"/>
                <a:ea typeface="Microsoft YaHei"/>
                <a:cs typeface="Microsoft YaHei"/>
              </a:defRPr>
            </a:pPr>
            <a:r>
              <a:rPr sz="1650" b="1">
                <a:solidFill>
                  <a:srgbClr val="D92D20"/>
                </a:solidFill>
                <a:latin typeface="Microsoft YaHei"/>
                <a:ea typeface="Microsoft YaHei"/>
                <a:cs typeface="Microsoft YaHei"/>
              </a:rPr>
              <a:t>整曲线未通过</a:t>
            </a:r>
          </a:p>
        </p:txBody>
      </p:sp>
      <p:sp>
        <p:nvSpPr>
          <p:cNvPr id="9" name="">
            <a:extLst xmlns:a="http://schemas.openxmlformats.org/drawingml/2006/main">
              <a:ext uri="{FF2B5EF4-FFF2-40B4-BE49-F238E27FC236}">
                <a16:creationId xmlns:a16="http://schemas.microsoft.com/office/drawing/2014/main" id="{271302D5-BFEC-4822-B41F-86EC76368755}"/>
              </a:ext>
            </a:extLst>
          </p:cNvPr>
          <p:cNvSpPr>
            <a:spLocks xmlns:a="http://schemas.openxmlformats.org/drawingml/2006/main" noGrp="1"/>
          </p:cNvSpPr>
          <p:nvPr/>
        </p:nvSpPr>
        <p:spPr>
          <a:xfrm xmlns:a="http://schemas.openxmlformats.org/drawingml/2006/main">
            <a:off x="609600" y="58102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344054"/>
                </a:solidFill>
                <a:latin typeface="Microsoft YaHei"/>
                <a:ea typeface="Microsoft YaHei"/>
                <a:cs typeface="Microsoft YaHei"/>
              </a:defRPr>
            </a:pPr>
            <a:r>
              <a:rPr sz="1500" b="0">
                <a:solidFill>
                  <a:srgbClr val="344054"/>
                </a:solidFill>
                <a:latin typeface="Microsoft YaHei"/>
                <a:ea typeface="Microsoft YaHei"/>
                <a:cs typeface="Microsoft YaHei"/>
              </a:rPr>
              <a:t>灰/蓝线为 512-shot、dt=0.05 μs 对照。红线为 4096-shot、dt=0.0125 μs 独立复核。</a:t>
            </a:r>
          </a:p>
        </p:txBody>
      </p:sp>
    </p:spTree>
    <p:extLst>
      <p:ext uri="{BB962C8B-B14F-4D97-AF65-F5344CB8AC3E}">
        <p14:creationId xmlns:p14="http://schemas.microsoft.com/office/powerpoint/2010/main" val="1326720905"/>
      </p:ext>
    </p:extLst>
  </p:cSld>
</p:sld>
</file>

<file path=ppt/slides/slide3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5732C0C-AA43-40A1-83B1-3745B0335622}"/>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论文 ML 400 μs：连续存活曲线</a:t>
            </a:r>
          </a:p>
        </p:txBody>
      </p:sp>
      <p:sp>
        <p:nvSpPr>
          <p:cNvPr id="2" name="">
            <a:extLst xmlns:a="http://schemas.openxmlformats.org/drawingml/2006/main">
              <a:ext uri="{FF2B5EF4-FFF2-40B4-BE49-F238E27FC236}">
                <a16:creationId xmlns:a16="http://schemas.microsoft.com/office/drawing/2014/main" id="{42CE5ED1-3221-4D5F-A6D7-3DD862D35FCB}"/>
              </a:ext>
            </a:extLst>
          </p:cNvPr>
          <p:cNvSpPr>
            <a:spLocks xmlns:a="http://schemas.openxmlformats.org/drawingml/2006/main" noGrp="1"/>
          </p:cNvSpPr>
          <p:nvPr/>
        </p:nvSpPr>
        <p:spPr>
          <a:xfrm xmlns:a="http://schemas.openxmlformats.org/drawingml/2006/main">
            <a:off x="609600" y="9334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7085"/>
                </a:solidFill>
                <a:latin typeface="Microsoft YaHei"/>
                <a:ea typeface="Microsoft YaHei"/>
                <a:cs typeface="Microsoft YaHei"/>
              </a:defRPr>
            </a:pPr>
            <a:r>
              <a:rPr sz="1350" b="0">
                <a:solidFill>
                  <a:srgbClr val="667085"/>
                </a:solidFill>
                <a:latin typeface="Microsoft YaHei"/>
                <a:ea typeface="Microsoft YaHei"/>
                <a:cs typeface="Microsoft YaHei"/>
              </a:rPr>
              <a:t>按原始 Fig. 6d 数字化点验收，要求所有点偏差不超过 0.02</a:t>
            </a:r>
          </a:p>
        </p:txBody>
      </p:sp>
      <p:sp>
        <p:nvSpPr>
          <p:cNvPr id="3" name="">
            <a:extLst xmlns:a="http://schemas.openxmlformats.org/drawingml/2006/main">
              <a:ext uri="{FF2B5EF4-FFF2-40B4-BE49-F238E27FC236}">
                <a16:creationId xmlns:a16="http://schemas.microsoft.com/office/drawing/2014/main" id="{B7ED29E4-F137-4C4B-B7F0-F7ED2D3DA48D}"/>
              </a:ext>
            </a:extLst>
          </p:cNvPr>
          <p:cNvSpPr>
            <a:spLocks xmlns:a="http://schemas.openxmlformats.org/drawingml/2006/main" noGrp="1"/>
          </p:cNvSpPr>
          <p:nvPr/>
        </p:nvSpPr>
        <p:spPr>
          <a:xfrm xmlns:a="http://schemas.openxmlformats.org/drawingml/2006/main">
            <a:off x="609600" y="6524625"/>
            <a:ext cx="1009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连续全流程重算  ·  参数与数值来源见配套报告 v10</a:t>
            </a:r>
          </a:p>
        </p:txBody>
      </p:sp>
      <p:sp>
        <p:nvSpPr>
          <p:cNvPr id="4" name="">
            <a:extLst xmlns:a="http://schemas.openxmlformats.org/drawingml/2006/main">
              <a:ext uri="{FF2B5EF4-FFF2-40B4-BE49-F238E27FC236}">
                <a16:creationId xmlns:a16="http://schemas.microsoft.com/office/drawing/2014/main" id="{0BE8570E-C398-4F07-8CC1-16B49FB91182}"/>
              </a:ext>
            </a:extLst>
          </p:cNvPr>
          <p:cNvSpPr>
            <a:spLocks xmlns:a="http://schemas.openxmlformats.org/drawingml/2006/main" noGrp="1"/>
          </p:cNvSpPr>
          <p:nvPr/>
        </p:nvSpPr>
        <p:spPr>
          <a:xfrm xmlns:a="http://schemas.openxmlformats.org/drawingml/2006/main">
            <a:off x="11049000" y="65151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38</a:t>
            </a:r>
          </a:p>
        </p:txBody>
      </p:sp>
      <p:graphicFrame>
        <p:nvGraphicFramePr>
          <p:cNvPr id="14" name="Chart"/>
          <p:cNvGraphicFramePr/>
          <p:nvPr/>
        </p:nvGraphicFramePr>
        <p:xfrm>
          <a:off xmlns:a="http://schemas.openxmlformats.org/drawingml/2006/main" x="609600" y="1571625"/>
          <a:ext xmlns:a="http://schemas.openxmlformats.org/drawingml/2006/main" cx="7810500" cy="4000500"/>
        </p:xfrm>
        <a:graphic xmlns:a="http://schemas.openxmlformats.org/drawingml/2006/main">
          <a:graphicData uri="http://schemas.openxmlformats.org/drawingml/2006/chart">
            <c:chart xmlns:r="http://schemas.openxmlformats.org/officeDocument/2006/relationships" xmlns:c="http://schemas.openxmlformats.org/drawingml/2006/chart" r:id="R60f83e8415754f7d"/>
          </a:graphicData>
        </a:graphic>
      </p:graphicFrame>
      <p:sp>
        <p:nvSpPr>
          <p:cNvPr id="6" name="">
            <a:extLst xmlns:a="http://schemas.openxmlformats.org/drawingml/2006/main">
              <a:ext uri="{FF2B5EF4-FFF2-40B4-BE49-F238E27FC236}">
                <a16:creationId xmlns:a16="http://schemas.microsoft.com/office/drawing/2014/main" id="{5F2E8A25-FDCA-4F4D-9305-AAE042A9AAE1}"/>
              </a:ext>
            </a:extLst>
          </p:cNvPr>
          <p:cNvSpPr>
            <a:spLocks xmlns:a="http://schemas.openxmlformats.org/drawingml/2006/main" noGrp="1"/>
          </p:cNvSpPr>
          <p:nvPr/>
        </p:nvSpPr>
        <p:spPr>
          <a:xfrm xmlns:a="http://schemas.openxmlformats.org/drawingml/2006/main">
            <a:off x="8763000" y="1657350"/>
            <a:ext cx="2743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02A43"/>
                </a:solidFill>
                <a:latin typeface="Microsoft YaHei"/>
                <a:ea typeface="Microsoft YaHei"/>
                <a:cs typeface="Microsoft YaHei"/>
              </a:defRPr>
            </a:pPr>
            <a:r>
              <a:rPr sz="1875" b="1">
                <a:solidFill>
                  <a:srgbClr val="102A43"/>
                </a:solidFill>
                <a:latin typeface="Microsoft YaHei"/>
                <a:ea typeface="Microsoft YaHei"/>
                <a:cs typeface="Microsoft YaHei"/>
              </a:rPr>
              <a:t>冻结参数复核</a:t>
            </a:r>
          </a:p>
        </p:txBody>
      </p:sp>
      <p:sp>
        <p:nvSpPr>
          <p:cNvPr id="7" name="">
            <a:extLst xmlns:a="http://schemas.openxmlformats.org/drawingml/2006/main">
              <a:ext uri="{FF2B5EF4-FFF2-40B4-BE49-F238E27FC236}">
                <a16:creationId xmlns:a16="http://schemas.microsoft.com/office/drawing/2014/main" id="{135F84CD-8639-445A-BC51-32D05D2A9EE0}"/>
              </a:ext>
            </a:extLst>
          </p:cNvPr>
          <p:cNvSpPr>
            <a:spLocks xmlns:a="http://schemas.openxmlformats.org/drawingml/2006/main" noGrp="1"/>
          </p:cNvSpPr>
          <p:nvPr/>
        </p:nvSpPr>
        <p:spPr>
          <a:xfrm xmlns:a="http://schemas.openxmlformats.org/drawingml/2006/main">
            <a:off x="8763000" y="2200275"/>
            <a:ext cx="27432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44054"/>
                </a:solidFill>
                <a:latin typeface="Microsoft YaHei"/>
                <a:ea typeface="Microsoft YaHei"/>
                <a:cs typeface="Microsoft YaHei"/>
              </a:defRPr>
            </a:pPr>
            <a:r>
              <a:rPr sz="1800" b="0">
                <a:solidFill>
                  <a:srgbClr val="344054"/>
                </a:solidFill>
                <a:latin typeface="Microsoft YaHei"/>
                <a:ea typeface="Microsoft YaHei"/>
                <a:cs typeface="Microsoft YaHei"/>
              </a:rPr>
              <a:t>T = Tref = 25 μK</a:t>
            </a:r>
          </a:p>
          <a:p xmlns:a="http://schemas.openxmlformats.org/drawingml/2006/main">
            <a:pPr>
              <a:defRPr sz="1800" b="0">
                <a:solidFill>
                  <a:srgbClr val="344054"/>
                </a:solidFill>
                <a:latin typeface="Microsoft YaHei"/>
                <a:ea typeface="Microsoft YaHei"/>
                <a:cs typeface="Microsoft YaHei"/>
              </a:defRPr>
            </a:pPr>
            <a:r>
              <a:rPr sz="1800" b="0">
                <a:solidFill>
                  <a:srgbClr val="344054"/>
                </a:solidFill>
                <a:latin typeface="Microsoft YaHei"/>
                <a:ea typeface="Microsoft YaHei"/>
                <a:cs typeface="Microsoft YaHei"/>
              </a:rPr>
              <a:t>末点 0.7471</a:t>
            </a:r>
          </a:p>
          <a:p xmlns:a="http://schemas.openxmlformats.org/drawingml/2006/main">
            <a:pPr>
              <a:defRPr sz="1800" b="0">
                <a:solidFill>
                  <a:srgbClr val="344054"/>
                </a:solidFill>
                <a:latin typeface="Microsoft YaHei"/>
                <a:ea typeface="Microsoft YaHei"/>
                <a:cs typeface="Microsoft YaHei"/>
              </a:defRPr>
            </a:pPr>
            <a:r>
              <a:rPr sz="1800" b="0">
                <a:solidFill>
                  <a:srgbClr val="344054"/>
                </a:solidFill>
                <a:latin typeface="Microsoft YaHei"/>
                <a:ea typeface="Microsoft YaHei"/>
                <a:cs typeface="Microsoft YaHei"/>
              </a:rPr>
              <a:t>论文 0.6633</a:t>
            </a:r>
          </a:p>
        </p:txBody>
      </p:sp>
      <p:sp>
        <p:nvSpPr>
          <p:cNvPr id="8" name="">
            <a:extLst xmlns:a="http://schemas.openxmlformats.org/drawingml/2006/main">
              <a:ext uri="{FF2B5EF4-FFF2-40B4-BE49-F238E27FC236}">
                <a16:creationId xmlns:a16="http://schemas.microsoft.com/office/drawing/2014/main" id="{03628457-DD1D-4F13-8797-B436256EFB7C}"/>
              </a:ext>
            </a:extLst>
          </p:cNvPr>
          <p:cNvSpPr>
            <a:spLocks xmlns:a="http://schemas.openxmlformats.org/drawingml/2006/main" noGrp="1"/>
          </p:cNvSpPr>
          <p:nvPr/>
        </p:nvSpPr>
        <p:spPr>
          <a:xfrm xmlns:a="http://schemas.openxmlformats.org/drawingml/2006/main">
            <a:off x="8763000" y="3876675"/>
            <a:ext cx="2743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D92D20"/>
                </a:solidFill>
                <a:latin typeface="Microsoft YaHei"/>
                <a:ea typeface="Microsoft YaHei"/>
                <a:cs typeface="Microsoft YaHei"/>
              </a:defRPr>
            </a:pPr>
            <a:r>
              <a:rPr sz="1650" b="1">
                <a:solidFill>
                  <a:srgbClr val="D92D20"/>
                </a:solidFill>
                <a:latin typeface="Microsoft YaHei"/>
                <a:ea typeface="Microsoft YaHei"/>
                <a:cs typeface="Microsoft YaHei"/>
              </a:rPr>
              <a:t>最大偏差 0.0838</a:t>
            </a:r>
          </a:p>
          <a:p xmlns:a="http://schemas.openxmlformats.org/drawingml/2006/main">
            <a:pPr>
              <a:defRPr sz="1650" b="1">
                <a:solidFill>
                  <a:srgbClr val="D92D20"/>
                </a:solidFill>
                <a:latin typeface="Microsoft YaHei"/>
                <a:ea typeface="Microsoft YaHei"/>
                <a:cs typeface="Microsoft YaHei"/>
              </a:defRPr>
            </a:pPr>
            <a:r>
              <a:rPr sz="1650" b="1">
                <a:solidFill>
                  <a:srgbClr val="D92D20"/>
                </a:solidFill>
                <a:latin typeface="Microsoft YaHei"/>
                <a:ea typeface="Microsoft YaHei"/>
                <a:cs typeface="Microsoft YaHei"/>
              </a:rPr>
              <a:t>最差位置 n=60</a:t>
            </a:r>
          </a:p>
          <a:p xmlns:a="http://schemas.openxmlformats.org/drawingml/2006/main">
            <a:pPr>
              <a:defRPr sz="1650" b="1">
                <a:solidFill>
                  <a:srgbClr val="D92D20"/>
                </a:solidFill>
                <a:latin typeface="Microsoft YaHei"/>
                <a:ea typeface="Microsoft YaHei"/>
                <a:cs typeface="Microsoft YaHei"/>
              </a:defRPr>
            </a:pPr>
            <a:r>
              <a:rPr sz="1650" b="1">
                <a:solidFill>
                  <a:srgbClr val="D92D20"/>
                </a:solidFill>
                <a:latin typeface="Microsoft YaHei"/>
                <a:ea typeface="Microsoft YaHei"/>
                <a:cs typeface="Microsoft YaHei"/>
              </a:rPr>
              <a:t>整曲线未通过</a:t>
            </a:r>
          </a:p>
        </p:txBody>
      </p:sp>
      <p:sp>
        <p:nvSpPr>
          <p:cNvPr id="9" name="">
            <a:extLst xmlns:a="http://schemas.openxmlformats.org/drawingml/2006/main">
              <a:ext uri="{FF2B5EF4-FFF2-40B4-BE49-F238E27FC236}">
                <a16:creationId xmlns:a16="http://schemas.microsoft.com/office/drawing/2014/main" id="{B087E6F0-2177-4F8D-AB8C-DAF07426DD08}"/>
              </a:ext>
            </a:extLst>
          </p:cNvPr>
          <p:cNvSpPr>
            <a:spLocks xmlns:a="http://schemas.openxmlformats.org/drawingml/2006/main" noGrp="1"/>
          </p:cNvSpPr>
          <p:nvPr/>
        </p:nvSpPr>
        <p:spPr>
          <a:xfrm xmlns:a="http://schemas.openxmlformats.org/drawingml/2006/main">
            <a:off x="609600" y="58102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344054"/>
                </a:solidFill>
                <a:latin typeface="Microsoft YaHei"/>
                <a:ea typeface="Microsoft YaHei"/>
                <a:cs typeface="Microsoft YaHei"/>
              </a:defRPr>
            </a:pPr>
            <a:r>
              <a:rPr sz="1500" b="0">
                <a:solidFill>
                  <a:srgbClr val="344054"/>
                </a:solidFill>
                <a:latin typeface="Microsoft YaHei"/>
                <a:ea typeface="Microsoft YaHei"/>
                <a:cs typeface="Microsoft YaHei"/>
              </a:rPr>
              <a:t>灰/蓝线为 512-shot、dt=0.05 μs 对照。红线为 4096-shot、dt=0.0125 μs 独立复核。</a:t>
            </a:r>
          </a:p>
        </p:txBody>
      </p:sp>
    </p:spTree>
    <p:extLst>
      <p:ext uri="{BB962C8B-B14F-4D97-AF65-F5344CB8AC3E}">
        <p14:creationId xmlns:p14="http://schemas.microsoft.com/office/powerpoint/2010/main" val="1138121757"/>
      </p:ext>
    </p:extLst>
  </p:cSld>
</p:sld>
</file>

<file path=ppt/slides/slide3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B7E739E-93C9-4315-A258-84E90465F59D}"/>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共同参数扫描与波形间矛盾</a:t>
            </a:r>
          </a:p>
        </p:txBody>
      </p:sp>
      <p:sp>
        <p:nvSpPr>
          <p:cNvPr id="2" name="">
            <a:extLst xmlns:a="http://schemas.openxmlformats.org/drawingml/2006/main">
              <a:ext uri="{FF2B5EF4-FFF2-40B4-BE49-F238E27FC236}">
                <a16:creationId xmlns:a16="http://schemas.microsoft.com/office/drawing/2014/main" id="{020B7F4E-5010-404B-9D27-6CDC5D282A18}"/>
              </a:ext>
            </a:extLst>
          </p:cNvPr>
          <p:cNvSpPr>
            <a:spLocks xmlns:a="http://schemas.openxmlformats.org/drawingml/2006/main" noGrp="1"/>
          </p:cNvSpPr>
          <p:nvPr/>
        </p:nvSpPr>
        <p:spPr>
          <a:xfrm xmlns:a="http://schemas.openxmlformats.org/drawingml/2006/main">
            <a:off x="609600" y="9334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7085"/>
                </a:solidFill>
                <a:latin typeface="Microsoft YaHei"/>
                <a:ea typeface="Microsoft YaHei"/>
                <a:cs typeface="Microsoft YaHei"/>
              </a:defRPr>
            </a:pPr>
            <a:r>
              <a:rPr sz="1350" b="0">
                <a:solidFill>
                  <a:srgbClr val="667085"/>
                </a:solidFill>
                <a:latin typeface="Microsoft YaHei"/>
                <a:ea typeface="Microsoft YaHei"/>
                <a:cs typeface="Microsoft YaHei"/>
              </a:rPr>
              <a:t>候选 T 与默认 Tref 同步改变，结果不能单独解释为温度标定</a:t>
            </a:r>
          </a:p>
        </p:txBody>
      </p:sp>
      <p:sp>
        <p:nvSpPr>
          <p:cNvPr id="3" name="">
            <a:extLst xmlns:a="http://schemas.openxmlformats.org/drawingml/2006/main">
              <a:ext uri="{FF2B5EF4-FFF2-40B4-BE49-F238E27FC236}">
                <a16:creationId xmlns:a16="http://schemas.microsoft.com/office/drawing/2014/main" id="{946E6755-0C23-4137-AA83-189F3BF3DDD4}"/>
              </a:ext>
            </a:extLst>
          </p:cNvPr>
          <p:cNvSpPr>
            <a:spLocks xmlns:a="http://schemas.openxmlformats.org/drawingml/2006/main" noGrp="1"/>
          </p:cNvSpPr>
          <p:nvPr/>
        </p:nvSpPr>
        <p:spPr>
          <a:xfrm xmlns:a="http://schemas.openxmlformats.org/drawingml/2006/main">
            <a:off x="609600" y="6524625"/>
            <a:ext cx="1009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连续全流程重算  ·  参数与数值来源见配套报告 v10</a:t>
            </a:r>
          </a:p>
        </p:txBody>
      </p:sp>
      <p:sp>
        <p:nvSpPr>
          <p:cNvPr id="4" name="">
            <a:extLst xmlns:a="http://schemas.openxmlformats.org/drawingml/2006/main">
              <a:ext uri="{FF2B5EF4-FFF2-40B4-BE49-F238E27FC236}">
                <a16:creationId xmlns:a16="http://schemas.microsoft.com/office/drawing/2014/main" id="{BB62D1B3-0F0F-45E7-9A96-DA330EB45D96}"/>
              </a:ext>
            </a:extLst>
          </p:cNvPr>
          <p:cNvSpPr>
            <a:spLocks xmlns:a="http://schemas.openxmlformats.org/drawingml/2006/main" noGrp="1"/>
          </p:cNvSpPr>
          <p:nvPr/>
        </p:nvSpPr>
        <p:spPr>
          <a:xfrm xmlns:a="http://schemas.openxmlformats.org/drawingml/2006/main">
            <a:off x="11049000" y="65151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39</a:t>
            </a:r>
          </a:p>
        </p:txBody>
      </p:sp>
      <p:graphicFrame>
        <p:nvGraphicFramePr>
          <p:cNvPr id="14" name=""/>
          <p:cNvGraphicFramePr/>
          <p:nvPr/>
        </p:nvGraphicFramePr>
        <p:xfrm>
          <a:off xmlns:a="http://schemas.openxmlformats.org/drawingml/2006/main" x="609600" y="1581150"/>
          <a:ext xmlns:a="http://schemas.openxmlformats.org/drawingml/2006/main" cx="6905625" cy="4076700"/>
        </p:xfrm>
        <a:graphic xmlns:a="http://schemas.openxmlformats.org/drawingml/2006/main">
          <a:graphicData uri="http://schemas.openxmlformats.org/drawingml/2006/table">
            <a:tbl>
              <a:tblPr/>
              <a:tblGrid>
                <a:gridCol w="2143125"/>
                <a:gridCol w="2381250"/>
                <a:gridCol w="2381250"/>
              </a:tblGrid>
              <a:tr h="452967">
                <a:tc>
                  <a:txBody>
                    <a:bodyPr>
                      <a:noAutofit/>
                    </a:bodyPr>
                    <a:lstStyle/>
                    <a:p>
                      <a:r>
                        <a:rPr sz="1650" b="1">
                          <a:solidFill>
                            <a:srgbClr val="FFFFFF"/>
                          </a:solidFill>
                          <a:latin typeface="Microsoft YaHei"/>
                          <a:ea typeface="Microsoft YaHei"/>
                          <a:cs typeface="Microsoft YaHei"/>
                        </a:rPr>
                        <a:t>T = Tref / μK</a:t>
                      </a:r>
                    </a:p>
                  </a:txBody>
                  <a:tcPr marL="91440" marR="91440" marT="45720" marB="45720" anchor="ctr">
                    <a:solidFill>
                      <a:srgbClr val="102A43"/>
                    </a:solidFill>
                  </a:tcPr>
                </a:tc>
                <a:tc>
                  <a:txBody>
                    <a:bodyPr>
                      <a:noAutofit/>
                    </a:bodyPr>
                    <a:lstStyle/>
                    <a:p>
                      <a:r>
                        <a:rPr sz="1650" b="1">
                          <a:solidFill>
                            <a:srgbClr val="FFFFFF"/>
                          </a:solidFill>
                          <a:latin typeface="Microsoft YaHei"/>
                          <a:ea typeface="Microsoft YaHei"/>
                          <a:cs typeface="Microsoft YaHei"/>
                        </a:rPr>
                        <a:t>四曲线共同 RMSE</a:t>
                      </a:r>
                    </a:p>
                  </a:txBody>
                  <a:tcPr marL="91440" marR="91440" marT="45720" marB="45720" anchor="ctr">
                    <a:solidFill>
                      <a:srgbClr val="102A43"/>
                    </a:solidFill>
                  </a:tcPr>
                </a:tc>
                <a:tc>
                  <a:txBody>
                    <a:bodyPr>
                      <a:noAutofit/>
                    </a:bodyPr>
                    <a:lstStyle/>
                    <a:p>
                      <a:r>
                        <a:rPr sz="1650" b="1">
                          <a:solidFill>
                            <a:srgbClr val="FFFFFF"/>
                          </a:solidFill>
                          <a:latin typeface="Microsoft YaHei"/>
                          <a:ea typeface="Microsoft YaHei"/>
                          <a:cs typeface="Microsoft YaHei"/>
                        </a:rPr>
                        <a:t>全部通过 ±0.02</a:t>
                      </a:r>
                    </a:p>
                  </a:txBody>
                  <a:tcPr marL="91440" marR="91440" marT="45720" marB="45720" anchor="ctr">
                    <a:solidFill>
                      <a:srgbClr val="102A43"/>
                    </a:solidFill>
                  </a:tcPr>
                </a:tc>
              </a:tr>
              <a:tr h="452967">
                <a:tc>
                  <a:txBody>
                    <a:bodyPr>
                      <a:noAutofit/>
                    </a:bodyPr>
                    <a:lstStyle/>
                    <a:p>
                      <a:r>
                        <a:rPr sz="1650" b="0">
                          <a:solidFill>
                            <a:srgbClr val="344054"/>
                          </a:solidFill>
                          <a:latin typeface="Microsoft YaHei"/>
                          <a:ea typeface="Microsoft YaHei"/>
                          <a:cs typeface="Microsoft YaHei"/>
                        </a:rPr>
                        <a:t>5</a:t>
                      </a:r>
                    </a:p>
                  </a:txBody>
                  <a:tcPr marL="91440" marR="91440" marT="45720" marB="45720" anchor="ctr">
                    <a:solidFill>
                      <a:srgbClr val="FFFFFF"/>
                    </a:solidFill>
                  </a:tcPr>
                </a:tc>
                <a:tc>
                  <a:txBody>
                    <a:bodyPr>
                      <a:noAutofit/>
                    </a:bodyPr>
                    <a:lstStyle/>
                    <a:p>
                      <a:r>
                        <a:rPr sz="1650" b="0">
                          <a:solidFill>
                            <a:srgbClr val="344054"/>
                          </a:solidFill>
                          <a:latin typeface="Microsoft YaHei"/>
                          <a:ea typeface="Microsoft YaHei"/>
                          <a:cs typeface="Microsoft YaHei"/>
                        </a:rPr>
                        <a:t>0.22117</a:t>
                      </a:r>
                    </a:p>
                  </a:txBody>
                  <a:tcPr marL="91440" marR="91440" marT="45720" marB="45720" anchor="ctr">
                    <a:solidFill>
                      <a:srgbClr val="FFFFFF"/>
                    </a:solidFill>
                  </a:tcPr>
                </a:tc>
                <a:tc>
                  <a:txBody>
                    <a:bodyPr>
                      <a:noAutofit/>
                    </a:bodyPr>
                    <a:lstStyle/>
                    <a:p>
                      <a:r>
                        <a:rPr sz="1650" b="0">
                          <a:solidFill>
                            <a:srgbClr val="344054"/>
                          </a:solidFill>
                          <a:latin typeface="Microsoft YaHei"/>
                          <a:ea typeface="Microsoft YaHei"/>
                          <a:cs typeface="Microsoft YaHei"/>
                        </a:rPr>
                        <a:t>否</a:t>
                      </a:r>
                    </a:p>
                  </a:txBody>
                  <a:tcPr marL="91440" marR="91440" marT="45720" marB="45720" anchor="ctr">
                    <a:solidFill>
                      <a:srgbClr val="FFFFFF"/>
                    </a:solidFill>
                  </a:tcPr>
                </a:tc>
              </a:tr>
              <a:tr h="452967">
                <a:tc>
                  <a:txBody>
                    <a:bodyPr>
                      <a:noAutofit/>
                    </a:bodyPr>
                    <a:lstStyle/>
                    <a:p>
                      <a:r>
                        <a:rPr sz="1650" b="0">
                          <a:solidFill>
                            <a:srgbClr val="344054"/>
                          </a:solidFill>
                          <a:latin typeface="Microsoft YaHei"/>
                          <a:ea typeface="Microsoft YaHei"/>
                          <a:cs typeface="Microsoft YaHei"/>
                        </a:rPr>
                        <a:t>10</a:t>
                      </a:r>
                    </a:p>
                  </a:txBody>
                  <a:tcPr marL="91440" marR="91440" marT="45720" marB="45720" anchor="ctr">
                    <a:solidFill>
                      <a:srgbClr val="F2F4F7"/>
                    </a:solidFill>
                  </a:tcPr>
                </a:tc>
                <a:tc>
                  <a:txBody>
                    <a:bodyPr>
                      <a:noAutofit/>
                    </a:bodyPr>
                    <a:lstStyle/>
                    <a:p>
                      <a:r>
                        <a:rPr sz="1650" b="0">
                          <a:solidFill>
                            <a:srgbClr val="344054"/>
                          </a:solidFill>
                          <a:latin typeface="Microsoft YaHei"/>
                          <a:ea typeface="Microsoft YaHei"/>
                          <a:cs typeface="Microsoft YaHei"/>
                        </a:rPr>
                        <a:t>0.18067</a:t>
                      </a:r>
                    </a:p>
                  </a:txBody>
                  <a:tcPr marL="91440" marR="91440" marT="45720" marB="45720" anchor="ctr">
                    <a:solidFill>
                      <a:srgbClr val="F2F4F7"/>
                    </a:solidFill>
                  </a:tcPr>
                </a:tc>
                <a:tc>
                  <a:txBody>
                    <a:bodyPr>
                      <a:noAutofit/>
                    </a:bodyPr>
                    <a:lstStyle/>
                    <a:p>
                      <a:r>
                        <a:rPr sz="1650" b="0">
                          <a:solidFill>
                            <a:srgbClr val="344054"/>
                          </a:solidFill>
                          <a:latin typeface="Microsoft YaHei"/>
                          <a:ea typeface="Microsoft YaHei"/>
                          <a:cs typeface="Microsoft YaHei"/>
                        </a:rPr>
                        <a:t>否</a:t>
                      </a:r>
                    </a:p>
                  </a:txBody>
                  <a:tcPr marL="91440" marR="91440" marT="45720" marB="45720" anchor="ctr">
                    <a:solidFill>
                      <a:srgbClr val="F2F4F7"/>
                    </a:solidFill>
                  </a:tcPr>
                </a:tc>
              </a:tr>
              <a:tr h="452967">
                <a:tc>
                  <a:txBody>
                    <a:bodyPr>
                      <a:noAutofit/>
                    </a:bodyPr>
                    <a:lstStyle/>
                    <a:p>
                      <a:r>
                        <a:rPr sz="1650" b="0">
                          <a:solidFill>
                            <a:srgbClr val="344054"/>
                          </a:solidFill>
                          <a:latin typeface="Microsoft YaHei"/>
                          <a:ea typeface="Microsoft YaHei"/>
                          <a:cs typeface="Microsoft YaHei"/>
                        </a:rPr>
                        <a:t>15</a:t>
                      </a:r>
                    </a:p>
                  </a:txBody>
                  <a:tcPr marL="91440" marR="91440" marT="45720" marB="45720" anchor="ctr">
                    <a:solidFill>
                      <a:srgbClr val="FFFFFF"/>
                    </a:solidFill>
                  </a:tcPr>
                </a:tc>
                <a:tc>
                  <a:txBody>
                    <a:bodyPr>
                      <a:noAutofit/>
                    </a:bodyPr>
                    <a:lstStyle/>
                    <a:p>
                      <a:r>
                        <a:rPr sz="1650" b="0">
                          <a:solidFill>
                            <a:srgbClr val="344054"/>
                          </a:solidFill>
                          <a:latin typeface="Microsoft YaHei"/>
                          <a:ea typeface="Microsoft YaHei"/>
                          <a:cs typeface="Microsoft YaHei"/>
                        </a:rPr>
                        <a:t>0.15045</a:t>
                      </a:r>
                    </a:p>
                  </a:txBody>
                  <a:tcPr marL="91440" marR="91440" marT="45720" marB="45720" anchor="ctr">
                    <a:solidFill>
                      <a:srgbClr val="FFFFFF"/>
                    </a:solidFill>
                  </a:tcPr>
                </a:tc>
                <a:tc>
                  <a:txBody>
                    <a:bodyPr>
                      <a:noAutofit/>
                    </a:bodyPr>
                    <a:lstStyle/>
                    <a:p>
                      <a:r>
                        <a:rPr sz="1650" b="0">
                          <a:solidFill>
                            <a:srgbClr val="344054"/>
                          </a:solidFill>
                          <a:latin typeface="Microsoft YaHei"/>
                          <a:ea typeface="Microsoft YaHei"/>
                          <a:cs typeface="Microsoft YaHei"/>
                        </a:rPr>
                        <a:t>否</a:t>
                      </a:r>
                    </a:p>
                  </a:txBody>
                  <a:tcPr marL="91440" marR="91440" marT="45720" marB="45720" anchor="ctr">
                    <a:solidFill>
                      <a:srgbClr val="FFFFFF"/>
                    </a:solidFill>
                  </a:tcPr>
                </a:tc>
              </a:tr>
              <a:tr h="452967">
                <a:tc>
                  <a:txBody>
                    <a:bodyPr>
                      <a:noAutofit/>
                    </a:bodyPr>
                    <a:lstStyle/>
                    <a:p>
                      <a:r>
                        <a:rPr sz="1650" b="0">
                          <a:solidFill>
                            <a:srgbClr val="344054"/>
                          </a:solidFill>
                          <a:latin typeface="Microsoft YaHei"/>
                          <a:ea typeface="Microsoft YaHei"/>
                          <a:cs typeface="Microsoft YaHei"/>
                        </a:rPr>
                        <a:t>20</a:t>
                      </a:r>
                    </a:p>
                  </a:txBody>
                  <a:tcPr marL="91440" marR="91440" marT="45720" marB="45720" anchor="ctr">
                    <a:solidFill>
                      <a:srgbClr val="F2F4F7"/>
                    </a:solidFill>
                  </a:tcPr>
                </a:tc>
                <a:tc>
                  <a:txBody>
                    <a:bodyPr>
                      <a:noAutofit/>
                    </a:bodyPr>
                    <a:lstStyle/>
                    <a:p>
                      <a:r>
                        <a:rPr sz="1650" b="0">
                          <a:solidFill>
                            <a:srgbClr val="344054"/>
                          </a:solidFill>
                          <a:latin typeface="Microsoft YaHei"/>
                          <a:ea typeface="Microsoft YaHei"/>
                          <a:cs typeface="Microsoft YaHei"/>
                        </a:rPr>
                        <a:t>0.15415</a:t>
                      </a:r>
                    </a:p>
                  </a:txBody>
                  <a:tcPr marL="91440" marR="91440" marT="45720" marB="45720" anchor="ctr">
                    <a:solidFill>
                      <a:srgbClr val="F2F4F7"/>
                    </a:solidFill>
                  </a:tcPr>
                </a:tc>
                <a:tc>
                  <a:txBody>
                    <a:bodyPr>
                      <a:noAutofit/>
                    </a:bodyPr>
                    <a:lstStyle/>
                    <a:p>
                      <a:r>
                        <a:rPr sz="1650" b="0">
                          <a:solidFill>
                            <a:srgbClr val="344054"/>
                          </a:solidFill>
                          <a:latin typeface="Microsoft YaHei"/>
                          <a:ea typeface="Microsoft YaHei"/>
                          <a:cs typeface="Microsoft YaHei"/>
                        </a:rPr>
                        <a:t>否</a:t>
                      </a:r>
                    </a:p>
                  </a:txBody>
                  <a:tcPr marL="91440" marR="91440" marT="45720" marB="45720" anchor="ctr">
                    <a:solidFill>
                      <a:srgbClr val="F2F4F7"/>
                    </a:solidFill>
                  </a:tcPr>
                </a:tc>
              </a:tr>
              <a:tr h="452967">
                <a:tc>
                  <a:txBody>
                    <a:bodyPr>
                      <a:noAutofit/>
                    </a:bodyPr>
                    <a:lstStyle/>
                    <a:p>
                      <a:r>
                        <a:rPr sz="1650" b="0">
                          <a:solidFill>
                            <a:srgbClr val="344054"/>
                          </a:solidFill>
                          <a:latin typeface="Microsoft YaHei"/>
                          <a:ea typeface="Microsoft YaHei"/>
                          <a:cs typeface="Microsoft YaHei"/>
                        </a:rPr>
                        <a:t>25</a:t>
                      </a:r>
                    </a:p>
                  </a:txBody>
                  <a:tcPr marL="91440" marR="91440" marT="45720" marB="45720" anchor="ctr">
                    <a:solidFill>
                      <a:srgbClr val="FFFFFF"/>
                    </a:solidFill>
                  </a:tcPr>
                </a:tc>
                <a:tc>
                  <a:txBody>
                    <a:bodyPr>
                      <a:noAutofit/>
                    </a:bodyPr>
                    <a:lstStyle/>
                    <a:p>
                      <a:r>
                        <a:rPr sz="1650" b="0">
                          <a:solidFill>
                            <a:srgbClr val="344054"/>
                          </a:solidFill>
                          <a:latin typeface="Microsoft YaHei"/>
                          <a:ea typeface="Microsoft YaHei"/>
                          <a:cs typeface="Microsoft YaHei"/>
                        </a:rPr>
                        <a:t>0.17443</a:t>
                      </a:r>
                    </a:p>
                  </a:txBody>
                  <a:tcPr marL="91440" marR="91440" marT="45720" marB="45720" anchor="ctr">
                    <a:solidFill>
                      <a:srgbClr val="FFFFFF"/>
                    </a:solidFill>
                  </a:tcPr>
                </a:tc>
                <a:tc>
                  <a:txBody>
                    <a:bodyPr>
                      <a:noAutofit/>
                    </a:bodyPr>
                    <a:lstStyle/>
                    <a:p>
                      <a:r>
                        <a:rPr sz="1650" b="0">
                          <a:solidFill>
                            <a:srgbClr val="344054"/>
                          </a:solidFill>
                          <a:latin typeface="Microsoft YaHei"/>
                          <a:ea typeface="Microsoft YaHei"/>
                          <a:cs typeface="Microsoft YaHei"/>
                        </a:rPr>
                        <a:t>否</a:t>
                      </a:r>
                    </a:p>
                  </a:txBody>
                  <a:tcPr marL="91440" marR="91440" marT="45720" marB="45720" anchor="ctr">
                    <a:solidFill>
                      <a:srgbClr val="FFFFFF"/>
                    </a:solidFill>
                  </a:tcPr>
                </a:tc>
              </a:tr>
              <a:tr h="452967">
                <a:tc>
                  <a:txBody>
                    <a:bodyPr>
                      <a:noAutofit/>
                    </a:bodyPr>
                    <a:lstStyle/>
                    <a:p>
                      <a:r>
                        <a:rPr sz="1650" b="0">
                          <a:solidFill>
                            <a:srgbClr val="344054"/>
                          </a:solidFill>
                          <a:latin typeface="Microsoft YaHei"/>
                          <a:ea typeface="Microsoft YaHei"/>
                          <a:cs typeface="Microsoft YaHei"/>
                        </a:rPr>
                        <a:t>30</a:t>
                      </a:r>
                    </a:p>
                  </a:txBody>
                  <a:tcPr marL="91440" marR="91440" marT="45720" marB="45720" anchor="ctr">
                    <a:solidFill>
                      <a:srgbClr val="F2F4F7"/>
                    </a:solidFill>
                  </a:tcPr>
                </a:tc>
                <a:tc>
                  <a:txBody>
                    <a:bodyPr>
                      <a:noAutofit/>
                    </a:bodyPr>
                    <a:lstStyle/>
                    <a:p>
                      <a:r>
                        <a:rPr sz="1650" b="0">
                          <a:solidFill>
                            <a:srgbClr val="344054"/>
                          </a:solidFill>
                          <a:latin typeface="Microsoft YaHei"/>
                          <a:ea typeface="Microsoft YaHei"/>
                          <a:cs typeface="Microsoft YaHei"/>
                        </a:rPr>
                        <a:t>0.22182</a:t>
                      </a:r>
                    </a:p>
                  </a:txBody>
                  <a:tcPr marL="91440" marR="91440" marT="45720" marB="45720" anchor="ctr">
                    <a:solidFill>
                      <a:srgbClr val="F2F4F7"/>
                    </a:solidFill>
                  </a:tcPr>
                </a:tc>
                <a:tc>
                  <a:txBody>
                    <a:bodyPr>
                      <a:noAutofit/>
                    </a:bodyPr>
                    <a:lstStyle/>
                    <a:p>
                      <a:r>
                        <a:rPr sz="1650" b="0">
                          <a:solidFill>
                            <a:srgbClr val="344054"/>
                          </a:solidFill>
                          <a:latin typeface="Microsoft YaHei"/>
                          <a:ea typeface="Microsoft YaHei"/>
                          <a:cs typeface="Microsoft YaHei"/>
                        </a:rPr>
                        <a:t>否</a:t>
                      </a:r>
                    </a:p>
                  </a:txBody>
                  <a:tcPr marL="91440" marR="91440" marT="45720" marB="45720" anchor="ctr">
                    <a:solidFill>
                      <a:srgbClr val="F2F4F7"/>
                    </a:solidFill>
                  </a:tcPr>
                </a:tc>
              </a:tr>
              <a:tr h="452967">
                <a:tc>
                  <a:txBody>
                    <a:bodyPr>
                      <a:noAutofit/>
                    </a:bodyPr>
                    <a:lstStyle/>
                    <a:p>
                      <a:r>
                        <a:rPr sz="1650" b="0">
                          <a:solidFill>
                            <a:srgbClr val="344054"/>
                          </a:solidFill>
                          <a:latin typeface="Microsoft YaHei"/>
                          <a:ea typeface="Microsoft YaHei"/>
                          <a:cs typeface="Microsoft YaHei"/>
                        </a:rPr>
                        <a:t>35</a:t>
                      </a:r>
                    </a:p>
                  </a:txBody>
                  <a:tcPr marL="91440" marR="91440" marT="45720" marB="45720" anchor="ctr">
                    <a:solidFill>
                      <a:srgbClr val="FFFFFF"/>
                    </a:solidFill>
                  </a:tcPr>
                </a:tc>
                <a:tc>
                  <a:txBody>
                    <a:bodyPr>
                      <a:noAutofit/>
                    </a:bodyPr>
                    <a:lstStyle/>
                    <a:p>
                      <a:r>
                        <a:rPr sz="1650" b="0">
                          <a:solidFill>
                            <a:srgbClr val="344054"/>
                          </a:solidFill>
                          <a:latin typeface="Microsoft YaHei"/>
                          <a:ea typeface="Microsoft YaHei"/>
                          <a:cs typeface="Microsoft YaHei"/>
                        </a:rPr>
                        <a:t>0.27678</a:t>
                      </a:r>
                    </a:p>
                  </a:txBody>
                  <a:tcPr marL="91440" marR="91440" marT="45720" marB="45720" anchor="ctr">
                    <a:solidFill>
                      <a:srgbClr val="FFFFFF"/>
                    </a:solidFill>
                  </a:tcPr>
                </a:tc>
                <a:tc>
                  <a:txBody>
                    <a:bodyPr>
                      <a:noAutofit/>
                    </a:bodyPr>
                    <a:lstStyle/>
                    <a:p>
                      <a:r>
                        <a:rPr sz="1650" b="0">
                          <a:solidFill>
                            <a:srgbClr val="344054"/>
                          </a:solidFill>
                          <a:latin typeface="Microsoft YaHei"/>
                          <a:ea typeface="Microsoft YaHei"/>
                          <a:cs typeface="Microsoft YaHei"/>
                        </a:rPr>
                        <a:t>否</a:t>
                      </a:r>
                    </a:p>
                  </a:txBody>
                  <a:tcPr marL="91440" marR="91440" marT="45720" marB="45720" anchor="ctr">
                    <a:solidFill>
                      <a:srgbClr val="FFFFFF"/>
                    </a:solidFill>
                  </a:tcPr>
                </a:tc>
              </a:tr>
              <a:tr h="452967">
                <a:tc>
                  <a:txBody>
                    <a:bodyPr>
                      <a:noAutofit/>
                    </a:bodyPr>
                    <a:lstStyle/>
                    <a:p>
                      <a:r>
                        <a:rPr sz="1650" b="0">
                          <a:solidFill>
                            <a:srgbClr val="344054"/>
                          </a:solidFill>
                          <a:latin typeface="Microsoft YaHei"/>
                          <a:ea typeface="Microsoft YaHei"/>
                          <a:cs typeface="Microsoft YaHei"/>
                        </a:rPr>
                        <a:t>40</a:t>
                      </a:r>
                    </a:p>
                  </a:txBody>
                  <a:tcPr marL="91440" marR="91440" marT="45720" marB="45720" anchor="ctr">
                    <a:solidFill>
                      <a:srgbClr val="F2F4F7"/>
                    </a:solidFill>
                  </a:tcPr>
                </a:tc>
                <a:tc>
                  <a:txBody>
                    <a:bodyPr>
                      <a:noAutofit/>
                    </a:bodyPr>
                    <a:lstStyle/>
                    <a:p>
                      <a:r>
                        <a:rPr sz="1650" b="0">
                          <a:solidFill>
                            <a:srgbClr val="344054"/>
                          </a:solidFill>
                          <a:latin typeface="Microsoft YaHei"/>
                          <a:ea typeface="Microsoft YaHei"/>
                          <a:cs typeface="Microsoft YaHei"/>
                        </a:rPr>
                        <a:t>0.29687</a:t>
                      </a:r>
                    </a:p>
                  </a:txBody>
                  <a:tcPr marL="91440" marR="91440" marT="45720" marB="45720" anchor="ctr">
                    <a:solidFill>
                      <a:srgbClr val="F2F4F7"/>
                    </a:solidFill>
                  </a:tcPr>
                </a:tc>
                <a:tc>
                  <a:txBody>
                    <a:bodyPr>
                      <a:noAutofit/>
                    </a:bodyPr>
                    <a:lstStyle/>
                    <a:p>
                      <a:r>
                        <a:rPr sz="1650" b="0">
                          <a:solidFill>
                            <a:srgbClr val="344054"/>
                          </a:solidFill>
                          <a:latin typeface="Microsoft YaHei"/>
                          <a:ea typeface="Microsoft YaHei"/>
                          <a:cs typeface="Microsoft YaHei"/>
                        </a:rPr>
                        <a:t>否</a:t>
                      </a:r>
                    </a:p>
                  </a:txBody>
                  <a:tcPr marL="91440" marR="91440" marT="45720" marB="45720" anchor="ctr">
                    <a:solidFill>
                      <a:srgbClr val="F2F4F7"/>
                    </a:solidFill>
                  </a:tcPr>
                </a:tc>
              </a:tr>
            </a:tbl>
          </a:graphicData>
        </a:graphic>
      </p:graphicFrame>
      <p:sp>
        <p:nvSpPr>
          <p:cNvPr id="6" name="">
            <a:extLst xmlns:a="http://schemas.openxmlformats.org/drawingml/2006/main">
              <a:ext uri="{FF2B5EF4-FFF2-40B4-BE49-F238E27FC236}">
                <a16:creationId xmlns:a16="http://schemas.microsoft.com/office/drawing/2014/main" id="{4D752AC0-A66C-4E85-AEFC-821832A6F6FF}"/>
              </a:ext>
            </a:extLst>
          </p:cNvPr>
          <p:cNvSpPr>
            <a:spLocks xmlns:a="http://schemas.openxmlformats.org/drawingml/2006/main" noGrp="1"/>
          </p:cNvSpPr>
          <p:nvPr/>
        </p:nvSpPr>
        <p:spPr>
          <a:xfrm xmlns:a="http://schemas.openxmlformats.org/drawingml/2006/main">
            <a:off x="7962900" y="1666875"/>
            <a:ext cx="3486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570EF"/>
                </a:solidFill>
                <a:latin typeface="Microsoft YaHei"/>
                <a:ea typeface="Microsoft YaHei"/>
                <a:cs typeface="Microsoft YaHei"/>
              </a:defRPr>
            </a:pPr>
            <a:r>
              <a:rPr sz="1950" b="1">
                <a:solidFill>
                  <a:srgbClr val="1570EF"/>
                </a:solidFill>
                <a:latin typeface="Microsoft YaHei"/>
                <a:ea typeface="Microsoft YaHei"/>
                <a:cs typeface="Microsoft YaHei"/>
              </a:rPr>
              <a:t>共同最优格点 15 μK</a:t>
            </a:r>
          </a:p>
        </p:txBody>
      </p:sp>
      <p:sp>
        <p:nvSpPr>
          <p:cNvPr id="7" name="">
            <a:extLst xmlns:a="http://schemas.openxmlformats.org/drawingml/2006/main">
              <a:ext uri="{FF2B5EF4-FFF2-40B4-BE49-F238E27FC236}">
                <a16:creationId xmlns:a16="http://schemas.microsoft.com/office/drawing/2014/main" id="{82835034-1351-49E3-9C9D-D80A835EDB0F}"/>
              </a:ext>
            </a:extLst>
          </p:cNvPr>
          <p:cNvSpPr>
            <a:spLocks xmlns:a="http://schemas.openxmlformats.org/drawingml/2006/main" noGrp="1"/>
          </p:cNvSpPr>
          <p:nvPr/>
        </p:nvSpPr>
        <p:spPr>
          <a:xfrm xmlns:a="http://schemas.openxmlformats.org/drawingml/2006/main">
            <a:off x="7962900" y="2266950"/>
            <a:ext cx="34861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054"/>
                </a:solidFill>
                <a:latin typeface="Microsoft YaHei"/>
                <a:ea typeface="Microsoft YaHei"/>
                <a:cs typeface="Microsoft YaHei"/>
              </a:defRPr>
            </a:pPr>
            <a:r>
              <a:rPr sz="1650" b="0">
                <a:solidFill>
                  <a:srgbClr val="344054"/>
                </a:solidFill>
                <a:latin typeface="Microsoft YaHei"/>
                <a:ea typeface="Microsoft YaHei"/>
                <a:cs typeface="Microsoft YaHei"/>
              </a:rPr>
              <a:t>四条曲线等权</a:t>
            </a:r>
          </a:p>
          <a:p xmlns:a="http://schemas.openxmlformats.org/drawingml/2006/main">
            <a:pPr>
              <a:defRPr sz="1650" b="0">
                <a:solidFill>
                  <a:srgbClr val="344054"/>
                </a:solidFill>
                <a:latin typeface="Microsoft YaHei"/>
                <a:ea typeface="Microsoft YaHei"/>
                <a:cs typeface="Microsoft YaHei"/>
              </a:defRPr>
            </a:pPr>
            <a:r>
              <a:rPr sz="1650" b="0">
                <a:solidFill>
                  <a:srgbClr val="344054"/>
                </a:solidFill>
                <a:latin typeface="Microsoft YaHei"/>
                <a:ea typeface="Microsoft YaHei"/>
                <a:cs typeface="Microsoft YaHei"/>
              </a:rPr>
              <a:t>256 shots，seed=23001</a:t>
            </a:r>
          </a:p>
          <a:p xmlns:a="http://schemas.openxmlformats.org/drawingml/2006/main">
            <a:pPr>
              <a:defRPr sz="1650" b="0">
                <a:solidFill>
                  <a:srgbClr val="344054"/>
                </a:solidFill>
                <a:latin typeface="Microsoft YaHei"/>
                <a:ea typeface="Microsoft YaHei"/>
                <a:cs typeface="Microsoft YaHei"/>
              </a:defRPr>
            </a:pPr>
            <a:r>
              <a:rPr sz="1650" b="0">
                <a:solidFill>
                  <a:srgbClr val="344054"/>
                </a:solidFill>
                <a:latin typeface="Microsoft YaHei"/>
                <a:ea typeface="Microsoft YaHei"/>
                <a:cs typeface="Microsoft YaHei"/>
              </a:rPr>
              <a:t>冻结后用新随机池复核</a:t>
            </a:r>
          </a:p>
        </p:txBody>
      </p:sp>
      <p:sp>
        <p:nvSpPr>
          <p:cNvPr id="8" name="">
            <a:extLst xmlns:a="http://schemas.openxmlformats.org/drawingml/2006/main">
              <a:ext uri="{FF2B5EF4-FFF2-40B4-BE49-F238E27FC236}">
                <a16:creationId xmlns:a16="http://schemas.microsoft.com/office/drawing/2014/main" id="{851A1042-39B9-4E5B-B888-C1644736F8A9}"/>
              </a:ext>
            </a:extLst>
          </p:cNvPr>
          <p:cNvSpPr>
            <a:spLocks xmlns:a="http://schemas.openxmlformats.org/drawingml/2006/main" noGrp="1"/>
          </p:cNvSpPr>
          <p:nvPr/>
        </p:nvSpPr>
        <p:spPr>
          <a:xfrm xmlns:a="http://schemas.openxmlformats.org/drawingml/2006/main">
            <a:off x="7962900" y="3962400"/>
            <a:ext cx="34861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02A43"/>
                </a:solidFill>
                <a:latin typeface="Microsoft YaHei"/>
                <a:ea typeface="Microsoft YaHei"/>
                <a:cs typeface="Microsoft YaHei"/>
              </a:defRPr>
            </a:pPr>
            <a:r>
              <a:rPr sz="1800" b="1">
                <a:solidFill>
                  <a:srgbClr val="102A43"/>
                </a:solidFill>
                <a:latin typeface="Microsoft YaHei"/>
                <a:ea typeface="Microsoft YaHei"/>
                <a:cs typeface="Microsoft YaHei"/>
              </a:rPr>
              <a:t>逐曲线选择分别为</a:t>
            </a:r>
          </a:p>
          <a:p xmlns:a="http://schemas.openxmlformats.org/drawingml/2006/main">
            <a:pPr>
              <a:defRPr sz="1800" b="1">
                <a:solidFill>
                  <a:srgbClr val="102A43"/>
                </a:solidFill>
                <a:latin typeface="Microsoft YaHei"/>
                <a:ea typeface="Microsoft YaHei"/>
                <a:cs typeface="Microsoft YaHei"/>
              </a:defRPr>
            </a:pPr>
            <a:r>
              <a:rPr sz="1800" b="1">
                <a:solidFill>
                  <a:srgbClr val="102A43"/>
                </a:solidFill>
                <a:latin typeface="Microsoft YaHei"/>
                <a:ea typeface="Microsoft YaHei"/>
                <a:cs typeface="Microsoft YaHei"/>
              </a:rPr>
              <a:t>5 / 15 / 25 / 25 μK</a:t>
            </a:r>
          </a:p>
          <a:p xmlns:a="http://schemas.openxmlformats.org/drawingml/2006/main">
            <a:pPr>
              <a:defRPr sz="1800" b="1">
                <a:solidFill>
                  <a:srgbClr val="102A43"/>
                </a:solidFill>
                <a:latin typeface="Microsoft YaHei"/>
                <a:ea typeface="Microsoft YaHei"/>
                <a:cs typeface="Microsoft YaHei"/>
              </a:defRPr>
            </a:pPr>
            <a:r>
              <a:rPr sz="1800" b="1">
                <a:solidFill>
                  <a:srgbClr val="102A43"/>
                </a:solidFill>
                <a:latin typeface="Microsoft YaHei"/>
                <a:ea typeface="Microsoft YaHei"/>
                <a:cs typeface="Microsoft YaHei"/>
              </a:rPr>
              <a:t>共同参数无法兼顾</a:t>
            </a:r>
          </a:p>
        </p:txBody>
      </p:sp>
      <p:sp>
        <p:nvSpPr>
          <p:cNvPr id="9" name="">
            <a:extLst xmlns:a="http://schemas.openxmlformats.org/drawingml/2006/main">
              <a:ext uri="{FF2B5EF4-FFF2-40B4-BE49-F238E27FC236}">
                <a16:creationId xmlns:a16="http://schemas.microsoft.com/office/drawing/2014/main" id="{249369FB-1C2F-443B-A64E-E630C82EDBB6}"/>
              </a:ext>
            </a:extLst>
          </p:cNvPr>
          <p:cNvSpPr>
            <a:spLocks xmlns:a="http://schemas.openxmlformats.org/drawingml/2006/main" noGrp="1"/>
          </p:cNvSpPr>
          <p:nvPr/>
        </p:nvSpPr>
        <p:spPr>
          <a:xfrm xmlns:a="http://schemas.openxmlformats.org/drawingml/2006/main">
            <a:off x="609600" y="58769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344054"/>
                </a:solidFill>
                <a:latin typeface="Microsoft YaHei"/>
                <a:ea typeface="Microsoft YaHei"/>
                <a:cs typeface="Microsoft YaHei"/>
              </a:defRPr>
            </a:pPr>
            <a:r>
              <a:rPr sz="1500" b="0">
                <a:solidFill>
                  <a:srgbClr val="344054"/>
                </a:solidFill>
                <a:latin typeface="Microsoft YaHei"/>
                <a:ea typeface="Microsoft YaHei"/>
                <a:cs typeface="Microsoft YaHei"/>
              </a:rPr>
              <a:t>扫描范围有限。未通过表示当前已测试模型和参数不足以复现，不是证明任何补充模型都无法拟合。</a:t>
            </a:r>
          </a:p>
        </p:txBody>
      </p:sp>
    </p:spTree>
    <p:extLst>
      <p:ext uri="{BB962C8B-B14F-4D97-AF65-F5344CB8AC3E}">
        <p14:creationId xmlns:p14="http://schemas.microsoft.com/office/powerpoint/2010/main" val="1576470433"/>
      </p:ext>
    </p:extLst>
  </p:cSld>
</p:sld>
</file>

<file path=ppt/slides/slide4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0F5E48A-859F-4B2B-9816-49916453572F}"/>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长距离运输对存活的影响</a:t>
            </a:r>
          </a:p>
        </p:txBody>
      </p:sp>
      <p:sp>
        <p:nvSpPr>
          <p:cNvPr id="2" name="">
            <a:extLst xmlns:a="http://schemas.openxmlformats.org/drawingml/2006/main">
              <a:ext uri="{FF2B5EF4-FFF2-40B4-BE49-F238E27FC236}">
                <a16:creationId xmlns:a16="http://schemas.microsoft.com/office/drawing/2014/main" id="{CF8883F7-3FDA-4FC3-A47F-BF1BAE86BCE9}"/>
              </a:ext>
            </a:extLst>
          </p:cNvPr>
          <p:cNvSpPr>
            <a:spLocks xmlns:a="http://schemas.openxmlformats.org/drawingml/2006/main" noGrp="1"/>
          </p:cNvSpPr>
          <p:nvPr/>
        </p:nvSpPr>
        <p:spPr>
          <a:xfrm xmlns:a="http://schemas.openxmlformats.org/drawingml/2006/main">
            <a:off x="609600" y="9334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7085"/>
                </a:solidFill>
                <a:latin typeface="Microsoft YaHei"/>
                <a:ea typeface="Microsoft YaHei"/>
                <a:cs typeface="Microsoft YaHei"/>
              </a:defRPr>
            </a:pPr>
            <a:r>
              <a:rPr sz="1350" b="0">
                <a:solidFill>
                  <a:srgbClr val="667085"/>
                </a:solidFill>
                <a:latin typeface="Microsoft YaHei"/>
                <a:ea typeface="Microsoft YaHei"/>
                <a:cs typeface="Microsoft YaHei"/>
              </a:rPr>
              <a:t>512-shot 独立复核，400 μs 波形每轮额外演化 2954 μs</a:t>
            </a:r>
          </a:p>
        </p:txBody>
      </p:sp>
      <p:sp>
        <p:nvSpPr>
          <p:cNvPr id="3" name="">
            <a:extLst xmlns:a="http://schemas.openxmlformats.org/drawingml/2006/main">
              <a:ext uri="{FF2B5EF4-FFF2-40B4-BE49-F238E27FC236}">
                <a16:creationId xmlns:a16="http://schemas.microsoft.com/office/drawing/2014/main" id="{8997C9F1-FC0D-4AA9-9BE2-74C1A270976E}"/>
              </a:ext>
            </a:extLst>
          </p:cNvPr>
          <p:cNvSpPr>
            <a:spLocks xmlns:a="http://schemas.openxmlformats.org/drawingml/2006/main" noGrp="1"/>
          </p:cNvSpPr>
          <p:nvPr/>
        </p:nvSpPr>
        <p:spPr>
          <a:xfrm xmlns:a="http://schemas.openxmlformats.org/drawingml/2006/main">
            <a:off x="609600" y="6524625"/>
            <a:ext cx="1009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连续全流程重算  ·  参数与数值来源见配套报告 v10</a:t>
            </a:r>
          </a:p>
        </p:txBody>
      </p:sp>
      <p:sp>
        <p:nvSpPr>
          <p:cNvPr id="4" name="">
            <a:extLst xmlns:a="http://schemas.openxmlformats.org/drawingml/2006/main">
              <a:ext uri="{FF2B5EF4-FFF2-40B4-BE49-F238E27FC236}">
                <a16:creationId xmlns:a16="http://schemas.microsoft.com/office/drawing/2014/main" id="{41ABE561-18C5-428C-A9F1-66B5C7C8C1FC}"/>
              </a:ext>
            </a:extLst>
          </p:cNvPr>
          <p:cNvSpPr>
            <a:spLocks xmlns:a="http://schemas.openxmlformats.org/drawingml/2006/main" noGrp="1"/>
          </p:cNvSpPr>
          <p:nvPr/>
        </p:nvSpPr>
        <p:spPr>
          <a:xfrm xmlns:a="http://schemas.openxmlformats.org/drawingml/2006/main">
            <a:off x="11049000" y="65151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40</a:t>
            </a:r>
          </a:p>
        </p:txBody>
      </p:sp>
      <p:graphicFrame>
        <p:nvGraphicFramePr>
          <p:cNvPr id="12" name=""/>
          <p:cNvGraphicFramePr/>
          <p:nvPr/>
        </p:nvGraphicFramePr>
        <p:xfrm>
          <a:off xmlns:a="http://schemas.openxmlformats.org/drawingml/2006/main" x="609600" y="1619250"/>
          <a:ext xmlns:a="http://schemas.openxmlformats.org/drawingml/2006/main" cx="10972800" cy="2733675"/>
        </p:xfrm>
        <a:graphic xmlns:a="http://schemas.openxmlformats.org/drawingml/2006/main">
          <a:graphicData uri="http://schemas.openxmlformats.org/drawingml/2006/table">
            <a:tbl>
              <a:tblPr/>
              <a:tblGrid>
                <a:gridCol w="2887579"/>
                <a:gridCol w="1588168"/>
                <a:gridCol w="2165684"/>
                <a:gridCol w="2165684"/>
                <a:gridCol w="2165684"/>
              </a:tblGrid>
              <a:tr h="546735">
                <a:tc>
                  <a:txBody>
                    <a:bodyPr>
                      <a:noAutofit/>
                    </a:bodyPr>
                    <a:lstStyle/>
                    <a:p>
                      <a:r>
                        <a:rPr sz="1650" b="1">
                          <a:solidFill>
                            <a:srgbClr val="FFFFFF"/>
                          </a:solidFill>
                          <a:latin typeface="Microsoft YaHei"/>
                          <a:ea typeface="Microsoft YaHei"/>
                          <a:cs typeface="Microsoft YaHei"/>
                        </a:rPr>
                        <a:t>波形末点</a:t>
                      </a:r>
                    </a:p>
                  </a:txBody>
                  <a:tcPr marL="91440" marR="91440" marT="45720" marB="45720" anchor="ctr">
                    <a:solidFill>
                      <a:srgbClr val="102A43"/>
                    </a:solidFill>
                  </a:tcPr>
                </a:tc>
                <a:tc>
                  <a:txBody>
                    <a:bodyPr>
                      <a:noAutofit/>
                    </a:bodyPr>
                    <a:lstStyle/>
                    <a:p>
                      <a:r>
                        <a:rPr sz="1650" b="1">
                          <a:solidFill>
                            <a:srgbClr val="FFFFFF"/>
                          </a:solidFill>
                          <a:latin typeface="Microsoft YaHei"/>
                          <a:ea typeface="Microsoft YaHei"/>
                          <a:cs typeface="Microsoft YaHei"/>
                        </a:rPr>
                        <a:t>论文</a:t>
                      </a:r>
                    </a:p>
                  </a:txBody>
                  <a:tcPr marL="91440" marR="91440" marT="45720" marB="45720" anchor="ctr">
                    <a:solidFill>
                      <a:srgbClr val="102A43"/>
                    </a:solidFill>
                  </a:tcPr>
                </a:tc>
                <a:tc>
                  <a:txBody>
                    <a:bodyPr>
                      <a:noAutofit/>
                    </a:bodyPr>
                    <a:lstStyle/>
                    <a:p>
                      <a:r>
                        <a:rPr sz="1650" b="1">
                          <a:solidFill>
                            <a:srgbClr val="FFFFFF"/>
                          </a:solidFill>
                          <a:latin typeface="Microsoft YaHei"/>
                          <a:ea typeface="Microsoft YaHei"/>
                          <a:cs typeface="Microsoft YaHei"/>
                        </a:rPr>
                        <a:t>短协议 T5</a:t>
                      </a:r>
                    </a:p>
                  </a:txBody>
                  <a:tcPr marL="91440" marR="91440" marT="45720" marB="45720" anchor="ctr">
                    <a:solidFill>
                      <a:srgbClr val="102A43"/>
                    </a:solidFill>
                  </a:tcPr>
                </a:tc>
                <a:tc>
                  <a:txBody>
                    <a:bodyPr>
                      <a:noAutofit/>
                    </a:bodyPr>
                    <a:lstStyle/>
                    <a:p>
                      <a:r>
                        <a:rPr sz="1650" b="1">
                          <a:solidFill>
                            <a:srgbClr val="FFFFFF"/>
                          </a:solidFill>
                          <a:latin typeface="Microsoft YaHei"/>
                          <a:ea typeface="Microsoft YaHei"/>
                          <a:cs typeface="Microsoft YaHei"/>
                        </a:rPr>
                        <a:t>长协议 T5</a:t>
                      </a:r>
                    </a:p>
                  </a:txBody>
                  <a:tcPr marL="91440" marR="91440" marT="45720" marB="45720" anchor="ctr">
                    <a:solidFill>
                      <a:srgbClr val="102A43"/>
                    </a:solidFill>
                  </a:tcPr>
                </a:tc>
                <a:tc>
                  <a:txBody>
                    <a:bodyPr>
                      <a:noAutofit/>
                    </a:bodyPr>
                    <a:lstStyle/>
                    <a:p>
                      <a:r>
                        <a:rPr sz="1650" b="1">
                          <a:solidFill>
                            <a:srgbClr val="FFFFFF"/>
                          </a:solidFill>
                          <a:latin typeface="Microsoft YaHei"/>
                          <a:ea typeface="Microsoft YaHei"/>
                          <a:cs typeface="Microsoft YaHei"/>
                        </a:rPr>
                        <a:t>长协议 T40</a:t>
                      </a:r>
                    </a:p>
                  </a:txBody>
                  <a:tcPr marL="91440" marR="91440" marT="45720" marB="45720" anchor="ctr">
                    <a:solidFill>
                      <a:srgbClr val="102A43"/>
                    </a:solidFill>
                  </a:tcPr>
                </a:tc>
              </a:tr>
              <a:tr h="546735">
                <a:tc>
                  <a:txBody>
                    <a:bodyPr>
                      <a:noAutofit/>
                    </a:bodyPr>
                    <a:lstStyle/>
                    <a:p>
                      <a:r>
                        <a:rPr sz="1650" b="0">
                          <a:solidFill>
                            <a:srgbClr val="344054"/>
                          </a:solidFill>
                          <a:latin typeface="Microsoft YaHei"/>
                          <a:ea typeface="Microsoft YaHei"/>
                          <a:cs typeface="Microsoft YaHei"/>
                        </a:rPr>
                        <a:t>手工 200 μs</a:t>
                      </a:r>
                    </a:p>
                  </a:txBody>
                  <a:tcPr marL="91440" marR="91440" marT="45720" marB="45720" anchor="ctr">
                    <a:solidFill>
                      <a:srgbClr val="FFFFFF"/>
                    </a:solidFill>
                  </a:tcPr>
                </a:tc>
                <a:tc>
                  <a:txBody>
                    <a:bodyPr>
                      <a:noAutofit/>
                    </a:bodyPr>
                    <a:lstStyle/>
                    <a:p>
                      <a:r>
                        <a:rPr sz="1650" b="0">
                          <a:solidFill>
                            <a:srgbClr val="344054"/>
                          </a:solidFill>
                          <a:latin typeface="Microsoft YaHei"/>
                          <a:ea typeface="Microsoft YaHei"/>
                          <a:cs typeface="Microsoft YaHei"/>
                        </a:rPr>
                        <a:t>0.3344</a:t>
                      </a:r>
                    </a:p>
                  </a:txBody>
                  <a:tcPr marL="91440" marR="91440" marT="45720" marB="45720" anchor="ctr">
                    <a:solidFill>
                      <a:srgbClr val="FFFFFF"/>
                    </a:solidFill>
                  </a:tcPr>
                </a:tc>
                <a:tc>
                  <a:txBody>
                    <a:bodyPr>
                      <a:noAutofit/>
                    </a:bodyPr>
                    <a:lstStyle/>
                    <a:p>
                      <a:r>
                        <a:rPr sz="1650" b="0">
                          <a:solidFill>
                            <a:srgbClr val="344054"/>
                          </a:solidFill>
                          <a:latin typeface="Microsoft YaHei"/>
                          <a:ea typeface="Microsoft YaHei"/>
                          <a:cs typeface="Microsoft YaHei"/>
                        </a:rPr>
                        <a:t>0.2695</a:t>
                      </a:r>
                    </a:p>
                  </a:txBody>
                  <a:tcPr marL="91440" marR="91440" marT="45720" marB="45720" anchor="ctr">
                    <a:solidFill>
                      <a:srgbClr val="FFFFFF"/>
                    </a:solidFill>
                  </a:tcPr>
                </a:tc>
                <a:tc>
                  <a:txBody>
                    <a:bodyPr>
                      <a:noAutofit/>
                    </a:bodyPr>
                    <a:lstStyle/>
                    <a:p>
                      <a:r>
                        <a:rPr sz="1650" b="0">
                          <a:solidFill>
                            <a:srgbClr val="344054"/>
                          </a:solidFill>
                          <a:latin typeface="Microsoft YaHei"/>
                          <a:ea typeface="Microsoft YaHei"/>
                          <a:cs typeface="Microsoft YaHei"/>
                        </a:rPr>
                        <a:t>0.1074</a:t>
                      </a:r>
                    </a:p>
                  </a:txBody>
                  <a:tcPr marL="91440" marR="91440" marT="45720" marB="45720" anchor="ctr">
                    <a:solidFill>
                      <a:srgbClr val="FFFFFF"/>
                    </a:solidFill>
                  </a:tcPr>
                </a:tc>
                <a:tc>
                  <a:txBody>
                    <a:bodyPr>
                      <a:noAutofit/>
                    </a:bodyPr>
                    <a:lstStyle/>
                    <a:p>
                      <a:r>
                        <a:rPr sz="1650" b="0">
                          <a:solidFill>
                            <a:srgbClr val="344054"/>
                          </a:solidFill>
                          <a:latin typeface="Microsoft YaHei"/>
                          <a:ea typeface="Microsoft YaHei"/>
                          <a:cs typeface="Microsoft YaHei"/>
                        </a:rPr>
                        <a:t>0.0078</a:t>
                      </a:r>
                    </a:p>
                  </a:txBody>
                  <a:tcPr marL="91440" marR="91440" marT="45720" marB="45720" anchor="ctr">
                    <a:solidFill>
                      <a:srgbClr val="FFFFFF"/>
                    </a:solidFill>
                  </a:tcPr>
                </a:tc>
              </a:tr>
              <a:tr h="546735">
                <a:tc>
                  <a:txBody>
                    <a:bodyPr>
                      <a:noAutofit/>
                    </a:bodyPr>
                    <a:lstStyle/>
                    <a:p>
                      <a:r>
                        <a:rPr sz="1650" b="0">
                          <a:solidFill>
                            <a:srgbClr val="344054"/>
                          </a:solidFill>
                          <a:latin typeface="Microsoft YaHei"/>
                          <a:ea typeface="Microsoft YaHei"/>
                          <a:cs typeface="Microsoft YaHei"/>
                        </a:rPr>
                        <a:t>手工 400 μs</a:t>
                      </a:r>
                    </a:p>
                  </a:txBody>
                  <a:tcPr marL="91440" marR="91440" marT="45720" marB="45720" anchor="ctr">
                    <a:solidFill>
                      <a:srgbClr val="F2F4F7"/>
                    </a:solidFill>
                  </a:tcPr>
                </a:tc>
                <a:tc>
                  <a:txBody>
                    <a:bodyPr>
                      <a:noAutofit/>
                    </a:bodyPr>
                    <a:lstStyle/>
                    <a:p>
                      <a:r>
                        <a:rPr sz="1650" b="0">
                          <a:solidFill>
                            <a:srgbClr val="344054"/>
                          </a:solidFill>
                          <a:latin typeface="Microsoft YaHei"/>
                          <a:ea typeface="Microsoft YaHei"/>
                          <a:cs typeface="Microsoft YaHei"/>
                        </a:rPr>
                        <a:t>0.4135</a:t>
                      </a:r>
                    </a:p>
                  </a:txBody>
                  <a:tcPr marL="91440" marR="91440" marT="45720" marB="45720" anchor="ctr">
                    <a:solidFill>
                      <a:srgbClr val="F2F4F7"/>
                    </a:solidFill>
                  </a:tcPr>
                </a:tc>
                <a:tc>
                  <a:txBody>
                    <a:bodyPr>
                      <a:noAutofit/>
                    </a:bodyPr>
                    <a:lstStyle/>
                    <a:p>
                      <a:r>
                        <a:rPr sz="1650" b="0">
                          <a:solidFill>
                            <a:srgbClr val="344054"/>
                          </a:solidFill>
                          <a:latin typeface="Microsoft YaHei"/>
                          <a:ea typeface="Microsoft YaHei"/>
                          <a:cs typeface="Microsoft YaHei"/>
                        </a:rPr>
                        <a:t>0.8867</a:t>
                      </a:r>
                    </a:p>
                  </a:txBody>
                  <a:tcPr marL="91440" marR="91440" marT="45720" marB="45720" anchor="ctr">
                    <a:solidFill>
                      <a:srgbClr val="F2F4F7"/>
                    </a:solidFill>
                  </a:tcPr>
                </a:tc>
                <a:tc>
                  <a:txBody>
                    <a:bodyPr>
                      <a:noAutofit/>
                    </a:bodyPr>
                    <a:lstStyle/>
                    <a:p>
                      <a:r>
                        <a:rPr sz="1650" b="0">
                          <a:solidFill>
                            <a:srgbClr val="344054"/>
                          </a:solidFill>
                          <a:latin typeface="Microsoft YaHei"/>
                          <a:ea typeface="Microsoft YaHei"/>
                          <a:cs typeface="Microsoft YaHei"/>
                        </a:rPr>
                        <a:t>0.6992</a:t>
                      </a:r>
                    </a:p>
                  </a:txBody>
                  <a:tcPr marL="91440" marR="91440" marT="45720" marB="45720" anchor="ctr">
                    <a:solidFill>
                      <a:srgbClr val="F2F4F7"/>
                    </a:solidFill>
                  </a:tcPr>
                </a:tc>
                <a:tc>
                  <a:txBody>
                    <a:bodyPr>
                      <a:noAutofit/>
                    </a:bodyPr>
                    <a:lstStyle/>
                    <a:p>
                      <a:r>
                        <a:rPr sz="1650" b="0">
                          <a:solidFill>
                            <a:srgbClr val="344054"/>
                          </a:solidFill>
                          <a:latin typeface="Microsoft YaHei"/>
                          <a:ea typeface="Microsoft YaHei"/>
                          <a:cs typeface="Microsoft YaHei"/>
                        </a:rPr>
                        <a:t>0.0957</a:t>
                      </a:r>
                    </a:p>
                  </a:txBody>
                  <a:tcPr marL="91440" marR="91440" marT="45720" marB="45720" anchor="ctr">
                    <a:solidFill>
                      <a:srgbClr val="F2F4F7"/>
                    </a:solidFill>
                  </a:tcPr>
                </a:tc>
              </a:tr>
              <a:tr h="546735">
                <a:tc>
                  <a:txBody>
                    <a:bodyPr>
                      <a:noAutofit/>
                    </a:bodyPr>
                    <a:lstStyle/>
                    <a:p>
                      <a:r>
                        <a:rPr sz="1650" b="0">
                          <a:solidFill>
                            <a:srgbClr val="344054"/>
                          </a:solidFill>
                          <a:latin typeface="Microsoft YaHei"/>
                          <a:ea typeface="Microsoft YaHei"/>
                          <a:cs typeface="Microsoft YaHei"/>
                        </a:rPr>
                        <a:t>手工 600 μs</a:t>
                      </a:r>
                    </a:p>
                  </a:txBody>
                  <a:tcPr marL="91440" marR="91440" marT="45720" marB="45720" anchor="ctr">
                    <a:solidFill>
                      <a:srgbClr val="FFFFFF"/>
                    </a:solidFill>
                  </a:tcPr>
                </a:tc>
                <a:tc>
                  <a:txBody>
                    <a:bodyPr>
                      <a:noAutofit/>
                    </a:bodyPr>
                    <a:lstStyle/>
                    <a:p>
                      <a:r>
                        <a:rPr sz="1650" b="0">
                          <a:solidFill>
                            <a:srgbClr val="344054"/>
                          </a:solidFill>
                          <a:latin typeface="Microsoft YaHei"/>
                          <a:ea typeface="Microsoft YaHei"/>
                          <a:cs typeface="Microsoft YaHei"/>
                        </a:rPr>
                        <a:t>0.5726</a:t>
                      </a:r>
                    </a:p>
                  </a:txBody>
                  <a:tcPr marL="91440" marR="91440" marT="45720" marB="45720" anchor="ctr">
                    <a:solidFill>
                      <a:srgbClr val="FFFFFF"/>
                    </a:solidFill>
                  </a:tcPr>
                </a:tc>
                <a:tc>
                  <a:txBody>
                    <a:bodyPr>
                      <a:noAutofit/>
                    </a:bodyPr>
                    <a:lstStyle/>
                    <a:p>
                      <a:r>
                        <a:rPr sz="1650" b="0">
                          <a:solidFill>
                            <a:srgbClr val="344054"/>
                          </a:solidFill>
                          <a:latin typeface="Microsoft YaHei"/>
                          <a:ea typeface="Microsoft YaHei"/>
                          <a:cs typeface="Microsoft YaHei"/>
                        </a:rPr>
                        <a:t>0.9980</a:t>
                      </a:r>
                    </a:p>
                  </a:txBody>
                  <a:tcPr marL="91440" marR="91440" marT="45720" marB="45720" anchor="ctr">
                    <a:solidFill>
                      <a:srgbClr val="FFFFFF"/>
                    </a:solidFill>
                  </a:tcPr>
                </a:tc>
                <a:tc>
                  <a:txBody>
                    <a:bodyPr>
                      <a:noAutofit/>
                    </a:bodyPr>
                    <a:lstStyle/>
                    <a:p>
                      <a:r>
                        <a:rPr sz="1650" b="0">
                          <a:solidFill>
                            <a:srgbClr val="344054"/>
                          </a:solidFill>
                          <a:latin typeface="Microsoft YaHei"/>
                          <a:ea typeface="Microsoft YaHei"/>
                          <a:cs typeface="Microsoft YaHei"/>
                        </a:rPr>
                        <a:t>0.9844</a:t>
                      </a:r>
                    </a:p>
                  </a:txBody>
                  <a:tcPr marL="91440" marR="91440" marT="45720" marB="45720" anchor="ctr">
                    <a:solidFill>
                      <a:srgbClr val="FFFFFF"/>
                    </a:solidFill>
                  </a:tcPr>
                </a:tc>
                <a:tc>
                  <a:txBody>
                    <a:bodyPr>
                      <a:noAutofit/>
                    </a:bodyPr>
                    <a:lstStyle/>
                    <a:p>
                      <a:r>
                        <a:rPr sz="1650" b="0">
                          <a:solidFill>
                            <a:srgbClr val="344054"/>
                          </a:solidFill>
                          <a:latin typeface="Microsoft YaHei"/>
                          <a:ea typeface="Microsoft YaHei"/>
                          <a:cs typeface="Microsoft YaHei"/>
                        </a:rPr>
                        <a:t>0.1953</a:t>
                      </a:r>
                    </a:p>
                  </a:txBody>
                  <a:tcPr marL="91440" marR="91440" marT="45720" marB="45720" anchor="ctr">
                    <a:solidFill>
                      <a:srgbClr val="FFFFFF"/>
                    </a:solidFill>
                  </a:tcPr>
                </a:tc>
              </a:tr>
              <a:tr h="546735">
                <a:tc>
                  <a:txBody>
                    <a:bodyPr>
                      <a:noAutofit/>
                    </a:bodyPr>
                    <a:lstStyle/>
                    <a:p>
                      <a:r>
                        <a:rPr sz="1650" b="0">
                          <a:solidFill>
                            <a:srgbClr val="344054"/>
                          </a:solidFill>
                          <a:latin typeface="Microsoft YaHei"/>
                          <a:ea typeface="Microsoft YaHei"/>
                          <a:cs typeface="Microsoft YaHei"/>
                        </a:rPr>
                        <a:t>论文 ML 400 μs</a:t>
                      </a:r>
                    </a:p>
                  </a:txBody>
                  <a:tcPr marL="91440" marR="91440" marT="45720" marB="45720" anchor="ctr">
                    <a:solidFill>
                      <a:srgbClr val="F2F4F7"/>
                    </a:solidFill>
                  </a:tcPr>
                </a:tc>
                <a:tc>
                  <a:txBody>
                    <a:bodyPr>
                      <a:noAutofit/>
                    </a:bodyPr>
                    <a:lstStyle/>
                    <a:p>
                      <a:r>
                        <a:rPr sz="1650" b="0">
                          <a:solidFill>
                            <a:srgbClr val="344054"/>
                          </a:solidFill>
                          <a:latin typeface="Microsoft YaHei"/>
                          <a:ea typeface="Microsoft YaHei"/>
                          <a:cs typeface="Microsoft YaHei"/>
                        </a:rPr>
                        <a:t>0.6633</a:t>
                      </a:r>
                    </a:p>
                  </a:txBody>
                  <a:tcPr marL="91440" marR="91440" marT="45720" marB="45720" anchor="ctr">
                    <a:solidFill>
                      <a:srgbClr val="F2F4F7"/>
                    </a:solidFill>
                  </a:tcPr>
                </a:tc>
                <a:tc>
                  <a:txBody>
                    <a:bodyPr>
                      <a:noAutofit/>
                    </a:bodyPr>
                    <a:lstStyle/>
                    <a:p>
                      <a:r>
                        <a:rPr sz="1650" b="0">
                          <a:solidFill>
                            <a:srgbClr val="344054"/>
                          </a:solidFill>
                          <a:latin typeface="Microsoft YaHei"/>
                          <a:ea typeface="Microsoft YaHei"/>
                          <a:cs typeface="Microsoft YaHei"/>
                        </a:rPr>
                        <a:t>1.0000</a:t>
                      </a:r>
                    </a:p>
                  </a:txBody>
                  <a:tcPr marL="91440" marR="91440" marT="45720" marB="45720" anchor="ctr">
                    <a:solidFill>
                      <a:srgbClr val="F2F4F7"/>
                    </a:solidFill>
                  </a:tcPr>
                </a:tc>
                <a:tc>
                  <a:txBody>
                    <a:bodyPr>
                      <a:noAutofit/>
                    </a:bodyPr>
                    <a:lstStyle/>
                    <a:p>
                      <a:r>
                        <a:rPr sz="1650" b="0">
                          <a:solidFill>
                            <a:srgbClr val="344054"/>
                          </a:solidFill>
                          <a:latin typeface="Microsoft YaHei"/>
                          <a:ea typeface="Microsoft YaHei"/>
                          <a:cs typeface="Microsoft YaHei"/>
                        </a:rPr>
                        <a:t>0.9980</a:t>
                      </a:r>
                    </a:p>
                  </a:txBody>
                  <a:tcPr marL="91440" marR="91440" marT="45720" marB="45720" anchor="ctr">
                    <a:solidFill>
                      <a:srgbClr val="F2F4F7"/>
                    </a:solidFill>
                  </a:tcPr>
                </a:tc>
                <a:tc>
                  <a:txBody>
                    <a:bodyPr>
                      <a:noAutofit/>
                    </a:bodyPr>
                    <a:lstStyle/>
                    <a:p>
                      <a:r>
                        <a:rPr sz="1650" b="0">
                          <a:solidFill>
                            <a:srgbClr val="344054"/>
                          </a:solidFill>
                          <a:latin typeface="Microsoft YaHei"/>
                          <a:ea typeface="Microsoft YaHei"/>
                          <a:cs typeface="Microsoft YaHei"/>
                        </a:rPr>
                        <a:t>0.3105</a:t>
                      </a:r>
                    </a:p>
                  </a:txBody>
                  <a:tcPr marL="91440" marR="91440" marT="45720" marB="45720" anchor="ctr">
                    <a:solidFill>
                      <a:srgbClr val="F2F4F7"/>
                    </a:solidFill>
                  </a:tcPr>
                </a:tc>
              </a:tr>
            </a:tbl>
          </a:graphicData>
        </a:graphic>
      </p:graphicFrame>
      <p:sp>
        <p:nvSpPr>
          <p:cNvPr id="6" name="">
            <a:extLst xmlns:a="http://schemas.openxmlformats.org/drawingml/2006/main">
              <a:ext uri="{FF2B5EF4-FFF2-40B4-BE49-F238E27FC236}">
                <a16:creationId xmlns:a16="http://schemas.microsoft.com/office/drawing/2014/main" id="{A63F6079-40AE-4D56-9F4E-E59D8F3D7DA0}"/>
              </a:ext>
            </a:extLst>
          </p:cNvPr>
          <p:cNvSpPr>
            <a:spLocks xmlns:a="http://schemas.openxmlformats.org/drawingml/2006/main" noGrp="1"/>
          </p:cNvSpPr>
          <p:nvPr/>
        </p:nvSpPr>
        <p:spPr>
          <a:xfrm xmlns:a="http://schemas.openxmlformats.org/drawingml/2006/main">
            <a:off x="609600" y="465772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70EF"/>
                </a:solidFill>
                <a:latin typeface="Microsoft YaHei"/>
                <a:ea typeface="Microsoft YaHei"/>
                <a:cs typeface="Microsoft YaHei"/>
              </a:defRPr>
            </a:pPr>
            <a:r>
              <a:rPr sz="1875" b="1">
                <a:solidFill>
                  <a:srgbClr val="1570EF"/>
                </a:solidFill>
                <a:latin typeface="Microsoft YaHei"/>
                <a:ea typeface="Microsoft YaHei"/>
                <a:cs typeface="Microsoft YaHei"/>
              </a:rPr>
              <a:t>长运输降低了部分存活率，600 μs 和 ML 的低温结果仍接近 1。</a:t>
            </a:r>
          </a:p>
        </p:txBody>
      </p:sp>
      <p:sp>
        <p:nvSpPr>
          <p:cNvPr id="7" name="">
            <a:extLst xmlns:a="http://schemas.openxmlformats.org/drawingml/2006/main">
              <a:ext uri="{FF2B5EF4-FFF2-40B4-BE49-F238E27FC236}">
                <a16:creationId xmlns:a16="http://schemas.microsoft.com/office/drawing/2014/main" id="{9EEB9FC7-F493-47D3-8760-760016CB2F39}"/>
              </a:ext>
            </a:extLst>
          </p:cNvPr>
          <p:cNvSpPr>
            <a:spLocks xmlns:a="http://schemas.openxmlformats.org/drawingml/2006/main" noGrp="1"/>
          </p:cNvSpPr>
          <p:nvPr/>
        </p:nvSpPr>
        <p:spPr>
          <a:xfrm xmlns:a="http://schemas.openxmlformats.org/drawingml/2006/main">
            <a:off x="609600" y="538162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4054"/>
                </a:solidFill>
                <a:latin typeface="Microsoft YaHei"/>
                <a:ea typeface="Microsoft YaHei"/>
                <a:cs typeface="Microsoft YaHei"/>
              </a:defRPr>
            </a:pPr>
            <a:r>
              <a:rPr sz="1725" b="0">
                <a:solidFill>
                  <a:srgbClr val="344054"/>
                </a:solidFill>
                <a:latin typeface="Microsoft YaHei"/>
                <a:ea typeface="Microsoft YaHei"/>
                <a:cs typeface="Microsoft YaHei"/>
              </a:rPr>
              <a:t>extended 已改变 Fig. 6d 的实验协议，不能把增加路程后的接近作为原波形拟合通过。</a:t>
            </a:r>
          </a:p>
        </p:txBody>
      </p:sp>
    </p:spTree>
    <p:extLst>
      <p:ext uri="{BB962C8B-B14F-4D97-AF65-F5344CB8AC3E}">
        <p14:creationId xmlns:p14="http://schemas.microsoft.com/office/powerpoint/2010/main" val="1989424592"/>
      </p:ext>
    </p:extLst>
  </p:cSld>
</p:sld>
</file>

<file path=ppt/slides/slide4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49DB16C-0D4E-4122-83B3-762D7410977D}"/>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有限脉冲接入后的内部态结果</a:t>
            </a:r>
          </a:p>
        </p:txBody>
      </p:sp>
      <p:sp>
        <p:nvSpPr>
          <p:cNvPr id="2" name="">
            <a:extLst xmlns:a="http://schemas.openxmlformats.org/drawingml/2006/main">
              <a:ext uri="{FF2B5EF4-FFF2-40B4-BE49-F238E27FC236}">
                <a16:creationId xmlns:a16="http://schemas.microsoft.com/office/drawing/2014/main" id="{372ECEF5-4F08-41FA-A051-67A1E682DA56}"/>
              </a:ext>
            </a:extLst>
          </p:cNvPr>
          <p:cNvSpPr>
            <a:spLocks xmlns:a="http://schemas.openxmlformats.org/drawingml/2006/main" noGrp="1"/>
          </p:cNvSpPr>
          <p:nvPr/>
        </p:nvSpPr>
        <p:spPr>
          <a:xfrm xmlns:a="http://schemas.openxmlformats.org/drawingml/2006/main">
            <a:off x="609600" y="9334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7085"/>
                </a:solidFill>
                <a:latin typeface="Microsoft YaHei"/>
                <a:ea typeface="Microsoft YaHei"/>
                <a:cs typeface="Microsoft YaHei"/>
              </a:defRPr>
            </a:pPr>
            <a:r>
              <a:rPr sz="1350" b="0">
                <a:solidFill>
                  <a:srgbClr val="667085"/>
                </a:solidFill>
                <a:latin typeface="Microsoft YaHei"/>
                <a:ea typeface="Microsoft YaHei"/>
                <a:cs typeface="Microsoft YaHei"/>
              </a:rPr>
              <a:t>同一条连续轨迹同时累计无 DD 相位和有限 DD 的 SU(2) 演化</a:t>
            </a:r>
          </a:p>
        </p:txBody>
      </p:sp>
      <p:sp>
        <p:nvSpPr>
          <p:cNvPr id="3" name="">
            <a:extLst xmlns:a="http://schemas.openxmlformats.org/drawingml/2006/main">
              <a:ext uri="{FF2B5EF4-FFF2-40B4-BE49-F238E27FC236}">
                <a16:creationId xmlns:a16="http://schemas.microsoft.com/office/drawing/2014/main" id="{534E1765-0595-4CFF-8C83-39A92C423D99}"/>
              </a:ext>
            </a:extLst>
          </p:cNvPr>
          <p:cNvSpPr>
            <a:spLocks xmlns:a="http://schemas.openxmlformats.org/drawingml/2006/main" noGrp="1"/>
          </p:cNvSpPr>
          <p:nvPr/>
        </p:nvSpPr>
        <p:spPr>
          <a:xfrm xmlns:a="http://schemas.openxmlformats.org/drawingml/2006/main">
            <a:off x="609600" y="6524625"/>
            <a:ext cx="1009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连续全流程重算  ·  参数与数值来源见配套报告 v10</a:t>
            </a:r>
          </a:p>
        </p:txBody>
      </p:sp>
      <p:sp>
        <p:nvSpPr>
          <p:cNvPr id="4" name="">
            <a:extLst xmlns:a="http://schemas.openxmlformats.org/drawingml/2006/main">
              <a:ext uri="{FF2B5EF4-FFF2-40B4-BE49-F238E27FC236}">
                <a16:creationId xmlns:a16="http://schemas.microsoft.com/office/drawing/2014/main" id="{1AF2E833-97B6-4C6A-9117-5198ACE7369B}"/>
              </a:ext>
            </a:extLst>
          </p:cNvPr>
          <p:cNvSpPr>
            <a:spLocks xmlns:a="http://schemas.openxmlformats.org/drawingml/2006/main" noGrp="1"/>
          </p:cNvSpPr>
          <p:nvPr/>
        </p:nvSpPr>
        <p:spPr>
          <a:xfrm xmlns:a="http://schemas.openxmlformats.org/drawingml/2006/main">
            <a:off x="11049000" y="65151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41</a:t>
            </a:r>
          </a:p>
        </p:txBody>
      </p:sp>
      <p:graphicFrame>
        <p:nvGraphicFramePr>
          <p:cNvPr id="13" name=""/>
          <p:cNvGraphicFramePr/>
          <p:nvPr/>
        </p:nvGraphicFramePr>
        <p:xfrm>
          <a:off xmlns:a="http://schemas.openxmlformats.org/drawingml/2006/main" x="609600" y="1581150"/>
          <a:ext xmlns:a="http://schemas.openxmlformats.org/drawingml/2006/main" cx="10972800" cy="2762250"/>
        </p:xfrm>
        <a:graphic xmlns:a="http://schemas.openxmlformats.org/drawingml/2006/main">
          <a:graphicData uri="http://schemas.openxmlformats.org/drawingml/2006/table">
            <a:tbl>
              <a:tblPr/>
              <a:tblGrid>
                <a:gridCol w="2880360"/>
                <a:gridCol w="1783080"/>
                <a:gridCol w="2057400"/>
                <a:gridCol w="2057400"/>
                <a:gridCol w="2194560"/>
              </a:tblGrid>
              <a:tr h="552450">
                <a:tc>
                  <a:txBody>
                    <a:bodyPr>
                      <a:noAutofit/>
                    </a:bodyPr>
                    <a:lstStyle/>
                    <a:p>
                      <a:r>
                        <a:rPr sz="1575" b="1">
                          <a:solidFill>
                            <a:srgbClr val="FFFFFF"/>
                          </a:solidFill>
                          <a:latin typeface="Microsoft YaHei"/>
                          <a:ea typeface="Microsoft YaHei"/>
                          <a:cs typeface="Microsoft YaHei"/>
                        </a:rPr>
                        <a:t>400 μs / n=60</a:t>
                      </a:r>
                    </a:p>
                  </a:txBody>
                  <a:tcPr marL="91440" marR="91440" marT="45720" marB="45720" anchor="ctr">
                    <a:solidFill>
                      <a:srgbClr val="102A43"/>
                    </a:solidFill>
                  </a:tcPr>
                </a:tc>
                <a:tc>
                  <a:txBody>
                    <a:bodyPr>
                      <a:noAutofit/>
                    </a:bodyPr>
                    <a:lstStyle/>
                    <a:p>
                      <a:r>
                        <a:rPr sz="1575" b="1">
                          <a:solidFill>
                            <a:srgbClr val="FFFFFF"/>
                          </a:solidFill>
                          <a:latin typeface="Microsoft YaHei"/>
                          <a:ea typeface="Microsoft YaHei"/>
                          <a:cs typeface="Microsoft YaHei"/>
                        </a:rPr>
                        <a:t>存活 S</a:t>
                      </a:r>
                    </a:p>
                  </a:txBody>
                  <a:tcPr marL="91440" marR="91440" marT="45720" marB="45720" anchor="ctr">
                    <a:solidFill>
                      <a:srgbClr val="102A43"/>
                    </a:solidFill>
                  </a:tcPr>
                </a:tc>
                <a:tc>
                  <a:txBody>
                    <a:bodyPr>
                      <a:noAutofit/>
                    </a:bodyPr>
                    <a:lstStyle/>
                    <a:p>
                      <a:r>
                        <a:rPr sz="1575" b="1">
                          <a:solidFill>
                            <a:srgbClr val="FFFFFF"/>
                          </a:solidFill>
                          <a:latin typeface="Microsoft YaHei"/>
                          <a:ea typeface="Microsoft YaHei"/>
                          <a:cs typeface="Microsoft YaHei"/>
                        </a:rPr>
                        <a:t>C 无 DD</a:t>
                      </a:r>
                    </a:p>
                  </a:txBody>
                  <a:tcPr marL="91440" marR="91440" marT="45720" marB="45720" anchor="ctr">
                    <a:solidFill>
                      <a:srgbClr val="102A43"/>
                    </a:solidFill>
                  </a:tcPr>
                </a:tc>
                <a:tc>
                  <a:txBody>
                    <a:bodyPr>
                      <a:noAutofit/>
                    </a:bodyPr>
                    <a:lstStyle/>
                    <a:p>
                      <a:r>
                        <a:rPr sz="1575" b="1">
                          <a:solidFill>
                            <a:srgbClr val="FFFFFF"/>
                          </a:solidFill>
                          <a:latin typeface="Microsoft YaHei"/>
                          <a:ea typeface="Microsoft YaHei"/>
                          <a:cs typeface="Microsoft YaHei"/>
                        </a:rPr>
                        <a:t>C 有限 DD</a:t>
                      </a:r>
                    </a:p>
                  </a:txBody>
                  <a:tcPr marL="91440" marR="91440" marT="45720" marB="45720" anchor="ctr">
                    <a:solidFill>
                      <a:srgbClr val="102A43"/>
                    </a:solidFill>
                  </a:tcPr>
                </a:tc>
                <a:tc>
                  <a:txBody>
                    <a:bodyPr>
                      <a:noAutofit/>
                    </a:bodyPr>
                    <a:lstStyle/>
                    <a:p>
                      <a:r>
                        <a:rPr sz="1575" b="1">
                          <a:solidFill>
                            <a:srgbClr val="FFFFFF"/>
                          </a:solidFill>
                          <a:latin typeface="Microsoft YaHei"/>
                          <a:ea typeface="Microsoft YaHei"/>
                          <a:cs typeface="Microsoft YaHei"/>
                        </a:rPr>
                        <a:t>Favg 有限 DD</a:t>
                      </a:r>
                    </a:p>
                  </a:txBody>
                  <a:tcPr marL="91440" marR="91440" marT="45720" marB="45720" anchor="ctr">
                    <a:solidFill>
                      <a:srgbClr val="102A43"/>
                    </a:solidFill>
                  </a:tcPr>
                </a:tc>
              </a:tr>
              <a:tr h="552450">
                <a:tc>
                  <a:txBody>
                    <a:bodyPr>
                      <a:noAutofit/>
                    </a:bodyPr>
                    <a:lstStyle/>
                    <a:p>
                      <a:r>
                        <a:rPr sz="1575" b="0">
                          <a:solidFill>
                            <a:srgbClr val="344054"/>
                          </a:solidFill>
                          <a:latin typeface="Microsoft YaHei"/>
                          <a:ea typeface="Microsoft YaHei"/>
                          <a:cs typeface="Microsoft YaHei"/>
                        </a:rPr>
                        <a:t>matched T5</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0.8867</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0.0596</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0.5459</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0.6480</a:t>
                      </a:r>
                    </a:p>
                  </a:txBody>
                  <a:tcPr marL="91440" marR="91440" marT="45720" marB="45720" anchor="ctr">
                    <a:solidFill>
                      <a:srgbClr val="FFFFFF"/>
                    </a:solidFill>
                  </a:tcPr>
                </a:tc>
              </a:tr>
              <a:tr h="552450">
                <a:tc>
                  <a:txBody>
                    <a:bodyPr>
                      <a:noAutofit/>
                    </a:bodyPr>
                    <a:lstStyle/>
                    <a:p>
                      <a:r>
                        <a:rPr sz="1575" b="0">
                          <a:solidFill>
                            <a:srgbClr val="344054"/>
                          </a:solidFill>
                          <a:latin typeface="Microsoft YaHei"/>
                          <a:ea typeface="Microsoft YaHei"/>
                          <a:cs typeface="Microsoft YaHei"/>
                        </a:rPr>
                        <a:t>matched T40</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0.1602</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0.0540</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0.4129</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0.8037</a:t>
                      </a:r>
                    </a:p>
                  </a:txBody>
                  <a:tcPr marL="91440" marR="91440" marT="45720" marB="45720" anchor="ctr">
                    <a:solidFill>
                      <a:srgbClr val="F2F4F7"/>
                    </a:solidFill>
                  </a:tcPr>
                </a:tc>
              </a:tr>
              <a:tr h="552450">
                <a:tc>
                  <a:txBody>
                    <a:bodyPr>
                      <a:noAutofit/>
                    </a:bodyPr>
                    <a:lstStyle/>
                    <a:p>
                      <a:r>
                        <a:rPr sz="1575" b="0">
                          <a:solidFill>
                            <a:srgbClr val="344054"/>
                          </a:solidFill>
                          <a:latin typeface="Microsoft YaHei"/>
                          <a:ea typeface="Microsoft YaHei"/>
                          <a:cs typeface="Microsoft YaHei"/>
                        </a:rPr>
                        <a:t>extended T5</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0.6992</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0.0530</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0.0469</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0.6784</a:t>
                      </a:r>
                    </a:p>
                  </a:txBody>
                  <a:tcPr marL="91440" marR="91440" marT="45720" marB="45720" anchor="ctr">
                    <a:solidFill>
                      <a:srgbClr val="FFFFFF"/>
                    </a:solidFill>
                  </a:tcPr>
                </a:tc>
              </a:tr>
              <a:tr h="552450">
                <a:tc>
                  <a:txBody>
                    <a:bodyPr>
                      <a:noAutofit/>
                    </a:bodyPr>
                    <a:lstStyle/>
                    <a:p>
                      <a:r>
                        <a:rPr sz="1575" b="0">
                          <a:solidFill>
                            <a:srgbClr val="344054"/>
                          </a:solidFill>
                          <a:latin typeface="Microsoft YaHei"/>
                          <a:ea typeface="Microsoft YaHei"/>
                          <a:cs typeface="Microsoft YaHei"/>
                        </a:rPr>
                        <a:t>extended T40</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0.0957</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0.2421</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0.1424</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0.7073</a:t>
                      </a:r>
                    </a:p>
                  </a:txBody>
                  <a:tcPr marL="91440" marR="91440" marT="45720" marB="45720" anchor="ctr">
                    <a:solidFill>
                      <a:srgbClr val="F2F4F7"/>
                    </a:solidFill>
                  </a:tcPr>
                </a:tc>
              </a:tr>
            </a:tbl>
          </a:graphicData>
        </a:graphic>
      </p:graphicFrame>
      <p:sp>
        <p:nvSpPr>
          <p:cNvPr id="6" name="">
            <a:extLst xmlns:a="http://schemas.openxmlformats.org/drawingml/2006/main">
              <a:ext uri="{FF2B5EF4-FFF2-40B4-BE49-F238E27FC236}">
                <a16:creationId xmlns:a16="http://schemas.microsoft.com/office/drawing/2014/main" id="{85ED6E79-0D82-4977-B3D5-2D33E746D05A}"/>
              </a:ext>
            </a:extLst>
          </p:cNvPr>
          <p:cNvSpPr>
            <a:spLocks xmlns:a="http://schemas.openxmlformats.org/drawingml/2006/main" noGrp="1"/>
          </p:cNvSpPr>
          <p:nvPr/>
        </p:nvSpPr>
        <p:spPr>
          <a:xfrm xmlns:a="http://schemas.openxmlformats.org/drawingml/2006/main">
            <a:off x="609600" y="468630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570EF"/>
                </a:solidFill>
                <a:latin typeface="Microsoft YaHei"/>
                <a:ea typeface="Microsoft YaHei"/>
                <a:cs typeface="Microsoft YaHei"/>
              </a:defRPr>
            </a:pPr>
            <a:r>
              <a:rPr sz="2100" b="1">
                <a:solidFill>
                  <a:srgbClr val="1570EF"/>
                </a:solidFill>
                <a:latin typeface="Microsoft YaHei"/>
                <a:ea typeface="Microsoft YaHei"/>
                <a:cs typeface="Microsoft YaHei"/>
              </a:rPr>
              <a:t>纯内部态幺正演化不会补出原子损失。</a:t>
            </a:r>
          </a:p>
        </p:txBody>
      </p:sp>
      <p:sp>
        <p:nvSpPr>
          <p:cNvPr id="7" name="">
            <a:extLst xmlns:a="http://schemas.openxmlformats.org/drawingml/2006/main">
              <a:ext uri="{FF2B5EF4-FFF2-40B4-BE49-F238E27FC236}">
                <a16:creationId xmlns:a16="http://schemas.microsoft.com/office/drawing/2014/main" id="{FDDE6863-9947-4BB1-9C3C-015F33DF8729}"/>
              </a:ext>
            </a:extLst>
          </p:cNvPr>
          <p:cNvSpPr>
            <a:spLocks xmlns:a="http://schemas.openxmlformats.org/drawingml/2006/main" noGrp="1"/>
          </p:cNvSpPr>
          <p:nvPr/>
        </p:nvSpPr>
        <p:spPr>
          <a:xfrm xmlns:a="http://schemas.openxmlformats.org/drawingml/2006/main">
            <a:off x="609600" y="5238750"/>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4054"/>
                </a:solidFill>
                <a:latin typeface="Microsoft YaHei"/>
                <a:ea typeface="Microsoft YaHei"/>
                <a:cs typeface="Microsoft YaHei"/>
              </a:defRPr>
            </a:pPr>
            <a:r>
              <a:rPr sz="1725" b="0">
                <a:solidFill>
                  <a:srgbClr val="344054"/>
                </a:solidFill>
                <a:latin typeface="Microsoft YaHei"/>
                <a:ea typeface="Microsoft YaHei"/>
                <a:cs typeface="Microsoft YaHei"/>
              </a:rPr>
              <a:t>本模型没有自旋依赖机械力。DD 影响相干性，机械存活率与无 DD 完全相同。</a:t>
            </a:r>
          </a:p>
        </p:txBody>
      </p:sp>
      <p:sp>
        <p:nvSpPr>
          <p:cNvPr id="8" name="">
            <a:extLst xmlns:a="http://schemas.openxmlformats.org/drawingml/2006/main">
              <a:ext uri="{FF2B5EF4-FFF2-40B4-BE49-F238E27FC236}">
                <a16:creationId xmlns:a16="http://schemas.microsoft.com/office/drawing/2014/main" id="{1938228E-189A-4621-900C-0C757FB92391}"/>
              </a:ext>
            </a:extLst>
          </p:cNvPr>
          <p:cNvSpPr>
            <a:spLocks xmlns:a="http://schemas.openxmlformats.org/drawingml/2006/main" noGrp="1"/>
          </p:cNvSpPr>
          <p:nvPr/>
        </p:nvSpPr>
        <p:spPr>
          <a:xfrm xmlns:a="http://schemas.openxmlformats.org/drawingml/2006/main">
            <a:off x="609600" y="5876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344054"/>
                </a:solidFill>
                <a:latin typeface="Microsoft YaHei"/>
                <a:ea typeface="Microsoft YaHei"/>
                <a:cs typeface="Microsoft YaHei"/>
              </a:defRPr>
            </a:pPr>
            <a:r>
              <a:rPr sz="1500" b="0">
                <a:solidFill>
                  <a:srgbClr val="344054"/>
                </a:solidFill>
                <a:latin typeface="Microsoft YaHei"/>
                <a:ea typeface="Microsoft YaHei"/>
                <a:cs typeface="Microsoft YaHei"/>
              </a:rPr>
              <a:t>Favg 相对理想脉冲序列、只对存活原子取平均。此处不使用旧 RB/IRB 比值拟合。</a:t>
            </a:r>
          </a:p>
        </p:txBody>
      </p:sp>
    </p:spTree>
    <p:extLst>
      <p:ext uri="{BB962C8B-B14F-4D97-AF65-F5344CB8AC3E}">
        <p14:creationId xmlns:p14="http://schemas.microsoft.com/office/powerpoint/2010/main" val="1772727684"/>
      </p:ext>
    </p:extLst>
  </p:cSld>
</p:sld>
</file>

<file path=ppt/slides/slide4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B923299-71A2-4555-9EE0-3392B8899EA9}"/>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步长与统计复核</a:t>
            </a:r>
          </a:p>
        </p:txBody>
      </p:sp>
      <p:sp>
        <p:nvSpPr>
          <p:cNvPr id="2" name="">
            <a:extLst xmlns:a="http://schemas.openxmlformats.org/drawingml/2006/main">
              <a:ext uri="{FF2B5EF4-FFF2-40B4-BE49-F238E27FC236}">
                <a16:creationId xmlns:a16="http://schemas.microsoft.com/office/drawing/2014/main" id="{7564FA0D-BF9A-455E-BD74-1B5A05E4F1BD}"/>
              </a:ext>
            </a:extLst>
          </p:cNvPr>
          <p:cNvSpPr>
            <a:spLocks xmlns:a="http://schemas.openxmlformats.org/drawingml/2006/main" noGrp="1"/>
          </p:cNvSpPr>
          <p:nvPr/>
        </p:nvSpPr>
        <p:spPr>
          <a:xfrm xmlns:a="http://schemas.openxmlformats.org/drawingml/2006/main">
            <a:off x="609600" y="9334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7085"/>
                </a:solidFill>
                <a:latin typeface="Microsoft YaHei"/>
                <a:ea typeface="Microsoft YaHei"/>
                <a:cs typeface="Microsoft YaHei"/>
              </a:defRPr>
            </a:pPr>
            <a:r>
              <a:rPr sz="1350" b="0">
                <a:solidFill>
                  <a:srgbClr val="667085"/>
                </a:solidFill>
                <a:latin typeface="Microsoft YaHei"/>
                <a:ea typeface="Microsoft YaHei"/>
                <a:cs typeface="Microsoft YaHei"/>
              </a:rPr>
              <a:t>相同 4096 初态、无序和逐段抖动，比较 dt=0.025 与 0.0125 μs</a:t>
            </a:r>
          </a:p>
        </p:txBody>
      </p:sp>
      <p:sp>
        <p:nvSpPr>
          <p:cNvPr id="3" name="">
            <a:extLst xmlns:a="http://schemas.openxmlformats.org/drawingml/2006/main">
              <a:ext uri="{FF2B5EF4-FFF2-40B4-BE49-F238E27FC236}">
                <a16:creationId xmlns:a16="http://schemas.microsoft.com/office/drawing/2014/main" id="{6475D923-3AF2-415F-980F-BF8DE7BB5695}"/>
              </a:ext>
            </a:extLst>
          </p:cNvPr>
          <p:cNvSpPr>
            <a:spLocks xmlns:a="http://schemas.openxmlformats.org/drawingml/2006/main" noGrp="1"/>
          </p:cNvSpPr>
          <p:nvPr/>
        </p:nvSpPr>
        <p:spPr>
          <a:xfrm xmlns:a="http://schemas.openxmlformats.org/drawingml/2006/main">
            <a:off x="609600" y="6524625"/>
            <a:ext cx="1009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连续全流程重算  ·  参数与数值来源见配套报告 v10</a:t>
            </a:r>
          </a:p>
        </p:txBody>
      </p:sp>
      <p:sp>
        <p:nvSpPr>
          <p:cNvPr id="4" name="">
            <a:extLst xmlns:a="http://schemas.openxmlformats.org/drawingml/2006/main">
              <a:ext uri="{FF2B5EF4-FFF2-40B4-BE49-F238E27FC236}">
                <a16:creationId xmlns:a16="http://schemas.microsoft.com/office/drawing/2014/main" id="{F9E11C3F-EBC7-4763-AC40-9276F918D82D}"/>
              </a:ext>
            </a:extLst>
          </p:cNvPr>
          <p:cNvSpPr>
            <a:spLocks xmlns:a="http://schemas.openxmlformats.org/drawingml/2006/main" noGrp="1"/>
          </p:cNvSpPr>
          <p:nvPr/>
        </p:nvSpPr>
        <p:spPr>
          <a:xfrm xmlns:a="http://schemas.openxmlformats.org/drawingml/2006/main">
            <a:off x="11049000" y="65151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42</a:t>
            </a:r>
          </a:p>
        </p:txBody>
      </p:sp>
      <p:graphicFrame>
        <p:nvGraphicFramePr>
          <p:cNvPr id="13" name=""/>
          <p:cNvGraphicFramePr/>
          <p:nvPr/>
        </p:nvGraphicFramePr>
        <p:xfrm>
          <a:off xmlns:a="http://schemas.openxmlformats.org/drawingml/2006/main" x="609600" y="1638300"/>
          <a:ext xmlns:a="http://schemas.openxmlformats.org/drawingml/2006/main" cx="10972800" cy="2724150"/>
        </p:xfrm>
        <a:graphic xmlns:a="http://schemas.openxmlformats.org/drawingml/2006/main">
          <a:graphicData uri="http://schemas.openxmlformats.org/drawingml/2006/table">
            <a:tbl>
              <a:tblPr/>
              <a:tblGrid>
                <a:gridCol w="3657600"/>
                <a:gridCol w="2438400"/>
                <a:gridCol w="2438400"/>
                <a:gridCol w="2438400"/>
              </a:tblGrid>
              <a:tr h="544830">
                <a:tc>
                  <a:txBody>
                    <a:bodyPr>
                      <a:noAutofit/>
                    </a:bodyPr>
                    <a:lstStyle/>
                    <a:p>
                      <a:r>
                        <a:rPr sz="1725" b="1">
                          <a:solidFill>
                            <a:srgbClr val="FFFFFF"/>
                          </a:solidFill>
                          <a:latin typeface="Microsoft YaHei"/>
                          <a:ea typeface="Microsoft YaHei"/>
                          <a:cs typeface="Microsoft YaHei"/>
                        </a:rPr>
                        <a:t>最大 |ΔS(n)|</a:t>
                      </a:r>
                    </a:p>
                  </a:txBody>
                  <a:tcPr marL="91440" marR="91440" marT="45720" marB="45720" anchor="ctr">
                    <a:solidFill>
                      <a:srgbClr val="102A43"/>
                    </a:solidFill>
                  </a:tcPr>
                </a:tc>
                <a:tc>
                  <a:txBody>
                    <a:bodyPr>
                      <a:noAutofit/>
                    </a:bodyPr>
                    <a:lstStyle/>
                    <a:p>
                      <a:r>
                        <a:rPr sz="1725" b="1">
                          <a:solidFill>
                            <a:srgbClr val="FFFFFF"/>
                          </a:solidFill>
                          <a:latin typeface="Microsoft YaHei"/>
                          <a:ea typeface="Microsoft YaHei"/>
                          <a:cs typeface="Microsoft YaHei"/>
                        </a:rPr>
                        <a:t>T5</a:t>
                      </a:r>
                    </a:p>
                  </a:txBody>
                  <a:tcPr marL="91440" marR="91440" marT="45720" marB="45720" anchor="ctr">
                    <a:solidFill>
                      <a:srgbClr val="102A43"/>
                    </a:solidFill>
                  </a:tcPr>
                </a:tc>
                <a:tc>
                  <a:txBody>
                    <a:bodyPr>
                      <a:noAutofit/>
                    </a:bodyPr>
                    <a:lstStyle/>
                    <a:p>
                      <a:r>
                        <a:rPr sz="1725" b="1">
                          <a:solidFill>
                            <a:srgbClr val="FFFFFF"/>
                          </a:solidFill>
                          <a:latin typeface="Microsoft YaHei"/>
                          <a:ea typeface="Microsoft YaHei"/>
                          <a:cs typeface="Microsoft YaHei"/>
                        </a:rPr>
                        <a:t>T15</a:t>
                      </a:r>
                    </a:p>
                  </a:txBody>
                  <a:tcPr marL="91440" marR="91440" marT="45720" marB="45720" anchor="ctr">
                    <a:solidFill>
                      <a:srgbClr val="102A43"/>
                    </a:solidFill>
                  </a:tcPr>
                </a:tc>
                <a:tc>
                  <a:txBody>
                    <a:bodyPr>
                      <a:noAutofit/>
                    </a:bodyPr>
                    <a:lstStyle/>
                    <a:p>
                      <a:r>
                        <a:rPr sz="1725" b="1">
                          <a:solidFill>
                            <a:srgbClr val="FFFFFF"/>
                          </a:solidFill>
                          <a:latin typeface="Microsoft YaHei"/>
                          <a:ea typeface="Microsoft YaHei"/>
                          <a:cs typeface="Microsoft YaHei"/>
                        </a:rPr>
                        <a:t>T25</a:t>
                      </a:r>
                    </a:p>
                  </a:txBody>
                  <a:tcPr marL="91440" marR="91440" marT="45720" marB="45720" anchor="ctr">
                    <a:solidFill>
                      <a:srgbClr val="102A43"/>
                    </a:solidFill>
                  </a:tcPr>
                </a:tc>
              </a:tr>
              <a:tr h="544830">
                <a:tc>
                  <a:txBody>
                    <a:bodyPr>
                      <a:noAutofit/>
                    </a:bodyPr>
                    <a:lstStyle/>
                    <a:p>
                      <a:r>
                        <a:rPr sz="1725" b="0">
                          <a:solidFill>
                            <a:srgbClr val="344054"/>
                          </a:solidFill>
                          <a:latin typeface="Microsoft YaHei"/>
                          <a:ea typeface="Microsoft YaHei"/>
                          <a:cs typeface="Microsoft YaHei"/>
                        </a:rPr>
                        <a:t>手工 200 μs</a:t>
                      </a:r>
                    </a:p>
                  </a:txBody>
                  <a:tcPr marL="91440" marR="91440" marT="45720" marB="45720" anchor="ctr">
                    <a:solidFill>
                      <a:srgbClr val="FFFFFF"/>
                    </a:solidFill>
                  </a:tcPr>
                </a:tc>
                <a:tc>
                  <a:txBody>
                    <a:bodyPr>
                      <a:noAutofit/>
                    </a:bodyPr>
                    <a:lstStyle/>
                    <a:p>
                      <a:r>
                        <a:rPr sz="1725" b="0">
                          <a:solidFill>
                            <a:srgbClr val="344054"/>
                          </a:solidFill>
                          <a:latin typeface="Microsoft YaHei"/>
                          <a:ea typeface="Microsoft YaHei"/>
                          <a:cs typeface="Microsoft YaHei"/>
                        </a:rPr>
                        <a:t>0.0073</a:t>
                      </a:r>
                    </a:p>
                  </a:txBody>
                  <a:tcPr marL="91440" marR="91440" marT="45720" marB="45720" anchor="ctr">
                    <a:solidFill>
                      <a:srgbClr val="FFFFFF"/>
                    </a:solidFill>
                  </a:tcPr>
                </a:tc>
                <a:tc>
                  <a:txBody>
                    <a:bodyPr>
                      <a:noAutofit/>
                    </a:bodyPr>
                    <a:lstStyle/>
                    <a:p>
                      <a:r>
                        <a:rPr sz="1725" b="0">
                          <a:solidFill>
                            <a:srgbClr val="344054"/>
                          </a:solidFill>
                          <a:latin typeface="Microsoft YaHei"/>
                          <a:ea typeface="Microsoft YaHei"/>
                          <a:cs typeface="Microsoft YaHei"/>
                        </a:rPr>
                        <a:t>0.0046</a:t>
                      </a:r>
                    </a:p>
                  </a:txBody>
                  <a:tcPr marL="91440" marR="91440" marT="45720" marB="45720" anchor="ctr">
                    <a:solidFill>
                      <a:srgbClr val="FFFFFF"/>
                    </a:solidFill>
                  </a:tcPr>
                </a:tc>
                <a:tc>
                  <a:txBody>
                    <a:bodyPr>
                      <a:noAutofit/>
                    </a:bodyPr>
                    <a:lstStyle/>
                    <a:p>
                      <a:r>
                        <a:rPr sz="1725" b="0">
                          <a:solidFill>
                            <a:srgbClr val="344054"/>
                          </a:solidFill>
                          <a:latin typeface="Microsoft YaHei"/>
                          <a:ea typeface="Microsoft YaHei"/>
                          <a:cs typeface="Microsoft YaHei"/>
                        </a:rPr>
                        <a:t>0.0068</a:t>
                      </a:r>
                    </a:p>
                  </a:txBody>
                  <a:tcPr marL="91440" marR="91440" marT="45720" marB="45720" anchor="ctr">
                    <a:solidFill>
                      <a:srgbClr val="FFFFFF"/>
                    </a:solidFill>
                  </a:tcPr>
                </a:tc>
              </a:tr>
              <a:tr h="544830">
                <a:tc>
                  <a:txBody>
                    <a:bodyPr>
                      <a:noAutofit/>
                    </a:bodyPr>
                    <a:lstStyle/>
                    <a:p>
                      <a:r>
                        <a:rPr sz="1725" b="0">
                          <a:solidFill>
                            <a:srgbClr val="344054"/>
                          </a:solidFill>
                          <a:latin typeface="Microsoft YaHei"/>
                          <a:ea typeface="Microsoft YaHei"/>
                          <a:cs typeface="Microsoft YaHei"/>
                        </a:rPr>
                        <a:t>手工 400 μs</a:t>
                      </a:r>
                    </a:p>
                  </a:txBody>
                  <a:tcPr marL="91440" marR="91440" marT="45720" marB="45720" anchor="ctr">
                    <a:solidFill>
                      <a:srgbClr val="F2F4F7"/>
                    </a:solidFill>
                  </a:tcPr>
                </a:tc>
                <a:tc>
                  <a:txBody>
                    <a:bodyPr>
                      <a:noAutofit/>
                    </a:bodyPr>
                    <a:lstStyle/>
                    <a:p>
                      <a:r>
                        <a:rPr sz="1725" b="0">
                          <a:solidFill>
                            <a:srgbClr val="344054"/>
                          </a:solidFill>
                          <a:latin typeface="Microsoft YaHei"/>
                          <a:ea typeface="Microsoft YaHei"/>
                          <a:cs typeface="Microsoft YaHei"/>
                        </a:rPr>
                        <a:t>0.0073</a:t>
                      </a:r>
                    </a:p>
                  </a:txBody>
                  <a:tcPr marL="91440" marR="91440" marT="45720" marB="45720" anchor="ctr">
                    <a:solidFill>
                      <a:srgbClr val="F2F4F7"/>
                    </a:solidFill>
                  </a:tcPr>
                </a:tc>
                <a:tc>
                  <a:txBody>
                    <a:bodyPr>
                      <a:noAutofit/>
                    </a:bodyPr>
                    <a:lstStyle/>
                    <a:p>
                      <a:r>
                        <a:rPr sz="1725" b="0">
                          <a:solidFill>
                            <a:srgbClr val="344054"/>
                          </a:solidFill>
                          <a:latin typeface="Microsoft YaHei"/>
                          <a:ea typeface="Microsoft YaHei"/>
                          <a:cs typeface="Microsoft YaHei"/>
                        </a:rPr>
                        <a:t>0.0120</a:t>
                      </a:r>
                    </a:p>
                  </a:txBody>
                  <a:tcPr marL="91440" marR="91440" marT="45720" marB="45720" anchor="ctr">
                    <a:solidFill>
                      <a:srgbClr val="F2F4F7"/>
                    </a:solidFill>
                  </a:tcPr>
                </a:tc>
                <a:tc>
                  <a:txBody>
                    <a:bodyPr>
                      <a:noAutofit/>
                    </a:bodyPr>
                    <a:lstStyle/>
                    <a:p>
                      <a:r>
                        <a:rPr sz="1725" b="0">
                          <a:solidFill>
                            <a:srgbClr val="344054"/>
                          </a:solidFill>
                          <a:latin typeface="Microsoft YaHei"/>
                          <a:ea typeface="Microsoft YaHei"/>
                          <a:cs typeface="Microsoft YaHei"/>
                        </a:rPr>
                        <a:t>0.0103</a:t>
                      </a:r>
                    </a:p>
                  </a:txBody>
                  <a:tcPr marL="91440" marR="91440" marT="45720" marB="45720" anchor="ctr">
                    <a:solidFill>
                      <a:srgbClr val="F2F4F7"/>
                    </a:solidFill>
                  </a:tcPr>
                </a:tc>
              </a:tr>
              <a:tr h="544830">
                <a:tc>
                  <a:txBody>
                    <a:bodyPr>
                      <a:noAutofit/>
                    </a:bodyPr>
                    <a:lstStyle/>
                    <a:p>
                      <a:r>
                        <a:rPr sz="1725" b="0">
                          <a:solidFill>
                            <a:srgbClr val="344054"/>
                          </a:solidFill>
                          <a:latin typeface="Microsoft YaHei"/>
                          <a:ea typeface="Microsoft YaHei"/>
                          <a:cs typeface="Microsoft YaHei"/>
                        </a:rPr>
                        <a:t>手工 600 μs</a:t>
                      </a:r>
                    </a:p>
                  </a:txBody>
                  <a:tcPr marL="91440" marR="91440" marT="45720" marB="45720" anchor="ctr">
                    <a:solidFill>
                      <a:srgbClr val="FFFFFF"/>
                    </a:solidFill>
                  </a:tcPr>
                </a:tc>
                <a:tc>
                  <a:txBody>
                    <a:bodyPr>
                      <a:noAutofit/>
                    </a:bodyPr>
                    <a:lstStyle/>
                    <a:p>
                      <a:r>
                        <a:rPr sz="1725" b="0">
                          <a:solidFill>
                            <a:srgbClr val="344054"/>
                          </a:solidFill>
                          <a:latin typeface="Microsoft YaHei"/>
                          <a:ea typeface="Microsoft YaHei"/>
                          <a:cs typeface="Microsoft YaHei"/>
                        </a:rPr>
                        <a:t>0.0012</a:t>
                      </a:r>
                    </a:p>
                  </a:txBody>
                  <a:tcPr marL="91440" marR="91440" marT="45720" marB="45720" anchor="ctr">
                    <a:solidFill>
                      <a:srgbClr val="FFFFFF"/>
                    </a:solidFill>
                  </a:tcPr>
                </a:tc>
                <a:tc>
                  <a:txBody>
                    <a:bodyPr>
                      <a:noAutofit/>
                    </a:bodyPr>
                    <a:lstStyle/>
                    <a:p>
                      <a:r>
                        <a:rPr sz="1725" b="0">
                          <a:solidFill>
                            <a:srgbClr val="344054"/>
                          </a:solidFill>
                          <a:latin typeface="Microsoft YaHei"/>
                          <a:ea typeface="Microsoft YaHei"/>
                          <a:cs typeface="Microsoft YaHei"/>
                        </a:rPr>
                        <a:t>0.0042</a:t>
                      </a:r>
                    </a:p>
                  </a:txBody>
                  <a:tcPr marL="91440" marR="91440" marT="45720" marB="45720" anchor="ctr">
                    <a:solidFill>
                      <a:srgbClr val="FFFFFF"/>
                    </a:solidFill>
                  </a:tcPr>
                </a:tc>
                <a:tc>
                  <a:txBody>
                    <a:bodyPr>
                      <a:noAutofit/>
                    </a:bodyPr>
                    <a:lstStyle/>
                    <a:p>
                      <a:r>
                        <a:rPr sz="1725" b="0">
                          <a:solidFill>
                            <a:srgbClr val="344054"/>
                          </a:solidFill>
                          <a:latin typeface="Microsoft YaHei"/>
                          <a:ea typeface="Microsoft YaHei"/>
                          <a:cs typeface="Microsoft YaHei"/>
                        </a:rPr>
                        <a:t>0.0129</a:t>
                      </a:r>
                    </a:p>
                  </a:txBody>
                  <a:tcPr marL="91440" marR="91440" marT="45720" marB="45720" anchor="ctr">
                    <a:solidFill>
                      <a:srgbClr val="FFFFFF"/>
                    </a:solidFill>
                  </a:tcPr>
                </a:tc>
              </a:tr>
              <a:tr h="544830">
                <a:tc>
                  <a:txBody>
                    <a:bodyPr>
                      <a:noAutofit/>
                    </a:bodyPr>
                    <a:lstStyle/>
                    <a:p>
                      <a:r>
                        <a:rPr sz="1725" b="0">
                          <a:solidFill>
                            <a:srgbClr val="344054"/>
                          </a:solidFill>
                          <a:latin typeface="Microsoft YaHei"/>
                          <a:ea typeface="Microsoft YaHei"/>
                          <a:cs typeface="Microsoft YaHei"/>
                        </a:rPr>
                        <a:t>论文 ML 400 μs</a:t>
                      </a:r>
                    </a:p>
                  </a:txBody>
                  <a:tcPr marL="91440" marR="91440" marT="45720" marB="45720" anchor="ctr">
                    <a:solidFill>
                      <a:srgbClr val="F2F4F7"/>
                    </a:solidFill>
                  </a:tcPr>
                </a:tc>
                <a:tc>
                  <a:txBody>
                    <a:bodyPr>
                      <a:noAutofit/>
                    </a:bodyPr>
                    <a:lstStyle/>
                    <a:p>
                      <a:r>
                        <a:rPr sz="1725" b="0">
                          <a:solidFill>
                            <a:srgbClr val="344054"/>
                          </a:solidFill>
                          <a:latin typeface="Microsoft YaHei"/>
                          <a:ea typeface="Microsoft YaHei"/>
                          <a:cs typeface="Microsoft YaHei"/>
                        </a:rPr>
                        <a:t>0.0000</a:t>
                      </a:r>
                    </a:p>
                  </a:txBody>
                  <a:tcPr marL="91440" marR="91440" marT="45720" marB="45720" anchor="ctr">
                    <a:solidFill>
                      <a:srgbClr val="F2F4F7"/>
                    </a:solidFill>
                  </a:tcPr>
                </a:tc>
                <a:tc>
                  <a:txBody>
                    <a:bodyPr>
                      <a:noAutofit/>
                    </a:bodyPr>
                    <a:lstStyle/>
                    <a:p>
                      <a:r>
                        <a:rPr sz="1725" b="0">
                          <a:solidFill>
                            <a:srgbClr val="344054"/>
                          </a:solidFill>
                          <a:latin typeface="Microsoft YaHei"/>
                          <a:ea typeface="Microsoft YaHei"/>
                          <a:cs typeface="Microsoft YaHei"/>
                        </a:rPr>
                        <a:t>0.0049</a:t>
                      </a:r>
                    </a:p>
                  </a:txBody>
                  <a:tcPr marL="91440" marR="91440" marT="45720" marB="45720" anchor="ctr">
                    <a:solidFill>
                      <a:srgbClr val="F2F4F7"/>
                    </a:solidFill>
                  </a:tcPr>
                </a:tc>
                <a:tc>
                  <a:txBody>
                    <a:bodyPr>
                      <a:noAutofit/>
                    </a:bodyPr>
                    <a:lstStyle/>
                    <a:p>
                      <a:r>
                        <a:rPr sz="1725" b="0">
                          <a:solidFill>
                            <a:srgbClr val="344054"/>
                          </a:solidFill>
                          <a:latin typeface="Microsoft YaHei"/>
                          <a:ea typeface="Microsoft YaHei"/>
                          <a:cs typeface="Microsoft YaHei"/>
                        </a:rPr>
                        <a:t>0.0042</a:t>
                      </a:r>
                    </a:p>
                  </a:txBody>
                  <a:tcPr marL="91440" marR="91440" marT="45720" marB="45720" anchor="ctr">
                    <a:solidFill>
                      <a:srgbClr val="F2F4F7"/>
                    </a:solidFill>
                  </a:tcPr>
                </a:tc>
              </a:tr>
            </a:tbl>
          </a:graphicData>
        </a:graphic>
      </p:graphicFrame>
      <p:sp>
        <p:nvSpPr>
          <p:cNvPr id="6" name="">
            <a:extLst xmlns:a="http://schemas.openxmlformats.org/drawingml/2006/main">
              <a:ext uri="{FF2B5EF4-FFF2-40B4-BE49-F238E27FC236}">
                <a16:creationId xmlns:a16="http://schemas.microsoft.com/office/drawing/2014/main" id="{5150D21C-5A87-48C0-9540-ABF9F8B83119}"/>
              </a:ext>
            </a:extLst>
          </p:cNvPr>
          <p:cNvSpPr>
            <a:spLocks xmlns:a="http://schemas.openxmlformats.org/drawingml/2006/main" noGrp="1"/>
          </p:cNvSpPr>
          <p:nvPr/>
        </p:nvSpPr>
        <p:spPr>
          <a:xfrm xmlns:a="http://schemas.openxmlformats.org/drawingml/2006/main">
            <a:off x="609600" y="46958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70EF"/>
                </a:solidFill>
                <a:latin typeface="Microsoft YaHei"/>
                <a:ea typeface="Microsoft YaHei"/>
                <a:cs typeface="Microsoft YaHei"/>
              </a:defRPr>
            </a:pPr>
            <a:r>
              <a:rPr sz="1800" b="1">
                <a:solidFill>
                  <a:srgbClr val="1570EF"/>
                </a:solidFill>
                <a:latin typeface="Microsoft YaHei"/>
                <a:ea typeface="Microsoft YaHei"/>
                <a:cs typeface="Microsoft YaHei"/>
              </a:rPr>
              <a:t>精细检查最大曲线变化 0.0129，原 128-shot 检查最大变化 0.1172。</a:t>
            </a:r>
          </a:p>
        </p:txBody>
      </p:sp>
      <p:sp>
        <p:nvSpPr>
          <p:cNvPr id="7" name="">
            <a:extLst xmlns:a="http://schemas.openxmlformats.org/drawingml/2006/main">
              <a:ext uri="{FF2B5EF4-FFF2-40B4-BE49-F238E27FC236}">
                <a16:creationId xmlns:a16="http://schemas.microsoft.com/office/drawing/2014/main" id="{B17A53EC-3B8A-4041-A1D8-473ACF1848E5}"/>
              </a:ext>
            </a:extLst>
          </p:cNvPr>
          <p:cNvSpPr>
            <a:spLocks xmlns:a="http://schemas.openxmlformats.org/drawingml/2006/main" noGrp="1"/>
          </p:cNvSpPr>
          <p:nvPr/>
        </p:nvSpPr>
        <p:spPr>
          <a:xfrm xmlns:a="http://schemas.openxmlformats.org/drawingml/2006/main">
            <a:off x="609600" y="5343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4054"/>
                </a:solidFill>
                <a:latin typeface="Microsoft YaHei"/>
                <a:ea typeface="Microsoft YaHei"/>
                <a:cs typeface="Microsoft YaHei"/>
              </a:defRPr>
            </a:pPr>
            <a:r>
              <a:rPr sz="1725" b="0">
                <a:solidFill>
                  <a:srgbClr val="344054"/>
                </a:solidFill>
                <a:latin typeface="Microsoft YaHei"/>
                <a:ea typeface="Microsoft YaHei"/>
                <a:cs typeface="Microsoft YaHei"/>
              </a:rPr>
              <a:t>4096 shots 在 S≈0.5 处的单点 95% 区间半宽约 0.0153。</a:t>
            </a:r>
          </a:p>
        </p:txBody>
      </p:sp>
      <p:sp>
        <p:nvSpPr>
          <p:cNvPr id="8" name="">
            <a:extLst xmlns:a="http://schemas.openxmlformats.org/drawingml/2006/main">
              <a:ext uri="{FF2B5EF4-FFF2-40B4-BE49-F238E27FC236}">
                <a16:creationId xmlns:a16="http://schemas.microsoft.com/office/drawing/2014/main" id="{670021CA-D100-4EFD-B018-8D5EACAF55ED}"/>
              </a:ext>
            </a:extLst>
          </p:cNvPr>
          <p:cNvSpPr>
            <a:spLocks xmlns:a="http://schemas.openxmlformats.org/drawingml/2006/main" noGrp="1"/>
          </p:cNvSpPr>
          <p:nvPr/>
        </p:nvSpPr>
        <p:spPr>
          <a:xfrm xmlns:a="http://schemas.openxmlformats.org/drawingml/2006/main">
            <a:off x="609600" y="58864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344054"/>
                </a:solidFill>
                <a:latin typeface="Microsoft YaHei"/>
                <a:ea typeface="Microsoft YaHei"/>
                <a:cs typeface="Microsoft YaHei"/>
              </a:defRPr>
            </a:pPr>
            <a:r>
              <a:rPr sz="1500" b="0">
                <a:solidFill>
                  <a:srgbClr val="344054"/>
                </a:solidFill>
                <a:latin typeface="Microsoft YaHei"/>
                <a:ea typeface="Microsoft YaHei"/>
                <a:cs typeface="Microsoft YaHei"/>
              </a:rPr>
              <a:t>轨迹标签可能因混沌演化改变。分别报告逐原子标签差和系综曲线差，避免混为一谈。</a:t>
            </a:r>
          </a:p>
        </p:txBody>
      </p:sp>
    </p:spTree>
    <p:extLst>
      <p:ext uri="{BB962C8B-B14F-4D97-AF65-F5344CB8AC3E}">
        <p14:creationId xmlns:p14="http://schemas.microsoft.com/office/powerpoint/2010/main" val="1029029188"/>
      </p:ext>
    </p:extLst>
  </p:cSld>
</p:sld>
</file>

<file path=ppt/slides/slide4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64E98B1-2A77-4340-AEAC-263A4D04095F}"/>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仍未拟合的原因与模型边界</a:t>
            </a:r>
          </a:p>
        </p:txBody>
      </p:sp>
      <p:sp>
        <p:nvSpPr>
          <p:cNvPr id="2" name="">
            <a:extLst xmlns:a="http://schemas.openxmlformats.org/drawingml/2006/main">
              <a:ext uri="{FF2B5EF4-FFF2-40B4-BE49-F238E27FC236}">
                <a16:creationId xmlns:a16="http://schemas.microsoft.com/office/drawing/2014/main" id="{4B6FE4AE-E250-4658-8476-7A8248680618}"/>
              </a:ext>
            </a:extLst>
          </p:cNvPr>
          <p:cNvSpPr>
            <a:spLocks xmlns:a="http://schemas.openxmlformats.org/drawingml/2006/main" noGrp="1"/>
          </p:cNvSpPr>
          <p:nvPr/>
        </p:nvSpPr>
        <p:spPr>
          <a:xfrm xmlns:a="http://schemas.openxmlformats.org/drawingml/2006/main">
            <a:off x="609600" y="9334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7085"/>
                </a:solidFill>
                <a:latin typeface="Microsoft YaHei"/>
                <a:ea typeface="Microsoft YaHei"/>
                <a:cs typeface="Microsoft YaHei"/>
              </a:defRPr>
            </a:pPr>
            <a:r>
              <a:rPr sz="1350" b="0">
                <a:solidFill>
                  <a:srgbClr val="667085"/>
                </a:solidFill>
                <a:latin typeface="Microsoft YaHei"/>
                <a:ea typeface="Microsoft YaHei"/>
                <a:cs typeface="Microsoft YaHei"/>
              </a:rPr>
              <a:t>本次已完成连续接入、原标准复核及冻结参数的大样本确认</a:t>
            </a:r>
          </a:p>
        </p:txBody>
      </p:sp>
      <p:sp>
        <p:nvSpPr>
          <p:cNvPr id="3" name="">
            <a:extLst xmlns:a="http://schemas.openxmlformats.org/drawingml/2006/main">
              <a:ext uri="{FF2B5EF4-FFF2-40B4-BE49-F238E27FC236}">
                <a16:creationId xmlns:a16="http://schemas.microsoft.com/office/drawing/2014/main" id="{2FAD0320-095B-4A95-91D2-2E39FC435DF3}"/>
              </a:ext>
            </a:extLst>
          </p:cNvPr>
          <p:cNvSpPr>
            <a:spLocks xmlns:a="http://schemas.openxmlformats.org/drawingml/2006/main" noGrp="1"/>
          </p:cNvSpPr>
          <p:nvPr/>
        </p:nvSpPr>
        <p:spPr>
          <a:xfrm xmlns:a="http://schemas.openxmlformats.org/drawingml/2006/main">
            <a:off x="609600" y="6524625"/>
            <a:ext cx="1009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连续全流程重算  ·  参数与数值来源见配套报告 v10</a:t>
            </a:r>
          </a:p>
        </p:txBody>
      </p:sp>
      <p:sp>
        <p:nvSpPr>
          <p:cNvPr id="4" name="">
            <a:extLst xmlns:a="http://schemas.openxmlformats.org/drawingml/2006/main">
              <a:ext uri="{FF2B5EF4-FFF2-40B4-BE49-F238E27FC236}">
                <a16:creationId xmlns:a16="http://schemas.microsoft.com/office/drawing/2014/main" id="{C08811CE-40DD-4773-8FF2-787085706620}"/>
              </a:ext>
            </a:extLst>
          </p:cNvPr>
          <p:cNvSpPr>
            <a:spLocks xmlns:a="http://schemas.openxmlformats.org/drawingml/2006/main" noGrp="1"/>
          </p:cNvSpPr>
          <p:nvPr/>
        </p:nvSpPr>
        <p:spPr>
          <a:xfrm xmlns:a="http://schemas.openxmlformats.org/drawingml/2006/main">
            <a:off x="11049000" y="65151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43</a:t>
            </a:r>
          </a:p>
        </p:txBody>
      </p:sp>
      <p:graphicFrame>
        <p:nvGraphicFramePr>
          <p:cNvPr id="12" name=""/>
          <p:cNvGraphicFramePr/>
          <p:nvPr/>
        </p:nvGraphicFramePr>
        <p:xfrm>
          <a:off xmlns:a="http://schemas.openxmlformats.org/drawingml/2006/main" x="609600" y="1581150"/>
          <a:ext xmlns:a="http://schemas.openxmlformats.org/drawingml/2006/main" cx="10972800" cy="3409950"/>
        </p:xfrm>
        <a:graphic xmlns:a="http://schemas.openxmlformats.org/drawingml/2006/main">
          <a:graphicData uri="http://schemas.openxmlformats.org/drawingml/2006/table">
            <a:tbl>
              <a:tblPr/>
              <a:tblGrid>
                <a:gridCol w="3498574"/>
                <a:gridCol w="7474226"/>
              </a:tblGrid>
              <a:tr h="568325">
                <a:tc>
                  <a:txBody>
                    <a:bodyPr>
                      <a:noAutofit/>
                    </a:bodyPr>
                    <a:lstStyle/>
                    <a:p>
                      <a:r>
                        <a:rPr sz="1650" b="1">
                          <a:solidFill>
                            <a:srgbClr val="FFFFFF"/>
                          </a:solidFill>
                          <a:latin typeface="Microsoft YaHei"/>
                          <a:ea typeface="Microsoft YaHei"/>
                          <a:cs typeface="Microsoft YaHei"/>
                        </a:rPr>
                        <a:t>观察 / 假设</a:t>
                      </a:r>
                    </a:p>
                  </a:txBody>
                  <a:tcPr marL="91440" marR="91440" marT="45720" marB="45720" anchor="ctr">
                    <a:solidFill>
                      <a:srgbClr val="102A43"/>
                    </a:solidFill>
                  </a:tcPr>
                </a:tc>
                <a:tc>
                  <a:txBody>
                    <a:bodyPr>
                      <a:noAutofit/>
                    </a:bodyPr>
                    <a:lstStyle/>
                    <a:p>
                      <a:r>
                        <a:rPr sz="1650" b="1">
                          <a:solidFill>
                            <a:srgbClr val="FFFFFF"/>
                          </a:solidFill>
                          <a:latin typeface="Microsoft YaHei"/>
                          <a:ea typeface="Microsoft YaHei"/>
                          <a:cs typeface="Microsoft YaHei"/>
                        </a:rPr>
                        <a:t>对结论的影响</a:t>
                      </a:r>
                    </a:p>
                  </a:txBody>
                  <a:tcPr marL="91440" marR="91440" marT="45720" marB="45720" anchor="ctr">
                    <a:solidFill>
                      <a:srgbClr val="102A43"/>
                    </a:solidFill>
                  </a:tcPr>
                </a:tc>
              </a:tr>
              <a:tr h="568325">
                <a:tc>
                  <a:txBody>
                    <a:bodyPr>
                      <a:noAutofit/>
                    </a:bodyPr>
                    <a:lstStyle/>
                    <a:p>
                      <a:r>
                        <a:rPr sz="1650" b="0">
                          <a:solidFill>
                            <a:srgbClr val="344054"/>
                          </a:solidFill>
                          <a:latin typeface="Microsoft YaHei"/>
                          <a:ea typeface="Microsoft YaHei"/>
                          <a:cs typeface="Microsoft YaHei"/>
                        </a:rPr>
                        <a:t>三维热能与有限阱深</a:t>
                      </a:r>
                    </a:p>
                  </a:txBody>
                  <a:tcPr marL="91440" marR="91440" marT="45720" marB="45720" anchor="ctr">
                    <a:solidFill>
                      <a:srgbClr val="FFFFFF"/>
                    </a:solidFill>
                  </a:tcPr>
                </a:tc>
                <a:tc>
                  <a:txBody>
                    <a:bodyPr>
                      <a:noAutofit/>
                    </a:bodyPr>
                    <a:lstStyle/>
                    <a:p>
                      <a:r>
                        <a:rPr sz="1650" b="0">
                          <a:solidFill>
                            <a:srgbClr val="344054"/>
                          </a:solidFill>
                          <a:latin typeface="Microsoft YaHei"/>
                          <a:ea typeface="Microsoft YaHei"/>
                          <a:cs typeface="Microsoft YaHei"/>
                        </a:rPr>
                        <a:t>同温度有更多运动能量，T40 参数出现过度损失</a:t>
                      </a:r>
                    </a:p>
                  </a:txBody>
                  <a:tcPr marL="91440" marR="91440" marT="45720" marB="45720" anchor="ctr">
                    <a:solidFill>
                      <a:srgbClr val="FFFFFF"/>
                    </a:solidFill>
                  </a:tcPr>
                </a:tc>
              </a:tr>
              <a:tr h="568325">
                <a:tc>
                  <a:txBody>
                    <a:bodyPr>
                      <a:noAutofit/>
                    </a:bodyPr>
                    <a:lstStyle/>
                    <a:p>
                      <a:r>
                        <a:rPr sz="1650" b="0">
                          <a:solidFill>
                            <a:srgbClr val="344054"/>
                          </a:solidFill>
                          <a:latin typeface="Microsoft YaHei"/>
                          <a:ea typeface="Microsoft YaHei"/>
                          <a:cs typeface="Microsoft YaHei"/>
                        </a:rPr>
                        <a:t>速度相关的柱面透镜</a:t>
                      </a:r>
                    </a:p>
                  </a:txBody>
                  <a:tcPr marL="91440" marR="91440" marT="45720" marB="45720" anchor="ctr">
                    <a:solidFill>
                      <a:srgbClr val="F2F4F7"/>
                    </a:solidFill>
                  </a:tcPr>
                </a:tc>
                <a:tc>
                  <a:txBody>
                    <a:bodyPr>
                      <a:noAutofit/>
                    </a:bodyPr>
                    <a:lstStyle/>
                    <a:p>
                      <a:r>
                        <a:rPr sz="1650" b="0">
                          <a:solidFill>
                            <a:srgbClr val="344054"/>
                          </a:solidFill>
                          <a:latin typeface="Microsoft YaHei"/>
                          <a:ea typeface="Microsoft YaHei"/>
                          <a:cs typeface="Microsoft YaHei"/>
                        </a:rPr>
                        <a:t>对快速 200 μs 波形影响大，对慢波形不足以产生所需衰减</a:t>
                      </a:r>
                    </a:p>
                  </a:txBody>
                  <a:tcPr marL="91440" marR="91440" marT="45720" marB="45720" anchor="ctr">
                    <a:solidFill>
                      <a:srgbClr val="F2F4F7"/>
                    </a:solidFill>
                  </a:tcPr>
                </a:tc>
              </a:tr>
              <a:tr h="568325">
                <a:tc>
                  <a:txBody>
                    <a:bodyPr>
                      <a:noAutofit/>
                    </a:bodyPr>
                    <a:lstStyle/>
                    <a:p>
                      <a:r>
                        <a:rPr sz="1650" b="0">
                          <a:solidFill>
                            <a:srgbClr val="344054"/>
                          </a:solidFill>
                          <a:latin typeface="Microsoft YaHei"/>
                          <a:ea typeface="Microsoft YaHei"/>
                          <a:cs typeface="Microsoft YaHei"/>
                        </a:rPr>
                        <a:t>温度与加热参考能量耦合</a:t>
                      </a:r>
                    </a:p>
                  </a:txBody>
                  <a:tcPr marL="91440" marR="91440" marT="45720" marB="45720" anchor="ctr">
                    <a:solidFill>
                      <a:srgbClr val="FFFFFF"/>
                    </a:solidFill>
                  </a:tcPr>
                </a:tc>
                <a:tc>
                  <a:txBody>
                    <a:bodyPr>
                      <a:noAutofit/>
                    </a:bodyPr>
                    <a:lstStyle/>
                    <a:p>
                      <a:r>
                        <a:rPr sz="1650" b="0">
                          <a:solidFill>
                            <a:srgbClr val="344054"/>
                          </a:solidFill>
                          <a:latin typeface="Microsoft YaHei"/>
                          <a:ea typeface="Microsoft YaHei"/>
                          <a:cs typeface="Microsoft YaHei"/>
                        </a:rPr>
                        <a:t>共同扫描参数无法同时兼顾四条曲线</a:t>
                      </a:r>
                    </a:p>
                  </a:txBody>
                  <a:tcPr marL="91440" marR="91440" marT="45720" marB="45720" anchor="ctr">
                    <a:solidFill>
                      <a:srgbClr val="FFFFFF"/>
                    </a:solidFill>
                  </a:tcPr>
                </a:tc>
              </a:tr>
              <a:tr h="568325">
                <a:tc>
                  <a:txBody>
                    <a:bodyPr>
                      <a:noAutofit/>
                    </a:bodyPr>
                    <a:lstStyle/>
                    <a:p>
                      <a:r>
                        <a:rPr sz="1650" b="0">
                          <a:solidFill>
                            <a:srgbClr val="344054"/>
                          </a:solidFill>
                          <a:latin typeface="Microsoft YaHei"/>
                          <a:ea typeface="Microsoft YaHei"/>
                          <a:cs typeface="Microsoft YaHei"/>
                        </a:rPr>
                        <a:t>装置与波形仍有未标定项</a:t>
                      </a:r>
                    </a:p>
                  </a:txBody>
                  <a:tcPr marL="91440" marR="91440" marT="45720" marB="45720" anchor="ctr">
                    <a:solidFill>
                      <a:srgbClr val="F2F4F7"/>
                    </a:solidFill>
                  </a:tcPr>
                </a:tc>
                <a:tc>
                  <a:txBody>
                    <a:bodyPr>
                      <a:noAutofit/>
                    </a:bodyPr>
                    <a:lstStyle/>
                    <a:p>
                      <a:r>
                        <a:rPr sz="1650" b="0">
                          <a:solidFill>
                            <a:srgbClr val="344054"/>
                          </a:solidFill>
                          <a:latin typeface="Microsoft YaHei"/>
                          <a:ea typeface="Microsoft YaHei"/>
                          <a:cs typeface="Microsoft YaHei"/>
                        </a:rPr>
                        <a:t>绝对 AOD 透镜、噪声谱、实际波形响应仍需数据约束</a:t>
                      </a:r>
                    </a:p>
                  </a:txBody>
                  <a:tcPr marL="91440" marR="91440" marT="45720" marB="45720" anchor="ctr">
                    <a:solidFill>
                      <a:srgbClr val="F2F4F7"/>
                    </a:solidFill>
                  </a:tcPr>
                </a:tc>
              </a:tr>
              <a:tr h="568325">
                <a:tc>
                  <a:txBody>
                    <a:bodyPr>
                      <a:noAutofit/>
                    </a:bodyPr>
                    <a:lstStyle/>
                    <a:p>
                      <a:r>
                        <a:rPr sz="1650" b="0">
                          <a:solidFill>
                            <a:srgbClr val="344054"/>
                          </a:solidFill>
                          <a:latin typeface="Microsoft YaHei"/>
                          <a:ea typeface="Microsoft YaHei"/>
                          <a:cs typeface="Microsoft YaHei"/>
                        </a:rPr>
                        <a:t>内部态与机械态的耦合范围</a:t>
                      </a:r>
                    </a:p>
                  </a:txBody>
                  <a:tcPr marL="91440" marR="91440" marT="45720" marB="45720" anchor="ctr">
                    <a:solidFill>
                      <a:srgbClr val="FFFFFF"/>
                    </a:solidFill>
                  </a:tcPr>
                </a:tc>
                <a:tc>
                  <a:txBody>
                    <a:bodyPr>
                      <a:noAutofit/>
                    </a:bodyPr>
                    <a:lstStyle/>
                    <a:p>
                      <a:r>
                        <a:rPr sz="1650" b="0">
                          <a:solidFill>
                            <a:srgbClr val="344054"/>
                          </a:solidFill>
                          <a:latin typeface="Microsoft YaHei"/>
                          <a:ea typeface="Microsoft YaHei"/>
                          <a:cs typeface="Microsoft YaHei"/>
                        </a:rPr>
                        <a:t>现有有限脉冲模型没有自旋依赖机械力或 Raman 损失</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37295F6-8724-4458-8127-52CE8932A21F}"/>
              </a:ext>
            </a:extLst>
          </p:cNvPr>
          <p:cNvSpPr>
            <a:spLocks xmlns:a="http://schemas.openxmlformats.org/drawingml/2006/main" noGrp="1"/>
          </p:cNvSpPr>
          <p:nvPr/>
        </p:nvSpPr>
        <p:spPr>
          <a:xfrm xmlns:a="http://schemas.openxmlformats.org/drawingml/2006/main">
            <a:off x="609600" y="53054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70EF"/>
                </a:solidFill>
                <a:latin typeface="Microsoft YaHei"/>
                <a:ea typeface="Microsoft YaHei"/>
                <a:cs typeface="Microsoft YaHei"/>
              </a:defRPr>
            </a:pPr>
            <a:r>
              <a:rPr sz="1875" b="1">
                <a:solidFill>
                  <a:srgbClr val="1570EF"/>
                </a:solidFill>
                <a:latin typeface="Microsoft YaHei"/>
                <a:ea typeface="Microsoft YaHei"/>
                <a:cs typeface="Microsoft YaHei"/>
              </a:rPr>
              <a:t>184 个实际计算格点已归档，104 项相关代码检查通过。</a:t>
            </a:r>
          </a:p>
        </p:txBody>
      </p:sp>
      <p:sp>
        <p:nvSpPr>
          <p:cNvPr id="7" name="">
            <a:extLst xmlns:a="http://schemas.openxmlformats.org/drawingml/2006/main">
              <a:ext uri="{FF2B5EF4-FFF2-40B4-BE49-F238E27FC236}">
                <a16:creationId xmlns:a16="http://schemas.microsoft.com/office/drawing/2014/main" id="{2F0E7FCE-B53E-4556-9DE3-AB4F7070A782}"/>
              </a:ext>
            </a:extLst>
          </p:cNvPr>
          <p:cNvSpPr>
            <a:spLocks xmlns:a="http://schemas.openxmlformats.org/drawingml/2006/main" noGrp="1"/>
          </p:cNvSpPr>
          <p:nvPr/>
        </p:nvSpPr>
        <p:spPr>
          <a:xfrm xmlns:a="http://schemas.openxmlformats.org/drawingml/2006/main">
            <a:off x="609600" y="58769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054"/>
                </a:solidFill>
                <a:latin typeface="Microsoft YaHei"/>
                <a:ea typeface="Microsoft YaHei"/>
                <a:cs typeface="Microsoft YaHei"/>
              </a:defRPr>
            </a:pPr>
            <a:r>
              <a:rPr sz="1650" b="0">
                <a:solidFill>
                  <a:srgbClr val="344054"/>
                </a:solidFill>
                <a:latin typeface="Microsoft YaHei"/>
                <a:ea typeface="Microsoft YaHei"/>
                <a:cs typeface="Microsoft YaHei"/>
              </a:rPr>
              <a:t>full 入口可重现本流程。原独立 RB 协议及实验损失标定需要另外的验证。</a:t>
            </a:r>
          </a:p>
        </p:txBody>
      </p:sp>
    </p:spTree>
    <p:extLst>
      <p:ext uri="{BB962C8B-B14F-4D97-AF65-F5344CB8AC3E}">
        <p14:creationId xmlns:p14="http://schemas.microsoft.com/office/powerpoint/2010/main" val="10412118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2026-09-14T10:07:29.9890000Z</dcterms:created>
  <dcterms:modified xsi:type="dcterms:W3CDTF">2026-09-14T10:07:29.9890000Z</dcterms:modified>
</coreProperties>
</file>