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3.xml" ContentType="application/vnd.openxmlformats-officedocument.drawingml.chart+xml"/>
  <Override PartName="/ppt/slides/charts/chart1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437c980d4cf4c9e" /><Relationship Type="http://schemas.openxmlformats.org/officeDocument/2006/relationships/extended-properties" Target="/docProps/app.xml" Id="R8dbac8215c9544cf" /><Relationship Type="http://schemas.openxmlformats.org/officeDocument/2006/relationships/officeDocument" Target="/ppt/presentation.xml" Id="R3496fcab40384bb3" /></Relationships>
</file>

<file path=ppt/presentation.xml><?xml version="1.0" encoding="utf-8"?>
<p:presentation xmlns:p="http://schemas.openxmlformats.org/presentationml/2006/main">
  <p:sldMasterIdLst>
    <p:sldMasterId xmlns:r="http://schemas.openxmlformats.org/officeDocument/2006/relationships" id="2147483648" r:id="R739af26250284c2f"/>
  </p:sldMasterIdLst>
  <p:notesMasterIdLst>
    <p:notesMasterId xmlns:r="http://schemas.openxmlformats.org/officeDocument/2006/relationships" r:id="Rf00cf9c74e1b4c9c"/>
  </p:notesMasterIdLst>
  <p:sldIdLst>
    <p:sldId xmlns:r="http://schemas.openxmlformats.org/officeDocument/2006/relationships" id="256" r:id="Re29cb512e62d49eb"/>
    <p:sldId xmlns:r="http://schemas.openxmlformats.org/officeDocument/2006/relationships" id="257" r:id="R7f0aecb1e5774895"/>
    <p:sldId xmlns:r="http://schemas.openxmlformats.org/officeDocument/2006/relationships" id="258" r:id="R8e550e9511324d03"/>
    <p:sldId xmlns:r="http://schemas.openxmlformats.org/officeDocument/2006/relationships" id="259" r:id="Rc7511e37561f45a7"/>
    <p:sldId xmlns:r="http://schemas.openxmlformats.org/officeDocument/2006/relationships" id="260" r:id="R597bdc7ba43a4710"/>
    <p:sldId xmlns:r="http://schemas.openxmlformats.org/officeDocument/2006/relationships" id="261" r:id="R8ae330eee6464776"/>
    <p:sldId xmlns:r="http://schemas.openxmlformats.org/officeDocument/2006/relationships" id="262" r:id="R4d4e6e48c32d43fb"/>
    <p:sldId xmlns:r="http://schemas.openxmlformats.org/officeDocument/2006/relationships" id="263" r:id="Rab245e0cb7e54773"/>
    <p:sldId xmlns:r="http://schemas.openxmlformats.org/officeDocument/2006/relationships" id="264" r:id="R9a8756e5a4b442d0"/>
    <p:sldId xmlns:r="http://schemas.openxmlformats.org/officeDocument/2006/relationships" id="265" r:id="Rf88e52064e494782"/>
    <p:sldId xmlns:r="http://schemas.openxmlformats.org/officeDocument/2006/relationships" id="266" r:id="Rf0cf2bd694634874"/>
    <p:sldId xmlns:r="http://schemas.openxmlformats.org/officeDocument/2006/relationships" id="267" r:id="R84d58228948c4101"/>
    <p:sldId xmlns:r="http://schemas.openxmlformats.org/officeDocument/2006/relationships" id="268" r:id="R553b9aeb6268457a"/>
    <p:sldId xmlns:r="http://schemas.openxmlformats.org/officeDocument/2006/relationships" id="269" r:id="R1a433649e2084b04"/>
    <p:sldId xmlns:r="http://schemas.openxmlformats.org/officeDocument/2006/relationships" id="270" r:id="R22b761bdc1d645fd"/>
    <p:sldId xmlns:r="http://schemas.openxmlformats.org/officeDocument/2006/relationships" id="271" r:id="Rc620696e90ed4896"/>
    <p:sldId xmlns:r="http://schemas.openxmlformats.org/officeDocument/2006/relationships" id="272" r:id="R76ee1674e701447c"/>
    <p:sldId xmlns:r="http://schemas.openxmlformats.org/officeDocument/2006/relationships" id="273" r:id="Recf4c53acfb74c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0179f9ce65432e" /><Relationship Type="http://schemas.openxmlformats.org/officeDocument/2006/relationships/slideMaster" Target="/ppt/slideMasters/slideMaster1.xml" Id="R739af26250284c2f" /><Relationship Type="http://schemas.openxmlformats.org/officeDocument/2006/relationships/notesMaster" Target="/ppt/notesMasters/notesMaster1.xml" Id="Rf00cf9c74e1b4c9c" /><Relationship Type="http://schemas.openxmlformats.org/officeDocument/2006/relationships/presProps" Target="/ppt/presProps.xml" Id="R7c05436f98ac4462" /><Relationship Type="http://schemas.openxmlformats.org/officeDocument/2006/relationships/tableStyles" Target="/ppt/tableStyles.xml" Id="R98a5e21144da47c0" /><Relationship Type="http://schemas.openxmlformats.org/officeDocument/2006/relationships/slide" Target="/ppt/slides/slide1.xml" Id="Re29cb512e62d49eb" /><Relationship Type="http://schemas.openxmlformats.org/officeDocument/2006/relationships/slide" Target="/ppt/slides/slide2.xml" Id="R7f0aecb1e5774895" /><Relationship Type="http://schemas.openxmlformats.org/officeDocument/2006/relationships/slide" Target="/ppt/slides/slide3.xml" Id="R8e550e9511324d03" /><Relationship Type="http://schemas.openxmlformats.org/officeDocument/2006/relationships/slide" Target="/ppt/slides/slide4.xml" Id="Rc7511e37561f45a7" /><Relationship Type="http://schemas.openxmlformats.org/officeDocument/2006/relationships/slide" Target="/ppt/slides/slide5.xml" Id="R597bdc7ba43a4710" /><Relationship Type="http://schemas.openxmlformats.org/officeDocument/2006/relationships/slide" Target="/ppt/slides/slide6.xml" Id="R8ae330eee6464776" /><Relationship Type="http://schemas.openxmlformats.org/officeDocument/2006/relationships/slide" Target="/ppt/slides/slide7.xml" Id="R4d4e6e48c32d43fb" /><Relationship Type="http://schemas.openxmlformats.org/officeDocument/2006/relationships/slide" Target="/ppt/slides/slide8.xml" Id="Rab245e0cb7e54773" /><Relationship Type="http://schemas.openxmlformats.org/officeDocument/2006/relationships/slide" Target="/ppt/slides/slide9.xml" Id="R9a8756e5a4b442d0" /><Relationship Type="http://schemas.openxmlformats.org/officeDocument/2006/relationships/slide" Target="/ppt/slides/slide10.xml" Id="Rf88e52064e494782" /><Relationship Type="http://schemas.openxmlformats.org/officeDocument/2006/relationships/slide" Target="/ppt/slides/slide11.xml" Id="Rf0cf2bd694634874" /><Relationship Type="http://schemas.openxmlformats.org/officeDocument/2006/relationships/slide" Target="/ppt/slides/slide12.xml" Id="R84d58228948c4101" /><Relationship Type="http://schemas.openxmlformats.org/officeDocument/2006/relationships/slide" Target="/ppt/slides/slide13.xml" Id="R553b9aeb6268457a" /><Relationship Type="http://schemas.openxmlformats.org/officeDocument/2006/relationships/slide" Target="/ppt/slides/slide14.xml" Id="R1a433649e2084b04" /><Relationship Type="http://schemas.openxmlformats.org/officeDocument/2006/relationships/slide" Target="/ppt/slides/slide15.xml" Id="R22b761bdc1d645fd" /><Relationship Type="http://schemas.openxmlformats.org/officeDocument/2006/relationships/slide" Target="/ppt/slides/slide16.xml" Id="Rc620696e90ed4896" /><Relationship Type="http://schemas.openxmlformats.org/officeDocument/2006/relationships/slide" Target="/ppt/slides/slide17.xml" Id="R76ee1674e701447c" /><Relationship Type="http://schemas.openxmlformats.org/officeDocument/2006/relationships/slide" Target="/ppt/slides/slide18.xml" Id="Recf4c53acfb74c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ecddd7a61e4e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f3956aceb44d38" /><Relationship Type="http://schemas.openxmlformats.org/officeDocument/2006/relationships/notesMaster" Target="/ppt/notesMasters/notesMaster1.xml" Id="R9bd62a2ff92c46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a106f1c70246f1" /><Relationship Type="http://schemas.openxmlformats.org/officeDocument/2006/relationships/notesMaster" Target="/ppt/notesMasters/notesMaster1.xml" Id="R8069e830295c47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d1d679581645c5" /><Relationship Type="http://schemas.openxmlformats.org/officeDocument/2006/relationships/notesMaster" Target="/ppt/notesMasters/notesMaster1.xml" Id="R0b7ec9fd4b6442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fb3a16bcf94b8f" /><Relationship Type="http://schemas.openxmlformats.org/officeDocument/2006/relationships/notesMaster" Target="/ppt/notesMasters/notesMaster1.xml" Id="Rb6cac85c76ea4b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003289ad174b1d" /><Relationship Type="http://schemas.openxmlformats.org/officeDocument/2006/relationships/notesMaster" Target="/ppt/notesMasters/notesMaster1.xml" Id="R2fd40839432b47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61a13f82eb421c" /><Relationship Type="http://schemas.openxmlformats.org/officeDocument/2006/relationships/notesMaster" Target="/ppt/notesMasters/notesMaster1.xml" Id="Rb82768069d9945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92ef677bf44179" /><Relationship Type="http://schemas.openxmlformats.org/officeDocument/2006/relationships/notesMaster" Target="/ppt/notesMasters/notesMaster1.xml" Id="R6aaeac3cbce74a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fa78a6cbe2432f" /><Relationship Type="http://schemas.openxmlformats.org/officeDocument/2006/relationships/notesMaster" Target="/ppt/notesMasters/notesMaster1.xml" Id="R1837b8e1460347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994cb99e844c57" /><Relationship Type="http://schemas.openxmlformats.org/officeDocument/2006/relationships/notesMaster" Target="/ppt/notesMasters/notesMaster1.xml" Id="R708668380a8f43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0e6d59cd9e446e" /><Relationship Type="http://schemas.openxmlformats.org/officeDocument/2006/relationships/notesMaster" Target="/ppt/notesMasters/notesMaster1.xml" Id="Rdcef1851cc7a45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a6190570504b51" /><Relationship Type="http://schemas.openxmlformats.org/officeDocument/2006/relationships/notesMaster" Target="/ppt/notesMasters/notesMaster1.xml" Id="R26797d9296c54f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ec725fb0f7d46b1" /><Relationship Type="http://schemas.openxmlformats.org/officeDocument/2006/relationships/notesMaster" Target="/ppt/notesMasters/notesMaster1.xml" Id="Rfcf378d8a3524b3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320ed868fdf4ce0" /><Relationship Type="http://schemas.openxmlformats.org/officeDocument/2006/relationships/notesMaster" Target="/ppt/notesMasters/notesMaster1.xml" Id="R3005f67d76e6453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f1a3a4294c14e0b" /><Relationship Type="http://schemas.openxmlformats.org/officeDocument/2006/relationships/notesMaster" Target="/ppt/notesMasters/notesMaster1.xml" Id="Rfab51a50396d455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e619e32f75441bf" /><Relationship Type="http://schemas.openxmlformats.org/officeDocument/2006/relationships/notesMaster" Target="/ppt/notesMasters/notesMaster1.xml" Id="R23e57d23f84244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0b09f73805e4da4" /><Relationship Type="http://schemas.openxmlformats.org/officeDocument/2006/relationships/notesMaster" Target="/ppt/notesMasters/notesMaster1.xml" Id="R7c1ab9075bbb40a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19215b397274c68" /><Relationship Type="http://schemas.openxmlformats.org/officeDocument/2006/relationships/notesMaster" Target="/ppt/notesMasters/notesMaster1.xml" Id="R73b2341113254ca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1d5eb85cda84f71" /><Relationship Type="http://schemas.openxmlformats.org/officeDocument/2006/relationships/notesMaster" Target="/ppt/notesMasters/notesMaster1.xml" Id="R0bd4386d39074b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git branch gpt_level4_5, commit 5e55bb0dcc4d9c1be07c6d39d9e8d74d45bca9f8</a:t>
            </a:r>
          </a:p>
          <a:p xmlns:a="http://schemas.openxmlformats.org/drawingml/2006/main">
            <a:r>
              <a:t>- simulation/level2_joint_transfer/README.md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simulation/level2_joint_transfer/README.md, Level 2C section</a:t>
            </a:r>
          </a:p>
          <a:p xmlns:a="http://schemas.openxmlformats.org/drawingml/2006/main">
            <a:r>
              <a:t>- simulation/level2_joint_transfer/reference/fig6d_parameters.md</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The report distinguishes repository computations already present from comparison metrics recomputed for presentation. No Monte Carlo parameter was refit during deck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simulation/level2_joint_transfer/reference/fig6d_parameters.md</a:t>
            </a:r>
          </a:p>
          <a:p xmlns:a="http://schemas.openxmlformats.org/drawingml/2006/main">
            <a:r>
              <a:t>- simulation/level2_joint_transfer/reference/fig6d_survival_digitized.csv</a:t>
            </a:r>
          </a:p>
          <a:p xmlns:a="http://schemas.openxmlformats.org/drawingml/2006/main">
            <a:r>
              <a:t>- simulation/level2_joint_transfer/reference/fig6d_digitize_check.png</a:t>
            </a:r>
          </a:p>
          <a:p xmlns:a="http://schemas.openxmlformats.org/drawingml/2006/main">
            <a:r>
              <a:t>- simulation/level2_joint_transfer/tools/digitize_fig6d.py</a:t>
            </a:r>
          </a:p>
          <a:p xmlns:a="http://schemas.openxmlformats.org/drawingml/2006/main">
            <a:r>
              <a:t/>
            </a:r>
          </a:p>
          <a:p xmlns:a="http://schemas.openxmlformats.org/drawingml/2006/main">
            <a:r>
              <a:t>Method note: Paper display curves use monotone linear interpolation through stable anchors. The source CSV remains unchanged. Manual 200 µs ends at n=31 because the plotted curve leaves the visible panel.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simulation/level2_joint_transfer/reference/fig6d_parameters.md</a:t>
            </a:r>
          </a:p>
          <a:p xmlns:a="http://schemas.openxmlformats.org/drawingml/2006/main">
            <a:r>
              <a:t>- simulation/level2_joint_transfer/configs/level2c_pickup_survival.yaml</a:t>
            </a:r>
          </a:p>
          <a:p xmlns:a="http://schemas.openxmlformats.org/drawingml/2006/main">
            <a:r>
              <a:t>- simulation/level2_joint_transfer/src/level0_static_trap/potentials.py</a:t>
            </a:r>
          </a:p>
          <a:p xmlns:a="http://schemas.openxmlformats.org/drawingml/2006/main">
            <a:r>
              <a:t>- simulation/level2_joint_transfer/src/level2c_pickup_survival/survival_engine.py</a:t>
            </a:r>
          </a:p>
          <a:p xmlns:a="http://schemas.openxmlformats.org/drawingml/2006/main">
            <a:r>
              <a:t/>
            </a:r>
          </a:p>
          <a:p xmlns:a="http://schemas.openxmlformats.org/drawingml/2006/main">
            <a:r>
              <a:t>Method note: AOD waist 1.17 µm is an assumed match to the SLM back-aperture value. The Level 2C main comparison uses one spatial dimension.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simulation/level2_joint_transfer/configs/level2c_pickup_survival.yaml</a:t>
            </a:r>
          </a:p>
          <a:p xmlns:a="http://schemas.openxmlformats.org/drawingml/2006/main">
            <a:r>
              <a:t>- simulation/level2_joint_transfer/src/level2c_pickup_survival/survival_engine.py</a:t>
            </a:r>
          </a:p>
          <a:p xmlns:a="http://schemas.openxmlformats.org/drawingml/2006/main">
            <a:r>
              <a:t>- simulation/level2_joint_transfer/src/level2_joint_transfer/noise_heating.py</a:t>
            </a:r>
          </a:p>
          <a:p xmlns:a="http://schemas.openxmlformats.org/drawingml/2006/main">
            <a:r>
              <a:t/>
            </a:r>
          </a:p>
          <a:p xmlns:a="http://schemas.openxmlformats.org/drawingml/2006/main">
            <a:r>
              <a:t>Method note: The config field shot_jitter_alignment_sigma_um is described as per-transfer, but survival_engine.py redraws it once for each pickup, wait, and drop-off leg. RIN is deterministic mean-rate heating rather than a random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simulation/level2_joint_transfer/src/level2_joint_transfer/waveforms.py</a:t>
            </a:r>
          </a:p>
          <a:p xmlns:a="http://schemas.openxmlformats.org/drawingml/2006/main">
            <a:r>
              <a:t>- simulation/level2_joint_transfer/reference/fig6d_parameters.md</a:t>
            </a:r>
          </a:p>
          <a:p xmlns:a="http://schemas.openxmlformats.org/drawingml/2006/main">
            <a:r>
              <a:t>- simulation/level2_joint_transfer/configs/level2c_pickup_survival.yaml</a:t>
            </a:r>
          </a:p>
          <a:p xmlns:a="http://schemas.openxmlformats.org/drawingml/2006/main">
            <a:r>
              <a:t/>
            </a:r>
          </a:p>
          <a:p xmlns:a="http://schemas.openxmlformats.org/drawingml/2006/main">
            <a:r>
              <a:t>Method note: Charts show the 400 µs manual waveform. The 200 and 600 µs cases use the same normalized shape with different time scaling.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simulation/level2_joint_transfer/src/level2c_pickup_survival/survival_engine.py</a:t>
            </a:r>
          </a:p>
          <a:p xmlns:a="http://schemas.openxmlformats.org/drawingml/2006/main">
            <a:r>
              <a:t>- simulation/level2_joint_transfer/src/level2_joint_transfer/noise_heating.py</a:t>
            </a:r>
          </a:p>
          <a:p xmlns:a="http://schemas.openxmlformats.org/drawingml/2006/main">
            <a:r>
              <a:t>- simulation/level2_joint_transfer/src/level2_joint_transfer/work_energy.py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simulation/level2_joint_transfer/outputs/level2c_pickup_survival/demo/survival_scan_results.csv</a:t>
            </a:r>
          </a:p>
          <a:p xmlns:a="http://schemas.openxmlformats.org/drawingml/2006/main">
            <a:r>
              <a:t>- simulation/level2_joint_transfer/src/level2c_pickup_survival/survival_engine.py</a:t>
            </a:r>
          </a:p>
          <a:p xmlns:a="http://schemas.openxmlformats.org/drawingml/2006/main">
            <a:r>
              <a:t>- simulation/level2_joint_transfer/src/level2_joint_transfer/statistics.py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simulation/level2_joint_transfer/outputs/level2c_pickup_survival/demo/survival_scan_results.csv</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Baseline values are raw 256-shot full-variant counts: Manual 400 S(60)=0.9296875 and Manual 600 S(60)=0.9921875.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simulation/level2_joint_transfer/configs/scan_stage1/</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All scan values are sensitivity assumptions. They were not fit on the validation pool and do not constitute measured apparatus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simulation/level2_joint_transfer/outputs/level2c_pickup_survival/demo/survival_scan_results.csv</a:t>
            </a:r>
          </a:p>
          <a:p xmlns:a="http://schemas.openxmlformats.org/drawingml/2006/main">
            <a:r>
              <a:t>- simulation/level2_joint_transfer/outputs/level2c_pickup_survival/scan_stage1/*/survival_scan_results.csv</a:t>
            </a:r>
          </a:p>
          <a:p xmlns:a="http://schemas.openxmlformats.org/drawingml/2006/main">
            <a:r>
              <a:t/>
            </a:r>
          </a:p>
          <a:p xmlns:a="http://schemas.openxmlformats.org/drawingml/2006/main">
            <a:r>
              <a:t>Method note: All displayed scan values are raw n=60 full-variant results from the 256-shot common-random-number pool.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simulation/level2_joint_transfer/reference/fig6d_survival_digitized.csv</a:t>
            </a:r>
          </a:p>
          <a:p xmlns:a="http://schemas.openxmlformats.org/drawingml/2006/main">
            <a:r>
              <a:t>- simulation/level2_joint_transfer/tools/digitize_fig6d.py</a:t>
            </a:r>
          </a:p>
          <a:p xmlns:a="http://schemas.openxmlformats.org/drawingml/2006/main">
            <a:r>
              <a:t/>
            </a:r>
          </a:p>
          <a:p xmlns:a="http://schemas.openxmlformats.org/drawingml/2006/main">
            <a:r>
              <a:t>Method note: MC lines use the raw 512-shot validation arrays. Paper lines use linear interpolation through stable digitization anchors at n=5, 8, 12, 16, 20, 30, 40, 50 and 60; the 200 µs series ends at n=31. This presentation-only reconstruction removes rasterized diamond-marker edge artifacts while preserving the source CSV and quoted endpoints.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simulation/level2_joint_transfer/outputs/level2c_pickup_survival/scan_stage1/fig6c_ml_trajectory_digitized.json</a:t>
            </a:r>
          </a:p>
          <a:p xmlns:a="http://schemas.openxmlformats.org/drawingml/2006/main">
            <a:r>
              <a:t>- simulation/level2_joint_transfer/src/level2_joint_transfer/waveforms.py</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Manual curves are evaluated at the same nodes. The digitized curve is not the raw AWG command waveform; interpolation boundary conditions and hardware response remain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simulation/level2_joint_transfer/outputs/level2c_pickup_survival/scan_stage1/paper_ml_eval.json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MC T40 values are raw 256-shot scan-pool endpoints: manual 0.52734375 and Fig. 6c replay 0.7578125. Paper endpoints are 0.4135 and 0.6633. Equivalent per-transfer loss is 1-S(60)^(1/60).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simulation/level2_joint_transfer/outputs/level2c_pickup_survival/scan_stage1/summary_stage1.md, section 6.1</a:t>
            </a:r>
          </a:p>
          <a:p xmlns:a="http://schemas.openxmlformats.org/drawingml/2006/main">
            <a:r>
              <a:t>- simulation/level2_joint_transfer/outputs/level2c_pickup_survival/scan_stage1/ablation_cross_2x2.py</a:t>
            </a:r>
          </a:p>
          <a:p xmlns:a="http://schemas.openxmlformats.org/drawingml/2006/main">
            <a:r>
              <a:t/>
            </a:r>
          </a:p>
          <a:p xmlns:a="http://schemas.openxmlformats.org/drawingml/2006/main">
            <a:r>
              <a:t>Method note: The repository commits the reproducible script and the reported values in summary_stage1.md, but no separate raw JSON/CSV for this cross-ablation. These numbers are therefore kept distinct from raw-output comparisons.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simulation/level2_joint_transfer/outputs/level2c_pickup_survival/scan_stage1/paper_ml_eval.json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Manual curve-error metrics are recomputed against the same monotone paper reconstruction used on slides 12 and 17. Endpoints are unchanged. The ML endpoint row uses the raw T40 scan-pool value 0.7578125. The later 512-shot summary contains inconsistent 0.8047 and 0.822 values without a committed full curve, so neither is used as the main quantitative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Deviations are recomputed from raw MC values against the monotone paper reconstruction used on slide 12. This slide does not use the ML curve because the current Fig. 6c replay full curve was not committed. Vacuum lifetime and apparatus loss channels are absent from the current Level 2C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simulation/level2_joint_transfer/outputs/level2c_pickup_survival/scan_stage1/summary_stage1.md</a:t>
            </a:r>
          </a:p>
          <a:p xmlns:a="http://schemas.openxmlformats.org/drawingml/2006/main">
            <a:r>
              <a:t>- simulation/level2_joint_transfer/outputs/level2c_pickup_survival/scan_stage1/paper_ml_eval.json</a:t>
            </a:r>
          </a:p>
          <a:p xmlns:a="http://schemas.openxmlformats.org/drawingml/2006/main">
            <a:r>
              <a:t>- simulation/level2_joint_transfer/outputs/level2c_pickup_survival/scan_stage1/T40/comparison_to_paper.json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3d6410b7b04c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5bb40c1e59431e" /><Relationship Type="http://schemas.openxmlformats.org/officeDocument/2006/relationships/slideLayout" Target="/ppt/slideLayouts/slideLayout1.xml" Id="R81467f3200444d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467f3200444d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9046a500b64d9a" /><Relationship Type="http://schemas.openxmlformats.org/officeDocument/2006/relationships/notesSlide" Target="/ppt/notesSlides/notesSlide1.xml" Id="Reae17189df2f48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131f6654c1a4f09" /><Relationship Type="http://schemas.openxmlformats.org/officeDocument/2006/relationships/notesSlide" Target="/ppt/notesSlides/notesSlide2.xml" Id="R6e9717e8dbbe4c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69e1267b5549f9" /><Relationship Type="http://schemas.openxmlformats.org/officeDocument/2006/relationships/image" Target="/ppt/media/image.png" Id="R98378b5b2a6d45e1" /><Relationship Type="http://schemas.openxmlformats.org/officeDocument/2006/relationships/notesSlide" Target="/ppt/notesSlides/notesSlide3.xml" Id="Rcc458a11a12c44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f9bbced35c4781" /><Relationship Type="http://schemas.openxmlformats.org/officeDocument/2006/relationships/notesSlide" Target="/ppt/notesSlides/notesSlide4.xml" Id="R1f309e8f951a4c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b5028930b94aac" /><Relationship Type="http://schemas.openxmlformats.org/officeDocument/2006/relationships/notesSlide" Target="/ppt/notesSlides/notesSlide5.xml" Id="R4a452cae3af445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3ac29aa9994cce" /><Relationship Type="http://schemas.openxmlformats.org/officeDocument/2006/relationships/chart" Target="/ppt/slides/charts/chart1.xml" Id="Ra19b3af17f7442b8" /><Relationship Type="http://schemas.openxmlformats.org/officeDocument/2006/relationships/chart" Target="/ppt/slides/charts/chart2.xml" Id="Rdf165d8a342d4f91" /><Relationship Type="http://schemas.openxmlformats.org/officeDocument/2006/relationships/notesSlide" Target="/ppt/notesSlides/notesSlide6.xml" Id="Rc2c56e02532241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fdb31f32ce44ee8" /><Relationship Type="http://schemas.openxmlformats.org/officeDocument/2006/relationships/notesSlide" Target="/ppt/notesSlides/notesSlide7.xml" Id="R53f0cb0271f74c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5a3f831a2884fd6" /><Relationship Type="http://schemas.openxmlformats.org/officeDocument/2006/relationships/chart" Target="/ppt/slides/charts/chart3.xml" Id="R759baf645c4f467a" /><Relationship Type="http://schemas.openxmlformats.org/officeDocument/2006/relationships/notesSlide" Target="/ppt/notesSlides/notesSlide8.xml" Id="R62ef65913f6d4c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e11fac1cbfc4737" /><Relationship Type="http://schemas.openxmlformats.org/officeDocument/2006/relationships/chart" Target="/ppt/slides/charts/chart4.xml" Id="Rbb926340631948f2" /><Relationship Type="http://schemas.openxmlformats.org/officeDocument/2006/relationships/notesSlide" Target="/ppt/notesSlides/notesSlide9.xml" Id="R12f42a2011944a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3aa85c43ecb431b" /><Relationship Type="http://schemas.openxmlformats.org/officeDocument/2006/relationships/notesSlide" Target="/ppt/notesSlides/notesSlide10.xml" Id="Re68ec32fb9864d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35fbb098d51445e" /><Relationship Type="http://schemas.openxmlformats.org/officeDocument/2006/relationships/chart" Target="/ppt/slides/charts/chart5.xml" Id="R95f25f8861884d03" /><Relationship Type="http://schemas.openxmlformats.org/officeDocument/2006/relationships/chart" Target="/ppt/slides/charts/chart6.xml" Id="Rf25fd392214e41ae" /><Relationship Type="http://schemas.openxmlformats.org/officeDocument/2006/relationships/notesSlide" Target="/ppt/notesSlides/notesSlide11.xml" Id="Rb43e0a4c337549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af8d51257064938" /><Relationship Type="http://schemas.openxmlformats.org/officeDocument/2006/relationships/chart" Target="/ppt/slides/charts/chart7.xml" Id="R097dd9a5675742b8" /><Relationship Type="http://schemas.openxmlformats.org/officeDocument/2006/relationships/chart" Target="/ppt/slides/charts/chart8.xml" Id="R553d572b0bb34a84" /><Relationship Type="http://schemas.openxmlformats.org/officeDocument/2006/relationships/notesSlide" Target="/ppt/notesSlides/notesSlide12.xml" Id="R806c6c743995460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c56858559bc436c" /><Relationship Type="http://schemas.openxmlformats.org/officeDocument/2006/relationships/chart" Target="/ppt/slides/charts/chart9.xml" Id="R47160d9333194bc5" /><Relationship Type="http://schemas.openxmlformats.org/officeDocument/2006/relationships/chart" Target="/ppt/slides/charts/chart10.xml" Id="R566d7b46a2564197" /><Relationship Type="http://schemas.openxmlformats.org/officeDocument/2006/relationships/notesSlide" Target="/ppt/notesSlides/notesSlide13.xml" Id="Ra1e9e1e5597a4dd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4bee346bf9c4465" /><Relationship Type="http://schemas.openxmlformats.org/officeDocument/2006/relationships/chart" Target="/ppt/slides/charts/chart11.xml" Id="Re6999ebcfa0e46ab" /><Relationship Type="http://schemas.openxmlformats.org/officeDocument/2006/relationships/notesSlide" Target="/ppt/notesSlides/notesSlide14.xml" Id="R2d72ab96d5d24d4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528ae25f2d140fa" /><Relationship Type="http://schemas.openxmlformats.org/officeDocument/2006/relationships/chart" Target="/ppt/slides/charts/chart12.xml" Id="R76aa09a721cf49f8" /><Relationship Type="http://schemas.openxmlformats.org/officeDocument/2006/relationships/notesSlide" Target="/ppt/notesSlides/notesSlide15.xml" Id="R4c8dcc55603b4de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04b4e8db4264b44" /><Relationship Type="http://schemas.openxmlformats.org/officeDocument/2006/relationships/notesSlide" Target="/ppt/notesSlides/notesSlide16.xml" Id="Rc28aead1f60646c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6e7d00fb03648a3" /><Relationship Type="http://schemas.openxmlformats.org/officeDocument/2006/relationships/chart" Target="/ppt/slides/charts/chart13.xml" Id="R8ef50ccd7e084fc5" /><Relationship Type="http://schemas.openxmlformats.org/officeDocument/2006/relationships/chart" Target="/ppt/slides/charts/chart14.xml" Id="R11bc8b0da6a04332" /><Relationship Type="http://schemas.openxmlformats.org/officeDocument/2006/relationships/notesSlide" Target="/ppt/notesSlides/notesSlide17.xml" Id="Rc382c0798e59446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c3f62690ad8439b" /><Relationship Type="http://schemas.openxmlformats.org/officeDocument/2006/relationships/notesSlide" Target="/ppt/notesSlides/notesSlide18.xml" Id="R104f78e9ad3747e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Manual position</c:v>
          </c:tx>
          <c:spPr>
            <a:ln xmlns:a="http://schemas.openxmlformats.org/drawingml/2006/main" w="28575">
              <a:solidFill>
                <a:srgbClr val="1570EF"/>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c:formatCode>
                <c:ptCount val="15"/>
                <c:pt idx="0">
                  <c:v>0</c:v>
                </c:pt>
                <c:pt idx="1">
                  <c:v>0</c:v>
                </c:pt>
                <c:pt idx="2">
                  <c:v>0</c:v>
                </c:pt>
                <c:pt idx="3">
                  <c:v>0</c:v>
                </c:pt>
                <c:pt idx="4">
                  <c:v>0</c:v>
                </c:pt>
                <c:pt idx="5">
                  <c:v>0</c:v>
                </c:pt>
                <c:pt idx="6">
                  <c:v>0</c:v>
                </c:pt>
                <c:pt idx="7">
                  <c:v>0.000728265817023</c:v>
                </c:pt>
                <c:pt idx="8">
                  <c:v>0.0695738025988</c:v>
                </c:pt>
                <c:pt idx="9">
                  <c:v>0.386747897679</c:v>
                </c:pt>
                <c:pt idx="10">
                  <c:v>0.964185192895</c:v>
                </c:pt>
                <c:pt idx="11">
                  <c:v>1.61328129666</c:v>
                </c:pt>
                <c:pt idx="12">
                  <c:v>2.13498396302</c:v>
                </c:pt>
                <c:pt idx="13">
                  <c:v>2.36682462568</c:v>
                </c:pt>
                <c:pt idx="14">
                  <c:v>2.4</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2.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AOD center (µm)</a:t>
                </a:r>
              </a:p>
            </c:rich>
          </c:tx>
          <c:overlay val="0"/>
        </c:title>
        <c:numFmt formatCode="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Manual depth</c:v>
          </c:tx>
          <c:spPr>
            <a:ln xmlns:a="http://schemas.openxmlformats.org/drawingml/2006/main" w="28575">
              <a:solidFill>
                <a:srgbClr val="0E9384"/>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0.00</c:formatCode>
                <c:ptCount val="15"/>
                <c:pt idx="0">
                  <c:v>0</c:v>
                </c:pt>
                <c:pt idx="1">
                  <c:v>0.00620039682538</c:v>
                </c:pt>
                <c:pt idx="2">
                  <c:v>0.0248015873016</c:v>
                </c:pt>
                <c:pt idx="3">
                  <c:v>0.0558035714286</c:v>
                </c:pt>
                <c:pt idx="4">
                  <c:v>0.0992063492068</c:v>
                </c:pt>
                <c:pt idx="5">
                  <c:v>0.155009920635</c:v>
                </c:pt>
                <c:pt idx="6">
                  <c:v>0.223214285715</c:v>
                </c:pt>
                <c:pt idx="7">
                  <c:v>0.28</c:v>
                </c:pt>
                <c:pt idx="8">
                  <c:v>0.28</c:v>
                </c:pt>
                <c:pt idx="9">
                  <c:v>0.28</c:v>
                </c:pt>
                <c:pt idx="10">
                  <c:v>0.28</c:v>
                </c:pt>
                <c:pt idx="11">
                  <c:v>0.28</c:v>
                </c:pt>
                <c:pt idx="12">
                  <c:v>0.28</c:v>
                </c:pt>
                <c:pt idx="13">
                  <c:v>0.28</c:v>
                </c:pt>
                <c:pt idx="14">
                  <c:v>0.28</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3"/>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AOD depth (mK)</a:t>
                </a:r>
              </a:p>
            </c:rich>
          </c:tx>
          <c:overlay val="0"/>
        </c:title>
        <c:numFmt formatCode="0.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ser>
          <c:idx val="0"/>
          <c:order val="0"/>
          <c:tx>
            <c:v>Baseline manual 400</c:v>
          </c:tx>
          <c:spPr>
            <a:ln xmlns:a="http://schemas.openxmlformats.org/drawingml/2006/main" w="28575">
              <a:solidFill>
                <a:srgbClr val="1570EF"/>
              </a:solidFill>
            </a:ln>
          </c:spPr>
          <c:marker>
            <c:symbol val="none"/>
          </c:marker>
          <c:cat>
            <c:numRef>
              <c:f>'Chart Data'!$A$2:$A$62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cat>
          <c:val>
            <c:numRef>
              <c:f>'Chart Data'!$B$2:$B$62</c:f>
              <c:numCache>
                <c:formatCode>0%</c:formatCode>
                <c:ptCount val="61"/>
                <c:pt idx="0">
                  <c:v>1</c:v>
                </c:pt>
                <c:pt idx="1">
                  <c:v>1</c:v>
                </c:pt>
                <c:pt idx="2">
                  <c:v>1</c:v>
                </c:pt>
                <c:pt idx="3">
                  <c:v>1</c:v>
                </c:pt>
                <c:pt idx="4">
                  <c:v>1</c:v>
                </c:pt>
                <c:pt idx="5">
                  <c:v>1</c:v>
                </c:pt>
                <c:pt idx="6">
                  <c:v>1</c:v>
                </c:pt>
                <c:pt idx="7">
                  <c:v>1</c:v>
                </c:pt>
                <c:pt idx="8">
                  <c:v>1</c:v>
                </c:pt>
                <c:pt idx="9">
                  <c:v>1</c:v>
                </c:pt>
                <c:pt idx="10">
                  <c:v>1</c:v>
                </c:pt>
                <c:pt idx="11">
                  <c:v>1</c:v>
                </c:pt>
                <c:pt idx="12">
                  <c:v>1</c:v>
                </c:pt>
                <c:pt idx="13">
                  <c:v>0.99609375</c:v>
                </c:pt>
                <c:pt idx="14">
                  <c:v>0.99609375</c:v>
                </c:pt>
                <c:pt idx="15">
                  <c:v>0.99609375</c:v>
                </c:pt>
                <c:pt idx="16">
                  <c:v>0.99609375</c:v>
                </c:pt>
                <c:pt idx="17">
                  <c:v>0.99609375</c:v>
                </c:pt>
                <c:pt idx="18">
                  <c:v>0.99609375</c:v>
                </c:pt>
                <c:pt idx="19">
                  <c:v>0.9921875</c:v>
                </c:pt>
                <c:pt idx="20">
                  <c:v>0.9921875</c:v>
                </c:pt>
                <c:pt idx="21">
                  <c:v>0.984375</c:v>
                </c:pt>
                <c:pt idx="22">
                  <c:v>0.984375</c:v>
                </c:pt>
                <c:pt idx="23">
                  <c:v>0.984375</c:v>
                </c:pt>
                <c:pt idx="24">
                  <c:v>0.984375</c:v>
                </c:pt>
                <c:pt idx="25">
                  <c:v>0.984375</c:v>
                </c:pt>
                <c:pt idx="26">
                  <c:v>0.984375</c:v>
                </c:pt>
                <c:pt idx="27">
                  <c:v>0.9765625</c:v>
                </c:pt>
                <c:pt idx="28">
                  <c:v>0.9765625</c:v>
                </c:pt>
                <c:pt idx="29">
                  <c:v>0.96875</c:v>
                </c:pt>
                <c:pt idx="30">
                  <c:v>0.96875</c:v>
                </c:pt>
                <c:pt idx="31">
                  <c:v>0.96484375</c:v>
                </c:pt>
                <c:pt idx="32">
                  <c:v>0.96484375</c:v>
                </c:pt>
                <c:pt idx="33">
                  <c:v>0.9609375</c:v>
                </c:pt>
                <c:pt idx="34">
                  <c:v>0.9609375</c:v>
                </c:pt>
                <c:pt idx="35">
                  <c:v>0.95703125</c:v>
                </c:pt>
                <c:pt idx="36">
                  <c:v>0.95703125</c:v>
                </c:pt>
                <c:pt idx="37">
                  <c:v>0.94921875</c:v>
                </c:pt>
                <c:pt idx="38">
                  <c:v>0.94921875</c:v>
                </c:pt>
                <c:pt idx="39">
                  <c:v>0.9453125</c:v>
                </c:pt>
                <c:pt idx="40">
                  <c:v>0.9453125</c:v>
                </c:pt>
                <c:pt idx="41">
                  <c:v>0.9453125</c:v>
                </c:pt>
                <c:pt idx="42">
                  <c:v>0.9453125</c:v>
                </c:pt>
                <c:pt idx="43">
                  <c:v>0.9453125</c:v>
                </c:pt>
                <c:pt idx="44">
                  <c:v>0.94140625</c:v>
                </c:pt>
                <c:pt idx="45">
                  <c:v>0.94140625</c:v>
                </c:pt>
                <c:pt idx="46">
                  <c:v>0.94140625</c:v>
                </c:pt>
                <c:pt idx="47">
                  <c:v>0.94140625</c:v>
                </c:pt>
                <c:pt idx="48">
                  <c:v>0.94140625</c:v>
                </c:pt>
                <c:pt idx="49">
                  <c:v>0.94140625</c:v>
                </c:pt>
                <c:pt idx="50">
                  <c:v>0.94140625</c:v>
                </c:pt>
                <c:pt idx="51">
                  <c:v>0.94140625</c:v>
                </c:pt>
                <c:pt idx="52">
                  <c:v>0.94140625</c:v>
                </c:pt>
                <c:pt idx="53">
                  <c:v>0.94140625</c:v>
                </c:pt>
                <c:pt idx="54">
                  <c:v>0.94140625</c:v>
                </c:pt>
                <c:pt idx="55">
                  <c:v>0.9375</c:v>
                </c:pt>
                <c:pt idx="56">
                  <c:v>0.9375</c:v>
                </c:pt>
                <c:pt idx="57">
                  <c:v>0.93359375</c:v>
                </c:pt>
                <c:pt idx="58">
                  <c:v>0.93359375</c:v>
                </c:pt>
                <c:pt idx="59">
                  <c:v>0.9296875</c:v>
                </c:pt>
                <c:pt idx="60">
                  <c:v>0.9296875</c:v>
                </c:pt>
              </c:numCache>
            </c:numRef>
          </c:val>
        </c:ser>
        <c:ser>
          <c:idx val="1"/>
          <c:order val="1"/>
          <c:tx>
            <c:v>Baseline manual 600</c:v>
          </c:tx>
          <c:spPr>
            <a:ln xmlns:a="http://schemas.openxmlformats.org/drawingml/2006/main" w="28575">
              <a:solidFill>
                <a:srgbClr val="0E9384"/>
              </a:solidFill>
            </a:ln>
          </c:spPr>
          <c:marker>
            <c:symbol val="none"/>
          </c:marker>
          <c:cat>
            <c:numRef>
              <c:f>'Chart Data'!$C$2:$C$62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cat>
          <c:val>
            <c:numRef>
              <c:f>'Chart Data'!$D$2:$D$62</c:f>
              <c:numCache>
                <c:formatCode>0%</c:formatCode>
                <c:ptCount val="6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0.99609375</c:v>
                </c:pt>
                <c:pt idx="52">
                  <c:v>0.99609375</c:v>
                </c:pt>
                <c:pt idx="53">
                  <c:v>0.9921875</c:v>
                </c:pt>
                <c:pt idx="54">
                  <c:v>0.9921875</c:v>
                </c:pt>
                <c:pt idx="55">
                  <c:v>0.9921875</c:v>
                </c:pt>
                <c:pt idx="56">
                  <c:v>0.9921875</c:v>
                </c:pt>
                <c:pt idx="57">
                  <c:v>0.9921875</c:v>
                </c:pt>
                <c:pt idx="58">
                  <c:v>0.9921875</c:v>
                </c:pt>
                <c:pt idx="59">
                  <c:v>0.9921875</c:v>
                </c:pt>
                <c:pt idx="60">
                  <c:v>0.9921875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One-way transfers 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8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c:v>
          </c:tx>
          <c:spPr>
            <a:solidFill xmlns:a="http://schemas.openxmlformats.org/drawingml/2006/main">
              <a:srgbClr val="98A2B3"/>
            </a:solidFill>
          </c:spPr>
          <c:cat>
            <c:strRef>
              <c:f>'Chart Data'!$A$2:$A$4</c:f>
              <c:strCache>
                <c:ptCount val="3"/>
                <c:pt idx="0">
                  <c:v>Manual 200
S(31)</c:v>
                </c:pt>
                <c:pt idx="1">
                  <c:v>Manual 400
S(60)</c:v>
                </c:pt>
                <c:pt idx="2">
                  <c:v>Manual 600
S(60)</c:v>
                </c:pt>
              </c:strCache>
            </c:strRef>
          </c:cat>
          <c:val>
            <c:numRef>
              <c:f>'Chart Data'!$B$2:$B$4</c:f>
              <c:numCache>
                <c:formatCode>0.0%</c:formatCode>
                <c:ptCount val="3"/>
                <c:pt idx="0">
                  <c:v>0.3344</c:v>
                </c:pt>
                <c:pt idx="1">
                  <c:v>0.4135</c:v>
                </c:pt>
                <c:pt idx="2">
                  <c:v>0.5726</c:v>
                </c:pt>
              </c:numCache>
            </c:numRef>
          </c:val>
        </c:ser>
        <c:ser>
          <c:idx val="1"/>
          <c:order val="1"/>
          <c:tx>
            <c:v>Baseline</c:v>
          </c:tx>
          <c:spPr>
            <a:solidFill xmlns:a="http://schemas.openxmlformats.org/drawingml/2006/main">
              <a:srgbClr val="1570EF"/>
            </a:solidFill>
          </c:spPr>
          <c:cat>
            <c:strRef>
              <c:f>'Chart Data'!$C$2:$C$4</c:f>
              <c:strCache>
                <c:ptCount val="3"/>
                <c:pt idx="0">
                  <c:v>Manual 200
S(31)</c:v>
                </c:pt>
                <c:pt idx="1">
                  <c:v>Manual 400
S(60)</c:v>
                </c:pt>
                <c:pt idx="2">
                  <c:v>Manual 600
S(60)</c:v>
                </c:pt>
              </c:strCache>
            </c:strRef>
          </c:cat>
          <c:val>
            <c:numRef>
              <c:f>'Chart Data'!$D$2:$D$4</c:f>
              <c:numCache>
                <c:formatCode>0.0%</c:formatCode>
                <c:ptCount val="3"/>
                <c:pt idx="0">
                  <c:v>0.484375</c:v>
                </c:pt>
                <c:pt idx="1">
                  <c:v>0.9296875</c:v>
                </c:pt>
                <c:pt idx="2">
                  <c:v>0.9921875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0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ser>
          <c:idx val="0"/>
          <c:order val="0"/>
          <c:tx>
            <c:v>Manual 400</c:v>
          </c:tx>
          <c:spPr>
            <a:ln xmlns:a="http://schemas.openxmlformats.org/drawingml/2006/main" w="28575">
              <a:solidFill>
                <a:srgbClr val="1570EF"/>
              </a:solidFill>
            </a:ln>
          </c:spPr>
          <c:marker>
            <c:symbol val="circle"/>
            <c:size val="6"/>
            <c:spPr>
              <a:solidFill xmlns:a="http://schemas.openxmlformats.org/drawingml/2006/main">
                <a:srgbClr val="1570EF"/>
              </a:solidFill>
            </c:spPr>
          </c:marker>
          <c:cat>
            <c:numRef>
              <c:f>'Chart Data'!$A$2:$A$6</c:f>
              <c:numCache>
                <c:formatCode>General</c:formatCode>
                <c:ptCount val="5"/>
                <c:pt idx="0">
                  <c:v>5</c:v>
                </c:pt>
                <c:pt idx="1">
                  <c:v>10</c:v>
                </c:pt>
                <c:pt idx="2">
                  <c:v>20</c:v>
                </c:pt>
                <c:pt idx="3">
                  <c:v>30</c:v>
                </c:pt>
                <c:pt idx="4">
                  <c:v>40</c:v>
                </c:pt>
              </c:numCache>
            </c:numRef>
          </c:cat>
          <c:val>
            <c:numRef>
              <c:f>'Chart Data'!$B$2:$B$6</c:f>
              <c:numCache>
                <c:formatCode>0%</c:formatCode>
                <c:ptCount val="5"/>
                <c:pt idx="0">
                  <c:v>0.9296875</c:v>
                </c:pt>
                <c:pt idx="1">
                  <c:v>0.9140625</c:v>
                </c:pt>
                <c:pt idx="2">
                  <c:v>0.7578125</c:v>
                </c:pt>
                <c:pt idx="3">
                  <c:v>0.609375</c:v>
                </c:pt>
                <c:pt idx="4">
                  <c:v>0.52734375</c:v>
                </c:pt>
              </c:numCache>
            </c:numRef>
          </c:val>
        </c:ser>
        <c:ser>
          <c:idx val="1"/>
          <c:order val="1"/>
          <c:tx>
            <c:v>Manual 600</c:v>
          </c:tx>
          <c:spPr>
            <a:ln xmlns:a="http://schemas.openxmlformats.org/drawingml/2006/main" w="28575">
              <a:solidFill>
                <a:srgbClr val="0E9384"/>
              </a:solidFill>
            </a:ln>
          </c:spPr>
          <c:marker>
            <c:symbol val="circle"/>
            <c:size val="6"/>
            <c:spPr>
              <a:solidFill xmlns:a="http://schemas.openxmlformats.org/drawingml/2006/main">
                <a:srgbClr val="0E9384"/>
              </a:solidFill>
            </c:spPr>
          </c:marker>
          <c:cat>
            <c:numRef>
              <c:f>'Chart Data'!$C$2:$C$6</c:f>
              <c:numCache>
                <c:formatCode>General</c:formatCode>
                <c:ptCount val="5"/>
                <c:pt idx="0">
                  <c:v>5</c:v>
                </c:pt>
                <c:pt idx="1">
                  <c:v>10</c:v>
                </c:pt>
                <c:pt idx="2">
                  <c:v>20</c:v>
                </c:pt>
                <c:pt idx="3">
                  <c:v>30</c:v>
                </c:pt>
                <c:pt idx="4">
                  <c:v>40</c:v>
                </c:pt>
              </c:numCache>
            </c:numRef>
          </c:cat>
          <c:val>
            <c:numRef>
              <c:f>'Chart Data'!$D$2:$D$6</c:f>
              <c:numCache>
                <c:formatCode>0%</c:formatCode>
                <c:ptCount val="5"/>
                <c:pt idx="0">
                  <c:v>0.9921875</c:v>
                </c:pt>
                <c:pt idx="1">
                  <c:v>0.98828125</c:v>
                </c:pt>
                <c:pt idx="2">
                  <c:v>0.91796875</c:v>
                </c:pt>
                <c:pt idx="3">
                  <c:v>0.79296875</c:v>
                </c:pt>
                <c:pt idx="4">
                  <c:v>0.6796875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Initial temperature (µK)</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Manual 400</c:v>
          </c:tx>
          <c:spPr>
            <a:solidFill xmlns:a="http://schemas.openxmlformats.org/drawingml/2006/main">
              <a:srgbClr val="1570EF"/>
            </a:solidFill>
          </c:spPr>
          <c:cat>
            <c:strRef>
              <c:f>'Chart Data'!$A$2:$A$6</c:f>
              <c:strCache>
                <c:ptCount val="5"/>
                <c:pt idx="0">
                  <c:v>Baseline</c:v>
                </c:pt>
                <c:pt idx="1">
                  <c:v>R3e−7</c:v>
                </c:pt>
                <c:pt idx="2">
                  <c:v>A0.15</c:v>
                </c:pt>
                <c:pt idx="3">
                  <c:v>A0.30</c:v>
                </c:pt>
                <c:pt idx="4">
                  <c:v>J0.10</c:v>
                </c:pt>
              </c:strCache>
            </c:strRef>
          </c:cat>
          <c:val>
            <c:numRef>
              <c:f>'Chart Data'!$B$2:$B$6</c:f>
              <c:numCache>
                <c:formatCode>0%</c:formatCode>
                <c:ptCount val="5"/>
                <c:pt idx="0">
                  <c:v>0.9296875</c:v>
                </c:pt>
                <c:pt idx="1">
                  <c:v>0.359375</c:v>
                </c:pt>
                <c:pt idx="2">
                  <c:v>0.93359375</c:v>
                </c:pt>
                <c:pt idx="3">
                  <c:v>0.921875</c:v>
                </c:pt>
                <c:pt idx="4">
                  <c:v>0.09375</c:v>
                </c:pt>
              </c:numCache>
            </c:numRef>
          </c:val>
        </c:ser>
        <c:ser>
          <c:idx val="1"/>
          <c:order val="1"/>
          <c:tx>
            <c:v>Manual 600</c:v>
          </c:tx>
          <c:spPr>
            <a:solidFill xmlns:a="http://schemas.openxmlformats.org/drawingml/2006/main">
              <a:srgbClr val="0E9384"/>
            </a:solidFill>
          </c:spPr>
          <c:cat>
            <c:strRef>
              <c:f>'Chart Data'!$C$2:$C$6</c:f>
              <c:strCache>
                <c:ptCount val="5"/>
                <c:pt idx="0">
                  <c:v>Baseline</c:v>
                </c:pt>
                <c:pt idx="1">
                  <c:v>R3e−7</c:v>
                </c:pt>
                <c:pt idx="2">
                  <c:v>A0.15</c:v>
                </c:pt>
                <c:pt idx="3">
                  <c:v>A0.30</c:v>
                </c:pt>
                <c:pt idx="4">
                  <c:v>J0.10</c:v>
                </c:pt>
              </c:strCache>
            </c:strRef>
          </c:cat>
          <c:val>
            <c:numRef>
              <c:f>'Chart Data'!$D$2:$D$6</c:f>
              <c:numCache>
                <c:formatCode>0%</c:formatCode>
                <c:ptCount val="5"/>
                <c:pt idx="0">
                  <c:v>0.9921875</c:v>
                </c:pt>
                <c:pt idx="1">
                  <c:v>0.43359375</c:v>
                </c:pt>
                <c:pt idx="2">
                  <c:v>0.99609375</c:v>
                </c:pt>
                <c:pt idx="3">
                  <c:v>0.99609375</c:v>
                </c:pt>
                <c:pt idx="4">
                  <c:v>0.10546875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ser>
          <c:idx val="0"/>
          <c:order val="0"/>
          <c:tx>
            <c:v>Paper 200 µs</c:v>
          </c:tx>
          <c:spPr>
            <a:ln xmlns:a="http://schemas.openxmlformats.org/drawingml/2006/main" w="28575">
              <a:solidFill>
                <a:srgbClr val="475467"/>
              </a:solidFill>
            </a:ln>
          </c:spPr>
          <c:marker>
            <c:symbol val="none"/>
          </c:marker>
          <c:cat>
            <c:numRef>
              <c:f>'Chart Data'!$A$2:$A$28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Data'!$B$2:$B$28</c:f>
              <c:numCache>
                <c:formatCode>0%</c:formatCode>
                <c:ptCount val="27"/>
                <c:pt idx="0">
                  <c:v>0.925</c:v>
                </c:pt>
                <c:pt idx="1">
                  <c:v>0.8994</c:v>
                </c:pt>
                <c:pt idx="2">
                  <c:v>0.8738</c:v>
                </c:pt>
                <c:pt idx="3">
                  <c:v>0.8482</c:v>
                </c:pt>
                <c:pt idx="4">
                  <c:v>0.815275</c:v>
                </c:pt>
                <c:pt idx="5">
                  <c:v>0.78235</c:v>
                </c:pt>
                <c:pt idx="6">
                  <c:v>0.749425</c:v>
                </c:pt>
                <c:pt idx="7">
                  <c:v>0.7165</c:v>
                </c:pt>
                <c:pt idx="8">
                  <c:v>0.691825</c:v>
                </c:pt>
                <c:pt idx="9">
                  <c:v>0.66715</c:v>
                </c:pt>
                <c:pt idx="10">
                  <c:v>0.642475</c:v>
                </c:pt>
                <c:pt idx="11">
                  <c:v>0.6178</c:v>
                </c:pt>
                <c:pt idx="12">
                  <c:v>0.594375</c:v>
                </c:pt>
                <c:pt idx="13">
                  <c:v>0.57095</c:v>
                </c:pt>
                <c:pt idx="14">
                  <c:v>0.547525</c:v>
                </c:pt>
                <c:pt idx="15">
                  <c:v>0.5241</c:v>
                </c:pt>
                <c:pt idx="16">
                  <c:v>0.50578</c:v>
                </c:pt>
                <c:pt idx="17">
                  <c:v>0.48746</c:v>
                </c:pt>
                <c:pt idx="18">
                  <c:v>0.46914</c:v>
                </c:pt>
                <c:pt idx="19">
                  <c:v>0.45082</c:v>
                </c:pt>
                <c:pt idx="20">
                  <c:v>0.4325</c:v>
                </c:pt>
                <c:pt idx="21">
                  <c:v>0.41418</c:v>
                </c:pt>
                <c:pt idx="22">
                  <c:v>0.39586</c:v>
                </c:pt>
                <c:pt idx="23">
                  <c:v>0.37754</c:v>
                </c:pt>
                <c:pt idx="24">
                  <c:v>0.35922</c:v>
                </c:pt>
                <c:pt idx="25">
                  <c:v>0.3409</c:v>
                </c:pt>
                <c:pt idx="26">
                  <c:v>0.3344</c:v>
                </c:pt>
              </c:numCache>
            </c:numRef>
          </c:val>
        </c:ser>
        <c:ser>
          <c:idx val="1"/>
          <c:order val="1"/>
          <c:tx>
            <c:v>MC T40 200 µs</c:v>
          </c:tx>
          <c:spPr>
            <a:ln xmlns:a="http://schemas.openxmlformats.org/drawingml/2006/main" w="28575">
              <a:solidFill>
                <a:srgbClr val="D92D20"/>
              </a:solidFill>
            </a:ln>
          </c:spPr>
          <c:marker>
            <c:symbol val="none"/>
          </c:marker>
          <c:cat>
            <c:numRef>
              <c:f>'Chart Data'!$C$2:$C$28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Data'!$D$2:$D$28</c:f>
              <c:numCache>
                <c:formatCode>0%</c:formatCode>
                <c:ptCount val="27"/>
                <c:pt idx="0">
                  <c:v>0.79296875</c:v>
                </c:pt>
                <c:pt idx="1">
                  <c:v>0.7578125</c:v>
                </c:pt>
                <c:pt idx="2">
                  <c:v>0.720703125</c:v>
                </c:pt>
                <c:pt idx="3">
                  <c:v>0.693359375</c:v>
                </c:pt>
                <c:pt idx="4">
                  <c:v>0.6484375</c:v>
                </c:pt>
                <c:pt idx="5">
                  <c:v>0.62109375</c:v>
                </c:pt>
                <c:pt idx="6">
                  <c:v>0.576171875</c:v>
                </c:pt>
                <c:pt idx="7">
                  <c:v>0.548828125</c:v>
                </c:pt>
                <c:pt idx="8">
                  <c:v>0.521484375</c:v>
                </c:pt>
                <c:pt idx="9">
                  <c:v>0.494140625</c:v>
                </c:pt>
                <c:pt idx="10">
                  <c:v>0.474609375</c:v>
                </c:pt>
                <c:pt idx="11">
                  <c:v>0.451171875</c:v>
                </c:pt>
                <c:pt idx="12">
                  <c:v>0.416015625</c:v>
                </c:pt>
                <c:pt idx="13">
                  <c:v>0.404296875</c:v>
                </c:pt>
                <c:pt idx="14">
                  <c:v>0.37890625</c:v>
                </c:pt>
                <c:pt idx="15">
                  <c:v>0.361328125</c:v>
                </c:pt>
                <c:pt idx="16">
                  <c:v>0.349609375</c:v>
                </c:pt>
                <c:pt idx="17">
                  <c:v>0.341796875</c:v>
                </c:pt>
                <c:pt idx="18">
                  <c:v>0.33203125</c:v>
                </c:pt>
                <c:pt idx="19">
                  <c:v>0.326171875</c:v>
                </c:pt>
                <c:pt idx="20">
                  <c:v>0.3046875</c:v>
                </c:pt>
                <c:pt idx="21">
                  <c:v>0.2734375</c:v>
                </c:pt>
                <c:pt idx="22">
                  <c:v>0.271484375</c:v>
                </c:pt>
                <c:pt idx="23">
                  <c:v>0.265625</c:v>
                </c:pt>
                <c:pt idx="24">
                  <c:v>0.255859375</c:v>
                </c:pt>
                <c:pt idx="25">
                  <c:v>0.24609375</c:v>
                </c:pt>
                <c:pt idx="26">
                  <c:v>0.240234375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icrosoft YaHei"/>
                    <a:ea typeface="Microsoft YaHei"/>
                    <a:cs typeface="Microsoft YaHei"/>
                  </a:rPr>
                  <a:t>One-way transfers n</a:t>
                </a:r>
              </a:p>
            </c:rich>
          </c:tx>
          <c:overlay val="0"/>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2"/>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ser>
          <c:idx val="0"/>
          <c:order val="0"/>
          <c:tx>
            <c:v>Paper 400 µs</c:v>
          </c:tx>
          <c:spPr>
            <a:ln xmlns:a="http://schemas.openxmlformats.org/drawingml/2006/main" w="19050">
              <a:solidFill>
                <a:srgbClr val="98A2B3"/>
              </a:solidFill>
            </a:ln>
          </c:spPr>
          <c:marker>
            <c:symbol val="none"/>
          </c:marker>
          <c:cat>
            <c:numRef>
              <c:f>'Chart Data'!$A$2:$A$57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Data'!$B$2:$B$57</c:f>
              <c:numCache>
                <c:formatCode>0%</c:formatCode>
                <c:ptCount val="56"/>
                <c:pt idx="0">
                  <c:v>0.968</c:v>
                </c:pt>
                <c:pt idx="1">
                  <c:v>0.955966666667</c:v>
                </c:pt>
                <c:pt idx="2">
                  <c:v>0.943933333333</c:v>
                </c:pt>
                <c:pt idx="3">
                  <c:v>0.9319</c:v>
                </c:pt>
                <c:pt idx="4">
                  <c:v>0.92385</c:v>
                </c:pt>
                <c:pt idx="5">
                  <c:v>0.9158</c:v>
                </c:pt>
                <c:pt idx="6">
                  <c:v>0.90775</c:v>
                </c:pt>
                <c:pt idx="7">
                  <c:v>0.8997</c:v>
                </c:pt>
                <c:pt idx="8">
                  <c:v>0.892525</c:v>
                </c:pt>
                <c:pt idx="9">
                  <c:v>0.88535</c:v>
                </c:pt>
                <c:pt idx="10">
                  <c:v>0.878175</c:v>
                </c:pt>
                <c:pt idx="11">
                  <c:v>0.871</c:v>
                </c:pt>
                <c:pt idx="12">
                  <c:v>0.85915</c:v>
                </c:pt>
                <c:pt idx="13">
                  <c:v>0.8473</c:v>
                </c:pt>
                <c:pt idx="14">
                  <c:v>0.83545</c:v>
                </c:pt>
                <c:pt idx="15">
                  <c:v>0.8236</c:v>
                </c:pt>
                <c:pt idx="16">
                  <c:v>0.81013</c:v>
                </c:pt>
                <c:pt idx="17">
                  <c:v>0.79666</c:v>
                </c:pt>
                <c:pt idx="18">
                  <c:v>0.78319</c:v>
                </c:pt>
                <c:pt idx="19">
                  <c:v>0.76972</c:v>
                </c:pt>
                <c:pt idx="20">
                  <c:v>0.75625</c:v>
                </c:pt>
                <c:pt idx="21">
                  <c:v>0.74278</c:v>
                </c:pt>
                <c:pt idx="22">
                  <c:v>0.72931</c:v>
                </c:pt>
                <c:pt idx="23">
                  <c:v>0.71584</c:v>
                </c:pt>
                <c:pt idx="24">
                  <c:v>0.70237</c:v>
                </c:pt>
                <c:pt idx="25">
                  <c:v>0.6889</c:v>
                </c:pt>
                <c:pt idx="26">
                  <c:v>0.67826</c:v>
                </c:pt>
                <c:pt idx="27">
                  <c:v>0.66762</c:v>
                </c:pt>
                <c:pt idx="28">
                  <c:v>0.65698</c:v>
                </c:pt>
                <c:pt idx="29">
                  <c:v>0.64634</c:v>
                </c:pt>
                <c:pt idx="30">
                  <c:v>0.6357</c:v>
                </c:pt>
                <c:pt idx="31">
                  <c:v>0.62506</c:v>
                </c:pt>
                <c:pt idx="32">
                  <c:v>0.61442</c:v>
                </c:pt>
                <c:pt idx="33">
                  <c:v>0.60378</c:v>
                </c:pt>
                <c:pt idx="34">
                  <c:v>0.59314</c:v>
                </c:pt>
                <c:pt idx="35">
                  <c:v>0.5825</c:v>
                </c:pt>
                <c:pt idx="36">
                  <c:v>0.57345</c:v>
                </c:pt>
                <c:pt idx="37">
                  <c:v>0.5644</c:v>
                </c:pt>
                <c:pt idx="38">
                  <c:v>0.55535</c:v>
                </c:pt>
                <c:pt idx="39">
                  <c:v>0.5463</c:v>
                </c:pt>
                <c:pt idx="40">
                  <c:v>0.53725</c:v>
                </c:pt>
                <c:pt idx="41">
                  <c:v>0.5282</c:v>
                </c:pt>
                <c:pt idx="42">
                  <c:v>0.51915</c:v>
                </c:pt>
                <c:pt idx="43">
                  <c:v>0.5101</c:v>
                </c:pt>
                <c:pt idx="44">
                  <c:v>0.50105</c:v>
                </c:pt>
                <c:pt idx="45">
                  <c:v>0.492</c:v>
                </c:pt>
                <c:pt idx="46">
                  <c:v>0.48415</c:v>
                </c:pt>
                <c:pt idx="47">
                  <c:v>0.4763</c:v>
                </c:pt>
                <c:pt idx="48">
                  <c:v>0.46845</c:v>
                </c:pt>
                <c:pt idx="49">
                  <c:v>0.4606</c:v>
                </c:pt>
                <c:pt idx="50">
                  <c:v>0.45275</c:v>
                </c:pt>
                <c:pt idx="51">
                  <c:v>0.4449</c:v>
                </c:pt>
                <c:pt idx="52">
                  <c:v>0.43705</c:v>
                </c:pt>
                <c:pt idx="53">
                  <c:v>0.4292</c:v>
                </c:pt>
                <c:pt idx="54">
                  <c:v>0.42135</c:v>
                </c:pt>
                <c:pt idx="55">
                  <c:v>0.4135</c:v>
                </c:pt>
              </c:numCache>
            </c:numRef>
          </c:val>
        </c:ser>
        <c:ser>
          <c:idx val="1"/>
          <c:order val="1"/>
          <c:tx>
            <c:v>MC T40 400 µs</c:v>
          </c:tx>
          <c:spPr>
            <a:ln xmlns:a="http://schemas.openxmlformats.org/drawingml/2006/main" w="28575">
              <a:solidFill>
                <a:srgbClr val="1570EF"/>
              </a:solidFill>
            </a:ln>
          </c:spPr>
          <c:marker>
            <c:symbol val="none"/>
          </c:marker>
          <c:cat>
            <c:numRef>
              <c:f>'Chart Data'!$C$2:$C$57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Data'!$D$2:$D$57</c:f>
              <c:numCache>
                <c:formatCode>0%</c:formatCode>
                <c:ptCount val="56"/>
                <c:pt idx="0">
                  <c:v>0.9453125</c:v>
                </c:pt>
                <c:pt idx="1">
                  <c:v>0.943359375</c:v>
                </c:pt>
                <c:pt idx="2">
                  <c:v>0.923828125</c:v>
                </c:pt>
                <c:pt idx="3">
                  <c:v>0.923828125</c:v>
                </c:pt>
                <c:pt idx="4">
                  <c:v>0.91015625</c:v>
                </c:pt>
                <c:pt idx="5">
                  <c:v>0.904296875</c:v>
                </c:pt>
                <c:pt idx="6">
                  <c:v>0.8828125</c:v>
                </c:pt>
                <c:pt idx="7">
                  <c:v>0.8828125</c:v>
                </c:pt>
                <c:pt idx="8">
                  <c:v>0.85546875</c:v>
                </c:pt>
                <c:pt idx="9">
                  <c:v>0.85546875</c:v>
                </c:pt>
                <c:pt idx="10">
                  <c:v>0.83203125</c:v>
                </c:pt>
                <c:pt idx="11">
                  <c:v>0.830078125</c:v>
                </c:pt>
                <c:pt idx="12">
                  <c:v>0.8046875</c:v>
                </c:pt>
                <c:pt idx="13">
                  <c:v>0.802734375</c:v>
                </c:pt>
                <c:pt idx="14">
                  <c:v>0.787109375</c:v>
                </c:pt>
                <c:pt idx="15">
                  <c:v>0.787109375</c:v>
                </c:pt>
                <c:pt idx="16">
                  <c:v>0.77734375</c:v>
                </c:pt>
                <c:pt idx="17">
                  <c:v>0.77734375</c:v>
                </c:pt>
                <c:pt idx="18">
                  <c:v>0.76171875</c:v>
                </c:pt>
                <c:pt idx="19">
                  <c:v>0.759765625</c:v>
                </c:pt>
                <c:pt idx="20">
                  <c:v>0.751953125</c:v>
                </c:pt>
                <c:pt idx="21">
                  <c:v>0.751953125</c:v>
                </c:pt>
                <c:pt idx="22">
                  <c:v>0.728515625</c:v>
                </c:pt>
                <c:pt idx="23">
                  <c:v>0.728515625</c:v>
                </c:pt>
                <c:pt idx="24">
                  <c:v>0.72265625</c:v>
                </c:pt>
                <c:pt idx="25">
                  <c:v>0.720703125</c:v>
                </c:pt>
                <c:pt idx="26">
                  <c:v>0.712890625</c:v>
                </c:pt>
                <c:pt idx="27">
                  <c:v>0.712890625</c:v>
                </c:pt>
                <c:pt idx="28">
                  <c:v>0.701171875</c:v>
                </c:pt>
                <c:pt idx="29">
                  <c:v>0.701171875</c:v>
                </c:pt>
                <c:pt idx="30">
                  <c:v>0.6796875</c:v>
                </c:pt>
                <c:pt idx="31">
                  <c:v>0.67578125</c:v>
                </c:pt>
                <c:pt idx="32">
                  <c:v>0.666015625</c:v>
                </c:pt>
                <c:pt idx="33">
                  <c:v>0.6640625</c:v>
                </c:pt>
                <c:pt idx="34">
                  <c:v>0.646484375</c:v>
                </c:pt>
                <c:pt idx="35">
                  <c:v>0.64453125</c:v>
                </c:pt>
                <c:pt idx="36">
                  <c:v>0.62890625</c:v>
                </c:pt>
                <c:pt idx="37">
                  <c:v>0.62890625</c:v>
                </c:pt>
                <c:pt idx="38">
                  <c:v>0.61328125</c:v>
                </c:pt>
                <c:pt idx="39">
                  <c:v>0.61328125</c:v>
                </c:pt>
                <c:pt idx="40">
                  <c:v>0.607421875</c:v>
                </c:pt>
                <c:pt idx="41">
                  <c:v>0.607421875</c:v>
                </c:pt>
                <c:pt idx="42">
                  <c:v>0.603515625</c:v>
                </c:pt>
                <c:pt idx="43">
                  <c:v>0.599609375</c:v>
                </c:pt>
                <c:pt idx="44">
                  <c:v>0.591796875</c:v>
                </c:pt>
                <c:pt idx="45">
                  <c:v>0.58984375</c:v>
                </c:pt>
                <c:pt idx="46">
                  <c:v>0.572265625</c:v>
                </c:pt>
                <c:pt idx="47">
                  <c:v>0.568359375</c:v>
                </c:pt>
                <c:pt idx="48">
                  <c:v>0.5546875</c:v>
                </c:pt>
                <c:pt idx="49">
                  <c:v>0.5546875</c:v>
                </c:pt>
                <c:pt idx="50">
                  <c:v>0.548828125</c:v>
                </c:pt>
                <c:pt idx="51">
                  <c:v>0.546875</c:v>
                </c:pt>
                <c:pt idx="52">
                  <c:v>0.5390625</c:v>
                </c:pt>
                <c:pt idx="53">
                  <c:v>0.5390625</c:v>
                </c:pt>
                <c:pt idx="54">
                  <c:v>0.525390625</c:v>
                </c:pt>
                <c:pt idx="55">
                  <c:v>0.525390625</c:v>
                </c:pt>
              </c:numCache>
            </c:numRef>
          </c:val>
        </c:ser>
        <c:ser>
          <c:idx val="2"/>
          <c:order val="2"/>
          <c:tx>
            <c:v>Paper 600 µs</c:v>
          </c:tx>
          <c:spPr>
            <a:ln xmlns:a="http://schemas.openxmlformats.org/drawingml/2006/main" w="19050">
              <a:solidFill>
                <a:srgbClr val="344054"/>
              </a:solidFill>
            </a:ln>
          </c:spPr>
          <c:marker>
            <c:symbol val="none"/>
          </c:marker>
          <c:cat>
            <c:numRef>
              <c:f>'Chart Data'!$E$2:$E$57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Data'!$F$2:$F$57</c:f>
              <c:numCache>
                <c:formatCode>0%</c:formatCode>
                <c:ptCount val="56"/>
                <c:pt idx="0">
                  <c:v>0.9706</c:v>
                </c:pt>
                <c:pt idx="1">
                  <c:v>0.9698</c:v>
                </c:pt>
                <c:pt idx="2">
                  <c:v>0.969</c:v>
                </c:pt>
                <c:pt idx="3">
                  <c:v>0.9682</c:v>
                </c:pt>
                <c:pt idx="4">
                  <c:v>0.957625</c:v>
                </c:pt>
                <c:pt idx="5">
                  <c:v>0.94705</c:v>
                </c:pt>
                <c:pt idx="6">
                  <c:v>0.936475</c:v>
                </c:pt>
                <c:pt idx="7">
                  <c:v>0.9259</c:v>
                </c:pt>
                <c:pt idx="8">
                  <c:v>0.9229</c:v>
                </c:pt>
                <c:pt idx="9">
                  <c:v>0.9199</c:v>
                </c:pt>
                <c:pt idx="10">
                  <c:v>0.9169</c:v>
                </c:pt>
                <c:pt idx="11">
                  <c:v>0.9139</c:v>
                </c:pt>
                <c:pt idx="12">
                  <c:v>0.907575</c:v>
                </c:pt>
                <c:pt idx="13">
                  <c:v>0.90125</c:v>
                </c:pt>
                <c:pt idx="14">
                  <c:v>0.894925</c:v>
                </c:pt>
                <c:pt idx="15">
                  <c:v>0.8886</c:v>
                </c:pt>
                <c:pt idx="16">
                  <c:v>0.88126</c:v>
                </c:pt>
                <c:pt idx="17">
                  <c:v>0.87392</c:v>
                </c:pt>
                <c:pt idx="18">
                  <c:v>0.86658</c:v>
                </c:pt>
                <c:pt idx="19">
                  <c:v>0.85924</c:v>
                </c:pt>
                <c:pt idx="20">
                  <c:v>0.8519</c:v>
                </c:pt>
                <c:pt idx="21">
                  <c:v>0.84456</c:v>
                </c:pt>
                <c:pt idx="22">
                  <c:v>0.83722</c:v>
                </c:pt>
                <c:pt idx="23">
                  <c:v>0.82988</c:v>
                </c:pt>
                <c:pt idx="24">
                  <c:v>0.82254</c:v>
                </c:pt>
                <c:pt idx="25">
                  <c:v>0.8152</c:v>
                </c:pt>
                <c:pt idx="26">
                  <c:v>0.80627</c:v>
                </c:pt>
                <c:pt idx="27">
                  <c:v>0.79734</c:v>
                </c:pt>
                <c:pt idx="28">
                  <c:v>0.78841</c:v>
                </c:pt>
                <c:pt idx="29">
                  <c:v>0.77948</c:v>
                </c:pt>
                <c:pt idx="30">
                  <c:v>0.77055</c:v>
                </c:pt>
                <c:pt idx="31">
                  <c:v>0.76162</c:v>
                </c:pt>
                <c:pt idx="32">
                  <c:v>0.75269</c:v>
                </c:pt>
                <c:pt idx="33">
                  <c:v>0.74376</c:v>
                </c:pt>
                <c:pt idx="34">
                  <c:v>0.73483</c:v>
                </c:pt>
                <c:pt idx="35">
                  <c:v>0.7259</c:v>
                </c:pt>
                <c:pt idx="36">
                  <c:v>0.71829</c:v>
                </c:pt>
                <c:pt idx="37">
                  <c:v>0.71068</c:v>
                </c:pt>
                <c:pt idx="38">
                  <c:v>0.70307</c:v>
                </c:pt>
                <c:pt idx="39">
                  <c:v>0.69546</c:v>
                </c:pt>
                <c:pt idx="40">
                  <c:v>0.68785</c:v>
                </c:pt>
                <c:pt idx="41">
                  <c:v>0.68024</c:v>
                </c:pt>
                <c:pt idx="42">
                  <c:v>0.67263</c:v>
                </c:pt>
                <c:pt idx="43">
                  <c:v>0.66502</c:v>
                </c:pt>
                <c:pt idx="44">
                  <c:v>0.65741</c:v>
                </c:pt>
                <c:pt idx="45">
                  <c:v>0.6498</c:v>
                </c:pt>
                <c:pt idx="46">
                  <c:v>0.64208</c:v>
                </c:pt>
                <c:pt idx="47">
                  <c:v>0.63436</c:v>
                </c:pt>
                <c:pt idx="48">
                  <c:v>0.62664</c:v>
                </c:pt>
                <c:pt idx="49">
                  <c:v>0.61892</c:v>
                </c:pt>
                <c:pt idx="50">
                  <c:v>0.6112</c:v>
                </c:pt>
                <c:pt idx="51">
                  <c:v>0.60348</c:v>
                </c:pt>
                <c:pt idx="52">
                  <c:v>0.59576</c:v>
                </c:pt>
                <c:pt idx="53">
                  <c:v>0.58804</c:v>
                </c:pt>
                <c:pt idx="54">
                  <c:v>0.58032</c:v>
                </c:pt>
                <c:pt idx="55">
                  <c:v>0.5726</c:v>
                </c:pt>
              </c:numCache>
            </c:numRef>
          </c:val>
        </c:ser>
        <c:ser>
          <c:idx val="3"/>
          <c:order val="3"/>
          <c:tx>
            <c:v>MC T40 600 µs</c:v>
          </c:tx>
          <c:spPr>
            <a:ln xmlns:a="http://schemas.openxmlformats.org/drawingml/2006/main" w="28575">
              <a:solidFill>
                <a:srgbClr val="0E9384"/>
              </a:solidFill>
            </a:ln>
          </c:spPr>
          <c:marker>
            <c:symbol val="none"/>
          </c:marker>
          <c:cat>
            <c:numRef>
              <c:f>'Chart Data'!$G$2:$G$57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Data'!$H$2:$H$57</c:f>
              <c:numCache>
                <c:formatCode>0%</c:formatCode>
                <c:ptCount val="56"/>
                <c:pt idx="0">
                  <c:v>0.94921875</c:v>
                </c:pt>
                <c:pt idx="1">
                  <c:v>0.94921875</c:v>
                </c:pt>
                <c:pt idx="2">
                  <c:v>0.93359375</c:v>
                </c:pt>
                <c:pt idx="3">
                  <c:v>0.93359375</c:v>
                </c:pt>
                <c:pt idx="4">
                  <c:v>0.92578125</c:v>
                </c:pt>
                <c:pt idx="5">
                  <c:v>0.92578125</c:v>
                </c:pt>
                <c:pt idx="6">
                  <c:v>0.91796875</c:v>
                </c:pt>
                <c:pt idx="7">
                  <c:v>0.91796875</c:v>
                </c:pt>
                <c:pt idx="8">
                  <c:v>0.90625</c:v>
                </c:pt>
                <c:pt idx="9">
                  <c:v>0.90625</c:v>
                </c:pt>
                <c:pt idx="10">
                  <c:v>0.896484375</c:v>
                </c:pt>
                <c:pt idx="11">
                  <c:v>0.896484375</c:v>
                </c:pt>
                <c:pt idx="12">
                  <c:v>0.890625</c:v>
                </c:pt>
                <c:pt idx="13">
                  <c:v>0.890625</c:v>
                </c:pt>
                <c:pt idx="14">
                  <c:v>0.88671875</c:v>
                </c:pt>
                <c:pt idx="15">
                  <c:v>0.884765625</c:v>
                </c:pt>
                <c:pt idx="16">
                  <c:v>0.876953125</c:v>
                </c:pt>
                <c:pt idx="17">
                  <c:v>0.876953125</c:v>
                </c:pt>
                <c:pt idx="18">
                  <c:v>0.87109375</c:v>
                </c:pt>
                <c:pt idx="19">
                  <c:v>0.87109375</c:v>
                </c:pt>
                <c:pt idx="20">
                  <c:v>0.857421875</c:v>
                </c:pt>
                <c:pt idx="21">
                  <c:v>0.857421875</c:v>
                </c:pt>
                <c:pt idx="22">
                  <c:v>0.841796875</c:v>
                </c:pt>
                <c:pt idx="23">
                  <c:v>0.841796875</c:v>
                </c:pt>
                <c:pt idx="24">
                  <c:v>0.837890625</c:v>
                </c:pt>
                <c:pt idx="25">
                  <c:v>0.837890625</c:v>
                </c:pt>
                <c:pt idx="26">
                  <c:v>0.826171875</c:v>
                </c:pt>
                <c:pt idx="27">
                  <c:v>0.82421875</c:v>
                </c:pt>
                <c:pt idx="28">
                  <c:v>0.814453125</c:v>
                </c:pt>
                <c:pt idx="29">
                  <c:v>0.814453125</c:v>
                </c:pt>
                <c:pt idx="30">
                  <c:v>0.806640625</c:v>
                </c:pt>
                <c:pt idx="31">
                  <c:v>0.806640625</c:v>
                </c:pt>
                <c:pt idx="32">
                  <c:v>0.80078125</c:v>
                </c:pt>
                <c:pt idx="33">
                  <c:v>0.80078125</c:v>
                </c:pt>
                <c:pt idx="34">
                  <c:v>0.794921875</c:v>
                </c:pt>
                <c:pt idx="35">
                  <c:v>0.794921875</c:v>
                </c:pt>
                <c:pt idx="36">
                  <c:v>0.783203125</c:v>
                </c:pt>
                <c:pt idx="37">
                  <c:v>0.783203125</c:v>
                </c:pt>
                <c:pt idx="38">
                  <c:v>0.7734375</c:v>
                </c:pt>
                <c:pt idx="39">
                  <c:v>0.7734375</c:v>
                </c:pt>
                <c:pt idx="40">
                  <c:v>0.76171875</c:v>
                </c:pt>
                <c:pt idx="41">
                  <c:v>0.759765625</c:v>
                </c:pt>
                <c:pt idx="42">
                  <c:v>0.744140625</c:v>
                </c:pt>
                <c:pt idx="43">
                  <c:v>0.744140625</c:v>
                </c:pt>
                <c:pt idx="44">
                  <c:v>0.73828125</c:v>
                </c:pt>
                <c:pt idx="45">
                  <c:v>0.73828125</c:v>
                </c:pt>
                <c:pt idx="46">
                  <c:v>0.734375</c:v>
                </c:pt>
                <c:pt idx="47">
                  <c:v>0.732421875</c:v>
                </c:pt>
                <c:pt idx="48">
                  <c:v>0.73046875</c:v>
                </c:pt>
                <c:pt idx="49">
                  <c:v>0.73046875</c:v>
                </c:pt>
                <c:pt idx="50">
                  <c:v>0.720703125</c:v>
                </c:pt>
                <c:pt idx="51">
                  <c:v>0.720703125</c:v>
                </c:pt>
                <c:pt idx="52">
                  <c:v>0.703125</c:v>
                </c:pt>
                <c:pt idx="53">
                  <c:v>0.701171875</c:v>
                </c:pt>
                <c:pt idx="54">
                  <c:v>0.68359375</c:v>
                </c:pt>
                <c:pt idx="55">
                  <c:v>0.68359375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icrosoft YaHei"/>
                    <a:ea typeface="Microsoft YaHei"/>
                    <a:cs typeface="Microsoft YaHei"/>
                  </a:rPr>
                  <a:t>One-way transfers n</a:t>
                </a:r>
              </a:p>
            </c:rich>
          </c:tx>
          <c:overlay val="0"/>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2"/>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lineChart>
        <c:grouping val="standard"/>
        <c:ser>
          <c:idx val="0"/>
          <c:order val="0"/>
          <c:tx>
            <c:v>Manual position</c:v>
          </c:tx>
          <c:spPr>
            <a:ln xmlns:a="http://schemas.openxmlformats.org/drawingml/2006/main" w="28575">
              <a:solidFill>
                <a:srgbClr val="475467"/>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c:formatCode>
                <c:ptCount val="15"/>
                <c:pt idx="0">
                  <c:v>0</c:v>
                </c:pt>
                <c:pt idx="1">
                  <c:v>0</c:v>
                </c:pt>
                <c:pt idx="2">
                  <c:v>0</c:v>
                </c:pt>
                <c:pt idx="3">
                  <c:v>0</c:v>
                </c:pt>
                <c:pt idx="4">
                  <c:v>0</c:v>
                </c:pt>
                <c:pt idx="5">
                  <c:v>0</c:v>
                </c:pt>
                <c:pt idx="6">
                  <c:v>0</c:v>
                </c:pt>
                <c:pt idx="7">
                  <c:v>0.000728265817023</c:v>
                </c:pt>
                <c:pt idx="8">
                  <c:v>0.0695738025988</c:v>
                </c:pt>
                <c:pt idx="9">
                  <c:v>0.386747897679</c:v>
                </c:pt>
                <c:pt idx="10">
                  <c:v>0.964185192895</c:v>
                </c:pt>
                <c:pt idx="11">
                  <c:v>1.61328129666</c:v>
                </c:pt>
                <c:pt idx="12">
                  <c:v>2.13498396302</c:v>
                </c:pt>
                <c:pt idx="13">
                  <c:v>2.36682462568</c:v>
                </c:pt>
                <c:pt idx="14">
                  <c:v>2.4</c:v>
                </c:pt>
              </c:numCache>
            </c:numRef>
          </c:val>
        </c:ser>
        <c:ser>
          <c:idx val="1"/>
          <c:order val="1"/>
          <c:tx>
            <c:v>Fig. 6c ML position</c:v>
          </c:tx>
          <c:spPr>
            <a:ln xmlns:a="http://schemas.openxmlformats.org/drawingml/2006/main" w="28575">
              <a:solidFill>
                <a:srgbClr val="0E9384"/>
              </a:solidFill>
            </a:ln>
          </c:spPr>
          <c:marker>
            <c:symbol val="circle"/>
            <c:size val="5"/>
            <c:spPr>
              <a:solidFill xmlns:a="http://schemas.openxmlformats.org/drawingml/2006/main">
                <a:srgbClr val="0E9384"/>
              </a:solidFill>
            </c:spPr>
          </c:marker>
          <c:cat>
            <c:numRef>
              <c:f>'Chart Data'!$C$2:$C$16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Data'!$D$2:$D$16</c:f>
              <c:numCache>
                <c:formatCode>0.0</c:formatCode>
                <c:ptCount val="15"/>
                <c:pt idx="0">
                  <c:v>0.00413555622832</c:v>
                </c:pt>
                <c:pt idx="1">
                  <c:v>0.0419971063815</c:v>
                </c:pt>
                <c:pt idx="2">
                  <c:v>0.111132648305</c:v>
                </c:pt>
                <c:pt idx="3">
                  <c:v>0.112744730658</c:v>
                </c:pt>
                <c:pt idx="4">
                  <c:v>0.112164973556</c:v>
                </c:pt>
                <c:pt idx="5">
                  <c:v>0.188751715328</c:v>
                </c:pt>
                <c:pt idx="6">
                  <c:v>0.3203341165</c:v>
                </c:pt>
                <c:pt idx="7">
                  <c:v>0.495750877979</c:v>
                </c:pt>
                <c:pt idx="8">
                  <c:v>0.697274505876</c:v>
                </c:pt>
                <c:pt idx="9">
                  <c:v>0.947967362687</c:v>
                </c:pt>
                <c:pt idx="10">
                  <c:v>1.24095377898</c:v>
                </c:pt>
                <c:pt idx="11">
                  <c:v>1.54418662097</c:v>
                </c:pt>
                <c:pt idx="12">
                  <c:v>1.85643053763</c:v>
                </c:pt>
                <c:pt idx="13">
                  <c:v>2.2099389317</c:v>
                </c:pt>
                <c:pt idx="14">
                  <c:v>2.40425070917</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2.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Position (µm)</a:t>
                </a:r>
              </a:p>
            </c:rich>
          </c:tx>
          <c:overlay val="0"/>
        </c:title>
        <c:numFmt formatCode="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lineChart>
        <c:grouping val="standard"/>
        <c:ser>
          <c:idx val="0"/>
          <c:order val="0"/>
          <c:tx>
            <c:v>Manual depth</c:v>
          </c:tx>
          <c:spPr>
            <a:ln xmlns:a="http://schemas.openxmlformats.org/drawingml/2006/main" w="28575">
              <a:solidFill>
                <a:srgbClr val="475467"/>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0.00</c:formatCode>
                <c:ptCount val="15"/>
                <c:pt idx="0">
                  <c:v>0</c:v>
                </c:pt>
                <c:pt idx="1">
                  <c:v>0.00620039682538</c:v>
                </c:pt>
                <c:pt idx="2">
                  <c:v>0.0248015873016</c:v>
                </c:pt>
                <c:pt idx="3">
                  <c:v>0.0558035714286</c:v>
                </c:pt>
                <c:pt idx="4">
                  <c:v>0.0992063492068</c:v>
                </c:pt>
                <c:pt idx="5">
                  <c:v>0.155009920635</c:v>
                </c:pt>
                <c:pt idx="6">
                  <c:v>0.223214285715</c:v>
                </c:pt>
                <c:pt idx="7">
                  <c:v>0.28</c:v>
                </c:pt>
                <c:pt idx="8">
                  <c:v>0.28</c:v>
                </c:pt>
                <c:pt idx="9">
                  <c:v>0.28</c:v>
                </c:pt>
                <c:pt idx="10">
                  <c:v>0.28</c:v>
                </c:pt>
                <c:pt idx="11">
                  <c:v>0.28</c:v>
                </c:pt>
                <c:pt idx="12">
                  <c:v>0.28</c:v>
                </c:pt>
                <c:pt idx="13">
                  <c:v>0.28</c:v>
                </c:pt>
                <c:pt idx="14">
                  <c:v>0.28</c:v>
                </c:pt>
              </c:numCache>
            </c:numRef>
          </c:val>
        </c:ser>
        <c:ser>
          <c:idx val="1"/>
          <c:order val="1"/>
          <c:tx>
            <c:v>Fig. 6c ML depth</c:v>
          </c:tx>
          <c:spPr>
            <a:ln xmlns:a="http://schemas.openxmlformats.org/drawingml/2006/main" w="28575">
              <a:solidFill>
                <a:srgbClr val="0BA5EC"/>
              </a:solidFill>
            </a:ln>
          </c:spPr>
          <c:marker>
            <c:symbol val="circle"/>
            <c:size val="5"/>
            <c:spPr>
              <a:solidFill xmlns:a="http://schemas.openxmlformats.org/drawingml/2006/main">
                <a:srgbClr val="0BA5EC"/>
              </a:solidFill>
            </c:spPr>
          </c:marker>
          <c:cat>
            <c:numRef>
              <c:f>'Chart Data'!$C$2:$C$16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Data'!$D$2:$D$16</c:f>
              <c:numCache>
                <c:formatCode>0.00</c:formatCode>
                <c:ptCount val="15"/>
                <c:pt idx="0">
                  <c:v>0.000499713044256</c:v>
                </c:pt>
                <c:pt idx="1">
                  <c:v>0.00414644376358</c:v>
                </c:pt>
                <c:pt idx="2">
                  <c:v>0.0106480724655</c:v>
                </c:pt>
                <c:pt idx="3">
                  <c:v>0.0190312328974</c:v>
                </c:pt>
                <c:pt idx="4">
                  <c:v>0.0379906963848</c:v>
                </c:pt>
                <c:pt idx="5">
                  <c:v>0.076288963437</c:v>
                </c:pt>
                <c:pt idx="6">
                  <c:v>0.134921041123</c:v>
                </c:pt>
                <c:pt idx="7">
                  <c:v>0.212284107178</c:v>
                </c:pt>
                <c:pt idx="8">
                  <c:v>0.268490549952</c:v>
                </c:pt>
                <c:pt idx="9">
                  <c:v>0.280469653025</c:v>
                </c:pt>
                <c:pt idx="10">
                  <c:v>0.280598817921</c:v>
                </c:pt>
                <c:pt idx="11">
                  <c:v>0.28052501195</c:v>
                </c:pt>
                <c:pt idx="12">
                  <c:v>0.280516692702</c:v>
                </c:pt>
                <c:pt idx="13">
                  <c:v>0.280516692702</c:v>
                </c:pt>
                <c:pt idx="14">
                  <c:v>0.280516692702</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32"/>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Depth (mK)</a:t>
                </a:r>
              </a:p>
            </c:rich>
          </c:tx>
          <c:overlay val="0"/>
        </c:title>
        <c:numFmt formatCode="0.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0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Manual 400 µs</c:v>
          </c:tx>
          <c:spPr>
            <a:solidFill xmlns:a="http://schemas.openxmlformats.org/drawingml/2006/main">
              <a:srgbClr val="98A2B3"/>
            </a:solidFill>
          </c:spPr>
          <c:cat>
            <c:strRef>
              <c:f>'Chart Data'!$A$2:$A$3</c:f>
              <c:strCache>
                <c:ptCount val="2"/>
                <c:pt idx="0">
                  <c:v>Paper</c:v>
                </c:pt>
                <c:pt idx="1">
                  <c:v>MC T40</c:v>
                </c:pt>
              </c:strCache>
            </c:strRef>
          </c:cat>
          <c:val>
            <c:numRef>
              <c:f>'Chart Data'!$B$2:$B$3</c:f>
              <c:numCache>
                <c:formatCode>0.0%</c:formatCode>
                <c:ptCount val="2"/>
                <c:pt idx="0">
                  <c:v>0.4135</c:v>
                </c:pt>
                <c:pt idx="1">
                  <c:v>0.52734375</c:v>
                </c:pt>
              </c:numCache>
            </c:numRef>
          </c:val>
        </c:ser>
        <c:ser>
          <c:idx val="1"/>
          <c:order val="1"/>
          <c:tx>
            <c:v>Fig. 6c ML 400 µs</c:v>
          </c:tx>
          <c:spPr>
            <a:solidFill xmlns:a="http://schemas.openxmlformats.org/drawingml/2006/main">
              <a:srgbClr val="0E9384"/>
            </a:solidFill>
          </c:spPr>
          <c:cat>
            <c:strRef>
              <c:f>'Chart Data'!$C$2:$C$3</c:f>
              <c:strCache>
                <c:ptCount val="2"/>
                <c:pt idx="0">
                  <c:v>Paper</c:v>
                </c:pt>
                <c:pt idx="1">
                  <c:v>MC T40</c:v>
                </c:pt>
              </c:strCache>
            </c:strRef>
          </c:cat>
          <c:val>
            <c:numRef>
              <c:f>'Chart Data'!$D$2:$D$3</c:f>
              <c:numCache>
                <c:formatCode>0.0%</c:formatCode>
                <c:ptCount val="2"/>
                <c:pt idx="0">
                  <c:v>0.6633</c:v>
                </c:pt>
                <c:pt idx="1">
                  <c:v>0.7578125</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34405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S(60)</c:v>
          </c:tx>
          <c:spPr>
            <a:solidFill xmlns:a="http://schemas.openxmlformats.org/drawingml/2006/main">
              <a:srgbClr val="1570EF"/>
            </a:solidFill>
          </c:spPr>
          <c:dPt>
            <c:idx val="0"/>
            <c:invertIfNegative val="0"/>
            <c:spPr>
              <a:solidFill xmlns:a="http://schemas.openxmlformats.org/drawingml/2006/main">
                <a:srgbClr val="98A2B3"/>
              </a:solidFill>
            </c:spPr>
          </c:dPt>
          <c:dPt>
            <c:idx val="1"/>
            <c:invertIfNegative val="0"/>
            <c:spPr>
              <a:solidFill xmlns:a="http://schemas.openxmlformats.org/drawingml/2006/main">
                <a:srgbClr val="667085"/>
              </a:solidFill>
            </c:spPr>
          </c:dPt>
          <c:dPt>
            <c:idx val="2"/>
            <c:invertIfNegative val="0"/>
            <c:spPr>
              <a:solidFill xmlns:a="http://schemas.openxmlformats.org/drawingml/2006/main">
                <a:srgbClr val="0BA5EC"/>
              </a:solidFill>
            </c:spPr>
          </c:dPt>
          <c:dPt>
            <c:idx val="3"/>
            <c:invertIfNegative val="0"/>
            <c:spPr>
              <a:solidFill xmlns:a="http://schemas.openxmlformats.org/drawingml/2006/main">
                <a:srgbClr val="0E9384"/>
              </a:solidFill>
            </c:spPr>
          </c:dPt>
          <c:cat>
            <c:strRef>
              <c:f>'Chart Data'!$A$2:$A$5</c:f>
              <c:strCache>
                <c:ptCount val="4"/>
                <c:pt idx="0">
                  <c:v>Dman / Pman</c:v>
                </c:pt>
                <c:pt idx="1">
                  <c:v>DML / Pman</c:v>
                </c:pt>
                <c:pt idx="2">
                  <c:v>Dman / PML</c:v>
                </c:pt>
                <c:pt idx="3">
                  <c:v>DML / PML</c:v>
                </c:pt>
              </c:strCache>
            </c:strRef>
          </c:cat>
          <c:val>
            <c:numRef>
              <c:f>'Chart Data'!$B$2:$B$5</c:f>
              <c:numCache>
                <c:formatCode>0.0%</c:formatCode>
                <c:ptCount val="4"/>
                <c:pt idx="0">
                  <c:v>0.5254</c:v>
                </c:pt>
                <c:pt idx="1">
                  <c:v>0.5293</c:v>
                </c:pt>
                <c:pt idx="2">
                  <c:v>0.8086</c:v>
                </c:pt>
                <c:pt idx="3">
                  <c:v>0.8047</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34405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9"/>
          <c:min val="0.4"/>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lineChart>
        <c:grouping val="standard"/>
        <c:ser>
          <c:idx val="0"/>
          <c:order val="0"/>
          <c:tx>
            <c:v>Manual 200 error</c:v>
          </c:tx>
          <c:spPr>
            <a:ln xmlns:a="http://schemas.openxmlformats.org/drawingml/2006/main" w="28575">
              <a:solidFill>
                <a:srgbClr val="D92D20"/>
              </a:solidFill>
            </a:ln>
          </c:spPr>
          <c:marker>
            <c:symbol val="none"/>
          </c:marker>
          <c:cat>
            <c:numRef>
              <c:f>'Chart Data'!$A$2:$A$28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Data'!$B$2:$B$28</c:f>
              <c:numCache>
                <c:formatCode>0%</c:formatCode>
                <c:ptCount val="27"/>
                <c:pt idx="0">
                  <c:v>-0.13203125</c:v>
                </c:pt>
                <c:pt idx="1">
                  <c:v>-0.1415875</c:v>
                </c:pt>
                <c:pt idx="2">
                  <c:v>-0.153096875</c:v>
                </c:pt>
                <c:pt idx="3">
                  <c:v>-0.154840625</c:v>
                </c:pt>
                <c:pt idx="4">
                  <c:v>-0.1668375</c:v>
                </c:pt>
                <c:pt idx="5">
                  <c:v>-0.16125625</c:v>
                </c:pt>
                <c:pt idx="6">
                  <c:v>-0.173253125</c:v>
                </c:pt>
                <c:pt idx="7">
                  <c:v>-0.167671875</c:v>
                </c:pt>
                <c:pt idx="8">
                  <c:v>-0.170340625</c:v>
                </c:pt>
                <c:pt idx="9">
                  <c:v>-0.173009375</c:v>
                </c:pt>
                <c:pt idx="10">
                  <c:v>-0.167865625</c:v>
                </c:pt>
                <c:pt idx="11">
                  <c:v>-0.166628125</c:v>
                </c:pt>
                <c:pt idx="12">
                  <c:v>-0.178359375</c:v>
                </c:pt>
                <c:pt idx="13">
                  <c:v>-0.166653125</c:v>
                </c:pt>
                <c:pt idx="14">
                  <c:v>-0.16861875</c:v>
                </c:pt>
                <c:pt idx="15">
                  <c:v>-0.162771875</c:v>
                </c:pt>
                <c:pt idx="16">
                  <c:v>-0.156170625</c:v>
                </c:pt>
                <c:pt idx="17">
                  <c:v>-0.145663125</c:v>
                </c:pt>
                <c:pt idx="18">
                  <c:v>-0.13710875</c:v>
                </c:pt>
                <c:pt idx="19">
                  <c:v>-0.124648125</c:v>
                </c:pt>
                <c:pt idx="20">
                  <c:v>-0.1278125</c:v>
                </c:pt>
                <c:pt idx="21">
                  <c:v>-0.1407425</c:v>
                </c:pt>
                <c:pt idx="22">
                  <c:v>-0.124375625</c:v>
                </c:pt>
                <c:pt idx="23">
                  <c:v>-0.111915</c:v>
                </c:pt>
                <c:pt idx="24">
                  <c:v>-0.103360625</c:v>
                </c:pt>
                <c:pt idx="25">
                  <c:v>-0.09480625</c:v>
                </c:pt>
                <c:pt idx="26">
                  <c:v>-0.094165625</c:v>
                </c:pt>
              </c:numCache>
            </c:numRef>
          </c:val>
        </c:ser>
        <c:ser>
          <c:idx val="1"/>
          <c:order val="1"/>
          <c:tx>
            <c:v>Zero</c:v>
          </c:tx>
          <c:spPr>
            <a:ln xmlns:a="http://schemas.openxmlformats.org/drawingml/2006/main" w="9525">
              <a:solidFill>
                <a:srgbClr val="D0D5DD"/>
              </a:solidFill>
            </a:ln>
          </c:spPr>
          <c:marker>
            <c:symbol val="none"/>
          </c:marker>
          <c:cat>
            <c:numRef>
              <c:f>'Chart Data'!$C$2:$C$28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Data'!$D$2:$D$28</c:f>
              <c:numCache>
                <c:formatCode>0%</c:formatCode>
                <c:ptCount val="2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15"/>
          <c:min val="-0.2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MC − Paper</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lineChart>
        <c:grouping val="standard"/>
        <c:ser>
          <c:idx val="0"/>
          <c:order val="0"/>
          <c:tx>
            <c:v>Manual 400 error</c:v>
          </c:tx>
          <c:spPr>
            <a:ln xmlns:a="http://schemas.openxmlformats.org/drawingml/2006/main" w="28575">
              <a:solidFill>
                <a:srgbClr val="1570EF"/>
              </a:solidFill>
            </a:ln>
          </c:spPr>
          <c:marker>
            <c:symbol val="none"/>
          </c:marker>
          <c:cat>
            <c:numRef>
              <c:f>'Chart Data'!$A$2:$A$57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Data'!$B$2:$B$57</c:f>
              <c:numCache>
                <c:formatCode>0%</c:formatCode>
                <c:ptCount val="56"/>
                <c:pt idx="0">
                  <c:v>-0.0226875</c:v>
                </c:pt>
                <c:pt idx="1">
                  <c:v>-0.012607291667</c:v>
                </c:pt>
                <c:pt idx="2">
                  <c:v>-0.020105208333</c:v>
                </c:pt>
                <c:pt idx="3">
                  <c:v>-0.008071875</c:v>
                </c:pt>
                <c:pt idx="4">
                  <c:v>-0.01369375</c:v>
                </c:pt>
                <c:pt idx="5">
                  <c:v>-0.011503125</c:v>
                </c:pt>
                <c:pt idx="6">
                  <c:v>-0.0249375</c:v>
                </c:pt>
                <c:pt idx="7">
                  <c:v>-0.0168875</c:v>
                </c:pt>
                <c:pt idx="8">
                  <c:v>-0.03705625</c:v>
                </c:pt>
                <c:pt idx="9">
                  <c:v>-0.02988125</c:v>
                </c:pt>
                <c:pt idx="10">
                  <c:v>-0.04614375</c:v>
                </c:pt>
                <c:pt idx="11">
                  <c:v>-0.040921875</c:v>
                </c:pt>
                <c:pt idx="12">
                  <c:v>-0.0544625</c:v>
                </c:pt>
                <c:pt idx="13">
                  <c:v>-0.044565625</c:v>
                </c:pt>
                <c:pt idx="14">
                  <c:v>-0.048340625</c:v>
                </c:pt>
                <c:pt idx="15">
                  <c:v>-0.036490625</c:v>
                </c:pt>
                <c:pt idx="16">
                  <c:v>-0.03278625</c:v>
                </c:pt>
                <c:pt idx="17">
                  <c:v>-0.01931625</c:v>
                </c:pt>
                <c:pt idx="18">
                  <c:v>-0.02147125</c:v>
                </c:pt>
                <c:pt idx="19">
                  <c:v>-0.009954375</c:v>
                </c:pt>
                <c:pt idx="20">
                  <c:v>-0.004296875</c:v>
                </c:pt>
                <c:pt idx="21">
                  <c:v>0.009173125</c:v>
                </c:pt>
                <c:pt idx="22">
                  <c:v>-0.000794375</c:v>
                </c:pt>
                <c:pt idx="23">
                  <c:v>0.012675625</c:v>
                </c:pt>
                <c:pt idx="24">
                  <c:v>0.02028625</c:v>
                </c:pt>
                <c:pt idx="25">
                  <c:v>0.031803125</c:v>
                </c:pt>
                <c:pt idx="26">
                  <c:v>0.034630625</c:v>
                </c:pt>
                <c:pt idx="27">
                  <c:v>0.045270625</c:v>
                </c:pt>
                <c:pt idx="28">
                  <c:v>0.044191875</c:v>
                </c:pt>
                <c:pt idx="29">
                  <c:v>0.054831875</c:v>
                </c:pt>
                <c:pt idx="30">
                  <c:v>0.0439875</c:v>
                </c:pt>
                <c:pt idx="31">
                  <c:v>0.05072125</c:v>
                </c:pt>
                <c:pt idx="32">
                  <c:v>0.051595625</c:v>
                </c:pt>
                <c:pt idx="33">
                  <c:v>0.0602825</c:v>
                </c:pt>
                <c:pt idx="34">
                  <c:v>0.053344375</c:v>
                </c:pt>
                <c:pt idx="35">
                  <c:v>0.06203125</c:v>
                </c:pt>
                <c:pt idx="36">
                  <c:v>0.05545625</c:v>
                </c:pt>
                <c:pt idx="37">
                  <c:v>0.06450625</c:v>
                </c:pt>
                <c:pt idx="38">
                  <c:v>0.05793125</c:v>
                </c:pt>
                <c:pt idx="39">
                  <c:v>0.06698125</c:v>
                </c:pt>
                <c:pt idx="40">
                  <c:v>0.070171875</c:v>
                </c:pt>
                <c:pt idx="41">
                  <c:v>0.079221875</c:v>
                </c:pt>
                <c:pt idx="42">
                  <c:v>0.084365625</c:v>
                </c:pt>
                <c:pt idx="43">
                  <c:v>0.089509375</c:v>
                </c:pt>
                <c:pt idx="44">
                  <c:v>0.090746875</c:v>
                </c:pt>
                <c:pt idx="45">
                  <c:v>0.09784375</c:v>
                </c:pt>
                <c:pt idx="46">
                  <c:v>0.088115625</c:v>
                </c:pt>
                <c:pt idx="47">
                  <c:v>0.092059375</c:v>
                </c:pt>
                <c:pt idx="48">
                  <c:v>0.0862375</c:v>
                </c:pt>
                <c:pt idx="49">
                  <c:v>0.0940875</c:v>
                </c:pt>
                <c:pt idx="50">
                  <c:v>0.096078125</c:v>
                </c:pt>
                <c:pt idx="51">
                  <c:v>0.101975</c:v>
                </c:pt>
                <c:pt idx="52">
                  <c:v>0.1020125</c:v>
                </c:pt>
                <c:pt idx="53">
                  <c:v>0.1098625</c:v>
                </c:pt>
                <c:pt idx="54">
                  <c:v>0.104040625</c:v>
                </c:pt>
                <c:pt idx="55">
                  <c:v>0.111890625</c:v>
                </c:pt>
              </c:numCache>
            </c:numRef>
          </c:val>
        </c:ser>
        <c:ser>
          <c:idx val="1"/>
          <c:order val="1"/>
          <c:tx>
            <c:v>Manual 600 error</c:v>
          </c:tx>
          <c:spPr>
            <a:ln xmlns:a="http://schemas.openxmlformats.org/drawingml/2006/main" w="28575">
              <a:solidFill>
                <a:srgbClr val="0E9384"/>
              </a:solidFill>
            </a:ln>
          </c:spPr>
          <c:marker>
            <c:symbol val="none"/>
          </c:marker>
          <c:cat>
            <c:numRef>
              <c:f>'Chart Data'!$C$2:$C$57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Data'!$D$2:$D$57</c:f>
              <c:numCache>
                <c:formatCode>0%</c:formatCode>
                <c:ptCount val="56"/>
                <c:pt idx="0">
                  <c:v>-0.02138125</c:v>
                </c:pt>
                <c:pt idx="1">
                  <c:v>-0.02058125</c:v>
                </c:pt>
                <c:pt idx="2">
                  <c:v>-0.03540625</c:v>
                </c:pt>
                <c:pt idx="3">
                  <c:v>-0.03460625</c:v>
                </c:pt>
                <c:pt idx="4">
                  <c:v>-0.03184375</c:v>
                </c:pt>
                <c:pt idx="5">
                  <c:v>-0.02126875</c:v>
                </c:pt>
                <c:pt idx="6">
                  <c:v>-0.01850625</c:v>
                </c:pt>
                <c:pt idx="7">
                  <c:v>-0.00793125</c:v>
                </c:pt>
                <c:pt idx="8">
                  <c:v>-0.01665</c:v>
                </c:pt>
                <c:pt idx="9">
                  <c:v>-0.01365</c:v>
                </c:pt>
                <c:pt idx="10">
                  <c:v>-0.020415625</c:v>
                </c:pt>
                <c:pt idx="11">
                  <c:v>-0.017415625</c:v>
                </c:pt>
                <c:pt idx="12">
                  <c:v>-0.01695</c:v>
                </c:pt>
                <c:pt idx="13">
                  <c:v>-0.010625</c:v>
                </c:pt>
                <c:pt idx="14">
                  <c:v>-0.00820625</c:v>
                </c:pt>
                <c:pt idx="15">
                  <c:v>-0.003834375</c:v>
                </c:pt>
                <c:pt idx="16">
                  <c:v>-0.004306875</c:v>
                </c:pt>
                <c:pt idx="17">
                  <c:v>0.003033125</c:v>
                </c:pt>
                <c:pt idx="18">
                  <c:v>0.00451375</c:v>
                </c:pt>
                <c:pt idx="19">
                  <c:v>0.01185375</c:v>
                </c:pt>
                <c:pt idx="20">
                  <c:v>0.005521875</c:v>
                </c:pt>
                <c:pt idx="21">
                  <c:v>0.012861875</c:v>
                </c:pt>
                <c:pt idx="22">
                  <c:v>0.004576875</c:v>
                </c:pt>
                <c:pt idx="23">
                  <c:v>0.011916875</c:v>
                </c:pt>
                <c:pt idx="24">
                  <c:v>0.015350625</c:v>
                </c:pt>
                <c:pt idx="25">
                  <c:v>0.022690625</c:v>
                </c:pt>
                <c:pt idx="26">
                  <c:v>0.019901875</c:v>
                </c:pt>
                <c:pt idx="27">
                  <c:v>0.02687875</c:v>
                </c:pt>
                <c:pt idx="28">
                  <c:v>0.026043125</c:v>
                </c:pt>
                <c:pt idx="29">
                  <c:v>0.034973125</c:v>
                </c:pt>
                <c:pt idx="30">
                  <c:v>0.036090625</c:v>
                </c:pt>
                <c:pt idx="31">
                  <c:v>0.045020625</c:v>
                </c:pt>
                <c:pt idx="32">
                  <c:v>0.04809125</c:v>
                </c:pt>
                <c:pt idx="33">
                  <c:v>0.05702125</c:v>
                </c:pt>
                <c:pt idx="34">
                  <c:v>0.060091875</c:v>
                </c:pt>
                <c:pt idx="35">
                  <c:v>0.069021875</c:v>
                </c:pt>
                <c:pt idx="36">
                  <c:v>0.064913125</c:v>
                </c:pt>
                <c:pt idx="37">
                  <c:v>0.072523125</c:v>
                </c:pt>
                <c:pt idx="38">
                  <c:v>0.0703675</c:v>
                </c:pt>
                <c:pt idx="39">
                  <c:v>0.0779775</c:v>
                </c:pt>
                <c:pt idx="40">
                  <c:v>0.07386875</c:v>
                </c:pt>
                <c:pt idx="41">
                  <c:v>0.079525625</c:v>
                </c:pt>
                <c:pt idx="42">
                  <c:v>0.071510625</c:v>
                </c:pt>
                <c:pt idx="43">
                  <c:v>0.079120625</c:v>
                </c:pt>
                <c:pt idx="44">
                  <c:v>0.08087125</c:v>
                </c:pt>
                <c:pt idx="45">
                  <c:v>0.08848125</c:v>
                </c:pt>
                <c:pt idx="46">
                  <c:v>0.092295</c:v>
                </c:pt>
                <c:pt idx="47">
                  <c:v>0.098061875</c:v>
                </c:pt>
                <c:pt idx="48">
                  <c:v>0.10382875</c:v>
                </c:pt>
                <c:pt idx="49">
                  <c:v>0.11154875</c:v>
                </c:pt>
                <c:pt idx="50">
                  <c:v>0.109503125</c:v>
                </c:pt>
                <c:pt idx="51">
                  <c:v>0.117223125</c:v>
                </c:pt>
                <c:pt idx="52">
                  <c:v>0.107365</c:v>
                </c:pt>
                <c:pt idx="53">
                  <c:v>0.113131875</c:v>
                </c:pt>
                <c:pt idx="54">
                  <c:v>0.10327375</c:v>
                </c:pt>
                <c:pt idx="55">
                  <c:v>0.11099375</c:v>
                </c:pt>
              </c:numCache>
            </c:numRef>
          </c:val>
        </c:ser>
        <c:ser>
          <c:idx val="2"/>
          <c:order val="2"/>
          <c:tx>
            <c:v>Zero</c:v>
          </c:tx>
          <c:spPr>
            <a:ln xmlns:a="http://schemas.openxmlformats.org/drawingml/2006/main" w="9525">
              <a:solidFill>
                <a:srgbClr val="D0D5DD"/>
              </a:solidFill>
            </a:ln>
          </c:spPr>
          <c:marker>
            <c:symbol val="none"/>
          </c:marker>
          <c:cat>
            <c:numRef>
              <c:f>'Chart Data'!$E$2:$E$57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Data'!$F$2:$F$57</c:f>
              <c:numCache>
                <c:formatCode>0%</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15"/>
          <c:min val="-0.2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MC − Paper</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45ADF07-2B66-41AA-BEDB-F0A0B695E4F8}"/>
              </a:ext>
            </a:extLst>
          </p:cNvPr>
          <p:cNvSpPr>
            <a:spLocks xmlns:a="http://schemas.openxmlformats.org/drawingml/2006/main" noGrp="1"/>
          </p:cNvSpPr>
          <p:nvPr/>
        </p:nvSpPr>
        <p:spPr>
          <a:xfrm xmlns:a="http://schemas.openxmlformats.org/drawingml/2006/main">
            <a:off x="0" y="5810250"/>
            <a:ext cx="12192000" cy="1047750"/>
          </a:xfrm>
          <a:prstGeom xmlns:a="http://schemas.openxmlformats.org/drawingml/2006/main" prst="rect">
            <a:avLst/>
          </a:prstGeom>
          <a:solidFill xmlns:a="http://schemas.openxmlformats.org/drawingml/2006/main">
            <a:srgbClr val="0B1F33"/>
          </a:solidFill>
          <a:ln xmlns:a="http://schemas.openxmlformats.org/drawingml/2006/main" w="0">
            <a:solidFill>
              <a:srgbClr val="0B1F33"/>
            </a:solidFill>
          </a:ln>
        </p:spPr>
      </p:sp>
      <p:sp>
        <p:nvSpPr>
          <p:cNvPr id="2" name="">
            <a:extLst xmlns:a="http://schemas.openxmlformats.org/drawingml/2006/main">
              <a:ext uri="{FF2B5EF4-FFF2-40B4-BE49-F238E27FC236}">
                <a16:creationId xmlns:a16="http://schemas.microsoft.com/office/drawing/2014/main" id="{F95B7F6E-EC06-4493-99D0-669E7A89927A}"/>
              </a:ext>
            </a:extLst>
          </p:cNvPr>
          <p:cNvSpPr>
            <a:spLocks xmlns:a="http://schemas.openxmlformats.org/drawingml/2006/main" noGrp="1"/>
          </p:cNvSpPr>
          <p:nvPr/>
        </p:nvSpPr>
        <p:spPr>
          <a:xfrm xmlns:a="http://schemas.openxmlformats.org/drawingml/2006/main">
            <a:off x="685800" y="933450"/>
            <a:ext cx="838200" cy="57150"/>
          </a:xfrm>
          <a:prstGeom xmlns:a="http://schemas.openxmlformats.org/drawingml/2006/main" prst="rect">
            <a:avLst/>
          </a:prstGeom>
          <a:solidFill xmlns:a="http://schemas.openxmlformats.org/drawingml/2006/main">
            <a:srgbClr val="0BA5EC"/>
          </a:solidFill>
          <a:ln xmlns:a="http://schemas.openxmlformats.org/drawingml/2006/main" w="0">
            <a:solidFill>
              <a:srgbClr val="0BA5EC"/>
            </a:solidFill>
          </a:ln>
        </p:spPr>
      </p:sp>
      <p:sp>
        <p:nvSpPr>
          <p:cNvPr id="3" name="">
            <a:extLst xmlns:a="http://schemas.openxmlformats.org/drawingml/2006/main">
              <a:ext uri="{FF2B5EF4-FFF2-40B4-BE49-F238E27FC236}">
                <a16:creationId xmlns:a16="http://schemas.microsoft.com/office/drawing/2014/main" id="{A5D33528-B6D9-4204-9D1C-CE352317C992}"/>
              </a:ext>
            </a:extLst>
          </p:cNvPr>
          <p:cNvSpPr>
            <a:spLocks xmlns:a="http://schemas.openxmlformats.org/drawingml/2006/main" noGrp="1"/>
          </p:cNvSpPr>
          <p:nvPr/>
        </p:nvSpPr>
        <p:spPr>
          <a:xfrm xmlns:a="http://schemas.openxmlformats.org/drawingml/2006/main">
            <a:off x="685800" y="1257300"/>
            <a:ext cx="933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75" b="1">
                <a:solidFill>
                  <a:srgbClr val="FFFFFF"/>
                </a:solidFill>
                <a:latin typeface="Microsoft YaHei"/>
                <a:ea typeface="Microsoft YaHei"/>
                <a:cs typeface="Microsoft YaHei"/>
              </a:defRPr>
            </a:pPr>
            <a:r>
              <a:rPr sz="3675" b="1">
                <a:solidFill>
                  <a:srgbClr val="FFFFFF"/>
                </a:solidFill>
                <a:latin typeface="Microsoft YaHei"/>
                <a:ea typeface="Microsoft YaHei"/>
                <a:cs typeface="Microsoft YaHei"/>
              </a:rPr>
              <a:t>Monte Carlo Simulation for</a:t>
            </a:r>
          </a:p>
          <a:p xmlns:a="http://schemas.openxmlformats.org/drawingml/2006/main">
            <a:pPr algn="l">
              <a:defRPr sz="3675" b="1">
                <a:solidFill>
                  <a:srgbClr val="FFFFFF"/>
                </a:solidFill>
                <a:latin typeface="Microsoft YaHei"/>
                <a:ea typeface="Microsoft YaHei"/>
                <a:cs typeface="Microsoft YaHei"/>
              </a:defRPr>
            </a:pPr>
            <a:r>
              <a:rPr sz="3675" b="1">
                <a:solidFill>
                  <a:srgbClr val="FFFFFF"/>
                </a:solidFill>
                <a:latin typeface="Microsoft YaHei"/>
                <a:ea typeface="Microsoft YaHei"/>
                <a:cs typeface="Microsoft YaHei"/>
              </a:rPr>
              <a:t>AOD–SLM Atom Transfer</a:t>
            </a:r>
          </a:p>
        </p:txBody>
      </p:sp>
      <p:sp>
        <p:nvSpPr>
          <p:cNvPr id="4" name="">
            <a:extLst xmlns:a="http://schemas.openxmlformats.org/drawingml/2006/main">
              <a:ext uri="{FF2B5EF4-FFF2-40B4-BE49-F238E27FC236}">
                <a16:creationId xmlns:a16="http://schemas.microsoft.com/office/drawing/2014/main" id="{123D8893-D6A2-4FA3-828C-D0787B27DE16}"/>
              </a:ext>
            </a:extLst>
          </p:cNvPr>
          <p:cNvSpPr>
            <a:spLocks xmlns:a="http://schemas.openxmlformats.org/drawingml/2006/main" noGrp="1"/>
          </p:cNvSpPr>
          <p:nvPr/>
        </p:nvSpPr>
        <p:spPr>
          <a:xfrm xmlns:a="http://schemas.openxmlformats.org/drawingml/2006/main">
            <a:off x="723900" y="3143250"/>
            <a:ext cx="895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B9D7F5"/>
                </a:solidFill>
                <a:latin typeface="Microsoft YaHei"/>
                <a:ea typeface="Microsoft YaHei"/>
                <a:cs typeface="Microsoft YaHei"/>
              </a:defRPr>
            </a:pPr>
            <a:r>
              <a:rPr sz="1875" b="0">
                <a:solidFill>
                  <a:srgbClr val="B9D7F5"/>
                </a:solidFill>
                <a:latin typeface="Microsoft YaHei"/>
                <a:ea typeface="Microsoft YaHei"/>
                <a:cs typeface="Microsoft YaHei"/>
              </a:rPr>
              <a:t>Step-by-step Calculation and Evidence Report</a:t>
            </a:r>
          </a:p>
        </p:txBody>
      </p:sp>
      <p:sp>
        <p:nvSpPr>
          <p:cNvPr id="5" name="">
            <a:extLst xmlns:a="http://schemas.openxmlformats.org/drawingml/2006/main">
              <a:ext uri="{FF2B5EF4-FFF2-40B4-BE49-F238E27FC236}">
                <a16:creationId xmlns:a16="http://schemas.microsoft.com/office/drawing/2014/main" id="{DF47B0BE-B30F-481A-A1F3-29BD5008BA77}"/>
              </a:ext>
            </a:extLst>
          </p:cNvPr>
          <p:cNvSpPr>
            <a:spLocks xmlns:a="http://schemas.openxmlformats.org/drawingml/2006/main" noGrp="1"/>
          </p:cNvSpPr>
          <p:nvPr/>
        </p:nvSpPr>
        <p:spPr>
          <a:xfrm xmlns:a="http://schemas.openxmlformats.org/drawingml/2006/main">
            <a:off x="723900" y="3771900"/>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D0DFF0"/>
                </a:solidFill>
                <a:latin typeface="Microsoft YaHei"/>
                <a:ea typeface="Microsoft YaHei"/>
                <a:cs typeface="Microsoft YaHei"/>
              </a:defRPr>
            </a:pPr>
            <a:r>
              <a:rPr sz="1500" b="0">
                <a:solidFill>
                  <a:srgbClr val="D0DFF0"/>
                </a:solidFill>
                <a:latin typeface="Microsoft YaHei"/>
                <a:ea typeface="Microsoft YaHei"/>
                <a:cs typeface="Microsoft YaHei"/>
              </a:rPr>
              <a:t>从论文数据、物理输入到存活曲线、敏感性扫描和验收</a:t>
            </a:r>
          </a:p>
        </p:txBody>
      </p:sp>
      <p:sp>
        <p:nvSpPr>
          <p:cNvPr id="6" name="">
            <a:extLst xmlns:a="http://schemas.openxmlformats.org/drawingml/2006/main">
              <a:ext uri="{FF2B5EF4-FFF2-40B4-BE49-F238E27FC236}">
                <a16:creationId xmlns:a16="http://schemas.microsoft.com/office/drawing/2014/main" id="{CA7109DA-8F6F-4C03-86BC-DC1A2A4D111C}"/>
              </a:ext>
            </a:extLst>
          </p:cNvPr>
          <p:cNvSpPr>
            <a:spLocks xmlns:a="http://schemas.openxmlformats.org/drawingml/2006/main" noGrp="1"/>
          </p:cNvSpPr>
          <p:nvPr/>
        </p:nvSpPr>
        <p:spPr>
          <a:xfrm xmlns:a="http://schemas.openxmlformats.org/drawingml/2006/main">
            <a:off x="723900" y="59436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98AFC7"/>
                </a:solidFill>
                <a:latin typeface="Microsoft YaHei"/>
                <a:ea typeface="Microsoft YaHei"/>
                <a:cs typeface="Microsoft YaHei"/>
              </a:defRPr>
            </a:pPr>
            <a:r>
              <a:rPr sz="1200" b="0">
                <a:solidFill>
                  <a:srgbClr val="98AFC7"/>
                </a:solidFill>
                <a:latin typeface="Microsoft YaHei"/>
                <a:ea typeface="Microsoft YaHei"/>
                <a:cs typeface="Microsoft YaHei"/>
              </a:rPr>
              <a:t>MonteCarloForQC / monte-carlo-for-aodslm</a:t>
            </a:r>
          </a:p>
        </p:txBody>
      </p:sp>
      <p:sp>
        <p:nvSpPr>
          <p:cNvPr id="7" name="">
            <a:extLst xmlns:a="http://schemas.openxmlformats.org/drawingml/2006/main">
              <a:ext uri="{FF2B5EF4-FFF2-40B4-BE49-F238E27FC236}">
                <a16:creationId xmlns:a16="http://schemas.microsoft.com/office/drawing/2014/main" id="{8F78920C-AB17-476F-981F-B68CFD70E660}"/>
              </a:ext>
            </a:extLst>
          </p:cNvPr>
          <p:cNvSpPr>
            <a:spLocks xmlns:a="http://schemas.openxmlformats.org/drawingml/2006/main" noGrp="1"/>
          </p:cNvSpPr>
          <p:nvPr/>
        </p:nvSpPr>
        <p:spPr>
          <a:xfrm xmlns:a="http://schemas.openxmlformats.org/drawingml/2006/main">
            <a:off x="723900" y="62293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98AFC7"/>
                </a:solidFill>
                <a:latin typeface="Microsoft YaHei"/>
                <a:ea typeface="Microsoft YaHei"/>
                <a:cs typeface="Microsoft YaHei"/>
              </a:defRPr>
            </a:pPr>
            <a:r>
              <a:rPr sz="1050" b="0">
                <a:solidFill>
                  <a:srgbClr val="98AFC7"/>
                </a:solidFill>
                <a:latin typeface="Microsoft YaHei"/>
                <a:ea typeface="Microsoft YaHei"/>
                <a:cs typeface="Microsoft YaHei"/>
              </a:rPr>
              <a:t>2026-09-11  ·  gpt_level4_5  ·  commit 5e55bb0</a:t>
            </a:r>
          </a:p>
        </p:txBody>
      </p:sp>
      <p:sp>
        <p:nvSpPr>
          <p:cNvPr id="8" name="">
            <a:extLst xmlns:a="http://schemas.openxmlformats.org/drawingml/2006/main">
              <a:ext uri="{FF2B5EF4-FFF2-40B4-BE49-F238E27FC236}">
                <a16:creationId xmlns:a16="http://schemas.microsoft.com/office/drawing/2014/main" id="{1E870A65-5889-4893-9781-162B92CE0B71}"/>
              </a:ext>
            </a:extLst>
          </p:cNvPr>
          <p:cNvSpPr>
            <a:spLocks xmlns:a="http://schemas.openxmlformats.org/drawingml/2006/main" noGrp="1"/>
          </p:cNvSpPr>
          <p:nvPr/>
        </p:nvSpPr>
        <p:spPr>
          <a:xfrm xmlns:a="http://schemas.openxmlformats.org/drawingml/2006/main">
            <a:off x="9525000" y="5924550"/>
            <a:ext cx="1962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800" b="1">
                <a:solidFill>
                  <a:srgbClr val="0BA5EC"/>
                </a:solidFill>
                <a:latin typeface="Microsoft YaHei"/>
                <a:ea typeface="Microsoft YaHei"/>
                <a:cs typeface="Microsoft YaHei"/>
              </a:defRPr>
            </a:pPr>
            <a:r>
              <a:rPr sz="1800" b="1">
                <a:solidFill>
                  <a:srgbClr val="0BA5EC"/>
                </a:solidFill>
                <a:latin typeface="Microsoft YaHei"/>
                <a:ea typeface="Microsoft YaHei"/>
                <a:cs typeface="Microsoft YaHei"/>
              </a:rPr>
              <a:t>Fig. 6c / 6d</a:t>
            </a:r>
          </a:p>
        </p:txBody>
      </p:sp>
    </p:spTree>
    <p:extLst>
      <p:ext uri="{BB962C8B-B14F-4D97-AF65-F5344CB8AC3E}">
        <p14:creationId xmlns:p14="http://schemas.microsoft.com/office/powerpoint/2010/main" val="1822286771"/>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0131BDA-18EE-4814-8FB3-FE6A2E9C3368}"/>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本次工作的计算顺序</a:t>
            </a:r>
          </a:p>
        </p:txBody>
      </p:sp>
      <p:sp>
        <p:nvSpPr>
          <p:cNvPr id="2" name="">
            <a:extLst xmlns:a="http://schemas.openxmlformats.org/drawingml/2006/main">
              <a:ext uri="{FF2B5EF4-FFF2-40B4-BE49-F238E27FC236}">
                <a16:creationId xmlns:a16="http://schemas.microsoft.com/office/drawing/2014/main" id="{62CDF858-58B5-4579-80B4-C607503A6ADE}"/>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0E07D2FF-6D64-4816-91D8-3E59D86A1BC6}"/>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每一步都回答五个问题：算什么、输入什么、怎样计算、输出什么、结论能走多远</a:t>
            </a:r>
          </a:p>
        </p:txBody>
      </p:sp>
      <p:graphicFrame>
        <p:nvGraphicFramePr>
          <p:cNvPr id="14" name=""/>
          <p:cNvGraphicFramePr/>
          <p:nvPr/>
        </p:nvGraphicFramePr>
        <p:xfrm>
          <a:off xmlns:a="http://schemas.openxmlformats.org/drawingml/2006/main" x="609600" y="1295400"/>
          <a:ext xmlns:a="http://schemas.openxmlformats.org/drawingml/2006/main" cx="5238750" cy="4267200"/>
        </p:xfrm>
        <a:graphic xmlns:a="http://schemas.openxmlformats.org/drawingml/2006/main">
          <a:graphicData uri="http://schemas.openxmlformats.org/drawingml/2006/table">
            <a:tbl>
              <a:tblPr/>
              <a:tblGrid>
                <a:gridCol w="801221"/>
                <a:gridCol w="2896721"/>
                <a:gridCol w="1540809"/>
              </a:tblGrid>
              <a:tr h="533400">
                <a:tc>
                  <a:txBody>
                    <a:bodyPr>
                      <a:noAutofit/>
                    </a:bodyPr>
                    <a:lstStyle/>
                    <a:p>
                      <a:pPr algn="l"/>
                      <a:r>
                        <a:rPr sz="1125" b="1">
                          <a:solidFill>
                            <a:srgbClr val="FFFFFF"/>
                          </a:solidFill>
                          <a:latin typeface="Microsoft YaHei"/>
                          <a:ea typeface="Microsoft YaHei"/>
                          <a:cs typeface="Microsoft YaHei"/>
                        </a:rPr>
                        <a:t>Step</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计算内容</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主要输出</a:t>
                      </a:r>
                    </a:p>
                  </a:txBody>
                  <a:tcPr marL="91440" marR="91440" marT="45720" marB="45720" anchor="ctr">
                    <a:solidFill>
                      <a:srgbClr val="102A43"/>
                    </a:solidFill>
                  </a:tcPr>
                </a:tc>
              </a:tr>
              <a:tr h="533400">
                <a:tc>
                  <a:txBody>
                    <a:bodyPr>
                      <a:noAutofit/>
                    </a:bodyPr>
                    <a:lstStyle/>
                    <a:p>
                      <a:pPr algn="l"/>
                      <a:r>
                        <a:rPr sz="1200" b="0">
                          <a:solidFill>
                            <a:srgbClr val="344054"/>
                          </a:solidFill>
                          <a:latin typeface="Microsoft YaHei"/>
                          <a:ea typeface="Microsoft YaHei"/>
                          <a:cs typeface="Microsoft YaHei"/>
                        </a:rPr>
                        <a:t>01</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固定论文曲线和验收口径</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Paper S(n)</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02</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建立 Cs 与双高斯阱模型</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U(x,t), F(x,t)</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03</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生成初态、位点散布和加热</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每个 shot 的参数</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04</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构造手工 pick-up / drop-off</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c(t), D(t)</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05</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逐时间步传播单个原子</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x(t), v(t), E(t)</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06</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连续重复 60 次单程转移</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S(n), loss stage</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07</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运行仓库 baseline</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默认参考曲线</a:t>
                      </a:r>
                    </a:p>
                  </a:txBody>
                  <a:tcPr marL="91440" marR="91440" marT="45720" marB="45720" anchor="ctr">
                    <a:solidFill>
                      <a:srgbClr val="FFFFFF"/>
                    </a:solidFill>
                  </a:tcPr>
                </a:tc>
              </a:tr>
            </a:tbl>
          </a:graphicData>
        </a:graphic>
      </p:graphicFrame>
      <p:graphicFrame>
        <p:nvGraphicFramePr>
          <p:cNvPr id="15" name=""/>
          <p:cNvGraphicFramePr/>
          <p:nvPr/>
        </p:nvGraphicFramePr>
        <p:xfrm>
          <a:off xmlns:a="http://schemas.openxmlformats.org/drawingml/2006/main" x="6343650" y="1295400"/>
          <a:ext xmlns:a="http://schemas.openxmlformats.org/drawingml/2006/main" cx="5238750" cy="4267200"/>
        </p:xfrm>
        <a:graphic xmlns:a="http://schemas.openxmlformats.org/drawingml/2006/main">
          <a:graphicData uri="http://schemas.openxmlformats.org/drawingml/2006/table">
            <a:tbl>
              <a:tblPr/>
              <a:tblGrid>
                <a:gridCol w="801221"/>
                <a:gridCol w="2896721"/>
                <a:gridCol w="1540809"/>
              </a:tblGrid>
              <a:tr h="533400">
                <a:tc>
                  <a:txBody>
                    <a:bodyPr>
                      <a:noAutofit/>
                    </a:bodyPr>
                    <a:lstStyle/>
                    <a:p>
                      <a:pPr algn="l"/>
                      <a:r>
                        <a:rPr sz="1125" b="1">
                          <a:solidFill>
                            <a:srgbClr val="FFFFFF"/>
                          </a:solidFill>
                          <a:latin typeface="Microsoft YaHei"/>
                          <a:ea typeface="Microsoft YaHei"/>
                          <a:cs typeface="Microsoft YaHei"/>
                        </a:rPr>
                        <a:t>Step</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计算内容</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主要输出</a:t>
                      </a:r>
                    </a:p>
                  </a:txBody>
                  <a:tcPr marL="91440" marR="91440" marT="45720" marB="45720" anchor="ctr">
                    <a:solidFill>
                      <a:srgbClr val="102A43"/>
                    </a:solidFill>
                  </a:tcPr>
                </a:tc>
              </a:tr>
              <a:tr h="533400">
                <a:tc>
                  <a:txBody>
                    <a:bodyPr>
                      <a:noAutofit/>
                    </a:bodyPr>
                    <a:lstStyle/>
                    <a:p>
                      <a:pPr algn="l"/>
                      <a:r>
                        <a:rPr sz="1200" b="0">
                          <a:solidFill>
                            <a:srgbClr val="344054"/>
                          </a:solidFill>
                          <a:latin typeface="Microsoft YaHei"/>
                          <a:ea typeface="Microsoft YaHei"/>
                          <a:cs typeface="Microsoft YaHei"/>
                        </a:rPr>
                        <a:t>08</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设计单因素敏感性扫描</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T / RIN / alignment / jitter</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09</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读取扫描端点并比较机制</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S(60) sensitivity</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10</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检查 T40 的完整时长曲线</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200 / 400 / 600 µs</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11</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数字化 Fig. 6c ML 波形</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15-node trajectory</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12</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比较 Manual 与 ML</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endpoint gain</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13</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分离位置和深度贡献</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2×2 ablation</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14–15</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逐点验收并界定模型边界</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curve error / gaps</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CCB94FF-56AF-40D3-A3D4-30683DA7D47E}"/>
              </a:ext>
            </a:extLst>
          </p:cNvPr>
          <p:cNvSpPr>
            <a:spLocks xmlns:a="http://schemas.openxmlformats.org/drawingml/2006/main" noGrp="1"/>
          </p:cNvSpPr>
          <p:nvPr/>
        </p:nvSpPr>
        <p:spPr>
          <a:xfrm xmlns:a="http://schemas.openxmlformats.org/drawingml/2006/main">
            <a:off x="609600" y="5772150"/>
            <a:ext cx="10972800" cy="476250"/>
          </a:xfrm>
          <a:prstGeom xmlns:a="http://schemas.openxmlformats.org/drawingml/2006/main" prst="roundRect">
            <a:avLst>
              <a:gd name="adj" fmla="val 16000"/>
            </a:avLst>
          </a:prstGeom>
          <a:solidFill xmlns:a="http://schemas.openxmlformats.org/drawingml/2006/main">
            <a:srgbClr val="EFF8FF"/>
          </a:solidFill>
          <a:ln xmlns:a="http://schemas.openxmlformats.org/drawingml/2006/main" w="9525">
            <a:solidFill>
              <a:srgbClr val="B2DDFF"/>
            </a:solidFill>
          </a:ln>
        </p:spPr>
      </p:sp>
      <p:sp>
        <p:nvSpPr>
          <p:cNvPr id="7" name="">
            <a:extLst xmlns:a="http://schemas.openxmlformats.org/drawingml/2006/main">
              <a:ext uri="{FF2B5EF4-FFF2-40B4-BE49-F238E27FC236}">
                <a16:creationId xmlns:a16="http://schemas.microsoft.com/office/drawing/2014/main" id="{A6D5314D-4C52-42D4-A61B-1FB15B2B704B}"/>
              </a:ext>
            </a:extLst>
          </p:cNvPr>
          <p:cNvSpPr>
            <a:spLocks xmlns:a="http://schemas.openxmlformats.org/drawingml/2006/main" noGrp="1"/>
          </p:cNvSpPr>
          <p:nvPr/>
        </p:nvSpPr>
        <p:spPr>
          <a:xfrm xmlns:a="http://schemas.openxmlformats.org/drawingml/2006/main">
            <a:off x="838200" y="5876925"/>
            <a:ext cx="10515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1570EF"/>
                </a:solidFill>
                <a:latin typeface="Microsoft YaHei"/>
                <a:ea typeface="Microsoft YaHei"/>
                <a:cs typeface="Microsoft YaHei"/>
              </a:defRPr>
            </a:pPr>
            <a:r>
              <a:rPr sz="1163" b="0">
                <a:solidFill>
                  <a:srgbClr val="1570EF"/>
                </a:solidFill>
                <a:latin typeface="Microsoft YaHei"/>
                <a:ea typeface="Microsoft YaHei"/>
                <a:cs typeface="Microsoft YaHei"/>
              </a:rPr>
              <a:t>工作边界：仓库已经包含 Monte Carlo 原始输出。本报告复核这些输出，并重新计算单调论文参考线、逐点偏差和验收指标，没有为匹配论文重新拟合参数。</a:t>
            </a:r>
          </a:p>
        </p:txBody>
      </p:sp>
      <p:sp>
        <p:nvSpPr>
          <p:cNvPr id="8" name="">
            <a:extLst xmlns:a="http://schemas.openxmlformats.org/drawingml/2006/main">
              <a:ext uri="{FF2B5EF4-FFF2-40B4-BE49-F238E27FC236}">
                <a16:creationId xmlns:a16="http://schemas.microsoft.com/office/drawing/2014/main" id="{0A5BA706-C694-4FA9-BCD9-7160F50B0410}"/>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9" name="">
            <a:extLst xmlns:a="http://schemas.openxmlformats.org/drawingml/2006/main">
              <a:ext uri="{FF2B5EF4-FFF2-40B4-BE49-F238E27FC236}">
                <a16:creationId xmlns:a16="http://schemas.microsoft.com/office/drawing/2014/main" id="{4DF6FC1D-16C7-4B71-A402-B8C4074CB80A}"/>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Level 2C README · configs · Stage-1 outputs · report recomputation</a:t>
            </a:r>
          </a:p>
        </p:txBody>
      </p:sp>
      <p:sp>
        <p:nvSpPr>
          <p:cNvPr id="10" name="">
            <a:extLst xmlns:a="http://schemas.openxmlformats.org/drawingml/2006/main">
              <a:ext uri="{FF2B5EF4-FFF2-40B4-BE49-F238E27FC236}">
                <a16:creationId xmlns:a16="http://schemas.microsoft.com/office/drawing/2014/main" id="{460F2BCD-88E2-4F34-BE13-11788542BA54}"/>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02</a:t>
            </a:r>
          </a:p>
        </p:txBody>
      </p:sp>
    </p:spTree>
    <p:extLst>
      <p:ext uri="{BB962C8B-B14F-4D97-AF65-F5344CB8AC3E}">
        <p14:creationId xmlns:p14="http://schemas.microsoft.com/office/powerpoint/2010/main" val="1173155649"/>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EA9F5DA-9B5B-49D4-9471-422A2ACD9134}"/>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01</a:t>
            </a:r>
          </a:p>
        </p:txBody>
      </p:sp>
      <p:sp>
        <p:nvSpPr>
          <p:cNvPr id="2" name="">
            <a:extLst xmlns:a="http://schemas.openxmlformats.org/drawingml/2006/main">
              <a:ext uri="{FF2B5EF4-FFF2-40B4-BE49-F238E27FC236}">
                <a16:creationId xmlns:a16="http://schemas.microsoft.com/office/drawing/2014/main" id="{0DFB131A-E250-49C4-833D-722198F06BB1}"/>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论文数据与验收目标</a:t>
            </a:r>
          </a:p>
        </p:txBody>
      </p:sp>
      <p:sp>
        <p:nvSpPr>
          <p:cNvPr id="3" name="">
            <a:extLst xmlns:a="http://schemas.openxmlformats.org/drawingml/2006/main">
              <a:ext uri="{FF2B5EF4-FFF2-40B4-BE49-F238E27FC236}">
                <a16:creationId xmlns:a16="http://schemas.microsoft.com/office/drawing/2014/main" id="{E7BA6121-51B8-4731-A40B-CAF1646140E2}"/>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8BECCC8A-3130-4859-842D-70F12BCDBFF4}"/>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先固定比较对象，再查看模拟结果；Fig. 6d survival 与 IRB fidelity 分开处理</a:t>
            </a:r>
          </a:p>
        </p:txBody>
      </p:sp>
      <p:sp>
        <p:nvSpPr>
          <p:cNvPr id="5" name="">
            <a:extLst xmlns:a="http://schemas.openxmlformats.org/drawingml/2006/main">
              <a:ext uri="{FF2B5EF4-FFF2-40B4-BE49-F238E27FC236}">
                <a16:creationId xmlns:a16="http://schemas.microsoft.com/office/drawing/2014/main" id="{52E68E76-0289-4D62-9A1B-2EE9EE592F57}"/>
              </a:ext>
            </a:extLst>
          </p:cNvPr>
          <p:cNvSpPr>
            <a:spLocks xmlns:a="http://schemas.openxmlformats.org/drawingml/2006/main" noGrp="1"/>
          </p:cNvSpPr>
          <p:nvPr/>
        </p:nvSpPr>
        <p:spPr>
          <a:xfrm xmlns:a="http://schemas.openxmlformats.org/drawingml/2006/main">
            <a:off x="609600" y="1257300"/>
            <a:ext cx="6000750" cy="4229100"/>
          </a:xfrm>
          <a:prstGeom xmlns:a="http://schemas.openxmlformats.org/drawingml/2006/main" prst="roundRect">
            <a:avLst>
              <a:gd name="adj" fmla="val 1802"/>
            </a:avLst>
          </a:prstGeom>
          <a:solidFill xmlns:a="http://schemas.openxmlformats.org/drawingml/2006/main">
            <a:srgbClr val="FFFFFF"/>
          </a:solidFill>
          <a:ln xmlns:a="http://schemas.openxmlformats.org/drawingml/2006/main" w="9525">
            <a:solidFill>
              <a:srgbClr val="EAECF0"/>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8378b5b2a6d45e1"/>
          <a:srcRect xmlns:a="http://schemas.openxmlformats.org/drawingml/2006/main" l="2898" t="0" r="2898" b="0"/>
          <a:stretch xmlns:a="http://schemas.openxmlformats.org/drawingml/2006/main">
            <a:fillRect l="0" t="0" r="0" b="0"/>
          </a:stretch>
        </p:blipFill>
        <p:spPr>
          <a:xfrm xmlns:a="http://schemas.openxmlformats.org/drawingml/2006/main">
            <a:off x="781050" y="1428750"/>
            <a:ext cx="5657850" cy="3886200"/>
          </a:xfrm>
          <a:prstGeom xmlns:a="http://schemas.openxmlformats.org/drawingml/2006/main" prst="roundRect">
            <a:avLst>
              <a:gd name="adj" fmla="val 2451"/>
            </a:avLst>
          </a:prstGeom>
        </p:spPr>
      </p:pic>
      <p:sp>
        <p:nvSpPr>
          <p:cNvPr id="7" name="">
            <a:extLst xmlns:a="http://schemas.openxmlformats.org/drawingml/2006/main">
              <a:ext uri="{FF2B5EF4-FFF2-40B4-BE49-F238E27FC236}">
                <a16:creationId xmlns:a16="http://schemas.microsoft.com/office/drawing/2014/main" id="{E936B740-E4E3-4B54-B6A2-FAA7AA674658}"/>
              </a:ext>
            </a:extLst>
          </p:cNvPr>
          <p:cNvSpPr>
            <a:spLocks xmlns:a="http://schemas.openxmlformats.org/drawingml/2006/main" noGrp="1"/>
          </p:cNvSpPr>
          <p:nvPr/>
        </p:nvSpPr>
        <p:spPr>
          <a:xfrm xmlns:a="http://schemas.openxmlformats.org/drawingml/2006/main">
            <a:off x="6915150" y="1257300"/>
            <a:ext cx="4667250" cy="4229100"/>
          </a:xfrm>
          <a:prstGeom xmlns:a="http://schemas.openxmlformats.org/drawingml/2006/main" prst="roundRect">
            <a:avLst>
              <a:gd name="adj" fmla="val 1802"/>
            </a:avLst>
          </a:prstGeom>
          <a:solidFill xmlns:a="http://schemas.openxmlformats.org/drawingml/2006/main">
            <a:srgbClr val="FFFFFF"/>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4D305095-6F6F-40B5-91BA-54C9A73782A0}"/>
              </a:ext>
            </a:extLst>
          </p:cNvPr>
          <p:cNvSpPr>
            <a:spLocks xmlns:a="http://schemas.openxmlformats.org/drawingml/2006/main" noGrp="1"/>
          </p:cNvSpPr>
          <p:nvPr/>
        </p:nvSpPr>
        <p:spPr>
          <a:xfrm xmlns:a="http://schemas.openxmlformats.org/drawingml/2006/main">
            <a:off x="7162800" y="14668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02A43"/>
                </a:solidFill>
                <a:latin typeface="Microsoft YaHei"/>
                <a:ea typeface="Microsoft YaHei"/>
                <a:cs typeface="Microsoft YaHei"/>
              </a:defRPr>
            </a:pPr>
            <a:r>
              <a:rPr sz="1500" b="1">
                <a:solidFill>
                  <a:srgbClr val="102A43"/>
                </a:solidFill>
                <a:latin typeface="Microsoft YaHei"/>
                <a:ea typeface="Microsoft YaHei"/>
                <a:cs typeface="Microsoft YaHei"/>
              </a:rPr>
              <a:t>需要复现的四条曲线</a:t>
            </a:r>
          </a:p>
        </p:txBody>
      </p:sp>
      <p:graphicFrame>
        <p:nvGraphicFramePr>
          <p:cNvPr id="25" name=""/>
          <p:cNvGraphicFramePr/>
          <p:nvPr/>
        </p:nvGraphicFramePr>
        <p:xfrm>
          <a:off xmlns:a="http://schemas.openxmlformats.org/drawingml/2006/main" x="7162800" y="1924050"/>
          <a:ext xmlns:a="http://schemas.openxmlformats.org/drawingml/2006/main" cx="4171950" cy="2247900"/>
        </p:xfrm>
        <a:graphic xmlns:a="http://schemas.openxmlformats.org/drawingml/2006/main">
          <a:graphicData uri="http://schemas.openxmlformats.org/drawingml/2006/table">
            <a:tbl>
              <a:tblPr/>
              <a:tblGrid>
                <a:gridCol w="2029597"/>
                <a:gridCol w="1127554"/>
                <a:gridCol w="1014799"/>
              </a:tblGrid>
              <a:tr h="449580">
                <a:tc>
                  <a:txBody>
                    <a:bodyPr>
                      <a:noAutofit/>
                    </a:bodyPr>
                    <a:lstStyle/>
                    <a:p>
                      <a:pPr algn="l"/>
                      <a:r>
                        <a:rPr sz="1050" b="1">
                          <a:solidFill>
                            <a:srgbClr val="FFFFFF"/>
                          </a:solidFill>
                          <a:latin typeface="Microsoft YaHei"/>
                          <a:ea typeface="Microsoft YaHei"/>
                          <a:cs typeface="Microsoft YaHei"/>
                        </a:rPr>
                        <a:t>Trajectory</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Endpoint</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Paper</a:t>
                      </a:r>
                    </a:p>
                  </a:txBody>
                  <a:tcPr marL="91440" marR="91440" marT="45720" marB="45720" anchor="ctr">
                    <a:solidFill>
                      <a:srgbClr val="102A43"/>
                    </a:solidFill>
                  </a:tcPr>
                </a:tc>
              </a:tr>
              <a:tr h="449580">
                <a:tc>
                  <a:txBody>
                    <a:bodyPr>
                      <a:noAutofit/>
                    </a:bodyPr>
                    <a:lstStyle/>
                    <a:p>
                      <a:pPr algn="l"/>
                      <a:r>
                        <a:rPr sz="1125" b="0">
                          <a:solidFill>
                            <a:srgbClr val="344054"/>
                          </a:solidFill>
                          <a:latin typeface="Microsoft YaHei"/>
                          <a:ea typeface="Microsoft YaHei"/>
                          <a:cs typeface="Microsoft YaHei"/>
                        </a:rPr>
                        <a:t>Manual 200 µs</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S(31)</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0.334</a:t>
                      </a:r>
                    </a:p>
                  </a:txBody>
                  <a:tcPr marL="91440" marR="91440" marT="45720" marB="45720" anchor="ctr">
                    <a:solidFill>
                      <a:srgbClr val="FFFFFF"/>
                    </a:solidFill>
                  </a:tcPr>
                </a:tc>
              </a:tr>
              <a:tr h="449580">
                <a:tc>
                  <a:txBody>
                    <a:bodyPr>
                      <a:noAutofit/>
                    </a:bodyPr>
                    <a:lstStyle/>
                    <a:p>
                      <a:pPr algn="l"/>
                      <a:r>
                        <a:rPr sz="1125" b="0">
                          <a:solidFill>
                            <a:srgbClr val="344054"/>
                          </a:solidFill>
                          <a:latin typeface="Microsoft YaHei"/>
                          <a:ea typeface="Microsoft YaHei"/>
                          <a:cs typeface="Microsoft YaHei"/>
                        </a:rPr>
                        <a:t>Manual 400 µs</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0.414</a:t>
                      </a:r>
                    </a:p>
                  </a:txBody>
                  <a:tcPr marL="91440" marR="91440" marT="45720" marB="45720" anchor="ctr">
                    <a:solidFill>
                      <a:srgbClr val="F8FAFC"/>
                    </a:solidFill>
                  </a:tcPr>
                </a:tc>
              </a:tr>
              <a:tr h="449580">
                <a:tc>
                  <a:txBody>
                    <a:bodyPr>
                      <a:noAutofit/>
                    </a:bodyPr>
                    <a:lstStyle/>
                    <a:p>
                      <a:pPr algn="l"/>
                      <a:r>
                        <a:rPr sz="1125" b="0">
                          <a:solidFill>
                            <a:srgbClr val="344054"/>
                          </a:solidFill>
                          <a:latin typeface="Microsoft YaHei"/>
                          <a:ea typeface="Microsoft YaHei"/>
                          <a:cs typeface="Microsoft YaHei"/>
                        </a:rPr>
                        <a:t>Manual 600 µs</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S(60)</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0.573</a:t>
                      </a:r>
                    </a:p>
                  </a:txBody>
                  <a:tcPr marL="91440" marR="91440" marT="45720" marB="45720" anchor="ctr">
                    <a:solidFill>
                      <a:srgbClr val="FFFFFF"/>
                    </a:solidFill>
                  </a:tcPr>
                </a:tc>
              </a:tr>
              <a:tr h="449580">
                <a:tc>
                  <a:txBody>
                    <a:bodyPr>
                      <a:noAutofit/>
                    </a:bodyPr>
                    <a:lstStyle/>
                    <a:p>
                      <a:pPr algn="l"/>
                      <a:r>
                        <a:rPr sz="1125" b="0">
                          <a:solidFill>
                            <a:srgbClr val="344054"/>
                          </a:solidFill>
                          <a:latin typeface="Microsoft YaHei"/>
                          <a:ea typeface="Microsoft YaHei"/>
                          <a:cs typeface="Microsoft YaHei"/>
                        </a:rPr>
                        <a:t>ML 400 µs</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0.663</a:t>
                      </a:r>
                    </a:p>
                  </a:txBody>
                  <a:tcPr marL="91440" marR="91440" marT="45720" marB="45720" anchor="ctr">
                    <a:solidFill>
                      <a:srgbClr val="F8FAFC"/>
                    </a:solidFill>
                  </a:tcPr>
                </a:tc>
              </a:tr>
            </a:tbl>
          </a:graphicData>
        </a:graphic>
      </p:graphicFrame>
      <p:sp>
        <p:nvSpPr>
          <p:cNvPr id="10" name="">
            <a:extLst xmlns:a="http://schemas.openxmlformats.org/drawingml/2006/main">
              <a:ext uri="{FF2B5EF4-FFF2-40B4-BE49-F238E27FC236}">
                <a16:creationId xmlns:a16="http://schemas.microsoft.com/office/drawing/2014/main" id="{3B6BB258-F627-45BD-BE57-622C2D3C6F62}"/>
              </a:ext>
            </a:extLst>
          </p:cNvPr>
          <p:cNvSpPr>
            <a:spLocks xmlns:a="http://schemas.openxmlformats.org/drawingml/2006/main" noGrp="1"/>
          </p:cNvSpPr>
          <p:nvPr/>
        </p:nvSpPr>
        <p:spPr>
          <a:xfrm xmlns:a="http://schemas.openxmlformats.org/drawingml/2006/main">
            <a:off x="7162800" y="4419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计算口径</a:t>
            </a:r>
          </a:p>
        </p:txBody>
      </p:sp>
      <p:sp>
        <p:nvSpPr>
          <p:cNvPr id="11" name="">
            <a:extLst xmlns:a="http://schemas.openxmlformats.org/drawingml/2006/main">
              <a:ext uri="{FF2B5EF4-FFF2-40B4-BE49-F238E27FC236}">
                <a16:creationId xmlns:a16="http://schemas.microsoft.com/office/drawing/2014/main" id="{13EDA247-6FFD-43E4-B024-5217ED52513A}"/>
              </a:ext>
            </a:extLst>
          </p:cNvPr>
          <p:cNvSpPr>
            <a:spLocks xmlns:a="http://schemas.openxmlformats.org/drawingml/2006/main" noGrp="1"/>
          </p:cNvSpPr>
          <p:nvPr/>
        </p:nvSpPr>
        <p:spPr>
          <a:xfrm xmlns:a="http://schemas.openxmlformats.org/drawingml/2006/main">
            <a:off x="7162800" y="4743450"/>
            <a:ext cx="4114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S(n) 是完成至少 n 次单程转移后仍满足束缚条件的原子比例。200 µs 曲线只在 n≤31 可辨。</a:t>
            </a:r>
          </a:p>
        </p:txBody>
      </p:sp>
      <p:sp>
        <p:nvSpPr>
          <p:cNvPr id="12" name="">
            <a:extLst xmlns:a="http://schemas.openxmlformats.org/drawingml/2006/main">
              <a:ext uri="{FF2B5EF4-FFF2-40B4-BE49-F238E27FC236}">
                <a16:creationId xmlns:a16="http://schemas.microsoft.com/office/drawing/2014/main" id="{88BCEE00-4044-463B-BE79-6FBC9B07BCBE}"/>
              </a:ext>
            </a:extLst>
          </p:cNvPr>
          <p:cNvSpPr>
            <a:spLocks xmlns:a="http://schemas.openxmlformats.org/drawingml/2006/main" noGrp="1"/>
          </p:cNvSpPr>
          <p:nvPr/>
        </p:nvSpPr>
        <p:spPr>
          <a:xfrm xmlns:a="http://schemas.openxmlformats.org/drawingml/2006/main">
            <a:off x="609600" y="5676900"/>
            <a:ext cx="10972800" cy="571500"/>
          </a:xfrm>
          <a:prstGeom xmlns:a="http://schemas.openxmlformats.org/drawingml/2006/main" prst="roundRect">
            <a:avLst>
              <a:gd name="adj" fmla="val 13333"/>
            </a:avLst>
          </a:prstGeom>
          <a:solidFill xmlns:a="http://schemas.openxmlformats.org/drawingml/2006/main">
            <a:srgbClr val="FEF3F2"/>
          </a:solidFill>
          <a:ln xmlns:a="http://schemas.openxmlformats.org/drawingml/2006/main" w="9525">
            <a:solidFill>
              <a:srgbClr val="FECDCA"/>
            </a:solidFill>
          </a:ln>
        </p:spPr>
      </p:sp>
      <p:sp>
        <p:nvSpPr>
          <p:cNvPr id="13" name="">
            <a:extLst xmlns:a="http://schemas.openxmlformats.org/drawingml/2006/main">
              <a:ext uri="{FF2B5EF4-FFF2-40B4-BE49-F238E27FC236}">
                <a16:creationId xmlns:a16="http://schemas.microsoft.com/office/drawing/2014/main" id="{BFC15C83-5821-4291-BB96-6F55D36E01C6}"/>
              </a:ext>
            </a:extLst>
          </p:cNvPr>
          <p:cNvSpPr>
            <a:spLocks xmlns:a="http://schemas.openxmlformats.org/drawingml/2006/main" noGrp="1"/>
          </p:cNvSpPr>
          <p:nvPr/>
        </p:nvSpPr>
        <p:spPr>
          <a:xfrm xmlns:a="http://schemas.openxmlformats.org/drawingml/2006/main">
            <a:off x="838200" y="5800725"/>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D92D20"/>
                </a:solidFill>
                <a:latin typeface="Microsoft YaHei"/>
                <a:ea typeface="Microsoft YaHei"/>
                <a:cs typeface="Microsoft YaHei"/>
              </a:defRPr>
            </a:pPr>
            <a:r>
              <a:rPr sz="1200" b="0">
                <a:solidFill>
                  <a:srgbClr val="D92D20"/>
                </a:solidFill>
                <a:latin typeface="Microsoft YaHei"/>
                <a:ea typeface="Microsoft YaHei"/>
                <a:cs typeface="Microsoft YaHei"/>
              </a:rPr>
              <a:t>验收标准：模拟曲线逐点落入论文数字化曲线 ±0.02。报告保留原始 CSV，并用稳定锚点生成单调参考线，避免把标记边缘像素解释成存活率振荡。</a:t>
            </a:r>
          </a:p>
        </p:txBody>
      </p:sp>
      <p:sp>
        <p:nvSpPr>
          <p:cNvPr id="14" name="">
            <a:extLst xmlns:a="http://schemas.openxmlformats.org/drawingml/2006/main">
              <a:ext uri="{FF2B5EF4-FFF2-40B4-BE49-F238E27FC236}">
                <a16:creationId xmlns:a16="http://schemas.microsoft.com/office/drawing/2014/main" id="{15AF1293-CE3C-4078-99B8-617731FABCAC}"/>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5" name="">
            <a:extLst xmlns:a="http://schemas.openxmlformats.org/drawingml/2006/main">
              <a:ext uri="{FF2B5EF4-FFF2-40B4-BE49-F238E27FC236}">
                <a16:creationId xmlns:a16="http://schemas.microsoft.com/office/drawing/2014/main" id="{89F39D9B-3ABE-4F65-BA68-DC1624CE6802}"/>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fig6d_parameters.md · fig6d_survival_digitized.csv · digitize_fig6d.py</a:t>
            </a:r>
          </a:p>
        </p:txBody>
      </p:sp>
      <p:sp>
        <p:nvSpPr>
          <p:cNvPr id="16" name="">
            <a:extLst xmlns:a="http://schemas.openxmlformats.org/drawingml/2006/main">
              <a:ext uri="{FF2B5EF4-FFF2-40B4-BE49-F238E27FC236}">
                <a16:creationId xmlns:a16="http://schemas.microsoft.com/office/drawing/2014/main" id="{E637388E-DBDD-477A-980F-77680737FCAA}"/>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03</a:t>
            </a:r>
          </a:p>
        </p:txBody>
      </p:sp>
    </p:spTree>
    <p:extLst>
      <p:ext uri="{BB962C8B-B14F-4D97-AF65-F5344CB8AC3E}">
        <p14:creationId xmlns:p14="http://schemas.microsoft.com/office/powerpoint/2010/main" val="1013083945"/>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0C947A2-15FE-4193-A2FD-F26826B809B1}"/>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02</a:t>
            </a:r>
          </a:p>
        </p:txBody>
      </p:sp>
      <p:sp>
        <p:nvSpPr>
          <p:cNvPr id="2" name="">
            <a:extLst xmlns:a="http://schemas.openxmlformats.org/drawingml/2006/main">
              <a:ext uri="{FF2B5EF4-FFF2-40B4-BE49-F238E27FC236}">
                <a16:creationId xmlns:a16="http://schemas.microsoft.com/office/drawing/2014/main" id="{F92DBAB3-0DB0-4349-89B9-D90C333B69ED}"/>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Cs 原子与双高斯阱模型</a:t>
            </a:r>
          </a:p>
        </p:txBody>
      </p:sp>
      <p:sp>
        <p:nvSpPr>
          <p:cNvPr id="3" name="">
            <a:extLst xmlns:a="http://schemas.openxmlformats.org/drawingml/2006/main">
              <a:ext uri="{FF2B5EF4-FFF2-40B4-BE49-F238E27FC236}">
                <a16:creationId xmlns:a16="http://schemas.microsoft.com/office/drawing/2014/main" id="{4C8C667E-04CA-43A4-866A-7CA89DC51364}"/>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9F596707-D436-407C-BCDB-6BDF1FF887CA}"/>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本步计算任意时间和位置的势能 U(x,t)、力 F(x,t)，为后续轨迹积分提供输入</a:t>
            </a:r>
          </a:p>
        </p:txBody>
      </p:sp>
      <p:sp>
        <p:nvSpPr>
          <p:cNvPr id="5" name="">
            <a:extLst xmlns:a="http://schemas.openxmlformats.org/drawingml/2006/main">
              <a:ext uri="{FF2B5EF4-FFF2-40B4-BE49-F238E27FC236}">
                <a16:creationId xmlns:a16="http://schemas.microsoft.com/office/drawing/2014/main" id="{E3513A58-A26A-4638-8A50-3218FA1873ED}"/>
              </a:ext>
            </a:extLst>
          </p:cNvPr>
          <p:cNvSpPr>
            <a:spLocks xmlns:a="http://schemas.openxmlformats.org/drawingml/2006/main" noGrp="1"/>
          </p:cNvSpPr>
          <p:nvPr/>
        </p:nvSpPr>
        <p:spPr>
          <a:xfrm xmlns:a="http://schemas.openxmlformats.org/drawingml/2006/main">
            <a:off x="609600" y="1257300"/>
            <a:ext cx="4171950" cy="4248150"/>
          </a:xfrm>
          <a:prstGeom xmlns:a="http://schemas.openxmlformats.org/drawingml/2006/main" prst="roundRect">
            <a:avLst>
              <a:gd name="adj" fmla="val 1826"/>
            </a:avLst>
          </a:prstGeom>
          <a:solidFill xmlns:a="http://schemas.openxmlformats.org/drawingml/2006/main">
            <a:srgbClr val="FFFFFF"/>
          </a:solidFill>
          <a:ln xmlns:a="http://schemas.openxmlformats.org/drawingml/2006/main" w="9525">
            <a:solidFill>
              <a:srgbClr val="EAECF0"/>
            </a:solidFill>
          </a:ln>
        </p:spPr>
      </p:sp>
      <p:sp>
        <p:nvSpPr>
          <p:cNvPr id="6" name="">
            <a:extLst xmlns:a="http://schemas.openxmlformats.org/drawingml/2006/main">
              <a:ext uri="{FF2B5EF4-FFF2-40B4-BE49-F238E27FC236}">
                <a16:creationId xmlns:a16="http://schemas.microsoft.com/office/drawing/2014/main" id="{AA1C9B6E-02DA-4516-8207-7D686EC16447}"/>
              </a:ext>
            </a:extLst>
          </p:cNvPr>
          <p:cNvSpPr>
            <a:spLocks xmlns:a="http://schemas.openxmlformats.org/drawingml/2006/main" noGrp="1"/>
          </p:cNvSpPr>
          <p:nvPr/>
        </p:nvSpPr>
        <p:spPr>
          <a:xfrm xmlns:a="http://schemas.openxmlformats.org/drawingml/2006/main">
            <a:off x="876300" y="15049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一维时变势</a:t>
            </a:r>
          </a:p>
        </p:txBody>
      </p:sp>
      <p:sp>
        <p:nvSpPr>
          <p:cNvPr id="7" name="">
            <a:extLst xmlns:a="http://schemas.openxmlformats.org/drawingml/2006/main">
              <a:ext uri="{FF2B5EF4-FFF2-40B4-BE49-F238E27FC236}">
                <a16:creationId xmlns:a16="http://schemas.microsoft.com/office/drawing/2014/main" id="{3826A596-42CA-4A6E-86BD-37E3BCA87999}"/>
              </a:ext>
            </a:extLst>
          </p:cNvPr>
          <p:cNvSpPr>
            <a:spLocks xmlns:a="http://schemas.openxmlformats.org/drawingml/2006/main" noGrp="1"/>
          </p:cNvSpPr>
          <p:nvPr/>
        </p:nvSpPr>
        <p:spPr>
          <a:xfrm xmlns:a="http://schemas.openxmlformats.org/drawingml/2006/main">
            <a:off x="876300" y="2038350"/>
            <a:ext cx="3638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1570EF"/>
                </a:solidFill>
                <a:latin typeface="Microsoft YaHei"/>
                <a:ea typeface="Microsoft YaHei"/>
                <a:cs typeface="Microsoft YaHei"/>
              </a:defRPr>
            </a:pPr>
            <a:r>
              <a:rPr sz="1650" b="1">
                <a:solidFill>
                  <a:srgbClr val="1570EF"/>
                </a:solidFill>
                <a:latin typeface="Microsoft YaHei"/>
                <a:ea typeface="Microsoft YaHei"/>
                <a:cs typeface="Microsoft YaHei"/>
              </a:rPr>
              <a:t>U(x,t) = −D(t) exp[−2(x−c(t))² / w²]</a:t>
            </a:r>
          </a:p>
        </p:txBody>
      </p:sp>
      <p:sp>
        <p:nvSpPr>
          <p:cNvPr id="8" name="">
            <a:extLst xmlns:a="http://schemas.openxmlformats.org/drawingml/2006/main">
              <a:ext uri="{FF2B5EF4-FFF2-40B4-BE49-F238E27FC236}">
                <a16:creationId xmlns:a16="http://schemas.microsoft.com/office/drawing/2014/main" id="{E13B6696-2F43-4B12-A246-2B232158F198}"/>
              </a:ext>
            </a:extLst>
          </p:cNvPr>
          <p:cNvSpPr>
            <a:spLocks xmlns:a="http://schemas.openxmlformats.org/drawingml/2006/main" noGrp="1"/>
          </p:cNvSpPr>
          <p:nvPr/>
        </p:nvSpPr>
        <p:spPr>
          <a:xfrm xmlns:a="http://schemas.openxmlformats.org/drawingml/2006/main">
            <a:off x="876300" y="2705100"/>
            <a:ext cx="3638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1">
                <a:solidFill>
                  <a:srgbClr val="0E9384"/>
                </a:solidFill>
                <a:latin typeface="Microsoft YaHei"/>
                <a:ea typeface="Microsoft YaHei"/>
                <a:cs typeface="Microsoft YaHei"/>
              </a:defRPr>
            </a:pPr>
            <a:r>
              <a:rPr sz="1575" b="1">
                <a:solidFill>
                  <a:srgbClr val="0E9384"/>
                </a:solidFill>
                <a:latin typeface="Microsoft YaHei"/>
                <a:ea typeface="Microsoft YaHei"/>
                <a:cs typeface="Microsoft YaHei"/>
              </a:rPr>
              <a:t>F(x,t) = −∂U/∂x</a:t>
            </a:r>
          </a:p>
        </p:txBody>
      </p:sp>
      <p:sp>
        <p:nvSpPr>
          <p:cNvPr id="9" name="">
            <a:extLst xmlns:a="http://schemas.openxmlformats.org/drawingml/2006/main">
              <a:ext uri="{FF2B5EF4-FFF2-40B4-BE49-F238E27FC236}">
                <a16:creationId xmlns:a16="http://schemas.microsoft.com/office/drawing/2014/main" id="{0569C5B1-EE00-4A49-9CE0-1B28BA35FDD0}"/>
              </a:ext>
            </a:extLst>
          </p:cNvPr>
          <p:cNvSpPr>
            <a:spLocks xmlns:a="http://schemas.openxmlformats.org/drawingml/2006/main" noGrp="1"/>
          </p:cNvSpPr>
          <p:nvPr/>
        </p:nvSpPr>
        <p:spPr>
          <a:xfrm xmlns:a="http://schemas.openxmlformats.org/drawingml/2006/main">
            <a:off x="876300" y="3352800"/>
            <a:ext cx="3638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344054"/>
                </a:solidFill>
                <a:latin typeface="Microsoft YaHei"/>
                <a:ea typeface="Microsoft YaHei"/>
                <a:cs typeface="Microsoft YaHei"/>
              </a:defRPr>
            </a:pPr>
            <a:r>
              <a:rPr sz="1275" b="0">
                <a:solidFill>
                  <a:srgbClr val="344054"/>
                </a:solidFill>
                <a:latin typeface="Microsoft YaHei"/>
                <a:ea typeface="Microsoft YaHei"/>
                <a:cs typeface="Microsoft YaHei"/>
              </a:rPr>
              <a:t>SLM 势和 AOD 势在同一坐标轴上相加。SLM 固定在 x=0；AOD 的中心 c(t) 和深度 D(t) 随控制波形变化。</a:t>
            </a:r>
          </a:p>
        </p:txBody>
      </p:sp>
      <p:sp>
        <p:nvSpPr>
          <p:cNvPr id="10" name="">
            <a:extLst xmlns:a="http://schemas.openxmlformats.org/drawingml/2006/main">
              <a:ext uri="{FF2B5EF4-FFF2-40B4-BE49-F238E27FC236}">
                <a16:creationId xmlns:a16="http://schemas.microsoft.com/office/drawing/2014/main" id="{CC97E1C6-09EF-43F0-A4E3-2AF04446AF92}"/>
              </a:ext>
            </a:extLst>
          </p:cNvPr>
          <p:cNvSpPr>
            <a:spLocks xmlns:a="http://schemas.openxmlformats.org/drawingml/2006/main" noGrp="1"/>
          </p:cNvSpPr>
          <p:nvPr/>
        </p:nvSpPr>
        <p:spPr>
          <a:xfrm xmlns:a="http://schemas.openxmlformats.org/drawingml/2006/main">
            <a:off x="876300" y="4419600"/>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模型输出</a:t>
            </a:r>
          </a:p>
        </p:txBody>
      </p:sp>
      <p:sp>
        <p:nvSpPr>
          <p:cNvPr id="11" name="">
            <a:extLst xmlns:a="http://schemas.openxmlformats.org/drawingml/2006/main">
              <a:ext uri="{FF2B5EF4-FFF2-40B4-BE49-F238E27FC236}">
                <a16:creationId xmlns:a16="http://schemas.microsoft.com/office/drawing/2014/main" id="{9688EC8E-F045-416A-88EA-9FA16F35ADFF}"/>
              </a:ext>
            </a:extLst>
          </p:cNvPr>
          <p:cNvSpPr>
            <a:spLocks xmlns:a="http://schemas.openxmlformats.org/drawingml/2006/main" noGrp="1"/>
          </p:cNvSpPr>
          <p:nvPr/>
        </p:nvSpPr>
        <p:spPr>
          <a:xfrm xmlns:a="http://schemas.openxmlformats.org/drawingml/2006/main">
            <a:off x="876300" y="4762500"/>
            <a:ext cx="3638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每个时间点的总势能、总力、AOD/SLM 单阱能量，以及后续束缚判定需要的参考阱深。</a:t>
            </a:r>
          </a:p>
        </p:txBody>
      </p:sp>
      <p:sp>
        <p:nvSpPr>
          <p:cNvPr id="12" name="">
            <a:extLst xmlns:a="http://schemas.openxmlformats.org/drawingml/2006/main">
              <a:ext uri="{FF2B5EF4-FFF2-40B4-BE49-F238E27FC236}">
                <a16:creationId xmlns:a16="http://schemas.microsoft.com/office/drawing/2014/main" id="{C0B039DF-1BEC-44CA-89D1-951D2CD50A35}"/>
              </a:ext>
            </a:extLst>
          </p:cNvPr>
          <p:cNvSpPr>
            <a:spLocks xmlns:a="http://schemas.openxmlformats.org/drawingml/2006/main" noGrp="1"/>
          </p:cNvSpPr>
          <p:nvPr/>
        </p:nvSpPr>
        <p:spPr>
          <a:xfrm xmlns:a="http://schemas.openxmlformats.org/drawingml/2006/main">
            <a:off x="5086350" y="1257300"/>
            <a:ext cx="6496050" cy="4248150"/>
          </a:xfrm>
          <a:prstGeom xmlns:a="http://schemas.openxmlformats.org/drawingml/2006/main" prst="roundRect">
            <a:avLst>
              <a:gd name="adj" fmla="val 1794"/>
            </a:avLst>
          </a:prstGeom>
          <a:solidFill xmlns:a="http://schemas.openxmlformats.org/drawingml/2006/main">
            <a:srgbClr val="FFFFFF"/>
          </a:solidFill>
          <a:ln xmlns:a="http://schemas.openxmlformats.org/drawingml/2006/main" w="9525">
            <a:solidFill>
              <a:srgbClr val="EAECF0"/>
            </a:solidFill>
          </a:ln>
        </p:spPr>
      </p:sp>
      <p:sp>
        <p:nvSpPr>
          <p:cNvPr id="13" name="">
            <a:extLst xmlns:a="http://schemas.openxmlformats.org/drawingml/2006/main">
              <a:ext uri="{FF2B5EF4-FFF2-40B4-BE49-F238E27FC236}">
                <a16:creationId xmlns:a16="http://schemas.microsoft.com/office/drawing/2014/main" id="{2AD90466-CF3A-4E4E-A93C-C24E23E3ABF3}"/>
              </a:ext>
            </a:extLst>
          </p:cNvPr>
          <p:cNvSpPr>
            <a:spLocks xmlns:a="http://schemas.openxmlformats.org/drawingml/2006/main" noGrp="1"/>
          </p:cNvSpPr>
          <p:nvPr/>
        </p:nvSpPr>
        <p:spPr>
          <a:xfrm xmlns:a="http://schemas.openxmlformats.org/drawingml/2006/main">
            <a:off x="5353050" y="15049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固定物理输入</a:t>
            </a:r>
          </a:p>
        </p:txBody>
      </p:sp>
      <p:graphicFrame>
        <p:nvGraphicFramePr>
          <p:cNvPr id="33" name=""/>
          <p:cNvGraphicFramePr/>
          <p:nvPr/>
        </p:nvGraphicFramePr>
        <p:xfrm>
          <a:off xmlns:a="http://schemas.openxmlformats.org/drawingml/2006/main" x="5353050" y="1962150"/>
          <a:ext xmlns:a="http://schemas.openxmlformats.org/drawingml/2006/main" cx="5962650" cy="3067050"/>
        </p:xfrm>
        <a:graphic xmlns:a="http://schemas.openxmlformats.org/drawingml/2006/main">
          <a:graphicData uri="http://schemas.openxmlformats.org/drawingml/2006/table">
            <a:tbl>
              <a:tblPr/>
              <a:tblGrid>
                <a:gridCol w="1522379"/>
                <a:gridCol w="1268649"/>
                <a:gridCol w="1902973"/>
                <a:gridCol w="1268649"/>
              </a:tblGrid>
              <a:tr h="438150">
                <a:tc>
                  <a:txBody>
                    <a:bodyPr>
                      <a:noAutofit/>
                    </a:bodyPr>
                    <a:lstStyle/>
                    <a:p>
                      <a:pPr algn="l"/>
                      <a:r>
                        <a:rPr sz="1050" b="1">
                          <a:solidFill>
                            <a:srgbClr val="FFFFFF"/>
                          </a:solidFill>
                          <a:latin typeface="Microsoft YaHei"/>
                          <a:ea typeface="Microsoft YaHei"/>
                          <a:cs typeface="Microsoft YaHei"/>
                        </a:rPr>
                        <a:t>Input</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Value</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Role</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Source</a:t>
                      </a:r>
                    </a:p>
                  </a:txBody>
                  <a:tcPr marL="91440" marR="91440" marT="45720" marB="45720" anchor="ctr">
                    <a:solidFill>
                      <a:srgbClr val="102A43"/>
                    </a:solidFill>
                  </a:tcPr>
                </a:tc>
              </a:tr>
              <a:tr h="438150">
                <a:tc>
                  <a:txBody>
                    <a:bodyPr>
                      <a:noAutofit/>
                    </a:bodyPr>
                    <a:lstStyle/>
                    <a:p>
                      <a:pPr algn="l"/>
                      <a:r>
                        <a:rPr sz="1125" b="0">
                          <a:solidFill>
                            <a:srgbClr val="344054"/>
                          </a:solidFill>
                          <a:latin typeface="Microsoft YaHei"/>
                          <a:ea typeface="Microsoft YaHei"/>
                          <a:cs typeface="Microsoft YaHei"/>
                        </a:rPr>
                        <a:t>Atom</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Cs-133</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质量 m</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config</a:t>
                      </a:r>
                    </a:p>
                  </a:txBody>
                  <a:tcPr marL="91440" marR="91440" marT="45720" marB="45720" anchor="ctr">
                    <a:solidFill>
                      <a:srgbClr val="FFFFFF"/>
                    </a:solidFill>
                  </a:tcPr>
                </a:tc>
              </a:tr>
              <a:tr h="438150">
                <a:tc>
                  <a:txBody>
                    <a:bodyPr>
                      <a:noAutofit/>
                    </a:bodyPr>
                    <a:lstStyle/>
                    <a:p>
                      <a:pPr algn="l"/>
                      <a:r>
                        <a:rPr sz="1125" b="0">
                          <a:solidFill>
                            <a:srgbClr val="344054"/>
                          </a:solidFill>
                          <a:latin typeface="Microsoft YaHei"/>
                          <a:ea typeface="Microsoft YaHei"/>
                          <a:cs typeface="Microsoft YaHei"/>
                        </a:rPr>
                        <a:t>SLM depth</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140 µK</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最终束缚阱</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paper</a:t>
                      </a:r>
                    </a:p>
                  </a:txBody>
                  <a:tcPr marL="91440" marR="91440" marT="45720" marB="45720" anchor="ctr">
                    <a:solidFill>
                      <a:srgbClr val="F8FAFC"/>
                    </a:solidFill>
                  </a:tcPr>
                </a:tc>
              </a:tr>
              <a:tr h="438150">
                <a:tc>
                  <a:txBody>
                    <a:bodyPr>
                      <a:noAutofit/>
                    </a:bodyPr>
                    <a:lstStyle/>
                    <a:p>
                      <a:pPr algn="l"/>
                      <a:r>
                        <a:rPr sz="1125" b="0">
                          <a:solidFill>
                            <a:srgbClr val="344054"/>
                          </a:solidFill>
                          <a:latin typeface="Microsoft YaHei"/>
                          <a:ea typeface="Microsoft YaHei"/>
                          <a:cs typeface="Microsoft YaHei"/>
                        </a:rPr>
                        <a:t>AOD depth</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280 µK</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移动束缚阱</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paper</a:t>
                      </a:r>
                    </a:p>
                  </a:txBody>
                  <a:tcPr marL="91440" marR="91440" marT="45720" marB="45720" anchor="ctr">
                    <a:solidFill>
                      <a:srgbClr val="FFFFFF"/>
                    </a:solidFill>
                  </a:tcPr>
                </a:tc>
              </a:tr>
              <a:tr h="438150">
                <a:tc>
                  <a:txBody>
                    <a:bodyPr>
                      <a:noAutofit/>
                    </a:bodyPr>
                    <a:lstStyle/>
                    <a:p>
                      <a:pPr algn="l"/>
                      <a:r>
                        <a:rPr sz="1125" b="0">
                          <a:solidFill>
                            <a:srgbClr val="344054"/>
                          </a:solidFill>
                          <a:latin typeface="Microsoft YaHei"/>
                          <a:ea typeface="Microsoft YaHei"/>
                          <a:cs typeface="Microsoft YaHei"/>
                        </a:rPr>
                        <a:t>SLM waist</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1.17 µm</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横向尺度 w</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paper</a:t>
                      </a:r>
                    </a:p>
                  </a:txBody>
                  <a:tcPr marL="91440" marR="91440" marT="45720" marB="45720" anchor="ctr">
                    <a:solidFill>
                      <a:srgbClr val="F8FAFC"/>
                    </a:solidFill>
                  </a:tcPr>
                </a:tc>
              </a:tr>
              <a:tr h="438150">
                <a:tc>
                  <a:txBody>
                    <a:bodyPr>
                      <a:noAutofit/>
                    </a:bodyPr>
                    <a:lstStyle/>
                    <a:p>
                      <a:pPr algn="l"/>
                      <a:r>
                        <a:rPr sz="1125" b="0">
                          <a:solidFill>
                            <a:srgbClr val="344054"/>
                          </a:solidFill>
                          <a:latin typeface="Microsoft YaHei"/>
                          <a:ea typeface="Microsoft YaHei"/>
                          <a:cs typeface="Microsoft YaHei"/>
                        </a:rPr>
                        <a:t>AOD waist</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1.17 µm</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当前取值</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assumed</a:t>
                      </a:r>
                    </a:p>
                  </a:txBody>
                  <a:tcPr marL="91440" marR="91440" marT="45720" marB="45720" anchor="ctr">
                    <a:solidFill>
                      <a:srgbClr val="FFFFFF"/>
                    </a:solidFill>
                  </a:tcPr>
                </a:tc>
              </a:tr>
              <a:tr h="438150">
                <a:tc>
                  <a:txBody>
                    <a:bodyPr>
                      <a:noAutofit/>
                    </a:bodyPr>
                    <a:lstStyle/>
                    <a:p>
                      <a:pPr algn="l"/>
                      <a:r>
                        <a:rPr sz="1125" b="0">
                          <a:solidFill>
                            <a:srgbClr val="344054"/>
                          </a:solidFill>
                          <a:latin typeface="Microsoft YaHei"/>
                          <a:ea typeface="Microsoft YaHei"/>
                          <a:cs typeface="Microsoft YaHei"/>
                        </a:rPr>
                        <a:t>Separation</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2.4 µm</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中心位移</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paper</a:t>
                      </a:r>
                    </a:p>
                  </a:txBody>
                  <a:tcPr marL="91440" marR="91440" marT="45720" marB="45720" anchor="ctr">
                    <a:solidFill>
                      <a:srgbClr val="F8FAFC"/>
                    </a:solidFill>
                  </a:tcPr>
                </a:tc>
              </a:tr>
            </a:tbl>
          </a:graphicData>
        </a:graphic>
      </p:graphicFrame>
      <p:sp>
        <p:nvSpPr>
          <p:cNvPr id="15" name="">
            <a:extLst xmlns:a="http://schemas.openxmlformats.org/drawingml/2006/main">
              <a:ext uri="{FF2B5EF4-FFF2-40B4-BE49-F238E27FC236}">
                <a16:creationId xmlns:a16="http://schemas.microsoft.com/office/drawing/2014/main" id="{54DFC9EE-E6A4-467F-80AA-3BE87D2966C2}"/>
              </a:ext>
            </a:extLst>
          </p:cNvPr>
          <p:cNvSpPr>
            <a:spLocks xmlns:a="http://schemas.openxmlformats.org/drawingml/2006/main" noGrp="1"/>
          </p:cNvSpPr>
          <p:nvPr/>
        </p:nvSpPr>
        <p:spPr>
          <a:xfrm xmlns:a="http://schemas.openxmlformats.org/drawingml/2006/main">
            <a:off x="609600" y="5715000"/>
            <a:ext cx="10972800" cy="533400"/>
          </a:xfrm>
          <a:prstGeom xmlns:a="http://schemas.openxmlformats.org/drawingml/2006/main" prst="roundRect">
            <a:avLst>
              <a:gd name="adj" fmla="val 14286"/>
            </a:avLst>
          </a:prstGeom>
          <a:solidFill xmlns:a="http://schemas.openxmlformats.org/drawingml/2006/main">
            <a:srgbClr val="FFF6ED"/>
          </a:solidFill>
          <a:ln xmlns:a="http://schemas.openxmlformats.org/drawingml/2006/main" w="9525">
            <a:solidFill>
              <a:srgbClr val="FEDF89"/>
            </a:solidFill>
          </a:ln>
        </p:spPr>
      </p:sp>
      <p:sp>
        <p:nvSpPr>
          <p:cNvPr id="16" name="">
            <a:extLst xmlns:a="http://schemas.openxmlformats.org/drawingml/2006/main">
              <a:ext uri="{FF2B5EF4-FFF2-40B4-BE49-F238E27FC236}">
                <a16:creationId xmlns:a16="http://schemas.microsoft.com/office/drawing/2014/main" id="{7F09F3D6-2EDA-4947-BABC-407422C9B36F}"/>
              </a:ext>
            </a:extLst>
          </p:cNvPr>
          <p:cNvSpPr>
            <a:spLocks xmlns:a="http://schemas.openxmlformats.org/drawingml/2006/main" noGrp="1"/>
          </p:cNvSpPr>
          <p:nvPr/>
        </p:nvSpPr>
        <p:spPr>
          <a:xfrm xmlns:a="http://schemas.openxmlformats.org/drawingml/2006/main">
            <a:off x="838200" y="5838825"/>
            <a:ext cx="10515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F79009"/>
                </a:solidFill>
                <a:latin typeface="Microsoft YaHei"/>
                <a:ea typeface="Microsoft YaHei"/>
                <a:cs typeface="Microsoft YaHei"/>
              </a:defRPr>
            </a:pPr>
            <a:r>
              <a:rPr sz="1200" b="0">
                <a:solidFill>
                  <a:srgbClr val="F79009"/>
                </a:solidFill>
                <a:latin typeface="Microsoft YaHei"/>
                <a:ea typeface="Microsoft YaHei"/>
                <a:cs typeface="Microsoft YaHei"/>
              </a:rPr>
              <a:t>边界：Fig. 6d 主比较只使用这一维理想高斯势。仓库中的 2D、3D 和量子模块没有自动并入本计算。</a:t>
            </a:r>
          </a:p>
        </p:txBody>
      </p:sp>
      <p:sp>
        <p:nvSpPr>
          <p:cNvPr id="17" name="">
            <a:extLst xmlns:a="http://schemas.openxmlformats.org/drawingml/2006/main">
              <a:ext uri="{FF2B5EF4-FFF2-40B4-BE49-F238E27FC236}">
                <a16:creationId xmlns:a16="http://schemas.microsoft.com/office/drawing/2014/main" id="{AC913C35-FE42-4C9E-B792-F9FD9ED05473}"/>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8" name="">
            <a:extLst xmlns:a="http://schemas.openxmlformats.org/drawingml/2006/main">
              <a:ext uri="{FF2B5EF4-FFF2-40B4-BE49-F238E27FC236}">
                <a16:creationId xmlns:a16="http://schemas.microsoft.com/office/drawing/2014/main" id="{13CACA4E-4E8A-4EC8-8AC9-35C7627C970E}"/>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level2c_pickup_survival.yaml · gaussian potential implementation</a:t>
            </a:r>
          </a:p>
        </p:txBody>
      </p:sp>
      <p:sp>
        <p:nvSpPr>
          <p:cNvPr id="19" name="">
            <a:extLst xmlns:a="http://schemas.openxmlformats.org/drawingml/2006/main">
              <a:ext uri="{FF2B5EF4-FFF2-40B4-BE49-F238E27FC236}">
                <a16:creationId xmlns:a16="http://schemas.microsoft.com/office/drawing/2014/main" id="{78C75329-AC7E-49DD-8F9A-122F666A01DC}"/>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04</a:t>
            </a:r>
          </a:p>
        </p:txBody>
      </p:sp>
    </p:spTree>
    <p:extLst>
      <p:ext uri="{BB962C8B-B14F-4D97-AF65-F5344CB8AC3E}">
        <p14:creationId xmlns:p14="http://schemas.microsoft.com/office/powerpoint/2010/main" val="1673435699"/>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B598136-F6AA-44B3-AA3C-D61BC5E72C54}"/>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03</a:t>
            </a:r>
          </a:p>
        </p:txBody>
      </p:sp>
      <p:sp>
        <p:nvSpPr>
          <p:cNvPr id="2" name="">
            <a:extLst xmlns:a="http://schemas.openxmlformats.org/drawingml/2006/main">
              <a:ext uri="{FF2B5EF4-FFF2-40B4-BE49-F238E27FC236}">
                <a16:creationId xmlns:a16="http://schemas.microsoft.com/office/drawing/2014/main" id="{37A48B83-FD62-4B55-850F-27D44A0361C2}"/>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初态采样、位点散布与平均加热</a:t>
            </a:r>
          </a:p>
        </p:txBody>
      </p:sp>
      <p:sp>
        <p:nvSpPr>
          <p:cNvPr id="3" name="">
            <a:extLst xmlns:a="http://schemas.openxmlformats.org/drawingml/2006/main">
              <a:ext uri="{FF2B5EF4-FFF2-40B4-BE49-F238E27FC236}">
                <a16:creationId xmlns:a16="http://schemas.microsoft.com/office/drawing/2014/main" id="{A9F26F72-3FAC-479B-B7E4-DBBB9B63CE74}"/>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86903AA6-FCF2-40B9-BB50-B8AD6190C690}"/>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本步为每个 shot 生成初始 x、v 和固定的位点参数；σ 表示高斯分布的标准差</a:t>
            </a:r>
          </a:p>
        </p:txBody>
      </p:sp>
      <p:graphicFrame>
        <p:nvGraphicFramePr>
          <p:cNvPr id="19" name=""/>
          <p:cNvGraphicFramePr/>
          <p:nvPr/>
        </p:nvGraphicFramePr>
        <p:xfrm>
          <a:off xmlns:a="http://schemas.openxmlformats.org/drawingml/2006/main" x="609600" y="1257300"/>
          <a:ext xmlns:a="http://schemas.openxmlformats.org/drawingml/2006/main" cx="10972800" cy="3676650"/>
        </p:xfrm>
        <a:graphic xmlns:a="http://schemas.openxmlformats.org/drawingml/2006/main">
          <a:graphicData uri="http://schemas.openxmlformats.org/drawingml/2006/table">
            <a:tbl>
              <a:tblPr/>
              <a:tblGrid>
                <a:gridCol w="2079812"/>
                <a:gridCol w="2079812"/>
                <a:gridCol w="4589929"/>
                <a:gridCol w="2223247"/>
              </a:tblGrid>
              <a:tr h="459581">
                <a:tc>
                  <a:txBody>
                    <a:bodyPr>
                      <a:noAutofit/>
                    </a:bodyPr>
                    <a:lstStyle/>
                    <a:p>
                      <a:pPr algn="l"/>
                      <a:r>
                        <a:rPr sz="1050" b="1">
                          <a:solidFill>
                            <a:srgbClr val="FFFFFF"/>
                          </a:solidFill>
                          <a:latin typeface="Microsoft YaHei"/>
                          <a:ea typeface="Microsoft YaHei"/>
                          <a:cs typeface="Microsoft YaHei"/>
                        </a:rPr>
                        <a:t>Input</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Baseline</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How the code uses it</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Provenance</a:t>
                      </a:r>
                    </a:p>
                  </a:txBody>
                  <a:tcPr marL="91440" marR="91440" marT="45720" marB="45720" anchor="ctr">
                    <a:solidFill>
                      <a:srgbClr val="102A43"/>
                    </a:solidFill>
                  </a:tcPr>
                </a:tc>
              </a:tr>
              <a:tr h="459581">
                <a:tc>
                  <a:txBody>
                    <a:bodyPr>
                      <a:noAutofit/>
                    </a:bodyPr>
                    <a:lstStyle/>
                    <a:p>
                      <a:pPr algn="l"/>
                      <a:r>
                        <a:rPr sz="1050" b="0">
                          <a:solidFill>
                            <a:srgbClr val="344054"/>
                          </a:solidFill>
                          <a:latin typeface="Microsoft YaHei"/>
                          <a:ea typeface="Microsoft YaHei"/>
                          <a:cs typeface="Microsoft YaHei"/>
                        </a:rPr>
                        <a:t>Initial T</a:t>
                      </a:r>
                    </a:p>
                  </a:txBody>
                  <a:tcPr marL="91440" marR="91440" marT="45720" marB="45720" anchor="ctr">
                    <a:solidFill>
                      <a:srgbClr val="EFF8FF"/>
                    </a:solidFill>
                  </a:tcPr>
                </a:tc>
                <a:tc>
                  <a:txBody>
                    <a:bodyPr>
                      <a:noAutofit/>
                    </a:bodyPr>
                    <a:lstStyle/>
                    <a:p>
                      <a:pPr algn="l"/>
                      <a:r>
                        <a:rPr sz="1050" b="0">
                          <a:solidFill>
                            <a:srgbClr val="344054"/>
                          </a:solidFill>
                          <a:latin typeface="Microsoft YaHei"/>
                          <a:ea typeface="Microsoft YaHei"/>
                          <a:cs typeface="Microsoft YaHei"/>
                        </a:rPr>
                        <a:t>5 µK</a:t>
                      </a:r>
                    </a:p>
                  </a:txBody>
                  <a:tcPr marL="91440" marR="91440" marT="45720" marB="45720" anchor="ctr">
                    <a:solidFill>
                      <a:srgbClr val="EFF8FF"/>
                    </a:solidFill>
                  </a:tcPr>
                </a:tc>
                <a:tc>
                  <a:txBody>
                    <a:bodyPr>
                      <a:noAutofit/>
                    </a:bodyPr>
                    <a:lstStyle/>
                    <a:p>
                      <a:pPr algn="l"/>
                      <a:r>
                        <a:rPr sz="1050" b="0">
                          <a:solidFill>
                            <a:srgbClr val="344054"/>
                          </a:solidFill>
                          <a:latin typeface="Microsoft YaHei"/>
                          <a:ea typeface="Microsoft YaHei"/>
                          <a:cs typeface="Microsoft YaHei"/>
                        </a:rPr>
                        <a:t>只决定 t=0 的 x、v 热分布；E&lt;0 才接受</a:t>
                      </a:r>
                    </a:p>
                  </a:txBody>
                  <a:tcPr marL="91440" marR="91440" marT="45720" marB="45720" anchor="ctr">
                    <a:solidFill>
                      <a:srgbClr val="EFF8FF"/>
                    </a:solidFill>
                  </a:tcPr>
                </a:tc>
                <a:tc>
                  <a:txBody>
                    <a:bodyPr>
                      <a:noAutofit/>
                    </a:bodyPr>
                    <a:lstStyle/>
                    <a:p>
                      <a:pPr algn="l"/>
                      <a:r>
                        <a:rPr sz="1050" b="0">
                          <a:solidFill>
                            <a:srgbClr val="344054"/>
                          </a:solidFill>
                          <a:latin typeface="Microsoft YaHei"/>
                          <a:ea typeface="Microsoft YaHei"/>
                          <a:cs typeface="Microsoft YaHei"/>
                        </a:rPr>
                        <a:t>uncalibrated</a:t>
                      </a:r>
                    </a:p>
                  </a:txBody>
                  <a:tcPr marL="91440" marR="91440" marT="45720" marB="45720" anchor="ctr">
                    <a:solidFill>
                      <a:srgbClr val="EFF8FF"/>
                    </a:solidFill>
                  </a:tcPr>
                </a:tc>
              </a:tr>
              <a:tr h="459581">
                <a:tc>
                  <a:txBody>
                    <a:bodyPr>
                      <a:noAutofit/>
                    </a:bodyPr>
                    <a:lstStyle/>
                    <a:p>
                      <a:pPr algn="l"/>
                      <a:r>
                        <a:rPr sz="1050" b="0">
                          <a:solidFill>
                            <a:srgbClr val="344054"/>
                          </a:solidFill>
                          <a:latin typeface="Microsoft YaHei"/>
                          <a:ea typeface="Microsoft YaHei"/>
                          <a:cs typeface="Microsoft YaHei"/>
                        </a:rPr>
                        <a:t>Static alignment σ</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0.05 µm</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每个 shot 抽一次，在 60 次转移中固定</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assumed</a:t>
                      </a:r>
                    </a:p>
                  </a:txBody>
                  <a:tcPr marL="91440" marR="91440" marT="45720" marB="45720" anchor="ctr">
                    <a:solidFill>
                      <a:srgbClr val="F8FAFC"/>
                    </a:solidFill>
                  </a:tcPr>
                </a:tc>
              </a:tr>
              <a:tr h="459581">
                <a:tc>
                  <a:txBody>
                    <a:bodyPr>
                      <a:noAutofit/>
                    </a:bodyPr>
                    <a:lstStyle/>
                    <a:p>
                      <a:pPr algn="l"/>
                      <a:r>
                        <a:rPr sz="1050" b="0">
                          <a:solidFill>
                            <a:srgbClr val="344054"/>
                          </a:solidFill>
                          <a:latin typeface="Microsoft YaHei"/>
                          <a:ea typeface="Microsoft YaHei"/>
                          <a:cs typeface="Microsoft YaHei"/>
                        </a:rPr>
                        <a:t>Leg-wise jitter σ</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0.01 µm</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每个 pickup / wait / drop-off 段重新抽样</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assumed</a:t>
                      </a:r>
                    </a:p>
                  </a:txBody>
                  <a:tcPr marL="91440" marR="91440" marT="45720" marB="45720" anchor="ctr">
                    <a:solidFill>
                      <a:srgbClr val="FFFFFF"/>
                    </a:solidFill>
                  </a:tcPr>
                </a:tc>
              </a:tr>
              <a:tr h="459581">
                <a:tc>
                  <a:txBody>
                    <a:bodyPr>
                      <a:noAutofit/>
                    </a:bodyPr>
                    <a:lstStyle/>
                    <a:p>
                      <a:pPr algn="l"/>
                      <a:r>
                        <a:rPr sz="1050" b="0">
                          <a:solidFill>
                            <a:srgbClr val="344054"/>
                          </a:solidFill>
                          <a:latin typeface="Microsoft YaHei"/>
                          <a:ea typeface="Microsoft YaHei"/>
                          <a:cs typeface="Microsoft YaHei"/>
                        </a:rPr>
                        <a:t>SLM depth σ</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11.4%</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每个 shot 的乘性阱深散布</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paper site spread</a:t>
                      </a:r>
                    </a:p>
                  </a:txBody>
                  <a:tcPr marL="91440" marR="91440" marT="45720" marB="45720" anchor="ctr">
                    <a:solidFill>
                      <a:srgbClr val="F8FAFC"/>
                    </a:solidFill>
                  </a:tcPr>
                </a:tc>
              </a:tr>
              <a:tr h="459581">
                <a:tc>
                  <a:txBody>
                    <a:bodyPr>
                      <a:noAutofit/>
                    </a:bodyPr>
                    <a:lstStyle/>
                    <a:p>
                      <a:pPr algn="l"/>
                      <a:r>
                        <a:rPr sz="1050" b="0">
                          <a:solidFill>
                            <a:srgbClr val="344054"/>
                          </a:solidFill>
                          <a:latin typeface="Microsoft YaHei"/>
                          <a:ea typeface="Microsoft YaHei"/>
                          <a:cs typeface="Microsoft YaHei"/>
                        </a:rPr>
                        <a:t>AOD depth / waist σ</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2% / 2%</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每个 shot 的乘性深度与束腰散布</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assumed</a:t>
                      </a:r>
                    </a:p>
                  </a:txBody>
                  <a:tcPr marL="91440" marR="91440" marT="45720" marB="45720" anchor="ctr">
                    <a:solidFill>
                      <a:srgbClr val="FFFFFF"/>
                    </a:solidFill>
                  </a:tcPr>
                </a:tc>
              </a:tr>
              <a:tr h="459581">
                <a:tc>
                  <a:txBody>
                    <a:bodyPr>
                      <a:noAutofit/>
                    </a:bodyPr>
                    <a:lstStyle/>
                    <a:p>
                      <a:pPr algn="l"/>
                      <a:r>
                        <a:rPr sz="1050" b="0">
                          <a:solidFill>
                            <a:srgbClr val="344054"/>
                          </a:solidFill>
                          <a:latin typeface="Microsoft YaHei"/>
                          <a:ea typeface="Microsoft YaHei"/>
                          <a:cs typeface="Microsoft YaHei"/>
                        </a:rPr>
                        <a:t>RIN PSD</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1×10⁻⁸ Hz⁻¹</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换算为确定性平均参量加热</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assumed</a:t>
                      </a:r>
                    </a:p>
                  </a:txBody>
                  <a:tcPr marL="91440" marR="91440" marT="45720" marB="45720" anchor="ctr">
                    <a:solidFill>
                      <a:srgbClr val="F8FAFC"/>
                    </a:solidFill>
                  </a:tcPr>
                </a:tc>
              </a:tr>
              <a:tr h="459581">
                <a:tc>
                  <a:txBody>
                    <a:bodyPr>
                      <a:noAutofit/>
                    </a:bodyPr>
                    <a:lstStyle/>
                    <a:p>
                      <a:pPr algn="l"/>
                      <a:r>
                        <a:rPr sz="1050" b="0">
                          <a:solidFill>
                            <a:srgbClr val="344054"/>
                          </a:solidFill>
                          <a:latin typeface="Microsoft YaHei"/>
                          <a:ea typeface="Microsoft YaHei"/>
                          <a:cs typeface="Microsoft YaHei"/>
                        </a:rPr>
                        <a:t>Recoil / pointing</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4.23 s⁻¹ / 1 pm² Hz⁻¹</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换算为每时间步注入能量</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model / assumed</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816FBBE-49E4-4D54-AE58-34D095567CC8}"/>
              </a:ext>
            </a:extLst>
          </p:cNvPr>
          <p:cNvSpPr>
            <a:spLocks xmlns:a="http://schemas.openxmlformats.org/drawingml/2006/main" noGrp="1"/>
          </p:cNvSpPr>
          <p:nvPr/>
        </p:nvSpPr>
        <p:spPr>
          <a:xfrm xmlns:a="http://schemas.openxmlformats.org/drawingml/2006/main">
            <a:off x="609600" y="5162550"/>
            <a:ext cx="5257800" cy="1066800"/>
          </a:xfrm>
          <a:prstGeom xmlns:a="http://schemas.openxmlformats.org/drawingml/2006/main" prst="roundRect">
            <a:avLst>
              <a:gd name="adj" fmla="val 7143"/>
            </a:avLst>
          </a:prstGeom>
          <a:solidFill xmlns:a="http://schemas.openxmlformats.org/drawingml/2006/main">
            <a:srgbClr val="EFF8FF"/>
          </a:solidFill>
          <a:ln xmlns:a="http://schemas.openxmlformats.org/drawingml/2006/main" w="9525">
            <a:solidFill>
              <a:srgbClr val="B2DDFF"/>
            </a:solidFill>
          </a:ln>
        </p:spPr>
      </p:sp>
      <p:sp>
        <p:nvSpPr>
          <p:cNvPr id="7" name="">
            <a:extLst xmlns:a="http://schemas.openxmlformats.org/drawingml/2006/main">
              <a:ext uri="{FF2B5EF4-FFF2-40B4-BE49-F238E27FC236}">
                <a16:creationId xmlns:a16="http://schemas.microsoft.com/office/drawing/2014/main" id="{5259C80D-A021-42FB-BA14-A78368F7E021}"/>
              </a:ext>
            </a:extLst>
          </p:cNvPr>
          <p:cNvSpPr>
            <a:spLocks xmlns:a="http://schemas.openxmlformats.org/drawingml/2006/main" noGrp="1"/>
          </p:cNvSpPr>
          <p:nvPr/>
        </p:nvSpPr>
        <p:spPr>
          <a:xfrm xmlns:a="http://schemas.openxmlformats.org/drawingml/2006/main">
            <a:off x="838200" y="53340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70EF"/>
                </a:solidFill>
                <a:latin typeface="Microsoft YaHei"/>
                <a:ea typeface="Microsoft YaHei"/>
                <a:cs typeface="Microsoft YaHei"/>
              </a:defRPr>
            </a:pPr>
            <a:r>
              <a:rPr sz="1350" b="1">
                <a:solidFill>
                  <a:srgbClr val="1570EF"/>
                </a:solidFill>
                <a:latin typeface="Microsoft YaHei"/>
                <a:ea typeface="Microsoft YaHei"/>
                <a:cs typeface="Microsoft YaHei"/>
              </a:rPr>
              <a:t>初态计算</a:t>
            </a:r>
          </a:p>
        </p:txBody>
      </p:sp>
      <p:sp>
        <p:nvSpPr>
          <p:cNvPr id="8" name="">
            <a:extLst xmlns:a="http://schemas.openxmlformats.org/drawingml/2006/main">
              <a:ext uri="{FF2B5EF4-FFF2-40B4-BE49-F238E27FC236}">
                <a16:creationId xmlns:a16="http://schemas.microsoft.com/office/drawing/2014/main" id="{1F19CA05-9766-4DB6-A892-E67B1D3F4A3F}"/>
              </a:ext>
            </a:extLst>
          </p:cNvPr>
          <p:cNvSpPr>
            <a:spLocks xmlns:a="http://schemas.openxmlformats.org/drawingml/2006/main" noGrp="1"/>
          </p:cNvSpPr>
          <p:nvPr/>
        </p:nvSpPr>
        <p:spPr>
          <a:xfrm xmlns:a="http://schemas.openxmlformats.org/drawingml/2006/main">
            <a:off x="838200" y="56578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x、v 先按 SLM 阱底的谐振近似采样，再用 E₀=½mv²+U_SLM(x)&lt;0 做束缚拒绝。转移开始后状态连续继承，不逐程重新热化。</a:t>
            </a:r>
          </a:p>
        </p:txBody>
      </p:sp>
      <p:sp>
        <p:nvSpPr>
          <p:cNvPr id="9" name="">
            <a:extLst xmlns:a="http://schemas.openxmlformats.org/drawingml/2006/main">
              <a:ext uri="{FF2B5EF4-FFF2-40B4-BE49-F238E27FC236}">
                <a16:creationId xmlns:a16="http://schemas.microsoft.com/office/drawing/2014/main" id="{EDAE6DE0-BC40-4814-A2F1-0C98DD445770}"/>
              </a:ext>
            </a:extLst>
          </p:cNvPr>
          <p:cNvSpPr>
            <a:spLocks xmlns:a="http://schemas.openxmlformats.org/drawingml/2006/main" noGrp="1"/>
          </p:cNvSpPr>
          <p:nvPr/>
        </p:nvSpPr>
        <p:spPr>
          <a:xfrm xmlns:a="http://schemas.openxmlformats.org/drawingml/2006/main">
            <a:off x="6115050" y="5162550"/>
            <a:ext cx="5467350" cy="1066800"/>
          </a:xfrm>
          <a:prstGeom xmlns:a="http://schemas.openxmlformats.org/drawingml/2006/main" prst="roundRect">
            <a:avLst>
              <a:gd name="adj" fmla="val 7143"/>
            </a:avLst>
          </a:prstGeom>
          <a:solidFill xmlns:a="http://schemas.openxmlformats.org/drawingml/2006/main">
            <a:srgbClr val="FEF3F2"/>
          </a:solidFill>
          <a:ln xmlns:a="http://schemas.openxmlformats.org/drawingml/2006/main" w="9525">
            <a:solidFill>
              <a:srgbClr val="FECDCA"/>
            </a:solidFill>
          </a:ln>
        </p:spPr>
      </p:sp>
      <p:sp>
        <p:nvSpPr>
          <p:cNvPr id="10" name="">
            <a:extLst xmlns:a="http://schemas.openxmlformats.org/drawingml/2006/main">
              <a:ext uri="{FF2B5EF4-FFF2-40B4-BE49-F238E27FC236}">
                <a16:creationId xmlns:a16="http://schemas.microsoft.com/office/drawing/2014/main" id="{9EDFAE81-52FA-4A97-8F9A-FFC1F3B7954E}"/>
              </a:ext>
            </a:extLst>
          </p:cNvPr>
          <p:cNvSpPr>
            <a:spLocks xmlns:a="http://schemas.openxmlformats.org/drawingml/2006/main" noGrp="1"/>
          </p:cNvSpPr>
          <p:nvPr/>
        </p:nvSpPr>
        <p:spPr>
          <a:xfrm xmlns:a="http://schemas.openxmlformats.org/drawingml/2006/main">
            <a:off x="6343650" y="533400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D92D20"/>
                </a:solidFill>
                <a:latin typeface="Microsoft YaHei"/>
                <a:ea typeface="Microsoft YaHei"/>
                <a:cs typeface="Microsoft YaHei"/>
              </a:defRPr>
            </a:pPr>
            <a:r>
              <a:rPr sz="1350" b="1">
                <a:solidFill>
                  <a:srgbClr val="D92D20"/>
                </a:solidFill>
                <a:latin typeface="Microsoft YaHei"/>
                <a:ea typeface="Microsoft YaHei"/>
                <a:cs typeface="Microsoft YaHei"/>
              </a:rPr>
              <a:t>当前未建模</a:t>
            </a:r>
          </a:p>
        </p:txBody>
      </p:sp>
      <p:sp>
        <p:nvSpPr>
          <p:cNvPr id="11" name="">
            <a:extLst xmlns:a="http://schemas.openxmlformats.org/drawingml/2006/main">
              <a:ext uri="{FF2B5EF4-FFF2-40B4-BE49-F238E27FC236}">
                <a16:creationId xmlns:a16="http://schemas.microsoft.com/office/drawing/2014/main" id="{9787D9C3-99EA-4961-9D9D-0046ECD84F07}"/>
              </a:ext>
            </a:extLst>
          </p:cNvPr>
          <p:cNvSpPr>
            <a:spLocks xmlns:a="http://schemas.openxmlformats.org/drawingml/2006/main" noGrp="1"/>
          </p:cNvSpPr>
          <p:nvPr/>
        </p:nvSpPr>
        <p:spPr>
          <a:xfrm xmlns:a="http://schemas.openxmlformats.org/drawingml/2006/main">
            <a:off x="6343650" y="5657850"/>
            <a:ext cx="4933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Level 2C 没有真空寿命、Raman 损失、成像误差或随机 RIN 时间序列。RIN 在当前实现中是平均功率注入。</a:t>
            </a:r>
          </a:p>
        </p:txBody>
      </p:sp>
      <p:sp>
        <p:nvSpPr>
          <p:cNvPr id="12" name="">
            <a:extLst xmlns:a="http://schemas.openxmlformats.org/drawingml/2006/main">
              <a:ext uri="{FF2B5EF4-FFF2-40B4-BE49-F238E27FC236}">
                <a16:creationId xmlns:a16="http://schemas.microsoft.com/office/drawing/2014/main" id="{E834A1E5-B263-40A0-AA55-7EDE2EC8B488}"/>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3" name="">
            <a:extLst xmlns:a="http://schemas.openxmlformats.org/drawingml/2006/main">
              <a:ext uri="{FF2B5EF4-FFF2-40B4-BE49-F238E27FC236}">
                <a16:creationId xmlns:a16="http://schemas.microsoft.com/office/drawing/2014/main" id="{E2A448D2-E321-45F9-8A83-04C5E639AC90}"/>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level2c_pickup_survival.yaml · survival_engine.py · noise_heating.py</a:t>
            </a:r>
          </a:p>
        </p:txBody>
      </p:sp>
      <p:sp>
        <p:nvSpPr>
          <p:cNvPr id="14" name="">
            <a:extLst xmlns:a="http://schemas.openxmlformats.org/drawingml/2006/main">
              <a:ext uri="{FF2B5EF4-FFF2-40B4-BE49-F238E27FC236}">
                <a16:creationId xmlns:a16="http://schemas.microsoft.com/office/drawing/2014/main" id="{BA17D669-679C-4FA1-9726-B7DDDEEB6053}"/>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05</a:t>
            </a:r>
          </a:p>
        </p:txBody>
      </p:sp>
    </p:spTree>
    <p:extLst>
      <p:ext uri="{BB962C8B-B14F-4D97-AF65-F5344CB8AC3E}">
        <p14:creationId xmlns:p14="http://schemas.microsoft.com/office/powerpoint/2010/main" val="1619780221"/>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4B6BA2C-DD3C-4E27-AAD7-27A260863DE7}"/>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04</a:t>
            </a:r>
          </a:p>
        </p:txBody>
      </p:sp>
      <p:sp>
        <p:nvSpPr>
          <p:cNvPr id="2" name="">
            <a:extLst xmlns:a="http://schemas.openxmlformats.org/drawingml/2006/main">
              <a:ext uri="{FF2B5EF4-FFF2-40B4-BE49-F238E27FC236}">
                <a16:creationId xmlns:a16="http://schemas.microsoft.com/office/drawing/2014/main" id="{B76FB09C-0E26-400D-8CCC-1BA0650E22DE}"/>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手工波形与一次往返协议</a:t>
            </a:r>
          </a:p>
        </p:txBody>
      </p:sp>
      <p:sp>
        <p:nvSpPr>
          <p:cNvPr id="3" name="">
            <a:extLst xmlns:a="http://schemas.openxmlformats.org/drawingml/2006/main">
              <a:ext uri="{FF2B5EF4-FFF2-40B4-BE49-F238E27FC236}">
                <a16:creationId xmlns:a16="http://schemas.microsoft.com/office/drawing/2014/main" id="{0F02A5D9-3FC3-429E-9C98-EAD6945A3424}"/>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3492292A-65FF-475B-9C50-42AB2FB87B2E}"/>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本步把论文 Methods 转成 AOD 中心 c(t)、深度 D(t) 和三个连续阶段</a:t>
            </a:r>
          </a:p>
        </p:txBody>
      </p:sp>
      <p:graphicFrame>
        <p:nvGraphicFramePr>
          <p:cNvPr id="16" name="Chart"/>
          <p:cNvGraphicFramePr/>
          <p:nvPr/>
        </p:nvGraphicFramePr>
        <p:xfrm>
          <a:off xmlns:a="http://schemas.openxmlformats.org/drawingml/2006/main" x="609600" y="1314450"/>
          <a:ext xmlns:a="http://schemas.openxmlformats.org/drawingml/2006/main" cx="5143500" cy="2781300"/>
        </p:xfrm>
        <a:graphic xmlns:a="http://schemas.openxmlformats.org/drawingml/2006/main">
          <a:graphicData uri="http://schemas.openxmlformats.org/drawingml/2006/chart">
            <c:chart xmlns:r="http://schemas.openxmlformats.org/officeDocument/2006/relationships" xmlns:c="http://schemas.openxmlformats.org/drawingml/2006/chart" r:id="Ra19b3af17f7442b8"/>
          </a:graphicData>
        </a:graphic>
      </p:graphicFrame>
      <p:graphicFrame>
        <p:nvGraphicFramePr>
          <p:cNvPr id="17" name="Chart"/>
          <p:cNvGraphicFramePr/>
          <p:nvPr/>
        </p:nvGraphicFramePr>
        <p:xfrm>
          <a:off xmlns:a="http://schemas.openxmlformats.org/drawingml/2006/main" x="6096000" y="1314450"/>
          <a:ext xmlns:a="http://schemas.openxmlformats.org/drawingml/2006/main" cx="5486400" cy="2781300"/>
        </p:xfrm>
        <a:graphic xmlns:a="http://schemas.openxmlformats.org/drawingml/2006/main">
          <a:graphicData uri="http://schemas.openxmlformats.org/drawingml/2006/chart">
            <c:chart xmlns:r="http://schemas.openxmlformats.org/officeDocument/2006/relationships" xmlns:c="http://schemas.openxmlformats.org/drawingml/2006/chart" r:id="Rdf165d8a342d4f91"/>
          </a:graphicData>
        </a:graphic>
      </p:graphicFrame>
      <p:graphicFrame>
        <p:nvGraphicFramePr>
          <p:cNvPr id="18" name=""/>
          <p:cNvGraphicFramePr/>
          <p:nvPr/>
        </p:nvGraphicFramePr>
        <p:xfrm>
          <a:off xmlns:a="http://schemas.openxmlformats.org/drawingml/2006/main" x="609600" y="4362450"/>
          <a:ext xmlns:a="http://schemas.openxmlformats.org/drawingml/2006/main" cx="10972800" cy="1562100"/>
        </p:xfrm>
        <a:graphic xmlns:a="http://schemas.openxmlformats.org/drawingml/2006/main">
          <a:graphicData uri="http://schemas.openxmlformats.org/drawingml/2006/table">
            <a:tbl>
              <a:tblPr/>
              <a:tblGrid>
                <a:gridCol w="1600200"/>
                <a:gridCol w="2057400"/>
                <a:gridCol w="4800600"/>
                <a:gridCol w="2514600"/>
              </a:tblGrid>
              <a:tr h="390525">
                <a:tc>
                  <a:txBody>
                    <a:bodyPr>
                      <a:noAutofit/>
                    </a:bodyPr>
                    <a:lstStyle/>
                    <a:p>
                      <a:pPr algn="l"/>
                      <a:r>
                        <a:rPr sz="1050" b="1">
                          <a:solidFill>
                            <a:srgbClr val="FFFFFF"/>
                          </a:solidFill>
                          <a:latin typeface="Microsoft YaHei"/>
                          <a:ea typeface="Microsoft YaHei"/>
                          <a:cs typeface="Microsoft YaHei"/>
                        </a:rPr>
                        <a:t>Phase</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Duration</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Control operation</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End-of-phase calculation</a:t>
                      </a:r>
                    </a:p>
                  </a:txBody>
                  <a:tcPr marL="91440" marR="91440" marT="45720" marB="45720" anchor="ctr">
                    <a:solidFill>
                      <a:srgbClr val="102A43"/>
                    </a:solidFill>
                  </a:tcPr>
                </a:tc>
              </a:tr>
              <a:tr h="390525">
                <a:tc>
                  <a:txBody>
                    <a:bodyPr>
                      <a:noAutofit/>
                    </a:bodyPr>
                    <a:lstStyle/>
                    <a:p>
                      <a:pPr algn="l"/>
                      <a:r>
                        <a:rPr sz="1050" b="0">
                          <a:solidFill>
                            <a:srgbClr val="344054"/>
                          </a:solidFill>
                          <a:latin typeface="Microsoft YaHei"/>
                          <a:ea typeface="Microsoft YaHei"/>
                          <a:cs typeface="Microsoft YaHei"/>
                        </a:rPr>
                        <a:t>Pick-up</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200 / 400 / 600 µs</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前 48% 二次升深，后 52% constant-jerk 移动 2.4 µm</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进入 100 µs wait</a:t>
                      </a:r>
                    </a:p>
                  </a:txBody>
                  <a:tcPr marL="91440" marR="91440" marT="45720" marB="45720" anchor="ctr">
                    <a:solidFill>
                      <a:srgbClr val="FFFFFF"/>
                    </a:solidFill>
                  </a:tcPr>
                </a:tc>
              </a:tr>
              <a:tr h="390525">
                <a:tc>
                  <a:txBody>
                    <a:bodyPr>
                      <a:noAutofit/>
                    </a:bodyPr>
                    <a:lstStyle/>
                    <a:p>
                      <a:pPr algn="l"/>
                      <a:r>
                        <a:rPr sz="1050" b="0">
                          <a:solidFill>
                            <a:srgbClr val="344054"/>
                          </a:solidFill>
                          <a:latin typeface="Microsoft YaHei"/>
                          <a:ea typeface="Microsoft YaHei"/>
                          <a:cs typeface="Microsoft YaHei"/>
                        </a:rPr>
                        <a:t>Wait</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100 µs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SLM 关闭，AOD 保持原子</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计算 E_AOD&lt;0</a:t>
                      </a:r>
                    </a:p>
                  </a:txBody>
                  <a:tcPr marL="91440" marR="91440" marT="45720" marB="45720" anchor="ctr">
                    <a:solidFill>
                      <a:srgbClr val="F8FAFC"/>
                    </a:solidFill>
                  </a:tcPr>
                </a:tc>
              </a:tr>
              <a:tr h="390525">
                <a:tc>
                  <a:txBody>
                    <a:bodyPr>
                      <a:noAutofit/>
                    </a:bodyPr>
                    <a:lstStyle/>
                    <a:p>
                      <a:pPr algn="l"/>
                      <a:r>
                        <a:rPr sz="1050" b="0">
                          <a:solidFill>
                            <a:srgbClr val="344054"/>
                          </a:solidFill>
                          <a:latin typeface="Microsoft YaHei"/>
                          <a:ea typeface="Microsoft YaHei"/>
                          <a:cs typeface="Microsoft YaHei"/>
                        </a:rPr>
                        <a:t>Drop-off</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与 pick-up 相同</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使用 pick-up 的严格时间反演</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计算 E_SLM&lt;0</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6B8D7238-39CD-44B5-AB55-12CD2DF859D0}"/>
              </a:ext>
            </a:extLst>
          </p:cNvPr>
          <p:cNvSpPr>
            <a:spLocks xmlns:a="http://schemas.openxmlformats.org/drawingml/2006/main" noGrp="1"/>
          </p:cNvSpPr>
          <p:nvPr/>
        </p:nvSpPr>
        <p:spPr>
          <a:xfrm xmlns:a="http://schemas.openxmlformats.org/drawingml/2006/main">
            <a:off x="819150" y="60483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344054"/>
                </a:solidFill>
                <a:latin typeface="Microsoft YaHei"/>
                <a:ea typeface="Microsoft YaHei"/>
                <a:cs typeface="Microsoft YaHei"/>
              </a:defRPr>
            </a:pPr>
            <a:r>
              <a:rPr sz="1163" b="0">
                <a:solidFill>
                  <a:srgbClr val="344054"/>
                </a:solidFill>
                <a:latin typeface="Microsoft YaHei"/>
                <a:ea typeface="Microsoft YaHei"/>
                <a:cs typeface="Microsoft YaHei"/>
              </a:rPr>
              <a:t>一个 pick-up 判定和一个 drop-off 判定构成两次 one-way transfer；60 次单程对应最多 30 次完整往返。</a:t>
            </a:r>
          </a:p>
        </p:txBody>
      </p:sp>
      <p:sp>
        <p:nvSpPr>
          <p:cNvPr id="9" name="">
            <a:extLst xmlns:a="http://schemas.openxmlformats.org/drawingml/2006/main">
              <a:ext uri="{FF2B5EF4-FFF2-40B4-BE49-F238E27FC236}">
                <a16:creationId xmlns:a16="http://schemas.microsoft.com/office/drawing/2014/main" id="{2C990EB9-893D-4DF2-99FF-460646421587}"/>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0" name="">
            <a:extLst xmlns:a="http://schemas.openxmlformats.org/drawingml/2006/main">
              <a:ext uri="{FF2B5EF4-FFF2-40B4-BE49-F238E27FC236}">
                <a16:creationId xmlns:a16="http://schemas.microsoft.com/office/drawing/2014/main" id="{91B4C18B-3067-4FDD-99F0-AF1A8C2B9B0B}"/>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waveforms.py · fig6d_parameters.md · level2c config</a:t>
            </a:r>
          </a:p>
        </p:txBody>
      </p:sp>
      <p:sp>
        <p:nvSpPr>
          <p:cNvPr id="11" name="">
            <a:extLst xmlns:a="http://schemas.openxmlformats.org/drawingml/2006/main">
              <a:ext uri="{FF2B5EF4-FFF2-40B4-BE49-F238E27FC236}">
                <a16:creationId xmlns:a16="http://schemas.microsoft.com/office/drawing/2014/main" id="{62B06AAD-68E8-4164-8465-1C05BB73C4C2}"/>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06</a:t>
            </a:r>
          </a:p>
        </p:txBody>
      </p:sp>
    </p:spTree>
    <p:extLst>
      <p:ext uri="{BB962C8B-B14F-4D97-AF65-F5344CB8AC3E}">
        <p14:creationId xmlns:p14="http://schemas.microsoft.com/office/powerpoint/2010/main" val="1245694353"/>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BB070E0-5083-4342-8240-80C6D81EA458}"/>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05</a:t>
            </a:r>
          </a:p>
        </p:txBody>
      </p:sp>
      <p:sp>
        <p:nvSpPr>
          <p:cNvPr id="2" name="">
            <a:extLst xmlns:a="http://schemas.openxmlformats.org/drawingml/2006/main">
              <a:ext uri="{FF2B5EF4-FFF2-40B4-BE49-F238E27FC236}">
                <a16:creationId xmlns:a16="http://schemas.microsoft.com/office/drawing/2014/main" id="{C660B1AA-7A63-4405-9037-DCB1A8996EF3}"/>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单个原子的数值传播与束缚判定</a:t>
            </a:r>
          </a:p>
        </p:txBody>
      </p:sp>
      <p:sp>
        <p:nvSpPr>
          <p:cNvPr id="3" name="">
            <a:extLst xmlns:a="http://schemas.openxmlformats.org/drawingml/2006/main">
              <a:ext uri="{FF2B5EF4-FFF2-40B4-BE49-F238E27FC236}">
                <a16:creationId xmlns:a16="http://schemas.microsoft.com/office/drawing/2014/main" id="{092236A3-DEE5-43CC-9867-FCC2897EFAD2}"/>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C8B922C4-A01E-4C61-9806-F06D97F9F883}"/>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本步按 dt 更新 x、v 和注入能量；原子失败后立即退出后续计算</a:t>
            </a:r>
          </a:p>
        </p:txBody>
      </p:sp>
      <p:sp>
        <p:nvSpPr>
          <p:cNvPr id="5" name="">
            <a:extLst xmlns:a="http://schemas.openxmlformats.org/drawingml/2006/main">
              <a:ext uri="{FF2B5EF4-FFF2-40B4-BE49-F238E27FC236}">
                <a16:creationId xmlns:a16="http://schemas.microsoft.com/office/drawing/2014/main" id="{D5E3E64C-F52A-4B14-85FA-ECC80056489C}"/>
              </a:ext>
            </a:extLst>
          </p:cNvPr>
          <p:cNvSpPr>
            <a:spLocks xmlns:a="http://schemas.openxmlformats.org/drawingml/2006/main" noGrp="1"/>
          </p:cNvSpPr>
          <p:nvPr/>
        </p:nvSpPr>
        <p:spPr>
          <a:xfrm xmlns:a="http://schemas.openxmlformats.org/drawingml/2006/main">
            <a:off x="609600" y="1257300"/>
            <a:ext cx="4762500" cy="3028950"/>
          </a:xfrm>
          <a:prstGeom xmlns:a="http://schemas.openxmlformats.org/drawingml/2006/main" prst="roundRect">
            <a:avLst>
              <a:gd name="adj" fmla="val 2516"/>
            </a:avLst>
          </a:prstGeom>
          <a:solidFill xmlns:a="http://schemas.openxmlformats.org/drawingml/2006/main">
            <a:srgbClr val="FFFFFF"/>
          </a:solidFill>
          <a:ln xmlns:a="http://schemas.openxmlformats.org/drawingml/2006/main" w="9525">
            <a:solidFill>
              <a:srgbClr val="EAECF0"/>
            </a:solidFill>
          </a:ln>
        </p:spPr>
      </p:sp>
      <p:sp>
        <p:nvSpPr>
          <p:cNvPr id="6" name="">
            <a:extLst xmlns:a="http://schemas.openxmlformats.org/drawingml/2006/main">
              <a:ext uri="{FF2B5EF4-FFF2-40B4-BE49-F238E27FC236}">
                <a16:creationId xmlns:a16="http://schemas.microsoft.com/office/drawing/2014/main" id="{9F40BFF9-3663-4F9D-BED5-8F9AE269DEF8}"/>
              </a:ext>
            </a:extLst>
          </p:cNvPr>
          <p:cNvSpPr>
            <a:spLocks xmlns:a="http://schemas.openxmlformats.org/drawingml/2006/main" noGrp="1"/>
          </p:cNvSpPr>
          <p:nvPr/>
        </p:nvSpPr>
        <p:spPr>
          <a:xfrm xmlns:a="http://schemas.openxmlformats.org/drawingml/2006/main">
            <a:off x="876300" y="15049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Velocity-Verlet 更新</a:t>
            </a:r>
          </a:p>
        </p:txBody>
      </p:sp>
      <p:sp>
        <p:nvSpPr>
          <p:cNvPr id="7" name="">
            <a:extLst xmlns:a="http://schemas.openxmlformats.org/drawingml/2006/main">
              <a:ext uri="{FF2B5EF4-FFF2-40B4-BE49-F238E27FC236}">
                <a16:creationId xmlns:a16="http://schemas.microsoft.com/office/drawing/2014/main" id="{0BB66014-B80B-4362-9032-5F934C51AE12}"/>
              </a:ext>
            </a:extLst>
          </p:cNvPr>
          <p:cNvSpPr>
            <a:spLocks xmlns:a="http://schemas.openxmlformats.org/drawingml/2006/main" noGrp="1"/>
          </p:cNvSpPr>
          <p:nvPr/>
        </p:nvSpPr>
        <p:spPr>
          <a:xfrm xmlns:a="http://schemas.openxmlformats.org/drawingml/2006/main">
            <a:off x="876300" y="203835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1570EF"/>
                </a:solidFill>
                <a:latin typeface="Microsoft YaHei"/>
                <a:ea typeface="Microsoft YaHei"/>
                <a:cs typeface="Microsoft YaHei"/>
              </a:defRPr>
            </a:pPr>
            <a:r>
              <a:rPr sz="1500" b="1">
                <a:solidFill>
                  <a:srgbClr val="1570EF"/>
                </a:solidFill>
                <a:latin typeface="Microsoft YaHei"/>
                <a:ea typeface="Microsoft YaHei"/>
                <a:cs typeface="Microsoft YaHei"/>
              </a:rPr>
              <a:t>a(t) = [F_SLM + F_AOD] / m</a:t>
            </a:r>
          </a:p>
        </p:txBody>
      </p:sp>
      <p:sp>
        <p:nvSpPr>
          <p:cNvPr id="8" name="">
            <a:extLst xmlns:a="http://schemas.openxmlformats.org/drawingml/2006/main">
              <a:ext uri="{FF2B5EF4-FFF2-40B4-BE49-F238E27FC236}">
                <a16:creationId xmlns:a16="http://schemas.microsoft.com/office/drawing/2014/main" id="{A48F1AC5-ABB3-4DB5-A020-FEA0EDE64614}"/>
              </a:ext>
            </a:extLst>
          </p:cNvPr>
          <p:cNvSpPr>
            <a:spLocks xmlns:a="http://schemas.openxmlformats.org/drawingml/2006/main" noGrp="1"/>
          </p:cNvSpPr>
          <p:nvPr/>
        </p:nvSpPr>
        <p:spPr>
          <a:xfrm xmlns:a="http://schemas.openxmlformats.org/drawingml/2006/main">
            <a:off x="876300" y="257175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x(t+dt) = x + v·dt + ½a·dt²</a:t>
            </a:r>
          </a:p>
        </p:txBody>
      </p:sp>
      <p:sp>
        <p:nvSpPr>
          <p:cNvPr id="9" name="">
            <a:extLst xmlns:a="http://schemas.openxmlformats.org/drawingml/2006/main">
              <a:ext uri="{FF2B5EF4-FFF2-40B4-BE49-F238E27FC236}">
                <a16:creationId xmlns:a16="http://schemas.microsoft.com/office/drawing/2014/main" id="{C2FDCB83-96C2-4B5B-A5E0-21F032B4A594}"/>
              </a:ext>
            </a:extLst>
          </p:cNvPr>
          <p:cNvSpPr>
            <a:spLocks xmlns:a="http://schemas.openxmlformats.org/drawingml/2006/main" noGrp="1"/>
          </p:cNvSpPr>
          <p:nvPr/>
        </p:nvSpPr>
        <p:spPr>
          <a:xfrm xmlns:a="http://schemas.openxmlformats.org/drawingml/2006/main">
            <a:off x="876300" y="310515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v(t+dt) = v + ½[a(t)+a(t+dt)]·dt</a:t>
            </a:r>
          </a:p>
        </p:txBody>
      </p:sp>
      <p:sp>
        <p:nvSpPr>
          <p:cNvPr id="10" name="">
            <a:extLst xmlns:a="http://schemas.openxmlformats.org/drawingml/2006/main">
              <a:ext uri="{FF2B5EF4-FFF2-40B4-BE49-F238E27FC236}">
                <a16:creationId xmlns:a16="http://schemas.microsoft.com/office/drawing/2014/main" id="{B2F5BD63-7A48-4E52-BC04-AA0427302FCB}"/>
              </a:ext>
            </a:extLst>
          </p:cNvPr>
          <p:cNvSpPr>
            <a:spLocks xmlns:a="http://schemas.openxmlformats.org/drawingml/2006/main" noGrp="1"/>
          </p:cNvSpPr>
          <p:nvPr/>
        </p:nvSpPr>
        <p:spPr>
          <a:xfrm xmlns:a="http://schemas.openxmlformats.org/drawingml/2006/main">
            <a:off x="876300" y="3695700"/>
            <a:ext cx="4229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状态在相邻阶段和相邻往返之间连续继承。代码不会在每次 transfer 前重新采样或重新热化。</a:t>
            </a:r>
          </a:p>
        </p:txBody>
      </p:sp>
      <p:sp>
        <p:nvSpPr>
          <p:cNvPr id="11" name="">
            <a:extLst xmlns:a="http://schemas.openxmlformats.org/drawingml/2006/main">
              <a:ext uri="{FF2B5EF4-FFF2-40B4-BE49-F238E27FC236}">
                <a16:creationId xmlns:a16="http://schemas.microsoft.com/office/drawing/2014/main" id="{BF9B05F6-ED8D-4A0B-9DAE-DBAC557B1314}"/>
              </a:ext>
            </a:extLst>
          </p:cNvPr>
          <p:cNvSpPr>
            <a:spLocks xmlns:a="http://schemas.openxmlformats.org/drawingml/2006/main" noGrp="1"/>
          </p:cNvSpPr>
          <p:nvPr/>
        </p:nvSpPr>
        <p:spPr>
          <a:xfrm xmlns:a="http://schemas.openxmlformats.org/drawingml/2006/main">
            <a:off x="5695950" y="1257300"/>
            <a:ext cx="5886450" cy="3028950"/>
          </a:xfrm>
          <a:prstGeom xmlns:a="http://schemas.openxmlformats.org/drawingml/2006/main" prst="roundRect">
            <a:avLst>
              <a:gd name="adj" fmla="val 2516"/>
            </a:avLst>
          </a:prstGeom>
          <a:solidFill xmlns:a="http://schemas.openxmlformats.org/drawingml/2006/main">
            <a:srgbClr val="FFFFFF"/>
          </a:solidFill>
          <a:ln xmlns:a="http://schemas.openxmlformats.org/drawingml/2006/main" w="9525">
            <a:solidFill>
              <a:srgbClr val="EAECF0"/>
            </a:solidFill>
          </a:ln>
        </p:spPr>
      </p:sp>
      <p:sp>
        <p:nvSpPr>
          <p:cNvPr id="12" name="">
            <a:extLst xmlns:a="http://schemas.openxmlformats.org/drawingml/2006/main">
              <a:ext uri="{FF2B5EF4-FFF2-40B4-BE49-F238E27FC236}">
                <a16:creationId xmlns:a16="http://schemas.microsoft.com/office/drawing/2014/main" id="{F093024E-4E97-4D78-916E-5B3B0CE7BFA5}"/>
              </a:ext>
            </a:extLst>
          </p:cNvPr>
          <p:cNvSpPr>
            <a:spLocks xmlns:a="http://schemas.openxmlformats.org/drawingml/2006/main" noGrp="1"/>
          </p:cNvSpPr>
          <p:nvPr/>
        </p:nvSpPr>
        <p:spPr>
          <a:xfrm xmlns:a="http://schemas.openxmlformats.org/drawingml/2006/main">
            <a:off x="5962650" y="15049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数值与加热参数</a:t>
            </a:r>
          </a:p>
        </p:txBody>
      </p:sp>
      <p:graphicFrame>
        <p:nvGraphicFramePr>
          <p:cNvPr id="31" name=""/>
          <p:cNvGraphicFramePr/>
          <p:nvPr/>
        </p:nvGraphicFramePr>
        <p:xfrm>
          <a:off xmlns:a="http://schemas.openxmlformats.org/drawingml/2006/main" x="5962650" y="1962150"/>
          <a:ext xmlns:a="http://schemas.openxmlformats.org/drawingml/2006/main" cx="5353050" cy="2076450"/>
        </p:xfrm>
        <a:graphic xmlns:a="http://schemas.openxmlformats.org/drawingml/2006/main">
          <a:graphicData uri="http://schemas.openxmlformats.org/drawingml/2006/table">
            <a:tbl>
              <a:tblPr/>
              <a:tblGrid>
                <a:gridCol w="1655582"/>
                <a:gridCol w="1269280"/>
                <a:gridCol w="2428188"/>
              </a:tblGrid>
              <a:tr h="346075">
                <a:tc>
                  <a:txBody>
                    <a:bodyPr>
                      <a:noAutofit/>
                    </a:bodyPr>
                    <a:lstStyle/>
                    <a:p>
                      <a:pPr algn="l"/>
                      <a:r>
                        <a:rPr sz="1050" b="1">
                          <a:solidFill>
                            <a:srgbClr val="FFFFFF"/>
                          </a:solidFill>
                          <a:latin typeface="Microsoft YaHei"/>
                          <a:ea typeface="Microsoft YaHei"/>
                          <a:cs typeface="Microsoft YaHei"/>
                        </a:rPr>
                        <a:t>Parameter</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Value</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Meaning</a:t>
                      </a:r>
                    </a:p>
                  </a:txBody>
                  <a:tcPr marL="91440" marR="91440" marT="45720" marB="45720" anchor="ctr">
                    <a:solidFill>
                      <a:srgbClr val="102A43"/>
                    </a:solidFill>
                  </a:tcPr>
                </a:tc>
              </a:tr>
              <a:tr h="346075">
                <a:tc>
                  <a:txBody>
                    <a:bodyPr>
                      <a:noAutofit/>
                    </a:bodyPr>
                    <a:lstStyle/>
                    <a:p>
                      <a:pPr algn="l"/>
                      <a:r>
                        <a:rPr sz="1050" b="0">
                          <a:solidFill>
                            <a:srgbClr val="344054"/>
                          </a:solidFill>
                          <a:latin typeface="Microsoft YaHei"/>
                          <a:ea typeface="Microsoft YaHei"/>
                          <a:cs typeface="Microsoft YaHei"/>
                        </a:rPr>
                        <a:t>Main dt</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0.05 µs</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主扫描积分步长</a:t>
                      </a:r>
                    </a:p>
                  </a:txBody>
                  <a:tcPr marL="91440" marR="91440" marT="45720" marB="45720" anchor="ctr">
                    <a:solidFill>
                      <a:srgbClr val="FFFFFF"/>
                    </a:solidFill>
                  </a:tcPr>
                </a:tc>
              </a:tr>
              <a:tr h="346075">
                <a:tc>
                  <a:txBody>
                    <a:bodyPr>
                      <a:noAutofit/>
                    </a:bodyPr>
                    <a:lstStyle/>
                    <a:p>
                      <a:pPr algn="l"/>
                      <a:r>
                        <a:rPr sz="1050" b="0">
                          <a:solidFill>
                            <a:srgbClr val="344054"/>
                          </a:solidFill>
                          <a:latin typeface="Microsoft YaHei"/>
                          <a:ea typeface="Microsoft YaHei"/>
                          <a:cs typeface="Microsoft YaHei"/>
                        </a:rPr>
                        <a:t>Convergence dt</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0.025 µs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步长减半复算</a:t>
                      </a:r>
                    </a:p>
                  </a:txBody>
                  <a:tcPr marL="91440" marR="91440" marT="45720" marB="45720" anchor="ctr">
                    <a:solidFill>
                      <a:srgbClr val="F8FAFC"/>
                    </a:solidFill>
                  </a:tcPr>
                </a:tc>
              </a:tr>
              <a:tr h="346075">
                <a:tc>
                  <a:txBody>
                    <a:bodyPr>
                      <a:noAutofit/>
                    </a:bodyPr>
                    <a:lstStyle/>
                    <a:p>
                      <a:pPr algn="l"/>
                      <a:r>
                        <a:rPr sz="1050" b="0">
                          <a:solidFill>
                            <a:srgbClr val="344054"/>
                          </a:solidFill>
                          <a:latin typeface="Microsoft YaHei"/>
                          <a:ea typeface="Microsoft YaHei"/>
                          <a:cs typeface="Microsoft YaHei"/>
                        </a:rPr>
                        <a:t>Recoil rate</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4.23 s⁻¹</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平均反冲加热</a:t>
                      </a:r>
                    </a:p>
                  </a:txBody>
                  <a:tcPr marL="91440" marR="91440" marT="45720" marB="45720" anchor="ctr">
                    <a:solidFill>
                      <a:srgbClr val="FFFFFF"/>
                    </a:solidFill>
                  </a:tcPr>
                </a:tc>
              </a:tr>
              <a:tr h="346075">
                <a:tc>
                  <a:txBody>
                    <a:bodyPr>
                      <a:noAutofit/>
                    </a:bodyPr>
                    <a:lstStyle/>
                    <a:p>
                      <a:pPr algn="l"/>
                      <a:r>
                        <a:rPr sz="1050" b="0">
                          <a:solidFill>
                            <a:srgbClr val="344054"/>
                          </a:solidFill>
                          <a:latin typeface="Microsoft YaHei"/>
                          <a:ea typeface="Microsoft YaHei"/>
                          <a:cs typeface="Microsoft YaHei"/>
                        </a:rPr>
                        <a:t>RIN reference ν₀</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36.007 kHz</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参量加热参考频率</a:t>
                      </a:r>
                    </a:p>
                  </a:txBody>
                  <a:tcPr marL="91440" marR="91440" marT="45720" marB="45720" anchor="ctr">
                    <a:solidFill>
                      <a:srgbClr val="F8FAFC"/>
                    </a:solidFill>
                  </a:tcPr>
                </a:tc>
              </a:tr>
              <a:tr h="346075">
                <a:tc>
                  <a:txBody>
                    <a:bodyPr>
                      <a:noAutofit/>
                    </a:bodyPr>
                    <a:lstStyle/>
                    <a:p>
                      <a:pPr algn="l"/>
                      <a:r>
                        <a:rPr sz="1050" b="0">
                          <a:solidFill>
                            <a:srgbClr val="344054"/>
                          </a:solidFill>
                          <a:latin typeface="Microsoft YaHei"/>
                          <a:ea typeface="Microsoft YaHei"/>
                          <a:cs typeface="Microsoft YaHei"/>
                        </a:rPr>
                        <a:t>Noise update</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every dt</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将平均功率转换为动能增量</a:t>
                      </a:r>
                    </a:p>
                  </a:txBody>
                  <a:tcPr marL="91440" marR="91440" marT="45720" marB="45720" anchor="ctr">
                    <a:solidFill>
                      <a:srgbClr val="FFFFFF"/>
                    </a:solidFill>
                  </a:tcPr>
                </a:tc>
              </a:tr>
            </a:tbl>
          </a:graphicData>
        </a:graphic>
      </p:graphicFrame>
      <p:graphicFrame>
        <p:nvGraphicFramePr>
          <p:cNvPr id="32" name=""/>
          <p:cNvGraphicFramePr/>
          <p:nvPr/>
        </p:nvGraphicFramePr>
        <p:xfrm>
          <a:off xmlns:a="http://schemas.openxmlformats.org/drawingml/2006/main" x="609600" y="4572000"/>
          <a:ext xmlns:a="http://schemas.openxmlformats.org/drawingml/2006/main" cx="10972800" cy="1352550"/>
        </p:xfrm>
        <a:graphic xmlns:a="http://schemas.openxmlformats.org/drawingml/2006/main">
          <a:graphicData uri="http://schemas.openxmlformats.org/drawingml/2006/table">
            <a:tbl>
              <a:tblPr/>
              <a:tblGrid>
                <a:gridCol w="2545690"/>
                <a:gridCol w="5266944"/>
                <a:gridCol w="3160166"/>
              </a:tblGrid>
              <a:tr h="450850">
                <a:tc>
                  <a:txBody>
                    <a:bodyPr>
                      <a:noAutofit/>
                    </a:bodyPr>
                    <a:lstStyle/>
                    <a:p>
                      <a:pPr algn="l"/>
                      <a:r>
                        <a:rPr sz="1125" b="1">
                          <a:solidFill>
                            <a:srgbClr val="FFFFFF"/>
                          </a:solidFill>
                          <a:latin typeface="Microsoft YaHei"/>
                          <a:ea typeface="Microsoft YaHei"/>
                          <a:cs typeface="Microsoft YaHei"/>
                        </a:rPr>
                        <a:t>Checkpoint</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Energy used for decision</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Decision</a:t>
                      </a:r>
                    </a:p>
                  </a:txBody>
                  <a:tcPr marL="91440" marR="91440" marT="45720" marB="45720" anchor="ctr">
                    <a:solidFill>
                      <a:srgbClr val="102A43"/>
                    </a:solidFill>
                  </a:tcPr>
                </a:tc>
              </a:tr>
              <a:tr h="450850">
                <a:tc>
                  <a:txBody>
                    <a:bodyPr>
                      <a:noAutofit/>
                    </a:bodyPr>
                    <a:lstStyle/>
                    <a:p>
                      <a:pPr algn="l"/>
                      <a:r>
                        <a:rPr sz="1200" b="0">
                          <a:solidFill>
                            <a:srgbClr val="344054"/>
                          </a:solidFill>
                          <a:latin typeface="Microsoft YaHei"/>
                          <a:ea typeface="Microsoft YaHei"/>
                          <a:cs typeface="Microsoft YaHei"/>
                        </a:rPr>
                        <a:t>After pickup wait</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E_AOD = ½mv² + U_AOD(x)</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E_AOD&lt;0 才保留</a:t>
                      </a:r>
                    </a:p>
                  </a:txBody>
                  <a:tcPr marL="91440" marR="91440" marT="45720" marB="45720" anchor="ctr">
                    <a:solidFill>
                      <a:srgbClr val="FFFFFF"/>
                    </a:solidFill>
                  </a:tcPr>
                </a:tc>
              </a:tr>
              <a:tr h="450850">
                <a:tc>
                  <a:txBody>
                    <a:bodyPr>
                      <a:noAutofit/>
                    </a:bodyPr>
                    <a:lstStyle/>
                    <a:p>
                      <a:pPr algn="l"/>
                      <a:r>
                        <a:rPr sz="1200" b="0">
                          <a:solidFill>
                            <a:srgbClr val="344054"/>
                          </a:solidFill>
                          <a:latin typeface="Microsoft YaHei"/>
                          <a:ea typeface="Microsoft YaHei"/>
                          <a:cs typeface="Microsoft YaHei"/>
                        </a:rPr>
                        <a:t>After drop-off</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E_SLM = ½mv² + U_SLM(x)</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E_SLM&lt;0 才保留</a:t>
                      </a:r>
                    </a:p>
                  </a:txBody>
                  <a:tcPr marL="91440" marR="91440" marT="45720" marB="45720" anchor="ctr">
                    <a:solidFill>
                      <a:srgbClr val="F8FAFC"/>
                    </a:solidFill>
                  </a:tcPr>
                </a:tc>
              </a:tr>
            </a:tbl>
          </a:graphicData>
        </a:graphic>
      </p:graphicFrame>
      <p:sp>
        <p:nvSpPr>
          <p:cNvPr id="15" name="">
            <a:extLst xmlns:a="http://schemas.openxmlformats.org/drawingml/2006/main">
              <a:ext uri="{FF2B5EF4-FFF2-40B4-BE49-F238E27FC236}">
                <a16:creationId xmlns:a16="http://schemas.microsoft.com/office/drawing/2014/main" id="{B5E9E171-9F9D-4ABC-9CEC-4063E58AA939}"/>
              </a:ext>
            </a:extLst>
          </p:cNvPr>
          <p:cNvSpPr>
            <a:spLocks xmlns:a="http://schemas.openxmlformats.org/drawingml/2006/main" noGrp="1"/>
          </p:cNvSpPr>
          <p:nvPr/>
        </p:nvSpPr>
        <p:spPr>
          <a:xfrm xmlns:a="http://schemas.openxmlformats.org/drawingml/2006/main">
            <a:off x="838200" y="6057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D92D20"/>
                </a:solidFill>
                <a:latin typeface="Microsoft YaHei"/>
                <a:ea typeface="Microsoft YaHei"/>
                <a:cs typeface="Microsoft YaHei"/>
              </a:defRPr>
            </a:pPr>
            <a:r>
              <a:rPr sz="1163" b="0">
                <a:solidFill>
                  <a:srgbClr val="D92D20"/>
                </a:solidFill>
                <a:latin typeface="Microsoft YaHei"/>
                <a:ea typeface="Microsoft YaHei"/>
                <a:cs typeface="Microsoft YaHei"/>
              </a:rPr>
              <a:t>Early stop：某个 shot 首次失败后从活跃池移除，不允许在后续阶段偶然重新俘获。</a:t>
            </a:r>
          </a:p>
        </p:txBody>
      </p:sp>
      <p:sp>
        <p:nvSpPr>
          <p:cNvPr id="16" name="">
            <a:extLst xmlns:a="http://schemas.openxmlformats.org/drawingml/2006/main">
              <a:ext uri="{FF2B5EF4-FFF2-40B4-BE49-F238E27FC236}">
                <a16:creationId xmlns:a16="http://schemas.microsoft.com/office/drawing/2014/main" id="{D3B3AC51-FBB2-410A-93C6-5481E2646DF9}"/>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7" name="">
            <a:extLst xmlns:a="http://schemas.openxmlformats.org/drawingml/2006/main">
              <a:ext uri="{FF2B5EF4-FFF2-40B4-BE49-F238E27FC236}">
                <a16:creationId xmlns:a16="http://schemas.microsoft.com/office/drawing/2014/main" id="{790E9043-250B-40BD-B266-361CEAA699B8}"/>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survival_engine.py · noise_heating.py · work-energy implementation</a:t>
            </a:r>
          </a:p>
        </p:txBody>
      </p:sp>
      <p:sp>
        <p:nvSpPr>
          <p:cNvPr id="18" name="">
            <a:extLst xmlns:a="http://schemas.openxmlformats.org/drawingml/2006/main">
              <a:ext uri="{FF2B5EF4-FFF2-40B4-BE49-F238E27FC236}">
                <a16:creationId xmlns:a16="http://schemas.microsoft.com/office/drawing/2014/main" id="{C248EC17-BEE2-435E-8FE8-3F46DF6AD13E}"/>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07</a:t>
            </a:r>
          </a:p>
        </p:txBody>
      </p:sp>
    </p:spTree>
    <p:extLst>
      <p:ext uri="{BB962C8B-B14F-4D97-AF65-F5344CB8AC3E}">
        <p14:creationId xmlns:p14="http://schemas.microsoft.com/office/powerpoint/2010/main" val="48309840"/>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90A93E5-A90D-4327-9E15-EFCDEAD3FDB0}"/>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06</a:t>
            </a:r>
          </a:p>
        </p:txBody>
      </p:sp>
      <p:sp>
        <p:nvSpPr>
          <p:cNvPr id="2" name="">
            <a:extLst xmlns:a="http://schemas.openxmlformats.org/drawingml/2006/main">
              <a:ext uri="{FF2B5EF4-FFF2-40B4-BE49-F238E27FC236}">
                <a16:creationId xmlns:a16="http://schemas.microsoft.com/office/drawing/2014/main" id="{55C850EE-47CF-441B-AD5B-8BB0D3E277CA}"/>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从逐原子判定到存活曲线 S(n)</a:t>
            </a:r>
          </a:p>
        </p:txBody>
      </p:sp>
      <p:sp>
        <p:nvSpPr>
          <p:cNvPr id="3" name="">
            <a:extLst xmlns:a="http://schemas.openxmlformats.org/drawingml/2006/main">
              <a:ext uri="{FF2B5EF4-FFF2-40B4-BE49-F238E27FC236}">
                <a16:creationId xmlns:a16="http://schemas.microsoft.com/office/drawing/2014/main" id="{04004D22-5364-4490-999B-AA3580015F56}"/>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B5EB04C6-E8F9-4E84-BA51-95933911F6BF}"/>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每个 n 统计仍在活跃池中的 shot；图中阶梯来自有限样本计数</a:t>
            </a:r>
          </a:p>
        </p:txBody>
      </p:sp>
      <p:graphicFrame>
        <p:nvGraphicFramePr>
          <p:cNvPr id="22" name="Chart"/>
          <p:cNvGraphicFramePr/>
          <p:nvPr/>
        </p:nvGraphicFramePr>
        <p:xfrm>
          <a:off xmlns:a="http://schemas.openxmlformats.org/drawingml/2006/main" x="609600" y="1352550"/>
          <a:ext xmlns:a="http://schemas.openxmlformats.org/drawingml/2006/main" cx="6953250" cy="3981450"/>
        </p:xfrm>
        <a:graphic xmlns:a="http://schemas.openxmlformats.org/drawingml/2006/main">
          <a:graphicData uri="http://schemas.openxmlformats.org/drawingml/2006/chart">
            <c:chart xmlns:r="http://schemas.openxmlformats.org/officeDocument/2006/relationships" xmlns:c="http://schemas.openxmlformats.org/drawingml/2006/chart" r:id="R759baf645c4f467a"/>
          </a:graphicData>
        </a:graphic>
      </p:graphicFrame>
      <p:sp>
        <p:nvSpPr>
          <p:cNvPr id="6" name="">
            <a:extLst xmlns:a="http://schemas.openxmlformats.org/drawingml/2006/main">
              <a:ext uri="{FF2B5EF4-FFF2-40B4-BE49-F238E27FC236}">
                <a16:creationId xmlns:a16="http://schemas.microsoft.com/office/drawing/2014/main" id="{FE0C8033-D083-448C-8B96-F9B923B321FC}"/>
              </a:ext>
            </a:extLst>
          </p:cNvPr>
          <p:cNvSpPr>
            <a:spLocks xmlns:a="http://schemas.openxmlformats.org/drawingml/2006/main" noGrp="1"/>
          </p:cNvSpPr>
          <p:nvPr/>
        </p:nvSpPr>
        <p:spPr>
          <a:xfrm xmlns:a="http://schemas.openxmlformats.org/drawingml/2006/main">
            <a:off x="7867650" y="1352550"/>
            <a:ext cx="3714750" cy="39814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6F1C629B-FB1B-4B67-91EF-054BA33DC944}"/>
              </a:ext>
            </a:extLst>
          </p:cNvPr>
          <p:cNvSpPr>
            <a:spLocks xmlns:a="http://schemas.openxmlformats.org/drawingml/2006/main" noGrp="1"/>
          </p:cNvSpPr>
          <p:nvPr/>
        </p:nvSpPr>
        <p:spPr>
          <a:xfrm xmlns:a="http://schemas.openxmlformats.org/drawingml/2006/main">
            <a:off x="8134350" y="160020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02A43"/>
                </a:solidFill>
                <a:latin typeface="Microsoft YaHei"/>
                <a:ea typeface="Microsoft YaHei"/>
                <a:cs typeface="Microsoft YaHei"/>
              </a:defRPr>
            </a:pPr>
            <a:r>
              <a:rPr sz="1500" b="1">
                <a:solidFill>
                  <a:srgbClr val="102A43"/>
                </a:solidFill>
                <a:latin typeface="Microsoft YaHei"/>
                <a:ea typeface="Microsoft YaHei"/>
                <a:cs typeface="Microsoft YaHei"/>
              </a:rPr>
              <a:t>统计量</a:t>
            </a:r>
          </a:p>
        </p:txBody>
      </p:sp>
      <p:sp>
        <p:nvSpPr>
          <p:cNvPr id="8" name="">
            <a:extLst xmlns:a="http://schemas.openxmlformats.org/drawingml/2006/main">
              <a:ext uri="{FF2B5EF4-FFF2-40B4-BE49-F238E27FC236}">
                <a16:creationId xmlns:a16="http://schemas.microsoft.com/office/drawing/2014/main" id="{50959DE7-658E-48FD-908D-840FCDD66FB2}"/>
              </a:ext>
            </a:extLst>
          </p:cNvPr>
          <p:cNvSpPr>
            <a:spLocks xmlns:a="http://schemas.openxmlformats.org/drawingml/2006/main" noGrp="1"/>
          </p:cNvSpPr>
          <p:nvPr/>
        </p:nvSpPr>
        <p:spPr>
          <a:xfrm xmlns:a="http://schemas.openxmlformats.org/drawingml/2006/main">
            <a:off x="8134350" y="2095500"/>
            <a:ext cx="318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1570EF"/>
                </a:solidFill>
                <a:latin typeface="Microsoft YaHei"/>
                <a:ea typeface="Microsoft YaHei"/>
                <a:cs typeface="Microsoft YaHei"/>
              </a:defRPr>
            </a:pPr>
            <a:r>
              <a:rPr sz="1650" b="1">
                <a:solidFill>
                  <a:srgbClr val="1570EF"/>
                </a:solidFill>
                <a:latin typeface="Microsoft YaHei"/>
                <a:ea typeface="Microsoft YaHei"/>
                <a:cs typeface="Microsoft YaHei"/>
              </a:rPr>
              <a:t>S(n) = N_survive(n) / N₀</a:t>
            </a:r>
          </a:p>
        </p:txBody>
      </p:sp>
      <p:sp>
        <p:nvSpPr>
          <p:cNvPr id="9" name="">
            <a:extLst xmlns:a="http://schemas.openxmlformats.org/drawingml/2006/main">
              <a:ext uri="{FF2B5EF4-FFF2-40B4-BE49-F238E27FC236}">
                <a16:creationId xmlns:a16="http://schemas.microsoft.com/office/drawing/2014/main" id="{81929D8C-7923-493C-A73C-9CBEDABC58E6}"/>
              </a:ext>
            </a:extLst>
          </p:cNvPr>
          <p:cNvSpPr>
            <a:spLocks xmlns:a="http://schemas.openxmlformats.org/drawingml/2006/main" noGrp="1"/>
          </p:cNvSpPr>
          <p:nvPr/>
        </p:nvSpPr>
        <p:spPr>
          <a:xfrm xmlns:a="http://schemas.openxmlformats.org/drawingml/2006/main">
            <a:off x="8134350" y="27813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02A43"/>
                </a:solidFill>
                <a:latin typeface="Microsoft YaHei"/>
                <a:ea typeface="Microsoft YaHei"/>
                <a:cs typeface="Microsoft YaHei"/>
              </a:defRPr>
            </a:pPr>
            <a:r>
              <a:rPr sz="1275" b="1">
                <a:solidFill>
                  <a:srgbClr val="102A43"/>
                </a:solidFill>
                <a:latin typeface="Microsoft YaHei"/>
                <a:ea typeface="Microsoft YaHei"/>
                <a:cs typeface="Microsoft YaHei"/>
              </a:rPr>
              <a:t>几何等效每程损失</a:t>
            </a:r>
          </a:p>
        </p:txBody>
      </p:sp>
      <p:sp>
        <p:nvSpPr>
          <p:cNvPr id="10" name="">
            <a:extLst xmlns:a="http://schemas.openxmlformats.org/drawingml/2006/main">
              <a:ext uri="{FF2B5EF4-FFF2-40B4-BE49-F238E27FC236}">
                <a16:creationId xmlns:a16="http://schemas.microsoft.com/office/drawing/2014/main" id="{20A2C03C-7C73-40C0-9E7A-A41881922B71}"/>
              </a:ext>
            </a:extLst>
          </p:cNvPr>
          <p:cNvSpPr>
            <a:spLocks xmlns:a="http://schemas.openxmlformats.org/drawingml/2006/main" noGrp="1"/>
          </p:cNvSpPr>
          <p:nvPr/>
        </p:nvSpPr>
        <p:spPr>
          <a:xfrm xmlns:a="http://schemas.openxmlformats.org/drawingml/2006/main">
            <a:off x="8134350" y="3143250"/>
            <a:ext cx="3181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L_eq = 1 − S(n)^(1/n)</a:t>
            </a:r>
          </a:p>
        </p:txBody>
      </p:sp>
      <p:sp>
        <p:nvSpPr>
          <p:cNvPr id="11" name="">
            <a:extLst xmlns:a="http://schemas.openxmlformats.org/drawingml/2006/main">
              <a:ext uri="{FF2B5EF4-FFF2-40B4-BE49-F238E27FC236}">
                <a16:creationId xmlns:a16="http://schemas.microsoft.com/office/drawing/2014/main" id="{E0555DFC-EAD1-4275-9606-30613F6EA235}"/>
              </a:ext>
            </a:extLst>
          </p:cNvPr>
          <p:cNvSpPr>
            <a:spLocks xmlns:a="http://schemas.openxmlformats.org/drawingml/2006/main" noGrp="1"/>
          </p:cNvSpPr>
          <p:nvPr/>
        </p:nvSpPr>
        <p:spPr>
          <a:xfrm xmlns:a="http://schemas.openxmlformats.org/drawingml/2006/main">
            <a:off x="8134350" y="3867150"/>
            <a:ext cx="3143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扫描池：256 shots，seed 23001</a:t>
            </a:r>
          </a:p>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复核池：512 shots，seed 23002</a:t>
            </a:r>
          </a:p>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场景间使用同一随机池做 CRN 配对。</a:t>
            </a:r>
          </a:p>
        </p:txBody>
      </p:sp>
      <p:sp>
        <p:nvSpPr>
          <p:cNvPr id="12" name="">
            <a:extLst xmlns:a="http://schemas.openxmlformats.org/drawingml/2006/main">
              <a:ext uri="{FF2B5EF4-FFF2-40B4-BE49-F238E27FC236}">
                <a16:creationId xmlns:a16="http://schemas.microsoft.com/office/drawing/2014/main" id="{D3B1F12C-F4BC-4A64-921D-C6DA07D5B7B7}"/>
              </a:ext>
            </a:extLst>
          </p:cNvPr>
          <p:cNvSpPr>
            <a:spLocks xmlns:a="http://schemas.openxmlformats.org/drawingml/2006/main" noGrp="1"/>
          </p:cNvSpPr>
          <p:nvPr/>
        </p:nvSpPr>
        <p:spPr>
          <a:xfrm xmlns:a="http://schemas.openxmlformats.org/drawingml/2006/main">
            <a:off x="8134350" y="48006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13" b="0">
                <a:solidFill>
                  <a:srgbClr val="D92D20"/>
                </a:solidFill>
                <a:latin typeface="Microsoft YaHei"/>
                <a:ea typeface="Microsoft YaHei"/>
                <a:cs typeface="Microsoft YaHei"/>
              </a:defRPr>
            </a:pPr>
            <a:r>
              <a:rPr sz="1013" b="0">
                <a:solidFill>
                  <a:srgbClr val="D92D20"/>
                </a:solidFill>
                <a:latin typeface="Microsoft YaHei"/>
                <a:ea typeface="Microsoft YaHei"/>
                <a:cs typeface="Microsoft YaHei"/>
              </a:rPr>
              <a:t>L_eq 仅是端点换算；它不等于论文三参数拟合得到的瞬时损失。</a:t>
            </a:r>
          </a:p>
        </p:txBody>
      </p:sp>
      <p:sp>
        <p:nvSpPr>
          <p:cNvPr id="13" name="">
            <a:extLst xmlns:a="http://schemas.openxmlformats.org/drawingml/2006/main">
              <a:ext uri="{FF2B5EF4-FFF2-40B4-BE49-F238E27FC236}">
                <a16:creationId xmlns:a16="http://schemas.microsoft.com/office/drawing/2014/main" id="{7087B864-3238-42B1-8A45-7C76CFDA460C}"/>
              </a:ext>
            </a:extLst>
          </p:cNvPr>
          <p:cNvSpPr>
            <a:spLocks xmlns:a="http://schemas.openxmlformats.org/drawingml/2006/main" noGrp="1"/>
          </p:cNvSpPr>
          <p:nvPr/>
        </p:nvSpPr>
        <p:spPr>
          <a:xfrm xmlns:a="http://schemas.openxmlformats.org/drawingml/2006/main">
            <a:off x="609600" y="5619750"/>
            <a:ext cx="10972800" cy="609600"/>
          </a:xfrm>
          <a:prstGeom xmlns:a="http://schemas.openxmlformats.org/drawingml/2006/main" prst="roundRect">
            <a:avLst>
              <a:gd name="adj" fmla="val 12500"/>
            </a:avLst>
          </a:prstGeom>
          <a:solidFill xmlns:a="http://schemas.openxmlformats.org/drawingml/2006/main">
            <a:srgbClr val="F2F4F7"/>
          </a:solidFill>
          <a:ln xmlns:a="http://schemas.openxmlformats.org/drawingml/2006/main" w="9525">
            <a:solidFill>
              <a:srgbClr val="EAECF0"/>
            </a:solidFill>
          </a:ln>
        </p:spPr>
      </p:sp>
      <p:sp>
        <p:nvSpPr>
          <p:cNvPr id="14" name="">
            <a:extLst xmlns:a="http://schemas.openxmlformats.org/drawingml/2006/main">
              <a:ext uri="{FF2B5EF4-FFF2-40B4-BE49-F238E27FC236}">
                <a16:creationId xmlns:a16="http://schemas.microsoft.com/office/drawing/2014/main" id="{00A18617-1586-4A20-BAB4-DCE93CF7BF5B}"/>
              </a:ext>
            </a:extLst>
          </p:cNvPr>
          <p:cNvSpPr>
            <a:spLocks xmlns:a="http://schemas.openxmlformats.org/drawingml/2006/main" noGrp="1"/>
          </p:cNvSpPr>
          <p:nvPr/>
        </p:nvSpPr>
        <p:spPr>
          <a:xfrm xmlns:a="http://schemas.openxmlformats.org/drawingml/2006/main">
            <a:off x="838200" y="577215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图中 baseline 的离散小台阶由 256 个 shot 的整数计数产生。它们应当单调不增，但不代表连续概率曲线的真实细纹。</a:t>
            </a:r>
          </a:p>
        </p:txBody>
      </p:sp>
      <p:sp>
        <p:nvSpPr>
          <p:cNvPr id="15" name="">
            <a:extLst xmlns:a="http://schemas.openxmlformats.org/drawingml/2006/main">
              <a:ext uri="{FF2B5EF4-FFF2-40B4-BE49-F238E27FC236}">
                <a16:creationId xmlns:a16="http://schemas.microsoft.com/office/drawing/2014/main" id="{55C5F1C7-8B73-4AAF-B428-F9A5403ED572}"/>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6" name="">
            <a:extLst xmlns:a="http://schemas.openxmlformats.org/drawingml/2006/main">
              <a:ext uri="{FF2B5EF4-FFF2-40B4-BE49-F238E27FC236}">
                <a16:creationId xmlns:a16="http://schemas.microsoft.com/office/drawing/2014/main" id="{F8404E59-4487-4D8D-95B1-15C696FC5936}"/>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demo/survival_scan_results.csv · survival_engine.py · statistics.py</a:t>
            </a:r>
          </a:p>
        </p:txBody>
      </p:sp>
      <p:sp>
        <p:nvSpPr>
          <p:cNvPr id="17" name="">
            <a:extLst xmlns:a="http://schemas.openxmlformats.org/drawingml/2006/main">
              <a:ext uri="{FF2B5EF4-FFF2-40B4-BE49-F238E27FC236}">
                <a16:creationId xmlns:a16="http://schemas.microsoft.com/office/drawing/2014/main" id="{9AF158AB-F676-4CF6-8650-40E051D5A20E}"/>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08</a:t>
            </a:r>
          </a:p>
        </p:txBody>
      </p:sp>
    </p:spTree>
    <p:extLst>
      <p:ext uri="{BB962C8B-B14F-4D97-AF65-F5344CB8AC3E}">
        <p14:creationId xmlns:p14="http://schemas.microsoft.com/office/powerpoint/2010/main" val="6204561"/>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228C792-0D71-4667-8933-3774CB5CAED6}"/>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07</a:t>
            </a:r>
          </a:p>
        </p:txBody>
      </p:sp>
      <p:sp>
        <p:nvSpPr>
          <p:cNvPr id="2" name="">
            <a:extLst xmlns:a="http://schemas.openxmlformats.org/drawingml/2006/main">
              <a:ext uri="{FF2B5EF4-FFF2-40B4-BE49-F238E27FC236}">
                <a16:creationId xmlns:a16="http://schemas.microsoft.com/office/drawing/2014/main" id="{4AB02574-8756-4E86-80A5-FEB2B7ED1093}"/>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Baseline 计算结果</a:t>
            </a:r>
          </a:p>
        </p:txBody>
      </p:sp>
      <p:sp>
        <p:nvSpPr>
          <p:cNvPr id="3" name="">
            <a:extLst xmlns:a="http://schemas.openxmlformats.org/drawingml/2006/main">
              <a:ext uri="{FF2B5EF4-FFF2-40B4-BE49-F238E27FC236}">
                <a16:creationId xmlns:a16="http://schemas.microsoft.com/office/drawing/2014/main" id="{B3F92F92-2814-49BC-A9E5-B0539AD6071B}"/>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5BAA575E-6B0E-471C-9A72-3EECEDAF59CC}"/>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先用仓库默认参数建立参照，再决定需要扫描哪些机制</a:t>
            </a:r>
          </a:p>
        </p:txBody>
      </p:sp>
      <p:graphicFrame>
        <p:nvGraphicFramePr>
          <p:cNvPr id="20" name="Chart"/>
          <p:cNvGraphicFramePr/>
          <p:nvPr/>
        </p:nvGraphicFramePr>
        <p:xfrm>
          <a:off xmlns:a="http://schemas.openxmlformats.org/drawingml/2006/main" x="609600" y="1371600"/>
          <a:ext xmlns:a="http://schemas.openxmlformats.org/drawingml/2006/main" cx="6858000" cy="3905250"/>
        </p:xfrm>
        <a:graphic xmlns:a="http://schemas.openxmlformats.org/drawingml/2006/main">
          <a:graphicData uri="http://schemas.openxmlformats.org/drawingml/2006/chart">
            <c:chart xmlns:r="http://schemas.openxmlformats.org/officeDocument/2006/relationships" xmlns:c="http://schemas.openxmlformats.org/drawingml/2006/chart" r:id="Rbb926340631948f2"/>
          </a:graphicData>
        </a:graphic>
      </p:graphicFrame>
      <p:sp>
        <p:nvSpPr>
          <p:cNvPr id="6" name="">
            <a:extLst xmlns:a="http://schemas.openxmlformats.org/drawingml/2006/main">
              <a:ext uri="{FF2B5EF4-FFF2-40B4-BE49-F238E27FC236}">
                <a16:creationId xmlns:a16="http://schemas.microsoft.com/office/drawing/2014/main" id="{CC034F98-D06B-4BE0-8B2E-CA3CA8054259}"/>
              </a:ext>
            </a:extLst>
          </p:cNvPr>
          <p:cNvSpPr>
            <a:spLocks xmlns:a="http://schemas.openxmlformats.org/drawingml/2006/main" noGrp="1"/>
          </p:cNvSpPr>
          <p:nvPr/>
        </p:nvSpPr>
        <p:spPr>
          <a:xfrm xmlns:a="http://schemas.openxmlformats.org/drawingml/2006/main">
            <a:off x="7810500" y="1371600"/>
            <a:ext cx="3771900" cy="3905250"/>
          </a:xfrm>
          <a:prstGeom xmlns:a="http://schemas.openxmlformats.org/drawingml/2006/main" prst="roundRect">
            <a:avLst>
              <a:gd name="adj" fmla="val 2020"/>
            </a:avLst>
          </a:prstGeom>
          <a:solidFill xmlns:a="http://schemas.openxmlformats.org/drawingml/2006/main">
            <a:srgbClr val="FFFFFF"/>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B950971C-351A-4436-9855-03748B3FDC4F}"/>
              </a:ext>
            </a:extLst>
          </p:cNvPr>
          <p:cNvSpPr>
            <a:spLocks xmlns:a="http://schemas.openxmlformats.org/drawingml/2006/main" noGrp="1"/>
          </p:cNvSpPr>
          <p:nvPr/>
        </p:nvSpPr>
        <p:spPr>
          <a:xfrm xmlns:a="http://schemas.openxmlformats.org/drawingml/2006/main">
            <a:off x="8077200" y="16192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02A43"/>
                </a:solidFill>
                <a:latin typeface="Microsoft YaHei"/>
                <a:ea typeface="Microsoft YaHei"/>
                <a:cs typeface="Microsoft YaHei"/>
              </a:defRPr>
            </a:pPr>
            <a:r>
              <a:rPr sz="1500" b="1">
                <a:solidFill>
                  <a:srgbClr val="102A43"/>
                </a:solidFill>
                <a:latin typeface="Microsoft YaHei"/>
                <a:ea typeface="Microsoft YaHei"/>
                <a:cs typeface="Microsoft YaHei"/>
              </a:rPr>
              <a:t>Baseline 参数</a:t>
            </a:r>
          </a:p>
        </p:txBody>
      </p:sp>
      <p:graphicFrame>
        <p:nvGraphicFramePr>
          <p:cNvPr id="23" name=""/>
          <p:cNvGraphicFramePr/>
          <p:nvPr/>
        </p:nvGraphicFramePr>
        <p:xfrm>
          <a:off xmlns:a="http://schemas.openxmlformats.org/drawingml/2006/main" x="8077200" y="2038350"/>
          <a:ext xmlns:a="http://schemas.openxmlformats.org/drawingml/2006/main" cx="3238500" cy="2476500"/>
        </p:xfrm>
        <a:graphic xmlns:a="http://schemas.openxmlformats.org/drawingml/2006/main">
          <a:graphicData uri="http://schemas.openxmlformats.org/drawingml/2006/table">
            <a:tbl>
              <a:tblPr/>
              <a:tblGrid>
                <a:gridCol w="1673225"/>
                <a:gridCol w="1565275"/>
              </a:tblGrid>
              <a:tr h="353786">
                <a:tc>
                  <a:txBody>
                    <a:bodyPr>
                      <a:noAutofit/>
                    </a:bodyPr>
                    <a:lstStyle/>
                    <a:p>
                      <a:pPr algn="l"/>
                      <a:r>
                        <a:rPr sz="1050" b="1">
                          <a:solidFill>
                            <a:srgbClr val="FFFFFF"/>
                          </a:solidFill>
                          <a:latin typeface="Microsoft YaHei"/>
                          <a:ea typeface="Microsoft YaHei"/>
                          <a:cs typeface="Microsoft YaHei"/>
                        </a:rPr>
                        <a:t>Input</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Value</a:t>
                      </a:r>
                    </a:p>
                  </a:txBody>
                  <a:tcPr marL="91440" marR="91440" marT="45720" marB="45720" anchor="ctr">
                    <a:solidFill>
                      <a:srgbClr val="102A43"/>
                    </a:solidFill>
                  </a:tcPr>
                </a:tc>
              </a:tr>
              <a:tr h="353786">
                <a:tc>
                  <a:txBody>
                    <a:bodyPr>
                      <a:noAutofit/>
                    </a:bodyPr>
                    <a:lstStyle/>
                    <a:p>
                      <a:pPr algn="l"/>
                      <a:r>
                        <a:rPr sz="1050" b="0">
                          <a:solidFill>
                            <a:srgbClr val="344054"/>
                          </a:solidFill>
                          <a:latin typeface="Microsoft YaHei"/>
                          <a:ea typeface="Microsoft YaHei"/>
                          <a:cs typeface="Microsoft YaHei"/>
                        </a:rPr>
                        <a:t>Temperature</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5 µK</a:t>
                      </a:r>
                    </a:p>
                  </a:txBody>
                  <a:tcPr marL="91440" marR="91440" marT="45720" marB="45720" anchor="ctr">
                    <a:solidFill>
                      <a:srgbClr val="FFFFFF"/>
                    </a:solidFill>
                  </a:tcPr>
                </a:tc>
              </a:tr>
              <a:tr h="353786">
                <a:tc>
                  <a:txBody>
                    <a:bodyPr>
                      <a:noAutofit/>
                    </a:bodyPr>
                    <a:lstStyle/>
                    <a:p>
                      <a:pPr algn="l"/>
                      <a:r>
                        <a:rPr sz="1050" b="0">
                          <a:solidFill>
                            <a:srgbClr val="344054"/>
                          </a:solidFill>
                          <a:latin typeface="Microsoft YaHei"/>
                          <a:ea typeface="Microsoft YaHei"/>
                          <a:cs typeface="Microsoft YaHei"/>
                        </a:rPr>
                        <a:t>RIN PSD</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1×10⁻⁸ Hz⁻¹</a:t>
                      </a:r>
                    </a:p>
                  </a:txBody>
                  <a:tcPr marL="91440" marR="91440" marT="45720" marB="45720" anchor="ctr">
                    <a:solidFill>
                      <a:srgbClr val="F8FAFC"/>
                    </a:solidFill>
                  </a:tcPr>
                </a:tc>
              </a:tr>
              <a:tr h="353786">
                <a:tc>
                  <a:txBody>
                    <a:bodyPr>
                      <a:noAutofit/>
                    </a:bodyPr>
                    <a:lstStyle/>
                    <a:p>
                      <a:pPr algn="l"/>
                      <a:r>
                        <a:rPr sz="1050" b="0">
                          <a:solidFill>
                            <a:srgbClr val="344054"/>
                          </a:solidFill>
                          <a:latin typeface="Microsoft YaHei"/>
                          <a:ea typeface="Microsoft YaHei"/>
                          <a:cs typeface="Microsoft YaHei"/>
                        </a:rPr>
                        <a:t>Static alignment σ</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0.05 µm</a:t>
                      </a:r>
                    </a:p>
                  </a:txBody>
                  <a:tcPr marL="91440" marR="91440" marT="45720" marB="45720" anchor="ctr">
                    <a:solidFill>
                      <a:srgbClr val="FFFFFF"/>
                    </a:solidFill>
                  </a:tcPr>
                </a:tc>
              </a:tr>
              <a:tr h="353786">
                <a:tc>
                  <a:txBody>
                    <a:bodyPr>
                      <a:noAutofit/>
                    </a:bodyPr>
                    <a:lstStyle/>
                    <a:p>
                      <a:pPr algn="l"/>
                      <a:r>
                        <a:rPr sz="1050" b="0">
                          <a:solidFill>
                            <a:srgbClr val="344054"/>
                          </a:solidFill>
                          <a:latin typeface="Microsoft YaHei"/>
                          <a:ea typeface="Microsoft YaHei"/>
                          <a:cs typeface="Microsoft YaHei"/>
                        </a:rPr>
                        <a:t>Leg-wise jitter σ</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0.01 µm</a:t>
                      </a:r>
                    </a:p>
                  </a:txBody>
                  <a:tcPr marL="91440" marR="91440" marT="45720" marB="45720" anchor="ctr">
                    <a:solidFill>
                      <a:srgbClr val="F8FAFC"/>
                    </a:solidFill>
                  </a:tcPr>
                </a:tc>
              </a:tr>
              <a:tr h="353786">
                <a:tc>
                  <a:txBody>
                    <a:bodyPr>
                      <a:noAutofit/>
                    </a:bodyPr>
                    <a:lstStyle/>
                    <a:p>
                      <a:pPr algn="l"/>
                      <a:r>
                        <a:rPr sz="1050" b="0">
                          <a:solidFill>
                            <a:srgbClr val="344054"/>
                          </a:solidFill>
                          <a:latin typeface="Microsoft YaHei"/>
                          <a:ea typeface="Microsoft YaHei"/>
                          <a:cs typeface="Microsoft YaHei"/>
                        </a:rPr>
                        <a:t>SLM depth σ</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11.4%</a:t>
                      </a:r>
                    </a:p>
                  </a:txBody>
                  <a:tcPr marL="91440" marR="91440" marT="45720" marB="45720" anchor="ctr">
                    <a:solidFill>
                      <a:srgbClr val="FFFFFF"/>
                    </a:solidFill>
                  </a:tcPr>
                </a:tc>
              </a:tr>
              <a:tr h="353786">
                <a:tc>
                  <a:txBody>
                    <a:bodyPr>
                      <a:noAutofit/>
                    </a:bodyPr>
                    <a:lstStyle/>
                    <a:p>
                      <a:pPr algn="l"/>
                      <a:r>
                        <a:rPr sz="1050" b="0">
                          <a:solidFill>
                            <a:srgbClr val="344054"/>
                          </a:solidFill>
                          <a:latin typeface="Microsoft YaHei"/>
                          <a:ea typeface="Microsoft YaHei"/>
                          <a:cs typeface="Microsoft YaHei"/>
                        </a:rPr>
                        <a:t>AOD depth / waist σ</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2% / 2%</a:t>
                      </a:r>
                    </a:p>
                  </a:txBody>
                  <a:tcPr marL="91440" marR="91440" marT="45720" marB="45720" anchor="ctr">
                    <a:solidFill>
                      <a:srgbClr val="F8FAFC"/>
                    </a:solidFill>
                  </a:tcPr>
                </a:tc>
              </a:tr>
            </a:tbl>
          </a:graphicData>
        </a:graphic>
      </p:graphicFrame>
      <p:sp>
        <p:nvSpPr>
          <p:cNvPr id="9" name="">
            <a:extLst xmlns:a="http://schemas.openxmlformats.org/drawingml/2006/main">
              <a:ext uri="{FF2B5EF4-FFF2-40B4-BE49-F238E27FC236}">
                <a16:creationId xmlns:a16="http://schemas.microsoft.com/office/drawing/2014/main" id="{3EFBAF4A-2EBA-4D06-B1A3-00DD53458081}"/>
              </a:ext>
            </a:extLst>
          </p:cNvPr>
          <p:cNvSpPr>
            <a:spLocks xmlns:a="http://schemas.openxmlformats.org/drawingml/2006/main" noGrp="1"/>
          </p:cNvSpPr>
          <p:nvPr/>
        </p:nvSpPr>
        <p:spPr>
          <a:xfrm xmlns:a="http://schemas.openxmlformats.org/drawingml/2006/main">
            <a:off x="8077200" y="4629150"/>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D92D20"/>
                </a:solidFill>
                <a:latin typeface="Microsoft YaHei"/>
                <a:ea typeface="Microsoft YaHei"/>
                <a:cs typeface="Microsoft YaHei"/>
              </a:defRPr>
            </a:pPr>
            <a:r>
              <a:rPr sz="1275" b="1">
                <a:solidFill>
                  <a:srgbClr val="D92D20"/>
                </a:solidFill>
                <a:latin typeface="Microsoft YaHei"/>
                <a:ea typeface="Microsoft YaHei"/>
                <a:cs typeface="Microsoft YaHei"/>
              </a:rPr>
              <a:t>主要发现</a:t>
            </a:r>
          </a:p>
        </p:txBody>
      </p:sp>
      <p:sp>
        <p:nvSpPr>
          <p:cNvPr id="10" name="">
            <a:extLst xmlns:a="http://schemas.openxmlformats.org/drawingml/2006/main">
              <a:ext uri="{FF2B5EF4-FFF2-40B4-BE49-F238E27FC236}">
                <a16:creationId xmlns:a16="http://schemas.microsoft.com/office/drawing/2014/main" id="{EEB314F4-96AD-4244-8BCF-921A36AC0E57}"/>
              </a:ext>
            </a:extLst>
          </p:cNvPr>
          <p:cNvSpPr>
            <a:spLocks xmlns:a="http://schemas.openxmlformats.org/drawingml/2006/main" noGrp="1"/>
          </p:cNvSpPr>
          <p:nvPr/>
        </p:nvSpPr>
        <p:spPr>
          <a:xfrm xmlns:a="http://schemas.openxmlformats.org/drawingml/2006/main">
            <a:off x="8077200" y="491490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344054"/>
                </a:solidFill>
                <a:latin typeface="Microsoft YaHei"/>
                <a:ea typeface="Microsoft YaHei"/>
                <a:cs typeface="Microsoft YaHei"/>
              </a:defRPr>
            </a:pPr>
            <a:r>
              <a:rPr sz="1050" b="0">
                <a:solidFill>
                  <a:srgbClr val="344054"/>
                </a:solidFill>
                <a:latin typeface="Microsoft YaHei"/>
                <a:ea typeface="Microsoft YaHei"/>
                <a:cs typeface="Microsoft YaHei"/>
              </a:rPr>
              <a:t>Manual 400 与 600 的存活率明显高于论文。默认模型产生的绝对损失不足。</a:t>
            </a:r>
          </a:p>
        </p:txBody>
      </p:sp>
      <p:sp>
        <p:nvSpPr>
          <p:cNvPr id="11" name="">
            <a:extLst xmlns:a="http://schemas.openxmlformats.org/drawingml/2006/main">
              <a:ext uri="{FF2B5EF4-FFF2-40B4-BE49-F238E27FC236}">
                <a16:creationId xmlns:a16="http://schemas.microsoft.com/office/drawing/2014/main" id="{916F0382-BD76-4510-BFF5-A845E60F5095}"/>
              </a:ext>
            </a:extLst>
          </p:cNvPr>
          <p:cNvSpPr>
            <a:spLocks xmlns:a="http://schemas.openxmlformats.org/drawingml/2006/main" noGrp="1"/>
          </p:cNvSpPr>
          <p:nvPr/>
        </p:nvSpPr>
        <p:spPr>
          <a:xfrm xmlns:a="http://schemas.openxmlformats.org/drawingml/2006/main">
            <a:off x="609600" y="5715000"/>
            <a:ext cx="10972800" cy="514350"/>
          </a:xfrm>
          <a:prstGeom xmlns:a="http://schemas.openxmlformats.org/drawingml/2006/main" prst="roundRect">
            <a:avLst>
              <a:gd name="adj" fmla="val 14815"/>
            </a:avLst>
          </a:prstGeom>
          <a:solidFill xmlns:a="http://schemas.openxmlformats.org/drawingml/2006/main">
            <a:srgbClr val="FFF6ED"/>
          </a:solidFill>
          <a:ln xmlns:a="http://schemas.openxmlformats.org/drawingml/2006/main" w="9525">
            <a:solidFill>
              <a:srgbClr val="FEDF89"/>
            </a:solidFill>
          </a:ln>
        </p:spPr>
      </p:sp>
      <p:sp>
        <p:nvSpPr>
          <p:cNvPr id="12" name="">
            <a:extLst xmlns:a="http://schemas.openxmlformats.org/drawingml/2006/main">
              <a:ext uri="{FF2B5EF4-FFF2-40B4-BE49-F238E27FC236}">
                <a16:creationId xmlns:a16="http://schemas.microsoft.com/office/drawing/2014/main" id="{B0584FB9-8286-4954-9130-77D0DE270904}"/>
              </a:ext>
            </a:extLst>
          </p:cNvPr>
          <p:cNvSpPr>
            <a:spLocks xmlns:a="http://schemas.openxmlformats.org/drawingml/2006/main" noGrp="1"/>
          </p:cNvSpPr>
          <p:nvPr/>
        </p:nvSpPr>
        <p:spPr>
          <a:xfrm xmlns:a="http://schemas.openxmlformats.org/drawingml/2006/main">
            <a:off x="838200" y="58388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79009"/>
                </a:solidFill>
                <a:latin typeface="Microsoft YaHei"/>
                <a:ea typeface="Microsoft YaHei"/>
                <a:cs typeface="Microsoft YaHei"/>
              </a:defRPr>
            </a:pPr>
            <a:r>
              <a:rPr sz="1275" b="1">
                <a:solidFill>
                  <a:srgbClr val="F79009"/>
                </a:solidFill>
                <a:latin typeface="Microsoft YaHei"/>
                <a:ea typeface="Microsoft YaHei"/>
                <a:cs typeface="Microsoft YaHei"/>
              </a:rPr>
              <a:t>Baseline 是仓库默认参考点，不是实验标定值，也不是通过验收的最佳拟合配置。</a:t>
            </a:r>
          </a:p>
        </p:txBody>
      </p:sp>
      <p:sp>
        <p:nvSpPr>
          <p:cNvPr id="13" name="">
            <a:extLst xmlns:a="http://schemas.openxmlformats.org/drawingml/2006/main">
              <a:ext uri="{FF2B5EF4-FFF2-40B4-BE49-F238E27FC236}">
                <a16:creationId xmlns:a16="http://schemas.microsoft.com/office/drawing/2014/main" id="{A908594A-9EE3-4D69-985D-352B8BAAD2B6}"/>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4" name="">
            <a:extLst xmlns:a="http://schemas.openxmlformats.org/drawingml/2006/main">
              <a:ext uri="{FF2B5EF4-FFF2-40B4-BE49-F238E27FC236}">
                <a16:creationId xmlns:a16="http://schemas.microsoft.com/office/drawing/2014/main" id="{B227B1DC-4A86-42CC-8A15-DF7069F76D07}"/>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demo/survival_scan_results.csv · paper monotone reference</a:t>
            </a:r>
          </a:p>
        </p:txBody>
      </p:sp>
      <p:sp>
        <p:nvSpPr>
          <p:cNvPr id="15" name="">
            <a:extLst xmlns:a="http://schemas.openxmlformats.org/drawingml/2006/main">
              <a:ext uri="{FF2B5EF4-FFF2-40B4-BE49-F238E27FC236}">
                <a16:creationId xmlns:a16="http://schemas.microsoft.com/office/drawing/2014/main" id="{0F836946-4D52-4D61-8D96-BA54A1252933}"/>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09</a:t>
            </a:r>
          </a:p>
        </p:txBody>
      </p:sp>
    </p:spTree>
    <p:extLst>
      <p:ext uri="{BB962C8B-B14F-4D97-AF65-F5344CB8AC3E}">
        <p14:creationId xmlns:p14="http://schemas.microsoft.com/office/powerpoint/2010/main" val="804349530"/>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6F46B7-CD3E-4C71-B2DF-AA32A8E54BCC}"/>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08</a:t>
            </a:r>
          </a:p>
        </p:txBody>
      </p:sp>
      <p:sp>
        <p:nvSpPr>
          <p:cNvPr id="2" name="">
            <a:extLst xmlns:a="http://schemas.openxmlformats.org/drawingml/2006/main">
              <a:ext uri="{FF2B5EF4-FFF2-40B4-BE49-F238E27FC236}">
                <a16:creationId xmlns:a16="http://schemas.microsoft.com/office/drawing/2014/main" id="{4AF64C6A-E607-40BA-A097-144082B1C6F3}"/>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单因素敏感性扫描设计</a:t>
            </a:r>
          </a:p>
        </p:txBody>
      </p:sp>
      <p:sp>
        <p:nvSpPr>
          <p:cNvPr id="3" name="">
            <a:extLst xmlns:a="http://schemas.openxmlformats.org/drawingml/2006/main">
              <a:ext uri="{FF2B5EF4-FFF2-40B4-BE49-F238E27FC236}">
                <a16:creationId xmlns:a16="http://schemas.microsoft.com/office/drawing/2014/main" id="{E7D060D6-3F09-435A-A27D-7ADB4D8268C3}"/>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4E70DA41-D2B7-42E0-A33C-F25D437FBE9C}"/>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每次只改变一个参数；波形、随机池、阱参数和数值步长保持一致</a:t>
            </a:r>
          </a:p>
        </p:txBody>
      </p:sp>
      <p:graphicFrame>
        <p:nvGraphicFramePr>
          <p:cNvPr id="15" name=""/>
          <p:cNvGraphicFramePr/>
          <p:nvPr/>
        </p:nvGraphicFramePr>
        <p:xfrm>
          <a:off xmlns:a="http://schemas.openxmlformats.org/drawingml/2006/main" x="609600" y="1352550"/>
          <a:ext xmlns:a="http://schemas.openxmlformats.org/drawingml/2006/main" cx="10972800" cy="2647950"/>
        </p:xfrm>
        <a:graphic xmlns:a="http://schemas.openxmlformats.org/drawingml/2006/main">
          <a:graphicData uri="http://schemas.openxmlformats.org/drawingml/2006/table">
            <a:tbl>
              <a:tblPr/>
              <a:tblGrid>
                <a:gridCol w="1976467"/>
                <a:gridCol w="1976467"/>
                <a:gridCol w="2862470"/>
                <a:gridCol w="4157396"/>
              </a:tblGrid>
              <a:tr h="529590">
                <a:tc>
                  <a:txBody>
                    <a:bodyPr>
                      <a:noAutofit/>
                    </a:bodyPr>
                    <a:lstStyle/>
                    <a:p>
                      <a:pPr algn="l"/>
                      <a:r>
                        <a:rPr sz="1050" b="1">
                          <a:solidFill>
                            <a:srgbClr val="FFFFFF"/>
                          </a:solidFill>
                          <a:latin typeface="Microsoft YaHei"/>
                          <a:ea typeface="Microsoft YaHei"/>
                          <a:cs typeface="Microsoft YaHei"/>
                        </a:rPr>
                        <a:t>Parameter</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Baseline</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Scan values</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What the scan tests</a:t>
                      </a:r>
                    </a:p>
                  </a:txBody>
                  <a:tcPr marL="91440" marR="91440" marT="45720" marB="45720" anchor="ctr">
                    <a:solidFill>
                      <a:srgbClr val="102A43"/>
                    </a:solidFill>
                  </a:tcPr>
                </a:tc>
              </a:tr>
              <a:tr h="529590">
                <a:tc>
                  <a:txBody>
                    <a:bodyPr>
                      <a:noAutofit/>
                    </a:bodyPr>
                    <a:lstStyle/>
                    <a:p>
                      <a:pPr algn="l"/>
                      <a:r>
                        <a:rPr sz="1125" b="0">
                          <a:solidFill>
                            <a:srgbClr val="344054"/>
                          </a:solidFill>
                          <a:latin typeface="Microsoft YaHei"/>
                          <a:ea typeface="Microsoft YaHei"/>
                          <a:cs typeface="Microsoft YaHei"/>
                        </a:rPr>
                        <a:t>Initial T</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5 µK</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10 / 20 / 30 / 40 µK</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初始能量分布是否靠近逃逸阈值</a:t>
                      </a:r>
                    </a:p>
                  </a:txBody>
                  <a:tcPr marL="91440" marR="91440" marT="45720" marB="45720" anchor="ctr">
                    <a:solidFill>
                      <a:srgbClr val="FFFFFF"/>
                    </a:solidFill>
                  </a:tcPr>
                </a:tc>
              </a:tr>
              <a:tr h="529590">
                <a:tc>
                  <a:txBody>
                    <a:bodyPr>
                      <a:noAutofit/>
                    </a:bodyPr>
                    <a:lstStyle/>
                    <a:p>
                      <a:pPr algn="l"/>
                      <a:r>
                        <a:rPr sz="1125" b="0">
                          <a:solidFill>
                            <a:srgbClr val="344054"/>
                          </a:solidFill>
                          <a:latin typeface="Microsoft YaHei"/>
                          <a:ea typeface="Microsoft YaHei"/>
                          <a:cs typeface="Microsoft YaHei"/>
                        </a:rPr>
                        <a:t>RIN PSD</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1×10⁻⁸ Hz⁻¹</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1×10⁻⁷ / 3×10⁻⁷ Hz⁻¹</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传播过程中的平均参量加热</a:t>
                      </a:r>
                    </a:p>
                  </a:txBody>
                  <a:tcPr marL="91440" marR="91440" marT="45720" marB="45720" anchor="ctr">
                    <a:solidFill>
                      <a:srgbClr val="F8FAFC"/>
                    </a:solidFill>
                  </a:tcPr>
                </a:tc>
              </a:tr>
              <a:tr h="529590">
                <a:tc>
                  <a:txBody>
                    <a:bodyPr>
                      <a:noAutofit/>
                    </a:bodyPr>
                    <a:lstStyle/>
                    <a:p>
                      <a:pPr algn="l"/>
                      <a:r>
                        <a:rPr sz="1125" b="0">
                          <a:solidFill>
                            <a:srgbClr val="344054"/>
                          </a:solidFill>
                          <a:latin typeface="Microsoft YaHei"/>
                          <a:ea typeface="Microsoft YaHei"/>
                          <a:cs typeface="Microsoft YaHei"/>
                        </a:rPr>
                        <a:t>Static alignment σ</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0.05 µm</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0.15 / 0.30 µm</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全程固定的 AOD–SLM 中心失配</a:t>
                      </a:r>
                    </a:p>
                  </a:txBody>
                  <a:tcPr marL="91440" marR="91440" marT="45720" marB="45720" anchor="ctr">
                    <a:solidFill>
                      <a:srgbClr val="FFFFFF"/>
                    </a:solidFill>
                  </a:tcPr>
                </a:tc>
              </a:tr>
              <a:tr h="529590">
                <a:tc>
                  <a:txBody>
                    <a:bodyPr>
                      <a:noAutofit/>
                    </a:bodyPr>
                    <a:lstStyle/>
                    <a:p>
                      <a:pPr algn="l"/>
                      <a:r>
                        <a:rPr sz="1125" b="0">
                          <a:solidFill>
                            <a:srgbClr val="344054"/>
                          </a:solidFill>
                          <a:latin typeface="Microsoft YaHei"/>
                          <a:ea typeface="Microsoft YaHei"/>
                          <a:cs typeface="Microsoft YaHei"/>
                        </a:rPr>
                        <a:t>Leg-wise jitter σ</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0.01 µm</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0.03 / 0.10 µm</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每个阶段重新抽样的对准扰动</a:t>
                      </a:r>
                    </a:p>
                  </a:txBody>
                  <a:tcPr marL="91440" marR="91440" marT="45720" marB="45720" anchor="ctr">
                    <a:solidFill>
                      <a:srgbClr val="F8FAFC"/>
                    </a:solidFill>
                  </a:tcPr>
                </a:tc>
              </a:tr>
            </a:tbl>
          </a:graphicData>
        </a:graphic>
      </p:graphicFrame>
      <p:sp>
        <p:nvSpPr>
          <p:cNvPr id="6" name="">
            <a:extLst xmlns:a="http://schemas.openxmlformats.org/drawingml/2006/main">
              <a:ext uri="{FF2B5EF4-FFF2-40B4-BE49-F238E27FC236}">
                <a16:creationId xmlns:a16="http://schemas.microsoft.com/office/drawing/2014/main" id="{674DA70A-8E81-4867-BCB3-BAFC31D38B17}"/>
              </a:ext>
            </a:extLst>
          </p:cNvPr>
          <p:cNvSpPr>
            <a:spLocks xmlns:a="http://schemas.openxmlformats.org/drawingml/2006/main" noGrp="1"/>
          </p:cNvSpPr>
          <p:nvPr/>
        </p:nvSpPr>
        <p:spPr>
          <a:xfrm xmlns:a="http://schemas.openxmlformats.org/drawingml/2006/main">
            <a:off x="609600" y="43243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所有场景保持不变的量</a:t>
            </a:r>
          </a:p>
        </p:txBody>
      </p:sp>
      <p:graphicFrame>
        <p:nvGraphicFramePr>
          <p:cNvPr id="17" name=""/>
          <p:cNvGraphicFramePr/>
          <p:nvPr/>
        </p:nvGraphicFramePr>
        <p:xfrm>
          <a:off xmlns:a="http://schemas.openxmlformats.org/drawingml/2006/main" x="609600" y="4724400"/>
          <a:ext xmlns:a="http://schemas.openxmlformats.org/drawingml/2006/main" cx="10972800" cy="1428750"/>
        </p:xfrm>
        <a:graphic xmlns:a="http://schemas.openxmlformats.org/drawingml/2006/main">
          <a:graphicData uri="http://schemas.openxmlformats.org/drawingml/2006/table">
            <a:tbl>
              <a:tblPr/>
              <a:tblGrid>
                <a:gridCol w="2116183"/>
                <a:gridCol w="5094514"/>
                <a:gridCol w="3762103"/>
              </a:tblGrid>
              <a:tr h="285750">
                <a:tc>
                  <a:txBody>
                    <a:bodyPr>
                      <a:noAutofit/>
                    </a:bodyPr>
                    <a:lstStyle/>
                    <a:p>
                      <a:pPr algn="l"/>
                      <a:r>
                        <a:rPr sz="1050" b="1">
                          <a:solidFill>
                            <a:srgbClr val="FFFFFF"/>
                          </a:solidFill>
                          <a:latin typeface="Microsoft YaHei"/>
                          <a:ea typeface="Microsoft YaHei"/>
                          <a:cs typeface="Microsoft YaHei"/>
                        </a:rPr>
                        <a:t>Control</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Fixed value</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Reason</a:t>
                      </a:r>
                    </a:p>
                  </a:txBody>
                  <a:tcPr marL="91440" marR="91440" marT="45720" marB="45720" anchor="ctr">
                    <a:solidFill>
                      <a:srgbClr val="102A43"/>
                    </a:solidFill>
                  </a:tcPr>
                </a:tc>
              </a:tr>
              <a:tr h="285750">
                <a:tc>
                  <a:txBody>
                    <a:bodyPr>
                      <a:noAutofit/>
                    </a:bodyPr>
                    <a:lstStyle/>
                    <a:p>
                      <a:pPr algn="l"/>
                      <a:r>
                        <a:rPr sz="1050" b="0">
                          <a:solidFill>
                            <a:srgbClr val="344054"/>
                          </a:solidFill>
                          <a:latin typeface="Microsoft YaHei"/>
                          <a:ea typeface="Microsoft YaHei"/>
                          <a:cs typeface="Microsoft YaHei"/>
                        </a:rPr>
                        <a:t>Trap geometry</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SLM 140 µK, AOD 280 µK, w=1.17 µm, d=2.4 µm</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避免同时改变势能尺度</a:t>
                      </a:r>
                    </a:p>
                  </a:txBody>
                  <a:tcPr marL="91440" marR="91440" marT="45720" marB="45720" anchor="ctr">
                    <a:solidFill>
                      <a:srgbClr val="FFFFFF"/>
                    </a:solidFill>
                  </a:tcPr>
                </a:tc>
              </a:tr>
              <a:tr h="285750">
                <a:tc>
                  <a:txBody>
                    <a:bodyPr>
                      <a:noAutofit/>
                    </a:bodyPr>
                    <a:lstStyle/>
                    <a:p>
                      <a:pPr algn="l"/>
                      <a:r>
                        <a:rPr sz="1050" b="0">
                          <a:solidFill>
                            <a:srgbClr val="344054"/>
                          </a:solidFill>
                          <a:latin typeface="Microsoft YaHei"/>
                          <a:ea typeface="Microsoft YaHei"/>
                          <a:cs typeface="Microsoft YaHei"/>
                        </a:rPr>
                        <a:t>Numerics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dt=0.05 µs, 256 shots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保持统计和离散化口径</a:t>
                      </a:r>
                    </a:p>
                  </a:txBody>
                  <a:tcPr marL="91440" marR="91440" marT="45720" marB="45720" anchor="ctr">
                    <a:solidFill>
                      <a:srgbClr val="F8FAFC"/>
                    </a:solidFill>
                  </a:tcPr>
                </a:tc>
              </a:tr>
              <a:tr h="285750">
                <a:tc>
                  <a:txBody>
                    <a:bodyPr>
                      <a:noAutofit/>
                    </a:bodyPr>
                    <a:lstStyle/>
                    <a:p>
                      <a:pPr algn="l"/>
                      <a:r>
                        <a:rPr sz="1050" b="0">
                          <a:solidFill>
                            <a:srgbClr val="344054"/>
                          </a:solidFill>
                          <a:latin typeface="Microsoft YaHei"/>
                          <a:ea typeface="Microsoft YaHei"/>
                          <a:cs typeface="Microsoft YaHei"/>
                        </a:rPr>
                        <a:t>Random pool</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scan_seed=23001</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跨场景 CRN 配对</a:t>
                      </a:r>
                    </a:p>
                  </a:txBody>
                  <a:tcPr marL="91440" marR="91440" marT="45720" marB="45720" anchor="ctr">
                    <a:solidFill>
                      <a:srgbClr val="FFFFFF"/>
                    </a:solidFill>
                  </a:tcPr>
                </a:tc>
              </a:tr>
              <a:tr h="285750">
                <a:tc>
                  <a:txBody>
                    <a:bodyPr>
                      <a:noAutofit/>
                    </a:bodyPr>
                    <a:lstStyle/>
                    <a:p>
                      <a:pPr algn="l"/>
                      <a:r>
                        <a:rPr sz="1050" b="0">
                          <a:solidFill>
                            <a:srgbClr val="344054"/>
                          </a:solidFill>
                          <a:latin typeface="Microsoft YaHei"/>
                          <a:ea typeface="Microsoft YaHei"/>
                          <a:cs typeface="Microsoft YaHei"/>
                        </a:rPr>
                        <a:t>Waveforms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Manual 200 / 400 / 600 µs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用时长排序区分损失机制</a:t>
                      </a:r>
                    </a:p>
                  </a:txBody>
                  <a:tcPr marL="91440" marR="91440" marT="45720" marB="45720" anchor="ctr">
                    <a:solidFill>
                      <a:srgbClr val="F8FAFC"/>
                    </a:solidFill>
                  </a:tcPr>
                </a:tc>
              </a:tr>
            </a:tbl>
          </a:graphicData>
        </a:graphic>
      </p:graphicFrame>
      <p:sp>
        <p:nvSpPr>
          <p:cNvPr id="8" name="">
            <a:extLst xmlns:a="http://schemas.openxmlformats.org/drawingml/2006/main">
              <a:ext uri="{FF2B5EF4-FFF2-40B4-BE49-F238E27FC236}">
                <a16:creationId xmlns:a16="http://schemas.microsoft.com/office/drawing/2014/main" id="{FDBD19D6-8914-4706-BB9F-AB3513CEE779}"/>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9" name="">
            <a:extLst xmlns:a="http://schemas.openxmlformats.org/drawingml/2006/main">
              <a:ext uri="{FF2B5EF4-FFF2-40B4-BE49-F238E27FC236}">
                <a16:creationId xmlns:a16="http://schemas.microsoft.com/office/drawing/2014/main" id="{2DFA2D2A-01C4-4273-855D-92A3BE67F578}"/>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configs/scan_stage1/*.yaml · summary_stage1.md</a:t>
            </a:r>
          </a:p>
        </p:txBody>
      </p:sp>
      <p:sp>
        <p:nvSpPr>
          <p:cNvPr id="10" name="">
            <a:extLst xmlns:a="http://schemas.openxmlformats.org/drawingml/2006/main">
              <a:ext uri="{FF2B5EF4-FFF2-40B4-BE49-F238E27FC236}">
                <a16:creationId xmlns:a16="http://schemas.microsoft.com/office/drawing/2014/main" id="{D89C454A-0489-45D6-8088-F9CD2875F286}"/>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10</a:t>
            </a:r>
          </a:p>
        </p:txBody>
      </p:sp>
    </p:spTree>
    <p:extLst>
      <p:ext uri="{BB962C8B-B14F-4D97-AF65-F5344CB8AC3E}">
        <p14:creationId xmlns:p14="http://schemas.microsoft.com/office/powerpoint/2010/main" val="1283112647"/>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9CCD4EA-2EAC-41BD-85A9-F66BAF99F509}"/>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09</a:t>
            </a:r>
          </a:p>
        </p:txBody>
      </p:sp>
      <p:sp>
        <p:nvSpPr>
          <p:cNvPr id="2" name="">
            <a:extLst xmlns:a="http://schemas.openxmlformats.org/drawingml/2006/main">
              <a:ext uri="{FF2B5EF4-FFF2-40B4-BE49-F238E27FC236}">
                <a16:creationId xmlns:a16="http://schemas.microsoft.com/office/drawing/2014/main" id="{43F22EBF-C019-4D43-8E46-C7FD4EBBB65F}"/>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单因素扫描结果</a:t>
            </a:r>
          </a:p>
        </p:txBody>
      </p:sp>
      <p:sp>
        <p:nvSpPr>
          <p:cNvPr id="3" name="">
            <a:extLst xmlns:a="http://schemas.openxmlformats.org/drawingml/2006/main">
              <a:ext uri="{FF2B5EF4-FFF2-40B4-BE49-F238E27FC236}">
                <a16:creationId xmlns:a16="http://schemas.microsoft.com/office/drawing/2014/main" id="{6287DA6B-ADE5-4354-9F04-FDBEFEFC2820}"/>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0846D28C-1A88-4422-89DC-1689C99E3582}"/>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温度和 RIN 改变损失量级；静态对准影响很小，强抖动产生错误的时长结构</a:t>
            </a:r>
          </a:p>
        </p:txBody>
      </p:sp>
      <p:graphicFrame>
        <p:nvGraphicFramePr>
          <p:cNvPr id="18" name="Chart"/>
          <p:cNvGraphicFramePr/>
          <p:nvPr/>
        </p:nvGraphicFramePr>
        <p:xfrm>
          <a:off xmlns:a="http://schemas.openxmlformats.org/drawingml/2006/main" x="609600" y="1352550"/>
          <a:ext xmlns:a="http://schemas.openxmlformats.org/drawingml/2006/main" cx="5219700" cy="3524250"/>
        </p:xfrm>
        <a:graphic xmlns:a="http://schemas.openxmlformats.org/drawingml/2006/main">
          <a:graphicData uri="http://schemas.openxmlformats.org/drawingml/2006/chart">
            <c:chart xmlns:r="http://schemas.openxmlformats.org/officeDocument/2006/relationships" xmlns:c="http://schemas.openxmlformats.org/drawingml/2006/chart" r:id="R95f25f8861884d03"/>
          </a:graphicData>
        </a:graphic>
      </p:graphicFrame>
      <p:graphicFrame>
        <p:nvGraphicFramePr>
          <p:cNvPr id="19" name="Chart"/>
          <p:cNvGraphicFramePr/>
          <p:nvPr/>
        </p:nvGraphicFramePr>
        <p:xfrm>
          <a:off xmlns:a="http://schemas.openxmlformats.org/drawingml/2006/main" x="6115050" y="1352550"/>
          <a:ext xmlns:a="http://schemas.openxmlformats.org/drawingml/2006/main" cx="5467350" cy="3524250"/>
        </p:xfrm>
        <a:graphic xmlns:a="http://schemas.openxmlformats.org/drawingml/2006/main">
          <a:graphicData uri="http://schemas.openxmlformats.org/drawingml/2006/chart">
            <c:chart xmlns:r="http://schemas.openxmlformats.org/officeDocument/2006/relationships" xmlns:c="http://schemas.openxmlformats.org/drawingml/2006/chart" r:id="Rf25fd392214e41ae"/>
          </a:graphicData>
        </a:graphic>
      </p:graphicFrame>
      <p:sp>
        <p:nvSpPr>
          <p:cNvPr id="7" name="">
            <a:extLst xmlns:a="http://schemas.openxmlformats.org/drawingml/2006/main">
              <a:ext uri="{FF2B5EF4-FFF2-40B4-BE49-F238E27FC236}">
                <a16:creationId xmlns:a16="http://schemas.microsoft.com/office/drawing/2014/main" id="{D2E1F1E7-96E8-47DA-A0AC-F41DFC015117}"/>
              </a:ext>
            </a:extLst>
          </p:cNvPr>
          <p:cNvSpPr>
            <a:spLocks xmlns:a="http://schemas.openxmlformats.org/drawingml/2006/main" noGrp="1"/>
          </p:cNvSpPr>
          <p:nvPr/>
        </p:nvSpPr>
        <p:spPr>
          <a:xfrm xmlns:a="http://schemas.openxmlformats.org/drawingml/2006/main">
            <a:off x="609600" y="5143500"/>
            <a:ext cx="10972800" cy="1085850"/>
          </a:xfrm>
          <a:prstGeom xmlns:a="http://schemas.openxmlformats.org/drawingml/2006/main" prst="roundRect">
            <a:avLst>
              <a:gd name="adj" fmla="val 7018"/>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70AA15CB-7CEE-4972-97C3-54354D960A19}"/>
              </a:ext>
            </a:extLst>
          </p:cNvPr>
          <p:cNvSpPr>
            <a:spLocks xmlns:a="http://schemas.openxmlformats.org/drawingml/2006/main" noGrp="1"/>
          </p:cNvSpPr>
          <p:nvPr/>
        </p:nvSpPr>
        <p:spPr>
          <a:xfrm xmlns:a="http://schemas.openxmlformats.org/drawingml/2006/main">
            <a:off x="838200" y="531495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读数</a:t>
            </a:r>
          </a:p>
        </p:txBody>
      </p:sp>
      <p:sp>
        <p:nvSpPr>
          <p:cNvPr id="9" name="">
            <a:extLst xmlns:a="http://schemas.openxmlformats.org/drawingml/2006/main">
              <a:ext uri="{FF2B5EF4-FFF2-40B4-BE49-F238E27FC236}">
                <a16:creationId xmlns:a16="http://schemas.microsoft.com/office/drawing/2014/main" id="{CF5FDB91-1171-42C7-A8B3-E07B2C62DC6F}"/>
              </a:ext>
            </a:extLst>
          </p:cNvPr>
          <p:cNvSpPr>
            <a:spLocks xmlns:a="http://schemas.openxmlformats.org/drawingml/2006/main" noGrp="1"/>
          </p:cNvSpPr>
          <p:nvPr/>
        </p:nvSpPr>
        <p:spPr>
          <a:xfrm xmlns:a="http://schemas.openxmlformats.org/drawingml/2006/main">
            <a:off x="1695450" y="5276850"/>
            <a:ext cx="9601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344054"/>
                </a:solidFill>
                <a:latin typeface="Microsoft YaHei"/>
                <a:ea typeface="Microsoft YaHei"/>
                <a:cs typeface="Microsoft YaHei"/>
              </a:defRPr>
            </a:pPr>
            <a:r>
              <a:rPr sz="1163" b="0">
                <a:solidFill>
                  <a:srgbClr val="344054"/>
                </a:solidFill>
                <a:latin typeface="Microsoft YaHei"/>
                <a:ea typeface="Microsoft YaHei"/>
                <a:cs typeface="Microsoft YaHei"/>
              </a:rPr>
              <a:t>Paper 400 / 600 µs：0.414 / 0.573。T40：0.527 / 0.680。RIN 3×10⁻⁷：0.359 / 0.434。A0.15/A0.30 接近 baseline；J0.10 为 0.094 / 0.105。</a:t>
            </a:r>
          </a:p>
        </p:txBody>
      </p:sp>
      <p:sp>
        <p:nvSpPr>
          <p:cNvPr id="10" name="">
            <a:extLst xmlns:a="http://schemas.openxmlformats.org/drawingml/2006/main">
              <a:ext uri="{FF2B5EF4-FFF2-40B4-BE49-F238E27FC236}">
                <a16:creationId xmlns:a16="http://schemas.microsoft.com/office/drawing/2014/main" id="{E275AB51-7ADC-448D-81A6-E68737D2F5F9}"/>
              </a:ext>
            </a:extLst>
          </p:cNvPr>
          <p:cNvSpPr>
            <a:spLocks xmlns:a="http://schemas.openxmlformats.org/drawingml/2006/main" noGrp="1"/>
          </p:cNvSpPr>
          <p:nvPr/>
        </p:nvSpPr>
        <p:spPr>
          <a:xfrm xmlns:a="http://schemas.openxmlformats.org/drawingml/2006/main">
            <a:off x="1695450" y="5772150"/>
            <a:ext cx="9601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D92D20"/>
                </a:solidFill>
                <a:latin typeface="Microsoft YaHei"/>
                <a:ea typeface="Microsoft YaHei"/>
                <a:cs typeface="Microsoft YaHei"/>
              </a:defRPr>
            </a:pPr>
            <a:r>
              <a:rPr sz="1163" b="0">
                <a:solidFill>
                  <a:srgbClr val="D92D20"/>
                </a:solidFill>
                <a:latin typeface="Microsoft YaHei"/>
                <a:ea typeface="Microsoft YaHei"/>
                <a:cs typeface="Microsoft YaHei"/>
              </a:rPr>
              <a:t>解释：T40 和 R3e−7 能把损失推到论文量级附近；J0.10 虽然损失大，但 400/600 几乎同样差，无法解释论文的时长排序。</a:t>
            </a:r>
          </a:p>
        </p:txBody>
      </p:sp>
      <p:sp>
        <p:nvSpPr>
          <p:cNvPr id="11" name="">
            <a:extLst xmlns:a="http://schemas.openxmlformats.org/drawingml/2006/main">
              <a:ext uri="{FF2B5EF4-FFF2-40B4-BE49-F238E27FC236}">
                <a16:creationId xmlns:a16="http://schemas.microsoft.com/office/drawing/2014/main" id="{BEC4EB35-04B5-4724-A60C-37D61FCD3ECB}"/>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2" name="">
            <a:extLst xmlns:a="http://schemas.openxmlformats.org/drawingml/2006/main">
              <a:ext uri="{FF2B5EF4-FFF2-40B4-BE49-F238E27FC236}">
                <a16:creationId xmlns:a16="http://schemas.microsoft.com/office/drawing/2014/main" id="{7A01CDC7-B8B3-4445-A565-4C6C6102B97E}"/>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raw Stage-1 survival_scan_results.csv for T / RIN / alignment / jitter</a:t>
            </a:r>
          </a:p>
        </p:txBody>
      </p:sp>
      <p:sp>
        <p:nvSpPr>
          <p:cNvPr id="13" name="">
            <a:extLst xmlns:a="http://schemas.openxmlformats.org/drawingml/2006/main">
              <a:ext uri="{FF2B5EF4-FFF2-40B4-BE49-F238E27FC236}">
                <a16:creationId xmlns:a16="http://schemas.microsoft.com/office/drawing/2014/main" id="{DB5FDBF5-767B-404C-9844-1F34AC07DFE2}"/>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11</a:t>
            </a:r>
          </a:p>
        </p:txBody>
      </p:sp>
    </p:spTree>
    <p:extLst>
      <p:ext uri="{BB962C8B-B14F-4D97-AF65-F5344CB8AC3E}">
        <p14:creationId xmlns:p14="http://schemas.microsoft.com/office/powerpoint/2010/main" val="1541218927"/>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78758F4-6E52-4502-91AF-EA2F5DADA465}"/>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10</a:t>
            </a:r>
          </a:p>
        </p:txBody>
      </p:sp>
      <p:sp>
        <p:nvSpPr>
          <p:cNvPr id="2" name="">
            <a:extLst xmlns:a="http://schemas.openxmlformats.org/drawingml/2006/main">
              <a:ext uri="{FF2B5EF4-FFF2-40B4-BE49-F238E27FC236}">
                <a16:creationId xmlns:a16="http://schemas.microsoft.com/office/drawing/2014/main" id="{5955F5FD-2309-4A96-B5F5-1F2A7BF89B04}"/>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T40 的完整时长曲线</a:t>
            </a:r>
          </a:p>
        </p:txBody>
      </p:sp>
      <p:sp>
        <p:nvSpPr>
          <p:cNvPr id="3" name="">
            <a:extLst xmlns:a="http://schemas.openxmlformats.org/drawingml/2006/main">
              <a:ext uri="{FF2B5EF4-FFF2-40B4-BE49-F238E27FC236}">
                <a16:creationId xmlns:a16="http://schemas.microsoft.com/office/drawing/2014/main" id="{78A87D88-83FD-4406-9FCB-F817A89C3EDA}"/>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6F551C0D-F5A7-4A9B-86FE-C08C3587FD2A}"/>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Paper 使用单调锚点重建；MC 使用 512-shot 独立复核池</a:t>
            </a:r>
          </a:p>
        </p:txBody>
      </p:sp>
      <p:graphicFrame>
        <p:nvGraphicFramePr>
          <p:cNvPr id="17" name="Chart"/>
          <p:cNvGraphicFramePr/>
          <p:nvPr/>
        </p:nvGraphicFramePr>
        <p:xfrm>
          <a:off xmlns:a="http://schemas.openxmlformats.org/drawingml/2006/main" x="609600" y="1352550"/>
          <a:ext xmlns:a="http://schemas.openxmlformats.org/drawingml/2006/main" cx="4095750" cy="3714750"/>
        </p:xfrm>
        <a:graphic xmlns:a="http://schemas.openxmlformats.org/drawingml/2006/main">
          <a:graphicData uri="http://schemas.openxmlformats.org/drawingml/2006/chart">
            <c:chart xmlns:r="http://schemas.openxmlformats.org/officeDocument/2006/relationships" xmlns:c="http://schemas.openxmlformats.org/drawingml/2006/chart" r:id="R097dd9a5675742b8"/>
          </a:graphicData>
        </a:graphic>
      </p:graphicFrame>
      <p:graphicFrame>
        <p:nvGraphicFramePr>
          <p:cNvPr id="18" name="Chart"/>
          <p:cNvGraphicFramePr/>
          <p:nvPr/>
        </p:nvGraphicFramePr>
        <p:xfrm>
          <a:off xmlns:a="http://schemas.openxmlformats.org/drawingml/2006/main" x="4876800" y="1352550"/>
          <a:ext xmlns:a="http://schemas.openxmlformats.org/drawingml/2006/main" cx="6705600" cy="3714750"/>
        </p:xfrm>
        <a:graphic xmlns:a="http://schemas.openxmlformats.org/drawingml/2006/main">
          <a:graphicData uri="http://schemas.openxmlformats.org/drawingml/2006/chart">
            <c:chart xmlns:r="http://schemas.openxmlformats.org/officeDocument/2006/relationships" xmlns:c="http://schemas.openxmlformats.org/drawingml/2006/chart" r:id="R553d572b0bb34a84"/>
          </a:graphicData>
        </a:graphic>
      </p:graphicFrame>
      <p:sp>
        <p:nvSpPr>
          <p:cNvPr id="7" name="">
            <a:extLst xmlns:a="http://schemas.openxmlformats.org/drawingml/2006/main">
              <a:ext uri="{FF2B5EF4-FFF2-40B4-BE49-F238E27FC236}">
                <a16:creationId xmlns:a16="http://schemas.microsoft.com/office/drawing/2014/main" id="{9459E8A3-5E9D-4C9B-B684-7D17EDDA7359}"/>
              </a:ext>
            </a:extLst>
          </p:cNvPr>
          <p:cNvSpPr>
            <a:spLocks xmlns:a="http://schemas.openxmlformats.org/drawingml/2006/main" noGrp="1"/>
          </p:cNvSpPr>
          <p:nvPr/>
        </p:nvSpPr>
        <p:spPr>
          <a:xfrm xmlns:a="http://schemas.openxmlformats.org/drawingml/2006/main">
            <a:off x="609600" y="5276850"/>
            <a:ext cx="10972800" cy="819150"/>
          </a:xfrm>
          <a:prstGeom xmlns:a="http://schemas.openxmlformats.org/drawingml/2006/main" prst="roundRect">
            <a:avLst>
              <a:gd name="adj" fmla="val 9302"/>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261C48BF-0971-4B48-8253-AA94F9819DA1}"/>
              </a:ext>
            </a:extLst>
          </p:cNvPr>
          <p:cNvSpPr>
            <a:spLocks xmlns:a="http://schemas.openxmlformats.org/drawingml/2006/main" noGrp="1"/>
          </p:cNvSpPr>
          <p:nvPr/>
        </p:nvSpPr>
        <p:spPr>
          <a:xfrm xmlns:a="http://schemas.openxmlformats.org/drawingml/2006/main">
            <a:off x="838200" y="5467350"/>
            <a:ext cx="87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结论</a:t>
            </a:r>
          </a:p>
        </p:txBody>
      </p:sp>
      <p:sp>
        <p:nvSpPr>
          <p:cNvPr id="9" name="">
            <a:extLst xmlns:a="http://schemas.openxmlformats.org/drawingml/2006/main">
              <a:ext uri="{FF2B5EF4-FFF2-40B4-BE49-F238E27FC236}">
                <a16:creationId xmlns:a16="http://schemas.microsoft.com/office/drawing/2014/main" id="{A61B0892-0F0F-4840-AD41-B09B9B65C730}"/>
              </a:ext>
            </a:extLst>
          </p:cNvPr>
          <p:cNvSpPr>
            <a:spLocks xmlns:a="http://schemas.openxmlformats.org/drawingml/2006/main" noGrp="1"/>
          </p:cNvSpPr>
          <p:nvPr/>
        </p:nvSpPr>
        <p:spPr>
          <a:xfrm xmlns:a="http://schemas.openxmlformats.org/drawingml/2006/main">
            <a:off x="1733550" y="5429250"/>
            <a:ext cx="9544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344054"/>
                </a:solidFill>
                <a:latin typeface="Microsoft YaHei"/>
                <a:ea typeface="Microsoft YaHei"/>
                <a:cs typeface="Microsoft YaHei"/>
              </a:defRPr>
            </a:pPr>
            <a:r>
              <a:rPr sz="1275" b="0">
                <a:solidFill>
                  <a:srgbClr val="344054"/>
                </a:solidFill>
                <a:latin typeface="Microsoft YaHei"/>
                <a:ea typeface="Microsoft YaHei"/>
                <a:cs typeface="Microsoft YaHei"/>
              </a:rPr>
              <a:t>排序 200 &lt; 400 &lt; 600 与论文一致；200 µs 全程偏低，400/600 µs 从早期偏低转为后期偏高，因此误差不是单一 absolute offset。</a:t>
            </a:r>
          </a:p>
        </p:txBody>
      </p:sp>
      <p:sp>
        <p:nvSpPr>
          <p:cNvPr id="10" name="">
            <a:extLst xmlns:a="http://schemas.openxmlformats.org/drawingml/2006/main">
              <a:ext uri="{FF2B5EF4-FFF2-40B4-BE49-F238E27FC236}">
                <a16:creationId xmlns:a16="http://schemas.microsoft.com/office/drawing/2014/main" id="{A30FCA43-EFD9-4658-8FB6-B5B628F12041}"/>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1" name="">
            <a:extLst xmlns:a="http://schemas.openxmlformats.org/drawingml/2006/main">
              <a:ext uri="{FF2B5EF4-FFF2-40B4-BE49-F238E27FC236}">
                <a16:creationId xmlns:a16="http://schemas.microsoft.com/office/drawing/2014/main" id="{C5D39FB9-D68C-4E77-B507-B9A470146595}"/>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fig6d_survival_digitized.csv</a:t>
            </a:r>
          </a:p>
        </p:txBody>
      </p:sp>
      <p:sp>
        <p:nvSpPr>
          <p:cNvPr id="12" name="">
            <a:extLst xmlns:a="http://schemas.openxmlformats.org/drawingml/2006/main">
              <a:ext uri="{FF2B5EF4-FFF2-40B4-BE49-F238E27FC236}">
                <a16:creationId xmlns:a16="http://schemas.microsoft.com/office/drawing/2014/main" id="{1D065CE6-4BEE-4A7A-9032-98124624FFBB}"/>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12</a:t>
            </a:r>
          </a:p>
        </p:txBody>
      </p:sp>
    </p:spTree>
    <p:extLst>
      <p:ext uri="{BB962C8B-B14F-4D97-AF65-F5344CB8AC3E}">
        <p14:creationId xmlns:p14="http://schemas.microsoft.com/office/powerpoint/2010/main" val="997082969"/>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88A80AC-7E4E-49C9-9C32-4A5D38AD5B70}"/>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11</a:t>
            </a:r>
          </a:p>
        </p:txBody>
      </p:sp>
      <p:sp>
        <p:nvSpPr>
          <p:cNvPr id="2" name="">
            <a:extLst xmlns:a="http://schemas.openxmlformats.org/drawingml/2006/main">
              <a:ext uri="{FF2B5EF4-FFF2-40B4-BE49-F238E27FC236}">
                <a16:creationId xmlns:a16="http://schemas.microsoft.com/office/drawing/2014/main" id="{79187D57-735A-4CF3-9CE2-C6A37E6D942D}"/>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Fig. 6c ML 波形的数字化输入</a:t>
            </a:r>
          </a:p>
        </p:txBody>
      </p:sp>
      <p:sp>
        <p:nvSpPr>
          <p:cNvPr id="3" name="">
            <a:extLst xmlns:a="http://schemas.openxmlformats.org/drawingml/2006/main">
              <a:ext uri="{FF2B5EF4-FFF2-40B4-BE49-F238E27FC236}">
                <a16:creationId xmlns:a16="http://schemas.microsoft.com/office/drawing/2014/main" id="{609B1890-7BCC-4226-8CD3-666F79C85192}"/>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A2F0D129-1461-4415-B970-41D528D370CE}"/>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从 PDF 矢量路径读取位置和深度，再在同一 400 µs 网格上与手工波形比较</a:t>
            </a:r>
          </a:p>
        </p:txBody>
      </p:sp>
      <p:graphicFrame>
        <p:nvGraphicFramePr>
          <p:cNvPr id="17" name="Chart"/>
          <p:cNvGraphicFramePr/>
          <p:nvPr/>
        </p:nvGraphicFramePr>
        <p:xfrm>
          <a:off xmlns:a="http://schemas.openxmlformats.org/drawingml/2006/main" x="609600" y="1352550"/>
          <a:ext xmlns:a="http://schemas.openxmlformats.org/drawingml/2006/main" cx="5334000" cy="3619500"/>
        </p:xfrm>
        <a:graphic xmlns:a="http://schemas.openxmlformats.org/drawingml/2006/main">
          <a:graphicData uri="http://schemas.openxmlformats.org/drawingml/2006/chart">
            <c:chart xmlns:r="http://schemas.openxmlformats.org/officeDocument/2006/relationships" xmlns:c="http://schemas.openxmlformats.org/drawingml/2006/chart" r:id="R47160d9333194bc5"/>
          </a:graphicData>
        </a:graphic>
      </p:graphicFrame>
      <p:graphicFrame>
        <p:nvGraphicFramePr>
          <p:cNvPr id="18" name="Chart"/>
          <p:cNvGraphicFramePr/>
          <p:nvPr/>
        </p:nvGraphicFramePr>
        <p:xfrm>
          <a:off xmlns:a="http://schemas.openxmlformats.org/drawingml/2006/main" x="6248400" y="1352550"/>
          <a:ext xmlns:a="http://schemas.openxmlformats.org/drawingml/2006/main" cx="5334000" cy="3619500"/>
        </p:xfrm>
        <a:graphic xmlns:a="http://schemas.openxmlformats.org/drawingml/2006/main">
          <a:graphicData uri="http://schemas.openxmlformats.org/drawingml/2006/chart">
            <c:chart xmlns:r="http://schemas.openxmlformats.org/officeDocument/2006/relationships" xmlns:c="http://schemas.openxmlformats.org/drawingml/2006/chart" r:id="R566d7b46a2564197"/>
          </a:graphicData>
        </a:graphic>
      </p:graphicFrame>
      <p:sp>
        <p:nvSpPr>
          <p:cNvPr id="7" name="">
            <a:extLst xmlns:a="http://schemas.openxmlformats.org/drawingml/2006/main">
              <a:ext uri="{FF2B5EF4-FFF2-40B4-BE49-F238E27FC236}">
                <a16:creationId xmlns:a16="http://schemas.microsoft.com/office/drawing/2014/main" id="{EB51F90E-08D6-48E9-920D-3085C8C21F44}"/>
              </a:ext>
            </a:extLst>
          </p:cNvPr>
          <p:cNvSpPr>
            <a:spLocks xmlns:a="http://schemas.openxmlformats.org/drawingml/2006/main" noGrp="1"/>
          </p:cNvSpPr>
          <p:nvPr/>
        </p:nvSpPr>
        <p:spPr>
          <a:xfrm xmlns:a="http://schemas.openxmlformats.org/drawingml/2006/main">
            <a:off x="609600" y="5219700"/>
            <a:ext cx="10972800" cy="876300"/>
          </a:xfrm>
          <a:prstGeom xmlns:a="http://schemas.openxmlformats.org/drawingml/2006/main" prst="roundRect">
            <a:avLst>
              <a:gd name="adj" fmla="val 8696"/>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3CBFDA04-F058-4878-851C-140E0473CFB2}"/>
              </a:ext>
            </a:extLst>
          </p:cNvPr>
          <p:cNvSpPr>
            <a:spLocks xmlns:a="http://schemas.openxmlformats.org/drawingml/2006/main" noGrp="1"/>
          </p:cNvSpPr>
          <p:nvPr/>
        </p:nvSpPr>
        <p:spPr>
          <a:xfrm xmlns:a="http://schemas.openxmlformats.org/drawingml/2006/main">
            <a:off x="838200" y="54102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输入构造</a:t>
            </a:r>
          </a:p>
        </p:txBody>
      </p:sp>
      <p:sp>
        <p:nvSpPr>
          <p:cNvPr id="9" name="">
            <a:extLst xmlns:a="http://schemas.openxmlformats.org/drawingml/2006/main">
              <a:ext uri="{FF2B5EF4-FFF2-40B4-BE49-F238E27FC236}">
                <a16:creationId xmlns:a16="http://schemas.microsoft.com/office/drawing/2014/main" id="{6EFC0FD2-D03A-4F54-A9B6-AB9A9C119836}"/>
              </a:ext>
            </a:extLst>
          </p:cNvPr>
          <p:cNvSpPr>
            <a:spLocks xmlns:a="http://schemas.openxmlformats.org/drawingml/2006/main" noGrp="1"/>
          </p:cNvSpPr>
          <p:nvPr/>
        </p:nvSpPr>
        <p:spPr>
          <a:xfrm xmlns:a="http://schemas.openxmlformats.org/drawingml/2006/main">
            <a:off x="2095500" y="5353050"/>
            <a:ext cx="9220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38" b="0">
                <a:solidFill>
                  <a:srgbClr val="344054"/>
                </a:solidFill>
                <a:latin typeface="Microsoft YaHei"/>
                <a:ea typeface="Microsoft YaHei"/>
                <a:cs typeface="Microsoft YaHei"/>
              </a:defRPr>
            </a:pPr>
            <a:r>
              <a:rPr sz="1238" b="0">
                <a:solidFill>
                  <a:srgbClr val="344054"/>
                </a:solidFill>
                <a:latin typeface="Microsoft YaHei"/>
                <a:ea typeface="Microsoft YaHei"/>
                <a:cs typeface="Microsoft YaHei"/>
              </a:rPr>
              <a:t>矢量提取得到 15 个绘制节点，间隔约 28.57 µs。位置先在约 0.11 µm 停留，待 AOD 接近满深后再加速移动并平缓收尾。普通三次插值连接节点。</a:t>
            </a:r>
          </a:p>
        </p:txBody>
      </p:sp>
      <p:sp>
        <p:nvSpPr>
          <p:cNvPr id="10" name="">
            <a:extLst xmlns:a="http://schemas.openxmlformats.org/drawingml/2006/main">
              <a:ext uri="{FF2B5EF4-FFF2-40B4-BE49-F238E27FC236}">
                <a16:creationId xmlns:a16="http://schemas.microsoft.com/office/drawing/2014/main" id="{5426BC8B-415B-4A90-AFA8-58793EA44783}"/>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1" name="">
            <a:extLst xmlns:a="http://schemas.openxmlformats.org/drawingml/2006/main">
              <a:ext uri="{FF2B5EF4-FFF2-40B4-BE49-F238E27FC236}">
                <a16:creationId xmlns:a16="http://schemas.microsoft.com/office/drawing/2014/main" id="{DF9254B4-C46A-4733-8BBA-7A4512052262}"/>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fig6c_ml_trajectory_digitized.json · waveforms.py · PDF page 7</a:t>
            </a:r>
          </a:p>
        </p:txBody>
      </p:sp>
      <p:sp>
        <p:nvSpPr>
          <p:cNvPr id="12" name="">
            <a:extLst xmlns:a="http://schemas.openxmlformats.org/drawingml/2006/main">
              <a:ext uri="{FF2B5EF4-FFF2-40B4-BE49-F238E27FC236}">
                <a16:creationId xmlns:a16="http://schemas.microsoft.com/office/drawing/2014/main" id="{89CC3EA9-FE0C-4D85-B60E-04B5DEEEB7EB}"/>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13</a:t>
            </a:r>
          </a:p>
        </p:txBody>
      </p:sp>
    </p:spTree>
    <p:extLst>
      <p:ext uri="{BB962C8B-B14F-4D97-AF65-F5344CB8AC3E}">
        <p14:creationId xmlns:p14="http://schemas.microsoft.com/office/powerpoint/2010/main" val="1803729173"/>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010516F-2668-4612-8353-FD4B0F3A0522}"/>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12</a:t>
            </a:r>
          </a:p>
        </p:txBody>
      </p:sp>
      <p:sp>
        <p:nvSpPr>
          <p:cNvPr id="2" name="">
            <a:extLst xmlns:a="http://schemas.openxmlformats.org/drawingml/2006/main">
              <a:ext uri="{FF2B5EF4-FFF2-40B4-BE49-F238E27FC236}">
                <a16:creationId xmlns:a16="http://schemas.microsoft.com/office/drawing/2014/main" id="{B85E103C-B39E-4EA3-AEB1-75A406A55F20}"/>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Manual 与 Fig. 6c ML 的端点比较</a:t>
            </a:r>
          </a:p>
        </p:txBody>
      </p:sp>
      <p:sp>
        <p:nvSpPr>
          <p:cNvPr id="3" name="">
            <a:extLst xmlns:a="http://schemas.openxmlformats.org/drawingml/2006/main">
              <a:ext uri="{FF2B5EF4-FFF2-40B4-BE49-F238E27FC236}">
                <a16:creationId xmlns:a16="http://schemas.microsoft.com/office/drawing/2014/main" id="{9CE85709-F26D-40F9-AED7-A5B68F014572}"/>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8203DD32-ADCF-4A0C-826E-772E3D6FB3C3}"/>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在 T40 的同一 256-shot CRN 随机池中回放两条 400 µs 波形</a:t>
            </a:r>
          </a:p>
        </p:txBody>
      </p:sp>
      <p:graphicFrame>
        <p:nvGraphicFramePr>
          <p:cNvPr id="24" name="Chart"/>
          <p:cNvGraphicFramePr/>
          <p:nvPr/>
        </p:nvGraphicFramePr>
        <p:xfrm>
          <a:off xmlns:a="http://schemas.openxmlformats.org/drawingml/2006/main" x="666750" y="1381125"/>
          <a:ext xmlns:a="http://schemas.openxmlformats.org/drawingml/2006/main" cx="7048500" cy="4191000"/>
        </p:xfrm>
        <a:graphic xmlns:a="http://schemas.openxmlformats.org/drawingml/2006/main">
          <a:graphicData uri="http://schemas.openxmlformats.org/drawingml/2006/chart">
            <c:chart xmlns:r="http://schemas.openxmlformats.org/officeDocument/2006/relationships" xmlns:c="http://schemas.openxmlformats.org/drawingml/2006/chart" r:id="Re6999ebcfa0e46ab"/>
          </a:graphicData>
        </a:graphic>
      </p:graphicFrame>
      <p:sp>
        <p:nvSpPr>
          <p:cNvPr id="6" name="">
            <a:extLst xmlns:a="http://schemas.openxmlformats.org/drawingml/2006/main">
              <a:ext uri="{FF2B5EF4-FFF2-40B4-BE49-F238E27FC236}">
                <a16:creationId xmlns:a16="http://schemas.microsoft.com/office/drawing/2014/main" id="{90AF0C30-9711-466C-BFF3-9C28AF705529}"/>
              </a:ext>
            </a:extLst>
          </p:cNvPr>
          <p:cNvSpPr>
            <a:spLocks xmlns:a="http://schemas.openxmlformats.org/drawingml/2006/main" noGrp="1"/>
          </p:cNvSpPr>
          <p:nvPr/>
        </p:nvSpPr>
        <p:spPr>
          <a:xfrm xmlns:a="http://schemas.openxmlformats.org/drawingml/2006/main">
            <a:off x="8039100" y="1524000"/>
            <a:ext cx="3200400" cy="1581150"/>
          </a:xfrm>
          <a:prstGeom xmlns:a="http://schemas.openxmlformats.org/drawingml/2006/main" prst="roundRect">
            <a:avLst>
              <a:gd name="adj" fmla="val 4819"/>
            </a:avLst>
          </a:prstGeom>
          <a:solidFill xmlns:a="http://schemas.openxmlformats.org/drawingml/2006/main">
            <a:srgbClr val="ECFDF3"/>
          </a:solidFill>
          <a:ln xmlns:a="http://schemas.openxmlformats.org/drawingml/2006/main" w="9525">
            <a:solidFill>
              <a:srgbClr val="ABEFC6"/>
            </a:solidFill>
          </a:ln>
        </p:spPr>
      </p:sp>
      <p:sp>
        <p:nvSpPr>
          <p:cNvPr id="7" name="">
            <a:extLst xmlns:a="http://schemas.openxmlformats.org/drawingml/2006/main">
              <a:ext uri="{FF2B5EF4-FFF2-40B4-BE49-F238E27FC236}">
                <a16:creationId xmlns:a16="http://schemas.microsoft.com/office/drawing/2014/main" id="{4C0E93B8-3CC3-4480-87C7-78101569F336}"/>
              </a:ext>
            </a:extLst>
          </p:cNvPr>
          <p:cNvSpPr>
            <a:spLocks xmlns:a="http://schemas.openxmlformats.org/drawingml/2006/main" noGrp="1"/>
          </p:cNvSpPr>
          <p:nvPr/>
        </p:nvSpPr>
        <p:spPr>
          <a:xfrm xmlns:a="http://schemas.openxmlformats.org/drawingml/2006/main">
            <a:off x="8286750" y="1752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E9384"/>
                </a:solidFill>
                <a:latin typeface="Microsoft YaHei"/>
                <a:ea typeface="Microsoft YaHei"/>
                <a:cs typeface="Microsoft YaHei"/>
              </a:defRPr>
            </a:pPr>
            <a:r>
              <a:rPr sz="1275" b="1">
                <a:solidFill>
                  <a:srgbClr val="0E9384"/>
                </a:solidFill>
                <a:latin typeface="Microsoft YaHei"/>
                <a:ea typeface="Microsoft YaHei"/>
                <a:cs typeface="Microsoft YaHei"/>
              </a:rPr>
              <a:t>Paper ΔS</a:t>
            </a:r>
          </a:p>
        </p:txBody>
      </p:sp>
      <p:sp>
        <p:nvSpPr>
          <p:cNvPr id="8" name="">
            <a:extLst xmlns:a="http://schemas.openxmlformats.org/drawingml/2006/main">
              <a:ext uri="{FF2B5EF4-FFF2-40B4-BE49-F238E27FC236}">
                <a16:creationId xmlns:a16="http://schemas.microsoft.com/office/drawing/2014/main" id="{6C0108BF-0652-4D83-ABA5-D8D9A268FA0E}"/>
              </a:ext>
            </a:extLst>
          </p:cNvPr>
          <p:cNvSpPr>
            <a:spLocks xmlns:a="http://schemas.openxmlformats.org/drawingml/2006/main" noGrp="1"/>
          </p:cNvSpPr>
          <p:nvPr/>
        </p:nvSpPr>
        <p:spPr>
          <a:xfrm xmlns:a="http://schemas.openxmlformats.org/drawingml/2006/main">
            <a:off x="8286750" y="209550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0E9384"/>
                </a:solidFill>
                <a:latin typeface="Microsoft YaHei"/>
                <a:ea typeface="Microsoft YaHei"/>
                <a:cs typeface="Microsoft YaHei"/>
              </a:defRPr>
            </a:pPr>
            <a:r>
              <a:rPr sz="2850" b="1">
                <a:solidFill>
                  <a:srgbClr val="0E9384"/>
                </a:solidFill>
                <a:latin typeface="Microsoft YaHei"/>
                <a:ea typeface="Microsoft YaHei"/>
                <a:cs typeface="Microsoft YaHei"/>
              </a:rPr>
              <a:t>+0.250</a:t>
            </a:r>
          </a:p>
        </p:txBody>
      </p:sp>
      <p:sp>
        <p:nvSpPr>
          <p:cNvPr id="9" name="">
            <a:extLst xmlns:a="http://schemas.openxmlformats.org/drawingml/2006/main">
              <a:ext uri="{FF2B5EF4-FFF2-40B4-BE49-F238E27FC236}">
                <a16:creationId xmlns:a16="http://schemas.microsoft.com/office/drawing/2014/main" id="{9048EFB0-4E45-45ED-A93F-1DFD69D4FE80}"/>
              </a:ext>
            </a:extLst>
          </p:cNvPr>
          <p:cNvSpPr>
            <a:spLocks xmlns:a="http://schemas.openxmlformats.org/drawingml/2006/main" noGrp="1"/>
          </p:cNvSpPr>
          <p:nvPr/>
        </p:nvSpPr>
        <p:spPr>
          <a:xfrm xmlns:a="http://schemas.openxmlformats.org/drawingml/2006/main">
            <a:off x="8286750" y="264795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41.3% to 66.3%</a:t>
            </a:r>
          </a:p>
        </p:txBody>
      </p:sp>
      <p:sp>
        <p:nvSpPr>
          <p:cNvPr id="10" name="">
            <a:extLst xmlns:a="http://schemas.openxmlformats.org/drawingml/2006/main">
              <a:ext uri="{FF2B5EF4-FFF2-40B4-BE49-F238E27FC236}">
                <a16:creationId xmlns:a16="http://schemas.microsoft.com/office/drawing/2014/main" id="{2818AC94-92B3-463D-8AD6-4E5D914086EE}"/>
              </a:ext>
            </a:extLst>
          </p:cNvPr>
          <p:cNvSpPr>
            <a:spLocks xmlns:a="http://schemas.openxmlformats.org/drawingml/2006/main" noGrp="1"/>
          </p:cNvSpPr>
          <p:nvPr/>
        </p:nvSpPr>
        <p:spPr>
          <a:xfrm xmlns:a="http://schemas.openxmlformats.org/drawingml/2006/main">
            <a:off x="8286750" y="288607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Equivalent loss 1.46% to 0.68%</a:t>
            </a:r>
          </a:p>
        </p:txBody>
      </p:sp>
      <p:sp>
        <p:nvSpPr>
          <p:cNvPr id="11" name="">
            <a:extLst xmlns:a="http://schemas.openxmlformats.org/drawingml/2006/main">
              <a:ext uri="{FF2B5EF4-FFF2-40B4-BE49-F238E27FC236}">
                <a16:creationId xmlns:a16="http://schemas.microsoft.com/office/drawing/2014/main" id="{42BE3FC5-BD01-4D45-BD74-2407FCA1D9E7}"/>
              </a:ext>
            </a:extLst>
          </p:cNvPr>
          <p:cNvSpPr>
            <a:spLocks xmlns:a="http://schemas.openxmlformats.org/drawingml/2006/main" noGrp="1"/>
          </p:cNvSpPr>
          <p:nvPr/>
        </p:nvSpPr>
        <p:spPr>
          <a:xfrm xmlns:a="http://schemas.openxmlformats.org/drawingml/2006/main">
            <a:off x="8039100" y="3333750"/>
            <a:ext cx="3200400" cy="1581150"/>
          </a:xfrm>
          <a:prstGeom xmlns:a="http://schemas.openxmlformats.org/drawingml/2006/main" prst="roundRect">
            <a:avLst>
              <a:gd name="adj" fmla="val 4819"/>
            </a:avLst>
          </a:prstGeom>
          <a:solidFill xmlns:a="http://schemas.openxmlformats.org/drawingml/2006/main">
            <a:srgbClr val="EFF8FF"/>
          </a:solidFill>
          <a:ln xmlns:a="http://schemas.openxmlformats.org/drawingml/2006/main" w="9525">
            <a:solidFill>
              <a:srgbClr val="B2DDFF"/>
            </a:solidFill>
          </a:ln>
        </p:spPr>
      </p:sp>
      <p:sp>
        <p:nvSpPr>
          <p:cNvPr id="12" name="">
            <a:extLst xmlns:a="http://schemas.openxmlformats.org/drawingml/2006/main">
              <a:ext uri="{FF2B5EF4-FFF2-40B4-BE49-F238E27FC236}">
                <a16:creationId xmlns:a16="http://schemas.microsoft.com/office/drawing/2014/main" id="{3B07379A-6369-4BF5-9B76-ED36658349AD}"/>
              </a:ext>
            </a:extLst>
          </p:cNvPr>
          <p:cNvSpPr>
            <a:spLocks xmlns:a="http://schemas.openxmlformats.org/drawingml/2006/main" noGrp="1"/>
          </p:cNvSpPr>
          <p:nvPr/>
        </p:nvSpPr>
        <p:spPr>
          <a:xfrm xmlns:a="http://schemas.openxmlformats.org/drawingml/2006/main">
            <a:off x="8286750" y="356235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570EF"/>
                </a:solidFill>
                <a:latin typeface="Microsoft YaHei"/>
                <a:ea typeface="Microsoft YaHei"/>
                <a:cs typeface="Microsoft YaHei"/>
              </a:defRPr>
            </a:pPr>
            <a:r>
              <a:rPr sz="1275" b="1">
                <a:solidFill>
                  <a:srgbClr val="1570EF"/>
                </a:solidFill>
                <a:latin typeface="Microsoft YaHei"/>
                <a:ea typeface="Microsoft YaHei"/>
                <a:cs typeface="Microsoft YaHei"/>
              </a:rPr>
              <a:t>MC T40 ΔS</a:t>
            </a:r>
          </a:p>
        </p:txBody>
      </p:sp>
      <p:sp>
        <p:nvSpPr>
          <p:cNvPr id="13" name="">
            <a:extLst xmlns:a="http://schemas.openxmlformats.org/drawingml/2006/main">
              <a:ext uri="{FF2B5EF4-FFF2-40B4-BE49-F238E27FC236}">
                <a16:creationId xmlns:a16="http://schemas.microsoft.com/office/drawing/2014/main" id="{0B10CB19-B4A3-4963-B037-EAA795592BCB}"/>
              </a:ext>
            </a:extLst>
          </p:cNvPr>
          <p:cNvSpPr>
            <a:spLocks xmlns:a="http://schemas.openxmlformats.org/drawingml/2006/main" noGrp="1"/>
          </p:cNvSpPr>
          <p:nvPr/>
        </p:nvSpPr>
        <p:spPr>
          <a:xfrm xmlns:a="http://schemas.openxmlformats.org/drawingml/2006/main">
            <a:off x="8286750" y="390525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1570EF"/>
                </a:solidFill>
                <a:latin typeface="Microsoft YaHei"/>
                <a:ea typeface="Microsoft YaHei"/>
                <a:cs typeface="Microsoft YaHei"/>
              </a:defRPr>
            </a:pPr>
            <a:r>
              <a:rPr sz="2850" b="1">
                <a:solidFill>
                  <a:srgbClr val="1570EF"/>
                </a:solidFill>
                <a:latin typeface="Microsoft YaHei"/>
                <a:ea typeface="Microsoft YaHei"/>
                <a:cs typeface="Microsoft YaHei"/>
              </a:rPr>
              <a:t>+0.230</a:t>
            </a:r>
          </a:p>
        </p:txBody>
      </p:sp>
      <p:sp>
        <p:nvSpPr>
          <p:cNvPr id="14" name="">
            <a:extLst xmlns:a="http://schemas.openxmlformats.org/drawingml/2006/main">
              <a:ext uri="{FF2B5EF4-FFF2-40B4-BE49-F238E27FC236}">
                <a16:creationId xmlns:a16="http://schemas.microsoft.com/office/drawing/2014/main" id="{68350A21-508C-48BA-9955-62BEE7C11B85}"/>
              </a:ext>
            </a:extLst>
          </p:cNvPr>
          <p:cNvSpPr>
            <a:spLocks xmlns:a="http://schemas.openxmlformats.org/drawingml/2006/main" noGrp="1"/>
          </p:cNvSpPr>
          <p:nvPr/>
        </p:nvSpPr>
        <p:spPr>
          <a:xfrm xmlns:a="http://schemas.openxmlformats.org/drawingml/2006/main">
            <a:off x="8286750" y="4457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52.7% to 75.8%</a:t>
            </a:r>
          </a:p>
        </p:txBody>
      </p:sp>
      <p:sp>
        <p:nvSpPr>
          <p:cNvPr id="15" name="">
            <a:extLst xmlns:a="http://schemas.openxmlformats.org/drawingml/2006/main">
              <a:ext uri="{FF2B5EF4-FFF2-40B4-BE49-F238E27FC236}">
                <a16:creationId xmlns:a16="http://schemas.microsoft.com/office/drawing/2014/main" id="{626BD33B-E98C-453C-9465-720C7136CD52}"/>
              </a:ext>
            </a:extLst>
          </p:cNvPr>
          <p:cNvSpPr>
            <a:spLocks xmlns:a="http://schemas.openxmlformats.org/drawingml/2006/main" noGrp="1"/>
          </p:cNvSpPr>
          <p:nvPr/>
        </p:nvSpPr>
        <p:spPr>
          <a:xfrm xmlns:a="http://schemas.openxmlformats.org/drawingml/2006/main">
            <a:off x="8286750" y="469582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Equivalent loss 1.06% to 0.46%</a:t>
            </a:r>
          </a:p>
        </p:txBody>
      </p:sp>
      <p:sp>
        <p:nvSpPr>
          <p:cNvPr id="16" name="">
            <a:extLst xmlns:a="http://schemas.openxmlformats.org/drawingml/2006/main">
              <a:ext uri="{FF2B5EF4-FFF2-40B4-BE49-F238E27FC236}">
                <a16:creationId xmlns:a16="http://schemas.microsoft.com/office/drawing/2014/main" id="{FE1BDD9A-F4A8-420C-851F-B9F4B80BC65A}"/>
              </a:ext>
            </a:extLst>
          </p:cNvPr>
          <p:cNvSpPr>
            <a:spLocks xmlns:a="http://schemas.openxmlformats.org/drawingml/2006/main" noGrp="1"/>
          </p:cNvSpPr>
          <p:nvPr/>
        </p:nvSpPr>
        <p:spPr>
          <a:xfrm xmlns:a="http://schemas.openxmlformats.org/drawingml/2006/main">
            <a:off x="8039100" y="5257800"/>
            <a:ext cx="320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92D20"/>
                </a:solidFill>
                <a:latin typeface="Microsoft YaHei"/>
                <a:ea typeface="Microsoft YaHei"/>
                <a:cs typeface="Microsoft YaHei"/>
              </a:defRPr>
            </a:pPr>
            <a:r>
              <a:rPr sz="1275" b="0">
                <a:solidFill>
                  <a:srgbClr val="D92D20"/>
                </a:solidFill>
                <a:latin typeface="Microsoft YaHei"/>
                <a:ea typeface="Microsoft YaHei"/>
                <a:cs typeface="Microsoft YaHei"/>
              </a:rPr>
              <a:t>相对增益接近论文，但 MC 的 Manual 和 ML 绝对存活率仍偏高。</a:t>
            </a:r>
          </a:p>
        </p:txBody>
      </p:sp>
      <p:sp>
        <p:nvSpPr>
          <p:cNvPr id="17" name="">
            <a:extLst xmlns:a="http://schemas.openxmlformats.org/drawingml/2006/main">
              <a:ext uri="{FF2B5EF4-FFF2-40B4-BE49-F238E27FC236}">
                <a16:creationId xmlns:a16="http://schemas.microsoft.com/office/drawing/2014/main" id="{82E9C09E-B020-437C-89FF-332DB4E92D08}"/>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8" name="">
            <a:extLst xmlns:a="http://schemas.openxmlformats.org/drawingml/2006/main">
              <a:ext uri="{FF2B5EF4-FFF2-40B4-BE49-F238E27FC236}">
                <a16:creationId xmlns:a16="http://schemas.microsoft.com/office/drawing/2014/main" id="{9C825CF1-F5D4-44E8-8EC6-F55DF40D0159}"/>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paper_ml_eval.json · fig6d_survival_digitized.csv</a:t>
            </a:r>
          </a:p>
        </p:txBody>
      </p:sp>
      <p:sp>
        <p:nvSpPr>
          <p:cNvPr id="19" name="">
            <a:extLst xmlns:a="http://schemas.openxmlformats.org/drawingml/2006/main">
              <a:ext uri="{FF2B5EF4-FFF2-40B4-BE49-F238E27FC236}">
                <a16:creationId xmlns:a16="http://schemas.microsoft.com/office/drawing/2014/main" id="{3A319665-2050-4B14-A77D-8212DE07AF5A}"/>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14</a:t>
            </a:r>
          </a:p>
        </p:txBody>
      </p:sp>
    </p:spTree>
    <p:extLst>
      <p:ext uri="{BB962C8B-B14F-4D97-AF65-F5344CB8AC3E}">
        <p14:creationId xmlns:p14="http://schemas.microsoft.com/office/powerpoint/2010/main" val="512595356"/>
      </p:ext>
    </p:extLst>
  </p:cSld>
</p:sld>
</file>

<file path=ppt/slides/slide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682D835-FCE7-4079-A10E-56C64AF08BF0}"/>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13</a:t>
            </a:r>
          </a:p>
        </p:txBody>
      </p:sp>
      <p:sp>
        <p:nvSpPr>
          <p:cNvPr id="2" name="">
            <a:extLst xmlns:a="http://schemas.openxmlformats.org/drawingml/2006/main">
              <a:ext uri="{FF2B5EF4-FFF2-40B4-BE49-F238E27FC236}">
                <a16:creationId xmlns:a16="http://schemas.microsoft.com/office/drawing/2014/main" id="{E16D697A-00DB-4015-945A-58FCE5C4ED13}"/>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2×2 交叉消融定位 ML 增益来源</a:t>
            </a:r>
          </a:p>
        </p:txBody>
      </p:sp>
      <p:sp>
        <p:nvSpPr>
          <p:cNvPr id="3" name="">
            <a:extLst xmlns:a="http://schemas.openxmlformats.org/drawingml/2006/main">
              <a:ext uri="{FF2B5EF4-FFF2-40B4-BE49-F238E27FC236}">
                <a16:creationId xmlns:a16="http://schemas.microsoft.com/office/drawing/2014/main" id="{339A6E99-63F3-4FAA-A446-23F47FA45497}"/>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1D2F057B-877A-4DCD-8704-00EA777A68C6}"/>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分别替换 position 和 depth，在同一 T40、512-shot 条件下计算四个组合</a:t>
            </a:r>
          </a:p>
        </p:txBody>
      </p:sp>
      <p:graphicFrame>
        <p:nvGraphicFramePr>
          <p:cNvPr id="22" name="Chart"/>
          <p:cNvGraphicFramePr/>
          <p:nvPr/>
        </p:nvGraphicFramePr>
        <p:xfrm>
          <a:off xmlns:a="http://schemas.openxmlformats.org/drawingml/2006/main" x="628650" y="1409700"/>
          <a:ext xmlns:a="http://schemas.openxmlformats.org/drawingml/2006/main" cx="6858000" cy="4095750"/>
        </p:xfrm>
        <a:graphic xmlns:a="http://schemas.openxmlformats.org/drawingml/2006/main">
          <a:graphicData uri="http://schemas.openxmlformats.org/drawingml/2006/chart">
            <c:chart xmlns:r="http://schemas.openxmlformats.org/officeDocument/2006/relationships" xmlns:c="http://schemas.openxmlformats.org/drawingml/2006/chart" r:id="R76aa09a721cf49f8"/>
          </a:graphicData>
        </a:graphic>
      </p:graphicFrame>
      <p:sp>
        <p:nvSpPr>
          <p:cNvPr id="6" name="">
            <a:extLst xmlns:a="http://schemas.openxmlformats.org/drawingml/2006/main">
              <a:ext uri="{FF2B5EF4-FFF2-40B4-BE49-F238E27FC236}">
                <a16:creationId xmlns:a16="http://schemas.microsoft.com/office/drawing/2014/main" id="{2D57E8DA-398D-4A7F-B957-586EFD53C25E}"/>
              </a:ext>
            </a:extLst>
          </p:cNvPr>
          <p:cNvSpPr>
            <a:spLocks xmlns:a="http://schemas.openxmlformats.org/drawingml/2006/main" noGrp="1"/>
          </p:cNvSpPr>
          <p:nvPr/>
        </p:nvSpPr>
        <p:spPr>
          <a:xfrm xmlns:a="http://schemas.openxmlformats.org/drawingml/2006/main">
            <a:off x="7848600" y="1466850"/>
            <a:ext cx="3429000" cy="1733550"/>
          </a:xfrm>
          <a:prstGeom xmlns:a="http://schemas.openxmlformats.org/drawingml/2006/main" prst="roundRect">
            <a:avLst>
              <a:gd name="adj" fmla="val 4396"/>
            </a:avLst>
          </a:prstGeom>
          <a:solidFill xmlns:a="http://schemas.openxmlformats.org/drawingml/2006/main">
            <a:srgbClr val="ECFDF3"/>
          </a:solidFill>
          <a:ln xmlns:a="http://schemas.openxmlformats.org/drawingml/2006/main" w="9525">
            <a:solidFill>
              <a:srgbClr val="ABEFC6"/>
            </a:solidFill>
          </a:ln>
        </p:spPr>
      </p:sp>
      <p:sp>
        <p:nvSpPr>
          <p:cNvPr id="7" name="">
            <a:extLst xmlns:a="http://schemas.openxmlformats.org/drawingml/2006/main">
              <a:ext uri="{FF2B5EF4-FFF2-40B4-BE49-F238E27FC236}">
                <a16:creationId xmlns:a16="http://schemas.microsoft.com/office/drawing/2014/main" id="{3F0D413D-1077-4864-8398-C1B1422E90B0}"/>
              </a:ext>
            </a:extLst>
          </p:cNvPr>
          <p:cNvSpPr>
            <a:spLocks xmlns:a="http://schemas.openxmlformats.org/drawingml/2006/main" noGrp="1"/>
          </p:cNvSpPr>
          <p:nvPr/>
        </p:nvSpPr>
        <p:spPr>
          <a:xfrm xmlns:a="http://schemas.openxmlformats.org/drawingml/2006/main">
            <a:off x="8096250" y="169545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E9384"/>
                </a:solidFill>
                <a:latin typeface="Microsoft YaHei"/>
                <a:ea typeface="Microsoft YaHei"/>
                <a:cs typeface="Microsoft YaHei"/>
              </a:defRPr>
            </a:pPr>
            <a:r>
              <a:rPr sz="1275" b="1">
                <a:solidFill>
                  <a:srgbClr val="0E9384"/>
                </a:solidFill>
                <a:latin typeface="Microsoft YaHei"/>
                <a:ea typeface="Microsoft YaHei"/>
                <a:cs typeface="Microsoft YaHei"/>
              </a:rPr>
              <a:t>位置替换的增益</a:t>
            </a:r>
          </a:p>
        </p:txBody>
      </p:sp>
      <p:sp>
        <p:nvSpPr>
          <p:cNvPr id="8" name="">
            <a:extLst xmlns:a="http://schemas.openxmlformats.org/drawingml/2006/main">
              <a:ext uri="{FF2B5EF4-FFF2-40B4-BE49-F238E27FC236}">
                <a16:creationId xmlns:a16="http://schemas.microsoft.com/office/drawing/2014/main" id="{10BC1E2E-7D99-4B19-BB74-D6C4B6489AFF}"/>
              </a:ext>
            </a:extLst>
          </p:cNvPr>
          <p:cNvSpPr>
            <a:spLocks xmlns:a="http://schemas.openxmlformats.org/drawingml/2006/main" noGrp="1"/>
          </p:cNvSpPr>
          <p:nvPr/>
        </p:nvSpPr>
        <p:spPr>
          <a:xfrm xmlns:a="http://schemas.openxmlformats.org/drawingml/2006/main">
            <a:off x="8096250" y="2076450"/>
            <a:ext cx="291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0E9384"/>
                </a:solidFill>
                <a:latin typeface="Microsoft YaHei"/>
                <a:ea typeface="Microsoft YaHei"/>
                <a:cs typeface="Microsoft YaHei"/>
              </a:defRPr>
            </a:pPr>
            <a:r>
              <a:rPr sz="2250" b="1">
                <a:solidFill>
                  <a:srgbClr val="0E9384"/>
                </a:solidFill>
                <a:latin typeface="Microsoft YaHei"/>
                <a:ea typeface="Microsoft YaHei"/>
                <a:cs typeface="Microsoft YaHei"/>
              </a:rPr>
              <a:t>+0.283 / +0.275</a:t>
            </a:r>
          </a:p>
        </p:txBody>
      </p:sp>
      <p:sp>
        <p:nvSpPr>
          <p:cNvPr id="9" name="">
            <a:extLst xmlns:a="http://schemas.openxmlformats.org/drawingml/2006/main">
              <a:ext uri="{FF2B5EF4-FFF2-40B4-BE49-F238E27FC236}">
                <a16:creationId xmlns:a16="http://schemas.microsoft.com/office/drawing/2014/main" id="{F514EED4-DC7B-4CA5-8401-2F7BA446A907}"/>
              </a:ext>
            </a:extLst>
          </p:cNvPr>
          <p:cNvSpPr>
            <a:spLocks xmlns:a="http://schemas.openxmlformats.org/drawingml/2006/main" noGrp="1"/>
          </p:cNvSpPr>
          <p:nvPr/>
        </p:nvSpPr>
        <p:spPr>
          <a:xfrm xmlns:a="http://schemas.openxmlformats.org/drawingml/2006/main">
            <a:off x="8096250" y="2647950"/>
            <a:ext cx="2914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深度来源不同的两组对照均成立</a:t>
            </a:r>
          </a:p>
        </p:txBody>
      </p:sp>
      <p:sp>
        <p:nvSpPr>
          <p:cNvPr id="10" name="">
            <a:extLst xmlns:a="http://schemas.openxmlformats.org/drawingml/2006/main">
              <a:ext uri="{FF2B5EF4-FFF2-40B4-BE49-F238E27FC236}">
                <a16:creationId xmlns:a16="http://schemas.microsoft.com/office/drawing/2014/main" id="{CDF6895D-6ECA-41AD-BAD1-DF83CCAA34AE}"/>
              </a:ext>
            </a:extLst>
          </p:cNvPr>
          <p:cNvSpPr>
            <a:spLocks xmlns:a="http://schemas.openxmlformats.org/drawingml/2006/main" noGrp="1"/>
          </p:cNvSpPr>
          <p:nvPr/>
        </p:nvSpPr>
        <p:spPr>
          <a:xfrm xmlns:a="http://schemas.openxmlformats.org/drawingml/2006/main">
            <a:off x="7848600" y="3429000"/>
            <a:ext cx="3429000" cy="1733550"/>
          </a:xfrm>
          <a:prstGeom xmlns:a="http://schemas.openxmlformats.org/drawingml/2006/main" prst="roundRect">
            <a:avLst>
              <a:gd name="adj" fmla="val 4396"/>
            </a:avLst>
          </a:prstGeom>
          <a:solidFill xmlns:a="http://schemas.openxmlformats.org/drawingml/2006/main">
            <a:srgbClr val="FFF6ED"/>
          </a:solidFill>
          <a:ln xmlns:a="http://schemas.openxmlformats.org/drawingml/2006/main" w="9525">
            <a:solidFill>
              <a:srgbClr val="FEDF89"/>
            </a:solidFill>
          </a:ln>
        </p:spPr>
      </p:sp>
      <p:sp>
        <p:nvSpPr>
          <p:cNvPr id="11" name="">
            <a:extLst xmlns:a="http://schemas.openxmlformats.org/drawingml/2006/main">
              <a:ext uri="{FF2B5EF4-FFF2-40B4-BE49-F238E27FC236}">
                <a16:creationId xmlns:a16="http://schemas.microsoft.com/office/drawing/2014/main" id="{D362C055-325E-43C5-86B6-A1F97BB59B49}"/>
              </a:ext>
            </a:extLst>
          </p:cNvPr>
          <p:cNvSpPr>
            <a:spLocks xmlns:a="http://schemas.openxmlformats.org/drawingml/2006/main" noGrp="1"/>
          </p:cNvSpPr>
          <p:nvPr/>
        </p:nvSpPr>
        <p:spPr>
          <a:xfrm xmlns:a="http://schemas.openxmlformats.org/drawingml/2006/main">
            <a:off x="8096250" y="365760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79009"/>
                </a:solidFill>
                <a:latin typeface="Microsoft YaHei"/>
                <a:ea typeface="Microsoft YaHei"/>
                <a:cs typeface="Microsoft YaHei"/>
              </a:defRPr>
            </a:pPr>
            <a:r>
              <a:rPr sz="1275" b="1">
                <a:solidFill>
                  <a:srgbClr val="F79009"/>
                </a:solidFill>
                <a:latin typeface="Microsoft YaHei"/>
                <a:ea typeface="Microsoft YaHei"/>
                <a:cs typeface="Microsoft YaHei"/>
              </a:rPr>
              <a:t>深度替换的增益</a:t>
            </a:r>
          </a:p>
        </p:txBody>
      </p:sp>
      <p:sp>
        <p:nvSpPr>
          <p:cNvPr id="12" name="">
            <a:extLst xmlns:a="http://schemas.openxmlformats.org/drawingml/2006/main">
              <a:ext uri="{FF2B5EF4-FFF2-40B4-BE49-F238E27FC236}">
                <a16:creationId xmlns:a16="http://schemas.microsoft.com/office/drawing/2014/main" id="{16CC67ED-081D-4FA6-A586-10DC65823C16}"/>
              </a:ext>
            </a:extLst>
          </p:cNvPr>
          <p:cNvSpPr>
            <a:spLocks xmlns:a="http://schemas.openxmlformats.org/drawingml/2006/main" noGrp="1"/>
          </p:cNvSpPr>
          <p:nvPr/>
        </p:nvSpPr>
        <p:spPr>
          <a:xfrm xmlns:a="http://schemas.openxmlformats.org/drawingml/2006/main">
            <a:off x="8096250" y="4038600"/>
            <a:ext cx="291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F79009"/>
                </a:solidFill>
                <a:latin typeface="Microsoft YaHei"/>
                <a:ea typeface="Microsoft YaHei"/>
                <a:cs typeface="Microsoft YaHei"/>
              </a:defRPr>
            </a:pPr>
            <a:r>
              <a:rPr sz="2250" b="1">
                <a:solidFill>
                  <a:srgbClr val="F79009"/>
                </a:solidFill>
                <a:latin typeface="Microsoft YaHei"/>
                <a:ea typeface="Microsoft YaHei"/>
                <a:cs typeface="Microsoft YaHei"/>
              </a:rPr>
              <a:t>+0.004 / −0.004</a:t>
            </a:r>
          </a:p>
        </p:txBody>
      </p:sp>
      <p:sp>
        <p:nvSpPr>
          <p:cNvPr id="13" name="">
            <a:extLst xmlns:a="http://schemas.openxmlformats.org/drawingml/2006/main">
              <a:ext uri="{FF2B5EF4-FFF2-40B4-BE49-F238E27FC236}">
                <a16:creationId xmlns:a16="http://schemas.microsoft.com/office/drawing/2014/main" id="{240D551D-3E0A-457D-A3B0-2C376CC6E9B3}"/>
              </a:ext>
            </a:extLst>
          </p:cNvPr>
          <p:cNvSpPr>
            <a:spLocks xmlns:a="http://schemas.openxmlformats.org/drawingml/2006/main" noGrp="1"/>
          </p:cNvSpPr>
          <p:nvPr/>
        </p:nvSpPr>
        <p:spPr>
          <a:xfrm xmlns:a="http://schemas.openxmlformats.org/drawingml/2006/main">
            <a:off x="8096250" y="4610100"/>
            <a:ext cx="2914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在该模型和场景下与统计分辨率相当</a:t>
            </a:r>
          </a:p>
        </p:txBody>
      </p:sp>
      <p:sp>
        <p:nvSpPr>
          <p:cNvPr id="14" name="">
            <a:extLst xmlns:a="http://schemas.openxmlformats.org/drawingml/2006/main">
              <a:ext uri="{FF2B5EF4-FFF2-40B4-BE49-F238E27FC236}">
                <a16:creationId xmlns:a16="http://schemas.microsoft.com/office/drawing/2014/main" id="{384CF68C-BE6C-445F-98F8-1D38235C014C}"/>
              </a:ext>
            </a:extLst>
          </p:cNvPr>
          <p:cNvSpPr>
            <a:spLocks xmlns:a="http://schemas.openxmlformats.org/drawingml/2006/main" noGrp="1"/>
          </p:cNvSpPr>
          <p:nvPr/>
        </p:nvSpPr>
        <p:spPr>
          <a:xfrm xmlns:a="http://schemas.openxmlformats.org/drawingml/2006/main">
            <a:off x="628650" y="57150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92D20"/>
                </a:solidFill>
                <a:latin typeface="Microsoft YaHei"/>
                <a:ea typeface="Microsoft YaHei"/>
                <a:cs typeface="Microsoft YaHei"/>
              </a:defRPr>
            </a:pPr>
            <a:r>
              <a:rPr sz="1275" b="0">
                <a:solidFill>
                  <a:srgbClr val="D92D20"/>
                </a:solidFill>
                <a:latin typeface="Microsoft YaHei"/>
                <a:ea typeface="Microsoft YaHei"/>
                <a:cs typeface="Microsoft YaHei"/>
              </a:rPr>
              <a:t>95% 以上的丢失发生在 pickup_wait 的 AOD 束缚判定，而非 drop-off。</a:t>
            </a:r>
          </a:p>
        </p:txBody>
      </p:sp>
      <p:sp>
        <p:nvSpPr>
          <p:cNvPr id="15" name="">
            <a:extLst xmlns:a="http://schemas.openxmlformats.org/drawingml/2006/main">
              <a:ext uri="{FF2B5EF4-FFF2-40B4-BE49-F238E27FC236}">
                <a16:creationId xmlns:a16="http://schemas.microsoft.com/office/drawing/2014/main" id="{596C5833-B124-4973-BCFF-331F04CE4197}"/>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6" name="">
            <a:extLst xmlns:a="http://schemas.openxmlformats.org/drawingml/2006/main">
              <a:ext uri="{FF2B5EF4-FFF2-40B4-BE49-F238E27FC236}">
                <a16:creationId xmlns:a16="http://schemas.microsoft.com/office/drawing/2014/main" id="{F002925F-1917-47A0-822C-AF8A8E0AE5B6}"/>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 summary_stage1.md §6.1 · reproducible script ablation_cross_2x2.py</a:t>
            </a:r>
          </a:p>
        </p:txBody>
      </p:sp>
      <p:sp>
        <p:nvSpPr>
          <p:cNvPr id="17" name="">
            <a:extLst xmlns:a="http://schemas.openxmlformats.org/drawingml/2006/main">
              <a:ext uri="{FF2B5EF4-FFF2-40B4-BE49-F238E27FC236}">
                <a16:creationId xmlns:a16="http://schemas.microsoft.com/office/drawing/2014/main" id="{DC402AB1-F18E-43D4-96C5-B672AB60A570}"/>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15</a:t>
            </a:r>
          </a:p>
        </p:txBody>
      </p:sp>
    </p:spTree>
    <p:extLst>
      <p:ext uri="{BB962C8B-B14F-4D97-AF65-F5344CB8AC3E}">
        <p14:creationId xmlns:p14="http://schemas.microsoft.com/office/powerpoint/2010/main" val="325749196"/>
      </p:ext>
    </p:extLst>
  </p:cSld>
</p:sld>
</file>

<file path=ppt/slides/slide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746BCAA-96E4-411F-ABEC-A47413B14A12}"/>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14</a:t>
            </a:r>
          </a:p>
        </p:txBody>
      </p:sp>
      <p:sp>
        <p:nvSpPr>
          <p:cNvPr id="2" name="">
            <a:extLst xmlns:a="http://schemas.openxmlformats.org/drawingml/2006/main">
              <a:ext uri="{FF2B5EF4-FFF2-40B4-BE49-F238E27FC236}">
                <a16:creationId xmlns:a16="http://schemas.microsoft.com/office/drawing/2014/main" id="{DD281C7D-883F-4D62-A1C1-5B54A1C2BDA8}"/>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用逐点误差执行定量验收</a:t>
            </a:r>
          </a:p>
        </p:txBody>
      </p:sp>
      <p:sp>
        <p:nvSpPr>
          <p:cNvPr id="3" name="">
            <a:extLst xmlns:a="http://schemas.openxmlformats.org/drawingml/2006/main">
              <a:ext uri="{FF2B5EF4-FFF2-40B4-BE49-F238E27FC236}">
                <a16:creationId xmlns:a16="http://schemas.microsoft.com/office/drawing/2014/main" id="{45B9B47A-2E1A-4090-A934-C7ED39A215D4}"/>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D9E2DC32-ECB6-43A2-A080-53A05BCDC917}"/>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Manual 使用 T40 的 512-shot 完整曲线；Fig. 6c ML 只验收已提交的 256-shot 端点</a:t>
            </a:r>
          </a:p>
        </p:txBody>
      </p:sp>
      <p:graphicFrame>
        <p:nvGraphicFramePr>
          <p:cNvPr id="19" name=""/>
          <p:cNvGraphicFramePr/>
          <p:nvPr/>
        </p:nvGraphicFramePr>
        <p:xfrm>
          <a:off xmlns:a="http://schemas.openxmlformats.org/drawingml/2006/main" x="609600" y="1466850"/>
          <a:ext xmlns:a="http://schemas.openxmlformats.org/drawingml/2006/main" cx="10972800" cy="2724150"/>
        </p:xfrm>
        <a:graphic xmlns:a="http://schemas.openxmlformats.org/drawingml/2006/main">
          <a:graphicData uri="http://schemas.openxmlformats.org/drawingml/2006/table">
            <a:tbl>
              <a:tblPr/>
              <a:tblGrid>
                <a:gridCol w="2112775"/>
                <a:gridCol w="1158619"/>
                <a:gridCol w="1226773"/>
                <a:gridCol w="1226773"/>
                <a:gridCol w="1499389"/>
                <a:gridCol w="2112775"/>
                <a:gridCol w="1635697"/>
              </a:tblGrid>
              <a:tr h="544830">
                <a:tc>
                  <a:txBody>
                    <a:bodyPr>
                      <a:noAutofit/>
                    </a:bodyPr>
                    <a:lstStyle/>
                    <a:p>
                      <a:pPr algn="l"/>
                      <a:r>
                        <a:rPr sz="975" b="1">
                          <a:solidFill>
                            <a:srgbClr val="FFFFFF"/>
                          </a:solidFill>
                          <a:latin typeface="Microsoft YaHei"/>
                          <a:ea typeface="Microsoft YaHei"/>
                          <a:cs typeface="Microsoft YaHei"/>
                        </a:rPr>
                        <a:t>Trajectory</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Endpoint</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Paper</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MC</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MC−Paper</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Max |curve error|</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Within ±0.02</a:t>
                      </a:r>
                    </a:p>
                  </a:txBody>
                  <a:tcPr marL="91440" marR="91440" marT="45720" marB="45720" anchor="ctr">
                    <a:solidFill>
                      <a:srgbClr val="102A43"/>
                    </a:solidFill>
                  </a:tcPr>
                </a:tc>
              </a:tr>
              <a:tr h="544830">
                <a:tc>
                  <a:txBody>
                    <a:bodyPr>
                      <a:noAutofit/>
                    </a:bodyPr>
                    <a:lstStyle/>
                    <a:p>
                      <a:pPr algn="l"/>
                      <a:r>
                        <a:rPr sz="1050" b="0">
                          <a:solidFill>
                            <a:srgbClr val="344054"/>
                          </a:solidFill>
                          <a:latin typeface="Microsoft YaHei"/>
                          <a:ea typeface="Microsoft YaHei"/>
                          <a:cs typeface="Microsoft YaHei"/>
                        </a:rPr>
                        <a:t>Manual 200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S(31)</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33.4%</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24.0%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-9.4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17.8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0%</a:t>
                      </a:r>
                    </a:p>
                  </a:txBody>
                  <a:tcPr marL="91440" marR="91440" marT="45720" marB="45720" anchor="ctr">
                    <a:solidFill>
                      <a:srgbClr val="FFFFFF"/>
                    </a:solidFill>
                  </a:tcPr>
                </a:tc>
              </a:tr>
              <a:tr h="544830">
                <a:tc>
                  <a:txBody>
                    <a:bodyPr>
                      <a:noAutofit/>
                    </a:bodyPr>
                    <a:lstStyle/>
                    <a:p>
                      <a:pPr algn="l"/>
                      <a:r>
                        <a:rPr sz="1050" b="0">
                          <a:solidFill>
                            <a:srgbClr val="344054"/>
                          </a:solidFill>
                          <a:latin typeface="Microsoft YaHei"/>
                          <a:ea typeface="Microsoft YaHei"/>
                          <a:cs typeface="Microsoft YaHei"/>
                        </a:rPr>
                        <a:t>Manual 400</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41.3%</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52.5%</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11.2 pp</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11.2 pp</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20%</a:t>
                      </a:r>
                    </a:p>
                  </a:txBody>
                  <a:tcPr marL="91440" marR="91440" marT="45720" marB="45720" anchor="ctr">
                    <a:solidFill>
                      <a:srgbClr val="F8FAFC"/>
                    </a:solidFill>
                  </a:tcPr>
                </a:tc>
              </a:tr>
              <a:tr h="544830">
                <a:tc>
                  <a:txBody>
                    <a:bodyPr>
                      <a:noAutofit/>
                    </a:bodyPr>
                    <a:lstStyle/>
                    <a:p>
                      <a:pPr algn="l"/>
                      <a:r>
                        <a:rPr sz="1050" b="0">
                          <a:solidFill>
                            <a:srgbClr val="344054"/>
                          </a:solidFill>
                          <a:latin typeface="Microsoft YaHei"/>
                          <a:ea typeface="Microsoft YaHei"/>
                          <a:cs typeface="Microsoft YaHei"/>
                        </a:rPr>
                        <a:t>Manual 600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S(60)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57.3%</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68.4%</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11.1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11.7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34%</a:t>
                      </a:r>
                    </a:p>
                  </a:txBody>
                  <a:tcPr marL="91440" marR="91440" marT="45720" marB="45720" anchor="ctr">
                    <a:solidFill>
                      <a:srgbClr val="FFFFFF"/>
                    </a:solidFill>
                  </a:tcPr>
                </a:tc>
              </a:tr>
              <a:tr h="544830">
                <a:tc>
                  <a:txBody>
                    <a:bodyPr>
                      <a:noAutofit/>
                    </a:bodyPr>
                    <a:lstStyle/>
                    <a:p>
                      <a:pPr algn="l"/>
                      <a:r>
                        <a:rPr sz="1050" b="0">
                          <a:solidFill>
                            <a:srgbClr val="344054"/>
                          </a:solidFill>
                          <a:latin typeface="Microsoft YaHei"/>
                          <a:ea typeface="Microsoft YaHei"/>
                          <a:cs typeface="Microsoft YaHei"/>
                        </a:rPr>
                        <a:t>Fig. 6c ML 400</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S(60)</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66.3%</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75.8%</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9.5 pp</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full curve not committed</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not evaluable</a:t>
                      </a:r>
                    </a:p>
                  </a:txBody>
                  <a:tcPr marL="91440" marR="91440" marT="45720" marB="45720" anchor="ctr">
                    <a:solidFill>
                      <a:srgbClr val="EFF8FF"/>
                    </a:solidFill>
                  </a:tcPr>
                </a:tc>
              </a:tr>
            </a:tbl>
          </a:graphicData>
        </a:graphic>
      </p:graphicFrame>
      <p:sp>
        <p:nvSpPr>
          <p:cNvPr id="6" name="">
            <a:extLst xmlns:a="http://schemas.openxmlformats.org/drawingml/2006/main">
              <a:ext uri="{FF2B5EF4-FFF2-40B4-BE49-F238E27FC236}">
                <a16:creationId xmlns:a16="http://schemas.microsoft.com/office/drawing/2014/main" id="{540E343A-57E4-4A8F-A772-7DBCFBC63B30}"/>
              </a:ext>
            </a:extLst>
          </p:cNvPr>
          <p:cNvSpPr>
            <a:spLocks xmlns:a="http://schemas.openxmlformats.org/drawingml/2006/main" noGrp="1"/>
          </p:cNvSpPr>
          <p:nvPr/>
        </p:nvSpPr>
        <p:spPr>
          <a:xfrm xmlns:a="http://schemas.openxmlformats.org/drawingml/2006/main">
            <a:off x="609600" y="4495800"/>
            <a:ext cx="5257800" cy="1428750"/>
          </a:xfrm>
          <a:prstGeom xmlns:a="http://schemas.openxmlformats.org/drawingml/2006/main" prst="roundRect">
            <a:avLst>
              <a:gd name="adj" fmla="val 5333"/>
            </a:avLst>
          </a:prstGeom>
          <a:solidFill xmlns:a="http://schemas.openxmlformats.org/drawingml/2006/main">
            <a:srgbClr val="FEF3F2"/>
          </a:solidFill>
          <a:ln xmlns:a="http://schemas.openxmlformats.org/drawingml/2006/main" w="9525">
            <a:solidFill>
              <a:srgbClr val="FECDCA"/>
            </a:solidFill>
          </a:ln>
        </p:spPr>
      </p:sp>
      <p:sp>
        <p:nvSpPr>
          <p:cNvPr id="7" name="">
            <a:extLst xmlns:a="http://schemas.openxmlformats.org/drawingml/2006/main">
              <a:ext uri="{FF2B5EF4-FFF2-40B4-BE49-F238E27FC236}">
                <a16:creationId xmlns:a16="http://schemas.microsoft.com/office/drawing/2014/main" id="{1035F7B0-C713-4CC1-B2FF-0C6AA5355D75}"/>
              </a:ext>
            </a:extLst>
          </p:cNvPr>
          <p:cNvSpPr>
            <a:spLocks xmlns:a="http://schemas.openxmlformats.org/drawingml/2006/main" noGrp="1"/>
          </p:cNvSpPr>
          <p:nvPr/>
        </p:nvSpPr>
        <p:spPr>
          <a:xfrm xmlns:a="http://schemas.openxmlformats.org/drawingml/2006/main">
            <a:off x="857250" y="4705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D92D20"/>
                </a:solidFill>
                <a:latin typeface="Microsoft YaHei"/>
                <a:ea typeface="Microsoft YaHei"/>
                <a:cs typeface="Microsoft YaHei"/>
              </a:defRPr>
            </a:pPr>
            <a:r>
              <a:rPr sz="1350" b="1">
                <a:solidFill>
                  <a:srgbClr val="D92D20"/>
                </a:solidFill>
                <a:latin typeface="Microsoft YaHei"/>
                <a:ea typeface="Microsoft YaHei"/>
                <a:cs typeface="Microsoft YaHei"/>
              </a:rPr>
              <a:t>Absolute scale</a:t>
            </a:r>
          </a:p>
        </p:txBody>
      </p:sp>
      <p:sp>
        <p:nvSpPr>
          <p:cNvPr id="8" name="">
            <a:extLst xmlns:a="http://schemas.openxmlformats.org/drawingml/2006/main">
              <a:ext uri="{FF2B5EF4-FFF2-40B4-BE49-F238E27FC236}">
                <a16:creationId xmlns:a16="http://schemas.microsoft.com/office/drawing/2014/main" id="{88D1575F-2021-4363-AC4F-FE6EE6605407}"/>
              </a:ext>
            </a:extLst>
          </p:cNvPr>
          <p:cNvSpPr>
            <a:spLocks xmlns:a="http://schemas.openxmlformats.org/drawingml/2006/main" noGrp="1"/>
          </p:cNvSpPr>
          <p:nvPr/>
        </p:nvSpPr>
        <p:spPr>
          <a:xfrm xmlns:a="http://schemas.openxmlformats.org/drawingml/2006/main">
            <a:off x="857250" y="5086350"/>
            <a:ext cx="4686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Manual 400/600 和 Fig. 6c ML 的终点偏高约 9–11 pp；Manual 200 在 n=31 偏低 9.4 pp。</a:t>
            </a:r>
          </a:p>
        </p:txBody>
      </p:sp>
      <p:sp>
        <p:nvSpPr>
          <p:cNvPr id="9" name="">
            <a:extLst xmlns:a="http://schemas.openxmlformats.org/drawingml/2006/main">
              <a:ext uri="{FF2B5EF4-FFF2-40B4-BE49-F238E27FC236}">
                <a16:creationId xmlns:a16="http://schemas.microsoft.com/office/drawing/2014/main" id="{D357960D-B860-442E-A6BF-5F5084CFD145}"/>
              </a:ext>
            </a:extLst>
          </p:cNvPr>
          <p:cNvSpPr>
            <a:spLocks xmlns:a="http://schemas.openxmlformats.org/drawingml/2006/main" noGrp="1"/>
          </p:cNvSpPr>
          <p:nvPr/>
        </p:nvSpPr>
        <p:spPr>
          <a:xfrm xmlns:a="http://schemas.openxmlformats.org/drawingml/2006/main">
            <a:off x="6134100" y="4495800"/>
            <a:ext cx="5448300" cy="1428750"/>
          </a:xfrm>
          <a:prstGeom xmlns:a="http://schemas.openxmlformats.org/drawingml/2006/main" prst="roundRect">
            <a:avLst>
              <a:gd name="adj" fmla="val 5333"/>
            </a:avLst>
          </a:prstGeom>
          <a:solidFill xmlns:a="http://schemas.openxmlformats.org/drawingml/2006/main">
            <a:srgbClr val="FFF6ED"/>
          </a:solidFill>
          <a:ln xmlns:a="http://schemas.openxmlformats.org/drawingml/2006/main" w="9525">
            <a:solidFill>
              <a:srgbClr val="FEDF89"/>
            </a:solidFill>
          </a:ln>
        </p:spPr>
      </p:sp>
      <p:sp>
        <p:nvSpPr>
          <p:cNvPr id="10" name="">
            <a:extLst xmlns:a="http://schemas.openxmlformats.org/drawingml/2006/main">
              <a:ext uri="{FF2B5EF4-FFF2-40B4-BE49-F238E27FC236}">
                <a16:creationId xmlns:a16="http://schemas.microsoft.com/office/drawing/2014/main" id="{9E4379A2-1DB2-4675-9858-A659902671D5}"/>
              </a:ext>
            </a:extLst>
          </p:cNvPr>
          <p:cNvSpPr>
            <a:spLocks xmlns:a="http://schemas.openxmlformats.org/drawingml/2006/main" noGrp="1"/>
          </p:cNvSpPr>
          <p:nvPr/>
        </p:nvSpPr>
        <p:spPr>
          <a:xfrm xmlns:a="http://schemas.openxmlformats.org/drawingml/2006/main">
            <a:off x="6381750" y="4705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79009"/>
                </a:solidFill>
                <a:latin typeface="Microsoft YaHei"/>
                <a:ea typeface="Microsoft YaHei"/>
                <a:cs typeface="Microsoft YaHei"/>
              </a:defRPr>
            </a:pPr>
            <a:r>
              <a:rPr sz="1350" b="1">
                <a:solidFill>
                  <a:srgbClr val="F79009"/>
                </a:solidFill>
                <a:latin typeface="Microsoft YaHei"/>
                <a:ea typeface="Microsoft YaHei"/>
                <a:cs typeface="Microsoft YaHei"/>
              </a:rPr>
              <a:t>Evidence gap</a:t>
            </a:r>
          </a:p>
        </p:txBody>
      </p:sp>
      <p:sp>
        <p:nvSpPr>
          <p:cNvPr id="11" name="">
            <a:extLst xmlns:a="http://schemas.openxmlformats.org/drawingml/2006/main">
              <a:ext uri="{FF2B5EF4-FFF2-40B4-BE49-F238E27FC236}">
                <a16:creationId xmlns:a16="http://schemas.microsoft.com/office/drawing/2014/main" id="{D7A36F01-A3BE-4EEE-ADA4-DA204DBB21C6}"/>
              </a:ext>
            </a:extLst>
          </p:cNvPr>
          <p:cNvSpPr>
            <a:spLocks xmlns:a="http://schemas.openxmlformats.org/drawingml/2006/main" noGrp="1"/>
          </p:cNvSpPr>
          <p:nvPr/>
        </p:nvSpPr>
        <p:spPr>
          <a:xfrm xmlns:a="http://schemas.openxmlformats.org/drawingml/2006/main">
            <a:off x="6381750" y="5086350"/>
            <a:ext cx="4876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最新 Fig. 6c replay 只提交了 endpoint JSON。旧 `ml_400us` 全曲线对应原冻结候选，不能替代最新轨迹。</a:t>
            </a:r>
          </a:p>
        </p:txBody>
      </p:sp>
      <p:sp>
        <p:nvSpPr>
          <p:cNvPr id="12" name="">
            <a:extLst xmlns:a="http://schemas.openxmlformats.org/drawingml/2006/main">
              <a:ext uri="{FF2B5EF4-FFF2-40B4-BE49-F238E27FC236}">
                <a16:creationId xmlns:a16="http://schemas.microsoft.com/office/drawing/2014/main" id="{19B5E607-48FB-4F50-9D6F-2DC1BE3C7A9E}"/>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3" name="">
            <a:extLst xmlns:a="http://schemas.openxmlformats.org/drawingml/2006/main">
              <a:ext uri="{FF2B5EF4-FFF2-40B4-BE49-F238E27FC236}">
                <a16:creationId xmlns:a16="http://schemas.microsoft.com/office/drawing/2014/main" id="{AC3FF4CF-53AA-4880-AE63-20D5391388B4}"/>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paper_ml_eval.json · monotone paper reconstruction</a:t>
            </a:r>
          </a:p>
        </p:txBody>
      </p:sp>
      <p:sp>
        <p:nvSpPr>
          <p:cNvPr id="14" name="">
            <a:extLst xmlns:a="http://schemas.openxmlformats.org/drawingml/2006/main">
              <a:ext uri="{FF2B5EF4-FFF2-40B4-BE49-F238E27FC236}">
                <a16:creationId xmlns:a16="http://schemas.microsoft.com/office/drawing/2014/main" id="{9FE25D98-0E12-4213-96F3-7E8F4BC5F8A2}"/>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16</a:t>
            </a:r>
          </a:p>
        </p:txBody>
      </p:sp>
    </p:spTree>
    <p:extLst>
      <p:ext uri="{BB962C8B-B14F-4D97-AF65-F5344CB8AC3E}">
        <p14:creationId xmlns:p14="http://schemas.microsoft.com/office/powerpoint/2010/main" val="1659997181"/>
      </p:ext>
    </p:extLst>
  </p:cSld>
</p:sld>
</file>

<file path=ppt/slides/slide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D5C4810-7AE1-45A4-AF9E-9E91C6F5EC92}"/>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15</a:t>
            </a:r>
          </a:p>
        </p:txBody>
      </p:sp>
      <p:sp>
        <p:nvSpPr>
          <p:cNvPr id="2" name="">
            <a:extLst xmlns:a="http://schemas.openxmlformats.org/drawingml/2006/main">
              <a:ext uri="{FF2B5EF4-FFF2-40B4-BE49-F238E27FC236}">
                <a16:creationId xmlns:a16="http://schemas.microsoft.com/office/drawing/2014/main" id="{B74446E6-6E17-44B0-B26D-B01214D9EF1F}"/>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检查逐点残差并界定模型边界</a:t>
            </a:r>
          </a:p>
        </p:txBody>
      </p:sp>
      <p:sp>
        <p:nvSpPr>
          <p:cNvPr id="3" name="">
            <a:extLst xmlns:a="http://schemas.openxmlformats.org/drawingml/2006/main">
              <a:ext uri="{FF2B5EF4-FFF2-40B4-BE49-F238E27FC236}">
                <a16:creationId xmlns:a16="http://schemas.microsoft.com/office/drawing/2014/main" id="{9458160B-67B2-4619-93A4-05E4DB048DEE}"/>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16C3DC9C-E3E9-40F0-9981-8EA225C8403A}"/>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Deviation = MC T40 − 单调论文重建；误差变号说明不仅是整体损失尺度不同</a:t>
            </a:r>
          </a:p>
        </p:txBody>
      </p:sp>
      <p:graphicFrame>
        <p:nvGraphicFramePr>
          <p:cNvPr id="16" name="Chart"/>
          <p:cNvGraphicFramePr/>
          <p:nvPr/>
        </p:nvGraphicFramePr>
        <p:xfrm>
          <a:off xmlns:a="http://schemas.openxmlformats.org/drawingml/2006/main" x="609600" y="1390650"/>
          <a:ext xmlns:a="http://schemas.openxmlformats.org/drawingml/2006/main" cx="4095750" cy="3790950"/>
        </p:xfrm>
        <a:graphic xmlns:a="http://schemas.openxmlformats.org/drawingml/2006/main">
          <a:graphicData uri="http://schemas.openxmlformats.org/drawingml/2006/chart">
            <c:chart xmlns:r="http://schemas.openxmlformats.org/officeDocument/2006/relationships" xmlns:c="http://schemas.openxmlformats.org/drawingml/2006/chart" r:id="R8ef50ccd7e084fc5"/>
          </a:graphicData>
        </a:graphic>
      </p:graphicFrame>
      <p:graphicFrame>
        <p:nvGraphicFramePr>
          <p:cNvPr id="17" name="Chart"/>
          <p:cNvGraphicFramePr/>
          <p:nvPr/>
        </p:nvGraphicFramePr>
        <p:xfrm>
          <a:off xmlns:a="http://schemas.openxmlformats.org/drawingml/2006/main" x="4876800" y="1390650"/>
          <a:ext xmlns:a="http://schemas.openxmlformats.org/drawingml/2006/main" cx="6705600" cy="3790950"/>
        </p:xfrm>
        <a:graphic xmlns:a="http://schemas.openxmlformats.org/drawingml/2006/main">
          <a:graphicData uri="http://schemas.openxmlformats.org/drawingml/2006/chart">
            <c:chart xmlns:r="http://schemas.openxmlformats.org/officeDocument/2006/relationships" xmlns:c="http://schemas.openxmlformats.org/drawingml/2006/chart" r:id="R11bc8b0da6a04332"/>
          </a:graphicData>
        </a:graphic>
      </p:graphicFrame>
      <p:sp>
        <p:nvSpPr>
          <p:cNvPr id="7" name="">
            <a:extLst xmlns:a="http://schemas.openxmlformats.org/drawingml/2006/main">
              <a:ext uri="{FF2B5EF4-FFF2-40B4-BE49-F238E27FC236}">
                <a16:creationId xmlns:a16="http://schemas.microsoft.com/office/drawing/2014/main" id="{953E48E0-DE44-448C-B268-7049C57E6970}"/>
              </a:ext>
            </a:extLst>
          </p:cNvPr>
          <p:cNvSpPr>
            <a:spLocks xmlns:a="http://schemas.openxmlformats.org/drawingml/2006/main" noGrp="1"/>
          </p:cNvSpPr>
          <p:nvPr/>
        </p:nvSpPr>
        <p:spPr>
          <a:xfrm xmlns:a="http://schemas.openxmlformats.org/drawingml/2006/main">
            <a:off x="609600" y="5391150"/>
            <a:ext cx="10972800" cy="819150"/>
          </a:xfrm>
          <a:prstGeom xmlns:a="http://schemas.openxmlformats.org/drawingml/2006/main" prst="roundRect">
            <a:avLst>
              <a:gd name="adj" fmla="val 9302"/>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9AC3F74E-96D1-4F15-9FE2-246047A02119}"/>
              </a:ext>
            </a:extLst>
          </p:cNvPr>
          <p:cNvSpPr>
            <a:spLocks xmlns:a="http://schemas.openxmlformats.org/drawingml/2006/main" noGrp="1"/>
          </p:cNvSpPr>
          <p:nvPr/>
        </p:nvSpPr>
        <p:spPr>
          <a:xfrm xmlns:a="http://schemas.openxmlformats.org/drawingml/2006/main">
            <a:off x="838200" y="5524500"/>
            <a:ext cx="1043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200 µs 持续负偏差且早期衰减过快。400/600 µs 早期偏低、后期偏高，late-time decay 太慢。当前 Level 2C 仍未包含真空寿命、随机噪声谱和真实 AWG/光学响应。</a:t>
            </a:r>
          </a:p>
        </p:txBody>
      </p:sp>
      <p:sp>
        <p:nvSpPr>
          <p:cNvPr id="9" name="">
            <a:extLst xmlns:a="http://schemas.openxmlformats.org/drawingml/2006/main">
              <a:ext uri="{FF2B5EF4-FFF2-40B4-BE49-F238E27FC236}">
                <a16:creationId xmlns:a16="http://schemas.microsoft.com/office/drawing/2014/main" id="{23E260F2-3BFA-4738-A2D3-E761A352AA66}"/>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0" name="">
            <a:extLst xmlns:a="http://schemas.openxmlformats.org/drawingml/2006/main">
              <a:ext uri="{FF2B5EF4-FFF2-40B4-BE49-F238E27FC236}">
                <a16:creationId xmlns:a16="http://schemas.microsoft.com/office/drawing/2014/main" id="{00AE0E8C-46D0-42C1-AE2B-9E127E839665}"/>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monotone paper reconstruction · Level 2C source audit</a:t>
            </a:r>
          </a:p>
        </p:txBody>
      </p:sp>
      <p:sp>
        <p:nvSpPr>
          <p:cNvPr id="11" name="">
            <a:extLst xmlns:a="http://schemas.openxmlformats.org/drawingml/2006/main">
              <a:ext uri="{FF2B5EF4-FFF2-40B4-BE49-F238E27FC236}">
                <a16:creationId xmlns:a16="http://schemas.microsoft.com/office/drawing/2014/main" id="{35BC998C-0E12-4775-913D-742B4FE1B285}"/>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17</a:t>
            </a:r>
          </a:p>
        </p:txBody>
      </p:sp>
    </p:spTree>
    <p:extLst>
      <p:ext uri="{BB962C8B-B14F-4D97-AF65-F5344CB8AC3E}">
        <p14:creationId xmlns:p14="http://schemas.microsoft.com/office/powerpoint/2010/main" val="1682147383"/>
      </p:ext>
    </p:extLst>
  </p:cSld>
</p:sld>
</file>

<file path=ppt/slides/slide18.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30D230D-2F94-4D7C-BA51-51565FC7AB7C}"/>
              </a:ext>
            </a:extLst>
          </p:cNvPr>
          <p:cNvSpPr>
            <a:spLocks xmlns:a="http://schemas.openxmlformats.org/drawingml/2006/main" noGrp="1"/>
          </p:cNvSpPr>
          <p:nvPr/>
        </p:nvSpPr>
        <p:spPr>
          <a:xfrm xmlns:a="http://schemas.openxmlformats.org/drawingml/2006/main">
            <a:off x="685800" y="5334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这次任务完成了什么</a:t>
            </a:r>
          </a:p>
        </p:txBody>
      </p:sp>
      <p:sp>
        <p:nvSpPr>
          <p:cNvPr id="2" name="">
            <a:extLst xmlns:a="http://schemas.openxmlformats.org/drawingml/2006/main">
              <a:ext uri="{FF2B5EF4-FFF2-40B4-BE49-F238E27FC236}">
                <a16:creationId xmlns:a16="http://schemas.microsoft.com/office/drawing/2014/main" id="{27A064A0-7E07-4CD8-B67E-72C5585B4BB3}"/>
              </a:ext>
            </a:extLst>
          </p:cNvPr>
          <p:cNvSpPr>
            <a:spLocks xmlns:a="http://schemas.openxmlformats.org/drawingml/2006/main" noGrp="1"/>
          </p:cNvSpPr>
          <p:nvPr/>
        </p:nvSpPr>
        <p:spPr>
          <a:xfrm xmlns:a="http://schemas.openxmlformats.org/drawingml/2006/main">
            <a:off x="685800" y="1200150"/>
            <a:ext cx="838200" cy="47625"/>
          </a:xfrm>
          <a:prstGeom xmlns:a="http://schemas.openxmlformats.org/drawingml/2006/main" prst="rect">
            <a:avLst/>
          </a:prstGeom>
          <a:solidFill xmlns:a="http://schemas.openxmlformats.org/drawingml/2006/main">
            <a:srgbClr val="0BA5EC"/>
          </a:solidFill>
          <a:ln xmlns:a="http://schemas.openxmlformats.org/drawingml/2006/main" w="0">
            <a:solidFill>
              <a:srgbClr val="0BA5EC"/>
            </a:solidFill>
          </a:ln>
        </p:spPr>
      </p:sp>
      <p:sp>
        <p:nvSpPr>
          <p:cNvPr id="3" name="">
            <a:extLst xmlns:a="http://schemas.openxmlformats.org/drawingml/2006/main">
              <a:ext uri="{FF2B5EF4-FFF2-40B4-BE49-F238E27FC236}">
                <a16:creationId xmlns:a16="http://schemas.microsoft.com/office/drawing/2014/main" id="{B26F0302-B57C-4A25-BA49-25EE63852798}"/>
              </a:ext>
            </a:extLst>
          </p:cNvPr>
          <p:cNvSpPr>
            <a:spLocks xmlns:a="http://schemas.openxmlformats.org/drawingml/2006/main" noGrp="1"/>
          </p:cNvSpPr>
          <p:nvPr/>
        </p:nvSpPr>
        <p:spPr>
          <a:xfrm xmlns:a="http://schemas.openxmlformats.org/drawingml/2006/main">
            <a:off x="723900" y="16192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01</a:t>
            </a:r>
          </a:p>
        </p:txBody>
      </p:sp>
      <p:sp>
        <p:nvSpPr>
          <p:cNvPr id="4" name="">
            <a:extLst xmlns:a="http://schemas.openxmlformats.org/drawingml/2006/main">
              <a:ext uri="{FF2B5EF4-FFF2-40B4-BE49-F238E27FC236}">
                <a16:creationId xmlns:a16="http://schemas.microsoft.com/office/drawing/2014/main" id="{FB5F0748-7227-44B3-A7D4-C97617DA6D53}"/>
              </a:ext>
            </a:extLst>
          </p:cNvPr>
          <p:cNvSpPr>
            <a:spLocks xmlns:a="http://schemas.openxmlformats.org/drawingml/2006/main" noGrp="1"/>
          </p:cNvSpPr>
          <p:nvPr/>
        </p:nvSpPr>
        <p:spPr>
          <a:xfrm xmlns:a="http://schemas.openxmlformats.org/drawingml/2006/main">
            <a:off x="1485900" y="16002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固定输入与验收口径</a:t>
            </a:r>
          </a:p>
        </p:txBody>
      </p:sp>
      <p:sp>
        <p:nvSpPr>
          <p:cNvPr id="5" name="">
            <a:extLst xmlns:a="http://schemas.openxmlformats.org/drawingml/2006/main">
              <a:ext uri="{FF2B5EF4-FFF2-40B4-BE49-F238E27FC236}">
                <a16:creationId xmlns:a16="http://schemas.microsoft.com/office/drawing/2014/main" id="{C55CDB22-B26C-4FC8-93D2-999C67A62B8C}"/>
              </a:ext>
            </a:extLst>
          </p:cNvPr>
          <p:cNvSpPr>
            <a:spLocks xmlns:a="http://schemas.openxmlformats.org/drawingml/2006/main" noGrp="1"/>
          </p:cNvSpPr>
          <p:nvPr/>
        </p:nvSpPr>
        <p:spPr>
          <a:xfrm xmlns:a="http://schemas.openxmlformats.org/drawingml/2006/main">
            <a:off x="4095750" y="16002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数字化 Fig. 6d，分开处理 paper survival 与 IRB fidelity，并把 ±0.02 设为逐点验收带。</a:t>
            </a:r>
          </a:p>
        </p:txBody>
      </p:sp>
      <p:sp>
        <p:nvSpPr>
          <p:cNvPr id="6" name="">
            <a:extLst xmlns:a="http://schemas.openxmlformats.org/drawingml/2006/main">
              <a:ext uri="{FF2B5EF4-FFF2-40B4-BE49-F238E27FC236}">
                <a16:creationId xmlns:a16="http://schemas.microsoft.com/office/drawing/2014/main" id="{D2F0A3A3-7E4A-4E79-AE6C-1351947FFF53}"/>
              </a:ext>
            </a:extLst>
          </p:cNvPr>
          <p:cNvSpPr>
            <a:spLocks xmlns:a="http://schemas.openxmlformats.org/drawingml/2006/main" noGrp="1"/>
          </p:cNvSpPr>
          <p:nvPr/>
        </p:nvSpPr>
        <p:spPr>
          <a:xfrm xmlns:a="http://schemas.openxmlformats.org/drawingml/2006/main">
            <a:off x="1485900" y="23622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7" name="">
            <a:extLst xmlns:a="http://schemas.openxmlformats.org/drawingml/2006/main">
              <a:ext uri="{FF2B5EF4-FFF2-40B4-BE49-F238E27FC236}">
                <a16:creationId xmlns:a16="http://schemas.microsoft.com/office/drawing/2014/main" id="{14DADF69-3465-4BD1-B3AE-8E65BD33ABE8}"/>
              </a:ext>
            </a:extLst>
          </p:cNvPr>
          <p:cNvSpPr>
            <a:spLocks xmlns:a="http://schemas.openxmlformats.org/drawingml/2006/main" noGrp="1"/>
          </p:cNvSpPr>
          <p:nvPr/>
        </p:nvSpPr>
        <p:spPr>
          <a:xfrm xmlns:a="http://schemas.openxmlformats.org/drawingml/2006/main">
            <a:off x="723900" y="26860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02</a:t>
            </a:r>
          </a:p>
        </p:txBody>
      </p:sp>
      <p:sp>
        <p:nvSpPr>
          <p:cNvPr id="8" name="">
            <a:extLst xmlns:a="http://schemas.openxmlformats.org/drawingml/2006/main">
              <a:ext uri="{FF2B5EF4-FFF2-40B4-BE49-F238E27FC236}">
                <a16:creationId xmlns:a16="http://schemas.microsoft.com/office/drawing/2014/main" id="{58448445-B877-4502-B08C-CCDE1D24CC9F}"/>
              </a:ext>
            </a:extLst>
          </p:cNvPr>
          <p:cNvSpPr>
            <a:spLocks xmlns:a="http://schemas.openxmlformats.org/drawingml/2006/main" noGrp="1"/>
          </p:cNvSpPr>
          <p:nvPr/>
        </p:nvSpPr>
        <p:spPr>
          <a:xfrm xmlns:a="http://schemas.openxmlformats.org/drawingml/2006/main">
            <a:off x="1485900" y="26670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复核基线并扫描机制</a:t>
            </a:r>
          </a:p>
        </p:txBody>
      </p:sp>
      <p:sp>
        <p:nvSpPr>
          <p:cNvPr id="9" name="">
            <a:extLst xmlns:a="http://schemas.openxmlformats.org/drawingml/2006/main">
              <a:ext uri="{FF2B5EF4-FFF2-40B4-BE49-F238E27FC236}">
                <a16:creationId xmlns:a16="http://schemas.microsoft.com/office/drawing/2014/main" id="{ADBD7792-4FF5-4324-9477-471806E4E130}"/>
              </a:ext>
            </a:extLst>
          </p:cNvPr>
          <p:cNvSpPr>
            <a:spLocks xmlns:a="http://schemas.openxmlformats.org/drawingml/2006/main" noGrp="1"/>
          </p:cNvSpPr>
          <p:nvPr/>
        </p:nvSpPr>
        <p:spPr>
          <a:xfrm xmlns:a="http://schemas.openxmlformats.org/drawingml/2006/main">
            <a:off x="4095750" y="26670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用相同随机池计算 baseline、温度、RIN、对准和抖动场景，确认 T40 最接近论文的时长排序。</a:t>
            </a:r>
          </a:p>
        </p:txBody>
      </p:sp>
      <p:sp>
        <p:nvSpPr>
          <p:cNvPr id="10" name="">
            <a:extLst xmlns:a="http://schemas.openxmlformats.org/drawingml/2006/main">
              <a:ext uri="{FF2B5EF4-FFF2-40B4-BE49-F238E27FC236}">
                <a16:creationId xmlns:a16="http://schemas.microsoft.com/office/drawing/2014/main" id="{5A341D54-6AA3-4264-A42D-D3FFCAC3685F}"/>
              </a:ext>
            </a:extLst>
          </p:cNvPr>
          <p:cNvSpPr>
            <a:spLocks xmlns:a="http://schemas.openxmlformats.org/drawingml/2006/main" noGrp="1"/>
          </p:cNvSpPr>
          <p:nvPr/>
        </p:nvSpPr>
        <p:spPr>
          <a:xfrm xmlns:a="http://schemas.openxmlformats.org/drawingml/2006/main">
            <a:off x="1485900" y="34290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11" name="">
            <a:extLst xmlns:a="http://schemas.openxmlformats.org/drawingml/2006/main">
              <a:ext uri="{FF2B5EF4-FFF2-40B4-BE49-F238E27FC236}">
                <a16:creationId xmlns:a16="http://schemas.microsoft.com/office/drawing/2014/main" id="{D30C0817-34AE-46D5-A505-564EEACA73AB}"/>
              </a:ext>
            </a:extLst>
          </p:cNvPr>
          <p:cNvSpPr>
            <a:spLocks xmlns:a="http://schemas.openxmlformats.org/drawingml/2006/main" noGrp="1"/>
          </p:cNvSpPr>
          <p:nvPr/>
        </p:nvSpPr>
        <p:spPr>
          <a:xfrm xmlns:a="http://schemas.openxmlformats.org/drawingml/2006/main">
            <a:off x="723900" y="37528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03</a:t>
            </a:r>
          </a:p>
        </p:txBody>
      </p:sp>
      <p:sp>
        <p:nvSpPr>
          <p:cNvPr id="12" name="">
            <a:extLst xmlns:a="http://schemas.openxmlformats.org/drawingml/2006/main">
              <a:ext uri="{FF2B5EF4-FFF2-40B4-BE49-F238E27FC236}">
                <a16:creationId xmlns:a16="http://schemas.microsoft.com/office/drawing/2014/main" id="{23468615-8231-4FA6-BEE2-E49FC550E70F}"/>
              </a:ext>
            </a:extLst>
          </p:cNvPr>
          <p:cNvSpPr>
            <a:spLocks xmlns:a="http://schemas.openxmlformats.org/drawingml/2006/main" noGrp="1"/>
          </p:cNvSpPr>
          <p:nvPr/>
        </p:nvSpPr>
        <p:spPr>
          <a:xfrm xmlns:a="http://schemas.openxmlformats.org/drawingml/2006/main">
            <a:off x="1485900" y="37338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回放 ML 并定位增益</a:t>
            </a:r>
          </a:p>
        </p:txBody>
      </p:sp>
      <p:sp>
        <p:nvSpPr>
          <p:cNvPr id="13" name="">
            <a:extLst xmlns:a="http://schemas.openxmlformats.org/drawingml/2006/main">
              <a:ext uri="{FF2B5EF4-FFF2-40B4-BE49-F238E27FC236}">
                <a16:creationId xmlns:a16="http://schemas.microsoft.com/office/drawing/2014/main" id="{07B63178-60B9-406B-9390-32BD9CF87C28}"/>
              </a:ext>
            </a:extLst>
          </p:cNvPr>
          <p:cNvSpPr>
            <a:spLocks xmlns:a="http://schemas.openxmlformats.org/drawingml/2006/main" noGrp="1"/>
          </p:cNvSpPr>
          <p:nvPr/>
        </p:nvSpPr>
        <p:spPr>
          <a:xfrm xmlns:a="http://schemas.openxmlformats.org/drawingml/2006/main">
            <a:off x="4095750" y="37338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数字化 Fig. 6c，得到 T40 下 ΔS=+0.231；2×2 消融表明模型内增益主要来自 position trajectory。</a:t>
            </a:r>
          </a:p>
        </p:txBody>
      </p:sp>
      <p:sp>
        <p:nvSpPr>
          <p:cNvPr id="14" name="">
            <a:extLst xmlns:a="http://schemas.openxmlformats.org/drawingml/2006/main">
              <a:ext uri="{FF2B5EF4-FFF2-40B4-BE49-F238E27FC236}">
                <a16:creationId xmlns:a16="http://schemas.microsoft.com/office/drawing/2014/main" id="{ECC08C48-0385-4734-A883-AF978CCADE62}"/>
              </a:ext>
            </a:extLst>
          </p:cNvPr>
          <p:cNvSpPr>
            <a:spLocks xmlns:a="http://schemas.openxmlformats.org/drawingml/2006/main" noGrp="1"/>
          </p:cNvSpPr>
          <p:nvPr/>
        </p:nvSpPr>
        <p:spPr>
          <a:xfrm xmlns:a="http://schemas.openxmlformats.org/drawingml/2006/main">
            <a:off x="1485900" y="44958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15" name="">
            <a:extLst xmlns:a="http://schemas.openxmlformats.org/drawingml/2006/main">
              <a:ext uri="{FF2B5EF4-FFF2-40B4-BE49-F238E27FC236}">
                <a16:creationId xmlns:a16="http://schemas.microsoft.com/office/drawing/2014/main" id="{8DAF89F1-B5AF-44AA-BB5C-4301681DA295}"/>
              </a:ext>
            </a:extLst>
          </p:cNvPr>
          <p:cNvSpPr>
            <a:spLocks xmlns:a="http://schemas.openxmlformats.org/drawingml/2006/main" noGrp="1"/>
          </p:cNvSpPr>
          <p:nvPr/>
        </p:nvSpPr>
        <p:spPr>
          <a:xfrm xmlns:a="http://schemas.openxmlformats.org/drawingml/2006/main">
            <a:off x="723900" y="48196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04</a:t>
            </a:r>
          </a:p>
        </p:txBody>
      </p:sp>
      <p:sp>
        <p:nvSpPr>
          <p:cNvPr id="16" name="">
            <a:extLst xmlns:a="http://schemas.openxmlformats.org/drawingml/2006/main">
              <a:ext uri="{FF2B5EF4-FFF2-40B4-BE49-F238E27FC236}">
                <a16:creationId xmlns:a16="http://schemas.microsoft.com/office/drawing/2014/main" id="{55161E21-061E-4295-A1CF-961BF10FE31F}"/>
              </a:ext>
            </a:extLst>
          </p:cNvPr>
          <p:cNvSpPr>
            <a:spLocks xmlns:a="http://schemas.openxmlformats.org/drawingml/2006/main" noGrp="1"/>
          </p:cNvSpPr>
          <p:nvPr/>
        </p:nvSpPr>
        <p:spPr>
          <a:xfrm xmlns:a="http://schemas.openxmlformats.org/drawingml/2006/main">
            <a:off x="1485900" y="48006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验收结果与边界</a:t>
            </a:r>
          </a:p>
        </p:txBody>
      </p:sp>
      <p:sp>
        <p:nvSpPr>
          <p:cNvPr id="17" name="">
            <a:extLst xmlns:a="http://schemas.openxmlformats.org/drawingml/2006/main">
              <a:ext uri="{FF2B5EF4-FFF2-40B4-BE49-F238E27FC236}">
                <a16:creationId xmlns:a16="http://schemas.microsoft.com/office/drawing/2014/main" id="{94CCE01F-F14E-4694-AD8A-273AF6B2CE9D}"/>
              </a:ext>
            </a:extLst>
          </p:cNvPr>
          <p:cNvSpPr>
            <a:spLocks xmlns:a="http://schemas.openxmlformats.org/drawingml/2006/main" noGrp="1"/>
          </p:cNvSpPr>
          <p:nvPr/>
        </p:nvSpPr>
        <p:spPr>
          <a:xfrm xmlns:a="http://schemas.openxmlformats.org/drawingml/2006/main">
            <a:off x="4095750" y="48006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所有 manual 曲线仍未通过 ±0.02。真空寿命、随机噪声谱和真实 AWG/光学响应尚未进入 Level 2C。</a:t>
            </a:r>
          </a:p>
        </p:txBody>
      </p:sp>
      <p:sp>
        <p:nvSpPr>
          <p:cNvPr id="18" name="">
            <a:extLst xmlns:a="http://schemas.openxmlformats.org/drawingml/2006/main">
              <a:ext uri="{FF2B5EF4-FFF2-40B4-BE49-F238E27FC236}">
                <a16:creationId xmlns:a16="http://schemas.microsoft.com/office/drawing/2014/main" id="{EA3503D5-B1E9-40C7-89F8-5EF10B1F9A07}"/>
              </a:ext>
            </a:extLst>
          </p:cNvPr>
          <p:cNvSpPr>
            <a:spLocks xmlns:a="http://schemas.openxmlformats.org/drawingml/2006/main" noGrp="1"/>
          </p:cNvSpPr>
          <p:nvPr/>
        </p:nvSpPr>
        <p:spPr>
          <a:xfrm xmlns:a="http://schemas.openxmlformats.org/drawingml/2006/main">
            <a:off x="723900" y="62293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98AFC7"/>
                </a:solidFill>
                <a:latin typeface="Microsoft YaHei"/>
                <a:ea typeface="Microsoft YaHei"/>
                <a:cs typeface="Microsoft YaHei"/>
              </a:defRPr>
            </a:pPr>
            <a:r>
              <a:rPr sz="1050" b="0">
                <a:solidFill>
                  <a:srgbClr val="98AFC7"/>
                </a:solidFill>
                <a:latin typeface="Microsoft YaHei"/>
                <a:ea typeface="Microsoft YaHei"/>
                <a:cs typeface="Microsoft YaHei"/>
              </a:rPr>
              <a:t>结论：当前工作达到机制验证和相对比较阶段，尚未达到实验级绝对定量预测。</a:t>
            </a:r>
          </a:p>
        </p:txBody>
      </p:sp>
      <p:sp>
        <p:nvSpPr>
          <p:cNvPr id="19" name="">
            <a:extLst xmlns:a="http://schemas.openxmlformats.org/drawingml/2006/main">
              <a:ext uri="{FF2B5EF4-FFF2-40B4-BE49-F238E27FC236}">
                <a16:creationId xmlns:a16="http://schemas.microsoft.com/office/drawing/2014/main" id="{D9AD3FB1-8CD9-4AD9-94AB-1D126F3322B5}"/>
              </a:ext>
            </a:extLst>
          </p:cNvPr>
          <p:cNvSpPr>
            <a:spLocks xmlns:a="http://schemas.openxmlformats.org/drawingml/2006/main" noGrp="1"/>
          </p:cNvSpPr>
          <p:nvPr/>
        </p:nvSpPr>
        <p:spPr>
          <a:xfrm xmlns:a="http://schemas.openxmlformats.org/drawingml/2006/main">
            <a:off x="10934700" y="62293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a:solidFill>
                  <a:srgbClr val="98AFC7"/>
                </a:solidFill>
                <a:latin typeface="Microsoft YaHei"/>
                <a:ea typeface="Microsoft YaHei"/>
                <a:cs typeface="Microsoft YaHei"/>
              </a:defRPr>
            </a:pPr>
            <a:r>
              <a:rPr sz="975" b="0">
                <a:solidFill>
                  <a:srgbClr val="98AFC7"/>
                </a:solidFill>
                <a:latin typeface="Microsoft YaHei"/>
                <a:ea typeface="Microsoft YaHei"/>
                <a:cs typeface="Microsoft YaHei"/>
              </a:rPr>
              <a:t>18</a:t>
            </a:r>
          </a:p>
        </p:txBody>
      </p:sp>
    </p:spTree>
    <p:extLst>
      <p:ext uri="{BB962C8B-B14F-4D97-AF65-F5344CB8AC3E}">
        <p14:creationId xmlns:p14="http://schemas.microsoft.com/office/powerpoint/2010/main" val="10813612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2026-09-11T09:17:03.1330000Z</dcterms:created>
  <dcterms:modified xsi:type="dcterms:W3CDTF">2026-09-11T09:17:03.1330000Z</dcterms:modified>
</coreProperties>
</file>