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d703e6b73c4e05" /><Relationship Type="http://schemas.openxmlformats.org/officeDocument/2006/relationships/extended-properties" Target="/docProps/app.xml" Id="R413f15ae6f92418b" /><Relationship Type="http://schemas.openxmlformats.org/officeDocument/2006/relationships/officeDocument" Target="/ppt/presentation.xml" Id="R5cc56db7a32e44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ebfc953a854bcb"/>
  </p:sldMasterIdLst>
  <p:notesMasterIdLst>
    <p:notesMasterId xmlns:r="http://schemas.openxmlformats.org/officeDocument/2006/relationships" r:id="Rd13c55c21c414dd2"/>
  </p:notesMasterIdLst>
  <p:sldIdLst>
    <p:sldId xmlns:r="http://schemas.openxmlformats.org/officeDocument/2006/relationships" id="256" r:id="Ra039376472bd446a"/>
    <p:sldId xmlns:r="http://schemas.openxmlformats.org/officeDocument/2006/relationships" id="257" r:id="Ree61c4dc25df4e12"/>
    <p:sldId xmlns:r="http://schemas.openxmlformats.org/officeDocument/2006/relationships" id="258" r:id="R99f1123fca934bc5"/>
    <p:sldId xmlns:r="http://schemas.openxmlformats.org/officeDocument/2006/relationships" id="259" r:id="R92470fa6e8034ef2"/>
    <p:sldId xmlns:r="http://schemas.openxmlformats.org/officeDocument/2006/relationships" id="260" r:id="Ra7af001ea7904cba"/>
    <p:sldId xmlns:r="http://schemas.openxmlformats.org/officeDocument/2006/relationships" id="261" r:id="R5c7d69dacc4741bc"/>
    <p:sldId xmlns:r="http://schemas.openxmlformats.org/officeDocument/2006/relationships" id="262" r:id="Rdbca9ad5bb274081"/>
    <p:sldId xmlns:r="http://schemas.openxmlformats.org/officeDocument/2006/relationships" id="263" r:id="R1bc503d891a2472f"/>
    <p:sldId xmlns:r="http://schemas.openxmlformats.org/officeDocument/2006/relationships" id="264" r:id="R895af66835f2429e"/>
    <p:sldId xmlns:r="http://schemas.openxmlformats.org/officeDocument/2006/relationships" id="265" r:id="R662096a979f14a78"/>
    <p:sldId xmlns:r="http://schemas.openxmlformats.org/officeDocument/2006/relationships" id="266" r:id="R255d86bd1a974786"/>
    <p:sldId xmlns:r="http://schemas.openxmlformats.org/officeDocument/2006/relationships" id="267" r:id="Rab737d98c11c42e0"/>
    <p:sldId xmlns:r="http://schemas.openxmlformats.org/officeDocument/2006/relationships" id="268" r:id="Rce7845e526db4a42"/>
    <p:sldId xmlns:r="http://schemas.openxmlformats.org/officeDocument/2006/relationships" id="269" r:id="R49b4426789494915"/>
    <p:sldId xmlns:r="http://schemas.openxmlformats.org/officeDocument/2006/relationships" id="270" r:id="R418159b3184743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27d54886bc4f66" /><Relationship Type="http://schemas.openxmlformats.org/officeDocument/2006/relationships/slideMaster" Target="/ppt/slideMasters/slideMaster1.xml" Id="R88ebfc953a854bcb" /><Relationship Type="http://schemas.openxmlformats.org/officeDocument/2006/relationships/notesMaster" Target="/ppt/notesMasters/notesMaster1.xml" Id="Rd13c55c21c414dd2" /><Relationship Type="http://schemas.openxmlformats.org/officeDocument/2006/relationships/presProps" Target="/ppt/presProps.xml" Id="R741782ae360f4233" /><Relationship Type="http://schemas.openxmlformats.org/officeDocument/2006/relationships/tableStyles" Target="/ppt/tableStyles.xml" Id="R03763b8c85b14bd2" /><Relationship Type="http://schemas.openxmlformats.org/officeDocument/2006/relationships/slide" Target="/ppt/slides/slide1.xml" Id="Ra039376472bd446a" /><Relationship Type="http://schemas.openxmlformats.org/officeDocument/2006/relationships/slide" Target="/ppt/slides/slide2.xml" Id="Ree61c4dc25df4e12" /><Relationship Type="http://schemas.openxmlformats.org/officeDocument/2006/relationships/slide" Target="/ppt/slides/slide3.xml" Id="R99f1123fca934bc5" /><Relationship Type="http://schemas.openxmlformats.org/officeDocument/2006/relationships/slide" Target="/ppt/slides/slide4.xml" Id="R92470fa6e8034ef2" /><Relationship Type="http://schemas.openxmlformats.org/officeDocument/2006/relationships/slide" Target="/ppt/slides/slide5.xml" Id="Ra7af001ea7904cba" /><Relationship Type="http://schemas.openxmlformats.org/officeDocument/2006/relationships/slide" Target="/ppt/slides/slide6.xml" Id="R5c7d69dacc4741bc" /><Relationship Type="http://schemas.openxmlformats.org/officeDocument/2006/relationships/slide" Target="/ppt/slides/slide7.xml" Id="Rdbca9ad5bb274081" /><Relationship Type="http://schemas.openxmlformats.org/officeDocument/2006/relationships/slide" Target="/ppt/slides/slide8.xml" Id="R1bc503d891a2472f" /><Relationship Type="http://schemas.openxmlformats.org/officeDocument/2006/relationships/slide" Target="/ppt/slides/slide9.xml" Id="R895af66835f2429e" /><Relationship Type="http://schemas.openxmlformats.org/officeDocument/2006/relationships/slide" Target="/ppt/slides/slide10.xml" Id="R662096a979f14a78" /><Relationship Type="http://schemas.openxmlformats.org/officeDocument/2006/relationships/slide" Target="/ppt/slides/slide11.xml" Id="R255d86bd1a974786" /><Relationship Type="http://schemas.openxmlformats.org/officeDocument/2006/relationships/slide" Target="/ppt/slides/slide12.xml" Id="Rab737d98c11c42e0" /><Relationship Type="http://schemas.openxmlformats.org/officeDocument/2006/relationships/slide" Target="/ppt/slides/slide13.xml" Id="Rce7845e526db4a42" /><Relationship Type="http://schemas.openxmlformats.org/officeDocument/2006/relationships/slide" Target="/ppt/slides/slide14.xml" Id="R49b4426789494915" /><Relationship Type="http://schemas.openxmlformats.org/officeDocument/2006/relationships/slide" Target="/ppt/slides/slide15.xml" Id="R418159b3184743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823b3783c441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67777481804cad" /><Relationship Type="http://schemas.openxmlformats.org/officeDocument/2006/relationships/notesMaster" Target="/ppt/notesMasters/notesMaster1.xml" Id="R72d9a582704a4b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645b322d7a4f90" /><Relationship Type="http://schemas.openxmlformats.org/officeDocument/2006/relationships/notesMaster" Target="/ppt/notesMasters/notesMaster1.xml" Id="R4a03f34f89a742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b9a35921464536" /><Relationship Type="http://schemas.openxmlformats.org/officeDocument/2006/relationships/notesMaster" Target="/ppt/notesMasters/notesMaster1.xml" Id="R86168e23ace344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9d69f182014ba9" /><Relationship Type="http://schemas.openxmlformats.org/officeDocument/2006/relationships/notesMaster" Target="/ppt/notesMasters/notesMaster1.xml" Id="R0ef893f0981249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fdbbeb560046a8" /><Relationship Type="http://schemas.openxmlformats.org/officeDocument/2006/relationships/notesMaster" Target="/ppt/notesMasters/notesMaster1.xml" Id="Rf44fcf9b74bc41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70d2934dcc4a8a" /><Relationship Type="http://schemas.openxmlformats.org/officeDocument/2006/relationships/notesMaster" Target="/ppt/notesMasters/notesMaster1.xml" Id="Re6028a5716b74f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d5c0ee05044f67" /><Relationship Type="http://schemas.openxmlformats.org/officeDocument/2006/relationships/notesMaster" Target="/ppt/notesMasters/notesMaster1.xml" Id="R048f314a655143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7c4b1fd2f04fb3" /><Relationship Type="http://schemas.openxmlformats.org/officeDocument/2006/relationships/notesMaster" Target="/ppt/notesMasters/notesMaster1.xml" Id="R8e746cddc1f040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2c13e453b94752" /><Relationship Type="http://schemas.openxmlformats.org/officeDocument/2006/relationships/notesMaster" Target="/ppt/notesMasters/notesMaster1.xml" Id="R7aa44ba17d044e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784e027841437d" /><Relationship Type="http://schemas.openxmlformats.org/officeDocument/2006/relationships/notesMaster" Target="/ppt/notesMasters/notesMaster1.xml" Id="R74f3fea3e4e943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8ba461511148e7" /><Relationship Type="http://schemas.openxmlformats.org/officeDocument/2006/relationships/notesMaster" Target="/ppt/notesMasters/notesMaster1.xml" Id="R95419dc535f540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44518bc56d49e2" /><Relationship Type="http://schemas.openxmlformats.org/officeDocument/2006/relationships/notesMaster" Target="/ppt/notesMasters/notesMaster1.xml" Id="R2cb4e366bedc47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14da28fcb749e6" /><Relationship Type="http://schemas.openxmlformats.org/officeDocument/2006/relationships/notesMaster" Target="/ppt/notesMasters/notesMaster1.xml" Id="R8cc184e60d384f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6b97cd73e142b0" /><Relationship Type="http://schemas.openxmlformats.org/officeDocument/2006/relationships/notesMaster" Target="/ppt/notesMasters/notesMaster1.xml" Id="R7ab426cc7a3149e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3e9bc25ff849a5" /><Relationship Type="http://schemas.openxmlformats.org/officeDocument/2006/relationships/notesMaster" Target="/ppt/notesMasters/notesMaster1.xml" Id="Rd151ef58e1e643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git branch gpt_level4_5, commit 5e55bb0dcc4d9c1be07c6d39d9e8d74d45bca9f8</a:t>
            </a:r>
          </a:p>
          <a:p xmlns:a="http://schemas.openxmlformats.org/drawingml/2006/main">
            <a:r>
              <a:t>- simulation/level2_joint_transfer/README.md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simulation/level2_joint_transfer/reference/fig6d_parameters.md</a:t>
            </a:r>
          </a:p>
          <a:p xmlns:a="http://schemas.openxmlformats.org/drawingml/2006/main">
            <a:r>
              <a:t>- simulation/level2_joint_transfer/src/level2c_pickup_survival/survival_engine.py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simulation/level2_joint_transfer/src/level2c_pickup_survival/survival_engine.py</a:t>
            </a:r>
          </a:p>
          <a:p xmlns:a="http://schemas.openxmlformats.org/drawingml/2006/main">
            <a:r>
              <a:t>- simulation/level2_joint_transfer/src/level2c_pickup_survival/survival_engine_2d.py</a:t>
            </a:r>
          </a:p>
          <a:p xmlns:a="http://schemas.openxmlformats.org/drawingml/2006/main">
            <a:r>
              <a:t>- simulation/level2_joint_transfer/src/level3_3d_transport_lensing/gaussian_3d.py</a:t>
            </a:r>
          </a:p>
          <a:p xmlns:a="http://schemas.openxmlformats.org/drawingml/2006/main">
            <a:r>
              <a:t>- simulation/level2_joint_transfer/README.md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Repository search found no AWG, bandwidth, low-pass, or transfer-function implementation in src/configs.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simulation/level2_joint_transfer/reference/fig6d_survival_digitized.csv</a:t>
            </a:r>
          </a:p>
          <a:p xmlns:a="http://schemas.openxmlformats.org/drawingml/2006/main">
            <a:r>
              <a:t>- simulation/level2_joint_transfer/reference/fig6d_digitize_check.png</a:t>
            </a:r>
          </a:p>
          <a:p xmlns:a="http://schemas.openxmlformats.org/drawingml/2006/main">
            <a:r>
              <a:t>- simulation/level2_joint_transfer/reference/fig6d_parameters.md</a:t>
            </a:r>
          </a:p>
          <a:p xmlns:a="http://schemas.openxmlformats.org/drawingml/2006/main">
            <a:r>
              <a:t>- simulation/level2_joint_transfer/outputs/level2c_pickup_survival/scan_stage1/fig6c_ml_trajectory_digitized.json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simulation/level2_joint_transfer/configs/level2c_pickup_survival.yaml</a:t>
            </a:r>
          </a:p>
          <a:p xmlns:a="http://schemas.openxmlformats.org/drawingml/2006/main">
            <a:r>
              <a:t>- simulation/level2_joint_transfer/configs/scan_stage1/scan_T40.yaml</a:t>
            </a:r>
          </a:p>
          <a:p xmlns:a="http://schemas.openxmlformats.org/drawingml/2006/main">
            <a:r>
              <a:t>- simulation/level2_joint_transfer/configs/scan_stage1/scan_R3e7.yaml</a:t>
            </a:r>
          </a:p>
          <a:p xmlns:a="http://schemas.openxmlformats.org/drawingml/2006/main">
            <a:r>
              <a:t>- simulation/level2_joint_transfer/outputs/level2c_pickup_survival/scan_stage1/summary_stage1.md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T40 and R3e-7 are sensitivity assumptions, not measured or accepted calibration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simulation/level2_joint_transfer/outputs/level2c_pickup_survival/scan_stage1/T40/comparison_to_paper.json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The 200 µs paper curve is available only for n=5..31. The line charts use raw simulated and digitized arrays from the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simulation/level2_joint_transfer/outputs/level2c_pickup_survival/scan_stage1/paper_ml_eval.json</a:t>
            </a:r>
          </a:p>
          <a:p xmlns:a="http://schemas.openxmlformats.org/drawingml/2006/main">
            <a:r>
              <a:t>- simulation/level2_joint_transfer/reference/fig6d_survival_digitized.csv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MC T40 values are raw 256-shot scan-pool endpoints: manual 0.52734375, Fig. 6c replay 0.7578125. Paper endpoints are 0.4135 and 0.6633. Per-transfer loss shown on the slide is the endpoint-equivalent quantity 1-S(60)^(1/60), not the paper's three-parameter fitted 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simulation/level2_joint_transfer/outputs/level2c_pickup_survival/scan_stage1/fig6c_ml_trajectory_digitized.json</a:t>
            </a:r>
          </a:p>
          <a:p xmlns:a="http://schemas.openxmlformats.org/drawingml/2006/main">
            <a:r>
              <a:t>- simulation/level2_joint_transfer/src/level2_joint_transfer/waveforms.py</a:t>
            </a:r>
          </a:p>
          <a:p xmlns:a="http://schemas.openxmlformats.org/drawingml/2006/main">
            <a:r>
              <a:t>- simulation/level2_joint_transfer/outputs/level2c_pickup_survival/scan_stage1/summary_stage1.md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Manual curves were calculated from PickupSequentialWaveform's documented 48% quadratic depth ramp and constant-jerk position equations at the same time nodes. No simulation result was altered.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simulation/level2_joint_transfer/outputs/level2c_pickup_survival/scan_stage1/summary_stage1.md, section 6.1</a:t>
            </a:r>
          </a:p>
          <a:p xmlns:a="http://schemas.openxmlformats.org/drawingml/2006/main">
            <a:r>
              <a:t>- simulation/level2_joint_transfer/outputs/level2c_pickup_survival/scan_stage1/ablation_cross_2x2.py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The repository commits the reproducible script and the reported values in summary_stage1.md, but no separate raw JSON/CSV for this cross-ablation. These numbers are therefore kept distinct from raw-output comparisons.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simulation/level2_joint_transfer/outputs/level2c_pickup_survival/scan_stage1/*/survival_scan_results.csv</a:t>
            </a:r>
          </a:p>
          <a:p xmlns:a="http://schemas.openxmlformats.org/drawingml/2006/main">
            <a:r>
              <a:t>- simulation/level2_joint_transfer/outputs/level2c_pickup_survival/scan_stage1/summary_stage1.md</a:t>
            </a:r>
          </a:p>
          <a:p xmlns:a="http://schemas.openxmlformats.org/drawingml/2006/main">
            <a:r>
              <a:t>- simulation/level2_joint_transfer/configs/scan_stage1/*.yaml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All MC endpoint values on this slide come from the n=60 row of the raw stage-1 scan CSVs. The paper row comes from fig6d_survival_digitized.csv.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simulation/level2_joint_transfer/outputs/level2c_pickup_survival/scan_stage1/T40/comparison_to_paper.json</a:t>
            </a:r>
          </a:p>
          <a:p xmlns:a="http://schemas.openxmlformats.org/drawingml/2006/main">
            <a:r>
              <a:t>- simulation/level2_joint_transfer/outputs/level2c_pickup_survival/scan_stage1/paper_ml_eval.json</a:t>
            </a:r>
          </a:p>
          <a:p xmlns:a="http://schemas.openxmlformats.org/drawingml/2006/main">
            <a:r>
              <a:t>- simulation/level2_joint_transfer/reference/fig6d_survival_digitized.csv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The ML endpoint row uses the raw T40 scan-pool value 0.7578125. The later 512-shot summary contains inconsistent 0.8047 and 0.822 values without a committed full curve, so neither is used as the main quantitative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simulation/level2_joint_transfer/outputs/level2c_pickup_survival/scan_stage1/T40/comparison_to_paper.json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All deviations are stored directly in the JSON. This slide does not use the ML curve because the current Fig. 6c replay full curve was not committed.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simulation/level2_joint_transfer/src/level2c_pickup_survival/survival_engine.py</a:t>
            </a:r>
          </a:p>
          <a:p xmlns:a="http://schemas.openxmlformats.org/drawingml/2006/main">
            <a:r>
              <a:t>- simulation/level2_joint_transfer/src/level2c_pickup_survival/survival_engine_2d.py</a:t>
            </a:r>
          </a:p>
          <a:p xmlns:a="http://schemas.openxmlformats.org/drawingml/2006/main">
            <a:r>
              <a:t>- simulation/level2_joint_transfer/src/level3_3d_transport_lensing/</a:t>
            </a:r>
          </a:p>
          <a:p xmlns:a="http://schemas.openxmlformats.org/drawingml/2006/main">
            <a:r>
              <a:t>- simulation/level2_joint_transfer/src/level5_finite_pulse_irb/</a:t>
            </a:r>
          </a:p>
          <a:p xmlns:a="http://schemas.openxmlformats.org/drawingml/2006/main">
            <a:r>
              <a:t>- simulation/level2_joint_transfer/configs/level2c_pickup_survival.yaml</a:t>
            </a:r>
          </a:p>
          <a:p xmlns:a="http://schemas.openxmlformats.org/drawingml/2006/main">
            <a:r>
              <a:t>- simulation/level2_joint_transfer/outputs/level2c_pickup_survival/scan_stage1/summary_stage1.md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simulation/level2_joint_transfer/README.md</a:t>
            </a:r>
          </a:p>
          <a:p xmlns:a="http://schemas.openxmlformats.org/drawingml/2006/main">
            <a:r>
              <a:t>- simulation/level2_joint_transfer/outputs/level2c_pickup_survival/demo/summary.md</a:t>
            </a:r>
          </a:p>
          <a:p xmlns:a="http://schemas.openxmlformats.org/drawingml/2006/main">
            <a:r>
              <a:t>- simulation/level2_joint_transfer/outputs/level4_end_to_end_roundtrip/demo/summary.md</a:t>
            </a:r>
          </a:p>
          <a:p xmlns:a="http://schemas.openxmlformats.org/drawingml/2006/main">
            <a:r>
              <a:t>- simulation/level2_joint_transfer/outputs/level5_finite_pulse_irb/demo/summary.md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Maturity labels are a synthesis of the evidence shown in slides 6-13, not a formal external readiness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simulation/level2_joint_transfer/outputs/level2c_pickup_survival/scan_stage1/summary_stage1.md</a:t>
            </a:r>
          </a:p>
          <a:p xmlns:a="http://schemas.openxmlformats.org/drawingml/2006/main">
            <a:r>
              <a:t>- simulation/level2_joint_transfer/outputs/level2c_pickup_survival/scan_stage1/paper_ml_eval.json</a:t>
            </a:r>
          </a:p>
          <a:p xmlns:a="http://schemas.openxmlformats.org/drawingml/2006/main">
            <a:r>
              <a:t>- simulation/level2_joint_transfer/outputs/level2c_pickup_survival/scan_stage1/T40/comparison_to_paper.json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a5143123f4d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d1a3ed4be145ac" /><Relationship Type="http://schemas.openxmlformats.org/officeDocument/2006/relationships/slideLayout" Target="/ppt/slideLayouts/slideLayout1.xml" Id="R51b6cd558bdb4d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b6cd558bdb4d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17fea4fd244a2" /><Relationship Type="http://schemas.openxmlformats.org/officeDocument/2006/relationships/notesSlide" Target="/ppt/notesSlides/notesSlide1.xml" Id="R08b50b73889d49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642dd9ee6434b" /><Relationship Type="http://schemas.openxmlformats.org/officeDocument/2006/relationships/notesSlide" Target="/ppt/notesSlides/notesSlide2.xml" Id="R9c263ffa581242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89b5ffbc14027" /><Relationship Type="http://schemas.openxmlformats.org/officeDocument/2006/relationships/notesSlide" Target="/ppt/notesSlides/notesSlide3.xml" Id="R154a7e5a573344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e53e3a1e749c5" /><Relationship Type="http://schemas.openxmlformats.org/officeDocument/2006/relationships/image" Target="/ppt/media/image.png" Id="Rd43f3be164b546a5" /><Relationship Type="http://schemas.openxmlformats.org/officeDocument/2006/relationships/notesSlide" Target="/ppt/notesSlides/notesSlide4.xml" Id="R7d7869dbe26e4c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c738c54a3403d" /><Relationship Type="http://schemas.openxmlformats.org/officeDocument/2006/relationships/notesSlide" Target="/ppt/notesSlides/notesSlide5.xml" Id="R1c1e343c8c3245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8a8aa134d4d80" /><Relationship Type="http://schemas.openxmlformats.org/officeDocument/2006/relationships/chart" Target="/ppt/slides/charts/chart1.xml" Id="R9f82a66511284c95" /><Relationship Type="http://schemas.openxmlformats.org/officeDocument/2006/relationships/chart" Target="/ppt/slides/charts/chart2.xml" Id="R6930e534de8f4e09" /><Relationship Type="http://schemas.openxmlformats.org/officeDocument/2006/relationships/notesSlide" Target="/ppt/notesSlides/notesSlide6.xml" Id="Rbabe2e73861f4d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99cc7f56a49e8" /><Relationship Type="http://schemas.openxmlformats.org/officeDocument/2006/relationships/chart" Target="/ppt/slides/charts/chart3.xml" Id="Ra83ce4a709ef472c" /><Relationship Type="http://schemas.openxmlformats.org/officeDocument/2006/relationships/notesSlide" Target="/ppt/notesSlides/notesSlide7.xml" Id="R9f07e897e74146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e4d0be71640bb" /><Relationship Type="http://schemas.openxmlformats.org/officeDocument/2006/relationships/chart" Target="/ppt/slides/charts/chart4.xml" Id="R40b51d4d59b54ca4" /><Relationship Type="http://schemas.openxmlformats.org/officeDocument/2006/relationships/chart" Target="/ppt/slides/charts/chart5.xml" Id="R71333d46a2d645f6" /><Relationship Type="http://schemas.openxmlformats.org/officeDocument/2006/relationships/notesSlide" Target="/ppt/notesSlides/notesSlide8.xml" Id="R3cff0639ae154e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95d76624e412a" /><Relationship Type="http://schemas.openxmlformats.org/officeDocument/2006/relationships/chart" Target="/ppt/slides/charts/chart6.xml" Id="R9b18e3dae2494616" /><Relationship Type="http://schemas.openxmlformats.org/officeDocument/2006/relationships/notesSlide" Target="/ppt/notesSlides/notesSlide9.xml" Id="Rf8ce6f22f3784f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b512cf8fc4ff2" /><Relationship Type="http://schemas.openxmlformats.org/officeDocument/2006/relationships/notesSlide" Target="/ppt/notesSlides/notesSlide10.xml" Id="Rb946c962cc8646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94140162042db" /><Relationship Type="http://schemas.openxmlformats.org/officeDocument/2006/relationships/notesSlide" Target="/ppt/notesSlides/notesSlide11.xml" Id="R92059bb62c0745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1665015ef48b7" /><Relationship Type="http://schemas.openxmlformats.org/officeDocument/2006/relationships/chart" Target="/ppt/slides/charts/chart7.xml" Id="R3b26268602ef4616" /><Relationship Type="http://schemas.openxmlformats.org/officeDocument/2006/relationships/chart" Target="/ppt/slides/charts/chart8.xml" Id="Rcb76a2c673614d37" /><Relationship Type="http://schemas.openxmlformats.org/officeDocument/2006/relationships/notesSlide" Target="/ppt/notesSlides/notesSlide12.xml" Id="R459c2b8373cd46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8a53b77764611" /><Relationship Type="http://schemas.openxmlformats.org/officeDocument/2006/relationships/notesSlide" Target="/ppt/notesSlides/notesSlide13.xml" Id="Rccec6b159b1a42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22f62430d42d6" /><Relationship Type="http://schemas.openxmlformats.org/officeDocument/2006/relationships/notesSlide" Target="/ppt/notesSlides/notesSlide14.xml" Id="Re6219fed093443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38da1f332487e" /><Relationship Type="http://schemas.openxmlformats.org/officeDocument/2006/relationships/notesSlide" Target="/ppt/notesSlides/notesSlide15.xml" Id="Rc554a6d8cb4d433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Paper 200 µs</c:v>
          </c:tx>
          <c:spPr>
            <a:ln xmlns:a="http://schemas.openxmlformats.org/drawingml/2006/main" w="28575">
              <a:solidFill>
                <a:srgbClr val="475467"/>
              </a:solidFill>
            </a:ln>
          </c:spPr>
          <c:marker>
            <c:symbol val="none"/>
          </c:marker>
          <c:cat>
            <c:numRef>
              <c:f>'Chart Data'!$A$2:$A$28</c:f>
              <c:numCache>
                <c:formatCode>General</c:formatCode>
                <c:ptCount val="27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</c:numCache>
            </c:numRef>
          </c:cat>
          <c:val>
            <c:numRef>
              <c:f>'Chart Data'!$B$2:$B$28</c:f>
              <c:numCache>
                <c:formatCode>0%</c:formatCode>
                <c:ptCount val="27"/>
                <c:pt idx="0">
                  <c:v>0.925</c:v>
                </c:pt>
                <c:pt idx="1">
                  <c:v>0.8928</c:v>
                </c:pt>
                <c:pt idx="2">
                  <c:v>0.8564</c:v>
                </c:pt>
                <c:pt idx="3">
                  <c:v>0.8482</c:v>
                </c:pt>
                <c:pt idx="4">
                  <c:v>0.8481</c:v>
                </c:pt>
                <c:pt idx="5">
                  <c:v>0.7687</c:v>
                </c:pt>
                <c:pt idx="6">
                  <c:v>0.7272</c:v>
                </c:pt>
                <c:pt idx="7">
                  <c:v>0.7165</c:v>
                </c:pt>
                <c:pt idx="8">
                  <c:v>0.7099</c:v>
                </c:pt>
                <c:pt idx="9">
                  <c:v>0.6457</c:v>
                </c:pt>
                <c:pt idx="10">
                  <c:v>0.6209</c:v>
                </c:pt>
                <c:pt idx="11">
                  <c:v>0.6178</c:v>
                </c:pt>
                <c:pt idx="12">
                  <c:v>0.6236</c:v>
                </c:pt>
                <c:pt idx="13">
                  <c:v>0.5418</c:v>
                </c:pt>
                <c:pt idx="14">
                  <c:v>0.5241</c:v>
                </c:pt>
                <c:pt idx="15">
                  <c:v>0.5241</c:v>
                </c:pt>
                <c:pt idx="16">
                  <c:v>0.5257</c:v>
                </c:pt>
                <c:pt idx="17">
                  <c:v>0.4582</c:v>
                </c:pt>
                <c:pt idx="18">
                  <c:v>0.4397</c:v>
                </c:pt>
                <c:pt idx="19">
                  <c:v>0.4227</c:v>
                </c:pt>
                <c:pt idx="20">
                  <c:v>0.4061</c:v>
                </c:pt>
                <c:pt idx="21">
                  <c:v>0.3906</c:v>
                </c:pt>
                <c:pt idx="22">
                  <c:v>0.3758</c:v>
                </c:pt>
                <c:pt idx="23">
                  <c:v>0.3612</c:v>
                </c:pt>
                <c:pt idx="24">
                  <c:v>0.3419</c:v>
                </c:pt>
                <c:pt idx="25">
                  <c:v>0.3409</c:v>
                </c:pt>
                <c:pt idx="26">
                  <c:v>0.3344</c:v>
                </c:pt>
              </c:numCache>
            </c:numRef>
          </c:val>
        </c:ser>
        <c:ser>
          <c:idx val="1"/>
          <c:order val="1"/>
          <c:tx>
            <c:v>MC T40 200 µs</c:v>
          </c:tx>
          <c:spPr>
            <a:ln xmlns:a="http://schemas.openxmlformats.org/drawingml/2006/main" w="28575">
              <a:solidFill>
                <a:srgbClr val="D92D20"/>
              </a:solidFill>
            </a:ln>
          </c:spPr>
          <c:marker>
            <c:symbol val="none"/>
          </c:marker>
          <c:cat>
            <c:numRef>
              <c:f>'Chart Data'!$C$2:$C$28</c:f>
              <c:numCache>
                <c:formatCode>General</c:formatCode>
                <c:ptCount val="27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</c:numCache>
            </c:numRef>
          </c:cat>
          <c:val>
            <c:numRef>
              <c:f>'Chart Data'!$D$2:$D$28</c:f>
              <c:numCache>
                <c:formatCode>0%</c:formatCode>
                <c:ptCount val="27"/>
                <c:pt idx="0">
                  <c:v>0.79296875</c:v>
                </c:pt>
                <c:pt idx="1">
                  <c:v>0.7578125</c:v>
                </c:pt>
                <c:pt idx="2">
                  <c:v>0.720703125</c:v>
                </c:pt>
                <c:pt idx="3">
                  <c:v>0.693359375</c:v>
                </c:pt>
                <c:pt idx="4">
                  <c:v>0.6484375</c:v>
                </c:pt>
                <c:pt idx="5">
                  <c:v>0.62109375</c:v>
                </c:pt>
                <c:pt idx="6">
                  <c:v>0.576171875</c:v>
                </c:pt>
                <c:pt idx="7">
                  <c:v>0.548828125</c:v>
                </c:pt>
                <c:pt idx="8">
                  <c:v>0.521484375</c:v>
                </c:pt>
                <c:pt idx="9">
                  <c:v>0.494140625</c:v>
                </c:pt>
                <c:pt idx="10">
                  <c:v>0.474609375</c:v>
                </c:pt>
                <c:pt idx="11">
                  <c:v>0.451171875</c:v>
                </c:pt>
                <c:pt idx="12">
                  <c:v>0.416015625</c:v>
                </c:pt>
                <c:pt idx="13">
                  <c:v>0.404296875</c:v>
                </c:pt>
                <c:pt idx="14">
                  <c:v>0.37890625</c:v>
                </c:pt>
                <c:pt idx="15">
                  <c:v>0.361328125</c:v>
                </c:pt>
                <c:pt idx="16">
                  <c:v>0.349609375</c:v>
                </c:pt>
                <c:pt idx="17">
                  <c:v>0.341796875</c:v>
                </c:pt>
                <c:pt idx="18">
                  <c:v>0.33203125</c:v>
                </c:pt>
                <c:pt idx="19">
                  <c:v>0.326171875</c:v>
                </c:pt>
                <c:pt idx="20">
                  <c:v>0.3046875</c:v>
                </c:pt>
                <c:pt idx="21">
                  <c:v>0.2734375</c:v>
                </c:pt>
                <c:pt idx="22">
                  <c:v>0.271484375</c:v>
                </c:pt>
                <c:pt idx="23">
                  <c:v>0.265625</c:v>
                </c:pt>
                <c:pt idx="24">
                  <c:v>0.255859375</c:v>
                </c:pt>
                <c:pt idx="25">
                  <c:v>0.24609375</c:v>
                </c:pt>
                <c:pt idx="26">
                  <c:v>0.240234375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One-way transfers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Survival</a:t>
                </a:r>
              </a:p>
            </c:rich>
          </c:tx>
          <c:overlay val="0"/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8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Paper 400 µs</c:v>
          </c:tx>
          <c:spPr>
            <a:ln xmlns:a="http://schemas.openxmlformats.org/drawingml/2006/main" w="19050">
              <a:solidFill>
                <a:srgbClr val="98A2B3"/>
              </a:solidFill>
            </a:ln>
          </c:spPr>
          <c:marker>
            <c:symbol val="none"/>
          </c:marker>
          <c:cat>
            <c:numRef>
              <c:f>'Chart Data'!$A$2:$A$57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Data'!$B$2:$B$57</c:f>
              <c:numCache>
                <c:formatCode>0%</c:formatCode>
                <c:ptCount val="56"/>
                <c:pt idx="0">
                  <c:v>0.968</c:v>
                </c:pt>
                <c:pt idx="1">
                  <c:v>0.9651</c:v>
                </c:pt>
                <c:pt idx="2">
                  <c:v>0.9534</c:v>
                </c:pt>
                <c:pt idx="3">
                  <c:v>0.9319</c:v>
                </c:pt>
                <c:pt idx="4">
                  <c:v>0.9529</c:v>
                </c:pt>
                <c:pt idx="5">
                  <c:v>0.9451</c:v>
                </c:pt>
                <c:pt idx="6">
                  <c:v>0.9213</c:v>
                </c:pt>
                <c:pt idx="7">
                  <c:v>0.8997</c:v>
                </c:pt>
                <c:pt idx="8">
                  <c:v>0.9181</c:v>
                </c:pt>
                <c:pt idx="9">
                  <c:v>0.9043</c:v>
                </c:pt>
                <c:pt idx="10">
                  <c:v>0.8809</c:v>
                </c:pt>
                <c:pt idx="11">
                  <c:v>0.871</c:v>
                </c:pt>
                <c:pt idx="12">
                  <c:v>0.8728</c:v>
                </c:pt>
                <c:pt idx="13">
                  <c:v>0.8528</c:v>
                </c:pt>
                <c:pt idx="14">
                  <c:v>0.8293</c:v>
                </c:pt>
                <c:pt idx="15">
                  <c:v>0.8236</c:v>
                </c:pt>
                <c:pt idx="16">
                  <c:v>0.8198</c:v>
                </c:pt>
                <c:pt idx="17">
                  <c:v>0.7983</c:v>
                </c:pt>
                <c:pt idx="18">
                  <c:v>0.7852</c:v>
                </c:pt>
                <c:pt idx="19">
                  <c:v>0.7713</c:v>
                </c:pt>
                <c:pt idx="20">
                  <c:v>0.7573</c:v>
                </c:pt>
                <c:pt idx="21">
                  <c:v>0.7442</c:v>
                </c:pt>
                <c:pt idx="22">
                  <c:v>0.7305</c:v>
                </c:pt>
                <c:pt idx="23">
                  <c:v>0.7164</c:v>
                </c:pt>
                <c:pt idx="24">
                  <c:v>0.6939</c:v>
                </c:pt>
                <c:pt idx="25">
                  <c:v>0.6889</c:v>
                </c:pt>
                <c:pt idx="26">
                  <c:v>0.6863</c:v>
                </c:pt>
                <c:pt idx="27">
                  <c:v>0.6657</c:v>
                </c:pt>
                <c:pt idx="28">
                  <c:v>0.6532</c:v>
                </c:pt>
                <c:pt idx="29">
                  <c:v>0.6416</c:v>
                </c:pt>
                <c:pt idx="30">
                  <c:v>0.63</c:v>
                </c:pt>
                <c:pt idx="31">
                  <c:v>0.6192</c:v>
                </c:pt>
                <c:pt idx="32">
                  <c:v>0.6076</c:v>
                </c:pt>
                <c:pt idx="33">
                  <c:v>0.5969</c:v>
                </c:pt>
                <c:pt idx="34">
                  <c:v>0.5823</c:v>
                </c:pt>
                <c:pt idx="35">
                  <c:v>0.5825</c:v>
                </c:pt>
                <c:pt idx="36">
                  <c:v>0.5772</c:v>
                </c:pt>
                <c:pt idx="37">
                  <c:v>0.5557</c:v>
                </c:pt>
                <c:pt idx="38">
                  <c:v>0.5468</c:v>
                </c:pt>
                <c:pt idx="39">
                  <c:v>0.5367</c:v>
                </c:pt>
                <c:pt idx="40">
                  <c:v>0.5282</c:v>
                </c:pt>
                <c:pt idx="41">
                  <c:v>0.5184</c:v>
                </c:pt>
                <c:pt idx="42">
                  <c:v>0.5097</c:v>
                </c:pt>
                <c:pt idx="43">
                  <c:v>0.5013</c:v>
                </c:pt>
                <c:pt idx="44">
                  <c:v>0.492</c:v>
                </c:pt>
                <c:pt idx="45">
                  <c:v>0.492</c:v>
                </c:pt>
                <c:pt idx="46">
                  <c:v>0.4875</c:v>
                </c:pt>
                <c:pt idx="47">
                  <c:v>0.4689</c:v>
                </c:pt>
                <c:pt idx="48">
                  <c:v>0.4608</c:v>
                </c:pt>
                <c:pt idx="49">
                  <c:v>0.454</c:v>
                </c:pt>
                <c:pt idx="50">
                  <c:v>0.4467</c:v>
                </c:pt>
                <c:pt idx="51">
                  <c:v>0.4393</c:v>
                </c:pt>
                <c:pt idx="52">
                  <c:v>0.4321</c:v>
                </c:pt>
                <c:pt idx="53">
                  <c:v>0.4253</c:v>
                </c:pt>
                <c:pt idx="54">
                  <c:v>0.4135</c:v>
                </c:pt>
                <c:pt idx="55">
                  <c:v>0.4135</c:v>
                </c:pt>
              </c:numCache>
            </c:numRef>
          </c:val>
        </c:ser>
        <c:ser>
          <c:idx val="1"/>
          <c:order val="1"/>
          <c:tx>
            <c:v>MC T40 400 µs</c:v>
          </c:tx>
          <c:spPr>
            <a:ln xmlns:a="http://schemas.openxmlformats.org/drawingml/2006/main" w="28575">
              <a:solidFill>
                <a:srgbClr val="1570EF"/>
              </a:solidFill>
            </a:ln>
          </c:spPr>
          <c:marker>
            <c:symbol val="none"/>
          </c:marker>
          <c:cat>
            <c:numRef>
              <c:f>'Chart Data'!$C$2:$C$57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Data'!$D$2:$D$57</c:f>
              <c:numCache>
                <c:formatCode>0%</c:formatCode>
                <c:ptCount val="56"/>
                <c:pt idx="0">
                  <c:v>0.9453125</c:v>
                </c:pt>
                <c:pt idx="1">
                  <c:v>0.943359375</c:v>
                </c:pt>
                <c:pt idx="2">
                  <c:v>0.923828125</c:v>
                </c:pt>
                <c:pt idx="3">
                  <c:v>0.923828125</c:v>
                </c:pt>
                <c:pt idx="4">
                  <c:v>0.91015625</c:v>
                </c:pt>
                <c:pt idx="5">
                  <c:v>0.904296875</c:v>
                </c:pt>
                <c:pt idx="6">
                  <c:v>0.8828125</c:v>
                </c:pt>
                <c:pt idx="7">
                  <c:v>0.8828125</c:v>
                </c:pt>
                <c:pt idx="8">
                  <c:v>0.85546875</c:v>
                </c:pt>
                <c:pt idx="9">
                  <c:v>0.85546875</c:v>
                </c:pt>
                <c:pt idx="10">
                  <c:v>0.83203125</c:v>
                </c:pt>
                <c:pt idx="11">
                  <c:v>0.830078125</c:v>
                </c:pt>
                <c:pt idx="12">
                  <c:v>0.8046875</c:v>
                </c:pt>
                <c:pt idx="13">
                  <c:v>0.802734375</c:v>
                </c:pt>
                <c:pt idx="14">
                  <c:v>0.787109375</c:v>
                </c:pt>
                <c:pt idx="15">
                  <c:v>0.787109375</c:v>
                </c:pt>
                <c:pt idx="16">
                  <c:v>0.77734375</c:v>
                </c:pt>
                <c:pt idx="17">
                  <c:v>0.77734375</c:v>
                </c:pt>
                <c:pt idx="18">
                  <c:v>0.76171875</c:v>
                </c:pt>
                <c:pt idx="19">
                  <c:v>0.759765625</c:v>
                </c:pt>
                <c:pt idx="20">
                  <c:v>0.751953125</c:v>
                </c:pt>
                <c:pt idx="21">
                  <c:v>0.751953125</c:v>
                </c:pt>
                <c:pt idx="22">
                  <c:v>0.728515625</c:v>
                </c:pt>
                <c:pt idx="23">
                  <c:v>0.728515625</c:v>
                </c:pt>
                <c:pt idx="24">
                  <c:v>0.72265625</c:v>
                </c:pt>
                <c:pt idx="25">
                  <c:v>0.720703125</c:v>
                </c:pt>
                <c:pt idx="26">
                  <c:v>0.712890625</c:v>
                </c:pt>
                <c:pt idx="27">
                  <c:v>0.712890625</c:v>
                </c:pt>
                <c:pt idx="28">
                  <c:v>0.701171875</c:v>
                </c:pt>
                <c:pt idx="29">
                  <c:v>0.701171875</c:v>
                </c:pt>
                <c:pt idx="30">
                  <c:v>0.6796875</c:v>
                </c:pt>
                <c:pt idx="31">
                  <c:v>0.67578125</c:v>
                </c:pt>
                <c:pt idx="32">
                  <c:v>0.666015625</c:v>
                </c:pt>
                <c:pt idx="33">
                  <c:v>0.6640625</c:v>
                </c:pt>
                <c:pt idx="34">
                  <c:v>0.646484375</c:v>
                </c:pt>
                <c:pt idx="35">
                  <c:v>0.64453125</c:v>
                </c:pt>
                <c:pt idx="36">
                  <c:v>0.62890625</c:v>
                </c:pt>
                <c:pt idx="37">
                  <c:v>0.62890625</c:v>
                </c:pt>
                <c:pt idx="38">
                  <c:v>0.61328125</c:v>
                </c:pt>
                <c:pt idx="39">
                  <c:v>0.61328125</c:v>
                </c:pt>
                <c:pt idx="40">
                  <c:v>0.607421875</c:v>
                </c:pt>
                <c:pt idx="41">
                  <c:v>0.607421875</c:v>
                </c:pt>
                <c:pt idx="42">
                  <c:v>0.603515625</c:v>
                </c:pt>
                <c:pt idx="43">
                  <c:v>0.599609375</c:v>
                </c:pt>
                <c:pt idx="44">
                  <c:v>0.591796875</c:v>
                </c:pt>
                <c:pt idx="45">
                  <c:v>0.58984375</c:v>
                </c:pt>
                <c:pt idx="46">
                  <c:v>0.572265625</c:v>
                </c:pt>
                <c:pt idx="47">
                  <c:v>0.568359375</c:v>
                </c:pt>
                <c:pt idx="48">
                  <c:v>0.5546875</c:v>
                </c:pt>
                <c:pt idx="49">
                  <c:v>0.5546875</c:v>
                </c:pt>
                <c:pt idx="50">
                  <c:v>0.548828125</c:v>
                </c:pt>
                <c:pt idx="51">
                  <c:v>0.546875</c:v>
                </c:pt>
                <c:pt idx="52">
                  <c:v>0.5390625</c:v>
                </c:pt>
                <c:pt idx="53">
                  <c:v>0.5390625</c:v>
                </c:pt>
                <c:pt idx="54">
                  <c:v>0.525390625</c:v>
                </c:pt>
                <c:pt idx="55">
                  <c:v>0.525390625</c:v>
                </c:pt>
              </c:numCache>
            </c:numRef>
          </c:val>
        </c:ser>
        <c:ser>
          <c:idx val="2"/>
          <c:order val="2"/>
          <c:tx>
            <c:v>Paper 600 µs</c:v>
          </c:tx>
          <c:spPr>
            <a:ln xmlns:a="http://schemas.openxmlformats.org/drawingml/2006/main" w="19050">
              <a:solidFill>
                <a:srgbClr val="344054"/>
              </a:solidFill>
            </a:ln>
          </c:spPr>
          <c:marker>
            <c:symbol val="none"/>
          </c:marker>
          <c:cat>
            <c:numRef>
              <c:f>'Chart Data'!$E$2:$E$57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Data'!$F$2:$F$57</c:f>
              <c:numCache>
                <c:formatCode>0%</c:formatCode>
                <c:ptCount val="56"/>
                <c:pt idx="0">
                  <c:v>0.9706</c:v>
                </c:pt>
                <c:pt idx="1">
                  <c:v>0.9719</c:v>
                </c:pt>
                <c:pt idx="2">
                  <c:v>0.9699</c:v>
                </c:pt>
                <c:pt idx="3">
                  <c:v>0.9682</c:v>
                </c:pt>
                <c:pt idx="4">
                  <c:v>0.9664</c:v>
                </c:pt>
                <c:pt idx="5">
                  <c:v>0.9637</c:v>
                </c:pt>
                <c:pt idx="6">
                  <c:v>0.9474</c:v>
                </c:pt>
                <c:pt idx="7">
                  <c:v>0.9259</c:v>
                </c:pt>
                <c:pt idx="8">
                  <c:v>0.9471</c:v>
                </c:pt>
                <c:pt idx="9">
                  <c:v>0.9511</c:v>
                </c:pt>
                <c:pt idx="10">
                  <c:v>0.9339</c:v>
                </c:pt>
                <c:pt idx="11">
                  <c:v>0.9139</c:v>
                </c:pt>
                <c:pt idx="12">
                  <c:v>0.9331</c:v>
                </c:pt>
                <c:pt idx="13">
                  <c:v>0.9296</c:v>
                </c:pt>
                <c:pt idx="14">
                  <c:v>0.9093</c:v>
                </c:pt>
                <c:pt idx="15">
                  <c:v>0.8886</c:v>
                </c:pt>
                <c:pt idx="16">
                  <c:v>0.9078</c:v>
                </c:pt>
                <c:pt idx="17">
                  <c:v>0.8958</c:v>
                </c:pt>
                <c:pt idx="18">
                  <c:v>0.8861</c:v>
                </c:pt>
                <c:pt idx="19">
                  <c:v>0.8776</c:v>
                </c:pt>
                <c:pt idx="20">
                  <c:v>0.8677</c:v>
                </c:pt>
                <c:pt idx="21">
                  <c:v>0.8581</c:v>
                </c:pt>
                <c:pt idx="22">
                  <c:v>0.8489</c:v>
                </c:pt>
                <c:pt idx="23">
                  <c:v>0.8388</c:v>
                </c:pt>
                <c:pt idx="24">
                  <c:v>0.8188</c:v>
                </c:pt>
                <c:pt idx="25">
                  <c:v>0.8152</c:v>
                </c:pt>
                <c:pt idx="26">
                  <c:v>0.8152</c:v>
                </c:pt>
                <c:pt idx="27">
                  <c:v>0.8014</c:v>
                </c:pt>
                <c:pt idx="28">
                  <c:v>0.7916</c:v>
                </c:pt>
                <c:pt idx="29">
                  <c:v>0.7817</c:v>
                </c:pt>
                <c:pt idx="30">
                  <c:v>0.7723</c:v>
                </c:pt>
                <c:pt idx="31">
                  <c:v>0.7629</c:v>
                </c:pt>
                <c:pt idx="32">
                  <c:v>0.7528</c:v>
                </c:pt>
                <c:pt idx="33">
                  <c:v>0.7437</c:v>
                </c:pt>
                <c:pt idx="34">
                  <c:v>0.727</c:v>
                </c:pt>
                <c:pt idx="35">
                  <c:v>0.7259</c:v>
                </c:pt>
                <c:pt idx="36">
                  <c:v>0.7249</c:v>
                </c:pt>
                <c:pt idx="37">
                  <c:v>0.7082</c:v>
                </c:pt>
                <c:pt idx="38">
                  <c:v>0.6991</c:v>
                </c:pt>
                <c:pt idx="39">
                  <c:v>0.6909</c:v>
                </c:pt>
                <c:pt idx="40">
                  <c:v>0.6826</c:v>
                </c:pt>
                <c:pt idx="41">
                  <c:v>0.6744</c:v>
                </c:pt>
                <c:pt idx="42">
                  <c:v>0.6662</c:v>
                </c:pt>
                <c:pt idx="43">
                  <c:v>0.6582</c:v>
                </c:pt>
                <c:pt idx="44">
                  <c:v>0.6498</c:v>
                </c:pt>
                <c:pt idx="45">
                  <c:v>0.6498</c:v>
                </c:pt>
                <c:pt idx="46">
                  <c:v>0.6459</c:v>
                </c:pt>
                <c:pt idx="47">
                  <c:v>0.6275</c:v>
                </c:pt>
                <c:pt idx="48">
                  <c:v>0.6203</c:v>
                </c:pt>
                <c:pt idx="49">
                  <c:v>0.6135</c:v>
                </c:pt>
                <c:pt idx="50">
                  <c:v>0.6062</c:v>
                </c:pt>
                <c:pt idx="51">
                  <c:v>0.5996</c:v>
                </c:pt>
                <c:pt idx="52">
                  <c:v>0.5929</c:v>
                </c:pt>
                <c:pt idx="53">
                  <c:v>0.5857</c:v>
                </c:pt>
                <c:pt idx="54">
                  <c:v>0.5732</c:v>
                </c:pt>
                <c:pt idx="55">
                  <c:v>0.5726</c:v>
                </c:pt>
              </c:numCache>
            </c:numRef>
          </c:val>
        </c:ser>
        <c:ser>
          <c:idx val="3"/>
          <c:order val="3"/>
          <c:tx>
            <c:v>MC T40 600 µs</c:v>
          </c:tx>
          <c:spPr>
            <a:ln xmlns:a="http://schemas.openxmlformats.org/drawingml/2006/main" w="28575">
              <a:solidFill>
                <a:srgbClr val="0E9384"/>
              </a:solidFill>
            </a:ln>
          </c:spPr>
          <c:marker>
            <c:symbol val="none"/>
          </c:marker>
          <c:cat>
            <c:numRef>
              <c:f>'Chart Data'!$G$2:$G$57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Data'!$H$2:$H$57</c:f>
              <c:numCache>
                <c:formatCode>0%</c:formatCode>
                <c:ptCount val="56"/>
                <c:pt idx="0">
                  <c:v>0.94921875</c:v>
                </c:pt>
                <c:pt idx="1">
                  <c:v>0.94921875</c:v>
                </c:pt>
                <c:pt idx="2">
                  <c:v>0.93359375</c:v>
                </c:pt>
                <c:pt idx="3">
                  <c:v>0.93359375</c:v>
                </c:pt>
                <c:pt idx="4">
                  <c:v>0.92578125</c:v>
                </c:pt>
                <c:pt idx="5">
                  <c:v>0.92578125</c:v>
                </c:pt>
                <c:pt idx="6">
                  <c:v>0.91796875</c:v>
                </c:pt>
                <c:pt idx="7">
                  <c:v>0.91796875</c:v>
                </c:pt>
                <c:pt idx="8">
                  <c:v>0.90625</c:v>
                </c:pt>
                <c:pt idx="9">
                  <c:v>0.90625</c:v>
                </c:pt>
                <c:pt idx="10">
                  <c:v>0.896484375</c:v>
                </c:pt>
                <c:pt idx="11">
                  <c:v>0.896484375</c:v>
                </c:pt>
                <c:pt idx="12">
                  <c:v>0.890625</c:v>
                </c:pt>
                <c:pt idx="13">
                  <c:v>0.890625</c:v>
                </c:pt>
                <c:pt idx="14">
                  <c:v>0.88671875</c:v>
                </c:pt>
                <c:pt idx="15">
                  <c:v>0.884765625</c:v>
                </c:pt>
                <c:pt idx="16">
                  <c:v>0.876953125</c:v>
                </c:pt>
                <c:pt idx="17">
                  <c:v>0.876953125</c:v>
                </c:pt>
                <c:pt idx="18">
                  <c:v>0.87109375</c:v>
                </c:pt>
                <c:pt idx="19">
                  <c:v>0.87109375</c:v>
                </c:pt>
                <c:pt idx="20">
                  <c:v>0.857421875</c:v>
                </c:pt>
                <c:pt idx="21">
                  <c:v>0.857421875</c:v>
                </c:pt>
                <c:pt idx="22">
                  <c:v>0.841796875</c:v>
                </c:pt>
                <c:pt idx="23">
                  <c:v>0.841796875</c:v>
                </c:pt>
                <c:pt idx="24">
                  <c:v>0.837890625</c:v>
                </c:pt>
                <c:pt idx="25">
                  <c:v>0.837890625</c:v>
                </c:pt>
                <c:pt idx="26">
                  <c:v>0.826171875</c:v>
                </c:pt>
                <c:pt idx="27">
                  <c:v>0.82421875</c:v>
                </c:pt>
                <c:pt idx="28">
                  <c:v>0.814453125</c:v>
                </c:pt>
                <c:pt idx="29">
                  <c:v>0.814453125</c:v>
                </c:pt>
                <c:pt idx="30">
                  <c:v>0.806640625</c:v>
                </c:pt>
                <c:pt idx="31">
                  <c:v>0.806640625</c:v>
                </c:pt>
                <c:pt idx="32">
                  <c:v>0.80078125</c:v>
                </c:pt>
                <c:pt idx="33">
                  <c:v>0.80078125</c:v>
                </c:pt>
                <c:pt idx="34">
                  <c:v>0.794921875</c:v>
                </c:pt>
                <c:pt idx="35">
                  <c:v>0.794921875</c:v>
                </c:pt>
                <c:pt idx="36">
                  <c:v>0.783203125</c:v>
                </c:pt>
                <c:pt idx="37">
                  <c:v>0.783203125</c:v>
                </c:pt>
                <c:pt idx="38">
                  <c:v>0.7734375</c:v>
                </c:pt>
                <c:pt idx="39">
                  <c:v>0.7734375</c:v>
                </c:pt>
                <c:pt idx="40">
                  <c:v>0.76171875</c:v>
                </c:pt>
                <c:pt idx="41">
                  <c:v>0.759765625</c:v>
                </c:pt>
                <c:pt idx="42">
                  <c:v>0.744140625</c:v>
                </c:pt>
                <c:pt idx="43">
                  <c:v>0.744140625</c:v>
                </c:pt>
                <c:pt idx="44">
                  <c:v>0.73828125</c:v>
                </c:pt>
                <c:pt idx="45">
                  <c:v>0.73828125</c:v>
                </c:pt>
                <c:pt idx="46">
                  <c:v>0.734375</c:v>
                </c:pt>
                <c:pt idx="47">
                  <c:v>0.732421875</c:v>
                </c:pt>
                <c:pt idx="48">
                  <c:v>0.73046875</c:v>
                </c:pt>
                <c:pt idx="49">
                  <c:v>0.73046875</c:v>
                </c:pt>
                <c:pt idx="50">
                  <c:v>0.720703125</c:v>
                </c:pt>
                <c:pt idx="51">
                  <c:v>0.720703125</c:v>
                </c:pt>
                <c:pt idx="52">
                  <c:v>0.703125</c:v>
                </c:pt>
                <c:pt idx="53">
                  <c:v>0.701171875</c:v>
                </c:pt>
                <c:pt idx="54">
                  <c:v>0.68359375</c:v>
                </c:pt>
                <c:pt idx="55">
                  <c:v>0.68359375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One-way transfers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Survival</a:t>
                </a:r>
              </a:p>
            </c:rich>
          </c:tx>
          <c:overlay val="0"/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8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Manual 400 µs</c:v>
          </c:tx>
          <c:spPr>
            <a:solidFill xmlns:a="http://schemas.openxmlformats.org/drawingml/2006/main">
              <a:srgbClr val="98A2B3"/>
            </a:solidFill>
          </c:spPr>
          <c:cat>
            <c:strRef>
              <c:f>'Chart Data'!$A$2:$A$3</c:f>
              <c:strCache>
                <c:ptCount val="2"/>
                <c:pt idx="0">
                  <c:v>Paper</c:v>
                </c:pt>
                <c:pt idx="1">
                  <c:v>MC T40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0.4135</c:v>
                </c:pt>
                <c:pt idx="1">
                  <c:v>0.52734375</c:v>
                </c:pt>
              </c:numCache>
            </c:numRef>
          </c:val>
        </c:ser>
        <c:ser>
          <c:idx val="1"/>
          <c:order val="1"/>
          <c:tx>
            <c:v>Fig. 6c ML 400 µs</c:v>
          </c:tx>
          <c:spPr>
            <a:solidFill xmlns:a="http://schemas.openxmlformats.org/drawingml/2006/main">
              <a:srgbClr val="0E9384"/>
            </a:solidFill>
          </c:spPr>
          <c:cat>
            <c:strRef>
              <c:f>'Chart Data'!$C$2:$C$3</c:f>
              <c:strCache>
                <c:ptCount val="2"/>
                <c:pt idx="0">
                  <c:v>Paper</c:v>
                </c:pt>
                <c:pt idx="1">
                  <c:v>MC T40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0.6633</c:v>
                </c:pt>
                <c:pt idx="1">
                  <c:v>0.7578125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344054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S(60)</a:t>
                </a:r>
              </a:p>
            </c:rich>
          </c:tx>
          <c:overlay val="0"/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8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Manual position</c:v>
          </c:tx>
          <c:spPr>
            <a:ln xmlns:a="http://schemas.openxmlformats.org/drawingml/2006/main" w="28575">
              <a:solidFill>
                <a:srgbClr val="475467"/>
              </a:solidFill>
            </a:ln>
          </c:spPr>
          <c:marker>
            <c:symbol val="none"/>
          </c:marker>
          <c:cat>
            <c:numRef>
              <c:f>'Chart Data'!$A$2:$A$16</c:f>
              <c:numCache>
                <c:formatCode>General</c:formatCode>
                <c:ptCount val="15"/>
                <c:pt idx="0">
                  <c:v>0</c:v>
                </c:pt>
                <c:pt idx="1">
                  <c:v>29</c:v>
                </c:pt>
                <c:pt idx="2">
                  <c:v>57</c:v>
                </c:pt>
                <c:pt idx="3">
                  <c:v>86</c:v>
                </c:pt>
                <c:pt idx="4">
                  <c:v>114</c:v>
                </c:pt>
                <c:pt idx="5">
                  <c:v>143</c:v>
                </c:pt>
                <c:pt idx="6">
                  <c:v>171</c:v>
                </c:pt>
                <c:pt idx="7">
                  <c:v>200</c:v>
                </c:pt>
                <c:pt idx="8">
                  <c:v>229</c:v>
                </c:pt>
                <c:pt idx="9">
                  <c:v>257</c:v>
                </c:pt>
                <c:pt idx="10">
                  <c:v>286</c:v>
                </c:pt>
                <c:pt idx="11">
                  <c:v>314</c:v>
                </c:pt>
                <c:pt idx="12">
                  <c:v>343</c:v>
                </c:pt>
                <c:pt idx="13">
                  <c:v>371</c:v>
                </c:pt>
                <c:pt idx="14">
                  <c:v>400</c:v>
                </c:pt>
              </c:numCache>
            </c:numRef>
          </c:cat>
          <c:val>
            <c:numRef>
              <c:f>'Chart Data'!$B$2:$B$16</c:f>
              <c:numCache>
                <c:formatCode>0.0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0.000728265817023</c:v>
                </c:pt>
                <c:pt idx="8">
                  <c:v>0.0695738025988</c:v>
                </c:pt>
                <c:pt idx="9">
                  <c:v>0.386747897679</c:v>
                </c:pt>
                <c:pt idx="10">
                  <c:v>0.964185192895</c:v>
                </c:pt>
                <c:pt idx="11">
                  <c:v>1.61328129666</c:v>
                </c:pt>
                <c:pt idx="12">
                  <c:v>2.13498396302</c:v>
                </c:pt>
                <c:pt idx="13">
                  <c:v>2.36682462568</c:v>
                </c:pt>
                <c:pt idx="14">
                  <c:v>2.4</c:v>
                </c:pt>
              </c:numCache>
            </c:numRef>
          </c:val>
        </c:ser>
        <c:ser>
          <c:idx val="1"/>
          <c:order val="1"/>
          <c:tx>
            <c:v>Fig. 6c ML position</c:v>
          </c:tx>
          <c:spPr>
            <a:ln xmlns:a="http://schemas.openxmlformats.org/drawingml/2006/main" w="28575">
              <a:solidFill>
                <a:srgbClr val="0E938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0E9384"/>
              </a:solidFill>
            </c:spPr>
          </c:marker>
          <c:cat>
            <c:numRef>
              <c:f>'Chart Data'!$C$2:$C$16</c:f>
              <c:numCache>
                <c:formatCode>General</c:formatCode>
                <c:ptCount val="15"/>
                <c:pt idx="0">
                  <c:v>0</c:v>
                </c:pt>
                <c:pt idx="1">
                  <c:v>29</c:v>
                </c:pt>
                <c:pt idx="2">
                  <c:v>57</c:v>
                </c:pt>
                <c:pt idx="3">
                  <c:v>86</c:v>
                </c:pt>
                <c:pt idx="4">
                  <c:v>114</c:v>
                </c:pt>
                <c:pt idx="5">
                  <c:v>143</c:v>
                </c:pt>
                <c:pt idx="6">
                  <c:v>171</c:v>
                </c:pt>
                <c:pt idx="7">
                  <c:v>200</c:v>
                </c:pt>
                <c:pt idx="8">
                  <c:v>229</c:v>
                </c:pt>
                <c:pt idx="9">
                  <c:v>257</c:v>
                </c:pt>
                <c:pt idx="10">
                  <c:v>286</c:v>
                </c:pt>
                <c:pt idx="11">
                  <c:v>314</c:v>
                </c:pt>
                <c:pt idx="12">
                  <c:v>343</c:v>
                </c:pt>
                <c:pt idx="13">
                  <c:v>371</c:v>
                </c:pt>
                <c:pt idx="14">
                  <c:v>400</c:v>
                </c:pt>
              </c:numCache>
            </c:numRef>
          </c:cat>
          <c:val>
            <c:numRef>
              <c:f>'Chart Data'!$D$2:$D$16</c:f>
              <c:numCache>
                <c:formatCode>0.0</c:formatCode>
                <c:ptCount val="15"/>
                <c:pt idx="0">
                  <c:v>0.00413555622832</c:v>
                </c:pt>
                <c:pt idx="1">
                  <c:v>0.0419971063815</c:v>
                </c:pt>
                <c:pt idx="2">
                  <c:v>0.111132648305</c:v>
                </c:pt>
                <c:pt idx="3">
                  <c:v>0.112744730658</c:v>
                </c:pt>
                <c:pt idx="4">
                  <c:v>0.112164973556</c:v>
                </c:pt>
                <c:pt idx="5">
                  <c:v>0.188751715328</c:v>
                </c:pt>
                <c:pt idx="6">
                  <c:v>0.3203341165</c:v>
                </c:pt>
                <c:pt idx="7">
                  <c:v>0.495750877979</c:v>
                </c:pt>
                <c:pt idx="8">
                  <c:v>0.697274505876</c:v>
                </c:pt>
                <c:pt idx="9">
                  <c:v>0.947967362687</c:v>
                </c:pt>
                <c:pt idx="10">
                  <c:v>1.24095377898</c:v>
                </c:pt>
                <c:pt idx="11">
                  <c:v>1.54418662097</c:v>
                </c:pt>
                <c:pt idx="12">
                  <c:v>1.85643053763</c:v>
                </c:pt>
                <c:pt idx="13">
                  <c:v>2.2099389317</c:v>
                </c:pt>
                <c:pt idx="14">
                  <c:v>2.40425070917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Time (µs)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Position (µm)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8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Manual depth</c:v>
          </c:tx>
          <c:spPr>
            <a:ln xmlns:a="http://schemas.openxmlformats.org/drawingml/2006/main" w="28575">
              <a:solidFill>
                <a:srgbClr val="475467"/>
              </a:solidFill>
            </a:ln>
          </c:spPr>
          <c:marker>
            <c:symbol val="none"/>
          </c:marker>
          <c:cat>
            <c:numRef>
              <c:f>'Chart Data'!$A$2:$A$16</c:f>
              <c:numCache>
                <c:formatCode>General</c:formatCode>
                <c:ptCount val="15"/>
                <c:pt idx="0">
                  <c:v>0</c:v>
                </c:pt>
                <c:pt idx="1">
                  <c:v>29</c:v>
                </c:pt>
                <c:pt idx="2">
                  <c:v>57</c:v>
                </c:pt>
                <c:pt idx="3">
                  <c:v>86</c:v>
                </c:pt>
                <c:pt idx="4">
                  <c:v>114</c:v>
                </c:pt>
                <c:pt idx="5">
                  <c:v>143</c:v>
                </c:pt>
                <c:pt idx="6">
                  <c:v>171</c:v>
                </c:pt>
                <c:pt idx="7">
                  <c:v>200</c:v>
                </c:pt>
                <c:pt idx="8">
                  <c:v>229</c:v>
                </c:pt>
                <c:pt idx="9">
                  <c:v>257</c:v>
                </c:pt>
                <c:pt idx="10">
                  <c:v>286</c:v>
                </c:pt>
                <c:pt idx="11">
                  <c:v>314</c:v>
                </c:pt>
                <c:pt idx="12">
                  <c:v>343</c:v>
                </c:pt>
                <c:pt idx="13">
                  <c:v>371</c:v>
                </c:pt>
                <c:pt idx="14">
                  <c:v>400</c:v>
                </c:pt>
              </c:numCache>
            </c:numRef>
          </c:cat>
          <c:val>
            <c:numRef>
              <c:f>'Chart Data'!$B$2:$B$16</c:f>
              <c:numCache>
                <c:formatCode>0.00</c:formatCode>
                <c:ptCount val="15"/>
                <c:pt idx="0">
                  <c:v>0</c:v>
                </c:pt>
                <c:pt idx="1">
                  <c:v>0.00620039682538</c:v>
                </c:pt>
                <c:pt idx="2">
                  <c:v>0.0248015873016</c:v>
                </c:pt>
                <c:pt idx="3">
                  <c:v>0.0558035714286</c:v>
                </c:pt>
                <c:pt idx="4">
                  <c:v>0.0992063492068</c:v>
                </c:pt>
                <c:pt idx="5">
                  <c:v>0.155009920635</c:v>
                </c:pt>
                <c:pt idx="6">
                  <c:v>0.223214285715</c:v>
                </c:pt>
                <c:pt idx="7">
                  <c:v>0.28</c:v>
                </c:pt>
                <c:pt idx="8">
                  <c:v>0.28</c:v>
                </c:pt>
                <c:pt idx="9">
                  <c:v>0.28</c:v>
                </c:pt>
                <c:pt idx="10">
                  <c:v>0.28</c:v>
                </c:pt>
                <c:pt idx="11">
                  <c:v>0.28</c:v>
                </c:pt>
                <c:pt idx="12">
                  <c:v>0.28</c:v>
                </c:pt>
                <c:pt idx="13">
                  <c:v>0.28</c:v>
                </c:pt>
                <c:pt idx="14">
                  <c:v>0.28</c:v>
                </c:pt>
              </c:numCache>
            </c:numRef>
          </c:val>
        </c:ser>
        <c:ser>
          <c:idx val="1"/>
          <c:order val="1"/>
          <c:tx>
            <c:v>Fig. 6c ML depth</c:v>
          </c:tx>
          <c:spPr>
            <a:ln xmlns:a="http://schemas.openxmlformats.org/drawingml/2006/main" w="28575">
              <a:solidFill>
                <a:srgbClr val="0BA5EC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0BA5EC"/>
              </a:solidFill>
            </c:spPr>
          </c:marker>
          <c:cat>
            <c:numRef>
              <c:f>'Chart Data'!$C$2:$C$16</c:f>
              <c:numCache>
                <c:formatCode>General</c:formatCode>
                <c:ptCount val="15"/>
                <c:pt idx="0">
                  <c:v>0</c:v>
                </c:pt>
                <c:pt idx="1">
                  <c:v>29</c:v>
                </c:pt>
                <c:pt idx="2">
                  <c:v>57</c:v>
                </c:pt>
                <c:pt idx="3">
                  <c:v>86</c:v>
                </c:pt>
                <c:pt idx="4">
                  <c:v>114</c:v>
                </c:pt>
                <c:pt idx="5">
                  <c:v>143</c:v>
                </c:pt>
                <c:pt idx="6">
                  <c:v>171</c:v>
                </c:pt>
                <c:pt idx="7">
                  <c:v>200</c:v>
                </c:pt>
                <c:pt idx="8">
                  <c:v>229</c:v>
                </c:pt>
                <c:pt idx="9">
                  <c:v>257</c:v>
                </c:pt>
                <c:pt idx="10">
                  <c:v>286</c:v>
                </c:pt>
                <c:pt idx="11">
                  <c:v>314</c:v>
                </c:pt>
                <c:pt idx="12">
                  <c:v>343</c:v>
                </c:pt>
                <c:pt idx="13">
                  <c:v>371</c:v>
                </c:pt>
                <c:pt idx="14">
                  <c:v>400</c:v>
                </c:pt>
              </c:numCache>
            </c:numRef>
          </c:cat>
          <c:val>
            <c:numRef>
              <c:f>'Chart Data'!$D$2:$D$16</c:f>
              <c:numCache>
                <c:formatCode>0.00</c:formatCode>
                <c:ptCount val="15"/>
                <c:pt idx="0">
                  <c:v>0.000499713044256</c:v>
                </c:pt>
                <c:pt idx="1">
                  <c:v>0.00414644376358</c:v>
                </c:pt>
                <c:pt idx="2">
                  <c:v>0.0106480724655</c:v>
                </c:pt>
                <c:pt idx="3">
                  <c:v>0.0190312328974</c:v>
                </c:pt>
                <c:pt idx="4">
                  <c:v>0.0379906963848</c:v>
                </c:pt>
                <c:pt idx="5">
                  <c:v>0.076288963437</c:v>
                </c:pt>
                <c:pt idx="6">
                  <c:v>0.134921041123</c:v>
                </c:pt>
                <c:pt idx="7">
                  <c:v>0.212284107178</c:v>
                </c:pt>
                <c:pt idx="8">
                  <c:v>0.268490549952</c:v>
                </c:pt>
                <c:pt idx="9">
                  <c:v>0.280469653025</c:v>
                </c:pt>
                <c:pt idx="10">
                  <c:v>0.280598817921</c:v>
                </c:pt>
                <c:pt idx="11">
                  <c:v>0.28052501195</c:v>
                </c:pt>
                <c:pt idx="12">
                  <c:v>0.280516692702</c:v>
                </c:pt>
                <c:pt idx="13">
                  <c:v>0.280516692702</c:v>
                </c:pt>
                <c:pt idx="14">
                  <c:v>0.280516692702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Time (µs)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3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Depth (mK)</a:t>
                </a:r>
              </a:p>
            </c:rich>
          </c:tx>
          <c:overlay val="0"/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8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S(60)</c:v>
          </c:tx>
          <c:spPr>
            <a:solidFill xmlns:a="http://schemas.openxmlformats.org/drawingml/2006/main">
              <a:srgbClr val="1570E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8A2B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66708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BA5EC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E9384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Dman / Pman</c:v>
                </c:pt>
                <c:pt idx="1">
                  <c:v>DML / Pman</c:v>
                </c:pt>
                <c:pt idx="2">
                  <c:v>Dman / PML</c:v>
                </c:pt>
                <c:pt idx="3">
                  <c:v>DML / PML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0.5254</c:v>
                </c:pt>
                <c:pt idx="1">
                  <c:v>0.5293</c:v>
                </c:pt>
                <c:pt idx="2">
                  <c:v>0.8086</c:v>
                </c:pt>
                <c:pt idx="3">
                  <c:v>0.8047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344054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S(60)</a:t>
                </a:r>
              </a:p>
            </c:rich>
          </c:tx>
          <c:overlay val="0"/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Manual 200 error</c:v>
          </c:tx>
          <c:spPr>
            <a:ln xmlns:a="http://schemas.openxmlformats.org/drawingml/2006/main" w="28575">
              <a:solidFill>
                <a:srgbClr val="D92D20"/>
              </a:solidFill>
            </a:ln>
          </c:spPr>
          <c:marker>
            <c:symbol val="none"/>
          </c:marker>
          <c:cat>
            <c:numRef>
              <c:f>'Chart Data'!$A$2:$A$28</c:f>
              <c:numCache>
                <c:formatCode>General</c:formatCode>
                <c:ptCount val="27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</c:numCache>
            </c:numRef>
          </c:cat>
          <c:val>
            <c:numRef>
              <c:f>'Chart Data'!$B$2:$B$28</c:f>
              <c:numCache>
                <c:formatCode>0%</c:formatCode>
                <c:ptCount val="27"/>
                <c:pt idx="0">
                  <c:v>-0.13203125</c:v>
                </c:pt>
                <c:pt idx="1">
                  <c:v>-0.1349875</c:v>
                </c:pt>
                <c:pt idx="2">
                  <c:v>-0.135696875</c:v>
                </c:pt>
                <c:pt idx="3">
                  <c:v>-0.154840625</c:v>
                </c:pt>
                <c:pt idx="4">
                  <c:v>-0.1996625</c:v>
                </c:pt>
                <c:pt idx="5">
                  <c:v>-0.14760625</c:v>
                </c:pt>
                <c:pt idx="6">
                  <c:v>-0.151028125</c:v>
                </c:pt>
                <c:pt idx="7">
                  <c:v>-0.167671875</c:v>
                </c:pt>
                <c:pt idx="8">
                  <c:v>-0.188415625</c:v>
                </c:pt>
                <c:pt idx="9">
                  <c:v>-0.151559375</c:v>
                </c:pt>
                <c:pt idx="10">
                  <c:v>-0.146290625</c:v>
                </c:pt>
                <c:pt idx="11">
                  <c:v>-0.166628125</c:v>
                </c:pt>
                <c:pt idx="12">
                  <c:v>-0.207584375</c:v>
                </c:pt>
                <c:pt idx="13">
                  <c:v>-0.137503125</c:v>
                </c:pt>
                <c:pt idx="14">
                  <c:v>-0.14519375</c:v>
                </c:pt>
                <c:pt idx="15">
                  <c:v>-0.162771875</c:v>
                </c:pt>
                <c:pt idx="16">
                  <c:v>-0.176090625</c:v>
                </c:pt>
                <c:pt idx="17">
                  <c:v>-0.116403125</c:v>
                </c:pt>
                <c:pt idx="18">
                  <c:v>-0.10766875</c:v>
                </c:pt>
                <c:pt idx="19">
                  <c:v>-0.096528125</c:v>
                </c:pt>
                <c:pt idx="20">
                  <c:v>-0.1014125</c:v>
                </c:pt>
                <c:pt idx="21">
                  <c:v>-0.1171625</c:v>
                </c:pt>
                <c:pt idx="22">
                  <c:v>-0.104315625</c:v>
                </c:pt>
                <c:pt idx="23">
                  <c:v>-0.095575</c:v>
                </c:pt>
                <c:pt idx="24">
                  <c:v>-0.086040625</c:v>
                </c:pt>
                <c:pt idx="25">
                  <c:v>-0.09480625</c:v>
                </c:pt>
                <c:pt idx="26">
                  <c:v>-0.094165625</c:v>
                </c:pt>
              </c:numCache>
            </c:numRef>
          </c:val>
        </c:ser>
        <c:ser>
          <c:idx val="1"/>
          <c:order val="1"/>
          <c:tx>
            <c:v>Zero</c:v>
          </c:tx>
          <c:spPr>
            <a:ln xmlns:a="http://schemas.openxmlformats.org/drawingml/2006/main" w="9525">
              <a:solidFill>
                <a:srgbClr val="D0D5DD"/>
              </a:solidFill>
            </a:ln>
          </c:spPr>
          <c:marker>
            <c:symbol val="none"/>
          </c:marker>
          <c:cat>
            <c:numRef>
              <c:f>'Chart Data'!$C$2:$C$28</c:f>
              <c:numCache>
                <c:formatCode>General</c:formatCode>
                <c:ptCount val="27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</c:numCache>
            </c:numRef>
          </c:cat>
          <c:val>
            <c:numRef>
              <c:f>'Chart Data'!$D$2:$D$28</c:f>
              <c:numCache>
                <c:formatCode>0%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15"/>
          <c:min val="-0.2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MC − Paper</a:t>
                </a:r>
              </a:p>
            </c:rich>
          </c:tx>
          <c:overlay val="0"/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Manual 400 error</c:v>
          </c:tx>
          <c:spPr>
            <a:ln xmlns:a="http://schemas.openxmlformats.org/drawingml/2006/main" w="28575">
              <a:solidFill>
                <a:srgbClr val="1570EF"/>
              </a:solidFill>
            </a:ln>
          </c:spPr>
          <c:marker>
            <c:symbol val="none"/>
          </c:marker>
          <c:cat>
            <c:numRef>
              <c:f>'Chart Data'!$A$2:$A$57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Data'!$B$2:$B$57</c:f>
              <c:numCache>
                <c:formatCode>0%</c:formatCode>
                <c:ptCount val="56"/>
                <c:pt idx="0">
                  <c:v>-0.0226875</c:v>
                </c:pt>
                <c:pt idx="1">
                  <c:v>-0.021740625</c:v>
                </c:pt>
                <c:pt idx="2">
                  <c:v>-0.029571875</c:v>
                </c:pt>
                <c:pt idx="3">
                  <c:v>-0.008071875</c:v>
                </c:pt>
                <c:pt idx="4">
                  <c:v>-0.04274375</c:v>
                </c:pt>
                <c:pt idx="5">
                  <c:v>-0.040803125</c:v>
                </c:pt>
                <c:pt idx="6">
                  <c:v>-0.0384875</c:v>
                </c:pt>
                <c:pt idx="7">
                  <c:v>-0.0168875</c:v>
                </c:pt>
                <c:pt idx="8">
                  <c:v>-0.06263125</c:v>
                </c:pt>
                <c:pt idx="9">
                  <c:v>-0.04883125</c:v>
                </c:pt>
                <c:pt idx="10">
                  <c:v>-0.04886875</c:v>
                </c:pt>
                <c:pt idx="11">
                  <c:v>-0.040921875</c:v>
                </c:pt>
                <c:pt idx="12">
                  <c:v>-0.0681125</c:v>
                </c:pt>
                <c:pt idx="13">
                  <c:v>-0.050065625</c:v>
                </c:pt>
                <c:pt idx="14">
                  <c:v>-0.042190625</c:v>
                </c:pt>
                <c:pt idx="15">
                  <c:v>-0.036490625</c:v>
                </c:pt>
                <c:pt idx="16">
                  <c:v>-0.04245625</c:v>
                </c:pt>
                <c:pt idx="17">
                  <c:v>-0.02095625</c:v>
                </c:pt>
                <c:pt idx="18">
                  <c:v>-0.02348125</c:v>
                </c:pt>
                <c:pt idx="19">
                  <c:v>-0.011534375</c:v>
                </c:pt>
                <c:pt idx="20">
                  <c:v>-0.005346875</c:v>
                </c:pt>
                <c:pt idx="21">
                  <c:v>0.007753125</c:v>
                </c:pt>
                <c:pt idx="22">
                  <c:v>-0.001984375</c:v>
                </c:pt>
                <c:pt idx="23">
                  <c:v>0.012115625</c:v>
                </c:pt>
                <c:pt idx="24">
                  <c:v>0.02875625</c:v>
                </c:pt>
                <c:pt idx="25">
                  <c:v>0.031803125</c:v>
                </c:pt>
                <c:pt idx="26">
                  <c:v>0.026590625</c:v>
                </c:pt>
                <c:pt idx="27">
                  <c:v>0.047190625</c:v>
                </c:pt>
                <c:pt idx="28">
                  <c:v>0.047971875</c:v>
                </c:pt>
                <c:pt idx="29">
                  <c:v>0.059571875</c:v>
                </c:pt>
                <c:pt idx="30">
                  <c:v>0.0496875</c:v>
                </c:pt>
                <c:pt idx="31">
                  <c:v>0.05658125</c:v>
                </c:pt>
                <c:pt idx="32">
                  <c:v>0.058415625</c:v>
                </c:pt>
                <c:pt idx="33">
                  <c:v>0.0671625</c:v>
                </c:pt>
                <c:pt idx="34">
                  <c:v>0.064184375</c:v>
                </c:pt>
                <c:pt idx="35">
                  <c:v>0.06203125</c:v>
                </c:pt>
                <c:pt idx="36">
                  <c:v>0.05170625</c:v>
                </c:pt>
                <c:pt idx="37">
                  <c:v>0.07320625</c:v>
                </c:pt>
                <c:pt idx="38">
                  <c:v>0.06648125</c:v>
                </c:pt>
                <c:pt idx="39">
                  <c:v>0.07658125</c:v>
                </c:pt>
                <c:pt idx="40">
                  <c:v>0.079221875</c:v>
                </c:pt>
                <c:pt idx="41">
                  <c:v>0.089021875</c:v>
                </c:pt>
                <c:pt idx="42">
                  <c:v>0.093815625</c:v>
                </c:pt>
                <c:pt idx="43">
                  <c:v>0.098309375</c:v>
                </c:pt>
                <c:pt idx="44">
                  <c:v>0.099796875</c:v>
                </c:pt>
                <c:pt idx="45">
                  <c:v>0.09784375</c:v>
                </c:pt>
                <c:pt idx="46">
                  <c:v>0.084765625</c:v>
                </c:pt>
                <c:pt idx="47">
                  <c:v>0.099459375</c:v>
                </c:pt>
                <c:pt idx="48">
                  <c:v>0.0938875</c:v>
                </c:pt>
                <c:pt idx="49">
                  <c:v>0.1006875</c:v>
                </c:pt>
                <c:pt idx="50">
                  <c:v>0.102128125</c:v>
                </c:pt>
                <c:pt idx="51">
                  <c:v>0.107575</c:v>
                </c:pt>
                <c:pt idx="52">
                  <c:v>0.1069625</c:v>
                </c:pt>
                <c:pt idx="53">
                  <c:v>0.1137625</c:v>
                </c:pt>
                <c:pt idx="54">
                  <c:v>0.111890625</c:v>
                </c:pt>
                <c:pt idx="55">
                  <c:v>0.111890625</c:v>
                </c:pt>
              </c:numCache>
            </c:numRef>
          </c:val>
        </c:ser>
        <c:ser>
          <c:idx val="1"/>
          <c:order val="1"/>
          <c:tx>
            <c:v>Manual 600 error</c:v>
          </c:tx>
          <c:spPr>
            <a:ln xmlns:a="http://schemas.openxmlformats.org/drawingml/2006/main" w="28575">
              <a:solidFill>
                <a:srgbClr val="0E9384"/>
              </a:solidFill>
            </a:ln>
          </c:spPr>
          <c:marker>
            <c:symbol val="none"/>
          </c:marker>
          <c:cat>
            <c:numRef>
              <c:f>'Chart Data'!$C$2:$C$57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Data'!$D$2:$D$57</c:f>
              <c:numCache>
                <c:formatCode>0%</c:formatCode>
                <c:ptCount val="56"/>
                <c:pt idx="0">
                  <c:v>-0.02138125</c:v>
                </c:pt>
                <c:pt idx="1">
                  <c:v>-0.02268125</c:v>
                </c:pt>
                <c:pt idx="2">
                  <c:v>-0.03630625</c:v>
                </c:pt>
                <c:pt idx="3">
                  <c:v>-0.03460625</c:v>
                </c:pt>
                <c:pt idx="4">
                  <c:v>-0.04061875</c:v>
                </c:pt>
                <c:pt idx="5">
                  <c:v>-0.03791875</c:v>
                </c:pt>
                <c:pt idx="6">
                  <c:v>-0.02943125</c:v>
                </c:pt>
                <c:pt idx="7">
                  <c:v>-0.00793125</c:v>
                </c:pt>
                <c:pt idx="8">
                  <c:v>-0.04085</c:v>
                </c:pt>
                <c:pt idx="9">
                  <c:v>-0.04485</c:v>
                </c:pt>
                <c:pt idx="10">
                  <c:v>-0.037415625</c:v>
                </c:pt>
                <c:pt idx="11">
                  <c:v>-0.017415625</c:v>
                </c:pt>
                <c:pt idx="12">
                  <c:v>-0.042475</c:v>
                </c:pt>
                <c:pt idx="13">
                  <c:v>-0.038975</c:v>
                </c:pt>
                <c:pt idx="14">
                  <c:v>-0.02258125</c:v>
                </c:pt>
                <c:pt idx="15">
                  <c:v>-0.003834375</c:v>
                </c:pt>
                <c:pt idx="16">
                  <c:v>-0.030846875</c:v>
                </c:pt>
                <c:pt idx="17">
                  <c:v>-0.018846875</c:v>
                </c:pt>
                <c:pt idx="18">
                  <c:v>-0.01500625</c:v>
                </c:pt>
                <c:pt idx="19">
                  <c:v>-0.00650625</c:v>
                </c:pt>
                <c:pt idx="20">
                  <c:v>-0.010278125</c:v>
                </c:pt>
                <c:pt idx="21">
                  <c:v>-0.000678125</c:v>
                </c:pt>
                <c:pt idx="22">
                  <c:v>-0.007103125</c:v>
                </c:pt>
                <c:pt idx="23">
                  <c:v>0.002996875</c:v>
                </c:pt>
                <c:pt idx="24">
                  <c:v>0.019090625</c:v>
                </c:pt>
                <c:pt idx="25">
                  <c:v>0.022690625</c:v>
                </c:pt>
                <c:pt idx="26">
                  <c:v>0.010971875</c:v>
                </c:pt>
                <c:pt idx="27">
                  <c:v>0.02281875</c:v>
                </c:pt>
                <c:pt idx="28">
                  <c:v>0.022853125</c:v>
                </c:pt>
                <c:pt idx="29">
                  <c:v>0.032753125</c:v>
                </c:pt>
                <c:pt idx="30">
                  <c:v>0.034340625</c:v>
                </c:pt>
                <c:pt idx="31">
                  <c:v>0.043740625</c:v>
                </c:pt>
                <c:pt idx="32">
                  <c:v>0.04798125</c:v>
                </c:pt>
                <c:pt idx="33">
                  <c:v>0.05708125</c:v>
                </c:pt>
                <c:pt idx="34">
                  <c:v>0.067921875</c:v>
                </c:pt>
                <c:pt idx="35">
                  <c:v>0.069021875</c:v>
                </c:pt>
                <c:pt idx="36">
                  <c:v>0.058303125</c:v>
                </c:pt>
                <c:pt idx="37">
                  <c:v>0.075003125</c:v>
                </c:pt>
                <c:pt idx="38">
                  <c:v>0.0743375</c:v>
                </c:pt>
                <c:pt idx="39">
                  <c:v>0.0825375</c:v>
                </c:pt>
                <c:pt idx="40">
                  <c:v>0.07911875</c:v>
                </c:pt>
                <c:pt idx="41">
                  <c:v>0.085365625</c:v>
                </c:pt>
                <c:pt idx="42">
                  <c:v>0.077940625</c:v>
                </c:pt>
                <c:pt idx="43">
                  <c:v>0.085940625</c:v>
                </c:pt>
                <c:pt idx="44">
                  <c:v>0.08848125</c:v>
                </c:pt>
                <c:pt idx="45">
                  <c:v>0.08848125</c:v>
                </c:pt>
                <c:pt idx="46">
                  <c:v>0.088475</c:v>
                </c:pt>
                <c:pt idx="47">
                  <c:v>0.104921875</c:v>
                </c:pt>
                <c:pt idx="48">
                  <c:v>0.11016875</c:v>
                </c:pt>
                <c:pt idx="49">
                  <c:v>0.11696875</c:v>
                </c:pt>
                <c:pt idx="50">
                  <c:v>0.114503125</c:v>
                </c:pt>
                <c:pt idx="51">
                  <c:v>0.121103125</c:v>
                </c:pt>
                <c:pt idx="52">
                  <c:v>0.110225</c:v>
                </c:pt>
                <c:pt idx="53">
                  <c:v>0.115471875</c:v>
                </c:pt>
                <c:pt idx="54">
                  <c:v>0.11039375</c:v>
                </c:pt>
                <c:pt idx="55">
                  <c:v>0.11099375</c:v>
                </c:pt>
              </c:numCache>
            </c:numRef>
          </c:val>
        </c:ser>
        <c:ser>
          <c:idx val="2"/>
          <c:order val="2"/>
          <c:tx>
            <c:v>Zero</c:v>
          </c:tx>
          <c:spPr>
            <a:ln xmlns:a="http://schemas.openxmlformats.org/drawingml/2006/main" w="9525">
              <a:solidFill>
                <a:srgbClr val="D0D5DD"/>
              </a:solidFill>
            </a:ln>
          </c:spPr>
          <c:marker>
            <c:symbol val="none"/>
          </c:marker>
          <c:cat>
            <c:numRef>
              <c:f>'Chart Data'!$E$2:$E$57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Data'!$F$2:$F$57</c:f>
              <c:numCache>
                <c:formatCode>0%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15"/>
          <c:min val="-0.2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MC − Paper</a:t>
                </a:r>
              </a:p>
            </c:rich>
          </c:tx>
          <c:overlay val="0"/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8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17713-B708-4FA0-B8F2-6322B7CC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A0EC3-A9E3-483E-BEFB-EA2CDF0C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5EC"/>
          </a:solidFill>
          <a:ln xmlns:a="http://schemas.openxmlformats.org/drawingml/2006/main" w="0">
            <a:solidFill>
              <a:srgbClr val="0BA5E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AF7AD-F867-47F2-97E1-E65053D1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334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Monte Carlo Simulation for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AOD–SLM Atom Transfer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BE166-B624-4882-8737-F3A2D118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9D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9D7F5"/>
                </a:solidFill>
                <a:latin typeface="Microsoft YaHei"/>
                <a:ea typeface="Microsoft YaHei"/>
                <a:cs typeface="Microsoft YaHei"/>
              </a:rPr>
              <a:t>Current Progress and Comparison with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C9B34-64E4-4D1B-97F3-1A4150A0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rPr>
              <a:t>阶段性复盘 · 以当前仓库代码和实际产物为依据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50B23-DA40-426D-8A1D-1CE70FE9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F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8AFC7"/>
                </a:solidFill>
                <a:latin typeface="Microsoft YaHei"/>
                <a:ea typeface="Microsoft YaHei"/>
                <a:cs typeface="Microsoft YaHei"/>
              </a:rPr>
              <a:t>MonteCarloForQC / monte-carlo-for-aodslm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F6F5D-5C5B-4516-B3AD-05ACF2E9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8AF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FC7"/>
                </a:solidFill>
                <a:latin typeface="Microsoft YaHei"/>
                <a:ea typeface="Microsoft YaHei"/>
                <a:cs typeface="Microsoft YaHei"/>
              </a:rPr>
              <a:t>2026-09-08  ·  gpt_level4_5  ·  commit 5e55bb0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C9437-19AC-400F-867F-C234E0DC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2455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rPr>
              <a:t>Fig. 6c / 6d</a:t>
            </a:r>
          </a:p>
        </p:txBody>
      </p:sp>
    </p:spTree>
    <p:extLst>
      <p:ext uri="{BB962C8B-B14F-4D97-AF65-F5344CB8AC3E}">
        <p14:creationId xmlns:p14="http://schemas.microsoft.com/office/powerpoint/2010/main" val="13650493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B5FA08-899B-4477-B984-7E453F73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复现目标是重复单程转移的原子存活率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808B5-72E1-48DB-AF8E-3026F21E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B405F-F6C8-48AF-8504-B5925663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论文 Fig. 6d 顶图；不要与 IRB fidelity 混用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DF35B-90AF-42D3-A7C2-BFEE7617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04825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867E9-EB3C-432B-9855-7AC54336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实验序列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8BD1D-3D48-49CD-A081-7BE03491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DE7F3-BCAC-45A5-9C15-0B782EBB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F96EB-AAEF-4058-BAE6-868CDED0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4787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SLM 中制备初态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F23A2-79E4-4A79-9C7C-8382278C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3E0B9-DA08-4B6D-BB87-B4624D40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336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842FF-558D-4998-99D1-875E9A97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146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AOD pick-up 并分离 2.4 µm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35823-8F4D-48B9-B2FB-78E816EA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12D9D-CC77-4BF5-8A23-BB75F312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0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D6024-3A56-4936-B4CC-8CAF8501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8137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关闭 SLM，等待 100 µs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6F611-F2B1-42D3-A962-ECA3A475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794ED-A854-46C5-90AD-C857E484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0DD41-793C-4D4D-B209-AB891E52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481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时间反演 drop-off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AD29D-A948-4408-892C-191E9E6B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384"/>
          </a:solidFill>
          <a:ln xmlns:a="http://schemas.openxmlformats.org/drawingml/2006/main" w="9525">
            <a:solidFill>
              <a:srgbClr val="0E938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C1858-D15D-441B-822E-1D74743E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3951E-DB26-4106-901B-7AF50051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1487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重复至 60 次 one-way transfer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FE7B6-40A5-4345-86A3-F0BCF7C1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57300"/>
            <a:ext cx="558165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A17068-EF15-49FA-AF1E-A45C2C7C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85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四条对标曲线</a:t>
            </a:r>
          </a:p>
        </p:txBody>
      </p:sp>
      <p:graphicFrame>
        <p:nvGraphicFramePr>
          <p:cNvPr id="51" name=""/>
          <p:cNvGraphicFramePr/>
          <p:nvPr/>
        </p:nvGraphicFramePr>
        <p:xfrm>
          <a:off xmlns:a="http://schemas.openxmlformats.org/drawingml/2006/main" x="6286500" y="2000250"/>
          <a:ext xmlns:a="http://schemas.openxmlformats.org/drawingml/2006/main" cx="497205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7350"/>
                <a:gridCol w="1193292"/>
                <a:gridCol w="2121408"/>
              </a:tblGrid>
              <a:tr h="46482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Trajectory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Duration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Paper observable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46482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Manual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 µs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S(n), n≤31 可见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Manual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 µs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S(n), n≤60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6482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Manual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 µs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S(n), n≤60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 optimized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 µs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S(n), n≤60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9AD2C-2034-4B15-B840-3EF0027F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核心口径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4D7990-6BE6-4951-B34B-4F2E1280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4933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Survival 表示转移后仍满足束缚判据的原子比例。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一次往返包含两次 one-way transfer。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论文 99.81(3)% 属于 IRB，未作为 Level 2C 验收指标。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5880AA-E6CB-4015-BAF4-AF271BBC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7B1134-490A-4EDC-BF22-413F204D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Source: reference/fig6d_parameters.md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72228D-A85A-414E-A12C-58E7F0D0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985730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195883-E281-4C36-BB2A-18668F10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Level 2C 已形成可追溯的重复转移 Monte Carlo 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05729-42A9-4F6C-8890-3843AA9E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B9856-A290-4B4E-847D-66B81761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更高维与量子模块已在仓库中实现，但不属于本页 Fig. 6d 主比较链路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8B975-5E10-44EF-8DB9-9C372875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1943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CC4B2-2A03-4461-961C-36D6656E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811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初始系综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FFF89-9157-4FAD-9E72-4B01890B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812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SLM 谐振近似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+束缚拒绝采样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ED2FA-2A30-4037-ADE4-9878D4EA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4125" y="180975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70BC7-06CD-48D0-91FD-534C91E5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409700"/>
            <a:ext cx="1943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FC809-7DCD-4704-A6BA-20B04298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5811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时变势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E84FA-18D2-4AD0-B73E-221684DF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9812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SLM + AOD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+Gaussian potential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24B60-F2D9-43B4-9A42-FBA56AD0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225" y="180975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A7CF6-700D-48F6-AF2F-2E799983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409700"/>
            <a:ext cx="1943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D76D8-AEF7-4C24-A0F7-39D22E20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5811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轨迹传播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B94B2-47B0-4751-BE87-A0E2D154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9812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velocity-Verlet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+dt = 0.05 µs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731E5-0E02-43D8-B16F-26D69D44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2325" y="180975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436DA2-5A16-49D8-A392-BCA55328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409700"/>
            <a:ext cx="1943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4DA2D-A12F-4C14-9472-0D435C60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811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判定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73E212-A7F2-4D8C-B553-C6A432E7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9812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Etrap &lt; 0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+失败后 early stop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5CA18E-7082-4248-8E7F-B6EC7BC9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6425" y="180975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766A4-ED12-4A71-A319-9A8F4073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409700"/>
            <a:ext cx="1943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938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6C821-D62A-487C-A6E3-D63586B5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5811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rPr>
              <a:t>统计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D0EC6C-F0E1-460A-893C-8B444982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812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S(n), fit, bootstrap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+CRN paired pools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10208-41DC-4E91-A7E7-8A1D42C2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实现状态</a:t>
            </a:r>
          </a:p>
        </p:txBody>
      </p:sp>
      <p:graphicFrame>
        <p:nvGraphicFramePr>
          <p:cNvPr id="51" name=""/>
          <p:cNvGraphicFramePr/>
          <p:nvPr/>
        </p:nvGraphicFramePr>
        <p:xfrm>
          <a:off xmlns:a="http://schemas.openxmlformats.org/drawingml/2006/main" x="609600" y="3390900"/>
          <a:ext xmlns:a="http://schemas.openxmlformats.org/drawingml/2006/main" cx="10972800" cy="2686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71330"/>
                <a:gridCol w="5528930"/>
                <a:gridCol w="3572540"/>
              </a:tblGrid>
              <a:tr h="53721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代码中实际内容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在当前 Fig. 6d 结果中的角色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53721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已实现并使用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1D 双高斯阱、正反向轨迹、温度采样、重复转移、确定性平均加热、位点差异与对准抖动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Level 2C baseline / sensitivity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已实现但非 baseline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2D 横向圆对称模型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不匹配时触发的探索性检查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独立模块已实现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Level 3 三维运输；Level 4 往返与半经典相干；Level 5 有限脉冲 RB/IRB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没有用于 Fig. 6d survival 主曲线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尚未实现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AWG 带宽/滤波、实测站点映射、校准光学像差、完整实验读出链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属于当前 abstraction gap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3DE3D6-A03A-407F-A924-A666527B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76F8EE-08F5-43CC-B434-E7859830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Sources: src/level2c_pickup_survival · src/level3_3d_transport_lensing · README.md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AF831F-FA90-47D8-8B0D-B08CB675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393150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A2A1F-2380-45E3-BF2C-FE205265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论文曲线和轨迹均来自仓库内固定数字化数据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C1A2A-7322-402C-B2DE-F7F6AE79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5ECA5-D61A-4A06-A209-9F2948BE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Fig. 6d 可靠区间 n=5…60；200 µs 曲线仅到 n=31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3E469-07D3-4005-BD45-87D40A78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000750" cy="4686300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f3be164b546a5"/>
          <a:srcRect xmlns:a="http://schemas.openxmlformats.org/drawingml/2006/main" l="7670" t="0" r="76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409700"/>
            <a:ext cx="5657850" cy="4324350"/>
          </a:xfrm>
          <a:prstGeom xmlns:a="http://schemas.openxmlformats.org/drawingml/2006/main" prst="roundRect">
            <a:avLst>
              <a:gd name="adj" fmla="val 220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3FD42-E060-4DEE-A988-736FD36F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238250"/>
            <a:ext cx="4667250" cy="468630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BA8E3-6F5B-41EF-B8DF-647366CE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66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论文输入与来源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7181850" y="1962150"/>
          <a:ext xmlns:a="http://schemas.openxmlformats.org/drawingml/2006/main" cx="41338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08180"/>
                <a:gridCol w="1203526"/>
                <a:gridCol w="1622144"/>
              </a:tblGrid>
              <a:tr h="4082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Input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Value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Provenance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SLM depth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0.14 mK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Methods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AOD depth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 mK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Methods / Fig. 6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Separation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 µm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6 caption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Wait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µs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Caption / Methods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Manual waveform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48% ramp + 52% move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Methods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 waveform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6c vector digitization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 page 7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D6D17-6FB9-44A2-B7F7-EBFCD1BE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863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数字化不确定度约 ±0.01–0.02。验收带固定为 ±0.02，不能为拟合结果调整。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72F50-66FD-45D9-95C1-17BEB92D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587F6-AFB1-46F0-A5A0-27CF9102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Sources: reference/fig6d_survival_digitized.csv · reference/fig6d_parameters.md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4AAA0-FD80-4F53-9B73-A99139F8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850726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1FF7E-8052-47D7-A407-712A1A18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当前没有通过验收的“最佳拟合配置”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511FB-2F4E-4B18-976C-8D44AD54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F4BAB-B3EA-4586-932E-10D0CCB9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默认 baseline、T40 与 R3e−7 都有明确角色；后两者是未标定敏感性场景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352550"/>
          <a:ext xmlns:a="http://schemas.openxmlformats.org/drawingml/2006/main" cx="109728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93818"/>
                <a:gridCol w="2660073"/>
                <a:gridCol w="2909455"/>
                <a:gridCol w="2909455"/>
              </a:tblGrid>
              <a:tr h="43100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Parameter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Default baseline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T40 scenario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R3e−7 scenario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43100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Temperature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µK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µK effective width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µK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100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RIN PSD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1×10⁻⁸ Hz⁻¹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1×10⁻⁸ Hz⁻¹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3×10⁻⁷ Hz⁻¹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3100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Static alignment 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 µm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 µm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 µm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100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Per-transfer jitter σ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 µm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 µm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 µm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3100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SLM depth 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100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AOD depth / waist σ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2% / 2%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2% / 2%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2% / 2%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3100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Repository baseline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tests ensemble broadening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tests deterministic heating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98322-A920-494A-ABC2-39CF056F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4C401-A9B5-49D1-8694-AE6557BF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Numerics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3E605-B554-4A22-BAF9-5B00FCF5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dt = 0.05 µs validation; 0.025 µs convergence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256-shot scan; 512-shot validation; 60 one-way transfers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74979-48BE-4EC6-AF74-690E88A3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67300"/>
            <a:ext cx="5467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9525">
            <a:solidFill>
              <a:srgbClr val="FEDF8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5927C-E875-42AA-8122-9978AC26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38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当前 best-known trajectory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D6C57-81BA-42C0-A63E-064E1E18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62600"/>
            <a:ext cx="491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Fig. 6c 矢量数字化 ML 波形；它优于仓库内原 LHS 搜索所得冻结候选。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BF428-6973-4C0D-B4C8-93BB3F35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2341F-9D7C-48A5-B446-C3161BCC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Sources: configs/level2c_pickup_survival.yaml · configs/scan_stage1/scan_T40.yaml · scan_R3e7.yaml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A3E7F-5BC8-4D9D-9A1C-FEAB5971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79983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32D7D-7EF4-456B-B4EB-CD156F73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T40 场景复现了时长排序，但没有闭合曲线形状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B1BB2-B3C4-4CA1-98A1-B322AF36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B651A-200D-4D97-85FE-154D6967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Raw validation outputs, 512 shots; manual trajectories only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352550"/>
          <a:ext xmlns:a="http://schemas.openxmlformats.org/drawingml/2006/main" cx="4095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82a66511284c95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876800" y="1352550"/>
          <a:ext xmlns:a="http://schemas.openxmlformats.org/drawingml/2006/main" cx="67056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30e534de8f4e0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2A137-D0CE-4705-8FB6-EF2E83A6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A47E4-0563-4EC6-AF5C-79F8017B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0BE6E-F577-4DC4-BEFE-934E9A44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29250"/>
            <a:ext cx="954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排序 200 &lt; 400 &lt; 600 与论文一致；200 µs 全程偏低，400/600 µs 从早期偏低转为后期偏高，因此误差不是单一 absolute offset。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8C2CE-D4A3-40B4-B69D-016969B8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38207-7C98-4031-AD41-71CB3037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Source: T40/comparison_to_paper.json (validation pool, 512 shots)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6BBD3-1004-4ACB-B73B-4B53327A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403562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E9BBB-EC5F-4B93-BD03-9F8EF325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正确的 Fig. 6c 轨迹在模型中恢复了 ML 优势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E1B55-63C4-4CDD-BC6F-EFB2F888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1578F-DF17-42E9-8456-A7DEC864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Endpoint comparison at n=60; T40 scan pool uses identical initial draws for manual and ML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7048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3ce4a709ef472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2B367-E369-4E7F-A703-F9766F73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24000"/>
            <a:ext cx="32004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0BA90-48E3-4780-B866-D43232B9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rPr>
              <a:t>Paper ΔS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38DA0-B3F1-4FA7-A5AA-4BB24E4A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rPr>
              <a:t>+0.250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C1215-454D-4BBE-8121-C4B226FD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41.3% → 66.3%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0DF53-929D-4865-8E9D-48FB49C1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860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等效单程 loss 1.46% → 0.68%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0B25D-356C-4EF3-B73E-2BF5BC86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2004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F8409-97E9-4A01-8C3D-11678B3D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MC T40 ΔS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50F5E-252C-4AE5-9693-4157FD8D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+0.230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1EBC2-DF90-452D-AD9A-B6F3BD72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57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52.7% → 75.8%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BCC2D-8C5B-48B9-84EA-E40BC2A4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958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等效单程 loss 1.06% → 0.46%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2793C-3066-4117-8F24-F35FDDB2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5780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相对增益接近，但 MC 的两条绝对 survival 仍偏高。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06D8B-1B78-4FAA-BE89-D270EFDC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6B21D4-2CF9-4C1A-9B16-E26A57D5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Sources: paper_ml_eval.json · reference/fig6d_survival_digitized.csv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52D7C-CE49-4355-B48C-74CAD040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848607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0EDE8-6A23-42A8-A8CA-D88BDB5B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ML 优势依赖真实位置剖面，而不是“同时式”标签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BDD48-EF34-46D6-8995-F2C6E30F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38002-4483-4656-B8B1-B5D48C97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Fig. 6c vector digitization yields 15 plotted nodes; model uses ordinary cubic interpolation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352550"/>
          <a:ext xmlns:a="http://schemas.openxmlformats.org/drawingml/2006/main" cx="5334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b51d4d59b54ca4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48400" y="1352550"/>
          <a:ext xmlns:a="http://schemas.openxmlformats.org/drawingml/2006/main" cx="5334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333d46a2d645f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C6951-2124-4677-978C-D7FBAA1E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A472B-3169-4190-A185-8A5EA79D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43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Fig. 6c ML 位置先在约 0.11 µm 平台停留，再在接近满深时加速移动并平缓收尾。原 LHS 增量参数化没有覆盖这一结构化轨迹族。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E4031-5578-46C0-955F-CBE948B8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79B2B-E87F-4F42-BC5F-FDA69A2E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Sources: fig6c_ml_trajectory_digitized.json · waveforms.py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DDD97-3A8B-465F-989A-6B783AC4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230873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F6F44-4AAB-4AA6-8D36-8E9FA5C1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模型内 ML 增益几乎全部来自 position trajectory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9B9F1-BDB2-46E1-B3EE-273ECE71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15DC4-ED41-4C03-B053-CBFCDA97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T40 validation cross-ablation, 512 shots; simulation-side attribution only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8650" y="1409700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18e3dae249461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F47DB-56D7-4284-AF7B-512D0267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66850"/>
            <a:ext cx="34290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E429E-0C1E-44D3-A1DF-6D2274FD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rPr>
              <a:t>位置替换的增益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90520-346E-49B9-AE6C-1FB69F95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rPr>
              <a:t>+0.283 / +0.275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60140-4E0E-4D87-838B-565FD713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深度来源不同的两组对照均成立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6E594-D5A9-43B0-A536-ABB8DB3B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34290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9525">
            <a:solidFill>
              <a:srgbClr val="FEDF8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327CB-5241-4475-A4E7-C664D9B3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5760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深度替换的增益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9558B-B8C5-4CBB-BC73-1E74026C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+0.004 / −0.004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DB4E4-E584-47D1-83CC-1A5897CC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01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在该模型和场景下与统计分辨率相当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E0B83-6D2C-48FC-8308-D46DC254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95% 以上的丢失发生在 pickup_wait 的 AOD 束缚判定，而非 drop-off。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2998D-D80C-4A00-8705-E322F97B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09042-8F1D-48D7-86BA-9309AF36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Source: summary_stage1.md §6.1; reproducible script ablation_cross_2x2.py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A3B95-67A6-4529-830E-50E8FF44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22035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85E9B-D24A-404A-AFD8-010AFD9C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扫描已排除静态对准和均匀抖动作为唯一解释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A00FA-72E9-4458-8475-77918E5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AB05D-C0CE-4F47-BDA8-B807B7D2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Stage-1 one-factor scans, 256-shot common-random-number pool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7874"/>
                <a:gridCol w="1949116"/>
                <a:gridCol w="1949116"/>
                <a:gridCol w="4836695"/>
              </a:tblGrid>
              <a:tr h="4844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Scenario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Manual 400 S(60)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Manual 600 S(60)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What the scan supports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4844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Paper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Reference endpoints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44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Default T=5 µK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0.930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0.996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Absolute loss far too small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844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T=40 µK</a:t>
                      </a:r>
                    </a:p>
                  </a:txBody>
                  <a:tcPr marL="91440" marR="91440" marT="45720" marB="45720" anchor="ctr">
                    <a:solidFill>
                      <a:srgbClr val="ECFD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0.527</a:t>
                      </a:r>
                    </a:p>
                  </a:txBody>
                  <a:tcPr marL="91440" marR="91440" marT="45720" marB="45720" anchor="ctr">
                    <a:solidFill>
                      <a:srgbClr val="ECFD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0.680</a:t>
                      </a:r>
                    </a:p>
                  </a:txBody>
                  <a:tcPr marL="91440" marR="91440" marT="45720" marB="45720" anchor="ctr">
                    <a:solidFill>
                      <a:srgbClr val="ECFD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Correct duration order; temperature is uncalibrated</a:t>
                      </a:r>
                    </a:p>
                  </a:txBody>
                  <a:tcPr marL="91440" marR="91440" marT="45720" marB="45720" anchor="ctr">
                    <a:solidFill>
                      <a:srgbClr val="ECFDF3"/>
                    </a:solidFill>
                  </a:tcPr>
                </a:tc>
              </a:tr>
              <a:tr h="4844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RIN=3×10⁻⁷ Hz⁻¹</a:t>
                      </a:r>
                    </a:p>
                  </a:txBody>
                  <a:tcPr marL="91440" marR="91440" marT="45720" marB="45720" anchor="ctr">
                    <a:solidFill>
                      <a:srgbClr val="ECFD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0.359</a:t>
                      </a:r>
                    </a:p>
                  </a:txBody>
                  <a:tcPr marL="91440" marR="91440" marT="45720" marB="45720" anchor="ctr">
                    <a:solidFill>
                      <a:srgbClr val="ECFD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0.434</a:t>
                      </a:r>
                    </a:p>
                  </a:txBody>
                  <a:tcPr marL="91440" marR="91440" marT="45720" marB="45720" anchor="ctr">
                    <a:solidFill>
                      <a:srgbClr val="ECFD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Correct order and loss scale; RIN is unanchored</a:t>
                      </a:r>
                    </a:p>
                  </a:txBody>
                  <a:tcPr marL="91440" marR="91440" marT="45720" marB="45720" anchor="ctr">
                    <a:solidFill>
                      <a:srgbClr val="ECFDF3"/>
                    </a:solidFill>
                  </a:tcPr>
                </a:tc>
              </a:tr>
              <a:tr h="4844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Static alignment σ=0.15–0.30 µm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0.934 / 0.922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0.996 / 0.996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Almost no effect in the 1D model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844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Per-transfer jitter σ=0.10 µm</a:t>
                      </a:r>
                    </a:p>
                  </a:txBody>
                  <a:tcPr marL="91440" marR="91440" marT="45720" marB="45720" anchor="ctr">
                    <a:solidFill>
                      <a:srgbClr val="FE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0.094</a:t>
                      </a:r>
                    </a:p>
                  </a:txBody>
                  <a:tcPr marL="91440" marR="91440" marT="45720" marB="45720" anchor="ctr">
                    <a:solidFill>
                      <a:srgbClr val="FE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0.105</a:t>
                      </a:r>
                    </a:p>
                  </a:txBody>
                  <a:tcPr marL="91440" marR="91440" marT="45720" marB="45720" anchor="ctr">
                    <a:solidFill>
                      <a:srgbClr val="FE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Large loss but nearly duration-independent</a:t>
                      </a:r>
                    </a:p>
                  </a:txBody>
                  <a:tcPr marL="91440" marR="91440" marT="45720" marB="45720" anchor="ctr">
                    <a:solidFill>
                      <a:srgbClr val="FEF3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42BA2-0DF6-4E2A-86F7-F9C6CC20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B4F98-C413-4E39-8B02-99599E8B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机制结论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B2E54-0407-4152-8358-C307BC76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38750"/>
            <a:ext cx="906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模型需要与轨迹动力学耦合的能量或损失机制才能保留 200 &lt; 400 &lt; 600 的时长排序。T40 和 R3e−7 提供可行量级，但都不是独立实验标定。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27211-E5F0-4AE8-8A2E-37257BB9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3B222-AC2C-4147-97F1-A2517452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Sources: scan_stage1/*/survival_scan_results.csv · summary_stage1.md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07AF1-DE37-40F9-95F4-AB7FA6B2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62766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7D066-165C-48B5-B0C7-A63FBA27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没有一条当前曲线达到 ±0.02 全曲线验收标准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56BB1-E03E-4D91-A672-121B8DCB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0CDBC-E4ED-47E7-8868-2CDD9771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T40 raw validation for manual curves; Fig. 6c ML uses raw 256-shot endpoint replay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2775"/>
                <a:gridCol w="1158619"/>
                <a:gridCol w="1226773"/>
                <a:gridCol w="1226773"/>
                <a:gridCol w="1499389"/>
                <a:gridCol w="2112775"/>
                <a:gridCol w="1635697"/>
              </a:tblGrid>
              <a:tr h="54483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Trajectory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Endpoint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Paper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MC−Paper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 |curve error|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Within ±0.02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54483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Manual 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S(31)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-9.4 pp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20.8 pp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Manual 400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S(60)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41.3%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52.5%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11.2 pp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11.4 pp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13%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4483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Manual 600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S(60)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11.1 pp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12.1 pp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6c ML 400</a:t>
                      </a:r>
                    </a:p>
                  </a:txBody>
                  <a:tcPr marL="91440" marR="91440" marT="45720" marB="45720" anchor="ctr">
                    <a:solidFill>
                      <a:srgbClr val="EFF8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S(60)</a:t>
                      </a:r>
                    </a:p>
                  </a:txBody>
                  <a:tcPr marL="91440" marR="91440" marT="45720" marB="45720" anchor="ctr">
                    <a:solidFill>
                      <a:srgbClr val="EFF8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66.3%</a:t>
                      </a:r>
                    </a:p>
                  </a:txBody>
                  <a:tcPr marL="91440" marR="91440" marT="45720" marB="45720" anchor="ctr">
                    <a:solidFill>
                      <a:srgbClr val="EFF8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75.8%</a:t>
                      </a:r>
                    </a:p>
                  </a:txBody>
                  <a:tcPr marL="91440" marR="91440" marT="45720" marB="45720" anchor="ctr">
                    <a:solidFill>
                      <a:srgbClr val="EFF8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9.5 pp</a:t>
                      </a:r>
                    </a:p>
                  </a:txBody>
                  <a:tcPr marL="91440" marR="91440" marT="45720" marB="45720" anchor="ctr">
                    <a:solidFill>
                      <a:srgbClr val="EFF8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full curve not committed</a:t>
                      </a:r>
                    </a:p>
                  </a:txBody>
                  <a:tcPr marL="91440" marR="91440" marT="45720" marB="45720" anchor="ctr">
                    <a:solidFill>
                      <a:srgbClr val="EFF8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 evaluable</a:t>
                      </a:r>
                    </a:p>
                  </a:txBody>
                  <a:tcPr marL="91440" marR="91440" marT="45720" marB="45720" anchor="ctr">
                    <a:solidFill>
                      <a:srgbClr val="EFF8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BBD8C-48B5-4E32-8BE3-9142B978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257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ECDC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382AF-15BA-44AB-9764-C64FF9EB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Absolute scale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B8798-2A36-4791-8097-4FCDF3ED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Manual 400/600 和 Fig. 6c ML 的终点偏高约 9–11 pp；Manual 200 在 n=31 偏低 9.4 pp。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6BD8D-E582-46C4-A844-02775E82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95800"/>
            <a:ext cx="5448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9525">
            <a:solidFill>
              <a:srgbClr val="FEDF8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F3319-572E-4208-B140-C9C90A86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Evidence gap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92C7C-6E11-4E12-9B5D-7E01297E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863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最新 Fig. 6c replay 只提交了 endpoint JSON。旧 `ml_400us` 全曲线对应原冻结候选，不能替代最新轨迹。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1B6B6-D670-4F21-9FA0-3C955BA9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7E56B-2E8C-41E4-B485-3AE793B8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Sources: T40/comparison_to_paper.json · paper_ml_eval.json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29B50-23C5-49AF-82F4-FA92B902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038277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1759F-B3CB-4E9D-AD91-02A63CD7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400/600 µs 的误差会变号，说明 shape mismatch 仍存在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01250-C9FF-42EF-9B18-919224B3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06DCF-221C-4EF7-A4A1-29246472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Deviation = MC T40 − Paper; zero means agreement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4095750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26268602ef4616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876800" y="1390650"/>
          <a:ext xmlns:a="http://schemas.openxmlformats.org/drawingml/2006/main" cx="6705600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76a2c673614d3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9566F-4B29-40E5-B650-6F9F0003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2074E-5D70-4AD1-A2E7-A080775E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200 µs：持续负偏差且早期衰减过快。400/600 µs：早期偏低、后期偏高，模型的 late-time decay 太慢。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B35FD-B547-48ED-882B-FF299142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073D7-3D4D-441F-BEDA-07ECADE7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Source: T40/comparison_to_paper.json raw pointwise deviations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3EB5D-BC8A-44C2-B3EE-9B9830E1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879737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7F014-5AED-4E1D-A79C-5ABD61F0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剩余误差来自校准、波形和实验链路三类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F6E9F-B992-489E-BAB6-6113374C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835D8-F091-4A6D-8849-69EDD58A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当前 evidence 不能把某一缺失机制确认为实验主因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3525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795"/>
                <a:gridCol w="3063834"/>
                <a:gridCol w="3348842"/>
                <a:gridCol w="2921330"/>
              </a:tblGrid>
              <a:tr h="5987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Dimension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Current Level 2C comparison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Experiment / unresolved input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Impact on claim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Ensemble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1D harmonic-rejection; T=5 µK baseline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Transfer-time energy distribution not independently known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T=40 µK is an effective sensitivity parameter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Sites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Independent Gaussian depth/waist/alignment draws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195 real AOD sites with calibrated spatial structure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 site-resolved absolute prediction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Waveform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6c digitization + not-a-knot cubic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Raw AWG commands, bandwidth and optical response unavailable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Ordering robust; gain magnitude depends on interpolation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Potential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Ideal Gaussian SLM/AOD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Aberration, intensity maps, crosstalk and full 3D overlap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Absolute loss may shift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Noise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Deterministic mean recoil/RIN/pointing + alignment jitter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Stochastic spectra, vacuum/Raman and apparatus events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RIN scenario is sensitivity, not calibration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Observable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Etrap&lt;0 after wait/drop-off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Full preparation, control and imaging sequence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Survival is not fidelity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F184A-0E90-4960-855B-F86A85C9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9525">
            <a:solidFill>
              <a:srgbClr val="FEDF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F762F-1E5C-4A87-9439-EDEF45EE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76925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已实现的 2D/3D 和 Level 5 模块不能自动填补本页 gap；Fig. 6d 主比较仍使用 Level 2C 的 1D survival path。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72123-536D-4FC8-BE19-42E46242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E7A26-59C3-418F-9B45-5081707F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Sources: source code search · level2c config · summary_stage1.md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D8B84-F44E-40AB-B2F3-B93C30A4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366358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89B598-3069-46D6-9B90-F46BCB6C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项目已达到机制验证阶段，尚未达到绝对定量预测阶段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69572-1AFB-4ADA-BDE1-5BC78E52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6C47E-0F1C-4EF4-9044-4379AE40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Assessment based on current repository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19068-FA46-48E7-A17C-18F1063B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Numerical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FBD33-DBD0-4C3D-8A50-20EEC8CC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708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1D pipeline, CRN pools, energy accounting, convergence checks and tests are 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0CF65-58B0-4FDD-B5DC-6B22FA12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26A"/>
          </a:solidFill>
          <a:ln xmlns:a="http://schemas.openxmlformats.org/drawingml/2006/main" w="9525">
            <a:solidFill>
              <a:srgbClr val="17B26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0CEE4-9FC8-41BB-ABB7-C5D233AE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097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26A"/>
          </a:solidFill>
          <a:ln xmlns:a="http://schemas.openxmlformats.org/drawingml/2006/main" w="9525">
            <a:solidFill>
              <a:srgbClr val="17B26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84D4A-3743-4BED-893F-F4569608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097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26A"/>
          </a:solidFill>
          <a:ln xmlns:a="http://schemas.openxmlformats.org/drawingml/2006/main" w="9525">
            <a:solidFill>
              <a:srgbClr val="17B26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24F51-4B46-4C0D-8E2A-7C3FC063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097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26A"/>
          </a:solidFill>
          <a:ln xmlns:a="http://schemas.openxmlformats.org/drawingml/2006/main" w="9525">
            <a:solidFill>
              <a:srgbClr val="17B2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F737B-F0A8-497D-B943-5676FE3A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371600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B26A"/>
          </a:solidFill>
          <a:ln xmlns:a="http://schemas.openxmlformats.org/drawingml/2006/main" w="9525">
            <a:solidFill>
              <a:srgbClr val="17B26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F0CB2-1BC4-48F5-AE04-E5C25C06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Qualitative physics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8EEE7-7B5B-46E7-B329-686C7869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05050"/>
            <a:ext cx="708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Duration ordering and ML &gt; manual appear in relevant sensitivity scenarios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CA94E-D9BB-46ED-8B9F-EC800FED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27C39-9D6A-45E4-9AB2-BB18CACB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241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8699CE-48D8-4021-A12D-B1929B34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241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867EB-7A01-4E25-BA6A-391E998C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241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CF0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0EC43-18FD-4B47-9852-7C558CC2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86000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较强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DB3060-41C4-433A-BE3A-A04EDEA3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Relative quantitative agreement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AFFE3-1977-4695-9F7C-C99BE14F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708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T40 raw endpoint ΔS=+0.231 vs paper +0.250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D7B89E-3173-450F-BCD3-638D2F7E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2FDF5-3150-4C75-A0C4-25B60A13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385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55372-496C-4DCC-9C16-7FB77811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385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685BD-4083-42AD-8081-B04F4502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385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CF0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57A772-C6A9-45A5-9348-5484D393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00400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32955E-C812-4D05-AE13-D524BFE5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Absolute survival / curve shape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F95609-E3AB-4282-A4C1-6B676337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33850"/>
            <a:ext cx="708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No curve meets ±0.02; 200 µs and late-time slopes remain mismatched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2A6096-B8C6-45C7-A539-B28C9053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CB281B-346D-4979-8EE3-5E77662A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529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CF0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3614E1-6C73-45C1-B921-233FE311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529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CF0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EF16D8-5305-440E-B8CC-881BADCB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529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CF0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585EB0-237C-437F-B84E-7B96B4F8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14800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未闭合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B0A0C6-4C75-4017-8FE4-0D9168C8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Experimental mechanism attribution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72CABE-DE75-43FB-BE8D-D0728C2D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48250"/>
            <a:ext cx="708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Position attribution is model-side; calibration and hardware data remain missing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4624B9-F65E-4F03-917C-B8FCFF4C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9525">
            <a:solidFill>
              <a:srgbClr val="F79009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AE008E-C201-4E2B-894E-8B2E0DBB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673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9525">
            <a:solidFill>
              <a:srgbClr val="F79009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E8C1F9-A4C2-4304-8ABF-452E5BDE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673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CF0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31124B-2E77-4301-89D0-DDCEF6E9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673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CF0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8B04A1-FF18-46C9-ACAC-771CDEE7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29200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9525">
            <a:solidFill>
              <a:srgbClr val="F79009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62D130-C793-4F85-B7A3-8B61B3E6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B83E3C-C20B-4A8D-BCD3-9569355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91225"/>
            <a:ext cx="1055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Broader repository: Level 3 transport, Level 4 roundtrip coherence and Level 5 finite-pulse RB/IRB are implemented, but their simulated fidelities are separate claims.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851DE6-A4F2-4C5F-AAA7-6805DCC1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6DDD07-CCC3-4918-B282-DC6B6627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Sources: README.md · Level 2C / Level 4 / Level 5 output summaries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6B4A17-FF34-4D5C-9C71-948ED284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900918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5999FE-1D10-4FC0-A271-6C6A7F84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Current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53102-EFFD-4430-88D2-A8F8DFE3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5EC"/>
          </a:solidFill>
          <a:ln xmlns:a="http://schemas.openxmlformats.org/drawingml/2006/main" w="0">
            <a:solidFill>
              <a:srgbClr val="0BA5E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84AAE-43F5-4ED8-A3F0-6E5E6435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4762F-A678-4559-95E6-F720579C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0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已经做成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A6ACC-9BB7-4A6A-B7A5-E592EE15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00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rPr>
              <a:t>重复转移 Monte Carlo、论文曲线数字化、真实 Fig. 6c 轨迹回放和机制消融形成了可追溯链路。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D22E2-0AE0-4D77-A543-0E815A2D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62200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A67"/>
          </a:solidFill>
          <a:ln xmlns:a="http://schemas.openxmlformats.org/drawingml/2006/main" w="0">
            <a:solidFill>
              <a:srgbClr val="294A6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A53A9-8209-4ADD-B7E1-CDEEAF28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56584-31FD-4D56-98B6-CE4B779C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67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相对物理已捕捉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9260C-E6BB-44C5-8284-862CBC5B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rPr>
              <a:t>T40 raw endpoint 的 ML gain 为 +0.231，论文为 +0.250；模型内增益主要来自 position trajectory。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F9319-CF81-4FCD-9454-67EF701C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29000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A67"/>
          </a:solidFill>
          <a:ln xmlns:a="http://schemas.openxmlformats.org/drawingml/2006/main" w="0">
            <a:solidFill>
              <a:srgbClr val="294A6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C8F0D-AE23-484A-8151-C2252474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A8832-CC94-4EAD-8E64-F156D644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33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绝对定量仍未闭合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F30BD-D308-411A-ABC6-DC79F8CA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33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rPr>
              <a:t>当前所有 manual 曲线都未通过 ±0.02；200 µs 和 400/600 µs late-time shape 仍有系统误差。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2B6AF9-6BF9-4153-91E2-37E47BF2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95800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A67"/>
          </a:solidFill>
          <a:ln xmlns:a="http://schemas.openxmlformats.org/drawingml/2006/main" w="0">
            <a:solidFill>
              <a:srgbClr val="294A6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5385F-1244-4208-9F43-CC6867F2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6419B9-1A61-48F1-B47A-F4A5633C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00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当前可回答的边界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511BB-A8E4-4463-AAC2-40F847D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rPr>
              <a:t>模型可以比较轨迹和排除部分简单机制，但不能给出实验级 absolute loss 或把 survival 称为 fidelity。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76DBC-3D20-4D51-B957-8525FE1D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8AF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FC7"/>
                </a:solidFill>
                <a:latin typeface="Microsoft YaHei"/>
                <a:ea typeface="Microsoft YaHei"/>
                <a:cs typeface="Microsoft YaHei"/>
              </a:rPr>
              <a:t>Further model extensions are intentionally outside the scope of this progress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FCD1E-2E68-484E-8AC5-E2B41123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8AF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FC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9436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2026-09-08T08:58:59.6260000Z</dcterms:created>
  <dcterms:modified xsi:type="dcterms:W3CDTF">2026-09-08T08:58:59.6260000Z</dcterms:modified>
</coreProperties>
</file>