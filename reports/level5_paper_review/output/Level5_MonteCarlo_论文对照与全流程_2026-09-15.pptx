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4cde7dc5f430a" /><Relationship Type="http://schemas.openxmlformats.org/officeDocument/2006/relationships/extended-properties" Target="/docProps/app.xml" Id="R3bdc2ca3dbc9462e" /><Relationship Type="http://schemas.openxmlformats.org/officeDocument/2006/relationships/officeDocument" Target="/ppt/presentation.xml" Id="R9f1ff6a4eecb4c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8688ee27b4128"/>
  </p:sldMasterIdLst>
  <p:notesMasterIdLst>
    <p:notesMasterId xmlns:r="http://schemas.openxmlformats.org/officeDocument/2006/relationships" r:id="R73c3194090c74db2"/>
  </p:notesMasterIdLst>
  <p:sldIdLst>
    <p:sldId xmlns:r="http://schemas.openxmlformats.org/officeDocument/2006/relationships" id="256" r:id="Ref5a8149aa634eac"/>
    <p:sldId xmlns:r="http://schemas.openxmlformats.org/officeDocument/2006/relationships" id="257" r:id="R4d2d8d636306455e"/>
    <p:sldId xmlns:r="http://schemas.openxmlformats.org/officeDocument/2006/relationships" id="258" r:id="Rf5f37b0f886b4b87"/>
    <p:sldId xmlns:r="http://schemas.openxmlformats.org/officeDocument/2006/relationships" id="259" r:id="Raf448c5f8dbd4f60"/>
    <p:sldId xmlns:r="http://schemas.openxmlformats.org/officeDocument/2006/relationships" id="260" r:id="R045a072d526a4f39"/>
    <p:sldId xmlns:r="http://schemas.openxmlformats.org/officeDocument/2006/relationships" id="261" r:id="R29206a109b4541ff"/>
    <p:sldId xmlns:r="http://schemas.openxmlformats.org/officeDocument/2006/relationships" id="262" r:id="Rd8cb6ef02bcb4559"/>
    <p:sldId xmlns:r="http://schemas.openxmlformats.org/officeDocument/2006/relationships" id="263" r:id="R9897ec3f4a5e4733"/>
    <p:sldId xmlns:r="http://schemas.openxmlformats.org/officeDocument/2006/relationships" id="264" r:id="R7fef8e03c08f48af"/>
    <p:sldId xmlns:r="http://schemas.openxmlformats.org/officeDocument/2006/relationships" id="265" r:id="R9cb7f7a5d8bb4160"/>
    <p:sldId xmlns:r="http://schemas.openxmlformats.org/officeDocument/2006/relationships" id="266" r:id="R31c1e85d08934075"/>
    <p:sldId xmlns:r="http://schemas.openxmlformats.org/officeDocument/2006/relationships" id="267" r:id="R2d29b211e1164dd1"/>
    <p:sldId xmlns:r="http://schemas.openxmlformats.org/officeDocument/2006/relationships" id="268" r:id="R5fd17f37e6a24de1"/>
    <p:sldId xmlns:r="http://schemas.openxmlformats.org/officeDocument/2006/relationships" id="269" r:id="R640d6c5efbdc40d4"/>
    <p:sldId xmlns:r="http://schemas.openxmlformats.org/officeDocument/2006/relationships" id="270" r:id="R70b0b5deacdf4579"/>
    <p:sldId xmlns:r="http://schemas.openxmlformats.org/officeDocument/2006/relationships" id="271" r:id="Rab97d5b5b31548a1"/>
    <p:sldId xmlns:r="http://schemas.openxmlformats.org/officeDocument/2006/relationships" id="272" r:id="Rccacbcc3b787403b"/>
    <p:sldId xmlns:r="http://schemas.openxmlformats.org/officeDocument/2006/relationships" id="273" r:id="R407bfafcd911405f"/>
    <p:sldId xmlns:r="http://schemas.openxmlformats.org/officeDocument/2006/relationships" id="274" r:id="R67a93334b0384b38"/>
    <p:sldId xmlns:r="http://schemas.openxmlformats.org/officeDocument/2006/relationships" id="275" r:id="R9b68009adfca4f9b"/>
    <p:sldId xmlns:r="http://schemas.openxmlformats.org/officeDocument/2006/relationships" id="276" r:id="Red08190ebcb342f1"/>
    <p:sldId xmlns:r="http://schemas.openxmlformats.org/officeDocument/2006/relationships" id="277" r:id="R52bdf480f7344481"/>
    <p:sldId xmlns:r="http://schemas.openxmlformats.org/officeDocument/2006/relationships" id="278" r:id="Rc330fe92201e4385"/>
    <p:sldId xmlns:r="http://schemas.openxmlformats.org/officeDocument/2006/relationships" id="279" r:id="R866b240b96774b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64a1808fb441f" /><Relationship Type="http://schemas.openxmlformats.org/officeDocument/2006/relationships/slideMaster" Target="/ppt/slideMasters/slideMaster1.xml" Id="R2358688ee27b4128" /><Relationship Type="http://schemas.openxmlformats.org/officeDocument/2006/relationships/notesMaster" Target="/ppt/notesMasters/notesMaster1.xml" Id="R73c3194090c74db2" /><Relationship Type="http://schemas.openxmlformats.org/officeDocument/2006/relationships/presProps" Target="/ppt/presProps.xml" Id="Rcdf3c4721fad4391" /><Relationship Type="http://schemas.openxmlformats.org/officeDocument/2006/relationships/tableStyles" Target="/ppt/tableStyles.xml" Id="Rb4ddbaf4dc944487" /><Relationship Type="http://schemas.openxmlformats.org/officeDocument/2006/relationships/slide" Target="/ppt/slides/slide1.xml" Id="Ref5a8149aa634eac" /><Relationship Type="http://schemas.openxmlformats.org/officeDocument/2006/relationships/slide" Target="/ppt/slides/slide2.xml" Id="R4d2d8d636306455e" /><Relationship Type="http://schemas.openxmlformats.org/officeDocument/2006/relationships/slide" Target="/ppt/slides/slide3.xml" Id="Rf5f37b0f886b4b87" /><Relationship Type="http://schemas.openxmlformats.org/officeDocument/2006/relationships/slide" Target="/ppt/slides/slide4.xml" Id="Raf448c5f8dbd4f60" /><Relationship Type="http://schemas.openxmlformats.org/officeDocument/2006/relationships/slide" Target="/ppt/slides/slide5.xml" Id="R045a072d526a4f39" /><Relationship Type="http://schemas.openxmlformats.org/officeDocument/2006/relationships/slide" Target="/ppt/slides/slide6.xml" Id="R29206a109b4541ff" /><Relationship Type="http://schemas.openxmlformats.org/officeDocument/2006/relationships/slide" Target="/ppt/slides/slide7.xml" Id="Rd8cb6ef02bcb4559" /><Relationship Type="http://schemas.openxmlformats.org/officeDocument/2006/relationships/slide" Target="/ppt/slides/slide8.xml" Id="R9897ec3f4a5e4733" /><Relationship Type="http://schemas.openxmlformats.org/officeDocument/2006/relationships/slide" Target="/ppt/slides/slide9.xml" Id="R7fef8e03c08f48af" /><Relationship Type="http://schemas.openxmlformats.org/officeDocument/2006/relationships/slide" Target="/ppt/slides/slide10.xml" Id="R9cb7f7a5d8bb4160" /><Relationship Type="http://schemas.openxmlformats.org/officeDocument/2006/relationships/slide" Target="/ppt/slides/slide11.xml" Id="R31c1e85d08934075" /><Relationship Type="http://schemas.openxmlformats.org/officeDocument/2006/relationships/slide" Target="/ppt/slides/slide12.xml" Id="R2d29b211e1164dd1" /><Relationship Type="http://schemas.openxmlformats.org/officeDocument/2006/relationships/slide" Target="/ppt/slides/slide13.xml" Id="R5fd17f37e6a24de1" /><Relationship Type="http://schemas.openxmlformats.org/officeDocument/2006/relationships/slide" Target="/ppt/slides/slide14.xml" Id="R640d6c5efbdc40d4" /><Relationship Type="http://schemas.openxmlformats.org/officeDocument/2006/relationships/slide" Target="/ppt/slides/slide15.xml" Id="R70b0b5deacdf4579" /><Relationship Type="http://schemas.openxmlformats.org/officeDocument/2006/relationships/slide" Target="/ppt/slides/slide16.xml" Id="Rab97d5b5b31548a1" /><Relationship Type="http://schemas.openxmlformats.org/officeDocument/2006/relationships/slide" Target="/ppt/slides/slide17.xml" Id="Rccacbcc3b787403b" /><Relationship Type="http://schemas.openxmlformats.org/officeDocument/2006/relationships/slide" Target="/ppt/slides/slide18.xml" Id="R407bfafcd911405f" /><Relationship Type="http://schemas.openxmlformats.org/officeDocument/2006/relationships/slide" Target="/ppt/slides/slide19.xml" Id="R67a93334b0384b38" /><Relationship Type="http://schemas.openxmlformats.org/officeDocument/2006/relationships/slide" Target="/ppt/slides/slide20.xml" Id="R9b68009adfca4f9b" /><Relationship Type="http://schemas.openxmlformats.org/officeDocument/2006/relationships/slide" Target="/ppt/slides/slide21.xml" Id="Red08190ebcb342f1" /><Relationship Type="http://schemas.openxmlformats.org/officeDocument/2006/relationships/slide" Target="/ppt/slides/slide22.xml" Id="R52bdf480f7344481" /><Relationship Type="http://schemas.openxmlformats.org/officeDocument/2006/relationships/slide" Target="/ppt/slides/slide23.xml" Id="Rc330fe92201e4385" /><Relationship Type="http://schemas.openxmlformats.org/officeDocument/2006/relationships/slide" Target="/ppt/slides/slide24.xml" Id="R866b240b96774b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f94b72e48c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382d7a25345ff" /><Relationship Type="http://schemas.openxmlformats.org/officeDocument/2006/relationships/notesMaster" Target="/ppt/notesMasters/notesMaster1.xml" Id="R5907eeb564d1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6d642a79741f1" /><Relationship Type="http://schemas.openxmlformats.org/officeDocument/2006/relationships/notesMaster" Target="/ppt/notesMasters/notesMaster1.xml" Id="R4274968101c2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e30af76b2402f" /><Relationship Type="http://schemas.openxmlformats.org/officeDocument/2006/relationships/notesMaster" Target="/ppt/notesMasters/notesMaster1.xml" Id="Reee46357208b47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70ee5c69004cb0" /><Relationship Type="http://schemas.openxmlformats.org/officeDocument/2006/relationships/notesMaster" Target="/ppt/notesMasters/notesMaster1.xml" Id="R8d32400e0caa42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77da6200e64cbf" /><Relationship Type="http://schemas.openxmlformats.org/officeDocument/2006/relationships/notesMaster" Target="/ppt/notesMasters/notesMaster1.xml" Id="Rb7565fcea6fc4b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577f545184478b" /><Relationship Type="http://schemas.openxmlformats.org/officeDocument/2006/relationships/notesMaster" Target="/ppt/notesMasters/notesMaster1.xml" Id="R186246b774824d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bc19bc5c48465d" /><Relationship Type="http://schemas.openxmlformats.org/officeDocument/2006/relationships/notesMaster" Target="/ppt/notesMasters/notesMaster1.xml" Id="R05594f69ffb4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861152191f4466" /><Relationship Type="http://schemas.openxmlformats.org/officeDocument/2006/relationships/notesMaster" Target="/ppt/notesMasters/notesMaster1.xml" Id="R49e5b0ff290141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b195e2b8ee45be" /><Relationship Type="http://schemas.openxmlformats.org/officeDocument/2006/relationships/notesMaster" Target="/ppt/notesMasters/notesMaster1.xml" Id="R3cb594b293fd4f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e4b962ca444f8c" /><Relationship Type="http://schemas.openxmlformats.org/officeDocument/2006/relationships/notesMaster" Target="/ppt/notesMasters/notesMaster1.xml" Id="Rdda6073d54dd4d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90f25e71cd4b00" /><Relationship Type="http://schemas.openxmlformats.org/officeDocument/2006/relationships/notesMaster" Target="/ppt/notesMasters/notesMaster1.xml" Id="R32f234db7382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831df7f3f64930" /><Relationship Type="http://schemas.openxmlformats.org/officeDocument/2006/relationships/notesMaster" Target="/ppt/notesMasters/notesMaster1.xml" Id="Ra6b9117dd04e48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ff3ecd5ec34b50" /><Relationship Type="http://schemas.openxmlformats.org/officeDocument/2006/relationships/notesMaster" Target="/ppt/notesMasters/notesMaster1.xml" Id="R6e5405fe947b42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8e782fd50f4fba" /><Relationship Type="http://schemas.openxmlformats.org/officeDocument/2006/relationships/notesMaster" Target="/ppt/notesMasters/notesMaster1.xml" Id="Ra43abc4d2a9e42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85376c471d4e3d" /><Relationship Type="http://schemas.openxmlformats.org/officeDocument/2006/relationships/notesMaster" Target="/ppt/notesMasters/notesMaster1.xml" Id="R50ec979eb10741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9e95e5a7b14e51" /><Relationship Type="http://schemas.openxmlformats.org/officeDocument/2006/relationships/notesMaster" Target="/ppt/notesMasters/notesMaster1.xml" Id="R1f3d1055340447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63796abbf64484" /><Relationship Type="http://schemas.openxmlformats.org/officeDocument/2006/relationships/notesMaster" Target="/ppt/notesMasters/notesMaster1.xml" Id="R7d1e2a5c58aa44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e86cc57d69424e" /><Relationship Type="http://schemas.openxmlformats.org/officeDocument/2006/relationships/notesMaster" Target="/ppt/notesMasters/notesMaster1.xml" Id="Rcf25271fc2024f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3264cbe3a3431d" /><Relationship Type="http://schemas.openxmlformats.org/officeDocument/2006/relationships/notesMaster" Target="/ppt/notesMasters/notesMaster1.xml" Id="R8716d5d66d3f44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72fabfc0dd43a6" /><Relationship Type="http://schemas.openxmlformats.org/officeDocument/2006/relationships/notesMaster" Target="/ppt/notesMasters/notesMaster1.xml" Id="Ra8225b65bb6a4be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776a49e5244233" /><Relationship Type="http://schemas.openxmlformats.org/officeDocument/2006/relationships/notesMaster" Target="/ppt/notesMasters/notesMaster1.xml" Id="Re755566e974e40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d249d7dc0a479d" /><Relationship Type="http://schemas.openxmlformats.org/officeDocument/2006/relationships/notesMaster" Target="/ppt/notesMasters/notesMaster1.xml" Id="R47988acb46ed4e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bc55b899b94aa8" /><Relationship Type="http://schemas.openxmlformats.org/officeDocument/2006/relationships/notesMaster" Target="/ppt/notesMasters/notesMaster1.xml" Id="R6055736c896c4b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0177cdfce741c5" /><Relationship Type="http://schemas.openxmlformats.org/officeDocument/2006/relationships/notesMaster" Target="/ppt/notesMasters/notesMaster1.xml" Id="Rfbe8b49dfd6f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4–6, pp. 5–7; Extended Data Fig. 10, p. 19.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6a–d, p. 7; Methods, Large-scale coherent atom transfer.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5, p. 6; Fig. 6, p. 7; Extended Data Fig. 10, p. 19; continuous protocol settings.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6d top panel; raw digitized reference CSV; evidence.selected; fine dt = 0.0125 μs, seed = 23003.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6d top panel; raw digitized reference CSV; evidence.selected; fine dt = 0.0125 μs, seed = 23003.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evidence.temperature_scan, precision[15]; equal weight of four curves. Tref changes mean heating together with initial T.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evidence.base[5]; paper Methods says cylindrical lensing is not detrimental at the short transfer speeds.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4, p. 5; microwave/RB Methods; configs/level5_finite_pulse_irb.yaml.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5a–d, p. 6; Randomized benchmarking of coherent transport Methods.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Extended Data Fig. 10e–f, p. 19; combined transfer and long moves Methods, pp. 28–29.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evidence.base[5].matched[1] and extended[1]; quantum_summary. Conditional coherence C = 2|mean rho01| of ideal-relative + state.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5d/6d and corresponding Methods; quantum_summary definition and feedback fields.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continuous_transfer engine/protocol/cli; no state-dependent force; no resampling across rounds.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thermal_sampling_3d.py; draw_disorder; case_inputs. Sampling is a harmonic proposal with exact E&lt;0 rejection, not the full finite-depth canonical ensemble.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continuous_transfer/protocol.py, build_protocol; manual pickup_spec and digitized ML CubicSpline.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engine.total_field/integrate; level2_joint_transfer/noise_heating.py; heating_policy.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level2_joint_transfer/noise_heating.py; level2c_pickup_survival.yaml; current continuous metadata.heating_power_uK_per_s. All noise amplitudes are scenario assumptions.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engine.spin_step; quantum_summary and ideal_checkpoint_unitaries. Nominal δ = η V/ħ, sign according to potential convention.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engine.integrate judge fields; protocol.segments: pickup_wait AOD, long segment AOD extra checkpoints, dropoff SLM.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quantum_summary; paper Randomized benchmarking of coherent transport and Large-scale coherent atom transfer Methods.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Fig. 4 and Methods; Ext. Data Fig. 2d; level2c and continuous configs; legacy level5 config.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Sources: direct protocol comparison; precision/convergence evidence; paper Methods short-transfer loss includes likely experimental imperfections; coherence noise discussion.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source: D:\work\MonteCarlo for Atom tweezer\2403.12021v4.pdf</a:t>
            </a:r>
          </a:p>
          <a:p xmlns:a="http://schemas.openxmlformats.org/drawingml/2006/main">
            <a:r>
              <a:t>Paper Fig. 4–6 and Ext. Data Fig. 10; current numerical evidence and protocol audit.</a:t>
            </a:r>
          </a:p>
          <a:p xmlns:a="http://schemas.openxmlformats.org/drawingml/2006/main">
            <a:r>
              <a:t>Current recomputed evidence: D:\work\MonteCarlo for Atom tweezer\reports\stage_review\output\AOD_SLM_continuous_level2c_345_2026-09-14_v10.evidence.json</a:t>
            </a:r>
          </a:p>
          <a:p xmlns:a="http://schemas.openxmlformats.org/drawingml/2006/main">
            <a:r>
              <a:t>Simulation: D:\work\MonteCarlo for Atom tweezer\simulation\level2_joint_transfer/src/continuous_transfer/{protocol,engine,cli}.py</a:t>
            </a:r>
          </a:p>
          <a:p xmlns:a="http://schemas.openxmlformats.org/drawingml/2006/main">
            <a:r>
              <a:t>Config: D:\work\MonteCarlo for Atom tweezer\simulation\level2_joint_transfer/configs/continuous_level2c_345.yaml</a:t>
            </a:r>
          </a:p>
          <a:p xmlns:a="http://schemas.openxmlformats.org/drawingml/2006/main">
            <a:r>
              <a:t>Baseline physical assumptions: D:\work\MonteCarlo for Atom tweezer\simulation\level2_joint_transfer/configs/level2c_pickup_survival.yaml</a:t>
            </a:r>
          </a:p>
          <a:p xmlns:a="http://schemas.openxmlformats.org/drawingml/2006/main">
            <a:r>
              <a:t>Legacy result status: D:\work\MonteCarlo for Atom tweezer\simulation\level2_joint_transfer/outputs/level5_finite_pulse_irb/demo/RESULT_STATUS.md</a:t>
            </a:r>
          </a:p>
          <a:p xmlns:a="http://schemas.openxmlformats.org/drawingml/2006/main">
            <a:r>
              <a:t>Scope: this deck is a standalone scientific comparison. Continuous mechanical + finite-pulse results and legacy independent RB evidence have different validation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598886d84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578519cf34815" /><Relationship Type="http://schemas.openxmlformats.org/officeDocument/2006/relationships/slideLayout" Target="/ppt/slideLayouts/slideLayout1.xml" Id="R6af7c6da2d2948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7c6da2d2948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979f74a4459c" /><Relationship Type="http://schemas.openxmlformats.org/officeDocument/2006/relationships/notesSlide" Target="/ppt/notesSlides/notesSlide1.xml" Id="Rc0e5281ed5f3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bbb956cc94725" /><Relationship Type="http://schemas.openxmlformats.org/officeDocument/2006/relationships/notesSlide" Target="/ppt/notesSlides/notesSlide2.xml" Id="R8474f8d357ec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8258a3d2649cc" /><Relationship Type="http://schemas.openxmlformats.org/officeDocument/2006/relationships/image" Target="/ppt/media/image.png" Id="Rf62d18b7e623487f" /><Relationship Type="http://schemas.openxmlformats.org/officeDocument/2006/relationships/notesSlide" Target="/ppt/notesSlides/notesSlide3.xml" Id="R3b98dfc580ce4f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ac41d3e114f66" /><Relationship Type="http://schemas.openxmlformats.org/officeDocument/2006/relationships/notesSlide" Target="/ppt/notesSlides/notesSlide4.xml" Id="Rdbccd9bbd80a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86ed81316435c" /><Relationship Type="http://schemas.openxmlformats.org/officeDocument/2006/relationships/chart" Target="/ppt/slides/charts/chart1.xml" Id="R629917623db54812" /><Relationship Type="http://schemas.openxmlformats.org/officeDocument/2006/relationships/chart" Target="/ppt/slides/charts/chart2.xml" Id="R360c664770404088" /><Relationship Type="http://schemas.openxmlformats.org/officeDocument/2006/relationships/notesSlide" Target="/ppt/notesSlides/notesSlide5.xml" Id="Rbe4208416e8e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a80503cb449d8" /><Relationship Type="http://schemas.openxmlformats.org/officeDocument/2006/relationships/chart" Target="/ppt/slides/charts/chart3.xml" Id="R4821b8cbe56c4878" /><Relationship Type="http://schemas.openxmlformats.org/officeDocument/2006/relationships/chart" Target="/ppt/slides/charts/chart4.xml" Id="R0ec157c9a94b4e65" /><Relationship Type="http://schemas.openxmlformats.org/officeDocument/2006/relationships/notesSlide" Target="/ppt/notesSlides/notesSlide6.xml" Id="Ra5c87c80d4b44b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8067e3204ad7" /><Relationship Type="http://schemas.openxmlformats.org/officeDocument/2006/relationships/notesSlide" Target="/ppt/notesSlides/notesSlide7.xml" Id="R70a20659840346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c1526c5b7444e" /><Relationship Type="http://schemas.openxmlformats.org/officeDocument/2006/relationships/notesSlide" Target="/ppt/notesSlides/notesSlide8.xml" Id="R26eca7f41686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4678b61b54948" /><Relationship Type="http://schemas.openxmlformats.org/officeDocument/2006/relationships/notesSlide" Target="/ppt/notesSlides/notesSlide9.xml" Id="Rab5f34faadca4b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d35c2953545dc" /><Relationship Type="http://schemas.openxmlformats.org/officeDocument/2006/relationships/image" Target="/ppt/media/image2.png" Id="R883a209bd0644116" /><Relationship Type="http://schemas.openxmlformats.org/officeDocument/2006/relationships/notesSlide" Target="/ppt/notesSlides/notesSlide10.xml" Id="R2df567263ec44f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7820bdbd84d33" /><Relationship Type="http://schemas.openxmlformats.org/officeDocument/2006/relationships/image" Target="/ppt/media/image3.png" Id="Rf23289fca13c4181" /><Relationship Type="http://schemas.openxmlformats.org/officeDocument/2006/relationships/notesSlide" Target="/ppt/notesSlides/notesSlide11.xml" Id="Rbaa545ef3af74b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d76e0187146c3" /><Relationship Type="http://schemas.openxmlformats.org/officeDocument/2006/relationships/chart" Target="/ppt/slides/charts/chart5.xml" Id="R983927a9857d4e9d" /><Relationship Type="http://schemas.openxmlformats.org/officeDocument/2006/relationships/notesSlide" Target="/ppt/notesSlides/notesSlide12.xml" Id="R3a9bbf9d28ad47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5ae16b362401f" /><Relationship Type="http://schemas.openxmlformats.org/officeDocument/2006/relationships/notesSlide" Target="/ppt/notesSlides/notesSlide13.xml" Id="R34347656fa8a4f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f74931174e52" /><Relationship Type="http://schemas.openxmlformats.org/officeDocument/2006/relationships/notesSlide" Target="/ppt/notesSlides/notesSlide14.xml" Id="R5dc7fd6d482744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bb4cb7e046a5" /><Relationship Type="http://schemas.openxmlformats.org/officeDocument/2006/relationships/notesSlide" Target="/ppt/notesSlides/notesSlide15.xml" Id="R1610afe8e10649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078d89f3c48eb" /><Relationship Type="http://schemas.openxmlformats.org/officeDocument/2006/relationships/notesSlide" Target="/ppt/notesSlides/notesSlide16.xml" Id="Rb053ab6fc15846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3619df4a64b4b" /><Relationship Type="http://schemas.openxmlformats.org/officeDocument/2006/relationships/notesSlide" Target="/ppt/notesSlides/notesSlide17.xml" Id="R191860f2734b44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6c5a5e4194fa7" /><Relationship Type="http://schemas.openxmlformats.org/officeDocument/2006/relationships/notesSlide" Target="/ppt/notesSlides/notesSlide18.xml" Id="R29ca2843b0884f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cfc5acf4d44ba" /><Relationship Type="http://schemas.openxmlformats.org/officeDocument/2006/relationships/notesSlide" Target="/ppt/notesSlides/notesSlide19.xml" Id="R1a2e613679ed4d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23f2faad04f36" /><Relationship Type="http://schemas.openxmlformats.org/officeDocument/2006/relationships/notesSlide" Target="/ppt/notesSlides/notesSlide20.xml" Id="Rfd659860e86a4b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5079bc764750" /><Relationship Type="http://schemas.openxmlformats.org/officeDocument/2006/relationships/notesSlide" Target="/ppt/notesSlides/notesSlide21.xml" Id="Rff43f86d13c142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da315b9294806" /><Relationship Type="http://schemas.openxmlformats.org/officeDocument/2006/relationships/notesSlide" Target="/ppt/notesSlides/notesSlide22.xml" Id="R79f7008ed62342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93940e1e41df" /><Relationship Type="http://schemas.openxmlformats.org/officeDocument/2006/relationships/notesSlide" Target="/ppt/notesSlides/notesSlide23.xml" Id="Rfc8b87a961e348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0915047ce4000" /><Relationship Type="http://schemas.openxmlformats.org/officeDocument/2006/relationships/notesSlide" Target="/ppt/notesSlides/notesSlide24.xml" Id="Rf559819fda8547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论文数字化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Data'!$B$2:$B$28</c:f>
              <c:numCache>
                <c:formatCode>0.0</c:formatCode>
                <c:ptCount val="27"/>
                <c:pt idx="0">
                  <c:v>0.925</c:v>
                </c:pt>
                <c:pt idx="1">
                  <c:v>0.8928</c:v>
                </c:pt>
                <c:pt idx="2">
                  <c:v>0.8564</c:v>
                </c:pt>
                <c:pt idx="3">
                  <c:v>0.8482</c:v>
                </c:pt>
                <c:pt idx="4">
                  <c:v>0.8481</c:v>
                </c:pt>
                <c:pt idx="5">
                  <c:v>0.7687</c:v>
                </c:pt>
                <c:pt idx="6">
                  <c:v>0.7272</c:v>
                </c:pt>
                <c:pt idx="7">
                  <c:v>0.7165</c:v>
                </c:pt>
                <c:pt idx="8">
                  <c:v>0.7099</c:v>
                </c:pt>
                <c:pt idx="9">
                  <c:v>0.6457</c:v>
                </c:pt>
                <c:pt idx="10">
                  <c:v>0.6209</c:v>
                </c:pt>
                <c:pt idx="11">
                  <c:v>0.6178</c:v>
                </c:pt>
                <c:pt idx="12">
                  <c:v>0.6236</c:v>
                </c:pt>
                <c:pt idx="13">
                  <c:v>0.5418</c:v>
                </c:pt>
                <c:pt idx="14">
                  <c:v>0.5241</c:v>
                </c:pt>
                <c:pt idx="15">
                  <c:v>0.5241</c:v>
                </c:pt>
                <c:pt idx="16">
                  <c:v>0.5257</c:v>
                </c:pt>
                <c:pt idx="17">
                  <c:v>0.4582</c:v>
                </c:pt>
                <c:pt idx="18">
                  <c:v>0.4397</c:v>
                </c:pt>
                <c:pt idx="19">
                  <c:v>0.4227</c:v>
                </c:pt>
                <c:pt idx="20">
                  <c:v>0.4061</c:v>
                </c:pt>
                <c:pt idx="21">
                  <c:v>0.3906</c:v>
                </c:pt>
                <c:pt idx="22">
                  <c:v>0.3758</c:v>
                </c:pt>
                <c:pt idx="23">
                  <c:v>0.3612</c:v>
                </c:pt>
                <c:pt idx="24">
                  <c:v>0.3419</c:v>
                </c:pt>
                <c:pt idx="25">
                  <c:v>0.3409</c:v>
                </c:pt>
                <c:pt idx="26">
                  <c:v>0.3344</c:v>
                </c:pt>
              </c:numCache>
            </c:numRef>
          </c:val>
          <c:smooth val="0"/>
        </c:ser>
        <c:ser>
          <c:idx val="1"/>
          <c:order val="1"/>
          <c:tx>
            <c:v>连续仿真</c:v>
          </c:tx>
          <c:spPr>
            <a:ln xmlns:a="http://schemas.openxmlformats.org/drawingml/2006/main" w="28575">
              <a:solidFill>
                <a:srgbClr val="BB3E35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</c:numCache>
            </c:numRef>
          </c:cat>
          <c:val>
            <c:numRef>
              <c:f>'Chart Data'!$D$2:$D$28</c:f>
              <c:numCache>
                <c:formatCode>0.0</c:formatCode>
                <c:ptCount val="27"/>
                <c:pt idx="0">
                  <c:v>0.975830078125</c:v>
                </c:pt>
                <c:pt idx="1">
                  <c:v>0.947509765625</c:v>
                </c:pt>
                <c:pt idx="2">
                  <c:v>0.92529296875</c:v>
                </c:pt>
                <c:pt idx="3">
                  <c:v>0.885498046875</c:v>
                </c:pt>
                <c:pt idx="4">
                  <c:v>0.857421875</c:v>
                </c:pt>
                <c:pt idx="5">
                  <c:v>0.80517578125</c:v>
                </c:pt>
                <c:pt idx="6">
                  <c:v>0.780517578125</c:v>
                </c:pt>
                <c:pt idx="7">
                  <c:v>0.730712890625</c:v>
                </c:pt>
                <c:pt idx="8">
                  <c:v>0.698974609375</c:v>
                </c:pt>
                <c:pt idx="9">
                  <c:v>0.650634765625</c:v>
                </c:pt>
                <c:pt idx="10">
                  <c:v>0.6240234375</c:v>
                </c:pt>
                <c:pt idx="11">
                  <c:v>0.583740234375</c:v>
                </c:pt>
                <c:pt idx="12">
                  <c:v>0.56396484375</c:v>
                </c:pt>
                <c:pt idx="13">
                  <c:v>0.520751953125</c:v>
                </c:pt>
                <c:pt idx="14">
                  <c:v>0.500244140625</c:v>
                </c:pt>
                <c:pt idx="15">
                  <c:v>0.462158203125</c:v>
                </c:pt>
                <c:pt idx="16">
                  <c:v>0.449951171875</c:v>
                </c:pt>
                <c:pt idx="17">
                  <c:v>0.418212890625</c:v>
                </c:pt>
                <c:pt idx="18">
                  <c:v>0.406494140625</c:v>
                </c:pt>
                <c:pt idx="19">
                  <c:v>0.3740234375</c:v>
                </c:pt>
                <c:pt idx="20">
                  <c:v>0.358642578125</c:v>
                </c:pt>
                <c:pt idx="21">
                  <c:v>0.33203125</c:v>
                </c:pt>
                <c:pt idx="22">
                  <c:v>0.3212890625</c:v>
                </c:pt>
                <c:pt idx="23">
                  <c:v>0.300537109375</c:v>
                </c:pt>
                <c:pt idx="24">
                  <c:v>0.289794921875</c:v>
                </c:pt>
                <c:pt idx="25">
                  <c:v>0.268798828125</c:v>
                </c:pt>
                <c:pt idx="26">
                  <c:v>0.260986328125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论文数字化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0.0</c:formatCode>
                <c:ptCount val="56"/>
                <c:pt idx="0">
                  <c:v>0.968</c:v>
                </c:pt>
                <c:pt idx="1">
                  <c:v>0.9651</c:v>
                </c:pt>
                <c:pt idx="2">
                  <c:v>0.9534</c:v>
                </c:pt>
                <c:pt idx="3">
                  <c:v>0.9319</c:v>
                </c:pt>
                <c:pt idx="4">
                  <c:v>0.9529</c:v>
                </c:pt>
                <c:pt idx="5">
                  <c:v>0.9451</c:v>
                </c:pt>
                <c:pt idx="6">
                  <c:v>0.9213</c:v>
                </c:pt>
                <c:pt idx="7">
                  <c:v>0.8997</c:v>
                </c:pt>
                <c:pt idx="8">
                  <c:v>0.9181</c:v>
                </c:pt>
                <c:pt idx="9">
                  <c:v>0.9043</c:v>
                </c:pt>
                <c:pt idx="10">
                  <c:v>0.8809</c:v>
                </c:pt>
                <c:pt idx="11">
                  <c:v>0.871</c:v>
                </c:pt>
                <c:pt idx="12">
                  <c:v>0.8728</c:v>
                </c:pt>
                <c:pt idx="13">
                  <c:v>0.8528</c:v>
                </c:pt>
                <c:pt idx="14">
                  <c:v>0.8293</c:v>
                </c:pt>
                <c:pt idx="15">
                  <c:v>0.8236</c:v>
                </c:pt>
                <c:pt idx="16">
                  <c:v>0.8198</c:v>
                </c:pt>
                <c:pt idx="17">
                  <c:v>0.7983</c:v>
                </c:pt>
                <c:pt idx="18">
                  <c:v>0.7852</c:v>
                </c:pt>
                <c:pt idx="19">
                  <c:v>0.7713</c:v>
                </c:pt>
                <c:pt idx="20">
                  <c:v>0.7573</c:v>
                </c:pt>
                <c:pt idx="21">
                  <c:v>0.7442</c:v>
                </c:pt>
                <c:pt idx="22">
                  <c:v>0.7305</c:v>
                </c:pt>
                <c:pt idx="23">
                  <c:v>0.7164</c:v>
                </c:pt>
                <c:pt idx="24">
                  <c:v>0.6939</c:v>
                </c:pt>
                <c:pt idx="25">
                  <c:v>0.6889</c:v>
                </c:pt>
                <c:pt idx="26">
                  <c:v>0.6863</c:v>
                </c:pt>
                <c:pt idx="27">
                  <c:v>0.6657</c:v>
                </c:pt>
                <c:pt idx="28">
                  <c:v>0.6532</c:v>
                </c:pt>
                <c:pt idx="29">
                  <c:v>0.6416</c:v>
                </c:pt>
                <c:pt idx="30">
                  <c:v>0.63</c:v>
                </c:pt>
                <c:pt idx="31">
                  <c:v>0.6192</c:v>
                </c:pt>
                <c:pt idx="32">
                  <c:v>0.6076</c:v>
                </c:pt>
                <c:pt idx="33">
                  <c:v>0.5969</c:v>
                </c:pt>
                <c:pt idx="34">
                  <c:v>0.5823</c:v>
                </c:pt>
                <c:pt idx="35">
                  <c:v>0.5825</c:v>
                </c:pt>
                <c:pt idx="36">
                  <c:v>0.5772</c:v>
                </c:pt>
                <c:pt idx="37">
                  <c:v>0.5557</c:v>
                </c:pt>
                <c:pt idx="38">
                  <c:v>0.5468</c:v>
                </c:pt>
                <c:pt idx="39">
                  <c:v>0.5367</c:v>
                </c:pt>
                <c:pt idx="40">
                  <c:v>0.5282</c:v>
                </c:pt>
                <c:pt idx="41">
                  <c:v>0.5184</c:v>
                </c:pt>
                <c:pt idx="42">
                  <c:v>0.5097</c:v>
                </c:pt>
                <c:pt idx="43">
                  <c:v>0.5013</c:v>
                </c:pt>
                <c:pt idx="44">
                  <c:v>0.492</c:v>
                </c:pt>
                <c:pt idx="45">
                  <c:v>0.492</c:v>
                </c:pt>
                <c:pt idx="46">
                  <c:v>0.4875</c:v>
                </c:pt>
                <c:pt idx="47">
                  <c:v>0.4689</c:v>
                </c:pt>
                <c:pt idx="48">
                  <c:v>0.4608</c:v>
                </c:pt>
                <c:pt idx="49">
                  <c:v>0.454</c:v>
                </c:pt>
                <c:pt idx="50">
                  <c:v>0.4467</c:v>
                </c:pt>
                <c:pt idx="51">
                  <c:v>0.4393</c:v>
                </c:pt>
                <c:pt idx="52">
                  <c:v>0.4321</c:v>
                </c:pt>
                <c:pt idx="53">
                  <c:v>0.4253</c:v>
                </c:pt>
                <c:pt idx="54">
                  <c:v>0.4135</c:v>
                </c:pt>
                <c:pt idx="55">
                  <c:v>0.4135</c:v>
                </c:pt>
              </c:numCache>
            </c:numRef>
          </c:val>
          <c:smooth val="0"/>
        </c:ser>
        <c:ser>
          <c:idx val="1"/>
          <c:order val="1"/>
          <c:tx>
            <c:v>连续仿真</c:v>
          </c:tx>
          <c:spPr>
            <a:ln xmlns:a="http://schemas.openxmlformats.org/drawingml/2006/main" w="28575">
              <a:solidFill>
                <a:srgbClr val="BB3E35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0.0</c:formatCode>
                <c:ptCount val="56"/>
                <c:pt idx="0">
                  <c:v>0.98388671875</c:v>
                </c:pt>
                <c:pt idx="1">
                  <c:v>0.979736328125</c:v>
                </c:pt>
                <c:pt idx="2">
                  <c:v>0.97607421875</c:v>
                </c:pt>
                <c:pt idx="3">
                  <c:v>0.9697265625</c:v>
                </c:pt>
                <c:pt idx="4">
                  <c:v>0.962890625</c:v>
                </c:pt>
                <c:pt idx="5">
                  <c:v>0.955322265625</c:v>
                </c:pt>
                <c:pt idx="6">
                  <c:v>0.948974609375</c:v>
                </c:pt>
                <c:pt idx="7">
                  <c:v>0.940673828125</c:v>
                </c:pt>
                <c:pt idx="8">
                  <c:v>0.93310546875</c:v>
                </c:pt>
                <c:pt idx="9">
                  <c:v>0.922607421875</c:v>
                </c:pt>
                <c:pt idx="10">
                  <c:v>0.9150390625</c:v>
                </c:pt>
                <c:pt idx="11">
                  <c:v>0.904541015625</c:v>
                </c:pt>
                <c:pt idx="12">
                  <c:v>0.900146484375</c:v>
                </c:pt>
                <c:pt idx="13">
                  <c:v>0.89013671875</c:v>
                </c:pt>
                <c:pt idx="14">
                  <c:v>0.880859375</c:v>
                </c:pt>
                <c:pt idx="15">
                  <c:v>0.866455078125</c:v>
                </c:pt>
                <c:pt idx="16">
                  <c:v>0.860107421875</c:v>
                </c:pt>
                <c:pt idx="17">
                  <c:v>0.85107421875</c:v>
                </c:pt>
                <c:pt idx="18">
                  <c:v>0.84375</c:v>
                </c:pt>
                <c:pt idx="19">
                  <c:v>0.831298828125</c:v>
                </c:pt>
                <c:pt idx="20">
                  <c:v>0.822021484375</c:v>
                </c:pt>
                <c:pt idx="21">
                  <c:v>0.81005859375</c:v>
                </c:pt>
                <c:pt idx="22">
                  <c:v>0.80224609375</c:v>
                </c:pt>
                <c:pt idx="23">
                  <c:v>0.788330078125</c:v>
                </c:pt>
                <c:pt idx="24">
                  <c:v>0.778564453125</c:v>
                </c:pt>
                <c:pt idx="25">
                  <c:v>0.763427734375</c:v>
                </c:pt>
                <c:pt idx="26">
                  <c:v>0.754638671875</c:v>
                </c:pt>
                <c:pt idx="27">
                  <c:v>0.74072265625</c:v>
                </c:pt>
                <c:pt idx="28">
                  <c:v>0.73291015625</c:v>
                </c:pt>
                <c:pt idx="29">
                  <c:v>0.72314453125</c:v>
                </c:pt>
                <c:pt idx="30">
                  <c:v>0.713623046875</c:v>
                </c:pt>
                <c:pt idx="31">
                  <c:v>0.70263671875</c:v>
                </c:pt>
                <c:pt idx="32">
                  <c:v>0.696533203125</c:v>
                </c:pt>
                <c:pt idx="33">
                  <c:v>0.688232421875</c:v>
                </c:pt>
                <c:pt idx="34">
                  <c:v>0.680419921875</c:v>
                </c:pt>
                <c:pt idx="35">
                  <c:v>0.667236328125</c:v>
                </c:pt>
                <c:pt idx="36">
                  <c:v>0.6611328125</c:v>
                </c:pt>
                <c:pt idx="37">
                  <c:v>0.653076171875</c:v>
                </c:pt>
                <c:pt idx="38">
                  <c:v>0.644775390625</c:v>
                </c:pt>
                <c:pt idx="39">
                  <c:v>0.630859375</c:v>
                </c:pt>
                <c:pt idx="40">
                  <c:v>0.62109375</c:v>
                </c:pt>
                <c:pt idx="41">
                  <c:v>0.607666015625</c:v>
                </c:pt>
                <c:pt idx="42">
                  <c:v>0.6005859375</c:v>
                </c:pt>
                <c:pt idx="43">
                  <c:v>0.586669921875</c:v>
                </c:pt>
                <c:pt idx="44">
                  <c:v>0.58056640625</c:v>
                </c:pt>
                <c:pt idx="45">
                  <c:v>0.5673828125</c:v>
                </c:pt>
                <c:pt idx="46">
                  <c:v>0.5634765625</c:v>
                </c:pt>
                <c:pt idx="47">
                  <c:v>0.5546875</c:v>
                </c:pt>
                <c:pt idx="48">
                  <c:v>0.548583984375</c:v>
                </c:pt>
                <c:pt idx="49">
                  <c:v>0.536865234375</c:v>
                </c:pt>
                <c:pt idx="50">
                  <c:v>0.531494140625</c:v>
                </c:pt>
                <c:pt idx="51">
                  <c:v>0.52294921875</c:v>
                </c:pt>
                <c:pt idx="52">
                  <c:v>0.517822265625</c:v>
                </c:pt>
                <c:pt idx="53">
                  <c:v>0.50927734375</c:v>
                </c:pt>
                <c:pt idx="54">
                  <c:v>0.50341796875</c:v>
                </c:pt>
                <c:pt idx="55">
                  <c:v>0.494873046875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论文数字化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0.0</c:formatCode>
                <c:ptCount val="56"/>
                <c:pt idx="0">
                  <c:v>0.9706</c:v>
                </c:pt>
                <c:pt idx="1">
                  <c:v>0.9719</c:v>
                </c:pt>
                <c:pt idx="2">
                  <c:v>0.9699</c:v>
                </c:pt>
                <c:pt idx="3">
                  <c:v>0.9682</c:v>
                </c:pt>
                <c:pt idx="4">
                  <c:v>0.9664</c:v>
                </c:pt>
                <c:pt idx="5">
                  <c:v>0.9637</c:v>
                </c:pt>
                <c:pt idx="6">
                  <c:v>0.9474</c:v>
                </c:pt>
                <c:pt idx="7">
                  <c:v>0.9259</c:v>
                </c:pt>
                <c:pt idx="8">
                  <c:v>0.9471</c:v>
                </c:pt>
                <c:pt idx="9">
                  <c:v>0.9511</c:v>
                </c:pt>
                <c:pt idx="10">
                  <c:v>0.9339</c:v>
                </c:pt>
                <c:pt idx="11">
                  <c:v>0.9139</c:v>
                </c:pt>
                <c:pt idx="12">
                  <c:v>0.9331</c:v>
                </c:pt>
                <c:pt idx="13">
                  <c:v>0.9296</c:v>
                </c:pt>
                <c:pt idx="14">
                  <c:v>0.9093</c:v>
                </c:pt>
                <c:pt idx="15">
                  <c:v>0.8886</c:v>
                </c:pt>
                <c:pt idx="16">
                  <c:v>0.9078</c:v>
                </c:pt>
                <c:pt idx="17">
                  <c:v>0.8958</c:v>
                </c:pt>
                <c:pt idx="18">
                  <c:v>0.8861</c:v>
                </c:pt>
                <c:pt idx="19">
                  <c:v>0.8776</c:v>
                </c:pt>
                <c:pt idx="20">
                  <c:v>0.8677</c:v>
                </c:pt>
                <c:pt idx="21">
                  <c:v>0.8581</c:v>
                </c:pt>
                <c:pt idx="22">
                  <c:v>0.8489</c:v>
                </c:pt>
                <c:pt idx="23">
                  <c:v>0.8388</c:v>
                </c:pt>
                <c:pt idx="24">
                  <c:v>0.8188</c:v>
                </c:pt>
                <c:pt idx="25">
                  <c:v>0.8152</c:v>
                </c:pt>
                <c:pt idx="26">
                  <c:v>0.8152</c:v>
                </c:pt>
                <c:pt idx="27">
                  <c:v>0.8014</c:v>
                </c:pt>
                <c:pt idx="28">
                  <c:v>0.7916</c:v>
                </c:pt>
                <c:pt idx="29">
                  <c:v>0.7817</c:v>
                </c:pt>
                <c:pt idx="30">
                  <c:v>0.7723</c:v>
                </c:pt>
                <c:pt idx="31">
                  <c:v>0.7629</c:v>
                </c:pt>
                <c:pt idx="32">
                  <c:v>0.7528</c:v>
                </c:pt>
                <c:pt idx="33">
                  <c:v>0.7437</c:v>
                </c:pt>
                <c:pt idx="34">
                  <c:v>0.727</c:v>
                </c:pt>
                <c:pt idx="35">
                  <c:v>0.7259</c:v>
                </c:pt>
                <c:pt idx="36">
                  <c:v>0.7249</c:v>
                </c:pt>
                <c:pt idx="37">
                  <c:v>0.7082</c:v>
                </c:pt>
                <c:pt idx="38">
                  <c:v>0.6991</c:v>
                </c:pt>
                <c:pt idx="39">
                  <c:v>0.6909</c:v>
                </c:pt>
                <c:pt idx="40">
                  <c:v>0.6826</c:v>
                </c:pt>
                <c:pt idx="41">
                  <c:v>0.6744</c:v>
                </c:pt>
                <c:pt idx="42">
                  <c:v>0.6662</c:v>
                </c:pt>
                <c:pt idx="43">
                  <c:v>0.6582</c:v>
                </c:pt>
                <c:pt idx="44">
                  <c:v>0.6498</c:v>
                </c:pt>
                <c:pt idx="45">
                  <c:v>0.6498</c:v>
                </c:pt>
                <c:pt idx="46">
                  <c:v>0.6459</c:v>
                </c:pt>
                <c:pt idx="47">
                  <c:v>0.6275</c:v>
                </c:pt>
                <c:pt idx="48">
                  <c:v>0.6203</c:v>
                </c:pt>
                <c:pt idx="49">
                  <c:v>0.6135</c:v>
                </c:pt>
                <c:pt idx="50">
                  <c:v>0.6062</c:v>
                </c:pt>
                <c:pt idx="51">
                  <c:v>0.5996</c:v>
                </c:pt>
                <c:pt idx="52">
                  <c:v>0.5929</c:v>
                </c:pt>
                <c:pt idx="53">
                  <c:v>0.5857</c:v>
                </c:pt>
                <c:pt idx="54">
                  <c:v>0.5732</c:v>
                </c:pt>
                <c:pt idx="55">
                  <c:v>0.5726</c:v>
                </c:pt>
              </c:numCache>
            </c:numRef>
          </c:val>
          <c:smooth val="0"/>
        </c:ser>
        <c:ser>
          <c:idx val="1"/>
          <c:order val="1"/>
          <c:tx>
            <c:v>连续仿真</c:v>
          </c:tx>
          <c:spPr>
            <a:ln xmlns:a="http://schemas.openxmlformats.org/drawingml/2006/main" w="28575">
              <a:solidFill>
                <a:srgbClr val="BB3E35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0.0</c:formatCode>
                <c:ptCount val="56"/>
                <c:pt idx="0">
                  <c:v>0.9482421875</c:v>
                </c:pt>
                <c:pt idx="1">
                  <c:v>0.9365234375</c:v>
                </c:pt>
                <c:pt idx="2">
                  <c:v>0.930419921875</c:v>
                </c:pt>
                <c:pt idx="3">
                  <c:v>0.919189453125</c:v>
                </c:pt>
                <c:pt idx="4">
                  <c:v>0.9130859375</c:v>
                </c:pt>
                <c:pt idx="5">
                  <c:v>0.90380859375</c:v>
                </c:pt>
                <c:pt idx="6">
                  <c:v>0.898681640625</c:v>
                </c:pt>
                <c:pt idx="7">
                  <c:v>0.891845703125</c:v>
                </c:pt>
                <c:pt idx="8">
                  <c:v>0.88671875</c:v>
                </c:pt>
                <c:pt idx="9">
                  <c:v>0.880859375</c:v>
                </c:pt>
                <c:pt idx="10">
                  <c:v>0.874267578125</c:v>
                </c:pt>
                <c:pt idx="11">
                  <c:v>0.864501953125</c:v>
                </c:pt>
                <c:pt idx="12">
                  <c:v>0.859619140625</c:v>
                </c:pt>
                <c:pt idx="13">
                  <c:v>0.852294921875</c:v>
                </c:pt>
                <c:pt idx="14">
                  <c:v>0.8505859375</c:v>
                </c:pt>
                <c:pt idx="15">
                  <c:v>0.842529296875</c:v>
                </c:pt>
                <c:pt idx="16">
                  <c:v>0.838623046875</c:v>
                </c:pt>
                <c:pt idx="17">
                  <c:v>0.829833984375</c:v>
                </c:pt>
                <c:pt idx="18">
                  <c:v>0.82470703125</c:v>
                </c:pt>
                <c:pt idx="19">
                  <c:v>0.8173828125</c:v>
                </c:pt>
                <c:pt idx="20">
                  <c:v>0.8134765625</c:v>
                </c:pt>
                <c:pt idx="21">
                  <c:v>0.8076171875</c:v>
                </c:pt>
                <c:pt idx="22">
                  <c:v>0.803466796875</c:v>
                </c:pt>
                <c:pt idx="23">
                  <c:v>0.79345703125</c:v>
                </c:pt>
                <c:pt idx="24">
                  <c:v>0.78955078125</c:v>
                </c:pt>
                <c:pt idx="25">
                  <c:v>0.781494140625</c:v>
                </c:pt>
                <c:pt idx="26">
                  <c:v>0.777099609375</c:v>
                </c:pt>
                <c:pt idx="27">
                  <c:v>0.76904296875</c:v>
                </c:pt>
                <c:pt idx="28">
                  <c:v>0.76611328125</c:v>
                </c:pt>
                <c:pt idx="29">
                  <c:v>0.759765625</c:v>
                </c:pt>
                <c:pt idx="30">
                  <c:v>0.755859375</c:v>
                </c:pt>
                <c:pt idx="31">
                  <c:v>0.75048828125</c:v>
                </c:pt>
                <c:pt idx="32">
                  <c:v>0.74658203125</c:v>
                </c:pt>
                <c:pt idx="33">
                  <c:v>0.739501953125</c:v>
                </c:pt>
                <c:pt idx="34">
                  <c:v>0.734130859375</c:v>
                </c:pt>
                <c:pt idx="35">
                  <c:v>0.72802734375</c:v>
                </c:pt>
                <c:pt idx="36">
                  <c:v>0.72412109375</c:v>
                </c:pt>
                <c:pt idx="37">
                  <c:v>0.71875</c:v>
                </c:pt>
                <c:pt idx="38">
                  <c:v>0.716064453125</c:v>
                </c:pt>
                <c:pt idx="39">
                  <c:v>0.709716796875</c:v>
                </c:pt>
                <c:pt idx="40">
                  <c:v>0.704345703125</c:v>
                </c:pt>
                <c:pt idx="41">
                  <c:v>0.6982421875</c:v>
                </c:pt>
                <c:pt idx="42">
                  <c:v>0.6943359375</c:v>
                </c:pt>
                <c:pt idx="43">
                  <c:v>0.686767578125</c:v>
                </c:pt>
                <c:pt idx="44">
                  <c:v>0.681640625</c:v>
                </c:pt>
                <c:pt idx="45">
                  <c:v>0.67529296875</c:v>
                </c:pt>
                <c:pt idx="46">
                  <c:v>0.672119140625</c:v>
                </c:pt>
                <c:pt idx="47">
                  <c:v>0.6669921875</c:v>
                </c:pt>
                <c:pt idx="48">
                  <c:v>0.662841796875</c:v>
                </c:pt>
                <c:pt idx="49">
                  <c:v>0.655517578125</c:v>
                </c:pt>
                <c:pt idx="50">
                  <c:v>0.65234375</c:v>
                </c:pt>
                <c:pt idx="51">
                  <c:v>0.64697265625</c:v>
                </c:pt>
                <c:pt idx="52">
                  <c:v>0.642578125</c:v>
                </c:pt>
                <c:pt idx="53">
                  <c:v>0.6376953125</c:v>
                </c:pt>
                <c:pt idx="54">
                  <c:v>0.633544921875</c:v>
                </c:pt>
                <c:pt idx="55">
                  <c:v>0.62841796875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论文数字化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cat>
            <c:numRef>
              <c:f>'Chart Data'!$A$2:$A$57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Data'!$B$2:$B$57</c:f>
              <c:numCache>
                <c:formatCode>0.0</c:formatCode>
                <c:ptCount val="56"/>
                <c:pt idx="0">
                  <c:v>0.9899</c:v>
                </c:pt>
                <c:pt idx="1">
                  <c:v>0.9831</c:v>
                </c:pt>
                <c:pt idx="2">
                  <c:v>0.9823</c:v>
                </c:pt>
                <c:pt idx="3">
                  <c:v>0.9823</c:v>
                </c:pt>
                <c:pt idx="4">
                  <c:v>0.9823</c:v>
                </c:pt>
                <c:pt idx="5">
                  <c:v>0.9755</c:v>
                </c:pt>
                <c:pt idx="6">
                  <c:v>0.9713</c:v>
                </c:pt>
                <c:pt idx="7">
                  <c:v>0.9721</c:v>
                </c:pt>
                <c:pt idx="8">
                  <c:v>0.9722</c:v>
                </c:pt>
                <c:pt idx="9">
                  <c:v>0.9671</c:v>
                </c:pt>
                <c:pt idx="10">
                  <c:v>0.9595</c:v>
                </c:pt>
                <c:pt idx="11">
                  <c:v>0.9587</c:v>
                </c:pt>
                <c:pt idx="12">
                  <c:v>0.9586</c:v>
                </c:pt>
                <c:pt idx="13">
                  <c:v>0.9532</c:v>
                </c:pt>
                <c:pt idx="14">
                  <c:v>0.9416</c:v>
                </c:pt>
                <c:pt idx="15">
                  <c:v>0.9401</c:v>
                </c:pt>
                <c:pt idx="16">
                  <c:v>0.9409</c:v>
                </c:pt>
                <c:pt idx="17">
                  <c:v>0.935</c:v>
                </c:pt>
                <c:pt idx="18">
                  <c:v>0.9297</c:v>
                </c:pt>
                <c:pt idx="19">
                  <c:v>0.924</c:v>
                </c:pt>
                <c:pt idx="20">
                  <c:v>0.9181</c:v>
                </c:pt>
                <c:pt idx="21">
                  <c:v>0.9118</c:v>
                </c:pt>
                <c:pt idx="22">
                  <c:v>0.906</c:v>
                </c:pt>
                <c:pt idx="23">
                  <c:v>0.8995</c:v>
                </c:pt>
                <c:pt idx="24">
                  <c:v>0.8979</c:v>
                </c:pt>
                <c:pt idx="25">
                  <c:v>0.8987</c:v>
                </c:pt>
                <c:pt idx="26">
                  <c:v>0.8925</c:v>
                </c:pt>
                <c:pt idx="27">
                  <c:v>0.8723</c:v>
                </c:pt>
                <c:pt idx="28">
                  <c:v>0.8643</c:v>
                </c:pt>
                <c:pt idx="29">
                  <c:v>0.8574</c:v>
                </c:pt>
                <c:pt idx="30">
                  <c:v>0.8506</c:v>
                </c:pt>
                <c:pt idx="31">
                  <c:v>0.8429</c:v>
                </c:pt>
                <c:pt idx="32">
                  <c:v>0.8355</c:v>
                </c:pt>
                <c:pt idx="33">
                  <c:v>0.8287</c:v>
                </c:pt>
                <c:pt idx="34">
                  <c:v>0.8156</c:v>
                </c:pt>
                <c:pt idx="35">
                  <c:v>0.8152</c:v>
                </c:pt>
                <c:pt idx="36">
                  <c:v>0.8143</c:v>
                </c:pt>
                <c:pt idx="37">
                  <c:v>0.8</c:v>
                </c:pt>
                <c:pt idx="38">
                  <c:v>0.7923</c:v>
                </c:pt>
                <c:pt idx="39">
                  <c:v>0.7848</c:v>
                </c:pt>
                <c:pt idx="40">
                  <c:v>0.7781</c:v>
                </c:pt>
                <c:pt idx="41">
                  <c:v>0.7706</c:v>
                </c:pt>
                <c:pt idx="42">
                  <c:v>0.7632</c:v>
                </c:pt>
                <c:pt idx="43">
                  <c:v>0.7561</c:v>
                </c:pt>
                <c:pt idx="44">
                  <c:v>0.7417</c:v>
                </c:pt>
                <c:pt idx="45">
                  <c:v>0.7409</c:v>
                </c:pt>
                <c:pt idx="46">
                  <c:v>0.7404</c:v>
                </c:pt>
                <c:pt idx="47">
                  <c:v>0.7279</c:v>
                </c:pt>
                <c:pt idx="48">
                  <c:v>0.7207</c:v>
                </c:pt>
                <c:pt idx="49">
                  <c:v>0.714</c:v>
                </c:pt>
                <c:pt idx="50">
                  <c:v>0.7074</c:v>
                </c:pt>
                <c:pt idx="51">
                  <c:v>0.7009</c:v>
                </c:pt>
                <c:pt idx="52">
                  <c:v>0.6943</c:v>
                </c:pt>
                <c:pt idx="53">
                  <c:v>0.687</c:v>
                </c:pt>
                <c:pt idx="54">
                  <c:v>0.6688</c:v>
                </c:pt>
                <c:pt idx="55">
                  <c:v>0.6633</c:v>
                </c:pt>
              </c:numCache>
            </c:numRef>
          </c:val>
          <c:smooth val="0"/>
        </c:ser>
        <c:ser>
          <c:idx val="1"/>
          <c:order val="1"/>
          <c:tx>
            <c:v>连续仿真</c:v>
          </c:tx>
          <c:spPr>
            <a:ln xmlns:a="http://schemas.openxmlformats.org/drawingml/2006/main" w="28575">
              <a:solidFill>
                <a:srgbClr val="BB3E35"/>
              </a:solidFill>
            </a:ln>
          </c:spPr>
          <c:marker>
            <c:symbol val="none"/>
          </c:marker>
          <c:cat>
            <c:numRef>
              <c:f>'Chart Data'!$C$2:$C$57</c:f>
              <c:numCache>
                <c:formatCode>General</c:formatCode>
                <c:ptCount val="5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  <c:pt idx="20">
                  <c:v>25</c:v>
                </c:pt>
                <c:pt idx="21">
                  <c:v>26</c:v>
                </c:pt>
                <c:pt idx="22">
                  <c:v>27</c:v>
                </c:pt>
                <c:pt idx="23">
                  <c:v>28</c:v>
                </c:pt>
                <c:pt idx="24">
                  <c:v>29</c:v>
                </c:pt>
                <c:pt idx="25">
                  <c:v>30</c:v>
                </c:pt>
                <c:pt idx="26">
                  <c:v>31</c:v>
                </c:pt>
                <c:pt idx="27">
                  <c:v>32</c:v>
                </c:pt>
                <c:pt idx="28">
                  <c:v>33</c:v>
                </c:pt>
                <c:pt idx="29">
                  <c:v>34</c:v>
                </c:pt>
                <c:pt idx="30">
                  <c:v>35</c:v>
                </c:pt>
                <c:pt idx="31">
                  <c:v>36</c:v>
                </c:pt>
                <c:pt idx="32">
                  <c:v>37</c:v>
                </c:pt>
                <c:pt idx="33">
                  <c:v>38</c:v>
                </c:pt>
                <c:pt idx="34">
                  <c:v>39</c:v>
                </c:pt>
                <c:pt idx="35">
                  <c:v>40</c:v>
                </c:pt>
                <c:pt idx="36">
                  <c:v>41</c:v>
                </c:pt>
                <c:pt idx="37">
                  <c:v>42</c:v>
                </c:pt>
                <c:pt idx="38">
                  <c:v>43</c:v>
                </c:pt>
                <c:pt idx="39">
                  <c:v>44</c:v>
                </c:pt>
                <c:pt idx="40">
                  <c:v>45</c:v>
                </c:pt>
                <c:pt idx="41">
                  <c:v>46</c:v>
                </c:pt>
                <c:pt idx="42">
                  <c:v>47</c:v>
                </c:pt>
                <c:pt idx="43">
                  <c:v>48</c:v>
                </c:pt>
                <c:pt idx="44">
                  <c:v>49</c:v>
                </c:pt>
                <c:pt idx="45">
                  <c:v>50</c:v>
                </c:pt>
                <c:pt idx="46">
                  <c:v>51</c:v>
                </c:pt>
                <c:pt idx="47">
                  <c:v>52</c:v>
                </c:pt>
                <c:pt idx="48">
                  <c:v>53</c:v>
                </c:pt>
                <c:pt idx="49">
                  <c:v>54</c:v>
                </c:pt>
                <c:pt idx="50">
                  <c:v>55</c:v>
                </c:pt>
                <c:pt idx="51">
                  <c:v>56</c:v>
                </c:pt>
                <c:pt idx="52">
                  <c:v>57</c:v>
                </c:pt>
                <c:pt idx="53">
                  <c:v>58</c:v>
                </c:pt>
                <c:pt idx="54">
                  <c:v>59</c:v>
                </c:pt>
                <c:pt idx="55">
                  <c:v>60</c:v>
                </c:pt>
              </c:numCache>
            </c:numRef>
          </c:cat>
          <c:val>
            <c:numRef>
              <c:f>'Chart Data'!$D$2:$D$57</c:f>
              <c:numCache>
                <c:formatCode>0.0</c:formatCode>
                <c:ptCount val="56"/>
                <c:pt idx="0">
                  <c:v>0.942626953125</c:v>
                </c:pt>
                <c:pt idx="1">
                  <c:v>0.935302734375</c:v>
                </c:pt>
                <c:pt idx="2">
                  <c:v>0.93115234375</c:v>
                </c:pt>
                <c:pt idx="3">
                  <c:v>0.928466796875</c:v>
                </c:pt>
                <c:pt idx="4">
                  <c:v>0.92529296875</c:v>
                </c:pt>
                <c:pt idx="5">
                  <c:v>0.920654296875</c:v>
                </c:pt>
                <c:pt idx="6">
                  <c:v>0.9150390625</c:v>
                </c:pt>
                <c:pt idx="7">
                  <c:v>0.9111328125</c:v>
                </c:pt>
                <c:pt idx="8">
                  <c:v>0.908203125</c:v>
                </c:pt>
                <c:pt idx="9">
                  <c:v>0.905517578125</c:v>
                </c:pt>
                <c:pt idx="10">
                  <c:v>0.90234375</c:v>
                </c:pt>
                <c:pt idx="11">
                  <c:v>0.89990234375</c:v>
                </c:pt>
                <c:pt idx="12">
                  <c:v>0.89697265625</c:v>
                </c:pt>
                <c:pt idx="13">
                  <c:v>0.893310546875</c:v>
                </c:pt>
                <c:pt idx="14">
                  <c:v>0.890625</c:v>
                </c:pt>
                <c:pt idx="15">
                  <c:v>0.885986328125</c:v>
                </c:pt>
                <c:pt idx="16">
                  <c:v>0.883056640625</c:v>
                </c:pt>
                <c:pt idx="17">
                  <c:v>0.88037109375</c:v>
                </c:pt>
                <c:pt idx="18">
                  <c:v>0.877197265625</c:v>
                </c:pt>
                <c:pt idx="19">
                  <c:v>0.872802734375</c:v>
                </c:pt>
                <c:pt idx="20">
                  <c:v>0.869873046875</c:v>
                </c:pt>
                <c:pt idx="21">
                  <c:v>0.867919921875</c:v>
                </c:pt>
                <c:pt idx="22">
                  <c:v>0.864990234375</c:v>
                </c:pt>
                <c:pt idx="23">
                  <c:v>0.86083984375</c:v>
                </c:pt>
                <c:pt idx="24">
                  <c:v>0.85791015625</c:v>
                </c:pt>
                <c:pt idx="25">
                  <c:v>0.853271484375</c:v>
                </c:pt>
                <c:pt idx="26">
                  <c:v>0.8515625</c:v>
                </c:pt>
                <c:pt idx="27">
                  <c:v>0.848388671875</c:v>
                </c:pt>
                <c:pt idx="28">
                  <c:v>0.84423828125</c:v>
                </c:pt>
                <c:pt idx="29">
                  <c:v>0.841796875</c:v>
                </c:pt>
                <c:pt idx="30">
                  <c:v>0.8369140625</c:v>
                </c:pt>
                <c:pt idx="31">
                  <c:v>0.83447265625</c:v>
                </c:pt>
                <c:pt idx="32">
                  <c:v>0.8310546875</c:v>
                </c:pt>
                <c:pt idx="33">
                  <c:v>0.82763671875</c:v>
                </c:pt>
                <c:pt idx="34">
                  <c:v>0.82470703125</c:v>
                </c:pt>
                <c:pt idx="35">
                  <c:v>0.820556640625</c:v>
                </c:pt>
                <c:pt idx="36">
                  <c:v>0.8173828125</c:v>
                </c:pt>
                <c:pt idx="37">
                  <c:v>0.812744140625</c:v>
                </c:pt>
                <c:pt idx="38">
                  <c:v>0.810791015625</c:v>
                </c:pt>
                <c:pt idx="39">
                  <c:v>0.8056640625</c:v>
                </c:pt>
                <c:pt idx="40">
                  <c:v>0.80322265625</c:v>
                </c:pt>
                <c:pt idx="41">
                  <c:v>0.800048828125</c:v>
                </c:pt>
                <c:pt idx="42">
                  <c:v>0.79736328125</c:v>
                </c:pt>
                <c:pt idx="43">
                  <c:v>0.792236328125</c:v>
                </c:pt>
                <c:pt idx="44">
                  <c:v>0.788330078125</c:v>
                </c:pt>
                <c:pt idx="45">
                  <c:v>0.784423828125</c:v>
                </c:pt>
                <c:pt idx="46">
                  <c:v>0.7822265625</c:v>
                </c:pt>
                <c:pt idx="47">
                  <c:v>0.7783203125</c:v>
                </c:pt>
                <c:pt idx="48">
                  <c:v>0.774658203125</c:v>
                </c:pt>
                <c:pt idx="49">
                  <c:v>0.770751953125</c:v>
                </c:pt>
                <c:pt idx="50">
                  <c:v>0.766845703125</c:v>
                </c:pt>
                <c:pt idx="51">
                  <c:v>0.76171875</c:v>
                </c:pt>
                <c:pt idx="52">
                  <c:v>0.75830078125</c:v>
                </c:pt>
                <c:pt idx="53">
                  <c:v>0.75390625</c:v>
                </c:pt>
                <c:pt idx="54">
                  <c:v>0.75146484375</c:v>
                </c:pt>
                <c:pt idx="55">
                  <c:v>0.7470703125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存活概率 S(n)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短转移 无 DD</c:v>
          </c:tx>
          <c:spPr>
            <a:ln xmlns:a="http://schemas.openxmlformats.org/drawingml/2006/main" w="19050">
              <a:solidFill>
                <a:srgbClr val="687787"/>
              </a:solidFill>
            </a:ln>
          </c:spPr>
          <c:marker>
            <c:symbol val="none"/>
          </c:marker>
          <c:cat>
            <c:numRef>
              <c:f>'Chart Data'!$A$2:$A$62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cat>
          <c:val>
            <c:numRef>
              <c:f>'Chart Data'!$B$2:$B$62</c:f>
              <c:numCache>
                <c:formatCode>0.0</c:formatCode>
                <c:ptCount val="61"/>
                <c:pt idx="0">
                  <c:v>1</c:v>
                </c:pt>
                <c:pt idx="1">
                  <c:v>0.994837049165</c:v>
                </c:pt>
                <c:pt idx="2">
                  <c:v>0.981278997763</c:v>
                </c:pt>
                <c:pt idx="3">
                  <c:v>0.956525415636</c:v>
                </c:pt>
                <c:pt idx="4">
                  <c:v>0.925751900737</c:v>
                </c:pt>
                <c:pt idx="5">
                  <c:v>0.882986625631</c:v>
                </c:pt>
                <c:pt idx="6">
                  <c:v>0.838844127125</c:v>
                </c:pt>
                <c:pt idx="7">
                  <c:v>0.783819418269</c:v>
                </c:pt>
                <c:pt idx="8">
                  <c:v>0.730533305906</c:v>
                </c:pt>
                <c:pt idx="9">
                  <c:v>0.669431476963</c:v>
                </c:pt>
                <c:pt idx="10">
                  <c:v>0.615042743621</c:v>
                </c:pt>
                <c:pt idx="11">
                  <c:v>0.556113959908</c:v>
                </c:pt>
                <c:pt idx="12">
                  <c:v>0.504055430073</c:v>
                </c:pt>
                <c:pt idx="13">
                  <c:v>0.450760149196</c:v>
                </c:pt>
                <c:pt idx="14">
                  <c:v>0.399497691128</c:v>
                </c:pt>
                <c:pt idx="15">
                  <c:v>0.345465005389</c:v>
                </c:pt>
                <c:pt idx="16">
                  <c:v>0.297605801443</c:v>
                </c:pt>
                <c:pt idx="17">
                  <c:v>0.247742624161</c:v>
                </c:pt>
                <c:pt idx="18">
                  <c:v>0.208318271829</c:v>
                </c:pt>
                <c:pt idx="19">
                  <c:v>0.170202839495</c:v>
                </c:pt>
                <c:pt idx="20">
                  <c:v>0.137092727807</c:v>
                </c:pt>
                <c:pt idx="21">
                  <c:v>0.10170913559</c:v>
                </c:pt>
                <c:pt idx="22">
                  <c:v>0.0747063234282</c:v>
                </c:pt>
                <c:pt idx="23">
                  <c:v>0.0513157689022</c:v>
                </c:pt>
                <c:pt idx="24">
                  <c:v>0.0366219975526</c:v>
                </c:pt>
                <c:pt idx="25">
                  <c:v>0.0245231294869</c:v>
                </c:pt>
                <c:pt idx="26">
                  <c:v>0.0160365821143</c:v>
                </c:pt>
                <c:pt idx="27">
                  <c:v>0.0151518388748</c:v>
                </c:pt>
                <c:pt idx="28">
                  <c:v>0.0162813247771</c:v>
                </c:pt>
                <c:pt idx="29">
                  <c:v>0.0205150783437</c:v>
                </c:pt>
                <c:pt idx="30">
                  <c:v>0.0263406741873</c:v>
                </c:pt>
                <c:pt idx="31">
                  <c:v>0.0249806680145</c:v>
                </c:pt>
                <c:pt idx="32">
                  <c:v>0.0217797792004</c:v>
                </c:pt>
                <c:pt idx="33">
                  <c:v>0.0158816064109</c:v>
                </c:pt>
                <c:pt idx="34">
                  <c:v>0.0120909540738</c:v>
                </c:pt>
                <c:pt idx="35">
                  <c:v>0.0122688215227</c:v>
                </c:pt>
                <c:pt idx="36">
                  <c:v>0.0154466302338</c:v>
                </c:pt>
                <c:pt idx="37">
                  <c:v>0.0206703459594</c:v>
                </c:pt>
                <c:pt idx="38">
                  <c:v>0.0242593774483</c:v>
                </c:pt>
                <c:pt idx="39">
                  <c:v>0.022796727519</c:v>
                </c:pt>
                <c:pt idx="40">
                  <c:v>0.0153327949412</c:v>
                </c:pt>
                <c:pt idx="41">
                  <c:v>0.00423534257801</c:v>
                </c:pt>
                <c:pt idx="42">
                  <c:v>0.00202293849753</c:v>
                </c:pt>
                <c:pt idx="43">
                  <c:v>0.0101025339823</c:v>
                </c:pt>
                <c:pt idx="44">
                  <c:v>0.0220299368876</c:v>
                </c:pt>
                <c:pt idx="45">
                  <c:v>0.0294259926592</c:v>
                </c:pt>
                <c:pt idx="46">
                  <c:v>0.0348433580916</c:v>
                </c:pt>
                <c:pt idx="47">
                  <c:v>0.039296247972</c:v>
                </c:pt>
                <c:pt idx="48">
                  <c:v>0.0404899502801</c:v>
                </c:pt>
                <c:pt idx="49">
                  <c:v>0.0421741600166</c:v>
                </c:pt>
                <c:pt idx="50">
                  <c:v>0.0410747074585</c:v>
                </c:pt>
                <c:pt idx="51">
                  <c:v>0.0340494301617</c:v>
                </c:pt>
                <c:pt idx="52">
                  <c:v>0.0229754904078</c:v>
                </c:pt>
                <c:pt idx="53">
                  <c:v>0.01346885861</c:v>
                </c:pt>
                <c:pt idx="54">
                  <c:v>0.0164062579792</c:v>
                </c:pt>
                <c:pt idx="55">
                  <c:v>0.0226351459216</c:v>
                </c:pt>
                <c:pt idx="56">
                  <c:v>0.017336412443</c:v>
                </c:pt>
                <c:pt idx="57">
                  <c:v>0.0195022941405</c:v>
                </c:pt>
                <c:pt idx="58">
                  <c:v>0.0308222102084</c:v>
                </c:pt>
                <c:pt idx="59">
                  <c:v>0.0474281839177</c:v>
                </c:pt>
                <c:pt idx="60">
                  <c:v>0.0596384262441</c:v>
                </c:pt>
              </c:numCache>
            </c:numRef>
          </c:val>
          <c:smooth val="0"/>
        </c:ser>
        <c:ser>
          <c:idx val="1"/>
          <c:order val="1"/>
          <c:tx>
            <c:v>短转移 XY4</c:v>
          </c:tx>
          <c:spPr>
            <a:ln xmlns:a="http://schemas.openxmlformats.org/drawingml/2006/main" w="28575">
              <a:solidFill>
                <a:srgbClr val="1467B3"/>
              </a:solidFill>
            </a:ln>
          </c:spPr>
          <c:marker>
            <c:symbol val="none"/>
          </c:marker>
          <c:cat>
            <c:numRef>
              <c:f>'Chart Data'!$C$2:$C$62</c:f>
              <c:numCache>
                <c:formatCode>General</c:formatCode>
                <c:ptCount val="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</c:numCache>
            </c:numRef>
          </c:cat>
          <c:val>
            <c:numRef>
              <c:f>'Chart Data'!$D$2:$D$62</c:f>
              <c:numCache>
                <c:formatCode>0.0</c:formatCode>
                <c:ptCount val="61"/>
                <c:pt idx="0">
                  <c:v>1</c:v>
                </c:pt>
                <c:pt idx="1">
                  <c:v>0.995278756476</c:v>
                </c:pt>
                <c:pt idx="2">
                  <c:v>0.999265613917</c:v>
                </c:pt>
                <c:pt idx="3">
                  <c:v>0.994781474039</c:v>
                </c:pt>
                <c:pt idx="4">
                  <c:v>0.997252058155</c:v>
                </c:pt>
                <c:pt idx="5">
                  <c:v>0.995516177785</c:v>
                </c:pt>
                <c:pt idx="6">
                  <c:v>0.993204920302</c:v>
                </c:pt>
                <c:pt idx="7">
                  <c:v>0.991724596753</c:v>
                </c:pt>
                <c:pt idx="8">
                  <c:v>0.987548815197</c:v>
                </c:pt>
                <c:pt idx="9">
                  <c:v>0.985858910655</c:v>
                </c:pt>
                <c:pt idx="10">
                  <c:v>0.981769313385</c:v>
                </c:pt>
                <c:pt idx="11">
                  <c:v>0.98040753949</c:v>
                </c:pt>
                <c:pt idx="12">
                  <c:v>0.975462458037</c:v>
                </c:pt>
                <c:pt idx="13">
                  <c:v>0.97132742603</c:v>
                </c:pt>
                <c:pt idx="14">
                  <c:v>0.967175907293</c:v>
                </c:pt>
                <c:pt idx="15">
                  <c:v>0.959073989959</c:v>
                </c:pt>
                <c:pt idx="16">
                  <c:v>0.957351465304</c:v>
                </c:pt>
                <c:pt idx="17">
                  <c:v>0.949654443342</c:v>
                </c:pt>
                <c:pt idx="18">
                  <c:v>0.946183049589</c:v>
                </c:pt>
                <c:pt idx="19">
                  <c:v>0.941582304146</c:v>
                </c:pt>
                <c:pt idx="20">
                  <c:v>0.933483135281</c:v>
                </c:pt>
                <c:pt idx="21">
                  <c:v>0.930390572951</c:v>
                </c:pt>
                <c:pt idx="22">
                  <c:v>0.921278133341</c:v>
                </c:pt>
                <c:pt idx="23">
                  <c:v>0.916610129252</c:v>
                </c:pt>
                <c:pt idx="24">
                  <c:v>0.907339955348</c:v>
                </c:pt>
                <c:pt idx="25">
                  <c:v>0.902616895135</c:v>
                </c:pt>
                <c:pt idx="26">
                  <c:v>0.892758750417</c:v>
                </c:pt>
                <c:pt idx="27">
                  <c:v>0.886485274166</c:v>
                </c:pt>
                <c:pt idx="28">
                  <c:v>0.877130496047</c:v>
                </c:pt>
                <c:pt idx="29">
                  <c:v>0.867226061778</c:v>
                </c:pt>
                <c:pt idx="30">
                  <c:v>0.859222744013</c:v>
                </c:pt>
                <c:pt idx="31">
                  <c:v>0.850301502833</c:v>
                </c:pt>
                <c:pt idx="32">
                  <c:v>0.841191930269</c:v>
                </c:pt>
                <c:pt idx="33">
                  <c:v>0.834431968153</c:v>
                </c:pt>
                <c:pt idx="34">
                  <c:v>0.821989114372</c:v>
                </c:pt>
                <c:pt idx="35">
                  <c:v>0.814933447791</c:v>
                </c:pt>
                <c:pt idx="36">
                  <c:v>0.802713820148</c:v>
                </c:pt>
                <c:pt idx="37">
                  <c:v>0.796550575756</c:v>
                </c:pt>
                <c:pt idx="38">
                  <c:v>0.780980506516</c:v>
                </c:pt>
                <c:pt idx="39">
                  <c:v>0.774242307781</c:v>
                </c:pt>
                <c:pt idx="40">
                  <c:v>0.760224584392</c:v>
                </c:pt>
                <c:pt idx="41">
                  <c:v>0.753576196836</c:v>
                </c:pt>
                <c:pt idx="42">
                  <c:v>0.74049572887</c:v>
                </c:pt>
                <c:pt idx="43">
                  <c:v>0.728735003736</c:v>
                </c:pt>
                <c:pt idx="44">
                  <c:v>0.719926647885</c:v>
                </c:pt>
                <c:pt idx="45">
                  <c:v>0.707347377836</c:v>
                </c:pt>
                <c:pt idx="46">
                  <c:v>0.699514421856</c:v>
                </c:pt>
                <c:pt idx="47">
                  <c:v>0.691591607213</c:v>
                </c:pt>
                <c:pt idx="48">
                  <c:v>0.676904212139</c:v>
                </c:pt>
                <c:pt idx="49">
                  <c:v>0.668287845734</c:v>
                </c:pt>
                <c:pt idx="50">
                  <c:v>0.653522476335</c:v>
                </c:pt>
                <c:pt idx="51">
                  <c:v>0.645724718979</c:v>
                </c:pt>
                <c:pt idx="52">
                  <c:v>0.6305520717</c:v>
                </c:pt>
                <c:pt idx="53">
                  <c:v>0.622926749028</c:v>
                </c:pt>
                <c:pt idx="54">
                  <c:v>0.605397561209</c:v>
                </c:pt>
                <c:pt idx="55">
                  <c:v>0.596004412308</c:v>
                </c:pt>
                <c:pt idx="56">
                  <c:v>0.588782537469</c:v>
                </c:pt>
                <c:pt idx="57">
                  <c:v>0.578253294497</c:v>
                </c:pt>
                <c:pt idx="58">
                  <c:v>0.567202756941</c:v>
                </c:pt>
                <c:pt idx="59">
                  <c:v>0.555667774091</c:v>
                </c:pt>
                <c:pt idx="60">
                  <c:v>0.54594031227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条件相干对比度 C(n)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68778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350C-8212-46EB-9484-F7BB1144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Level 5 Monte Carlo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9D65B-4856-4C47-A962-9FF48069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论文对照、差距原因与完整流程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56E57-6131-4439-A3EC-E7EF31E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80691-3988-446D-B332-CE439A9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9F9D0-FC7B-4FCF-86AE-D19FD4AD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与论文匹配到哪里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9574A-FC28-4806-A19A-539CBAF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从原子热运动到内部态演化，再到实验可比观测量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BDE35-BEB9-4805-B66B-CB30884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依据 2026-09-14 连续重算结果</a:t>
            </a:r>
          </a:p>
          <a:p xmlns:a="http://schemas.openxmlformats.org/drawingml/2006/main">
            <a:pPr>
              <a:def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论文：A tweezer array with 6100 highly coherent atomic qubits（v4）</a:t>
            </a:r>
          </a:p>
        </p:txBody>
      </p:sp>
    </p:spTree>
    <p:extLst>
      <p:ext uri="{BB962C8B-B14F-4D97-AF65-F5344CB8AC3E}">
        <p14:creationId xmlns:p14="http://schemas.microsoft.com/office/powerpoint/2010/main" val="525793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C8C3B-4539-49CE-BE31-31541AED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与论文的重合程度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B5043-1E98-4105-8CB8-C4827FB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按实验过程、协议条件和观测量分别判断，当前没有可定义的“总体复现百分比”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4782B-02F0-408B-88C2-4F34BE8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C909C-4949-4202-8C85-9879099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2054"/>
                <a:gridCol w="4203424"/>
                <a:gridCol w="4323522"/>
              </a:tblGrid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论文内容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过程覆盖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定量匹配状态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短转移存活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较高：拾取、2.4 μm 分离、等待、放回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可直接检验的四条曲线均未通过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4 单比特控制与相干性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部分：两能级、有限脉冲、已有 RB 框架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T₂*、T₂、Clifford 保真度未同条件验收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5 AOD 长运输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部分：三维运动、透镜效应、DD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最新连续结果未复现 610 μm IRB 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Ext. Data Fig. 10 组合操作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部分：拾取、长距离去回、放回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 μm 重合，完整时序与背景阱不同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3740-5D0E-446B-9853-7901C7AD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当前证据支持“部分物理过程已覆盖”，尚不支持“Level 5 已定量复现论文”。</a:t>
            </a:r>
          </a:p>
        </p:txBody>
      </p:sp>
    </p:spTree>
    <p:extLst>
      <p:ext uri="{BB962C8B-B14F-4D97-AF65-F5344CB8AC3E}">
        <p14:creationId xmlns:p14="http://schemas.microsoft.com/office/powerpoint/2010/main" val="1021525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13E7C-67E8-4B1E-AB2D-0226991C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6：短转移过程的主要重合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83FC3-0B95-478E-934C-2A1B5FF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论文将一次 pick-up &amp; split 或一次 merge &amp; drop-off 计为一次单向转移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BBB22-BB49-4C6B-A57F-23CC955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5BD50-F38D-4C2E-8AAC-FC5896FC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d18b7e623487f"/>
          <a:stretch xmlns:a="http://schemas.openxmlformats.org/drawingml/2006/main"/>
        </p:blipFill>
        <p:spPr>
          <a:xfrm xmlns:a="http://schemas.openxmlformats.org/drawingml/2006/main">
            <a:off x="780683" y="1733550"/>
            <a:ext cx="5010885" cy="3390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F3F4C-C0F8-4FCF-92C9-9B9BD06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主要条件已沿用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62C10-7E33-4544-A603-3F04C268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6475"/>
            <a:ext cx="5095875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140 μK，AOD 280 μK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分离 2.4 μm，等待 100 μs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等待期间关闭 SLM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手工 200 / 400 / 600 μs</a:t>
            </a:r>
          </a:p>
          <a:p xmlns:a="http://schemas.openxmlformats.org/drawingml/2006/main">
            <a:pPr>
              <a:def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回放论文 ML 400 μs 波形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B0F79-297C-44DE-971F-F11DBC50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仍有差异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5CB49-4124-4A37-A5A3-73B22C29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9725"/>
            <a:ext cx="5095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实际波形响应、转移温度和 AOD 标定尚未确定。ML 回放也未复现论文的实验优化过程。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74E82-E28A-45DD-B921-F2AC349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论文原图 Fig. 6a–c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05134-565E-4961-9A3A-D9723909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早期单次转移保真度 99.81(3)%</a:t>
            </a:r>
          </a:p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对应约前 12 次单向转移</a:t>
            </a:r>
          </a:p>
        </p:txBody>
      </p:sp>
    </p:spTree>
    <p:extLst>
      <p:ext uri="{BB962C8B-B14F-4D97-AF65-F5344CB8AC3E}">
        <p14:creationId xmlns:p14="http://schemas.microsoft.com/office/powerpoint/2010/main" val="24692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A65C6-C8E5-4D5E-A199-9F0E080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移动距离与“60 次”的计数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681B3-7174-4A0B-9DD4-2C460B2E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当前配置的 n=60 是 60 次单向短转移，即 30 轮拾取与放回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7C48C-144E-4B1C-BD7C-5488C5C4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C0D15-D153-4F47-ADED-D3366D3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488656"/>
                <a:gridCol w="3798094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 / 一轮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n=60 累计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Fig. 5 AOD-only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对角单向 610 μm，1.6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与短转移 n 的操作定义不同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Fig. 6 短转移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单向 2.4 μm，往返 4.8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名义路程 144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当前短转移对照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+ 100 + 400 μs / 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轮，27 ms，144 μm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当前组合运输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每轮另加 375 μm 去程与回程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轮，115.62 ms，22.644 mm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47918-E262-4BD2-BA77-9237AF88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组合运输包含长距离去程与回程。若确指 60 轮往返，路程为 45.288 mm。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F7642-4BE6-404F-86AE-2421552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路程按手工波形名义位移计算。ML 回放存在细小折返。当前组合时序并非论文组合协议的逐项复现。</a:t>
            </a:r>
          </a:p>
        </p:txBody>
      </p:sp>
    </p:spTree>
    <p:extLst>
      <p:ext uri="{BB962C8B-B14F-4D97-AF65-F5344CB8AC3E}">
        <p14:creationId xmlns:p14="http://schemas.microsoft.com/office/powerpoint/2010/main" val="993717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1F295-B9BE-4E1C-9DE8-F1EBE893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6：快速手工波形仍有偏差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787F6-11D1-466B-99FB-36CAB3D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各波形分别选择扫描中较优的 T 后，用 4096 个独立样本复核；这些 T 不代表同一实验条件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8F7AB-7A71-434C-9BE1-0D54457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2783-A5D2-44D9-A363-AAADDAC6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7E8F7-37E5-4077-83CF-0FE5A4E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200 μs，T = 5 μK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9917623db5481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2FF42-8C09-450F-AE67-F048D1B1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n=31：论文 0.3344，仿真 0.2610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全曲线最大偏差 7.57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93403-5B16-44D6-8F30-A5D01A0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400 μs，T = 15 μK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6745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0c66477040408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44EE6-0F43-400D-8C9E-4FA20E63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 0.4135，仿真 0.4949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全曲线最大偏差 9.81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E6C8D-6863-425A-92D4-CDF3F454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横轴：单向转移数 n。沿用 Level 2C 的 ±2 个百分点验收带，四条曲线均未通过；此带不是论文实验误差条。</a:t>
            </a:r>
          </a:p>
        </p:txBody>
      </p:sp>
    </p:spTree>
    <p:extLst>
      <p:ext uri="{BB962C8B-B14F-4D97-AF65-F5344CB8AC3E}">
        <p14:creationId xmlns:p14="http://schemas.microsoft.com/office/powerpoint/2010/main" val="1333618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10A40-B872-48D1-9B16-0CE55A22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6：慢波形与 ML 末段存活仍偏高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F4096-291F-4410-A4D7-4C24181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各波形分别选择扫描中较优的 T 后，用 4096 个独立样本复核；这些 T 不代表同一实验条件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02AA0-C83F-49C6-A8D1-D375D6C6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42E80-93CF-494D-8D36-07582A3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6847E-DDFF-40C0-A71B-A98C4A46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手工 600 μs，T = 25 μK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21b8cbe56c487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2C254-242C-4A0D-B310-BF3B4889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 0.5726，仿真 0.6284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全曲线最大偏差 7.73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29CCE-74C8-43FC-8D15-87E718E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535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 ML 400 μs，T = 25 μK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67450" y="2133600"/>
          <a:ext xmlns:a="http://schemas.openxmlformats.org/drawingml/2006/main" cx="5334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c157c9a94b4e6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C2C3A-FCE1-46CB-97B9-27DF19F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43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n=60：论文 0.6633，仿真 0.7471</a:t>
            </a:r>
          </a:p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全曲线最大偏差 8.38 个百分点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1CEB9-1EC1-428A-8AAA-96E13130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横轴：单向转移数 n。沿用 Level 2C 的 ±2 个百分点验收带，四条曲线均未通过；此带不是论文实验误差条。</a:t>
            </a:r>
          </a:p>
        </p:txBody>
      </p:sp>
    </p:spTree>
    <p:extLst>
      <p:ext uri="{BB962C8B-B14F-4D97-AF65-F5344CB8AC3E}">
        <p14:creationId xmlns:p14="http://schemas.microsoft.com/office/powerpoint/2010/main" val="1984483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EB7C2-505B-48F5-9EFD-344937AA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一组共同参数仍不能同时解释四条曲线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99E08-3745-49FA-9CCE-0292D848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共同扫描较优格点 T = Tref = 15 μK；下表为独立 4096 样本、精细步长复核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B7F55-2D57-4418-A7D5-00B722AB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29106-4584-457E-8345-A142424D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18000"/>
                <a:gridCol w="1651000"/>
                <a:gridCol w="1651000"/>
                <a:gridCol w="3429000"/>
              </a:tblGrid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 / 比较末点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全曲线最大偏差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200 μs / n=31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27.52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400 μs / n=60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0.4135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0.4949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9.81 个百分点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600 μs / n=60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30.81 个百分点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ML 400 μs / n=60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0.6633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0.9333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27.00 个百分点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B2264-87F0-406D-8F7A-1738A63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200 μs 损失过强，600 μs 与 ML 损失不足，调同一个温度无法兼顾。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E96CB-53FD-4B61-AAA6-25E8FC7B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Tref 随 T 改变，所以扫描同时改变初始热分布和平均加热强度。该最优格点不能解释为测得的转移温度。</a:t>
            </a:r>
          </a:p>
        </p:txBody>
      </p:sp>
    </p:spTree>
    <p:extLst>
      <p:ext uri="{BB962C8B-B14F-4D97-AF65-F5344CB8AC3E}">
        <p14:creationId xmlns:p14="http://schemas.microsoft.com/office/powerpoint/2010/main" val="638638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9C427-E398-4269-8145-ACF1DE4D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增加三维运动与透镜效应后的变化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FFFD1-E28B-4CE8-BDF0-679A626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同为 T = 5 μK 的诊断对照；512 样本，最大步长 0.05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93712-D0DA-438B-8414-7E4DFB1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5C5F0-5EF2-4B69-9E95-9456C3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704975"/>
          <a:ext xmlns:a="http://schemas.openxmlformats.org/drawingml/2006/main" cx="110490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37370"/>
                <a:gridCol w="1773296"/>
                <a:gridCol w="1773296"/>
                <a:gridCol w="2182519"/>
                <a:gridCol w="2182519"/>
              </a:tblGrid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波形末点 S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1D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无透镜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3D 含透镜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200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0.3344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400 μs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0.4135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0.9258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0.9531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0.8867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 600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0.5726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ML 400 μs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0.6633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916FE-B553-4CF9-B476-AACD114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模型中的透镜效应主要压低最快的 200 μs 曲线，慢波形仍缺少衰减。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9804C-A7A0-44E0-8285-42D03237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论文称其短转移速度下柱面透镜不构成明显限制。当前透镜参数仅是未标定场景，不能据此认定实验短转移损失来自透镜效应。</a:t>
            </a:r>
          </a:p>
        </p:txBody>
      </p:sp>
    </p:spTree>
    <p:extLst>
      <p:ext uri="{BB962C8B-B14F-4D97-AF65-F5344CB8AC3E}">
        <p14:creationId xmlns:p14="http://schemas.microsoft.com/office/powerpoint/2010/main" val="1182494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E46D1-DC60-4FDE-B0F3-F7F33D4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4：相干性和单比特门尚未完成同条件复现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86436-0A29-48A9-9820-98ECA59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数值常数进入模型，并不等于对应的实验衰减曲线已得到验证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C2550-70B0-4F2F-BD4B-6ADFD85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60E84-954E-4266-AA12-F80AB78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76400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727"/>
                <a:gridCol w="4129424"/>
                <a:gridCol w="4575848"/>
              </a:tblGrid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论文观测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论文结果 / 条件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Rabi 振荡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Ω/2π = 24.611(1) kHz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已采用频率，未验收空间平均衰减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Ramsey 相干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系综 T₂* = 14.0(1) ms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只作参考锚点，未按同协议拟合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XY16 相干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T₂ = 12.6(1) s，π 间隔 12.5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DD 模型，未验证这条长时曲线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 Clifford 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平均保真度 99.9834(2)%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已有独立 RB 框架，暂无同条件有效结果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F0B32-2D91-4F00-A134-BC568F8D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972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主要缺口是实际噪声、空间分布与测量协议的约束。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35439-33EB-46B5-85DE-E9CC8DEB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论文微波阶段约 4.3 μK 的温度，不能直接代替拾取/运输时的温度。</a:t>
            </a:r>
          </a:p>
        </p:txBody>
      </p:sp>
    </p:spTree>
    <p:extLst>
      <p:ext uri="{BB962C8B-B14F-4D97-AF65-F5344CB8AC3E}">
        <p14:creationId xmlns:p14="http://schemas.microsoft.com/office/powerpoint/2010/main" val="1642445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5B30C-0A0D-4BD6-9FCE-D83836E9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Fig. 5：610 μm 长距离相干运输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A9259-FC16-4F03-A816-3596846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论文分别测量存活、IRB 返回概率，再提取早期单次瞬时保真度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E2AC2-F348-46D3-B366-86A7CFE1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B65A3-88F8-4E71-B76F-D6110F01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a209bd0644116"/>
          <a:stretch xmlns:a="http://schemas.openxmlformats.org/drawingml/2006/main"/>
        </p:blipFill>
        <p:spPr>
          <a:xfrm xmlns:a="http://schemas.openxmlformats.org/drawingml/2006/main">
            <a:off x="571500" y="1847861"/>
            <a:ext cx="5391150" cy="368615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27AA-CE34-4B72-9ADA-8E368CC6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000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论文的比较目标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A62BE-BD0A-4E4F-A69B-D2A80FF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51244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10 个 AOD 阱，深度 280 μK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610 μm 对角移动，1.6 ms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每次移动配合 XY4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固定 80 个 Clifford，改变移动数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早期单次保真度 99.953(2)%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70B79-F75E-4107-AD15-BC9BA0F8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当前重合与差异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2EEA7-FCB6-46ED-B3CB-093BE9E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95875"/>
            <a:ext cx="5124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已覆盖运动、透镜与有限脉冲。最新连续结果采用 375 μm 组合段，尚无相同 Clifford 与测量协议的 610 μm 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4C120-334C-4410-858B-2B79F9F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论文原图 Fig. 5</a:t>
            </a:r>
          </a:p>
        </p:txBody>
      </p:sp>
    </p:spTree>
    <p:extLst>
      <p:ext uri="{BB962C8B-B14F-4D97-AF65-F5344CB8AC3E}">
        <p14:creationId xmlns:p14="http://schemas.microsoft.com/office/powerpoint/2010/main" val="1087659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8C98E-708F-49CF-884E-F54614DF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组合运输：375 μm 重合，完整协议仍不同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676F5-AA14-4ADA-9DB5-37226E57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 Extended Data Fig. 10e–f 的一次单向操作含门、拾取/分离和长距离移动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56ED9-D8DC-4385-96F1-4BF5362B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B0C8B-B6F7-4C11-B278-25ABDF48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289fca13c4181"/>
          <a:stretch xmlns:a="http://schemas.openxmlformats.org/drawingml/2006/main"/>
        </p:blipFill>
        <p:spPr>
          <a:xfrm xmlns:a="http://schemas.openxmlformats.org/drawingml/2006/main">
            <a:off x="571500" y="1629054"/>
            <a:ext cx="5391150" cy="334271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4B8F0-F329-4F5F-90D4-FE8D5A6B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19250"/>
            <a:ext cx="5191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论文：每轮约 5.508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5BFE4-839B-45EF-876C-D3BD8785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5181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拾取 850 μs + 分离 400 μs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长移动 1.45 ms，去回各一次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两端各有 54 μs 单比特门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SLM 180 降至 60 μK</a:t>
            </a:r>
          </a:p>
          <a:p xmlns:a="http://schemas.openxmlformats.org/drawingml/2006/main">
            <a:pPr>
              <a:def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47 个 AOD，保留静态阵列通道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633C8-2969-4688-85D7-692EB9FD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86275"/>
            <a:ext cx="5181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当前：每轮 3.854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4612C-71DD-49AC-8878-2E28AB6A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5181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短转移每程合计 400 μs</a:t>
            </a:r>
          </a:p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含 100 μs 等待和远端 54 μs 保持</a:t>
            </a:r>
          </a:p>
          <a:p xmlns:a="http://schemas.openxmlformats.org/drawingml/2006/main">
            <a:pPr>
              <a:def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长移动期间 SLM 关闭，无静态阵列通道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CB8C2-3B95-4220-9EFA-B3EA665C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541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论文早期单次组合保真度 99.87(1)%</a:t>
            </a:r>
          </a:p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当前结果尚不能与该数值直接相减。</a:t>
            </a:r>
          </a:p>
        </p:txBody>
      </p:sp>
    </p:spTree>
    <p:extLst>
      <p:ext uri="{BB962C8B-B14F-4D97-AF65-F5344CB8AC3E}">
        <p14:creationId xmlns:p14="http://schemas.microsoft.com/office/powerpoint/2010/main" val="1179134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C9757-A6AC-443A-A5CE-AB33795A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 Level 5 内部态结果的含义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EA628-5A45-48C6-AB28-A73BF33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手工 400 μs、T = 5 μK；相干对比度按存活原子统计，相对于理想脉冲演化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F3CD4-D28B-4957-AC10-1859C3B5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87CE1-D0F2-44D6-8C29-0E5A5450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6838950" cy="3686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3927a9857d4e9d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753350" y="1943100"/>
          <a:ext xmlns:a="http://schemas.openxmlformats.org/drawingml/2006/main" cx="386715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681"/>
                <a:gridCol w="1090735"/>
                <a:gridCol w="109073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n=60 / 30 轮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短转移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组合运输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0.6992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DD 的 C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0.0596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0.0530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DD 的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FDF00-624C-4815-B267-23427E1C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本参数场景中，DD 提升短转移的累计相干对比度，对组合运输的改善不明显。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EA338-2FF7-48BE-BFA8-733EFCDC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这些是连续模型的累计条件量，尚未转换成论文的 IRB 返回曲线或单次瞬时保真度。</a:t>
            </a:r>
          </a:p>
        </p:txBody>
      </p:sp>
    </p:spTree>
    <p:extLst>
      <p:ext uri="{BB962C8B-B14F-4D97-AF65-F5344CB8AC3E}">
        <p14:creationId xmlns:p14="http://schemas.microsoft.com/office/powerpoint/2010/main" val="5831235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7BC71-E3F8-415E-BC96-4CCA0550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论文指标与当前输出的对应关系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318F8-82D1-4E1D-8DA4-7A32F4BD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存活、条件相干性、累计通道保真度和单次操作保真度的分母与含义不同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1C58F-38B6-4863-824F-2DBC84F0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3220A-6834-47D2-B861-EA1EE19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2153"/>
                <a:gridCol w="4735286"/>
                <a:gridCol w="4171561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分母 / 含义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当前对照状态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 S(n)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存活数 / 初始原子数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6d 顶图可直接对照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相干对比度 C(n)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仅存活原子，某个叠加态的相干幅度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用于诊断，不能替代通道保真度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累计条件 Favg(n)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存活通道相对理想脉冲的平均保真度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涵盖此前所有操作，尚非 IRB 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IRB 返回概率 R(n)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完整随机门序列后回到初态的概率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最新连续流程尚未生成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单次瞬时保真度 Fₙ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 S、R 的拟合与损失处理得到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尚无同协议的可比仿真值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80162-5065-4216-90FC-FF4E863B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例如 30 轮后的累计 Favg，不能与论文 99.953% 的早期单次长移动保真度比较。</a:t>
            </a:r>
          </a:p>
        </p:txBody>
      </p:sp>
    </p:spTree>
    <p:extLst>
      <p:ext uri="{BB962C8B-B14F-4D97-AF65-F5344CB8AC3E}">
        <p14:creationId xmlns:p14="http://schemas.microsoft.com/office/powerpoint/2010/main" val="7015036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A2CF6-1845-480D-B09A-A7CD58DA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Monte Carlo 全流程与状态传递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4883-EF33-4F6B-9B7F-7F52006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每个样本表示一个原子的一整段实验历史，运动和内部态共同保留到下一轮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C452C-E14F-45A4-95D8-111D903C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0468D-5518-4676-925C-DC478B9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8774D-0A9B-4F3B-A478-DA07D35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① 初始系综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r₀、v₀、阱参数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1E4BF-907F-4C8A-B34B-A0D5FA14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② 控制时序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位置、阱深、脉冲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C5AE9-6DC9-4EDE-80A0-6A368E5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③ 三维动力学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r(t)、v(t)、能量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8AFD-8103-42EA-96CE-2AAE126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④ 内部态演化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光移、相位、U(t)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E08B4-F672-47C4-9C56-427D0FB1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⑤ 检查点与下一轮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保留状态，失阱终止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44C37-0471-41CE-A37A-F651A937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4815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3335">
            <a:solidFill>
              <a:srgbClr val="1467B3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⑥ 系综观测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S、C、累计 Favg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05125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15375" y="2419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48563" y="29527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15375" y="4781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453688" y="29527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7B3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61B87-55BC-4A42-8210-65D8D611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1371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轨迹势能</a:t>
            </a:r>
          </a:p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V(t)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710DA-92A3-4266-8355-C893A61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1009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存活标记</a:t>
            </a:r>
          </a:p>
          <a:p xmlns:a="http://schemas.openxmlformats.org/drawingml/2006/main">
            <a:pPr>
              <a:def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运动状态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BC339-5F05-4090-BE4E-3EC02B9F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512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持续传递的数据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A28E5-1E81-4FFD-8F7A-1765E9D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238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原子编号、位置 r、速度 v、内部态 U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存活标记、累计时间、累计加热</a:t>
            </a:r>
          </a:p>
          <a:p xmlns:a="http://schemas.openxmlformats.org/drawingml/2006/main">
            <a:pPr>
              <a:def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44054"/>
                </a:solidFill>
                <a:latin typeface="Microsoft YaHei"/>
                <a:ea typeface="Microsoft YaHei"/>
                <a:cs typeface="Microsoft YaHei"/>
              </a:rPr>
              <a:t>下一段 / 下一轮沿用上一步的输出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DD54D-700A-4A85-AD31-FCCB769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控制表驱动物理演化。内部态目前接受运动产生的光移，但不反向改变机械运动。</a:t>
            </a:r>
          </a:p>
        </p:txBody>
      </p:sp>
    </p:spTree>
    <p:extLst>
      <p:ext uri="{BB962C8B-B14F-4D97-AF65-F5344CB8AC3E}">
        <p14:creationId xmlns:p14="http://schemas.microsoft.com/office/powerpoint/2010/main" val="460480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79A9E-E2FA-496C-B760-20FD86C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1：生成热初态与原子间差异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2976F-EAD5-4659-8CD8-79391DB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Monte Carlo 随机性来自初始热分布、静态参数散布和逐段对准抖动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A36FE-FB80-4D86-94DC-04067FFA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B671-8761-490A-93C7-2916E04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Cs-133 质量 m，温度 T（μK），SLM 深度（μK）、束腰（μm）、波长（nm），样本数 N 与随机种子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抽样三维位置与速度；用完整高斯势的总能量 E&lt;0 接受束缚初态。为每个原子抽取阱深、束腰和对准偏差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原子编号 i，r₀=(x,y,z)（m），v₀（m/s），初始能量 E₀（J），各原子的静态参数因子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控制时序对同一批原子生效。r₀、v₀ 和静态差异进入第一段动力学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DD574-5468-4CC4-B501-6BB69263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热初态采用简谐近似抽样；转移时的真实温度与高能尾部分布仍待约束。</a:t>
            </a:r>
          </a:p>
        </p:txBody>
      </p:sp>
    </p:spTree>
    <p:extLst>
      <p:ext uri="{BB962C8B-B14F-4D97-AF65-F5344CB8AC3E}">
        <p14:creationId xmlns:p14="http://schemas.microsoft.com/office/powerpoint/2010/main" val="385363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0A560-7B6E-4AEB-B606-0A829C8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2：把实验步骤变成随时间变化的控制量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237BF-B19B-4553-A305-CE379AD1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短转移对照与组合运输采用独立的时序定义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3608E-39A1-4EE8-B4A3-9CB37AD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A7C31-BA63-4393-8CFE-70559888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波形类型，单程时长（200 / 400 / 600 μs），短位移 2.4 μm，等待 100 μs；组合额外输入 375 μm、1.45 ms 与远端保持 54 μs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顺序安排拾取、等待、可选长距离去回、放回；安排 SLM 开关、AOD 升降深和有限宽度脉冲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控制表 cₓ(t)、cᵧ(t)（m），dc/dt（m/s），AOD 深度 D(t)（J），SLM 开关，Ω(t)（rad/s）与脉冲相位 φ(t)（rad）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77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位置、深度和 SLM 开关决定势场；AOD 速度决定透镜修正；Ω、φ 同步驱动内部态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F7ABD-0416-4AFA-A3D1-84852C46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手工波形先升深再移动。ML 同步升深与移动，当前使用论文曲线的数字化回放。</a:t>
            </a:r>
          </a:p>
        </p:txBody>
      </p:sp>
    </p:spTree>
    <p:extLst>
      <p:ext uri="{BB962C8B-B14F-4D97-AF65-F5344CB8AC3E}">
        <p14:creationId xmlns:p14="http://schemas.microsoft.com/office/powerpoint/2010/main" val="17476013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2B1B7-A13B-4C98-8BED-2F9A544E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3：运动、平均加热与瞬时光阱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A3BC3-28B6-4495-AD50-41DFC892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位置和速度贯穿拾取、移动、等待与放回，不在阶段交界处重新抽样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E80E1-A0F2-471F-B5CE-144E5013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959A5-0ABC-4227-A04B-B32A7AE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r（m）、v（m/s），两束光的深度、束腰与中心，AOD 扫描速度，透镜参数 vₛ（m/s），总平均加热功率 P（J/s）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叠加 SLM 与 AOD 的三维高斯势；势能梯度产生力。每个时间步推进 r、v，并向总动能加入 P·dt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r(t)、v(t)、动能与势能（J），累计注入能量（J），沿轨迹的总势能 V(t)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10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r、v 和能量进入失阱判断；V(t) 同时进入光移与内部态传播；下一步继续沿用运动状态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57E1-707C-4C8C-89C7-CCE6A91A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当前加热表示平均功率，未生成逐时刻随机噪声的完整谱与稀有强踢。</a:t>
            </a:r>
          </a:p>
        </p:txBody>
      </p:sp>
    </p:spTree>
    <p:extLst>
      <p:ext uri="{BB962C8B-B14F-4D97-AF65-F5344CB8AC3E}">
        <p14:creationId xmlns:p14="http://schemas.microsoft.com/office/powerpoint/2010/main" val="1689757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AE632-9D14-438E-868A-EDFA0D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平均加热的三个过程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B1F4-AA2A-4984-945E-4DF90C74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各过程先给出平均功率，再共同进入三维动力学的每个时间步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097B3-2744-40A9-88D6-1E81EED6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2C210-F6AB-4698-863D-2A71B915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4794"/>
                <a:gridCol w="4766235"/>
                <a:gridCol w="4007971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输入参数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输出与衔接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光子反冲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散射率 Γsc（s⁻¹）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波长 λ（nm）与原子质量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散射带来的平均加热功率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强度噪声 / 参量加热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强度噪声谱 S_RIN（1/Hz）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参考阱频 ν₀（Hz）、Tref（μK）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固定参考能量下的平均功率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Ppar（J/s）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指向噪声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位置噪声谱 Sx（m²/Hz）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参考阱频 ν₀ 与质量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阱中心抖动对应的平均功率</a:t>
                      </a:r>
                    </a:p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Ppoint（J/s）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8414D-276F-4AC5-B677-B17247D8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总功率 P = Prec + Ppar + Ppoint，每步注入动能 P·dt。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27D1C-B602-4529-A27B-F4C64A5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三项目前都是恒定平均功率。转移中实际噪声谱、随机强踢和 Raman 内部态跃迁尚未在此流程中展开。</a:t>
            </a:r>
          </a:p>
        </p:txBody>
      </p:sp>
    </p:spTree>
    <p:extLst>
      <p:ext uri="{BB962C8B-B14F-4D97-AF65-F5344CB8AC3E}">
        <p14:creationId xmlns:p14="http://schemas.microsoft.com/office/powerpoint/2010/main" val="3700011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D2F1D-43AE-467F-BB03-D35CF4EC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4：轨迹光移与有限脉冲内部态演化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FD1B7-57DE-4A28-BCBB-4FD47D9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两能级对应 Cs 钟态；同一原子的运动轨迹决定其经历的失谐历史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C4925-5993-4D29-B5D5-B2FC018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361B2-BD52-4DE8-ABB6-77CA884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沿轨迹的势能 V(t)（J），差分光移系数 η=1.3×10⁻⁴，Ω/2π=24.611 kHz，脉冲相位 φ(t)，前一时刻的 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 Δ(t)=ηV(t)/ℏ 得到失谐（rad/s），积分两能级演化。裸 π 脉冲约 20.3 μs，脉冲期间运动继续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累计相位（rad）与每原子的内部态演化矩阵 U(t)；据此可求任意输入量子态的输出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传给下一过程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U(t) 与原子编号、r、v 一起保留。只有存活原子的内部态进入条件相干性和通道统计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EB4B5-31A8-4EBF-BC23-EEE599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当前使用 XY4。论文的随机 Clifford 序列与随之变换的 DD 旋转轴，尚未接入这条连续流程。</a:t>
            </a:r>
          </a:p>
        </p:txBody>
      </p:sp>
    </p:spTree>
    <p:extLst>
      <p:ext uri="{BB962C8B-B14F-4D97-AF65-F5344CB8AC3E}">
        <p14:creationId xmlns:p14="http://schemas.microsoft.com/office/powerpoint/2010/main" val="21143418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06F90-36E6-4991-AD73-E674B58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5：失阱判断与跨轮连续传递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CA83D-65AD-4C66-9C99-ACACF3BD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论文重复操作会积累热运动和相位，连续模型保留这两种记忆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F3FB0-4B15-4C9A-8216-6D4B4E2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D657-6BE0-4CB6-98AA-06A2FA6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9398000"/>
              </a:tblGrid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参数与状态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r、v、U，接收阱的深度与中心，原子编号，以及当前阶段和轮次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检查点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等待结束检查 AOD 束缚，放回结束检查 SLM 束缚。组合运输额外在去程、远端保持和回程末端检查 AOD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判据与输出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接收阱中的 E = mv²/2 + V &lt; 0 才存活。输出 alive、失阱阶段、失阱轮次和检查点处的完整状态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传给下一轮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存活原子沿用 r、v、U、时间与累计加热。失阱原子终止，不补入新原子，也不重置温度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E3060-2538-4FA2-851E-33DE0908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损失在指定检查点判定。旧独立 RB 路径逐次抽取单轮轨迹，其跨轮记忆与当前连续模型不同。</a:t>
            </a:r>
          </a:p>
        </p:txBody>
      </p:sp>
    </p:spTree>
    <p:extLst>
      <p:ext uri="{BB962C8B-B14F-4D97-AF65-F5344CB8AC3E}">
        <p14:creationId xmlns:p14="http://schemas.microsoft.com/office/powerpoint/2010/main" val="3870507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C5B9E-71F1-478B-81F2-9BC567A6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过程 6：系综统计与实验读出之间的接口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B1D08-7FA9-411B-BF81-AB6998C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当前连续计算终止于 S、条件 C 和累计 Favg；复现论文 IRB 还需要完整读出协议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B7F31-0512-40B3-9B95-134B50FC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43E0C-16CF-4D30-B0C4-B761640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8509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输入与输出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当前已完成的汇总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输入所有原子的 alive、U 与理想脉冲目标。输出 S(n)、条件 C(n)、累计条件 Favg(n)，并对 S 与 Fig. 6d 数字化点比较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论文需要的序列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固定总 Clifford 数，改变插入操作数。移动与静态参考使用相应的同一随机门 / DD 序列，最后施加逆门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论文需要的观测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测得存活概率 S(n) 与返回概率 R(n)，保留失阱的处理约定、初态制备与读出条件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论文需要的提取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按论文相同模型联合分析 S、R，提取随操作历史变化的单次瞬时保真度 Fₙ 与置信区间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E5133-5853-4276-B773-055F3AA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历史 IRB 和 47/195 站点结果受实现与统计口径问题影响。代码已修复，结果尚未同协议重跑。</a:t>
            </a:r>
          </a:p>
        </p:txBody>
      </p:sp>
    </p:spTree>
    <p:extLst>
      <p:ext uri="{BB962C8B-B14F-4D97-AF65-F5344CB8AC3E}">
        <p14:creationId xmlns:p14="http://schemas.microsoft.com/office/powerpoint/2010/main" val="12095181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AE7B8-E1BD-4F9B-8E29-E5245EB5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关键输入的来源与不确定性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54DFE-7737-4414-AFDD-C8DD529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论文实测值、近似模型和场景假设分别影响不同的比较结论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1E31A-E136-4FCE-919E-3631586D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D3A12-DD92-4911-BA0D-B22F6D2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16663"/>
                <a:gridCol w="4848031"/>
                <a:gridCol w="4284306"/>
              </a:tblGrid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输入类别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当前值 / 来源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对解释的限制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论文约束较强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短转移 2.4 μm、100 μs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140 / 280 μK，η 与 Rabi 频率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有助于固定基本尺度，仍需匹配实验阶段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初态与束腰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转移 T 扫描 5–40 μK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束腰假设等于 1.17 μm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温度、阱频和高能尾会改变逃逸概率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位点与对准差异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SLM 深度 σ=11.4% 取自论文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AOD 深度/束腰 2%、对准 0.05 μm 为假设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采用论文散布不等于匹配其站点分布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噪声与透镜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RIN、指向噪声为灵敏度假设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vₛ≈0.539 m/s 为相对场景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尚不能据此反推装置的真实损失机制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541B6-03F1-485D-AD85-8FE4BD43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67B3"/>
                </a:solidFill>
                <a:latin typeface="Microsoft YaHei"/>
                <a:ea typeface="Microsoft YaHei"/>
                <a:cs typeface="Microsoft YaHei"/>
              </a:rPr>
              <a:t>逐段对准抖动 σ=0.01 μm 也是假设。扫描默认使 Tref=T，需要分开温度与加热的效应。</a:t>
            </a:r>
          </a:p>
        </p:txBody>
      </p:sp>
    </p:spTree>
    <p:extLst>
      <p:ext uri="{BB962C8B-B14F-4D97-AF65-F5344CB8AC3E}">
        <p14:creationId xmlns:p14="http://schemas.microsoft.com/office/powerpoint/2010/main" val="19492263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5A9B5-71CC-4EF1-AA15-555C658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匹配不上的可能原因与证据强弱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A8688-A0A4-4DDD-B7A3-D1A31B32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已观察到的协议差异可以确认，具体实验损失机制仍需数据约束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55B34-1412-4539-8072-48B3155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8CC92-AD9A-4DAB-B90D-2D160241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7840"/>
                <a:gridCol w="4640580"/>
                <a:gridCol w="4640580"/>
              </a:tblGrid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证据层次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目前可以下的判断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时间、SLM 背景、Clifford/DD 与指标定义不同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阻止长运输/内部态结果直接验收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模型内证据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快波形易损失、慢波形过于稳定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温度与平均加热耦合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单参数不能解释四条存活曲线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待实测检验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真实位置/功率响应、对准与像差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温度尾部、强噪声事件、磁噪声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可能改变逃逸或相干性，贡献尚未定量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不足以解释全部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样本量与时间步误差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精细步长最大变化约 1.29 个百分点</a:t>
                      </a:r>
                    </a:p>
                    <a:p>
                      <a:r>
                        <a:rPr sz="1725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仍小于较优参数下 7.57–9.81 点偏差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FA0FA-134E-453C-B9AC-F1C35AFC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B3E35"/>
                </a:solidFill>
                <a:latin typeface="Microsoft YaHei"/>
                <a:ea typeface="Microsoft YaHei"/>
                <a:cs typeface="Microsoft YaHei"/>
              </a:rPr>
              <a:t>论文也仅将部分短转移指数损失归因于“可能的实验不完美”。现有数据不足以进一步认定具体机制。</a:t>
            </a:r>
          </a:p>
        </p:txBody>
      </p:sp>
    </p:spTree>
    <p:extLst>
      <p:ext uri="{BB962C8B-B14F-4D97-AF65-F5344CB8AC3E}">
        <p14:creationId xmlns:p14="http://schemas.microsoft.com/office/powerpoint/2010/main" val="509671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11E6D-CB47-4EBA-BD54-683AA9B6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达到论文匹配所需的证据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872F-F0C0-4085-A4EF-25EBC70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下一步验收应同时固定实验条件、整条观测曲线与误差口径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98256-A106-4AB7-AC4E-0A11E16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Level 5 论文对照与全流程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8D80F-5D2C-486E-A6C1-D63AF0DA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787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3609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2052"/>
                <a:gridCol w="8656948"/>
              </a:tblGrid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可检验的达标条件</a:t>
                      </a:r>
                    </a:p>
                  </a:txBody>
                  <a:tcPr marL="91440" marR="91440" marT="45720" marB="45720" anchor="ctr">
                    <a:solidFill>
                      <a:srgbClr val="17324D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6 存活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同一套物理参数解释手工 200/400/600 μs 和 ML 400 μs 的完整曲线，而非逐波形换温度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4 相干与门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按相同阱深、脉冲时序与空间平均方式再现 Rabi、Ramsey、XY16 和参考 RB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Fig. 5 / 组合 IRB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分别采用论文 610 μm 和组合 375 μm 协议，生成同条件的 S、R 与单次瞬时保真度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差距原因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440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用实测温度、AOD 位置/深度响应、噪声与对准标定约束模型，再判断残差由哪类过程造成</a:t>
                      </a:r>
                    </a:p>
                  </a:txBody>
                  <a:tcPr marL="91440" marR="91440" marT="45720" marB="45720" anchor="ctr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89D50-B30F-47BD-9F6C-0AF5EDDA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当前结论：流程覆盖已有进展，短转移定量匹配仍未通过，论文高保真指标尚待同协议验证。</a:t>
            </a:r>
          </a:p>
        </p:txBody>
      </p:sp>
    </p:spTree>
    <p:extLst>
      <p:ext uri="{BB962C8B-B14F-4D97-AF65-F5344CB8AC3E}">
        <p14:creationId xmlns:p14="http://schemas.microsoft.com/office/powerpoint/2010/main" val="1021652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2026-09-15T02:26:11.1720000Z</dcterms:created>
  <dcterms:modified xsi:type="dcterms:W3CDTF">2026-09-15T02:26:11.1720000Z</dcterms:modified>
</coreProperties>
</file>