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5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f267dc313247db" /><Relationship Type="http://schemas.openxmlformats.org/officeDocument/2006/relationships/extended-properties" Target="/docProps/app.xml" Id="R2871422fe9c94485" /><Relationship Type="http://schemas.openxmlformats.org/officeDocument/2006/relationships/officeDocument" Target="/ppt/presentation.xml" Id="R2dce7455ea9c49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39128d488b47a1"/>
  </p:sldMasterIdLst>
  <p:notesMasterIdLst>
    <p:notesMasterId xmlns:r="http://schemas.openxmlformats.org/officeDocument/2006/relationships" r:id="R5c38527f959f41f5"/>
  </p:notesMasterIdLst>
  <p:sldIdLst>
    <p:sldId xmlns:r="http://schemas.openxmlformats.org/officeDocument/2006/relationships" id="256" r:id="R0be47bf1cf5c4df6"/>
    <p:sldId xmlns:r="http://schemas.openxmlformats.org/officeDocument/2006/relationships" id="257" r:id="R1c478b2cc88146e8"/>
    <p:sldId xmlns:r="http://schemas.openxmlformats.org/officeDocument/2006/relationships" id="258" r:id="R9ed43d2532d94e23"/>
    <p:sldId xmlns:r="http://schemas.openxmlformats.org/officeDocument/2006/relationships" id="259" r:id="R667f48650dad44c3"/>
    <p:sldId xmlns:r="http://schemas.openxmlformats.org/officeDocument/2006/relationships" id="260" r:id="Rce2df4b3913d482d"/>
    <p:sldId xmlns:r="http://schemas.openxmlformats.org/officeDocument/2006/relationships" id="261" r:id="Rc64ea08a3cf74377"/>
    <p:sldId xmlns:r="http://schemas.openxmlformats.org/officeDocument/2006/relationships" id="262" r:id="Rf755319664b04c25"/>
    <p:sldId xmlns:r="http://schemas.openxmlformats.org/officeDocument/2006/relationships" id="263" r:id="Rec4f0ab344d141b9"/>
    <p:sldId xmlns:r="http://schemas.openxmlformats.org/officeDocument/2006/relationships" id="264" r:id="Rd54952eb05ae487a"/>
    <p:sldId xmlns:r="http://schemas.openxmlformats.org/officeDocument/2006/relationships" id="265" r:id="Rc105d8ecaa35490c"/>
    <p:sldId xmlns:r="http://schemas.openxmlformats.org/officeDocument/2006/relationships" id="266" r:id="R69340d85a6f343ab"/>
    <p:sldId xmlns:r="http://schemas.openxmlformats.org/officeDocument/2006/relationships" id="267" r:id="R79a2aba5dd2d4fa3"/>
    <p:sldId xmlns:r="http://schemas.openxmlformats.org/officeDocument/2006/relationships" id="268" r:id="Rd611c0aa51004e55"/>
    <p:sldId xmlns:r="http://schemas.openxmlformats.org/officeDocument/2006/relationships" id="269" r:id="R16518706995044d4"/>
    <p:sldId xmlns:r="http://schemas.openxmlformats.org/officeDocument/2006/relationships" id="270" r:id="R8ffbbad7ea6941aa"/>
    <p:sldId xmlns:r="http://schemas.openxmlformats.org/officeDocument/2006/relationships" id="271" r:id="Ra5590ca5812d45cf"/>
    <p:sldId xmlns:r="http://schemas.openxmlformats.org/officeDocument/2006/relationships" id="272" r:id="R15a76d63c6c84933"/>
    <p:sldId xmlns:r="http://schemas.openxmlformats.org/officeDocument/2006/relationships" id="273" r:id="R03239d6887364448"/>
    <p:sldId xmlns:r="http://schemas.openxmlformats.org/officeDocument/2006/relationships" id="274" r:id="R9a7be122da564225"/>
    <p:sldId xmlns:r="http://schemas.openxmlformats.org/officeDocument/2006/relationships" id="275" r:id="Rf1f51a1d44364c44"/>
    <p:sldId xmlns:r="http://schemas.openxmlformats.org/officeDocument/2006/relationships" id="276" r:id="Rc96fd5367bcc4801"/>
    <p:sldId xmlns:r="http://schemas.openxmlformats.org/officeDocument/2006/relationships" id="277" r:id="R113682dbc3574f45"/>
    <p:sldId xmlns:r="http://schemas.openxmlformats.org/officeDocument/2006/relationships" id="278" r:id="R7e97b9f3d7ac42ef"/>
    <p:sldId xmlns:r="http://schemas.openxmlformats.org/officeDocument/2006/relationships" id="279" r:id="Rddc0659118e64ba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49df5056864161" /><Relationship Type="http://schemas.openxmlformats.org/officeDocument/2006/relationships/slideMaster" Target="/ppt/slideMasters/slideMaster1.xml" Id="R6939128d488b47a1" /><Relationship Type="http://schemas.openxmlformats.org/officeDocument/2006/relationships/notesMaster" Target="/ppt/notesMasters/notesMaster1.xml" Id="R5c38527f959f41f5" /><Relationship Type="http://schemas.openxmlformats.org/officeDocument/2006/relationships/presProps" Target="/ppt/presProps.xml" Id="Rf3585ac7dd294690" /><Relationship Type="http://schemas.openxmlformats.org/officeDocument/2006/relationships/tableStyles" Target="/ppt/tableStyles.xml" Id="R3402881ccaa64cf0" /><Relationship Type="http://schemas.openxmlformats.org/officeDocument/2006/relationships/slide" Target="/ppt/slides/slide1.xml" Id="R0be47bf1cf5c4df6" /><Relationship Type="http://schemas.openxmlformats.org/officeDocument/2006/relationships/slide" Target="/ppt/slides/slide2.xml" Id="R1c478b2cc88146e8" /><Relationship Type="http://schemas.openxmlformats.org/officeDocument/2006/relationships/slide" Target="/ppt/slides/slide3.xml" Id="R9ed43d2532d94e23" /><Relationship Type="http://schemas.openxmlformats.org/officeDocument/2006/relationships/slide" Target="/ppt/slides/slide4.xml" Id="R667f48650dad44c3" /><Relationship Type="http://schemas.openxmlformats.org/officeDocument/2006/relationships/slide" Target="/ppt/slides/slide5.xml" Id="Rce2df4b3913d482d" /><Relationship Type="http://schemas.openxmlformats.org/officeDocument/2006/relationships/slide" Target="/ppt/slides/slide6.xml" Id="Rc64ea08a3cf74377" /><Relationship Type="http://schemas.openxmlformats.org/officeDocument/2006/relationships/slide" Target="/ppt/slides/slide7.xml" Id="Rf755319664b04c25" /><Relationship Type="http://schemas.openxmlformats.org/officeDocument/2006/relationships/slide" Target="/ppt/slides/slide8.xml" Id="Rec4f0ab344d141b9" /><Relationship Type="http://schemas.openxmlformats.org/officeDocument/2006/relationships/slide" Target="/ppt/slides/slide9.xml" Id="Rd54952eb05ae487a" /><Relationship Type="http://schemas.openxmlformats.org/officeDocument/2006/relationships/slide" Target="/ppt/slides/slide10.xml" Id="Rc105d8ecaa35490c" /><Relationship Type="http://schemas.openxmlformats.org/officeDocument/2006/relationships/slide" Target="/ppt/slides/slide11.xml" Id="R69340d85a6f343ab" /><Relationship Type="http://schemas.openxmlformats.org/officeDocument/2006/relationships/slide" Target="/ppt/slides/slide12.xml" Id="R79a2aba5dd2d4fa3" /><Relationship Type="http://schemas.openxmlformats.org/officeDocument/2006/relationships/slide" Target="/ppt/slides/slide13.xml" Id="Rd611c0aa51004e55" /><Relationship Type="http://schemas.openxmlformats.org/officeDocument/2006/relationships/slide" Target="/ppt/slides/slide14.xml" Id="R16518706995044d4" /><Relationship Type="http://schemas.openxmlformats.org/officeDocument/2006/relationships/slide" Target="/ppt/slides/slide15.xml" Id="R8ffbbad7ea6941aa" /><Relationship Type="http://schemas.openxmlformats.org/officeDocument/2006/relationships/slide" Target="/ppt/slides/slide16.xml" Id="Ra5590ca5812d45cf" /><Relationship Type="http://schemas.openxmlformats.org/officeDocument/2006/relationships/slide" Target="/ppt/slides/slide17.xml" Id="R15a76d63c6c84933" /><Relationship Type="http://schemas.openxmlformats.org/officeDocument/2006/relationships/slide" Target="/ppt/slides/slide18.xml" Id="R03239d6887364448" /><Relationship Type="http://schemas.openxmlformats.org/officeDocument/2006/relationships/slide" Target="/ppt/slides/slide19.xml" Id="R9a7be122da564225" /><Relationship Type="http://schemas.openxmlformats.org/officeDocument/2006/relationships/slide" Target="/ppt/slides/slide20.xml" Id="Rf1f51a1d44364c44" /><Relationship Type="http://schemas.openxmlformats.org/officeDocument/2006/relationships/slide" Target="/ppt/slides/slide21.xml" Id="Rc96fd5367bcc4801" /><Relationship Type="http://schemas.openxmlformats.org/officeDocument/2006/relationships/slide" Target="/ppt/slides/slide22.xml" Id="R113682dbc3574f45" /><Relationship Type="http://schemas.openxmlformats.org/officeDocument/2006/relationships/slide" Target="/ppt/slides/slide23.xml" Id="R7e97b9f3d7ac42ef" /><Relationship Type="http://schemas.openxmlformats.org/officeDocument/2006/relationships/slide" Target="/ppt/slides/slide24.xml" Id="Rddc0659118e64b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fd5bc50fef46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016901c39a4722" /><Relationship Type="http://schemas.openxmlformats.org/officeDocument/2006/relationships/notesMaster" Target="/ppt/notesMasters/notesMaster1.xml" Id="R692f7d5741ab43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23f3fcadae4992" /><Relationship Type="http://schemas.openxmlformats.org/officeDocument/2006/relationships/notesMaster" Target="/ppt/notesMasters/notesMaster1.xml" Id="R0e84531f86e0453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32fd720b09c446e" /><Relationship Type="http://schemas.openxmlformats.org/officeDocument/2006/relationships/notesMaster" Target="/ppt/notesMasters/notesMaster1.xml" Id="Re210f90979b848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574798f5f014de1" /><Relationship Type="http://schemas.openxmlformats.org/officeDocument/2006/relationships/notesMaster" Target="/ppt/notesMasters/notesMaster1.xml" Id="Rd34e02eadda048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61abacf5ade40d1" /><Relationship Type="http://schemas.openxmlformats.org/officeDocument/2006/relationships/notesMaster" Target="/ppt/notesMasters/notesMaster1.xml" Id="R84152aaf9cc74cc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6366ccda07b4203" /><Relationship Type="http://schemas.openxmlformats.org/officeDocument/2006/relationships/notesMaster" Target="/ppt/notesMasters/notesMaster1.xml" Id="Rdb978ea92fb24f4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6a76adb156d4210" /><Relationship Type="http://schemas.openxmlformats.org/officeDocument/2006/relationships/notesMaster" Target="/ppt/notesMasters/notesMaster1.xml" Id="R93869006d7504dd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fec16fc12a94392" /><Relationship Type="http://schemas.openxmlformats.org/officeDocument/2006/relationships/notesMaster" Target="/ppt/notesMasters/notesMaster1.xml" Id="R2ff05bcd39b0480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a8c124d9f7c45c5" /><Relationship Type="http://schemas.openxmlformats.org/officeDocument/2006/relationships/notesMaster" Target="/ppt/notesMasters/notesMaster1.xml" Id="R3115e23a4c174c2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b5659f24f1d401c" /><Relationship Type="http://schemas.openxmlformats.org/officeDocument/2006/relationships/notesMaster" Target="/ppt/notesMasters/notesMaster1.xml" Id="R5e5a935588f1429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aad53af943045d8" /><Relationship Type="http://schemas.openxmlformats.org/officeDocument/2006/relationships/notesMaster" Target="/ppt/notesMasters/notesMaster1.xml" Id="R85b1c6d010e64a3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c125f75d7d34963" /><Relationship Type="http://schemas.openxmlformats.org/officeDocument/2006/relationships/notesMaster" Target="/ppt/notesMasters/notesMaster1.xml" Id="R9e60914923654fb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683d9a8a3bf42d5" /><Relationship Type="http://schemas.openxmlformats.org/officeDocument/2006/relationships/notesMaster" Target="/ppt/notesMasters/notesMaster1.xml" Id="R71bc8dcdb6644ac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b0c0a93fd9c4e2b" /><Relationship Type="http://schemas.openxmlformats.org/officeDocument/2006/relationships/notesMaster" Target="/ppt/notesMasters/notesMaster1.xml" Id="Reffdddf9fc0b4ae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193f382e89e4e0f" /><Relationship Type="http://schemas.openxmlformats.org/officeDocument/2006/relationships/notesMaster" Target="/ppt/notesMasters/notesMaster1.xml" Id="R6beaebb0e5af4d7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bbea27d5ef24982" /><Relationship Type="http://schemas.openxmlformats.org/officeDocument/2006/relationships/notesMaster" Target="/ppt/notesMasters/notesMaster1.xml" Id="R51b180c1c157406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4e8ea0e08784f52" /><Relationship Type="http://schemas.openxmlformats.org/officeDocument/2006/relationships/notesMaster" Target="/ppt/notesMasters/notesMaster1.xml" Id="R29901022203d45a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b522c7020514faa" /><Relationship Type="http://schemas.openxmlformats.org/officeDocument/2006/relationships/notesMaster" Target="/ppt/notesMasters/notesMaster1.xml" Id="R58073239aad9442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1053e1c82e846b8" /><Relationship Type="http://schemas.openxmlformats.org/officeDocument/2006/relationships/notesMaster" Target="/ppt/notesMasters/notesMaster1.xml" Id="Rf89177bc10504a8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b0623038d4b4317" /><Relationship Type="http://schemas.openxmlformats.org/officeDocument/2006/relationships/notesMaster" Target="/ppt/notesMasters/notesMaster1.xml" Id="Rc7567b7015d6403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411df51cbf541b7" /><Relationship Type="http://schemas.openxmlformats.org/officeDocument/2006/relationships/notesMaster" Target="/ppt/notesMasters/notesMaster1.xml" Id="R4549aa3236a2433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67a6cfa6cb84989" /><Relationship Type="http://schemas.openxmlformats.org/officeDocument/2006/relationships/notesMaster" Target="/ppt/notesMasters/notesMaster1.xml" Id="R5f006fb15beb4a7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71d2e3acde94d3c" /><Relationship Type="http://schemas.openxmlformats.org/officeDocument/2006/relationships/notesMaster" Target="/ppt/notesMasters/notesMaster1.xml" Id="R8f57ccace0b1449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be14e1838c84fd0" /><Relationship Type="http://schemas.openxmlformats.org/officeDocument/2006/relationships/notesMaster" Target="/ppt/notesMasters/notesMaster1.xml" Id="R95b7fcee47174f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D:\work\MonteCarlo for Atom tweezer\2403.12021v4.pdf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Corrected evidence: D:\work\MonteCarlo for Atom tweezer\reports\level5_paper_review\output\Level5_vector_reference_v2.evidence.json</a:t>
            </a:r>
          </a:p>
          <a:p xmlns:a="http://schemas.openxmlformats.org/drawingml/2006/main">
            <a:r>
              <a:t>Reference: D:\work\MonteCarlo for Atom tweezer\simulation\level2_joint_transfer/reference/fig6d_vector_v2/fig6d_vectors.json</a:t>
            </a:r>
          </a:p>
          <a:p xmlns:a="http://schemas.openxmlformats.org/drawingml/2006/main">
            <a:r>
              <a:t>Fit paths, 37 marker centers and original error-bar endpoints are recovered independently from PDF vector objects. No smoothing or refitting. Error-bar geometry does not establish a confidence convention. Dense fit samples are not independent measurements.</a:t>
            </a:r>
          </a:p>
          <a:p xmlns:a="http://schemas.openxmlformats.org/drawingml/2006/main">
            <a:r>
              <a:t>Archived 2026-09-14 simulations are re-compared, not rerun. The previously frozen temperatures are retained.</a:t>
            </a:r>
          </a:p>
          <a:p xmlns:a="http://schemas.openxmlformats.org/drawingml/2006/main">
            <a:r>
              <a:t>Simulation: D:\work\MonteCarlo for Atom tweezer\simulation\level2_joint_transfer/src/continuous_transfer/{protocol,engine,cli}.py</a:t>
            </a:r>
          </a:p>
          <a:p xmlns:a="http://schemas.openxmlformats.org/drawingml/2006/main">
            <a:r>
              <a:t>Config: D:\work\MonteCarlo for Atom tweezer\simulation\level2_joint_transfer/configs/continuous_level2c_345.yaml</a:t>
            </a:r>
          </a:p>
          <a:p xmlns:a="http://schemas.openxmlformats.org/drawingml/2006/main">
            <a:r>
              <a:t>Baseline physical assumptions: D:\work\MonteCarlo for Atom tweezer\simulation\level2_joint_transfer/configs/level2c_pickup_survival.yaml</a:t>
            </a:r>
          </a:p>
          <a:p xmlns:a="http://schemas.openxmlformats.org/drawingml/2006/main">
            <a:r>
              <a:t>Legacy result status: D:\work\MonteCarlo for Atom tweezer\simulation\level2_joint_transfer/outputs/level5_finite_pulse_irb/demo/RESULT_STATUS.md</a:t>
            </a:r>
          </a:p>
          <a:p xmlns:a="http://schemas.openxmlformats.org/drawingml/2006/main">
            <a:r>
              <a:t>Scope: this deck is a standalone scientific comparison. Continuous mechanical + finite-pulse results and legacy independent RB evidence have different validation status.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D:\work\MonteCarlo for Atom tweezer\2403.12021v4.pdf</a:t>
            </a:r>
          </a:p>
          <a:p xmlns:a="http://schemas.openxmlformats.org/drawingml/2006/main">
            <a:r>
              <a:t>Fig. 4–6, pp. 5–7; Extended Data Fig. 10, p. 19.</a:t>
            </a:r>
          </a:p>
          <a:p xmlns:a="http://schemas.openxmlformats.org/drawingml/2006/main">
            <a:r>
              <a:t>Corrected evidence: D:\work\MonteCarlo for Atom tweezer\reports\level5_paper_review\output\Level5_vector_reference_v2.evidence.json</a:t>
            </a:r>
          </a:p>
          <a:p xmlns:a="http://schemas.openxmlformats.org/drawingml/2006/main">
            <a:r>
              <a:t>Reference: D:\work\MonteCarlo for Atom tweezer\simulation\level2_joint_transfer/reference/fig6d_vector_v2/fig6d_vectors.json</a:t>
            </a:r>
          </a:p>
          <a:p xmlns:a="http://schemas.openxmlformats.org/drawingml/2006/main">
            <a:r>
              <a:t>Fit paths, 37 marker centers and original error-bar endpoints are recovered independently from PDF vector objects. No smoothing or refitting. Error-bar geometry does not establish a confidence convention. Dense fit samples are not independent measurements.</a:t>
            </a:r>
          </a:p>
          <a:p xmlns:a="http://schemas.openxmlformats.org/drawingml/2006/main">
            <a:r>
              <a:t>Archived 2026-09-14 simulations are re-compared, not rerun. The previously frozen temperatures are retained.</a:t>
            </a:r>
          </a:p>
          <a:p xmlns:a="http://schemas.openxmlformats.org/drawingml/2006/main">
            <a:r>
              <a:t>Simulation: D:\work\MonteCarlo for Atom tweezer\simulation\level2_joint_transfer/src/continuous_transfer/{protocol,engine,cli}.py</a:t>
            </a:r>
          </a:p>
          <a:p xmlns:a="http://schemas.openxmlformats.org/drawingml/2006/main">
            <a:r>
              <a:t>Config: D:\work\MonteCarlo for Atom tweezer\simulation\level2_joint_transfer/configs/continuous_level2c_345.yaml</a:t>
            </a:r>
          </a:p>
          <a:p xmlns:a="http://schemas.openxmlformats.org/drawingml/2006/main">
            <a:r>
              <a:t>Baseline physical assumptions: D:\work\MonteCarlo for Atom tweezer\simulation\level2_joint_transfer/configs/level2c_pickup_survival.yaml</a:t>
            </a:r>
          </a:p>
          <a:p xmlns:a="http://schemas.openxmlformats.org/drawingml/2006/main">
            <a:r>
              <a:t>Legacy result status: D:\work\MonteCarlo for Atom tweezer\simulation\level2_joint_transfer/outputs/level5_finite_pulse_irb/demo/RESULT_STATUS.md</a:t>
            </a:r>
          </a:p>
          <a:p xmlns:a="http://schemas.openxmlformats.org/drawingml/2006/main">
            <a:r>
              <a:t>Scope: this deck is a standalone scientific comparison. Continuous mechanical + finite-pulse results and legacy independent RB evidence have different validation status.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D:\work\MonteCarlo for Atom tweezer\2403.12021v4.pdf</a:t>
            </a:r>
          </a:p>
          <a:p xmlns:a="http://schemas.openxmlformats.org/drawingml/2006/main">
            <a:r>
              <a:t>Fig. 6a–d, p. 7; Methods, Large-scale coherent atom transfer.</a:t>
            </a:r>
          </a:p>
          <a:p xmlns:a="http://schemas.openxmlformats.org/drawingml/2006/main">
            <a:r>
              <a:t>Corrected evidence: D:\work\MonteCarlo for Atom tweezer\reports\level5_paper_review\output\Level5_vector_reference_v2.evidence.json</a:t>
            </a:r>
          </a:p>
          <a:p xmlns:a="http://schemas.openxmlformats.org/drawingml/2006/main">
            <a:r>
              <a:t>Reference: D:\work\MonteCarlo for Atom tweezer\simulation\level2_joint_transfer/reference/fig6d_vector_v2/fig6d_vectors.json</a:t>
            </a:r>
          </a:p>
          <a:p xmlns:a="http://schemas.openxmlformats.org/drawingml/2006/main">
            <a:r>
              <a:t>Fit paths, 37 marker centers and original error-bar endpoints are recovered independently from PDF vector objects. No smoothing or refitting. Error-bar geometry does not establish a confidence convention. Dense fit samples are not independent measurements.</a:t>
            </a:r>
          </a:p>
          <a:p xmlns:a="http://schemas.openxmlformats.org/drawingml/2006/main">
            <a:r>
              <a:t>Archived 2026-09-14 simulations are re-compared, not rerun. The previously frozen temperatures are retained.</a:t>
            </a:r>
          </a:p>
          <a:p xmlns:a="http://schemas.openxmlformats.org/drawingml/2006/main">
            <a:r>
              <a:t>Simulation: D:\work\MonteCarlo for Atom tweezer\simulation\level2_joint_transfer/src/continuous_transfer/{protocol,engine,cli}.py</a:t>
            </a:r>
          </a:p>
          <a:p xmlns:a="http://schemas.openxmlformats.org/drawingml/2006/main">
            <a:r>
              <a:t>Config: D:\work\MonteCarlo for Atom tweezer\simulation\level2_joint_transfer/configs/continuous_level2c_345.yaml</a:t>
            </a:r>
          </a:p>
          <a:p xmlns:a="http://schemas.openxmlformats.org/drawingml/2006/main">
            <a:r>
              <a:t>Baseline physical assumptions: D:\work\MonteCarlo for Atom tweezer\simulation\level2_joint_transfer/configs/level2c_pickup_survival.yaml</a:t>
            </a:r>
          </a:p>
          <a:p xmlns:a="http://schemas.openxmlformats.org/drawingml/2006/main">
            <a:r>
              <a:t>Legacy result status: D:\work\MonteCarlo for Atom tweezer\simulation\level2_joint_transfer/outputs/level5_finite_pulse_irb/demo/RESULT_STATUS.md</a:t>
            </a:r>
          </a:p>
          <a:p xmlns:a="http://schemas.openxmlformats.org/drawingml/2006/main">
            <a:r>
              <a:t>Scope: this deck is a standalone scientific comparison. Continuous mechanical + finite-pulse results and legacy independent RB evidence have different validation status.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D:\work\MonteCarlo for Atom tweezer\2403.12021v4.pdf</a:t>
            </a:r>
          </a:p>
          <a:p xmlns:a="http://schemas.openxmlformats.org/drawingml/2006/main">
            <a:r>
              <a:t>Fig. 5, p. 6; Fig. 6, p. 7; Extended Data Fig. 10, p. 19; continuous protocol settings.</a:t>
            </a:r>
          </a:p>
          <a:p xmlns:a="http://schemas.openxmlformats.org/drawingml/2006/main">
            <a:r>
              <a:t>Corrected evidence: D:\work\MonteCarlo for Atom tweezer\reports\level5_paper_review\output\Level5_vector_reference_v2.evidence.json</a:t>
            </a:r>
          </a:p>
          <a:p xmlns:a="http://schemas.openxmlformats.org/drawingml/2006/main">
            <a:r>
              <a:t>Reference: D:\work\MonteCarlo for Atom tweezer\simulation\level2_joint_transfer/reference/fig6d_vector_v2/fig6d_vectors.json</a:t>
            </a:r>
          </a:p>
          <a:p xmlns:a="http://schemas.openxmlformats.org/drawingml/2006/main">
            <a:r>
              <a:t>Fit paths, 37 marker centers and original error-bar endpoints are recovered independently from PDF vector objects. No smoothing or refitting. Error-bar geometry does not establish a confidence convention. Dense fit samples are not independent measurements.</a:t>
            </a:r>
          </a:p>
          <a:p xmlns:a="http://schemas.openxmlformats.org/drawingml/2006/main">
            <a:r>
              <a:t>Archived 2026-09-14 simulations are re-compared, not rerun. The previously frozen temperatures are retained.</a:t>
            </a:r>
          </a:p>
          <a:p xmlns:a="http://schemas.openxmlformats.org/drawingml/2006/main">
            <a:r>
              <a:t>Simulation: D:\work\MonteCarlo for Atom tweezer\simulation\level2_joint_transfer/src/continuous_transfer/{protocol,engine,cli}.py</a:t>
            </a:r>
          </a:p>
          <a:p xmlns:a="http://schemas.openxmlformats.org/drawingml/2006/main">
            <a:r>
              <a:t>Config: D:\work\MonteCarlo for Atom tweezer\simulation\level2_joint_transfer/configs/continuous_level2c_345.yaml</a:t>
            </a:r>
          </a:p>
          <a:p xmlns:a="http://schemas.openxmlformats.org/drawingml/2006/main">
            <a:r>
              <a:t>Baseline physical assumptions: D:\work\MonteCarlo for Atom tweezer\simulation\level2_joint_transfer/configs/level2c_pickup_survival.yaml</a:t>
            </a:r>
          </a:p>
          <a:p xmlns:a="http://schemas.openxmlformats.org/drawingml/2006/main">
            <a:r>
              <a:t>Legacy result status: D:\work\MonteCarlo for Atom tweezer\simulation\level2_joint_transfer/outputs/level5_finite_pulse_irb/demo/RESULT_STATUS.md</a:t>
            </a:r>
          </a:p>
          <a:p xmlns:a="http://schemas.openxmlformats.org/drawingml/2006/main">
            <a:r>
              <a:t>Scope: this deck is a standalone scientific comparison. Continuous mechanical + finite-pulse results and legacy independent RB evidence have different validation status.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D:\work\MonteCarlo for Atom tweezer\2403.12021v4.pdf</a:t>
            </a:r>
          </a:p>
          <a:p xmlns:a="http://schemas.openxmlformats.org/drawingml/2006/main">
            <a:r>
              <a:t>Fig. 6d top panel; independent vector fit paths, marker centers and error bars; evidence.selected; dt = 0.0125 μs, seed = 23003.</a:t>
            </a:r>
          </a:p>
          <a:p xmlns:a="http://schemas.openxmlformats.org/drawingml/2006/main">
            <a:r>
              <a:t>Corrected evidence: D:\work\MonteCarlo for Atom tweezer\reports\level5_paper_review\output\Level5_vector_reference_v2.evidence.json</a:t>
            </a:r>
          </a:p>
          <a:p xmlns:a="http://schemas.openxmlformats.org/drawingml/2006/main">
            <a:r>
              <a:t>Reference: D:\work\MonteCarlo for Atom tweezer\simulation\level2_joint_transfer/reference/fig6d_vector_v2/fig6d_vectors.json</a:t>
            </a:r>
          </a:p>
          <a:p xmlns:a="http://schemas.openxmlformats.org/drawingml/2006/main">
            <a:r>
              <a:t>Fit paths, 37 marker centers and original error-bar endpoints are recovered independently from PDF vector objects. No smoothing or refitting. Error-bar geometry does not establish a confidence convention. Dense fit samples are not independent measurements.</a:t>
            </a:r>
          </a:p>
          <a:p xmlns:a="http://schemas.openxmlformats.org/drawingml/2006/main">
            <a:r>
              <a:t>Archived 2026-09-14 simulations are re-compared, not rerun. The previously frozen temperatures are retained.</a:t>
            </a:r>
          </a:p>
          <a:p xmlns:a="http://schemas.openxmlformats.org/drawingml/2006/main">
            <a:r>
              <a:t>Simulation: D:\work\MonteCarlo for Atom tweezer\simulation\level2_joint_transfer/src/continuous_transfer/{protocol,engine,cli}.py</a:t>
            </a:r>
          </a:p>
          <a:p xmlns:a="http://schemas.openxmlformats.org/drawingml/2006/main">
            <a:r>
              <a:t>Config: D:\work\MonteCarlo for Atom tweezer\simulation\level2_joint_transfer/configs/continuous_level2c_345.yaml</a:t>
            </a:r>
          </a:p>
          <a:p xmlns:a="http://schemas.openxmlformats.org/drawingml/2006/main">
            <a:r>
              <a:t>Baseline physical assumptions: D:\work\MonteCarlo for Atom tweezer\simulation\level2_joint_transfer/configs/level2c_pickup_survival.yaml</a:t>
            </a:r>
          </a:p>
          <a:p xmlns:a="http://schemas.openxmlformats.org/drawingml/2006/main">
            <a:r>
              <a:t>Legacy result status: D:\work\MonteCarlo for Atom tweezer\simulation\level2_joint_transfer/outputs/level5_finite_pulse_irb/demo/RESULT_STATUS.md</a:t>
            </a:r>
          </a:p>
          <a:p xmlns:a="http://schemas.openxmlformats.org/drawingml/2006/main">
            <a:r>
              <a:t>Scope: this deck is a standalone scientific comparison. Continuous mechanical + finite-pulse results and legacy independent RB evidence have different validation status.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D:\work\MonteCarlo for Atom tweezer\2403.12021v4.pdf</a:t>
            </a:r>
          </a:p>
          <a:p xmlns:a="http://schemas.openxmlformats.org/drawingml/2006/main">
            <a:r>
              <a:t>Fig. 6d top panel; independent vector fit paths, marker centers and error bars; evidence.selected; dt = 0.0125 μs, seed = 23003.</a:t>
            </a:r>
          </a:p>
          <a:p xmlns:a="http://schemas.openxmlformats.org/drawingml/2006/main">
            <a:r>
              <a:t>Corrected evidence: D:\work\MonteCarlo for Atom tweezer\reports\level5_paper_review\output\Level5_vector_reference_v2.evidence.json</a:t>
            </a:r>
          </a:p>
          <a:p xmlns:a="http://schemas.openxmlformats.org/drawingml/2006/main">
            <a:r>
              <a:t>Reference: D:\work\MonteCarlo for Atom tweezer\simulation\level2_joint_transfer/reference/fig6d_vector_v2/fig6d_vectors.json</a:t>
            </a:r>
          </a:p>
          <a:p xmlns:a="http://schemas.openxmlformats.org/drawingml/2006/main">
            <a:r>
              <a:t>Fit paths, 37 marker centers and original error-bar endpoints are recovered independently from PDF vector objects. No smoothing or refitting. Error-bar geometry does not establish a confidence convention. Dense fit samples are not independent measurements.</a:t>
            </a:r>
          </a:p>
          <a:p xmlns:a="http://schemas.openxmlformats.org/drawingml/2006/main">
            <a:r>
              <a:t>Archived 2026-09-14 simulations are re-compared, not rerun. The previously frozen temperatures are retained.</a:t>
            </a:r>
          </a:p>
          <a:p xmlns:a="http://schemas.openxmlformats.org/drawingml/2006/main">
            <a:r>
              <a:t>Simulation: D:\work\MonteCarlo for Atom tweezer\simulation\level2_joint_transfer/src/continuous_transfer/{protocol,engine,cli}.py</a:t>
            </a:r>
          </a:p>
          <a:p xmlns:a="http://schemas.openxmlformats.org/drawingml/2006/main">
            <a:r>
              <a:t>Config: D:\work\MonteCarlo for Atom tweezer\simulation\level2_joint_transfer/configs/continuous_level2c_345.yaml</a:t>
            </a:r>
          </a:p>
          <a:p xmlns:a="http://schemas.openxmlformats.org/drawingml/2006/main">
            <a:r>
              <a:t>Baseline physical assumptions: D:\work\MonteCarlo for Atom tweezer\simulation\level2_joint_transfer/configs/level2c_pickup_survival.yaml</a:t>
            </a:r>
          </a:p>
          <a:p xmlns:a="http://schemas.openxmlformats.org/drawingml/2006/main">
            <a:r>
              <a:t>Legacy result status: D:\work\MonteCarlo for Atom tweezer\simulation\level2_joint_transfer/outputs/level5_finite_pulse_irb/demo/RESULT_STATUS.md</a:t>
            </a:r>
          </a:p>
          <a:p xmlns:a="http://schemas.openxmlformats.org/drawingml/2006/main">
            <a:r>
              <a:t>Scope: this deck is a standalone scientific comparison. Continuous mechanical + finite-pulse results and legacy independent RB evidence have different validation status.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D:\work\MonteCarlo for Atom tweezer\2403.12021v4.pdf</a:t>
            </a:r>
          </a:p>
          <a:p xmlns:a="http://schemas.openxmlformats.org/drawingml/2006/main">
            <a:r>
              <a:t>evidence.temperature_scan, precision[15]; equal weight of four curves. Tref changes mean heating together with initial T.</a:t>
            </a:r>
          </a:p>
          <a:p xmlns:a="http://schemas.openxmlformats.org/drawingml/2006/main">
            <a:r>
              <a:t>Corrected evidence: D:\work\MonteCarlo for Atom tweezer\reports\level5_paper_review\output\Level5_vector_reference_v2.evidence.json</a:t>
            </a:r>
          </a:p>
          <a:p xmlns:a="http://schemas.openxmlformats.org/drawingml/2006/main">
            <a:r>
              <a:t>Reference: D:\work\MonteCarlo for Atom tweezer\simulation\level2_joint_transfer/reference/fig6d_vector_v2/fig6d_vectors.json</a:t>
            </a:r>
          </a:p>
          <a:p xmlns:a="http://schemas.openxmlformats.org/drawingml/2006/main">
            <a:r>
              <a:t>Fit paths, 37 marker centers and original error-bar endpoints are recovered independently from PDF vector objects. No smoothing or refitting. Error-bar geometry does not establish a confidence convention. Dense fit samples are not independent measurements.</a:t>
            </a:r>
          </a:p>
          <a:p xmlns:a="http://schemas.openxmlformats.org/drawingml/2006/main">
            <a:r>
              <a:t>Archived 2026-09-14 simulations are re-compared, not rerun. The previously frozen temperatures are retained.</a:t>
            </a:r>
          </a:p>
          <a:p xmlns:a="http://schemas.openxmlformats.org/drawingml/2006/main">
            <a:r>
              <a:t>Simulation: D:\work\MonteCarlo for Atom tweezer\simulation\level2_joint_transfer/src/continuous_transfer/{protocol,engine,cli}.py</a:t>
            </a:r>
          </a:p>
          <a:p xmlns:a="http://schemas.openxmlformats.org/drawingml/2006/main">
            <a:r>
              <a:t>Config: D:\work\MonteCarlo for Atom tweezer\simulation\level2_joint_transfer/configs/continuous_level2c_345.yaml</a:t>
            </a:r>
          </a:p>
          <a:p xmlns:a="http://schemas.openxmlformats.org/drawingml/2006/main">
            <a:r>
              <a:t>Baseline physical assumptions: D:\work\MonteCarlo for Atom tweezer\simulation\level2_joint_transfer/configs/level2c_pickup_survival.yaml</a:t>
            </a:r>
          </a:p>
          <a:p xmlns:a="http://schemas.openxmlformats.org/drawingml/2006/main">
            <a:r>
              <a:t>Legacy result status: D:\work\MonteCarlo for Atom tweezer\simulation\level2_joint_transfer/outputs/level5_finite_pulse_irb/demo/RESULT_STATUS.md</a:t>
            </a:r>
          </a:p>
          <a:p xmlns:a="http://schemas.openxmlformats.org/drawingml/2006/main">
            <a:r>
              <a:t>Scope: this deck is a standalone scientific comparison. Continuous mechanical + finite-pulse results and legacy independent RB evidence have different validation status.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D:\work\MonteCarlo for Atom tweezer\2403.12021v4.pdf</a:t>
            </a:r>
          </a:p>
          <a:p xmlns:a="http://schemas.openxmlformats.org/drawingml/2006/main">
            <a:r>
              <a:t>evidence.base[5]; paper Methods says cylindrical lensing is not detrimental at the short transfer speeds.</a:t>
            </a:r>
          </a:p>
          <a:p xmlns:a="http://schemas.openxmlformats.org/drawingml/2006/main">
            <a:r>
              <a:t>Corrected evidence: D:\work\MonteCarlo for Atom tweezer\reports\level5_paper_review\output\Level5_vector_reference_v2.evidence.json</a:t>
            </a:r>
          </a:p>
          <a:p xmlns:a="http://schemas.openxmlformats.org/drawingml/2006/main">
            <a:r>
              <a:t>Reference: D:\work\MonteCarlo for Atom tweezer\simulation\level2_joint_transfer/reference/fig6d_vector_v2/fig6d_vectors.json</a:t>
            </a:r>
          </a:p>
          <a:p xmlns:a="http://schemas.openxmlformats.org/drawingml/2006/main">
            <a:r>
              <a:t>Fit paths, 37 marker centers and original error-bar endpoints are recovered independently from PDF vector objects. No smoothing or refitting. Error-bar geometry does not establish a confidence convention. Dense fit samples are not independent measurements.</a:t>
            </a:r>
          </a:p>
          <a:p xmlns:a="http://schemas.openxmlformats.org/drawingml/2006/main">
            <a:r>
              <a:t>Archived 2026-09-14 simulations are re-compared, not rerun. The previously frozen temperatures are retained.</a:t>
            </a:r>
          </a:p>
          <a:p xmlns:a="http://schemas.openxmlformats.org/drawingml/2006/main">
            <a:r>
              <a:t>Simulation: D:\work\MonteCarlo for Atom tweezer\simulation\level2_joint_transfer/src/continuous_transfer/{protocol,engine,cli}.py</a:t>
            </a:r>
          </a:p>
          <a:p xmlns:a="http://schemas.openxmlformats.org/drawingml/2006/main">
            <a:r>
              <a:t>Config: D:\work\MonteCarlo for Atom tweezer\simulation\level2_joint_transfer/configs/continuous_level2c_345.yaml</a:t>
            </a:r>
          </a:p>
          <a:p xmlns:a="http://schemas.openxmlformats.org/drawingml/2006/main">
            <a:r>
              <a:t>Baseline physical assumptions: D:\work\MonteCarlo for Atom tweezer\simulation\level2_joint_transfer/configs/level2c_pickup_survival.yaml</a:t>
            </a:r>
          </a:p>
          <a:p xmlns:a="http://schemas.openxmlformats.org/drawingml/2006/main">
            <a:r>
              <a:t>Legacy result status: D:\work\MonteCarlo for Atom tweezer\simulation\level2_joint_transfer/outputs/level5_finite_pulse_irb/demo/RESULT_STATUS.md</a:t>
            </a:r>
          </a:p>
          <a:p xmlns:a="http://schemas.openxmlformats.org/drawingml/2006/main">
            <a:r>
              <a:t>Scope: this deck is a standalone scientific comparison. Continuous mechanical + finite-pulse results and legacy independent RB evidence have different validation status.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D:\work\MonteCarlo for Atom tweezer\2403.12021v4.pdf</a:t>
            </a:r>
          </a:p>
          <a:p xmlns:a="http://schemas.openxmlformats.org/drawingml/2006/main">
            <a:r>
              <a:t>Fig. 4, p. 5; microwave/RB Methods; configs/level5_finite_pulse_irb.yaml.</a:t>
            </a:r>
          </a:p>
          <a:p xmlns:a="http://schemas.openxmlformats.org/drawingml/2006/main">
            <a:r>
              <a:t>Corrected evidence: D:\work\MonteCarlo for Atom tweezer\reports\level5_paper_review\output\Level5_vector_reference_v2.evidence.json</a:t>
            </a:r>
          </a:p>
          <a:p xmlns:a="http://schemas.openxmlformats.org/drawingml/2006/main">
            <a:r>
              <a:t>Reference: D:\work\MonteCarlo for Atom tweezer\simulation\level2_joint_transfer/reference/fig6d_vector_v2/fig6d_vectors.json</a:t>
            </a:r>
          </a:p>
          <a:p xmlns:a="http://schemas.openxmlformats.org/drawingml/2006/main">
            <a:r>
              <a:t>Fit paths, 37 marker centers and original error-bar endpoints are recovered independently from PDF vector objects. No smoothing or refitting. Error-bar geometry does not establish a confidence convention. Dense fit samples are not independent measurements.</a:t>
            </a:r>
          </a:p>
          <a:p xmlns:a="http://schemas.openxmlformats.org/drawingml/2006/main">
            <a:r>
              <a:t>Archived 2026-09-14 simulations are re-compared, not rerun. The previously frozen temperatures are retained.</a:t>
            </a:r>
          </a:p>
          <a:p xmlns:a="http://schemas.openxmlformats.org/drawingml/2006/main">
            <a:r>
              <a:t>Simulation: D:\work\MonteCarlo for Atom tweezer\simulation\level2_joint_transfer/src/continuous_transfer/{protocol,engine,cli}.py</a:t>
            </a:r>
          </a:p>
          <a:p xmlns:a="http://schemas.openxmlformats.org/drawingml/2006/main">
            <a:r>
              <a:t>Config: D:\work\MonteCarlo for Atom tweezer\simulation\level2_joint_transfer/configs/continuous_level2c_345.yaml</a:t>
            </a:r>
          </a:p>
          <a:p xmlns:a="http://schemas.openxmlformats.org/drawingml/2006/main">
            <a:r>
              <a:t>Baseline physical assumptions: D:\work\MonteCarlo for Atom tweezer\simulation\level2_joint_transfer/configs/level2c_pickup_survival.yaml</a:t>
            </a:r>
          </a:p>
          <a:p xmlns:a="http://schemas.openxmlformats.org/drawingml/2006/main">
            <a:r>
              <a:t>Legacy result status: D:\work\MonteCarlo for Atom tweezer\simulation\level2_joint_transfer/outputs/level5_finite_pulse_irb/demo/RESULT_STATUS.md</a:t>
            </a:r>
          </a:p>
          <a:p xmlns:a="http://schemas.openxmlformats.org/drawingml/2006/main">
            <a:r>
              <a:t>Scope: this deck is a standalone scientific comparison. Continuous mechanical + finite-pulse results and legacy independent RB evidence have different validation status.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D:\work\MonteCarlo for Atom tweezer\2403.12021v4.pdf</a:t>
            </a:r>
          </a:p>
          <a:p xmlns:a="http://schemas.openxmlformats.org/drawingml/2006/main">
            <a:r>
              <a:t>Fig. 5a–d, p. 6; Randomized benchmarking of coherent transport Methods.</a:t>
            </a:r>
          </a:p>
          <a:p xmlns:a="http://schemas.openxmlformats.org/drawingml/2006/main">
            <a:r>
              <a:t>Corrected evidence: D:\work\MonteCarlo for Atom tweezer\reports\level5_paper_review\output\Level5_vector_reference_v2.evidence.json</a:t>
            </a:r>
          </a:p>
          <a:p xmlns:a="http://schemas.openxmlformats.org/drawingml/2006/main">
            <a:r>
              <a:t>Reference: D:\work\MonteCarlo for Atom tweezer\simulation\level2_joint_transfer/reference/fig6d_vector_v2/fig6d_vectors.json</a:t>
            </a:r>
          </a:p>
          <a:p xmlns:a="http://schemas.openxmlformats.org/drawingml/2006/main">
            <a:r>
              <a:t>Fit paths, 37 marker centers and original error-bar endpoints are recovered independently from PDF vector objects. No smoothing or refitting. Error-bar geometry does not establish a confidence convention. Dense fit samples are not independent measurements.</a:t>
            </a:r>
          </a:p>
          <a:p xmlns:a="http://schemas.openxmlformats.org/drawingml/2006/main">
            <a:r>
              <a:t>Archived 2026-09-14 simulations are re-compared, not rerun. The previously frozen temperatures are retained.</a:t>
            </a:r>
          </a:p>
          <a:p xmlns:a="http://schemas.openxmlformats.org/drawingml/2006/main">
            <a:r>
              <a:t>Simulation: D:\work\MonteCarlo for Atom tweezer\simulation\level2_joint_transfer/src/continuous_transfer/{protocol,engine,cli}.py</a:t>
            </a:r>
          </a:p>
          <a:p xmlns:a="http://schemas.openxmlformats.org/drawingml/2006/main">
            <a:r>
              <a:t>Config: D:\work\MonteCarlo for Atom tweezer\simulation\level2_joint_transfer/configs/continuous_level2c_345.yaml</a:t>
            </a:r>
          </a:p>
          <a:p xmlns:a="http://schemas.openxmlformats.org/drawingml/2006/main">
            <a:r>
              <a:t>Baseline physical assumptions: D:\work\MonteCarlo for Atom tweezer\simulation\level2_joint_transfer/configs/level2c_pickup_survival.yaml</a:t>
            </a:r>
          </a:p>
          <a:p xmlns:a="http://schemas.openxmlformats.org/drawingml/2006/main">
            <a:r>
              <a:t>Legacy result status: D:\work\MonteCarlo for Atom tweezer\simulation\level2_joint_transfer/outputs/level5_finite_pulse_irb/demo/RESULT_STATUS.md</a:t>
            </a:r>
          </a:p>
          <a:p xmlns:a="http://schemas.openxmlformats.org/drawingml/2006/main">
            <a:r>
              <a:t>Scope: this deck is a standalone scientific comparison. Continuous mechanical + finite-pulse results and legacy independent RB evidence have different validation status.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D:\work\MonteCarlo for Atom tweezer\2403.12021v4.pdf</a:t>
            </a:r>
          </a:p>
          <a:p xmlns:a="http://schemas.openxmlformats.org/drawingml/2006/main">
            <a:r>
              <a:t>Extended Data Fig. 10e–f, p. 19; combined transfer and long moves Methods, pp. 28–29.</a:t>
            </a:r>
          </a:p>
          <a:p xmlns:a="http://schemas.openxmlformats.org/drawingml/2006/main">
            <a:r>
              <a:t>Corrected evidence: D:\work\MonteCarlo for Atom tweezer\reports\level5_paper_review\output\Level5_vector_reference_v2.evidence.json</a:t>
            </a:r>
          </a:p>
          <a:p xmlns:a="http://schemas.openxmlformats.org/drawingml/2006/main">
            <a:r>
              <a:t>Reference: D:\work\MonteCarlo for Atom tweezer\simulation\level2_joint_transfer/reference/fig6d_vector_v2/fig6d_vectors.json</a:t>
            </a:r>
          </a:p>
          <a:p xmlns:a="http://schemas.openxmlformats.org/drawingml/2006/main">
            <a:r>
              <a:t>Fit paths, 37 marker centers and original error-bar endpoints are recovered independently from PDF vector objects. No smoothing or refitting. Error-bar geometry does not establish a confidence convention. Dense fit samples are not independent measurements.</a:t>
            </a:r>
          </a:p>
          <a:p xmlns:a="http://schemas.openxmlformats.org/drawingml/2006/main">
            <a:r>
              <a:t>Archived 2026-09-14 simulations are re-compared, not rerun. The previously frozen temperatures are retained.</a:t>
            </a:r>
          </a:p>
          <a:p xmlns:a="http://schemas.openxmlformats.org/drawingml/2006/main">
            <a:r>
              <a:t>Simulation: D:\work\MonteCarlo for Atom tweezer\simulation\level2_joint_transfer/src/continuous_transfer/{protocol,engine,cli}.py</a:t>
            </a:r>
          </a:p>
          <a:p xmlns:a="http://schemas.openxmlformats.org/drawingml/2006/main">
            <a:r>
              <a:t>Config: D:\work\MonteCarlo for Atom tweezer\simulation\level2_joint_transfer/configs/continuous_level2c_345.yaml</a:t>
            </a:r>
          </a:p>
          <a:p xmlns:a="http://schemas.openxmlformats.org/drawingml/2006/main">
            <a:r>
              <a:t>Baseline physical assumptions: D:\work\MonteCarlo for Atom tweezer\simulation\level2_joint_transfer/configs/level2c_pickup_survival.yaml</a:t>
            </a:r>
          </a:p>
          <a:p xmlns:a="http://schemas.openxmlformats.org/drawingml/2006/main">
            <a:r>
              <a:t>Legacy result status: D:\work\MonteCarlo for Atom tweezer\simulation\level2_joint_transfer/outputs/level5_finite_pulse_irb/demo/RESULT_STATUS.md</a:t>
            </a:r>
          </a:p>
          <a:p xmlns:a="http://schemas.openxmlformats.org/drawingml/2006/main">
            <a:r>
              <a:t>Scope: this deck is a standalone scientific comparison. Continuous mechanical + finite-pulse results and legacy independent RB evidence have different validation status.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D:\work\MonteCarlo for Atom tweezer\2403.12021v4.pdf</a:t>
            </a:r>
          </a:p>
          <a:p xmlns:a="http://schemas.openxmlformats.org/drawingml/2006/main">
            <a:r>
              <a:t>evidence.base[5].matched[1] and extended[1]; quantum_summary. Conditional coherence C = 2|mean rho01| of ideal-relative + state.</a:t>
            </a:r>
          </a:p>
          <a:p xmlns:a="http://schemas.openxmlformats.org/drawingml/2006/main">
            <a:r>
              <a:t>Corrected evidence: D:\work\MonteCarlo for Atom tweezer\reports\level5_paper_review\output\Level5_vector_reference_v2.evidence.json</a:t>
            </a:r>
          </a:p>
          <a:p xmlns:a="http://schemas.openxmlformats.org/drawingml/2006/main">
            <a:r>
              <a:t>Reference: D:\work\MonteCarlo for Atom tweezer\simulation\level2_joint_transfer/reference/fig6d_vector_v2/fig6d_vectors.json</a:t>
            </a:r>
          </a:p>
          <a:p xmlns:a="http://schemas.openxmlformats.org/drawingml/2006/main">
            <a:r>
              <a:t>Fit paths, 37 marker centers and original error-bar endpoints are recovered independently from PDF vector objects. No smoothing or refitting. Error-bar geometry does not establish a confidence convention. Dense fit samples are not independent measurements.</a:t>
            </a:r>
          </a:p>
          <a:p xmlns:a="http://schemas.openxmlformats.org/drawingml/2006/main">
            <a:r>
              <a:t>Archived 2026-09-14 simulations are re-compared, not rerun. The previously frozen temperatures are retained.</a:t>
            </a:r>
          </a:p>
          <a:p xmlns:a="http://schemas.openxmlformats.org/drawingml/2006/main">
            <a:r>
              <a:t>Simulation: D:\work\MonteCarlo for Atom tweezer\simulation\level2_joint_transfer/src/continuous_transfer/{protocol,engine,cli}.py</a:t>
            </a:r>
          </a:p>
          <a:p xmlns:a="http://schemas.openxmlformats.org/drawingml/2006/main">
            <a:r>
              <a:t>Config: D:\work\MonteCarlo for Atom tweezer\simulation\level2_joint_transfer/configs/continuous_level2c_345.yaml</a:t>
            </a:r>
          </a:p>
          <a:p xmlns:a="http://schemas.openxmlformats.org/drawingml/2006/main">
            <a:r>
              <a:t>Baseline physical assumptions: D:\work\MonteCarlo for Atom tweezer\simulation\level2_joint_transfer/configs/level2c_pickup_survival.yaml</a:t>
            </a:r>
          </a:p>
          <a:p xmlns:a="http://schemas.openxmlformats.org/drawingml/2006/main">
            <a:r>
              <a:t>Legacy result status: D:\work\MonteCarlo for Atom tweezer\simulation\level2_joint_transfer/outputs/level5_finite_pulse_irb/demo/RESULT_STATUS.md</a:t>
            </a:r>
          </a:p>
          <a:p xmlns:a="http://schemas.openxmlformats.org/drawingml/2006/main">
            <a:r>
              <a:t>Scope: this deck is a standalone scientific comparison. Continuous mechanical + finite-pulse results and legacy independent RB evidence have different validation status.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D:\work\MonteCarlo for Atom tweezer\2403.12021v4.pdf</a:t>
            </a:r>
          </a:p>
          <a:p xmlns:a="http://schemas.openxmlformats.org/drawingml/2006/main">
            <a:r>
              <a:t>Fig. 5d/6d and corresponding Methods; quantum_summary definition and feedback fields.</a:t>
            </a:r>
          </a:p>
          <a:p xmlns:a="http://schemas.openxmlformats.org/drawingml/2006/main">
            <a:r>
              <a:t>Corrected evidence: D:\work\MonteCarlo for Atom tweezer\reports\level5_paper_review\output\Level5_vector_reference_v2.evidence.json</a:t>
            </a:r>
          </a:p>
          <a:p xmlns:a="http://schemas.openxmlformats.org/drawingml/2006/main">
            <a:r>
              <a:t>Reference: D:\work\MonteCarlo for Atom tweezer\simulation\level2_joint_transfer/reference/fig6d_vector_v2/fig6d_vectors.json</a:t>
            </a:r>
          </a:p>
          <a:p xmlns:a="http://schemas.openxmlformats.org/drawingml/2006/main">
            <a:r>
              <a:t>Fit paths, 37 marker centers and original error-bar endpoints are recovered independently from PDF vector objects. No smoothing or refitting. Error-bar geometry does not establish a confidence convention. Dense fit samples are not independent measurements.</a:t>
            </a:r>
          </a:p>
          <a:p xmlns:a="http://schemas.openxmlformats.org/drawingml/2006/main">
            <a:r>
              <a:t>Archived 2026-09-14 simulations are re-compared, not rerun. The previously frozen temperatures are retained.</a:t>
            </a:r>
          </a:p>
          <a:p xmlns:a="http://schemas.openxmlformats.org/drawingml/2006/main">
            <a:r>
              <a:t>Simulation: D:\work\MonteCarlo for Atom tweezer\simulation\level2_joint_transfer/src/continuous_transfer/{protocol,engine,cli}.py</a:t>
            </a:r>
          </a:p>
          <a:p xmlns:a="http://schemas.openxmlformats.org/drawingml/2006/main">
            <a:r>
              <a:t>Config: D:\work\MonteCarlo for Atom tweezer\simulation\level2_joint_transfer/configs/continuous_level2c_345.yaml</a:t>
            </a:r>
          </a:p>
          <a:p xmlns:a="http://schemas.openxmlformats.org/drawingml/2006/main">
            <a:r>
              <a:t>Baseline physical assumptions: D:\work\MonteCarlo for Atom tweezer\simulation\level2_joint_transfer/configs/level2c_pickup_survival.yaml</a:t>
            </a:r>
          </a:p>
          <a:p xmlns:a="http://schemas.openxmlformats.org/drawingml/2006/main">
            <a:r>
              <a:t>Legacy result status: D:\work\MonteCarlo for Atom tweezer\simulation\level2_joint_transfer/outputs/level5_finite_pulse_irb/demo/RESULT_STATUS.md</a:t>
            </a:r>
          </a:p>
          <a:p xmlns:a="http://schemas.openxmlformats.org/drawingml/2006/main">
            <a:r>
              <a:t>Scope: this deck is a standalone scientific comparison. Continuous mechanical + finite-pulse results and legacy independent RB evidence have different validation status.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D:\work\MonteCarlo for Atom tweezer\2403.12021v4.pdf</a:t>
            </a:r>
          </a:p>
          <a:p xmlns:a="http://schemas.openxmlformats.org/drawingml/2006/main">
            <a:r>
              <a:t>continuous_transfer engine/protocol/cli; no state-dependent force; no resampling across rounds.</a:t>
            </a:r>
          </a:p>
          <a:p xmlns:a="http://schemas.openxmlformats.org/drawingml/2006/main">
            <a:r>
              <a:t>Corrected evidence: D:\work\MonteCarlo for Atom tweezer\reports\level5_paper_review\output\Level5_vector_reference_v2.evidence.json</a:t>
            </a:r>
          </a:p>
          <a:p xmlns:a="http://schemas.openxmlformats.org/drawingml/2006/main">
            <a:r>
              <a:t>Reference: D:\work\MonteCarlo for Atom tweezer\simulation\level2_joint_transfer/reference/fig6d_vector_v2/fig6d_vectors.json</a:t>
            </a:r>
          </a:p>
          <a:p xmlns:a="http://schemas.openxmlformats.org/drawingml/2006/main">
            <a:r>
              <a:t>Fit paths, 37 marker centers and original error-bar endpoints are recovered independently from PDF vector objects. No smoothing or refitting. Error-bar geometry does not establish a confidence convention. Dense fit samples are not independent measurements.</a:t>
            </a:r>
          </a:p>
          <a:p xmlns:a="http://schemas.openxmlformats.org/drawingml/2006/main">
            <a:r>
              <a:t>Archived 2026-09-14 simulations are re-compared, not rerun. The previously frozen temperatures are retained.</a:t>
            </a:r>
          </a:p>
          <a:p xmlns:a="http://schemas.openxmlformats.org/drawingml/2006/main">
            <a:r>
              <a:t>Simulation: D:\work\MonteCarlo for Atom tweezer\simulation\level2_joint_transfer/src/continuous_transfer/{protocol,engine,cli}.py</a:t>
            </a:r>
          </a:p>
          <a:p xmlns:a="http://schemas.openxmlformats.org/drawingml/2006/main">
            <a:r>
              <a:t>Config: D:\work\MonteCarlo for Atom tweezer\simulation\level2_joint_transfer/configs/continuous_level2c_345.yaml</a:t>
            </a:r>
          </a:p>
          <a:p xmlns:a="http://schemas.openxmlformats.org/drawingml/2006/main">
            <a:r>
              <a:t>Baseline physical assumptions: D:\work\MonteCarlo for Atom tweezer\simulation\level2_joint_transfer/configs/level2c_pickup_survival.yaml</a:t>
            </a:r>
          </a:p>
          <a:p xmlns:a="http://schemas.openxmlformats.org/drawingml/2006/main">
            <a:r>
              <a:t>Legacy result status: D:\work\MonteCarlo for Atom tweezer\simulation\level2_joint_transfer/outputs/level5_finite_pulse_irb/demo/RESULT_STATUS.md</a:t>
            </a:r>
          </a:p>
          <a:p xmlns:a="http://schemas.openxmlformats.org/drawingml/2006/main">
            <a:r>
              <a:t>Scope: this deck is a standalone scientific comparison. Continuous mechanical + finite-pulse results and legacy independent RB evidence have different validation status.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D:\work\MonteCarlo for Atom tweezer\2403.12021v4.pdf</a:t>
            </a:r>
          </a:p>
          <a:p xmlns:a="http://schemas.openxmlformats.org/drawingml/2006/main">
            <a:r>
              <a:t>thermal_sampling_3d.py; draw_disorder; case_inputs. Sampling is a harmonic proposal with exact E&lt;0 rejection, not the full finite-depth canonical ensemble.</a:t>
            </a:r>
          </a:p>
          <a:p xmlns:a="http://schemas.openxmlformats.org/drawingml/2006/main">
            <a:r>
              <a:t>Corrected evidence: D:\work\MonteCarlo for Atom tweezer\reports\level5_paper_review\output\Level5_vector_reference_v2.evidence.json</a:t>
            </a:r>
          </a:p>
          <a:p xmlns:a="http://schemas.openxmlformats.org/drawingml/2006/main">
            <a:r>
              <a:t>Reference: D:\work\MonteCarlo for Atom tweezer\simulation\level2_joint_transfer/reference/fig6d_vector_v2/fig6d_vectors.json</a:t>
            </a:r>
          </a:p>
          <a:p xmlns:a="http://schemas.openxmlformats.org/drawingml/2006/main">
            <a:r>
              <a:t>Fit paths, 37 marker centers and original error-bar endpoints are recovered independently from PDF vector objects. No smoothing or refitting. Error-bar geometry does not establish a confidence convention. Dense fit samples are not independent measurements.</a:t>
            </a:r>
          </a:p>
          <a:p xmlns:a="http://schemas.openxmlformats.org/drawingml/2006/main">
            <a:r>
              <a:t>Archived 2026-09-14 simulations are re-compared, not rerun. The previously frozen temperatures are retained.</a:t>
            </a:r>
          </a:p>
          <a:p xmlns:a="http://schemas.openxmlformats.org/drawingml/2006/main">
            <a:r>
              <a:t>Simulation: D:\work\MonteCarlo for Atom tweezer\simulation\level2_joint_transfer/src/continuous_transfer/{protocol,engine,cli}.py</a:t>
            </a:r>
          </a:p>
          <a:p xmlns:a="http://schemas.openxmlformats.org/drawingml/2006/main">
            <a:r>
              <a:t>Config: D:\work\MonteCarlo for Atom tweezer\simulation\level2_joint_transfer/configs/continuous_level2c_345.yaml</a:t>
            </a:r>
          </a:p>
          <a:p xmlns:a="http://schemas.openxmlformats.org/drawingml/2006/main">
            <a:r>
              <a:t>Baseline physical assumptions: D:\work\MonteCarlo for Atom tweezer\simulation\level2_joint_transfer/configs/level2c_pickup_survival.yaml</a:t>
            </a:r>
          </a:p>
          <a:p xmlns:a="http://schemas.openxmlformats.org/drawingml/2006/main">
            <a:r>
              <a:t>Legacy result status: D:\work\MonteCarlo for Atom tweezer\simulation\level2_joint_transfer/outputs/level5_finite_pulse_irb/demo/RESULT_STATUS.md</a:t>
            </a:r>
          </a:p>
          <a:p xmlns:a="http://schemas.openxmlformats.org/drawingml/2006/main">
            <a:r>
              <a:t>Scope: this deck is a standalone scientific comparison. Continuous mechanical + finite-pulse results and legacy independent RB evidence have different validation status.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D:\work\MonteCarlo for Atom tweezer\2403.12021v4.pdf</a:t>
            </a:r>
          </a:p>
          <a:p xmlns:a="http://schemas.openxmlformats.org/drawingml/2006/main">
            <a:r>
              <a:t>continuous_transfer/protocol.py, build_protocol; manual pickup_spec and digitized ML CubicSpline.</a:t>
            </a:r>
          </a:p>
          <a:p xmlns:a="http://schemas.openxmlformats.org/drawingml/2006/main">
            <a:r>
              <a:t>Corrected evidence: D:\work\MonteCarlo for Atom tweezer\reports\level5_paper_review\output\Level5_vector_reference_v2.evidence.json</a:t>
            </a:r>
          </a:p>
          <a:p xmlns:a="http://schemas.openxmlformats.org/drawingml/2006/main">
            <a:r>
              <a:t>Reference: D:\work\MonteCarlo for Atom tweezer\simulation\level2_joint_transfer/reference/fig6d_vector_v2/fig6d_vectors.json</a:t>
            </a:r>
          </a:p>
          <a:p xmlns:a="http://schemas.openxmlformats.org/drawingml/2006/main">
            <a:r>
              <a:t>Fit paths, 37 marker centers and original error-bar endpoints are recovered independently from PDF vector objects. No smoothing or refitting. Error-bar geometry does not establish a confidence convention. Dense fit samples are not independent measurements.</a:t>
            </a:r>
          </a:p>
          <a:p xmlns:a="http://schemas.openxmlformats.org/drawingml/2006/main">
            <a:r>
              <a:t>Archived 2026-09-14 simulations are re-compared, not rerun. The previously frozen temperatures are retained.</a:t>
            </a:r>
          </a:p>
          <a:p xmlns:a="http://schemas.openxmlformats.org/drawingml/2006/main">
            <a:r>
              <a:t>Simulation: D:\work\MonteCarlo for Atom tweezer\simulation\level2_joint_transfer/src/continuous_transfer/{protocol,engine,cli}.py</a:t>
            </a:r>
          </a:p>
          <a:p xmlns:a="http://schemas.openxmlformats.org/drawingml/2006/main">
            <a:r>
              <a:t>Config: D:\work\MonteCarlo for Atom tweezer\simulation\level2_joint_transfer/configs/continuous_level2c_345.yaml</a:t>
            </a:r>
          </a:p>
          <a:p xmlns:a="http://schemas.openxmlformats.org/drawingml/2006/main">
            <a:r>
              <a:t>Baseline physical assumptions: D:\work\MonteCarlo for Atom tweezer\simulation\level2_joint_transfer/configs/level2c_pickup_survival.yaml</a:t>
            </a:r>
          </a:p>
          <a:p xmlns:a="http://schemas.openxmlformats.org/drawingml/2006/main">
            <a:r>
              <a:t>Legacy result status: D:\work\MonteCarlo for Atom tweezer\simulation\level2_joint_transfer/outputs/level5_finite_pulse_irb/demo/RESULT_STATUS.md</a:t>
            </a:r>
          </a:p>
          <a:p xmlns:a="http://schemas.openxmlformats.org/drawingml/2006/main">
            <a:r>
              <a:t>Scope: this deck is a standalone scientific comparison. Continuous mechanical + finite-pulse results and legacy independent RB evidence have different validation status.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D:\work\MonteCarlo for Atom tweezer\2403.12021v4.pdf</a:t>
            </a:r>
          </a:p>
          <a:p xmlns:a="http://schemas.openxmlformats.org/drawingml/2006/main">
            <a:r>
              <a:t>engine.total_field/integrate; level2_joint_transfer/noise_heating.py; heating_policy.</a:t>
            </a:r>
          </a:p>
          <a:p xmlns:a="http://schemas.openxmlformats.org/drawingml/2006/main">
            <a:r>
              <a:t>Corrected evidence: D:\work\MonteCarlo for Atom tweezer\reports\level5_paper_review\output\Level5_vector_reference_v2.evidence.json</a:t>
            </a:r>
          </a:p>
          <a:p xmlns:a="http://schemas.openxmlformats.org/drawingml/2006/main">
            <a:r>
              <a:t>Reference: D:\work\MonteCarlo for Atom tweezer\simulation\level2_joint_transfer/reference/fig6d_vector_v2/fig6d_vectors.json</a:t>
            </a:r>
          </a:p>
          <a:p xmlns:a="http://schemas.openxmlformats.org/drawingml/2006/main">
            <a:r>
              <a:t>Fit paths, 37 marker centers and original error-bar endpoints are recovered independently from PDF vector objects. No smoothing or refitting. Error-bar geometry does not establish a confidence convention. Dense fit samples are not independent measurements.</a:t>
            </a:r>
          </a:p>
          <a:p xmlns:a="http://schemas.openxmlformats.org/drawingml/2006/main">
            <a:r>
              <a:t>Archived 2026-09-14 simulations are re-compared, not rerun. The previously frozen temperatures are retained.</a:t>
            </a:r>
          </a:p>
          <a:p xmlns:a="http://schemas.openxmlformats.org/drawingml/2006/main">
            <a:r>
              <a:t>Simulation: D:\work\MonteCarlo for Atom tweezer\simulation\level2_joint_transfer/src/continuous_transfer/{protocol,engine,cli}.py</a:t>
            </a:r>
          </a:p>
          <a:p xmlns:a="http://schemas.openxmlformats.org/drawingml/2006/main">
            <a:r>
              <a:t>Config: D:\work\MonteCarlo for Atom tweezer\simulation\level2_joint_transfer/configs/continuous_level2c_345.yaml</a:t>
            </a:r>
          </a:p>
          <a:p xmlns:a="http://schemas.openxmlformats.org/drawingml/2006/main">
            <a:r>
              <a:t>Baseline physical assumptions: D:\work\MonteCarlo for Atom tweezer\simulation\level2_joint_transfer/configs/level2c_pickup_survival.yaml</a:t>
            </a:r>
          </a:p>
          <a:p xmlns:a="http://schemas.openxmlformats.org/drawingml/2006/main">
            <a:r>
              <a:t>Legacy result status: D:\work\MonteCarlo for Atom tweezer\simulation\level2_joint_transfer/outputs/level5_finite_pulse_irb/demo/RESULT_STATUS.md</a:t>
            </a:r>
          </a:p>
          <a:p xmlns:a="http://schemas.openxmlformats.org/drawingml/2006/main">
            <a:r>
              <a:t>Scope: this deck is a standalone scientific comparison. Continuous mechanical + finite-pulse results and legacy independent RB evidence have different validation status.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D:\work\MonteCarlo for Atom tweezer\2403.12021v4.pdf</a:t>
            </a:r>
          </a:p>
          <a:p xmlns:a="http://schemas.openxmlformats.org/drawingml/2006/main">
            <a:r>
              <a:t>level2_joint_transfer/noise_heating.py; level2c_pickup_survival.yaml; current continuous metadata.heating_power_uK_per_s. All noise amplitudes are scenario assumptions.</a:t>
            </a:r>
          </a:p>
          <a:p xmlns:a="http://schemas.openxmlformats.org/drawingml/2006/main">
            <a:r>
              <a:t>Corrected evidence: D:\work\MonteCarlo for Atom tweezer\reports\level5_paper_review\output\Level5_vector_reference_v2.evidence.json</a:t>
            </a:r>
          </a:p>
          <a:p xmlns:a="http://schemas.openxmlformats.org/drawingml/2006/main">
            <a:r>
              <a:t>Reference: D:\work\MonteCarlo for Atom tweezer\simulation\level2_joint_transfer/reference/fig6d_vector_v2/fig6d_vectors.json</a:t>
            </a:r>
          </a:p>
          <a:p xmlns:a="http://schemas.openxmlformats.org/drawingml/2006/main">
            <a:r>
              <a:t>Fit paths, 37 marker centers and original error-bar endpoints are recovered independently from PDF vector objects. No smoothing or refitting. Error-bar geometry does not establish a confidence convention. Dense fit samples are not independent measurements.</a:t>
            </a:r>
          </a:p>
          <a:p xmlns:a="http://schemas.openxmlformats.org/drawingml/2006/main">
            <a:r>
              <a:t>Archived 2026-09-14 simulations are re-compared, not rerun. The previously frozen temperatures are retained.</a:t>
            </a:r>
          </a:p>
          <a:p xmlns:a="http://schemas.openxmlformats.org/drawingml/2006/main">
            <a:r>
              <a:t>Simulation: D:\work\MonteCarlo for Atom tweezer\simulation\level2_joint_transfer/src/continuous_transfer/{protocol,engine,cli}.py</a:t>
            </a:r>
          </a:p>
          <a:p xmlns:a="http://schemas.openxmlformats.org/drawingml/2006/main">
            <a:r>
              <a:t>Config: D:\work\MonteCarlo for Atom tweezer\simulation\level2_joint_transfer/configs/continuous_level2c_345.yaml</a:t>
            </a:r>
          </a:p>
          <a:p xmlns:a="http://schemas.openxmlformats.org/drawingml/2006/main">
            <a:r>
              <a:t>Baseline physical assumptions: D:\work\MonteCarlo for Atom tweezer\simulation\level2_joint_transfer/configs/level2c_pickup_survival.yaml</a:t>
            </a:r>
          </a:p>
          <a:p xmlns:a="http://schemas.openxmlformats.org/drawingml/2006/main">
            <a:r>
              <a:t>Legacy result status: D:\work\MonteCarlo for Atom tweezer\simulation\level2_joint_transfer/outputs/level5_finite_pulse_irb/demo/RESULT_STATUS.md</a:t>
            </a:r>
          </a:p>
          <a:p xmlns:a="http://schemas.openxmlformats.org/drawingml/2006/main">
            <a:r>
              <a:t>Scope: this deck is a standalone scientific comparison. Continuous mechanical + finite-pulse results and legacy independent RB evidence have different validation status.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D:\work\MonteCarlo for Atom tweezer\2403.12021v4.pdf</a:t>
            </a:r>
          </a:p>
          <a:p xmlns:a="http://schemas.openxmlformats.org/drawingml/2006/main">
            <a:r>
              <a:t>engine.spin_step; quantum_summary and ideal_checkpoint_unitaries. Nominal δ = η V/ħ, sign according to potential convention.</a:t>
            </a:r>
          </a:p>
          <a:p xmlns:a="http://schemas.openxmlformats.org/drawingml/2006/main">
            <a:r>
              <a:t>Corrected evidence: D:\work\MonteCarlo for Atom tweezer\reports\level5_paper_review\output\Level5_vector_reference_v2.evidence.json</a:t>
            </a:r>
          </a:p>
          <a:p xmlns:a="http://schemas.openxmlformats.org/drawingml/2006/main">
            <a:r>
              <a:t>Reference: D:\work\MonteCarlo for Atom tweezer\simulation\level2_joint_transfer/reference/fig6d_vector_v2/fig6d_vectors.json</a:t>
            </a:r>
          </a:p>
          <a:p xmlns:a="http://schemas.openxmlformats.org/drawingml/2006/main">
            <a:r>
              <a:t>Fit paths, 37 marker centers and original error-bar endpoints are recovered independently from PDF vector objects. No smoothing or refitting. Error-bar geometry does not establish a confidence convention. Dense fit samples are not independent measurements.</a:t>
            </a:r>
          </a:p>
          <a:p xmlns:a="http://schemas.openxmlformats.org/drawingml/2006/main">
            <a:r>
              <a:t>Archived 2026-09-14 simulations are re-compared, not rerun. The previously frozen temperatures are retained.</a:t>
            </a:r>
          </a:p>
          <a:p xmlns:a="http://schemas.openxmlformats.org/drawingml/2006/main">
            <a:r>
              <a:t>Simulation: D:\work\MonteCarlo for Atom tweezer\simulation\level2_joint_transfer/src/continuous_transfer/{protocol,engine,cli}.py</a:t>
            </a:r>
          </a:p>
          <a:p xmlns:a="http://schemas.openxmlformats.org/drawingml/2006/main">
            <a:r>
              <a:t>Config: D:\work\MonteCarlo for Atom tweezer\simulation\level2_joint_transfer/configs/continuous_level2c_345.yaml</a:t>
            </a:r>
          </a:p>
          <a:p xmlns:a="http://schemas.openxmlformats.org/drawingml/2006/main">
            <a:r>
              <a:t>Baseline physical assumptions: D:\work\MonteCarlo for Atom tweezer\simulation\level2_joint_transfer/configs/level2c_pickup_survival.yaml</a:t>
            </a:r>
          </a:p>
          <a:p xmlns:a="http://schemas.openxmlformats.org/drawingml/2006/main">
            <a:r>
              <a:t>Legacy result status: D:\work\MonteCarlo for Atom tweezer\simulation\level2_joint_transfer/outputs/level5_finite_pulse_irb/demo/RESULT_STATUS.md</a:t>
            </a:r>
          </a:p>
          <a:p xmlns:a="http://schemas.openxmlformats.org/drawingml/2006/main">
            <a:r>
              <a:t>Scope: this deck is a standalone scientific comparison. Continuous mechanical + finite-pulse results and legacy independent RB evidence have different validation status.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D:\work\MonteCarlo for Atom tweezer\2403.12021v4.pdf</a:t>
            </a:r>
          </a:p>
          <a:p xmlns:a="http://schemas.openxmlformats.org/drawingml/2006/main">
            <a:r>
              <a:t>engine.integrate judge fields; protocol.segments: pickup_wait AOD, long segment AOD extra checkpoints, dropoff SLM.</a:t>
            </a:r>
          </a:p>
          <a:p xmlns:a="http://schemas.openxmlformats.org/drawingml/2006/main">
            <a:r>
              <a:t>Corrected evidence: D:\work\MonteCarlo for Atom tweezer\reports\level5_paper_review\output\Level5_vector_reference_v2.evidence.json</a:t>
            </a:r>
          </a:p>
          <a:p xmlns:a="http://schemas.openxmlformats.org/drawingml/2006/main">
            <a:r>
              <a:t>Reference: D:\work\MonteCarlo for Atom tweezer\simulation\level2_joint_transfer/reference/fig6d_vector_v2/fig6d_vectors.json</a:t>
            </a:r>
          </a:p>
          <a:p xmlns:a="http://schemas.openxmlformats.org/drawingml/2006/main">
            <a:r>
              <a:t>Fit paths, 37 marker centers and original error-bar endpoints are recovered independently from PDF vector objects. No smoothing or refitting. Error-bar geometry does not establish a confidence convention. Dense fit samples are not independent measurements.</a:t>
            </a:r>
          </a:p>
          <a:p xmlns:a="http://schemas.openxmlformats.org/drawingml/2006/main">
            <a:r>
              <a:t>Archived 2026-09-14 simulations are re-compared, not rerun. The previously frozen temperatures are retained.</a:t>
            </a:r>
          </a:p>
          <a:p xmlns:a="http://schemas.openxmlformats.org/drawingml/2006/main">
            <a:r>
              <a:t>Simulation: D:\work\MonteCarlo for Atom tweezer\simulation\level2_joint_transfer/src/continuous_transfer/{protocol,engine,cli}.py</a:t>
            </a:r>
          </a:p>
          <a:p xmlns:a="http://schemas.openxmlformats.org/drawingml/2006/main">
            <a:r>
              <a:t>Config: D:\work\MonteCarlo for Atom tweezer\simulation\level2_joint_transfer/configs/continuous_level2c_345.yaml</a:t>
            </a:r>
          </a:p>
          <a:p xmlns:a="http://schemas.openxmlformats.org/drawingml/2006/main">
            <a:r>
              <a:t>Baseline physical assumptions: D:\work\MonteCarlo for Atom tweezer\simulation\level2_joint_transfer/configs/level2c_pickup_survival.yaml</a:t>
            </a:r>
          </a:p>
          <a:p xmlns:a="http://schemas.openxmlformats.org/drawingml/2006/main">
            <a:r>
              <a:t>Legacy result status: D:\work\MonteCarlo for Atom tweezer\simulation\level2_joint_transfer/outputs/level5_finite_pulse_irb/demo/RESULT_STATUS.md</a:t>
            </a:r>
          </a:p>
          <a:p xmlns:a="http://schemas.openxmlformats.org/drawingml/2006/main">
            <a:r>
              <a:t>Scope: this deck is a standalone scientific comparison. Continuous mechanical + finite-pulse results and legacy independent RB evidence have different validation status.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D:\work\MonteCarlo for Atom tweezer\2403.12021v4.pdf</a:t>
            </a:r>
          </a:p>
          <a:p xmlns:a="http://schemas.openxmlformats.org/drawingml/2006/main">
            <a:r>
              <a:t>quantum_summary; paper Randomized benchmarking of coherent transport and Large-scale coherent atom transfer Methods.</a:t>
            </a:r>
          </a:p>
          <a:p xmlns:a="http://schemas.openxmlformats.org/drawingml/2006/main">
            <a:r>
              <a:t>Corrected evidence: D:\work\MonteCarlo for Atom tweezer\reports\level5_paper_review\output\Level5_vector_reference_v2.evidence.json</a:t>
            </a:r>
          </a:p>
          <a:p xmlns:a="http://schemas.openxmlformats.org/drawingml/2006/main">
            <a:r>
              <a:t>Reference: D:\work\MonteCarlo for Atom tweezer\simulation\level2_joint_transfer/reference/fig6d_vector_v2/fig6d_vectors.json</a:t>
            </a:r>
          </a:p>
          <a:p xmlns:a="http://schemas.openxmlformats.org/drawingml/2006/main">
            <a:r>
              <a:t>Fit paths, 37 marker centers and original error-bar endpoints are recovered independently from PDF vector objects. No smoothing or refitting. Error-bar geometry does not establish a confidence convention. Dense fit samples are not independent measurements.</a:t>
            </a:r>
          </a:p>
          <a:p xmlns:a="http://schemas.openxmlformats.org/drawingml/2006/main">
            <a:r>
              <a:t>Archived 2026-09-14 simulations are re-compared, not rerun. The previously frozen temperatures are retained.</a:t>
            </a:r>
          </a:p>
          <a:p xmlns:a="http://schemas.openxmlformats.org/drawingml/2006/main">
            <a:r>
              <a:t>Simulation: D:\work\MonteCarlo for Atom tweezer\simulation\level2_joint_transfer/src/continuous_transfer/{protocol,engine,cli}.py</a:t>
            </a:r>
          </a:p>
          <a:p xmlns:a="http://schemas.openxmlformats.org/drawingml/2006/main">
            <a:r>
              <a:t>Config: D:\work\MonteCarlo for Atom tweezer\simulation\level2_joint_transfer/configs/continuous_level2c_345.yaml</a:t>
            </a:r>
          </a:p>
          <a:p xmlns:a="http://schemas.openxmlformats.org/drawingml/2006/main">
            <a:r>
              <a:t>Baseline physical assumptions: D:\work\MonteCarlo for Atom tweezer\simulation\level2_joint_transfer/configs/level2c_pickup_survival.yaml</a:t>
            </a:r>
          </a:p>
          <a:p xmlns:a="http://schemas.openxmlformats.org/drawingml/2006/main">
            <a:r>
              <a:t>Legacy result status: D:\work\MonteCarlo for Atom tweezer\simulation\level2_joint_transfer/outputs/level5_finite_pulse_irb/demo/RESULT_STATUS.md</a:t>
            </a:r>
          </a:p>
          <a:p xmlns:a="http://schemas.openxmlformats.org/drawingml/2006/main">
            <a:r>
              <a:t>Scope: this deck is a standalone scientific comparison. Continuous mechanical + finite-pulse results and legacy independent RB evidence have different validation status.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D:\work\MonteCarlo for Atom tweezer\2403.12021v4.pdf</a:t>
            </a:r>
          </a:p>
          <a:p xmlns:a="http://schemas.openxmlformats.org/drawingml/2006/main">
            <a:r>
              <a:t>Fig. 4 and Methods; Ext. Data Fig. 2d; level2c and continuous configs; legacy level5 config.</a:t>
            </a:r>
          </a:p>
          <a:p xmlns:a="http://schemas.openxmlformats.org/drawingml/2006/main">
            <a:r>
              <a:t>Corrected evidence: D:\work\MonteCarlo for Atom tweezer\reports\level5_paper_review\output\Level5_vector_reference_v2.evidence.json</a:t>
            </a:r>
          </a:p>
          <a:p xmlns:a="http://schemas.openxmlformats.org/drawingml/2006/main">
            <a:r>
              <a:t>Reference: D:\work\MonteCarlo for Atom tweezer\simulation\level2_joint_transfer/reference/fig6d_vector_v2/fig6d_vectors.json</a:t>
            </a:r>
          </a:p>
          <a:p xmlns:a="http://schemas.openxmlformats.org/drawingml/2006/main">
            <a:r>
              <a:t>Fit paths, 37 marker centers and original error-bar endpoints are recovered independently from PDF vector objects. No smoothing or refitting. Error-bar geometry does not establish a confidence convention. Dense fit samples are not independent measurements.</a:t>
            </a:r>
          </a:p>
          <a:p xmlns:a="http://schemas.openxmlformats.org/drawingml/2006/main">
            <a:r>
              <a:t>Archived 2026-09-14 simulations are re-compared, not rerun. The previously frozen temperatures are retained.</a:t>
            </a:r>
          </a:p>
          <a:p xmlns:a="http://schemas.openxmlformats.org/drawingml/2006/main">
            <a:r>
              <a:t>Simulation: D:\work\MonteCarlo for Atom tweezer\simulation\level2_joint_transfer/src/continuous_transfer/{protocol,engine,cli}.py</a:t>
            </a:r>
          </a:p>
          <a:p xmlns:a="http://schemas.openxmlformats.org/drawingml/2006/main">
            <a:r>
              <a:t>Config: D:\work\MonteCarlo for Atom tweezer\simulation\level2_joint_transfer/configs/continuous_level2c_345.yaml</a:t>
            </a:r>
          </a:p>
          <a:p xmlns:a="http://schemas.openxmlformats.org/drawingml/2006/main">
            <a:r>
              <a:t>Baseline physical assumptions: D:\work\MonteCarlo for Atom tweezer\simulation\level2_joint_transfer/configs/level2c_pickup_survival.yaml</a:t>
            </a:r>
          </a:p>
          <a:p xmlns:a="http://schemas.openxmlformats.org/drawingml/2006/main">
            <a:r>
              <a:t>Legacy result status: D:\work\MonteCarlo for Atom tweezer\simulation\level2_joint_transfer/outputs/level5_finite_pulse_irb/demo/RESULT_STATUS.md</a:t>
            </a:r>
          </a:p>
          <a:p xmlns:a="http://schemas.openxmlformats.org/drawingml/2006/main">
            <a:r>
              <a:t>Scope: this deck is a standalone scientific comparison. Continuous mechanical + finite-pulse results and legacy independent RB evidence have different validation status.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D:\work\MonteCarlo for Atom tweezer\2403.12021v4.pdf</a:t>
            </a:r>
          </a:p>
          <a:p xmlns:a="http://schemas.openxmlformats.org/drawingml/2006/main">
            <a:r>
              <a:t>Sources: direct protocol comparison; precision/convergence evidence; paper Methods short-transfer loss includes likely experimental imperfections; coherence noise discussion.</a:t>
            </a:r>
          </a:p>
          <a:p xmlns:a="http://schemas.openxmlformats.org/drawingml/2006/main">
            <a:r>
              <a:t>Corrected evidence: D:\work\MonteCarlo for Atom tweezer\reports\level5_paper_review\output\Level5_vector_reference_v2.evidence.json</a:t>
            </a:r>
          </a:p>
          <a:p xmlns:a="http://schemas.openxmlformats.org/drawingml/2006/main">
            <a:r>
              <a:t>Reference: D:\work\MonteCarlo for Atom tweezer\simulation\level2_joint_transfer/reference/fig6d_vector_v2/fig6d_vectors.json</a:t>
            </a:r>
          </a:p>
          <a:p xmlns:a="http://schemas.openxmlformats.org/drawingml/2006/main">
            <a:r>
              <a:t>Fit paths, 37 marker centers and original error-bar endpoints are recovered independently from PDF vector objects. No smoothing or refitting. Error-bar geometry does not establish a confidence convention. Dense fit samples are not independent measurements.</a:t>
            </a:r>
          </a:p>
          <a:p xmlns:a="http://schemas.openxmlformats.org/drawingml/2006/main">
            <a:r>
              <a:t>Archived 2026-09-14 simulations are re-compared, not rerun. The previously frozen temperatures are retained.</a:t>
            </a:r>
          </a:p>
          <a:p xmlns:a="http://schemas.openxmlformats.org/drawingml/2006/main">
            <a:r>
              <a:t>Simulation: D:\work\MonteCarlo for Atom tweezer\simulation\level2_joint_transfer/src/continuous_transfer/{protocol,engine,cli}.py</a:t>
            </a:r>
          </a:p>
          <a:p xmlns:a="http://schemas.openxmlformats.org/drawingml/2006/main">
            <a:r>
              <a:t>Config: D:\work\MonteCarlo for Atom tweezer\simulation\level2_joint_transfer/configs/continuous_level2c_345.yaml</a:t>
            </a:r>
          </a:p>
          <a:p xmlns:a="http://schemas.openxmlformats.org/drawingml/2006/main">
            <a:r>
              <a:t>Baseline physical assumptions: D:\work\MonteCarlo for Atom tweezer\simulation\level2_joint_transfer/configs/level2c_pickup_survival.yaml</a:t>
            </a:r>
          </a:p>
          <a:p xmlns:a="http://schemas.openxmlformats.org/drawingml/2006/main">
            <a:r>
              <a:t>Legacy result status: D:\work\MonteCarlo for Atom tweezer\simulation\level2_joint_transfer/outputs/level5_finite_pulse_irb/demo/RESULT_STATUS.md</a:t>
            </a:r>
          </a:p>
          <a:p xmlns:a="http://schemas.openxmlformats.org/drawingml/2006/main">
            <a:r>
              <a:t>Scope: this deck is a standalone scientific comparison. Continuous mechanical + finite-pulse results and legacy independent RB evidence have different validation status.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D:\work\MonteCarlo for Atom tweezer\2403.12021v4.pdf</a:t>
            </a:r>
          </a:p>
          <a:p xmlns:a="http://schemas.openxmlformats.org/drawingml/2006/main">
            <a:r>
              <a:t>Paper Fig. 4–6 and Ext. Data Fig. 10; current numerical evidence and protocol audit.</a:t>
            </a:r>
          </a:p>
          <a:p xmlns:a="http://schemas.openxmlformats.org/drawingml/2006/main">
            <a:r>
              <a:t>Corrected evidence: D:\work\MonteCarlo for Atom tweezer\reports\level5_paper_review\output\Level5_vector_reference_v2.evidence.json</a:t>
            </a:r>
          </a:p>
          <a:p xmlns:a="http://schemas.openxmlformats.org/drawingml/2006/main">
            <a:r>
              <a:t>Reference: D:\work\MonteCarlo for Atom tweezer\simulation\level2_joint_transfer/reference/fig6d_vector_v2/fig6d_vectors.json</a:t>
            </a:r>
          </a:p>
          <a:p xmlns:a="http://schemas.openxmlformats.org/drawingml/2006/main">
            <a:r>
              <a:t>Fit paths, 37 marker centers and original error-bar endpoints are recovered independently from PDF vector objects. No smoothing or refitting. Error-bar geometry does not establish a confidence convention. Dense fit samples are not independent measurements.</a:t>
            </a:r>
          </a:p>
          <a:p xmlns:a="http://schemas.openxmlformats.org/drawingml/2006/main">
            <a:r>
              <a:t>Archived 2026-09-14 simulations are re-compared, not rerun. The previously frozen temperatures are retained.</a:t>
            </a:r>
          </a:p>
          <a:p xmlns:a="http://schemas.openxmlformats.org/drawingml/2006/main">
            <a:r>
              <a:t>Simulation: D:\work\MonteCarlo for Atom tweezer\simulation\level2_joint_transfer/src/continuous_transfer/{protocol,engine,cli}.py</a:t>
            </a:r>
          </a:p>
          <a:p xmlns:a="http://schemas.openxmlformats.org/drawingml/2006/main">
            <a:r>
              <a:t>Config: D:\work\MonteCarlo for Atom tweezer\simulation\level2_joint_transfer/configs/continuous_level2c_345.yaml</a:t>
            </a:r>
          </a:p>
          <a:p xmlns:a="http://schemas.openxmlformats.org/drawingml/2006/main">
            <a:r>
              <a:t>Baseline physical assumptions: D:\work\MonteCarlo for Atom tweezer\simulation\level2_joint_transfer/configs/level2c_pickup_survival.yaml</a:t>
            </a:r>
          </a:p>
          <a:p xmlns:a="http://schemas.openxmlformats.org/drawingml/2006/main">
            <a:r>
              <a:t>Legacy result status: D:\work\MonteCarlo for Atom tweezer\simulation\level2_joint_transfer/outputs/level5_finite_pulse_irb/demo/RESULT_STATUS.md</a:t>
            </a:r>
          </a:p>
          <a:p xmlns:a="http://schemas.openxmlformats.org/drawingml/2006/main">
            <a:r>
              <a:t>Scope: this deck is a standalone scientific comparison. Continuous mechanical + finite-pulse results and legacy independent RB evidence have different validation status.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3222a6c6094b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80018ccb70409c" /><Relationship Type="http://schemas.openxmlformats.org/officeDocument/2006/relationships/slideLayout" Target="/ppt/slideLayouts/slideLayout1.xml" Id="Rc065bb91393a4e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65bb91393a4e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95452b47844de4" /><Relationship Type="http://schemas.openxmlformats.org/officeDocument/2006/relationships/notesSlide" Target="/ppt/notesSlides/notesSlide1.xml" Id="R8d4f28dc01db4be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94f0d061f9420d" /><Relationship Type="http://schemas.openxmlformats.org/officeDocument/2006/relationships/notesSlide" Target="/ppt/notesSlides/notesSlide2.xml" Id="R8554722ccefd407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265bbe17464621" /><Relationship Type="http://schemas.openxmlformats.org/officeDocument/2006/relationships/image" Target="/ppt/media/image.png" Id="Rb392661ede084e35" /><Relationship Type="http://schemas.openxmlformats.org/officeDocument/2006/relationships/notesSlide" Target="/ppt/notesSlides/notesSlide3.xml" Id="R54361b01669346b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b0812a4f3d4590" /><Relationship Type="http://schemas.openxmlformats.org/officeDocument/2006/relationships/notesSlide" Target="/ppt/notesSlides/notesSlide4.xml" Id="R19be5e50fdaf4d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be78fb7d104688" /><Relationship Type="http://schemas.openxmlformats.org/officeDocument/2006/relationships/chart" Target="/ppt/slides/charts/chart1.xml" Id="R67d5797742a64e79" /><Relationship Type="http://schemas.openxmlformats.org/officeDocument/2006/relationships/chart" Target="/ppt/slides/charts/chart2.xml" Id="Rc8d87e43175b4f4d" /><Relationship Type="http://schemas.openxmlformats.org/officeDocument/2006/relationships/notesSlide" Target="/ppt/notesSlides/notesSlide5.xml" Id="R61d381377e8d438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abe224c3284e6c" /><Relationship Type="http://schemas.openxmlformats.org/officeDocument/2006/relationships/chart" Target="/ppt/slides/charts/chart3.xml" Id="R89f53a19500649f9" /><Relationship Type="http://schemas.openxmlformats.org/officeDocument/2006/relationships/chart" Target="/ppt/slides/charts/chart4.xml" Id="R8953bb3ec7a142de" /><Relationship Type="http://schemas.openxmlformats.org/officeDocument/2006/relationships/notesSlide" Target="/ppt/notesSlides/notesSlide6.xml" Id="Rbb6590a0b566453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486edec06b4c3b" /><Relationship Type="http://schemas.openxmlformats.org/officeDocument/2006/relationships/notesSlide" Target="/ppt/notesSlides/notesSlide7.xml" Id="R408352a7780f46e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c268102a744744" /><Relationship Type="http://schemas.openxmlformats.org/officeDocument/2006/relationships/notesSlide" Target="/ppt/notesSlides/notesSlide8.xml" Id="Refae719cf8654b3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f0b2473c7b46c5" /><Relationship Type="http://schemas.openxmlformats.org/officeDocument/2006/relationships/notesSlide" Target="/ppt/notesSlides/notesSlide9.xml" Id="Re028b04281d94bf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3a49e4b469425e" /><Relationship Type="http://schemas.openxmlformats.org/officeDocument/2006/relationships/image" Target="/ppt/media/image2.png" Id="R9427c6d1d6c64b69" /><Relationship Type="http://schemas.openxmlformats.org/officeDocument/2006/relationships/notesSlide" Target="/ppt/notesSlides/notesSlide10.xml" Id="R806695a0b66a408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2cb9923b7b48dd" /><Relationship Type="http://schemas.openxmlformats.org/officeDocument/2006/relationships/image" Target="/ppt/media/image3.png" Id="Rad9ad53f1c1f45bb" /><Relationship Type="http://schemas.openxmlformats.org/officeDocument/2006/relationships/notesSlide" Target="/ppt/notesSlides/notesSlide11.xml" Id="R769b8f2ecc9b497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42a49fd601472a" /><Relationship Type="http://schemas.openxmlformats.org/officeDocument/2006/relationships/chart" Target="/ppt/slides/charts/chart5.xml" Id="Rad7f30ab84784e5a" /><Relationship Type="http://schemas.openxmlformats.org/officeDocument/2006/relationships/notesSlide" Target="/ppt/notesSlides/notesSlide12.xml" Id="R4c63a6c265c7483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89afa1dcf147de" /><Relationship Type="http://schemas.openxmlformats.org/officeDocument/2006/relationships/notesSlide" Target="/ppt/notesSlides/notesSlide13.xml" Id="R6fb1118095ec478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46f2c16e2e46f5" /><Relationship Type="http://schemas.openxmlformats.org/officeDocument/2006/relationships/notesSlide" Target="/ppt/notesSlides/notesSlide14.xml" Id="Rb765b97856134a9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f9a93198854993" /><Relationship Type="http://schemas.openxmlformats.org/officeDocument/2006/relationships/notesSlide" Target="/ppt/notesSlides/notesSlide15.xml" Id="Rf84147fdfde14c5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abfb7ab61d43f0" /><Relationship Type="http://schemas.openxmlformats.org/officeDocument/2006/relationships/notesSlide" Target="/ppt/notesSlides/notesSlide16.xml" Id="R4dee0c4f984f44d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1061c1c5f140c9" /><Relationship Type="http://schemas.openxmlformats.org/officeDocument/2006/relationships/notesSlide" Target="/ppt/notesSlides/notesSlide17.xml" Id="R6da237a078b34d5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954b97788843f3" /><Relationship Type="http://schemas.openxmlformats.org/officeDocument/2006/relationships/notesSlide" Target="/ppt/notesSlides/notesSlide18.xml" Id="R7050d84b2d00465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7c4ddaa5634c9e" /><Relationship Type="http://schemas.openxmlformats.org/officeDocument/2006/relationships/notesSlide" Target="/ppt/notesSlides/notesSlide19.xml" Id="R5a20348ae30f449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c2fcc6c9e94bd2" /><Relationship Type="http://schemas.openxmlformats.org/officeDocument/2006/relationships/notesSlide" Target="/ppt/notesSlides/notesSlide20.xml" Id="R3d5879675e5c4bc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6ba243d9a04468" /><Relationship Type="http://schemas.openxmlformats.org/officeDocument/2006/relationships/notesSlide" Target="/ppt/notesSlides/notesSlide21.xml" Id="R96642270af2144b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c43e8aa45848a7" /><Relationship Type="http://schemas.openxmlformats.org/officeDocument/2006/relationships/notesSlide" Target="/ppt/notesSlides/notesSlide22.xml" Id="Rac8a511307a84f1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7a7e3faaf44787" /><Relationship Type="http://schemas.openxmlformats.org/officeDocument/2006/relationships/notesSlide" Target="/ppt/notesSlides/notesSlide23.xml" Id="R83cfb360fd9741f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08928bea1144f4" /><Relationship Type="http://schemas.openxmlformats.org/officeDocument/2006/relationships/notesSlide" Target="/ppt/notesSlides/notesSlide24.xml" Id="Rdec7554605a64bb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chart1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论文拟合线</c:v>
          </c:tx>
          <c:spPr>
            <a:ln w="23813">
              <a:solidFill>
                <a:srgbClr val="17324D"/>
              </a:solidFill>
            </a:ln>
          </c:spPr>
          <c:marker>
            <c:symbol val="none"/>
          </c:marker>
          <c:xVal>
            <c:numRef>
              <c:f>'Chart Data'!$A$2:$A$17</c:f>
              <c:numCache>
                <c:formatCode>General</c:formatCode>
                <c:ptCount val="16"/>
                <c:pt idx="0">
                  <c:v>0.100000683321</c:v>
                </c:pt>
                <c:pt idx="1">
                  <c:v>3.57717742374</c:v>
                </c:pt>
                <c:pt idx="2">
                  <c:v>4.52626977977</c:v>
                </c:pt>
                <c:pt idx="3">
                  <c:v>5.47470939002</c:v>
                </c:pt>
                <c:pt idx="4">
                  <c:v>6.7390779551</c:v>
                </c:pt>
                <c:pt idx="5">
                  <c:v>8.63399893829</c:v>
                </c:pt>
                <c:pt idx="6">
                  <c:v>12.4264518878</c:v>
                </c:pt>
                <c:pt idx="7">
                  <c:v>14.6392600631</c:v>
                </c:pt>
                <c:pt idx="8">
                  <c:v>16.5374447752</c:v>
                </c:pt>
                <c:pt idx="9">
                  <c:v>18.4317130126</c:v>
                </c:pt>
                <c:pt idx="10">
                  <c:v>20.3298977246</c:v>
                </c:pt>
                <c:pt idx="11">
                  <c:v>22.2248187078</c:v>
                </c:pt>
                <c:pt idx="12">
                  <c:v>24.4376268831</c:v>
                </c:pt>
                <c:pt idx="13">
                  <c:v>26.6504350585</c:v>
                </c:pt>
                <c:pt idx="14">
                  <c:v>28.8638959796</c:v>
                </c:pt>
                <c:pt idx="15">
                  <c:v>31</c:v>
                </c:pt>
              </c:numCache>
            </c:numRef>
          </c:xVal>
          <c:yVal>
            <c:numRef>
              <c:f>'Chart Data'!$B$2:$B$17</c:f>
              <c:numCache>
                <c:formatCode>0.0</c:formatCode>
                <c:ptCount val="16"/>
                <c:pt idx="0">
                  <c:v>0.998603213241</c:v>
                </c:pt>
                <c:pt idx="1">
                  <c:v>0.948192600729</c:v>
                </c:pt>
                <c:pt idx="2">
                  <c:v>0.929915068707</c:v>
                </c:pt>
                <c:pt idx="3">
                  <c:v>0.90758054225</c:v>
                </c:pt>
                <c:pt idx="4">
                  <c:v>0.872429282508</c:v>
                </c:pt>
                <c:pt idx="5">
                  <c:v>0.812936056157</c:v>
                </c:pt>
                <c:pt idx="6">
                  <c:v>0.691956201345</c:v>
                </c:pt>
                <c:pt idx="7">
                  <c:v>0.627802344709</c:v>
                </c:pt>
                <c:pt idx="8">
                  <c:v>0.577812873487</c:v>
                </c:pt>
                <c:pt idx="9">
                  <c:v>0.532512108637</c:v>
                </c:pt>
                <c:pt idx="10">
                  <c:v>0.491549099083</c:v>
                </c:pt>
                <c:pt idx="11">
                  <c:v>0.454530779619</c:v>
                </c:pt>
                <c:pt idx="12">
                  <c:v>0.415855971078</c:v>
                </c:pt>
                <c:pt idx="13">
                  <c:v>0.38146276566</c:v>
                </c:pt>
                <c:pt idx="14">
                  <c:v>0.350691375343</c:v>
                </c:pt>
                <c:pt idx="15">
                  <c:v>0.324280991761</c:v>
                </c:pt>
              </c:numCache>
            </c:numRef>
          </c:yVal>
        </c:ser>
        <c:ser>
          <c:idx val="1"/>
          <c:order val="1"/>
          <c:tx>
            <c:v>论文散点</c:v>
          </c:tx>
          <c:spPr>
            <a:solidFill>
              <a:srgbClr val="17324D"/>
            </a:solidFill>
            <a:ln w="0">
              <a:noFill/>
            </a:ln>
          </c:spPr>
          <c:marker>
            <c:symbol val="diamond"/>
            <c:size val="4"/>
            <c:spPr>
              <a:noFill/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0.00000000</c:formatCode>
                <c:ptCount val="7"/>
                <c:pt idx="0">
                  <c:v>0.00223204884139</c:v>
                </c:pt>
                <c:pt idx="1">
                  <c:v>0.00390257596168</c:v>
                </c:pt>
                <c:pt idx="2">
                  <c:v>0.00689267912657</c:v>
                </c:pt>
                <c:pt idx="3">
                  <c:v>0.00873166276319</c:v>
                </c:pt>
                <c:pt idx="4">
                  <c:v>0.00946866002214</c:v>
                </c:pt>
                <c:pt idx="5">
                  <c:v>0.00960904045241</c:v>
                </c:pt>
                <c:pt idx="6">
                  <c:v>0.00913876601099</c:v>
                </c:pt>
              </c:numLit>
            </c:plus>
            <c:minus>
              <c:numLit>
                <c:formatCode>0.00000000</c:formatCode>
                <c:ptCount val="7"/>
                <c:pt idx="0">
                  <c:v>0.00224608688442</c:v>
                </c:pt>
                <c:pt idx="1">
                  <c:v>0.00383238574654</c:v>
                </c:pt>
                <c:pt idx="2">
                  <c:v>0.00689267912657</c:v>
                </c:pt>
                <c:pt idx="3">
                  <c:v>0.00874570080621</c:v>
                </c:pt>
                <c:pt idx="4">
                  <c:v>0.00945462197911</c:v>
                </c:pt>
                <c:pt idx="5">
                  <c:v>0.00960904045241</c:v>
                </c:pt>
                <c:pt idx="6">
                  <c:v>0.00913876601099</c:v>
                </c:pt>
              </c:numLit>
            </c:minus>
            <c:spPr>
              <a:ln w="9525">
                <a:solidFill>
                  <a:srgbClr val="17324D"/>
                </a:solidFill>
              </a:ln>
            </c:spPr>
          </c:errBars>
          <c:xVal>
            <c:numRef>
              <c:f>'Chart Data'!$C$2:$C$8</c:f>
              <c:numCache>
                <c:formatCode>General</c:formatCode>
                <c:ptCount val="7"/>
                <c:pt idx="0">
                  <c:v>2</c:v>
                </c:pt>
                <c:pt idx="1">
                  <c:v>4</c:v>
                </c:pt>
                <c:pt idx="2">
                  <c:v>8</c:v>
                </c:pt>
                <c:pt idx="3">
                  <c:v>12</c:v>
                </c:pt>
                <c:pt idx="4">
                  <c:v>16</c:v>
                </c:pt>
                <c:pt idx="5">
                  <c:v>20</c:v>
                </c:pt>
                <c:pt idx="6">
                  <c:v>30</c:v>
                </c:pt>
              </c:numCache>
            </c:numRef>
          </c:xVal>
          <c:yVal>
            <c:numRef>
              <c:f>'Chart Data'!$D$2:$D$8</c:f>
              <c:numCache>
                <c:formatCode>0.0</c:formatCode>
                <c:ptCount val="7"/>
                <c:pt idx="0">
                  <c:v>0.986698952753</c:v>
                </c:pt>
                <c:pt idx="1">
                  <c:v>0.958271915622</c:v>
                </c:pt>
                <c:pt idx="2">
                  <c:v>0.848354038716</c:v>
                </c:pt>
                <c:pt idx="3">
                  <c:v>0.717196602709</c:v>
                </c:pt>
                <c:pt idx="4">
                  <c:v>0.623527760607</c:v>
                </c:pt>
                <c:pt idx="5">
                  <c:v>0.526482769157</c:v>
                </c:pt>
                <c:pt idx="6">
                  <c:v>0.342366815828</c:v>
                </c:pt>
              </c:numCache>
            </c:numRef>
          </c:yVal>
        </c:ser>
        <c:ser>
          <c:idx val="2"/>
          <c:order val="2"/>
          <c:tx>
            <c:v>连续仿真</c:v>
          </c:tx>
          <c:spPr>
            <a:ln w="23813">
              <a:solidFill>
                <a:srgbClr val="BB3E35"/>
              </a:solidFill>
            </a:ln>
          </c:spPr>
          <c:marker>
            <c:symbol val="none"/>
          </c:marker>
          <c:xVal>
            <c:numRef>
              <c:f>'Chart Data'!$E$2:$E$33</c:f>
              <c:numCache>
                <c:formatCode>General</c:formatCode>
                <c:ptCount val="32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</c:numCache>
            </c:numRef>
          </c:xVal>
          <c:yVal>
            <c:numRef>
              <c:f>'Chart Data'!$F$2:$F$33</c:f>
              <c:numCache>
                <c:formatCode>0.0</c:formatCode>
                <c:ptCount val="32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0.997314453125</c:v>
                </c:pt>
                <c:pt idx="4">
                  <c:v>0.990966796875</c:v>
                </c:pt>
                <c:pt idx="5">
                  <c:v>0.975830078125</c:v>
                </c:pt>
                <c:pt idx="6">
                  <c:v>0.947509765625</c:v>
                </c:pt>
                <c:pt idx="7">
                  <c:v>0.92529296875</c:v>
                </c:pt>
                <c:pt idx="8">
                  <c:v>0.885498046875</c:v>
                </c:pt>
                <c:pt idx="9">
                  <c:v>0.857421875</c:v>
                </c:pt>
                <c:pt idx="10">
                  <c:v>0.80517578125</c:v>
                </c:pt>
                <c:pt idx="11">
                  <c:v>0.780517578125</c:v>
                </c:pt>
                <c:pt idx="12">
                  <c:v>0.730712890625</c:v>
                </c:pt>
                <c:pt idx="13">
                  <c:v>0.698974609375</c:v>
                </c:pt>
                <c:pt idx="14">
                  <c:v>0.650634765625</c:v>
                </c:pt>
                <c:pt idx="15">
                  <c:v>0.6240234375</c:v>
                </c:pt>
                <c:pt idx="16">
                  <c:v>0.583740234375</c:v>
                </c:pt>
                <c:pt idx="17">
                  <c:v>0.56396484375</c:v>
                </c:pt>
                <c:pt idx="18">
                  <c:v>0.520751953125</c:v>
                </c:pt>
                <c:pt idx="19">
                  <c:v>0.500244140625</c:v>
                </c:pt>
                <c:pt idx="20">
                  <c:v>0.462158203125</c:v>
                </c:pt>
                <c:pt idx="21">
                  <c:v>0.449951171875</c:v>
                </c:pt>
                <c:pt idx="22">
                  <c:v>0.418212890625</c:v>
                </c:pt>
                <c:pt idx="23">
                  <c:v>0.406494140625</c:v>
                </c:pt>
                <c:pt idx="24">
                  <c:v>0.3740234375</c:v>
                </c:pt>
                <c:pt idx="25">
                  <c:v>0.358642578125</c:v>
                </c:pt>
                <c:pt idx="26">
                  <c:v>0.33203125</c:v>
                </c:pt>
                <c:pt idx="27">
                  <c:v>0.3212890625</c:v>
                </c:pt>
                <c:pt idx="28">
                  <c:v>0.300537109375</c:v>
                </c:pt>
                <c:pt idx="29">
                  <c:v>0.289794921875</c:v>
                </c:pt>
                <c:pt idx="30">
                  <c:v>0.268798828125</c:v>
                </c:pt>
                <c:pt idx="31">
                  <c:v>0.260986328125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02"/>
          <c:min val="0"/>
        </c:scaling>
        <c:delete val="0"/>
        <c:axPos val="l"/>
        <c:majorGridlines>
          <c:spPr>
            <a:ln w="9525">
              <a:solidFill>
                <a:srgbClr val="D9E2EA"/>
              </a:solidFill>
            </a:ln>
          </c:spPr>
        </c:majorGridlines>
        <c:title>
          <c:tx>
            <c:rich>
              <a:bodyPr/>
              <a:lstStyle/>
              <a:p>
                <a:r>
                  <a:rPr>
                    <a:latin typeface="Microsoft YaHei"/>
                    <a:ea typeface="Microsoft YaHei"/>
                    <a:cs typeface="Microsoft YaHei"/>
                  </a:rPr>
                  <a:t>存活概率 S(n)</a:t>
                </a:r>
              </a:p>
            </c:rich>
          </c:tx>
          <c:overlay val="0"/>
          <c:txPr>
            <a:bodyPr anchorCtr="1"/>
            <a:lstStyle/>
            <a:p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majorUnit val="0.2"/>
      </c:valAx>
      <c:valAx>
        <c:axId val="48650112"/>
        <c:scaling>
          <c:orientation val="minMax"/>
          <c:max val="31"/>
          <c:min val="0"/>
        </c:scaling>
        <c:delete val="0"/>
        <c:axPos val="b"/>
        <c:numFmt formatCode="0"/>
        <c:majorTickMark val="none"/>
        <c:minorTickMark val="none"/>
        <c:spPr>
          <a:ln w="9525">
            <a:solidFill>
              <a:srgbClr val="D9E2EA"/>
            </a:solidFill>
          </a:ln>
        </c:spPr>
        <c:txPr>
          <a:bodyPr anchorCtr="1"/>
          <a:lstStyle/>
          <a:p>
            <a:pPr>
              <a:defRPr sz="105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majorUnit val="5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1125">
              <a:solidFill>
                <a:srgbClr val="687787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论文拟合线</c:v>
          </c:tx>
          <c:spPr>
            <a:ln w="23813">
              <a:solidFill>
                <a:srgbClr val="17324D"/>
              </a:solidFill>
            </a:ln>
          </c:spPr>
          <c:marker>
            <c:symbol val="none"/>
          </c:marker>
          <c:xVal>
            <c:numRef>
              <c:f>'Chart Data'!$A$2:$A$17</c:f>
              <c:numCache>
                <c:formatCode>General</c:formatCode>
                <c:ptCount val="16"/>
                <c:pt idx="0">
                  <c:v>0.100000683321</c:v>
                </c:pt>
                <c:pt idx="1">
                  <c:v>7.68555932804</c:v>
                </c:pt>
                <c:pt idx="2">
                  <c:v>9.58243854855</c:v>
                </c:pt>
                <c:pt idx="3">
                  <c:v>11.4806232606</c:v>
                </c:pt>
                <c:pt idx="4">
                  <c:v>13.3755442438</c:v>
                </c:pt>
                <c:pt idx="5">
                  <c:v>15.5883524191</c:v>
                </c:pt>
                <c:pt idx="6">
                  <c:v>18.7496002047</c:v>
                </c:pt>
                <c:pt idx="7">
                  <c:v>29.1791721886</c:v>
                </c:pt>
                <c:pt idx="8">
                  <c:v>32.9716251381</c:v>
                </c:pt>
                <c:pt idx="9">
                  <c:v>36.7660363249</c:v>
                </c:pt>
                <c:pt idx="10">
                  <c:v>40.5584892744</c:v>
                </c:pt>
                <c:pt idx="11">
                  <c:v>44.3515949696</c:v>
                </c:pt>
                <c:pt idx="12">
                  <c:v>48.4593241281</c:v>
                </c:pt>
                <c:pt idx="13">
                  <c:v>52.5696642698</c:v>
                </c:pt>
                <c:pt idx="14">
                  <c:v>56.9933223831</c:v>
                </c:pt>
                <c:pt idx="15">
                  <c:v>60</c:v>
                </c:pt>
              </c:numCache>
            </c:numRef>
          </c:xVal>
          <c:yVal>
            <c:numRef>
              <c:f>'Chart Data'!$B$2:$B$17</c:f>
              <c:numCache>
                <c:formatCode>0.0</c:formatCode>
                <c:ptCount val="16"/>
                <c:pt idx="0">
                  <c:v>0.999501647995</c:v>
                </c:pt>
                <c:pt idx="1">
                  <c:v>0.9623429481</c:v>
                </c:pt>
                <c:pt idx="2">
                  <c:v>0.949091035482</c:v>
                </c:pt>
                <c:pt idx="3">
                  <c:v>0.932259421892</c:v>
                </c:pt>
                <c:pt idx="4">
                  <c:v>0.912128868191</c:v>
                </c:pt>
                <c:pt idx="5">
                  <c:v>0.885316206008</c:v>
                </c:pt>
                <c:pt idx="6">
                  <c:v>0.843230153011</c:v>
                </c:pt>
                <c:pt idx="7">
                  <c:v>0.701137081485</c:v>
                </c:pt>
                <c:pt idx="8">
                  <c:v>0.654193865601</c:v>
                </c:pt>
                <c:pt idx="9">
                  <c:v>0.610718046344</c:v>
                </c:pt>
                <c:pt idx="10">
                  <c:v>0.570765775888</c:v>
                </c:pt>
                <c:pt idx="11">
                  <c:v>0.534112445542</c:v>
                </c:pt>
                <c:pt idx="12">
                  <c:v>0.497964484746</c:v>
                </c:pt>
                <c:pt idx="13">
                  <c:v>0.465045273847</c:v>
                </c:pt>
                <c:pt idx="14">
                  <c:v>0.432898155313</c:v>
                </c:pt>
                <c:pt idx="15">
                  <c:v>0.413187051874</c:v>
                </c:pt>
              </c:numCache>
            </c:numRef>
          </c:yVal>
        </c:ser>
        <c:ser>
          <c:idx val="1"/>
          <c:order val="1"/>
          <c:tx>
            <c:v>论文散点</c:v>
          </c:tx>
          <c:spPr>
            <a:solidFill>
              <a:srgbClr val="17324D"/>
            </a:solidFill>
            <a:ln w="0">
              <a:noFill/>
            </a:ln>
          </c:spPr>
          <c:marker>
            <c:symbol val="diamond"/>
            <c:size val="4"/>
            <c:spPr>
              <a:noFill/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0.00000000</c:formatCode>
                <c:ptCount val="10"/>
                <c:pt idx="0">
                  <c:v>0.00176879342148</c:v>
                </c:pt>
                <c:pt idx="1">
                  <c:v>0.00247069557286</c:v>
                </c:pt>
                <c:pt idx="2">
                  <c:v>0.00379027161746</c:v>
                </c:pt>
                <c:pt idx="3">
                  <c:v>0.0053835895011</c:v>
                </c:pt>
                <c:pt idx="4">
                  <c:v>0.0064013476206</c:v>
                </c:pt>
                <c:pt idx="5">
                  <c:v>0.00752439106281</c:v>
                </c:pt>
                <c:pt idx="6">
                  <c:v>0.00902646166677</c:v>
                </c:pt>
                <c:pt idx="7">
                  <c:v>0.0094476029576</c:v>
                </c:pt>
                <c:pt idx="8">
                  <c:v>0.00970028773209</c:v>
                </c:pt>
                <c:pt idx="9">
                  <c:v>0.00966519262453</c:v>
                </c:pt>
              </c:numLit>
            </c:plus>
            <c:minus>
              <c:numLit>
                <c:formatCode>0.00000000</c:formatCode>
                <c:ptCount val="10"/>
                <c:pt idx="0">
                  <c:v>0.00176879342148</c:v>
                </c:pt>
                <c:pt idx="1">
                  <c:v>0.00245665752983</c:v>
                </c:pt>
                <c:pt idx="2">
                  <c:v>0.00383238574654</c:v>
                </c:pt>
                <c:pt idx="3">
                  <c:v>0.00539762754412</c:v>
                </c:pt>
                <c:pt idx="4">
                  <c:v>0.00641538566363</c:v>
                </c:pt>
                <c:pt idx="5">
                  <c:v>0.00748227693373</c:v>
                </c:pt>
                <c:pt idx="6">
                  <c:v>0.00902646166677</c:v>
                </c:pt>
                <c:pt idx="7">
                  <c:v>0.00950375512971</c:v>
                </c:pt>
                <c:pt idx="8">
                  <c:v>0.00970028773209</c:v>
                </c:pt>
                <c:pt idx="9">
                  <c:v>0.00966519262452</c:v>
                </c:pt>
              </c:numLit>
            </c:minus>
            <c:spPr>
              <a:ln w="9525">
                <a:solidFill>
                  <a:srgbClr val="17324D"/>
                </a:solidFill>
              </a:ln>
            </c:spPr>
          </c:errBars>
          <c:xVal>
            <c:numRef>
              <c:f>'Chart Data'!$C$2:$C$11</c:f>
              <c:numCache>
                <c:formatCode>General</c:formatCode>
                <c:ptCount val="10"/>
                <c:pt idx="0">
                  <c:v>2</c:v>
                </c:pt>
                <c:pt idx="1">
                  <c:v>4</c:v>
                </c:pt>
                <c:pt idx="2">
                  <c:v>8</c:v>
                </c:pt>
                <c:pt idx="3">
                  <c:v>12</c:v>
                </c:pt>
                <c:pt idx="4">
                  <c:v>16</c:v>
                </c:pt>
                <c:pt idx="5">
                  <c:v>20</c:v>
                </c:pt>
                <c:pt idx="6">
                  <c:v>30</c:v>
                </c:pt>
                <c:pt idx="7">
                  <c:v>40</c:v>
                </c:pt>
                <c:pt idx="8">
                  <c:v>50</c:v>
                </c:pt>
                <c:pt idx="9">
                  <c:v>60</c:v>
                </c:pt>
              </c:numCache>
            </c:numRef>
          </c:xVal>
          <c:yVal>
            <c:numRef>
              <c:f>'Chart Data'!$D$2:$D$11</c:f>
              <c:numCache>
                <c:formatCode>0.0</c:formatCode>
                <c:ptCount val="10"/>
                <c:pt idx="0">
                  <c:v>0.991654381942</c:v>
                </c:pt>
                <c:pt idx="1">
                  <c:v>0.98380711589</c:v>
                </c:pt>
                <c:pt idx="2">
                  <c:v>0.959451111237</c:v>
                </c:pt>
                <c:pt idx="3">
                  <c:v>0.918593387005</c:v>
                </c:pt>
                <c:pt idx="4">
                  <c:v>0.874577103092</c:v>
                </c:pt>
                <c:pt idx="5">
                  <c:v>0.823941881891</c:v>
                </c:pt>
                <c:pt idx="6">
                  <c:v>0.689822418805</c:v>
                </c:pt>
                <c:pt idx="7">
                  <c:v>0.583315786354</c:v>
                </c:pt>
                <c:pt idx="8">
                  <c:v>0.492644066439</c:v>
                </c:pt>
                <c:pt idx="9">
                  <c:v>0.414360919495</c:v>
                </c:pt>
              </c:numCache>
            </c:numRef>
          </c:yVal>
        </c:ser>
        <c:ser>
          <c:idx val="2"/>
          <c:order val="2"/>
          <c:tx>
            <c:v>连续仿真</c:v>
          </c:tx>
          <c:spPr>
            <a:ln w="23813">
              <a:solidFill>
                <a:srgbClr val="BB3E35"/>
              </a:solidFill>
            </a:ln>
          </c:spPr>
          <c:marker>
            <c:symbol val="none"/>
          </c:marker>
          <c:xVal>
            <c:numRef>
              <c:f>'Chart Data'!$E$2:$E$62</c:f>
              <c:numCache>
                <c:formatCode>General</c:formatCode>
                <c:ptCount val="6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</c:numCache>
            </c:numRef>
          </c:xVal>
          <c:yVal>
            <c:numRef>
              <c:f>'Chart Data'!$F$2:$F$62</c:f>
              <c:numCache>
                <c:formatCode>0.0</c:formatCode>
                <c:ptCount val="61"/>
                <c:pt idx="0">
                  <c:v>1</c:v>
                </c:pt>
                <c:pt idx="1">
                  <c:v>0.997314453125</c:v>
                </c:pt>
                <c:pt idx="2">
                  <c:v>0.993896484375</c:v>
                </c:pt>
                <c:pt idx="3">
                  <c:v>0.99072265625</c:v>
                </c:pt>
                <c:pt idx="4">
                  <c:v>0.9873046875</c:v>
                </c:pt>
                <c:pt idx="5">
                  <c:v>0.98388671875</c:v>
                </c:pt>
                <c:pt idx="6">
                  <c:v>0.979736328125</c:v>
                </c:pt>
                <c:pt idx="7">
                  <c:v>0.97607421875</c:v>
                </c:pt>
                <c:pt idx="8">
                  <c:v>0.9697265625</c:v>
                </c:pt>
                <c:pt idx="9">
                  <c:v>0.962890625</c:v>
                </c:pt>
                <c:pt idx="10">
                  <c:v>0.955322265625</c:v>
                </c:pt>
                <c:pt idx="11">
                  <c:v>0.948974609375</c:v>
                </c:pt>
                <c:pt idx="12">
                  <c:v>0.940673828125</c:v>
                </c:pt>
                <c:pt idx="13">
                  <c:v>0.93310546875</c:v>
                </c:pt>
                <c:pt idx="14">
                  <c:v>0.922607421875</c:v>
                </c:pt>
                <c:pt idx="15">
                  <c:v>0.9150390625</c:v>
                </c:pt>
                <c:pt idx="16">
                  <c:v>0.904541015625</c:v>
                </c:pt>
                <c:pt idx="17">
                  <c:v>0.900146484375</c:v>
                </c:pt>
                <c:pt idx="18">
                  <c:v>0.89013671875</c:v>
                </c:pt>
                <c:pt idx="19">
                  <c:v>0.880859375</c:v>
                </c:pt>
                <c:pt idx="20">
                  <c:v>0.866455078125</c:v>
                </c:pt>
                <c:pt idx="21">
                  <c:v>0.860107421875</c:v>
                </c:pt>
                <c:pt idx="22">
                  <c:v>0.85107421875</c:v>
                </c:pt>
                <c:pt idx="23">
                  <c:v>0.84375</c:v>
                </c:pt>
                <c:pt idx="24">
                  <c:v>0.831298828125</c:v>
                </c:pt>
                <c:pt idx="25">
                  <c:v>0.822021484375</c:v>
                </c:pt>
                <c:pt idx="26">
                  <c:v>0.81005859375</c:v>
                </c:pt>
                <c:pt idx="27">
                  <c:v>0.80224609375</c:v>
                </c:pt>
                <c:pt idx="28">
                  <c:v>0.788330078125</c:v>
                </c:pt>
                <c:pt idx="29">
                  <c:v>0.778564453125</c:v>
                </c:pt>
                <c:pt idx="30">
                  <c:v>0.763427734375</c:v>
                </c:pt>
                <c:pt idx="31">
                  <c:v>0.754638671875</c:v>
                </c:pt>
                <c:pt idx="32">
                  <c:v>0.74072265625</c:v>
                </c:pt>
                <c:pt idx="33">
                  <c:v>0.73291015625</c:v>
                </c:pt>
                <c:pt idx="34">
                  <c:v>0.72314453125</c:v>
                </c:pt>
                <c:pt idx="35">
                  <c:v>0.713623046875</c:v>
                </c:pt>
                <c:pt idx="36">
                  <c:v>0.70263671875</c:v>
                </c:pt>
                <c:pt idx="37">
                  <c:v>0.696533203125</c:v>
                </c:pt>
                <c:pt idx="38">
                  <c:v>0.688232421875</c:v>
                </c:pt>
                <c:pt idx="39">
                  <c:v>0.680419921875</c:v>
                </c:pt>
                <c:pt idx="40">
                  <c:v>0.667236328125</c:v>
                </c:pt>
                <c:pt idx="41">
                  <c:v>0.6611328125</c:v>
                </c:pt>
                <c:pt idx="42">
                  <c:v>0.653076171875</c:v>
                </c:pt>
                <c:pt idx="43">
                  <c:v>0.644775390625</c:v>
                </c:pt>
                <c:pt idx="44">
                  <c:v>0.630859375</c:v>
                </c:pt>
                <c:pt idx="45">
                  <c:v>0.62109375</c:v>
                </c:pt>
                <c:pt idx="46">
                  <c:v>0.607666015625</c:v>
                </c:pt>
                <c:pt idx="47">
                  <c:v>0.6005859375</c:v>
                </c:pt>
                <c:pt idx="48">
                  <c:v>0.586669921875</c:v>
                </c:pt>
                <c:pt idx="49">
                  <c:v>0.58056640625</c:v>
                </c:pt>
                <c:pt idx="50">
                  <c:v>0.5673828125</c:v>
                </c:pt>
                <c:pt idx="51">
                  <c:v>0.5634765625</c:v>
                </c:pt>
                <c:pt idx="52">
                  <c:v>0.5546875</c:v>
                </c:pt>
                <c:pt idx="53">
                  <c:v>0.548583984375</c:v>
                </c:pt>
                <c:pt idx="54">
                  <c:v>0.536865234375</c:v>
                </c:pt>
                <c:pt idx="55">
                  <c:v>0.531494140625</c:v>
                </c:pt>
                <c:pt idx="56">
                  <c:v>0.52294921875</c:v>
                </c:pt>
                <c:pt idx="57">
                  <c:v>0.517822265625</c:v>
                </c:pt>
                <c:pt idx="58">
                  <c:v>0.50927734375</c:v>
                </c:pt>
                <c:pt idx="59">
                  <c:v>0.50341796875</c:v>
                </c:pt>
                <c:pt idx="60">
                  <c:v>0.494873046875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02"/>
          <c:min val="0"/>
        </c:scaling>
        <c:delete val="0"/>
        <c:axPos val="l"/>
        <c:majorGridlines>
          <c:spPr>
            <a:ln w="9525">
              <a:solidFill>
                <a:srgbClr val="D9E2EA"/>
              </a:solidFill>
            </a:ln>
          </c:spPr>
        </c:majorGridlines>
        <c:title>
          <c:tx>
            <c:rich>
              <a:bodyPr/>
              <a:lstStyle/>
              <a:p>
                <a:r>
                  <a:rPr>
                    <a:latin typeface="Microsoft YaHei"/>
                    <a:ea typeface="Microsoft YaHei"/>
                    <a:cs typeface="Microsoft YaHei"/>
                  </a:rPr>
                  <a:t>存活概率 S(n)</a:t>
                </a:r>
              </a:p>
            </c:rich>
          </c:tx>
          <c:overlay val="0"/>
          <c:txPr>
            <a:bodyPr anchorCtr="1"/>
            <a:lstStyle/>
            <a:p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majorUnit val="0.2"/>
      </c:valAx>
      <c:valAx>
        <c:axId val="48650112"/>
        <c:scaling>
          <c:orientation val="minMax"/>
          <c:max val="60"/>
          <c:min val="0"/>
        </c:scaling>
        <c:delete val="0"/>
        <c:axPos val="b"/>
        <c:numFmt formatCode="0"/>
        <c:majorTickMark val="none"/>
        <c:minorTickMark val="none"/>
        <c:spPr>
          <a:ln w="9525">
            <a:solidFill>
              <a:srgbClr val="D9E2EA"/>
            </a:solidFill>
          </a:ln>
        </c:spPr>
        <c:txPr>
          <a:bodyPr anchorCtr="1"/>
          <a:lstStyle/>
          <a:p>
            <a:pPr>
              <a:defRPr sz="105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majorUnit val="10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1125">
              <a:solidFill>
                <a:srgbClr val="687787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论文拟合线</c:v>
          </c:tx>
          <c:spPr>
            <a:ln w="23813">
              <a:solidFill>
                <a:srgbClr val="17324D"/>
              </a:solidFill>
            </a:ln>
          </c:spPr>
          <c:marker>
            <c:symbol val="none"/>
          </c:marker>
          <c:xVal>
            <c:numRef>
              <c:f>'Chart Data'!$A$2:$A$15</c:f>
              <c:numCache>
                <c:formatCode>General</c:formatCode>
                <c:ptCount val="14"/>
                <c:pt idx="0">
                  <c:v>0.100000683321</c:v>
                </c:pt>
                <c:pt idx="1">
                  <c:v>9.26716233949</c:v>
                </c:pt>
                <c:pt idx="2">
                  <c:v>11.4806232606</c:v>
                </c:pt>
                <c:pt idx="3">
                  <c:v>13.6908204528</c:v>
                </c:pt>
                <c:pt idx="4">
                  <c:v>15.9036286282</c:v>
                </c:pt>
                <c:pt idx="5">
                  <c:v>18.4317130126</c:v>
                </c:pt>
                <c:pt idx="6">
                  <c:v>21.5936135439</c:v>
                </c:pt>
                <c:pt idx="7">
                  <c:v>25.7019954482</c:v>
                </c:pt>
                <c:pt idx="8">
                  <c:v>38.9768862629</c:v>
                </c:pt>
                <c:pt idx="9">
                  <c:v>44.0356660148</c:v>
                </c:pt>
                <c:pt idx="10">
                  <c:v>49.0924875294</c:v>
                </c:pt>
                <c:pt idx="11">
                  <c:v>54.1493090439</c:v>
                </c:pt>
                <c:pt idx="12">
                  <c:v>59.5240177506</c:v>
                </c:pt>
                <c:pt idx="13">
                  <c:v>60</c:v>
                </c:pt>
              </c:numCache>
            </c:numRef>
          </c:xVal>
          <c:yVal>
            <c:numRef>
              <c:f>'Chart Data'!$B$2:$B$15</c:f>
              <c:numCache>
                <c:formatCode>0.0</c:formatCode>
                <c:ptCount val="14"/>
                <c:pt idx="0">
                  <c:v>0.990587490672</c:v>
                </c:pt>
                <c:pt idx="1">
                  <c:v>0.975201795514</c:v>
                </c:pt>
                <c:pt idx="2">
                  <c:v>0.968252964215</c:v>
                </c:pt>
                <c:pt idx="3">
                  <c:v>0.958229801493</c:v>
                </c:pt>
                <c:pt idx="4">
                  <c:v>0.945034041047</c:v>
                </c:pt>
                <c:pt idx="5">
                  <c:v>0.92654593838</c:v>
                </c:pt>
                <c:pt idx="6">
                  <c:v>0.899789428369</c:v>
                </c:pt>
                <c:pt idx="7">
                  <c:v>0.861339228517</c:v>
                </c:pt>
                <c:pt idx="8">
                  <c:v>0.734744156493</c:v>
                </c:pt>
                <c:pt idx="9">
                  <c:v>0.690720853559</c:v>
                </c:pt>
                <c:pt idx="10">
                  <c:v>0.64996841465</c:v>
                </c:pt>
                <c:pt idx="11">
                  <c:v>0.612486839766</c:v>
                </c:pt>
                <c:pt idx="12">
                  <c:v>0.576058118109</c:v>
                </c:pt>
                <c:pt idx="13">
                  <c:v>0.573063886411</c:v>
                </c:pt>
              </c:numCache>
            </c:numRef>
          </c:yVal>
        </c:ser>
        <c:ser>
          <c:idx val="1"/>
          <c:order val="1"/>
          <c:tx>
            <c:v>论文散点</c:v>
          </c:tx>
          <c:spPr>
            <a:solidFill>
              <a:srgbClr val="17324D"/>
            </a:solidFill>
            <a:ln w="0">
              <a:noFill/>
            </a:ln>
          </c:spPr>
          <c:marker>
            <c:symbol val="diamond"/>
            <c:size val="4"/>
            <c:spPr>
              <a:noFill/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0.00000000</c:formatCode>
                <c:ptCount val="10"/>
                <c:pt idx="0">
                  <c:v>0.00229522003502</c:v>
                </c:pt>
                <c:pt idx="1">
                  <c:v>0.00218993471231</c:v>
                </c:pt>
                <c:pt idx="2">
                  <c:v>0.00261107600314</c:v>
                </c:pt>
                <c:pt idx="3">
                  <c:v>0.00388853791865</c:v>
                </c:pt>
                <c:pt idx="4">
                  <c:v>0.00443602159673</c:v>
                </c:pt>
                <c:pt idx="5">
                  <c:v>0.00539060852261</c:v>
                </c:pt>
                <c:pt idx="6">
                  <c:v>0.00762265736401</c:v>
                </c:pt>
                <c:pt idx="7">
                  <c:v>0.00871060569864</c:v>
                </c:pt>
                <c:pt idx="8">
                  <c:v>0.00928616546278</c:v>
                </c:pt>
                <c:pt idx="9">
                  <c:v>0.00961605947393</c:v>
                </c:pt>
              </c:numLit>
            </c:plus>
            <c:minus>
              <c:numLit>
                <c:formatCode>0.00000000</c:formatCode>
                <c:ptCount val="10"/>
                <c:pt idx="0">
                  <c:v>0.00228118199199</c:v>
                </c:pt>
                <c:pt idx="1">
                  <c:v>0.00224608688442</c:v>
                </c:pt>
                <c:pt idx="2">
                  <c:v>0.00262511404617</c:v>
                </c:pt>
                <c:pt idx="3">
                  <c:v>0.00390257596168</c:v>
                </c:pt>
                <c:pt idx="4">
                  <c:v>0.00443602159673</c:v>
                </c:pt>
                <c:pt idx="5">
                  <c:v>0.00539060852261</c:v>
                </c:pt>
                <c:pt idx="6">
                  <c:v>0.00759458127795</c:v>
                </c:pt>
                <c:pt idx="7">
                  <c:v>0.00871060569865</c:v>
                </c:pt>
                <c:pt idx="8">
                  <c:v>0.00924405133369</c:v>
                </c:pt>
                <c:pt idx="9">
                  <c:v>0.00961605947393</c:v>
                </c:pt>
              </c:numLit>
            </c:minus>
            <c:spPr>
              <a:ln w="9525">
                <a:solidFill>
                  <a:srgbClr val="17324D"/>
                </a:solidFill>
              </a:ln>
            </c:spPr>
          </c:errBars>
          <c:xVal>
            <c:numRef>
              <c:f>'Chart Data'!$C$2:$C$11</c:f>
              <c:numCache>
                <c:formatCode>General</c:formatCode>
                <c:ptCount val="10"/>
                <c:pt idx="0">
                  <c:v>2</c:v>
                </c:pt>
                <c:pt idx="1">
                  <c:v>4</c:v>
                </c:pt>
                <c:pt idx="2">
                  <c:v>8</c:v>
                </c:pt>
                <c:pt idx="3">
                  <c:v>12</c:v>
                </c:pt>
                <c:pt idx="4">
                  <c:v>16</c:v>
                </c:pt>
                <c:pt idx="5">
                  <c:v>20</c:v>
                </c:pt>
                <c:pt idx="6">
                  <c:v>30</c:v>
                </c:pt>
                <c:pt idx="7">
                  <c:v>40</c:v>
                </c:pt>
                <c:pt idx="8">
                  <c:v>50</c:v>
                </c:pt>
                <c:pt idx="9">
                  <c:v>60</c:v>
                </c:pt>
              </c:numCache>
            </c:numRef>
          </c:xVal>
          <c:yVal>
            <c:numRef>
              <c:f>'Chart Data'!$D$2:$D$11</c:f>
              <c:numCache>
                <c:formatCode>0.0</c:formatCode>
                <c:ptCount val="10"/>
                <c:pt idx="0">
                  <c:v>0.985779460935</c:v>
                </c:pt>
                <c:pt idx="1">
                  <c:v>0.986530496237</c:v>
                </c:pt>
                <c:pt idx="2">
                  <c:v>0.981729485522</c:v>
                </c:pt>
                <c:pt idx="3">
                  <c:v>0.957640203686</c:v>
                </c:pt>
                <c:pt idx="4">
                  <c:v>0.944655013886</c:v>
                </c:pt>
                <c:pt idx="5">
                  <c:v>0.913462482278</c:v>
                </c:pt>
                <c:pt idx="6">
                  <c:v>0.815462903902</c:v>
                </c:pt>
                <c:pt idx="7">
                  <c:v>0.726833719247</c:v>
                </c:pt>
                <c:pt idx="8">
                  <c:v>0.650186004316</c:v>
                </c:pt>
                <c:pt idx="9">
                  <c:v>0.573222433417</c:v>
                </c:pt>
              </c:numCache>
            </c:numRef>
          </c:yVal>
        </c:ser>
        <c:ser>
          <c:idx val="2"/>
          <c:order val="2"/>
          <c:tx>
            <c:v>连续仿真</c:v>
          </c:tx>
          <c:spPr>
            <a:ln w="23813">
              <a:solidFill>
                <a:srgbClr val="BB3E35"/>
              </a:solidFill>
            </a:ln>
          </c:spPr>
          <c:marker>
            <c:symbol val="none"/>
          </c:marker>
          <c:xVal>
            <c:numRef>
              <c:f>'Chart Data'!$E$2:$E$62</c:f>
              <c:numCache>
                <c:formatCode>General</c:formatCode>
                <c:ptCount val="6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</c:numCache>
            </c:numRef>
          </c:xVal>
          <c:yVal>
            <c:numRef>
              <c:f>'Chart Data'!$F$2:$F$62</c:f>
              <c:numCache>
                <c:formatCode>0.0</c:formatCode>
                <c:ptCount val="61"/>
                <c:pt idx="0">
                  <c:v>1</c:v>
                </c:pt>
                <c:pt idx="1">
                  <c:v>0.9892578125</c:v>
                </c:pt>
                <c:pt idx="2">
                  <c:v>0.974609375</c:v>
                </c:pt>
                <c:pt idx="3">
                  <c:v>0.966552734375</c:v>
                </c:pt>
                <c:pt idx="4">
                  <c:v>0.95556640625</c:v>
                </c:pt>
                <c:pt idx="5">
                  <c:v>0.9482421875</c:v>
                </c:pt>
                <c:pt idx="6">
                  <c:v>0.9365234375</c:v>
                </c:pt>
                <c:pt idx="7">
                  <c:v>0.930419921875</c:v>
                </c:pt>
                <c:pt idx="8">
                  <c:v>0.919189453125</c:v>
                </c:pt>
                <c:pt idx="9">
                  <c:v>0.9130859375</c:v>
                </c:pt>
                <c:pt idx="10">
                  <c:v>0.90380859375</c:v>
                </c:pt>
                <c:pt idx="11">
                  <c:v>0.898681640625</c:v>
                </c:pt>
                <c:pt idx="12">
                  <c:v>0.891845703125</c:v>
                </c:pt>
                <c:pt idx="13">
                  <c:v>0.88671875</c:v>
                </c:pt>
                <c:pt idx="14">
                  <c:v>0.880859375</c:v>
                </c:pt>
                <c:pt idx="15">
                  <c:v>0.874267578125</c:v>
                </c:pt>
                <c:pt idx="16">
                  <c:v>0.864501953125</c:v>
                </c:pt>
                <c:pt idx="17">
                  <c:v>0.859619140625</c:v>
                </c:pt>
                <c:pt idx="18">
                  <c:v>0.852294921875</c:v>
                </c:pt>
                <c:pt idx="19">
                  <c:v>0.8505859375</c:v>
                </c:pt>
                <c:pt idx="20">
                  <c:v>0.842529296875</c:v>
                </c:pt>
                <c:pt idx="21">
                  <c:v>0.838623046875</c:v>
                </c:pt>
                <c:pt idx="22">
                  <c:v>0.829833984375</c:v>
                </c:pt>
                <c:pt idx="23">
                  <c:v>0.82470703125</c:v>
                </c:pt>
                <c:pt idx="24">
                  <c:v>0.8173828125</c:v>
                </c:pt>
                <c:pt idx="25">
                  <c:v>0.8134765625</c:v>
                </c:pt>
                <c:pt idx="26">
                  <c:v>0.8076171875</c:v>
                </c:pt>
                <c:pt idx="27">
                  <c:v>0.803466796875</c:v>
                </c:pt>
                <c:pt idx="28">
                  <c:v>0.79345703125</c:v>
                </c:pt>
                <c:pt idx="29">
                  <c:v>0.78955078125</c:v>
                </c:pt>
                <c:pt idx="30">
                  <c:v>0.781494140625</c:v>
                </c:pt>
                <c:pt idx="31">
                  <c:v>0.777099609375</c:v>
                </c:pt>
                <c:pt idx="32">
                  <c:v>0.76904296875</c:v>
                </c:pt>
                <c:pt idx="33">
                  <c:v>0.76611328125</c:v>
                </c:pt>
                <c:pt idx="34">
                  <c:v>0.759765625</c:v>
                </c:pt>
                <c:pt idx="35">
                  <c:v>0.755859375</c:v>
                </c:pt>
                <c:pt idx="36">
                  <c:v>0.75048828125</c:v>
                </c:pt>
                <c:pt idx="37">
                  <c:v>0.74658203125</c:v>
                </c:pt>
                <c:pt idx="38">
                  <c:v>0.739501953125</c:v>
                </c:pt>
                <c:pt idx="39">
                  <c:v>0.734130859375</c:v>
                </c:pt>
                <c:pt idx="40">
                  <c:v>0.72802734375</c:v>
                </c:pt>
                <c:pt idx="41">
                  <c:v>0.72412109375</c:v>
                </c:pt>
                <c:pt idx="42">
                  <c:v>0.71875</c:v>
                </c:pt>
                <c:pt idx="43">
                  <c:v>0.716064453125</c:v>
                </c:pt>
                <c:pt idx="44">
                  <c:v>0.709716796875</c:v>
                </c:pt>
                <c:pt idx="45">
                  <c:v>0.704345703125</c:v>
                </c:pt>
                <c:pt idx="46">
                  <c:v>0.6982421875</c:v>
                </c:pt>
                <c:pt idx="47">
                  <c:v>0.6943359375</c:v>
                </c:pt>
                <c:pt idx="48">
                  <c:v>0.686767578125</c:v>
                </c:pt>
                <c:pt idx="49">
                  <c:v>0.681640625</c:v>
                </c:pt>
                <c:pt idx="50">
                  <c:v>0.67529296875</c:v>
                </c:pt>
                <c:pt idx="51">
                  <c:v>0.672119140625</c:v>
                </c:pt>
                <c:pt idx="52">
                  <c:v>0.6669921875</c:v>
                </c:pt>
                <c:pt idx="53">
                  <c:v>0.662841796875</c:v>
                </c:pt>
                <c:pt idx="54">
                  <c:v>0.655517578125</c:v>
                </c:pt>
                <c:pt idx="55">
                  <c:v>0.65234375</c:v>
                </c:pt>
                <c:pt idx="56">
                  <c:v>0.64697265625</c:v>
                </c:pt>
                <c:pt idx="57">
                  <c:v>0.642578125</c:v>
                </c:pt>
                <c:pt idx="58">
                  <c:v>0.6376953125</c:v>
                </c:pt>
                <c:pt idx="59">
                  <c:v>0.633544921875</c:v>
                </c:pt>
                <c:pt idx="60">
                  <c:v>0.62841796875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02"/>
          <c:min val="0"/>
        </c:scaling>
        <c:delete val="0"/>
        <c:axPos val="l"/>
        <c:majorGridlines>
          <c:spPr>
            <a:ln w="9525">
              <a:solidFill>
                <a:srgbClr val="D9E2EA"/>
              </a:solidFill>
            </a:ln>
          </c:spPr>
        </c:majorGridlines>
        <c:title>
          <c:tx>
            <c:rich>
              <a:bodyPr/>
              <a:lstStyle/>
              <a:p>
                <a:r>
                  <a:rPr>
                    <a:latin typeface="Microsoft YaHei"/>
                    <a:ea typeface="Microsoft YaHei"/>
                    <a:cs typeface="Microsoft YaHei"/>
                  </a:rPr>
                  <a:t>存活概率 S(n)</a:t>
                </a:r>
              </a:p>
            </c:rich>
          </c:tx>
          <c:overlay val="0"/>
          <c:txPr>
            <a:bodyPr anchorCtr="1"/>
            <a:lstStyle/>
            <a:p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majorUnit val="0.2"/>
      </c:valAx>
      <c:valAx>
        <c:axId val="48650112"/>
        <c:scaling>
          <c:orientation val="minMax"/>
          <c:max val="60"/>
          <c:min val="0"/>
        </c:scaling>
        <c:delete val="0"/>
        <c:axPos val="b"/>
        <c:numFmt formatCode="0"/>
        <c:majorTickMark val="none"/>
        <c:minorTickMark val="none"/>
        <c:spPr>
          <a:ln w="9525">
            <a:solidFill>
              <a:srgbClr val="D9E2EA"/>
            </a:solidFill>
          </a:ln>
        </c:spPr>
        <c:txPr>
          <a:bodyPr anchorCtr="1"/>
          <a:lstStyle/>
          <a:p>
            <a:pPr>
              <a:defRPr sz="105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majorUnit val="10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1125">
              <a:solidFill>
                <a:srgbClr val="687787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>
      <a:srgbClr val="FFFFFF"/>
    </a:solidFill>
  </c:spPr>
  <c:externalData r:id="rIdChartSnapshot1">
    <c:autoUpdate val="0"/>
  </c:externalData>
</c:chartSpace>
</file>

<file path=ppt/slides/charts/chart4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论文拟合线</c:v>
          </c:tx>
          <c:spPr>
            <a:ln w="23813">
              <a:solidFill>
                <a:srgbClr val="17324D"/>
              </a:solidFill>
            </a:ln>
          </c:spPr>
          <c:marker>
            <c:symbol val="none"/>
          </c:marker>
          <c:xVal>
            <c:numRef>
              <c:f>'Chart Data'!$A$2:$A$12</c:f>
              <c:numCache>
                <c:formatCode>General</c:formatCode>
                <c:ptCount val="11"/>
                <c:pt idx="0">
                  <c:v>0.100000683321</c:v>
                </c:pt>
                <c:pt idx="1">
                  <c:v>13.6908204528</c:v>
                </c:pt>
                <c:pt idx="2">
                  <c:v>16.8527209842</c:v>
                </c:pt>
                <c:pt idx="3">
                  <c:v>20.0146215156</c:v>
                </c:pt>
                <c:pt idx="4">
                  <c:v>23.1732583181</c:v>
                </c:pt>
                <c:pt idx="5">
                  <c:v>26.9657112675</c:v>
                </c:pt>
                <c:pt idx="6">
                  <c:v>31.707256573</c:v>
                </c:pt>
                <c:pt idx="7">
                  <c:v>38.9768862629</c:v>
                </c:pt>
                <c:pt idx="8">
                  <c:v>50.6721323035</c:v>
                </c:pt>
                <c:pt idx="9">
                  <c:v>57.9417619934</c:v>
                </c:pt>
                <c:pt idx="10">
                  <c:v>60</c:v>
                </c:pt>
              </c:numCache>
            </c:numRef>
          </c:xVal>
          <c:yVal>
            <c:numRef>
              <c:f>'Chart Data'!$B$2:$B$12</c:f>
              <c:numCache>
                <c:formatCode>0.0</c:formatCode>
                <c:ptCount val="11"/>
                <c:pt idx="0">
                  <c:v>0.995500805732</c:v>
                </c:pt>
                <c:pt idx="1">
                  <c:v>0.967944127268</c:v>
                </c:pt>
                <c:pt idx="2">
                  <c:v>0.958005192805</c:v>
                </c:pt>
                <c:pt idx="3">
                  <c:v>0.944921736703</c:v>
                </c:pt>
                <c:pt idx="4">
                  <c:v>0.928834139393</c:v>
                </c:pt>
                <c:pt idx="5">
                  <c:v>0.90619077599</c:v>
                </c:pt>
                <c:pt idx="6">
                  <c:v>0.874310380274</c:v>
                </c:pt>
                <c:pt idx="7">
                  <c:v>0.821653680877</c:v>
                </c:pt>
                <c:pt idx="8">
                  <c:v>0.737256966195</c:v>
                </c:pt>
                <c:pt idx="9">
                  <c:v>0.688278234072</c:v>
                </c:pt>
                <c:pt idx="10">
                  <c:v>0.675256498777</c:v>
                </c:pt>
              </c:numCache>
            </c:numRef>
          </c:yVal>
        </c:ser>
        <c:ser>
          <c:idx val="1"/>
          <c:order val="1"/>
          <c:tx>
            <c:v>论文散点</c:v>
          </c:tx>
          <c:spPr>
            <a:solidFill>
              <a:srgbClr val="17324D"/>
            </a:solidFill>
            <a:ln w="0">
              <a:noFill/>
            </a:ln>
          </c:spPr>
          <c:marker>
            <c:symbol val="diamond"/>
            <c:size val="4"/>
            <c:spPr>
              <a:noFill/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0.00000000</c:formatCode>
                <c:ptCount val="10"/>
                <c:pt idx="0">
                  <c:v>0.00199340210992</c:v>
                </c:pt>
                <c:pt idx="1">
                  <c:v>0.00196532602387</c:v>
                </c:pt>
                <c:pt idx="2">
                  <c:v>0.00258299991708</c:v>
                </c:pt>
                <c:pt idx="3">
                  <c:v>0.00321471185333</c:v>
                </c:pt>
                <c:pt idx="4">
                  <c:v>0.00384642378957</c:v>
                </c:pt>
                <c:pt idx="5">
                  <c:v>0.00460447811306</c:v>
                </c:pt>
                <c:pt idx="6">
                  <c:v>0.00579771177041</c:v>
                </c:pt>
                <c:pt idx="7">
                  <c:v>0.00756650519189</c:v>
                </c:pt>
                <c:pt idx="8">
                  <c:v>0.00843686385961</c:v>
                </c:pt>
                <c:pt idx="9">
                  <c:v>0.00903348068828</c:v>
                </c:pt>
              </c:numLit>
            </c:plus>
            <c:minus>
              <c:numLit>
                <c:formatCode>0.00000000</c:formatCode>
                <c:ptCount val="10"/>
                <c:pt idx="0">
                  <c:v>0.00192321189479</c:v>
                </c:pt>
                <c:pt idx="1">
                  <c:v>0.0019793640669</c:v>
                </c:pt>
                <c:pt idx="2">
                  <c:v>0.00255492383103</c:v>
                </c:pt>
                <c:pt idx="3">
                  <c:v>0.00325682598241</c:v>
                </c:pt>
                <c:pt idx="4">
                  <c:v>0.00383238574654</c:v>
                </c:pt>
                <c:pt idx="5">
                  <c:v>0.00459044007004</c:v>
                </c:pt>
                <c:pt idx="6">
                  <c:v>0.00578367372738</c:v>
                </c:pt>
                <c:pt idx="7">
                  <c:v>0.00753842910584</c:v>
                </c:pt>
                <c:pt idx="8">
                  <c:v>0.0083807116875</c:v>
                </c:pt>
                <c:pt idx="9">
                  <c:v>0.00903348068828</c:v>
                </c:pt>
              </c:numLit>
            </c:minus>
            <c:spPr>
              <a:ln w="9525">
                <a:solidFill>
                  <a:srgbClr val="17324D"/>
                </a:solidFill>
              </a:ln>
            </c:spPr>
          </c:errBars>
          <c:xVal>
            <c:numRef>
              <c:f>'Chart Data'!$C$2:$C$11</c:f>
              <c:numCache>
                <c:formatCode>General</c:formatCode>
                <c:ptCount val="10"/>
                <c:pt idx="0">
                  <c:v>2</c:v>
                </c:pt>
                <c:pt idx="1">
                  <c:v>4</c:v>
                </c:pt>
                <c:pt idx="2">
                  <c:v>8</c:v>
                </c:pt>
                <c:pt idx="3">
                  <c:v>12</c:v>
                </c:pt>
                <c:pt idx="4">
                  <c:v>16</c:v>
                </c:pt>
                <c:pt idx="5">
                  <c:v>20</c:v>
                </c:pt>
                <c:pt idx="6">
                  <c:v>30</c:v>
                </c:pt>
                <c:pt idx="7">
                  <c:v>40</c:v>
                </c:pt>
                <c:pt idx="8">
                  <c:v>50</c:v>
                </c:pt>
                <c:pt idx="9">
                  <c:v>60</c:v>
                </c:pt>
              </c:numCache>
            </c:numRef>
          </c:xVal>
          <c:yVal>
            <c:numRef>
              <c:f>'Chart Data'!$D$2:$D$11</c:f>
              <c:numCache>
                <c:formatCode>0.0</c:formatCode>
                <c:ptCount val="10"/>
                <c:pt idx="0">
                  <c:v>0.989997892865</c:v>
                </c:pt>
                <c:pt idx="1">
                  <c:v>0.989632903746</c:v>
                </c:pt>
                <c:pt idx="2">
                  <c:v>0.982038322468</c:v>
                </c:pt>
                <c:pt idx="3">
                  <c:v>0.971734398886</c:v>
                </c:pt>
                <c:pt idx="4">
                  <c:v>0.958805361257</c:v>
                </c:pt>
                <c:pt idx="5">
                  <c:v>0.940373410762</c:v>
                </c:pt>
                <c:pt idx="6">
                  <c:v>0.898736575142</c:v>
                </c:pt>
                <c:pt idx="7">
                  <c:v>0.815350599558</c:v>
                </c:pt>
                <c:pt idx="8">
                  <c:v>0.741201656286</c:v>
                </c:pt>
                <c:pt idx="9">
                  <c:v>0.663381764762</c:v>
                </c:pt>
              </c:numCache>
            </c:numRef>
          </c:yVal>
        </c:ser>
        <c:ser>
          <c:idx val="2"/>
          <c:order val="2"/>
          <c:tx>
            <c:v>连续仿真</c:v>
          </c:tx>
          <c:spPr>
            <a:ln w="23813">
              <a:solidFill>
                <a:srgbClr val="BB3E35"/>
              </a:solidFill>
            </a:ln>
          </c:spPr>
          <c:marker>
            <c:symbol val="none"/>
          </c:marker>
          <c:xVal>
            <c:numRef>
              <c:f>'Chart Data'!$E$2:$E$62</c:f>
              <c:numCache>
                <c:formatCode>General</c:formatCode>
                <c:ptCount val="6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</c:numCache>
            </c:numRef>
          </c:xVal>
          <c:yVal>
            <c:numRef>
              <c:f>'Chart Data'!$F$2:$F$62</c:f>
              <c:numCache>
                <c:formatCode>0.0</c:formatCode>
                <c:ptCount val="61"/>
                <c:pt idx="0">
                  <c:v>1</c:v>
                </c:pt>
                <c:pt idx="1">
                  <c:v>0.9892578125</c:v>
                </c:pt>
                <c:pt idx="2">
                  <c:v>0.960205078125</c:v>
                </c:pt>
                <c:pt idx="3">
                  <c:v>0.955322265625</c:v>
                </c:pt>
                <c:pt idx="4">
                  <c:v>0.94775390625</c:v>
                </c:pt>
                <c:pt idx="5">
                  <c:v>0.942626953125</c:v>
                </c:pt>
                <c:pt idx="6">
                  <c:v>0.935302734375</c:v>
                </c:pt>
                <c:pt idx="7">
                  <c:v>0.93115234375</c:v>
                </c:pt>
                <c:pt idx="8">
                  <c:v>0.928466796875</c:v>
                </c:pt>
                <c:pt idx="9">
                  <c:v>0.92529296875</c:v>
                </c:pt>
                <c:pt idx="10">
                  <c:v>0.920654296875</c:v>
                </c:pt>
                <c:pt idx="11">
                  <c:v>0.9150390625</c:v>
                </c:pt>
                <c:pt idx="12">
                  <c:v>0.9111328125</c:v>
                </c:pt>
                <c:pt idx="13">
                  <c:v>0.908203125</c:v>
                </c:pt>
                <c:pt idx="14">
                  <c:v>0.905517578125</c:v>
                </c:pt>
                <c:pt idx="15">
                  <c:v>0.90234375</c:v>
                </c:pt>
                <c:pt idx="16">
                  <c:v>0.89990234375</c:v>
                </c:pt>
                <c:pt idx="17">
                  <c:v>0.89697265625</c:v>
                </c:pt>
                <c:pt idx="18">
                  <c:v>0.893310546875</c:v>
                </c:pt>
                <c:pt idx="19">
                  <c:v>0.890625</c:v>
                </c:pt>
                <c:pt idx="20">
                  <c:v>0.885986328125</c:v>
                </c:pt>
                <c:pt idx="21">
                  <c:v>0.883056640625</c:v>
                </c:pt>
                <c:pt idx="22">
                  <c:v>0.88037109375</c:v>
                </c:pt>
                <c:pt idx="23">
                  <c:v>0.877197265625</c:v>
                </c:pt>
                <c:pt idx="24">
                  <c:v>0.872802734375</c:v>
                </c:pt>
                <c:pt idx="25">
                  <c:v>0.869873046875</c:v>
                </c:pt>
                <c:pt idx="26">
                  <c:v>0.867919921875</c:v>
                </c:pt>
                <c:pt idx="27">
                  <c:v>0.864990234375</c:v>
                </c:pt>
                <c:pt idx="28">
                  <c:v>0.86083984375</c:v>
                </c:pt>
                <c:pt idx="29">
                  <c:v>0.85791015625</c:v>
                </c:pt>
                <c:pt idx="30">
                  <c:v>0.853271484375</c:v>
                </c:pt>
                <c:pt idx="31">
                  <c:v>0.8515625</c:v>
                </c:pt>
                <c:pt idx="32">
                  <c:v>0.848388671875</c:v>
                </c:pt>
                <c:pt idx="33">
                  <c:v>0.84423828125</c:v>
                </c:pt>
                <c:pt idx="34">
                  <c:v>0.841796875</c:v>
                </c:pt>
                <c:pt idx="35">
                  <c:v>0.8369140625</c:v>
                </c:pt>
                <c:pt idx="36">
                  <c:v>0.83447265625</c:v>
                </c:pt>
                <c:pt idx="37">
                  <c:v>0.8310546875</c:v>
                </c:pt>
                <c:pt idx="38">
                  <c:v>0.82763671875</c:v>
                </c:pt>
                <c:pt idx="39">
                  <c:v>0.82470703125</c:v>
                </c:pt>
                <c:pt idx="40">
                  <c:v>0.820556640625</c:v>
                </c:pt>
                <c:pt idx="41">
                  <c:v>0.8173828125</c:v>
                </c:pt>
                <c:pt idx="42">
                  <c:v>0.812744140625</c:v>
                </c:pt>
                <c:pt idx="43">
                  <c:v>0.810791015625</c:v>
                </c:pt>
                <c:pt idx="44">
                  <c:v>0.8056640625</c:v>
                </c:pt>
                <c:pt idx="45">
                  <c:v>0.80322265625</c:v>
                </c:pt>
                <c:pt idx="46">
                  <c:v>0.800048828125</c:v>
                </c:pt>
                <c:pt idx="47">
                  <c:v>0.79736328125</c:v>
                </c:pt>
                <c:pt idx="48">
                  <c:v>0.792236328125</c:v>
                </c:pt>
                <c:pt idx="49">
                  <c:v>0.788330078125</c:v>
                </c:pt>
                <c:pt idx="50">
                  <c:v>0.784423828125</c:v>
                </c:pt>
                <c:pt idx="51">
                  <c:v>0.7822265625</c:v>
                </c:pt>
                <c:pt idx="52">
                  <c:v>0.7783203125</c:v>
                </c:pt>
                <c:pt idx="53">
                  <c:v>0.774658203125</c:v>
                </c:pt>
                <c:pt idx="54">
                  <c:v>0.770751953125</c:v>
                </c:pt>
                <c:pt idx="55">
                  <c:v>0.766845703125</c:v>
                </c:pt>
                <c:pt idx="56">
                  <c:v>0.76171875</c:v>
                </c:pt>
                <c:pt idx="57">
                  <c:v>0.75830078125</c:v>
                </c:pt>
                <c:pt idx="58">
                  <c:v>0.75390625</c:v>
                </c:pt>
                <c:pt idx="59">
                  <c:v>0.75146484375</c:v>
                </c:pt>
                <c:pt idx="60">
                  <c:v>0.7470703125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02"/>
          <c:min val="0"/>
        </c:scaling>
        <c:delete val="0"/>
        <c:axPos val="l"/>
        <c:majorGridlines>
          <c:spPr>
            <a:ln w="9525">
              <a:solidFill>
                <a:srgbClr val="D9E2EA"/>
              </a:solidFill>
            </a:ln>
          </c:spPr>
        </c:majorGridlines>
        <c:title>
          <c:tx>
            <c:rich>
              <a:bodyPr/>
              <a:lstStyle/>
              <a:p>
                <a:r>
                  <a:rPr>
                    <a:latin typeface="Microsoft YaHei"/>
                    <a:ea typeface="Microsoft YaHei"/>
                    <a:cs typeface="Microsoft YaHei"/>
                  </a:rPr>
                  <a:t>存活概率 S(n)</a:t>
                </a:r>
              </a:p>
            </c:rich>
          </c:tx>
          <c:overlay val="0"/>
          <c:txPr>
            <a:bodyPr anchorCtr="1"/>
            <a:lstStyle/>
            <a:p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majorUnit val="0.2"/>
      </c:valAx>
      <c:valAx>
        <c:axId val="48650112"/>
        <c:scaling>
          <c:orientation val="minMax"/>
          <c:max val="60"/>
          <c:min val="0"/>
        </c:scaling>
        <c:delete val="0"/>
        <c:axPos val="b"/>
        <c:numFmt formatCode="0"/>
        <c:majorTickMark val="none"/>
        <c:minorTickMark val="none"/>
        <c:spPr>
          <a:ln w="9525">
            <a:solidFill>
              <a:srgbClr val="D9E2EA"/>
            </a:solidFill>
          </a:ln>
        </c:spPr>
        <c:txPr>
          <a:bodyPr anchorCtr="1"/>
          <a:lstStyle/>
          <a:p>
            <a:pPr>
              <a:defRPr sz="105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majorUnit val="10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1125">
              <a:solidFill>
                <a:srgbClr val="687787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>
      <a:srgbClr val="FFFFFF"/>
    </a:solidFill>
  </c:spPr>
  <c:externalData r:id="rIdChartSnapshot1">
    <c:autoUpdate val="0"/>
  </c:externalData>
</c:chartSpace>
</file>

<file path=ppt/slides/charts/chart5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短转移 无 DD</c:v>
          </c:tx>
          <c:spPr>
            <a:ln w="19050">
              <a:solidFill>
                <a:srgbClr val="687787"/>
              </a:solidFill>
            </a:ln>
          </c:spPr>
          <c:marker>
            <c:symbol val="none"/>
          </c:marker>
          <c:cat>
            <c:numRef>
              <c:f>'Chart Data'!$A$2:$A$62</c:f>
              <c:numCache>
                <c:formatCode>General</c:formatCode>
                <c:ptCount val="6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</c:numCache>
            </c:numRef>
          </c:cat>
          <c:val>
            <c:numRef>
              <c:f>'Chart Data'!$B$2:$B$62</c:f>
              <c:numCache>
                <c:formatCode>0.0</c:formatCode>
                <c:ptCount val="61"/>
                <c:pt idx="0">
                  <c:v>1</c:v>
                </c:pt>
                <c:pt idx="1">
                  <c:v>0.994837049165</c:v>
                </c:pt>
                <c:pt idx="2">
                  <c:v>0.981278997763</c:v>
                </c:pt>
                <c:pt idx="3">
                  <c:v>0.956525415636</c:v>
                </c:pt>
                <c:pt idx="4">
                  <c:v>0.925751900737</c:v>
                </c:pt>
                <c:pt idx="5">
                  <c:v>0.882986625631</c:v>
                </c:pt>
                <c:pt idx="6">
                  <c:v>0.838844127125</c:v>
                </c:pt>
                <c:pt idx="7">
                  <c:v>0.783819418269</c:v>
                </c:pt>
                <c:pt idx="8">
                  <c:v>0.730533305906</c:v>
                </c:pt>
                <c:pt idx="9">
                  <c:v>0.669431476963</c:v>
                </c:pt>
                <c:pt idx="10">
                  <c:v>0.615042743621</c:v>
                </c:pt>
                <c:pt idx="11">
                  <c:v>0.556113959908</c:v>
                </c:pt>
                <c:pt idx="12">
                  <c:v>0.504055430073</c:v>
                </c:pt>
                <c:pt idx="13">
                  <c:v>0.450760149196</c:v>
                </c:pt>
                <c:pt idx="14">
                  <c:v>0.399497691128</c:v>
                </c:pt>
                <c:pt idx="15">
                  <c:v>0.345465005389</c:v>
                </c:pt>
                <c:pt idx="16">
                  <c:v>0.297605801443</c:v>
                </c:pt>
                <c:pt idx="17">
                  <c:v>0.247742624161</c:v>
                </c:pt>
                <c:pt idx="18">
                  <c:v>0.208318271829</c:v>
                </c:pt>
                <c:pt idx="19">
                  <c:v>0.170202839495</c:v>
                </c:pt>
                <c:pt idx="20">
                  <c:v>0.137092727807</c:v>
                </c:pt>
                <c:pt idx="21">
                  <c:v>0.10170913559</c:v>
                </c:pt>
                <c:pt idx="22">
                  <c:v>0.0747063234282</c:v>
                </c:pt>
                <c:pt idx="23">
                  <c:v>0.0513157689022</c:v>
                </c:pt>
                <c:pt idx="24">
                  <c:v>0.0366219975526</c:v>
                </c:pt>
                <c:pt idx="25">
                  <c:v>0.0245231294869</c:v>
                </c:pt>
                <c:pt idx="26">
                  <c:v>0.0160365821143</c:v>
                </c:pt>
                <c:pt idx="27">
                  <c:v>0.0151518388748</c:v>
                </c:pt>
                <c:pt idx="28">
                  <c:v>0.0162813247771</c:v>
                </c:pt>
                <c:pt idx="29">
                  <c:v>0.0205150783437</c:v>
                </c:pt>
                <c:pt idx="30">
                  <c:v>0.0263406741873</c:v>
                </c:pt>
                <c:pt idx="31">
                  <c:v>0.0249806680145</c:v>
                </c:pt>
                <c:pt idx="32">
                  <c:v>0.0217797792004</c:v>
                </c:pt>
                <c:pt idx="33">
                  <c:v>0.0158816064109</c:v>
                </c:pt>
                <c:pt idx="34">
                  <c:v>0.0120909540738</c:v>
                </c:pt>
                <c:pt idx="35">
                  <c:v>0.0122688215227</c:v>
                </c:pt>
                <c:pt idx="36">
                  <c:v>0.0154466302338</c:v>
                </c:pt>
                <c:pt idx="37">
                  <c:v>0.0206703459594</c:v>
                </c:pt>
                <c:pt idx="38">
                  <c:v>0.0242593774483</c:v>
                </c:pt>
                <c:pt idx="39">
                  <c:v>0.022796727519</c:v>
                </c:pt>
                <c:pt idx="40">
                  <c:v>0.0153327949412</c:v>
                </c:pt>
                <c:pt idx="41">
                  <c:v>0.00423534257801</c:v>
                </c:pt>
                <c:pt idx="42">
                  <c:v>0.00202293849753</c:v>
                </c:pt>
                <c:pt idx="43">
                  <c:v>0.0101025339823</c:v>
                </c:pt>
                <c:pt idx="44">
                  <c:v>0.0220299368876</c:v>
                </c:pt>
                <c:pt idx="45">
                  <c:v>0.0294259926592</c:v>
                </c:pt>
                <c:pt idx="46">
                  <c:v>0.0348433580916</c:v>
                </c:pt>
                <c:pt idx="47">
                  <c:v>0.039296247972</c:v>
                </c:pt>
                <c:pt idx="48">
                  <c:v>0.0404899502801</c:v>
                </c:pt>
                <c:pt idx="49">
                  <c:v>0.0421741600166</c:v>
                </c:pt>
                <c:pt idx="50">
                  <c:v>0.0410747074585</c:v>
                </c:pt>
                <c:pt idx="51">
                  <c:v>0.0340494301617</c:v>
                </c:pt>
                <c:pt idx="52">
                  <c:v>0.0229754904078</c:v>
                </c:pt>
                <c:pt idx="53">
                  <c:v>0.01346885861</c:v>
                </c:pt>
                <c:pt idx="54">
                  <c:v>0.0164062579792</c:v>
                </c:pt>
                <c:pt idx="55">
                  <c:v>0.0226351459216</c:v>
                </c:pt>
                <c:pt idx="56">
                  <c:v>0.017336412443</c:v>
                </c:pt>
                <c:pt idx="57">
                  <c:v>0.0195022941405</c:v>
                </c:pt>
                <c:pt idx="58">
                  <c:v>0.0308222102084</c:v>
                </c:pt>
                <c:pt idx="59">
                  <c:v>0.0474281839177</c:v>
                </c:pt>
                <c:pt idx="60">
                  <c:v>0.0596384262441</c:v>
                </c:pt>
              </c:numCache>
            </c:numRef>
          </c:val>
          <c:smooth val="0"/>
        </c:ser>
        <c:ser>
          <c:idx val="1"/>
          <c:order val="1"/>
          <c:tx>
            <c:v>短转移 XY4</c:v>
          </c:tx>
          <c:spPr>
            <a:ln w="28575">
              <a:solidFill>
                <a:srgbClr val="1467B3"/>
              </a:solidFill>
            </a:ln>
          </c:spPr>
          <c:marker>
            <c:symbol val="none"/>
          </c:marker>
          <c:cat>
            <c:numRef>
              <c:f>'Chart Data'!$C$2:$C$62</c:f>
              <c:numCache>
                <c:formatCode>General</c:formatCode>
                <c:ptCount val="6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</c:numCache>
            </c:numRef>
          </c:cat>
          <c:val>
            <c:numRef>
              <c:f>'Chart Data'!$D$2:$D$62</c:f>
              <c:numCache>
                <c:formatCode>0.0</c:formatCode>
                <c:ptCount val="61"/>
                <c:pt idx="0">
                  <c:v>1</c:v>
                </c:pt>
                <c:pt idx="1">
                  <c:v>0.995278756476</c:v>
                </c:pt>
                <c:pt idx="2">
                  <c:v>0.999265613917</c:v>
                </c:pt>
                <c:pt idx="3">
                  <c:v>0.994781474039</c:v>
                </c:pt>
                <c:pt idx="4">
                  <c:v>0.997252058155</c:v>
                </c:pt>
                <c:pt idx="5">
                  <c:v>0.995516177785</c:v>
                </c:pt>
                <c:pt idx="6">
                  <c:v>0.993204920302</c:v>
                </c:pt>
                <c:pt idx="7">
                  <c:v>0.991724596753</c:v>
                </c:pt>
                <c:pt idx="8">
                  <c:v>0.987548815197</c:v>
                </c:pt>
                <c:pt idx="9">
                  <c:v>0.985858910655</c:v>
                </c:pt>
                <c:pt idx="10">
                  <c:v>0.981769313385</c:v>
                </c:pt>
                <c:pt idx="11">
                  <c:v>0.98040753949</c:v>
                </c:pt>
                <c:pt idx="12">
                  <c:v>0.975462458037</c:v>
                </c:pt>
                <c:pt idx="13">
                  <c:v>0.97132742603</c:v>
                </c:pt>
                <c:pt idx="14">
                  <c:v>0.967175907293</c:v>
                </c:pt>
                <c:pt idx="15">
                  <c:v>0.959073989959</c:v>
                </c:pt>
                <c:pt idx="16">
                  <c:v>0.957351465304</c:v>
                </c:pt>
                <c:pt idx="17">
                  <c:v>0.949654443342</c:v>
                </c:pt>
                <c:pt idx="18">
                  <c:v>0.946183049589</c:v>
                </c:pt>
                <c:pt idx="19">
                  <c:v>0.941582304146</c:v>
                </c:pt>
                <c:pt idx="20">
                  <c:v>0.933483135281</c:v>
                </c:pt>
                <c:pt idx="21">
                  <c:v>0.930390572951</c:v>
                </c:pt>
                <c:pt idx="22">
                  <c:v>0.921278133341</c:v>
                </c:pt>
                <c:pt idx="23">
                  <c:v>0.916610129252</c:v>
                </c:pt>
                <c:pt idx="24">
                  <c:v>0.907339955348</c:v>
                </c:pt>
                <c:pt idx="25">
                  <c:v>0.902616895135</c:v>
                </c:pt>
                <c:pt idx="26">
                  <c:v>0.892758750417</c:v>
                </c:pt>
                <c:pt idx="27">
                  <c:v>0.886485274166</c:v>
                </c:pt>
                <c:pt idx="28">
                  <c:v>0.877130496047</c:v>
                </c:pt>
                <c:pt idx="29">
                  <c:v>0.867226061778</c:v>
                </c:pt>
                <c:pt idx="30">
                  <c:v>0.859222744013</c:v>
                </c:pt>
                <c:pt idx="31">
                  <c:v>0.850301502833</c:v>
                </c:pt>
                <c:pt idx="32">
                  <c:v>0.841191930269</c:v>
                </c:pt>
                <c:pt idx="33">
                  <c:v>0.834431968153</c:v>
                </c:pt>
                <c:pt idx="34">
                  <c:v>0.821989114372</c:v>
                </c:pt>
                <c:pt idx="35">
                  <c:v>0.814933447791</c:v>
                </c:pt>
                <c:pt idx="36">
                  <c:v>0.802713820148</c:v>
                </c:pt>
                <c:pt idx="37">
                  <c:v>0.796550575756</c:v>
                </c:pt>
                <c:pt idx="38">
                  <c:v>0.780980506516</c:v>
                </c:pt>
                <c:pt idx="39">
                  <c:v>0.774242307781</c:v>
                </c:pt>
                <c:pt idx="40">
                  <c:v>0.760224584392</c:v>
                </c:pt>
                <c:pt idx="41">
                  <c:v>0.753576196836</c:v>
                </c:pt>
                <c:pt idx="42">
                  <c:v>0.74049572887</c:v>
                </c:pt>
                <c:pt idx="43">
                  <c:v>0.728735003736</c:v>
                </c:pt>
                <c:pt idx="44">
                  <c:v>0.719926647885</c:v>
                </c:pt>
                <c:pt idx="45">
                  <c:v>0.707347377836</c:v>
                </c:pt>
                <c:pt idx="46">
                  <c:v>0.699514421856</c:v>
                </c:pt>
                <c:pt idx="47">
                  <c:v>0.691591607213</c:v>
                </c:pt>
                <c:pt idx="48">
                  <c:v>0.676904212139</c:v>
                </c:pt>
                <c:pt idx="49">
                  <c:v>0.668287845734</c:v>
                </c:pt>
                <c:pt idx="50">
                  <c:v>0.653522476335</c:v>
                </c:pt>
                <c:pt idx="51">
                  <c:v>0.645724718979</c:v>
                </c:pt>
                <c:pt idx="52">
                  <c:v>0.6305520717</c:v>
                </c:pt>
                <c:pt idx="53">
                  <c:v>0.622926749028</c:v>
                </c:pt>
                <c:pt idx="54">
                  <c:v>0.605397561209</c:v>
                </c:pt>
                <c:pt idx="55">
                  <c:v>0.596004412308</c:v>
                </c:pt>
                <c:pt idx="56">
                  <c:v>0.588782537469</c:v>
                </c:pt>
                <c:pt idx="57">
                  <c:v>0.578253294497</c:v>
                </c:pt>
                <c:pt idx="58">
                  <c:v>0.567202756941</c:v>
                </c:pt>
                <c:pt idx="59">
                  <c:v>0.555667774091</c:v>
                </c:pt>
                <c:pt idx="60">
                  <c:v>0.54594031227</c:v>
                </c:pt>
              </c:numCache>
            </c:numRef>
          </c:val>
          <c:smooth val="0"/>
        </c:ser>
        <c:dLbls>
          <c:txPr>
            <a:bodyPr anchorCtr="1"/>
            <a:lstStyle/>
            <a:p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w="9525">
            <a:solidFill>
              <a:srgbClr val="D9E2EA"/>
            </a:solidFill>
          </a:ln>
        </c:spPr>
        <c:txPr>
          <a:bodyPr anchorCtr="1"/>
          <a:lstStyle/>
          <a:p>
            <a:pPr>
              <a:defRPr sz="975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w="9525">
              <a:solidFill>
                <a:srgbClr val="D9E2EA"/>
              </a:solidFill>
            </a:ln>
          </c:spPr>
        </c:majorGridlines>
        <c:title>
          <c:tx>
            <c:rich>
              <a:bodyPr/>
              <a:lstStyle/>
              <a:p>
                <a:r>
                  <a:rPr>
                    <a:latin typeface="Microsoft YaHei"/>
                    <a:ea typeface="Microsoft YaHei"/>
                    <a:cs typeface="Microsoft YaHei"/>
                  </a:rPr>
                  <a:t>条件相干对比度 C(n)</a:t>
                </a:r>
              </a:p>
            </c:rich>
          </c:tx>
          <c:overlay val="0"/>
          <c:txPr>
            <a:bodyPr anchorCtr="1"/>
            <a:lstStyle/>
            <a:p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1200">
              <a:solidFill>
                <a:srgbClr val="687787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B7BFBA-D204-4C98-AA17-AB733DDD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Level 5 Monte Carlo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CEA903-8498-4AB0-9CB8-2E0746F5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论文对照、差距原因与完整流程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424698-E3FF-4686-8535-8B404DAC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Level 5 论文对照与全流程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214677-E20B-4873-943D-9154375A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7BFB9A-948C-428C-B1AC-C43ED656C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43150"/>
            <a:ext cx="1104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与论文匹配到哪里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3DC448-D6C7-42B4-92C0-1DFE78D7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953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从原子热运动到内部态演化，再到实验可比观测量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7F4351-51E7-49FD-9BDE-ED89E9EDD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依据 2026-09-14 连续结果，2026-09-15 修正论文参考并重新对照</a:t>
            </a:r>
          </a:p>
          <a:p xmlns:a="http://schemas.openxmlformats.org/drawingml/2006/main">
            <a:pPr>
              <a:defRPr sz="1650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论文：A tweezer array with 6100 highly coherent atomic qubits（v4）</a:t>
            </a:r>
          </a:p>
        </p:txBody>
      </p:sp>
    </p:spTree>
    <p:extLst>
      <p:ext uri="{BB962C8B-B14F-4D97-AF65-F5344CB8AC3E}">
        <p14:creationId xmlns:p14="http://schemas.microsoft.com/office/powerpoint/2010/main" val="9204041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CCD1BF-1B98-406D-8CD6-21BBDED27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与论文的重合程度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57B5F5-2CEB-404C-B016-C7A11C2D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按实验过程、协议条件和观测量分别判断，当前没有可定义的“总体复现百分比”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A50C92-1E6F-40A3-950E-717AE4F5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Level 5 论文对照与全流程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EFC883-2C52-4422-BB5F-AFB43FE6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71500" y="1657350"/>
          <a:ext xmlns:a="http://schemas.openxmlformats.org/drawingml/2006/main" cx="11049000" cy="3667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2054"/>
                <a:gridCol w="4203424"/>
                <a:gridCol w="4323522"/>
              </a:tblGrid>
              <a:tr h="7334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论文内容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过程覆盖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定量匹配状态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</a:tr>
              <a:tr h="7334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Fig. 6 短转移存活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较高：拾取、2.4 μm 分离、等待、放回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可直接检验的四条曲线均未通过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Fig. 4 单比特控制与相干性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部分：两能级、有限脉冲、已有 RB 框架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T₂*、T₂、Clifford 保真度未同条件验收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</a:tr>
              <a:tr h="7334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Fig. 5 AOD 长运输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部分：三维运动、透镜效应、DD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最新连续结果未复现 610 μm IRB 协议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Ext. Data Fig. 10 组合操作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部分：拾取、长距离去回、放回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375 μm 重合，完整时序与背景阱不同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70BBDB-AFC3-4678-966C-A440F415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292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B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BB3E35"/>
                </a:solidFill>
                <a:latin typeface="Microsoft YaHei"/>
                <a:ea typeface="Microsoft YaHei"/>
                <a:cs typeface="Microsoft YaHei"/>
              </a:rPr>
              <a:t>当前证据支持“部分物理过程已覆盖”，尚不支持“Level 5 已定量复现论文”。</a:t>
            </a:r>
          </a:p>
        </p:txBody>
      </p:sp>
    </p:spTree>
    <p:extLst>
      <p:ext uri="{BB962C8B-B14F-4D97-AF65-F5344CB8AC3E}">
        <p14:creationId xmlns:p14="http://schemas.microsoft.com/office/powerpoint/2010/main" val="9670515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FCF795-4E59-466E-99F7-A3F33421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Fig. 6：短转移过程的主要重合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8D564E-D059-4D5C-AB62-0FE586665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论文将一次 pick-up &amp; split 或一次 merge &amp; drop-off 计为一次单向转移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9A2A71-6277-43B4-9819-924DB291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Level 5 论文对照与全流程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91A24E-3887-4AA4-8265-B8D60A02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92661ede084e35"/>
          <a:stretch xmlns:a="http://schemas.openxmlformats.org/drawingml/2006/main"/>
        </p:blipFill>
        <p:spPr>
          <a:xfrm xmlns:a="http://schemas.openxmlformats.org/drawingml/2006/main">
            <a:off x="780683" y="1733550"/>
            <a:ext cx="5010885" cy="33909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2C92E2-078B-4847-8076-AF735563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14500"/>
            <a:ext cx="495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67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67B3"/>
                </a:solidFill>
                <a:latin typeface="Microsoft YaHei"/>
                <a:ea typeface="Microsoft YaHei"/>
                <a:cs typeface="Microsoft YaHei"/>
              </a:rPr>
              <a:t>主要条件已沿用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211A4B-CA4B-4B78-A044-5C7E1B9F4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76475"/>
            <a:ext cx="5095875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SLM 140 μK，AOD 280 μK</a:t>
            </a:r>
          </a:p>
          <a:p xmlns:a="http://schemas.openxmlformats.org/drawingml/2006/main">
            <a:pPr>
              <a:defRPr sz="195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分离 2.4 μm，等待 100 μs</a:t>
            </a:r>
          </a:p>
          <a:p xmlns:a="http://schemas.openxmlformats.org/drawingml/2006/main">
            <a:pPr>
              <a:defRPr sz="195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等待期间关闭 SLM</a:t>
            </a:r>
          </a:p>
          <a:p xmlns:a="http://schemas.openxmlformats.org/drawingml/2006/main">
            <a:pPr>
              <a:defRPr sz="195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手工 200 / 400 / 600 μs</a:t>
            </a:r>
          </a:p>
          <a:p xmlns:a="http://schemas.openxmlformats.org/drawingml/2006/main">
            <a:pPr>
              <a:defRPr sz="195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回放论文 ML 400 μs 波形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2F7946-D43C-4955-ADEA-1985B3A0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9339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B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BB3E35"/>
                </a:solidFill>
                <a:latin typeface="Microsoft YaHei"/>
                <a:ea typeface="Microsoft YaHei"/>
                <a:cs typeface="Microsoft YaHei"/>
              </a:rPr>
              <a:t>仍有差异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B1C824-2AAA-468A-BB18-73B1BF42B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419725"/>
            <a:ext cx="50958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实际波形响应、转移温度和 AOD 标定尚未确定。ML 回放也未复现论文的实验优化过程。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38AC8F-47BB-4304-999B-A0EE9C02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530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论文原图 Fig. 6a–c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1EA4FF-996F-4938-B910-ADDD46275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81675"/>
            <a:ext cx="542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早期单次转移保真度 99.81(3)%</a:t>
            </a:r>
          </a:p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对应约前 12 次单向转移</a:t>
            </a:r>
          </a:p>
        </p:txBody>
      </p:sp>
    </p:spTree>
    <p:extLst>
      <p:ext uri="{BB962C8B-B14F-4D97-AF65-F5344CB8AC3E}">
        <p14:creationId xmlns:p14="http://schemas.microsoft.com/office/powerpoint/2010/main" val="15335584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1D6B27-DC0F-4F02-B360-8AF65F35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移动距离与“60 次”的计数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89E837-1041-4E7B-9AF1-A5BA86D7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当前配置的 n=60 是 60 次单向短转移，即 30 轮拾取与放回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C0AF65-79E0-406D-A976-559F89777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Level 5 论文对照与全流程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EB8259-1CE1-499E-8B97-7CF758F8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71500" y="1657350"/>
          <a:ext xmlns:a="http://schemas.openxmlformats.org/drawingml/2006/main" cx="110490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4488656"/>
                <a:gridCol w="3798094"/>
              </a:tblGrid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一次 / 一轮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 n=60 累计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 Fig. 5 AOD-only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对角单向 610 μm，1.6 ms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与短转移 n 的操作定义不同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 Fig. 6 短转移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单向 2.4 μm，往返 4.8 μm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名义路程 144 μm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当前短转移对照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400 + 100 + 400 μs / 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 轮，27 ms，144 μm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当前组合运输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每轮另加 375 μm 去程与回程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 轮，115.62 ms，22.644 mm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74E853-947A-4035-92EA-CE5F2E514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006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67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67B3"/>
                </a:solidFill>
                <a:latin typeface="Microsoft YaHei"/>
                <a:ea typeface="Microsoft YaHei"/>
                <a:cs typeface="Microsoft YaHei"/>
              </a:rPr>
              <a:t>组合运输包含长距离去程与回程。若确指 60 轮往返，路程为 45.288 mm。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717350-EFE7-4807-8DC3-7BBBB8C5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48375"/>
            <a:ext cx="1104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路程按手工波形名义位移计算。ML 回放存在细小折返。当前组合时序并非论文组合协议的逐项复现。</a:t>
            </a:r>
          </a:p>
        </p:txBody>
      </p:sp>
    </p:spTree>
    <p:extLst>
      <p:ext uri="{BB962C8B-B14F-4D97-AF65-F5344CB8AC3E}">
        <p14:creationId xmlns:p14="http://schemas.microsoft.com/office/powerpoint/2010/main" val="12080635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08B38D-8E70-4BCF-89DB-8984CEE5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Fig. 6：快速手工波形仍有偏差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FCA9C9-4DC4-485A-BD60-2BCA5E59C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沿用此前冻结参数与 4096 样本结果；论文拟合线、实验散点和误差条分别读取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A48941-5AC5-4BBA-BA8C-89F325428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Level 5 论文对照与全流程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0F86F6-9394-40B2-BC99-DC096D34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469E28-C43E-4222-A794-27F5E0CB1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535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手工 200 μs，T = 5 μK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571500" y="2133600"/>
          <a:ext xmlns:a="http://schemas.openxmlformats.org/drawingml/2006/main" cx="5334000" cy="31146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7d5797742a64e79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21CDFE-0171-40B3-BFFE-3461F3BC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43525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n=31：论文拟合 0.3243，仿真 0.2610</a:t>
            </a:r>
          </a:p>
          <a:p xmlns:a="http://schemas.openxmlformats.org/drawingml/2006/main">
            <a:pPr>
              <a:defRPr sz="165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对拟合线的最大偏差 6.78 个百分点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4E5872-B201-4E83-9885-FD5165835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581150"/>
            <a:ext cx="535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手工 400 μs，T = 15 μK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267450" y="2133600"/>
          <a:ext xmlns:a="http://schemas.openxmlformats.org/drawingml/2006/main" cx="5334000" cy="31146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8d87e43175b4f4d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E6A3DD-7DB6-4E39-831B-635E15580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343525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n=60：论文拟合 0.4132，仿真 0.4949</a:t>
            </a:r>
          </a:p>
          <a:p xmlns:a="http://schemas.openxmlformats.org/drawingml/2006/main">
            <a:pPr>
              <a:defRPr sz="165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对拟合线的最大偏差 9.76 个百分点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3DCB9A-55DE-4F48-9951-491C993A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05525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B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B3E35"/>
                </a:solidFill>
                <a:latin typeface="Microsoft YaHei"/>
                <a:ea typeface="Microsoft YaHei"/>
                <a:cs typeface="Microsoft YaHei"/>
              </a:rPr>
              <a:t>横轴为单向转移数。比较区间仍为 n≥5；四条均未通过 ±2 个百分点容差，该容差与论文误差条分别处理。</a:t>
            </a:r>
          </a:p>
        </p:txBody>
      </p:sp>
    </p:spTree>
    <p:extLst>
      <p:ext uri="{BB962C8B-B14F-4D97-AF65-F5344CB8AC3E}">
        <p14:creationId xmlns:p14="http://schemas.microsoft.com/office/powerpoint/2010/main" val="5140247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3EB87D-E876-48D5-84F2-64378F91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Fig. 6：慢波形与 ML 末段存活仍偏高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E70E49-C63F-40EC-B4F9-98C3B158B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沿用此前冻结参数与 4096 样本结果；论文拟合线、实验散点和误差条分别读取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B38B18-4562-491D-A275-8851F442F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Level 5 论文对照与全流程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A08054-3F71-456A-A722-F69AF0E72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0E6BF8-5BE3-4C92-8AC9-1301E0E25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535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手工 600 μs，T = 25 μK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571500" y="2133600"/>
          <a:ext xmlns:a="http://schemas.openxmlformats.org/drawingml/2006/main" cx="5334000" cy="31146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9f53a19500649f9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ECABE1-1CE4-4327-B845-E0C95032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43525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n=60：论文拟合 0.5731，仿真 0.6284</a:t>
            </a:r>
          </a:p>
          <a:p xmlns:a="http://schemas.openxmlformats.org/drawingml/2006/main">
            <a:pPr>
              <a:defRPr sz="165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对拟合线的最大偏差 7.98 个百分点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01C742-9589-441E-8641-9D700D800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581150"/>
            <a:ext cx="535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论文 ML 400 μs，T = 25 μK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267450" y="2133600"/>
          <a:ext xmlns:a="http://schemas.openxmlformats.org/drawingml/2006/main" cx="5334000" cy="31146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953bb3ec7a142de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48D3EF-FA50-4262-A78B-705575BB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343525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n=60：论文拟合 0.6753，仿真 0.7471</a:t>
            </a:r>
          </a:p>
          <a:p xmlns:a="http://schemas.openxmlformats.org/drawingml/2006/main">
            <a:pPr>
              <a:defRPr sz="165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对拟合线的最大偏差 7.18 个百分点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E6ED6E-0B71-4B29-96EA-CCBDEE43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05525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B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B3E35"/>
                </a:solidFill>
                <a:latin typeface="Microsoft YaHei"/>
                <a:ea typeface="Microsoft YaHei"/>
                <a:cs typeface="Microsoft YaHei"/>
              </a:rPr>
              <a:t>横轴为单向转移数。比较区间仍为 n≥5；四条均未通过 ±2 个百分点容差，该容差与论文误差条分别处理。</a:t>
            </a:r>
          </a:p>
        </p:txBody>
      </p:sp>
    </p:spTree>
    <p:extLst>
      <p:ext uri="{BB962C8B-B14F-4D97-AF65-F5344CB8AC3E}">
        <p14:creationId xmlns:p14="http://schemas.microsoft.com/office/powerpoint/2010/main" val="1950616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04B7D0-F078-4472-A8FE-FBAB0173E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一组共同参数仍不能同时解释四条曲线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7BBBDE-D101-47B1-A5ED-BE7FD8830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共同扫描较优格点 T = Tref = 15 μK；下表为独立 4096 样本、精细步长复核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5A71BA-03C1-4F90-97A2-2D54FE0D0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Level 5 论文对照与全流程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D9C8BF-822D-444B-BA8E-136262BB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71500" y="1752600"/>
          <a:ext xmlns:a="http://schemas.openxmlformats.org/drawingml/2006/main" cx="110490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28198"/>
                <a:gridCol w="1821264"/>
                <a:gridCol w="1578429"/>
                <a:gridCol w="3521110"/>
              </a:tblGrid>
              <a:tr h="64198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波形 / 比较末点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论文拟合 S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仿真 S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对拟合线最大偏差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</a:tr>
              <a:tr h="64198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手工 200 μs / n=31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0.3243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0.1143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23.33 个百分点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4198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手工 400 μs / n=60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0.4132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0.4949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9.76 个百分点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</a:tr>
              <a:tr h="64198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手工 600 μs / n=60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0.5731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0.8796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30.66 个百分点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4198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 ML 400 μs / n=60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0.6753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0.9333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25.81 个百分点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B41FAA-5CFF-44BF-A84E-39D45898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863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B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BB3E35"/>
                </a:solidFill>
                <a:latin typeface="Microsoft YaHei"/>
                <a:ea typeface="Microsoft YaHei"/>
                <a:cs typeface="Microsoft YaHei"/>
              </a:rPr>
              <a:t>200 μs 损失过强，600 μs 与 ML 损失不足，调同一个温度无法兼顾。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9AC041-EA0E-40F0-9DDE-ACA8A509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Tref 随 T 改变，所以扫描同时改变初始热分布和平均加热强度。该最优格点不能解释为测得的转移温度。</a:t>
            </a:r>
          </a:p>
        </p:txBody>
      </p:sp>
    </p:spTree>
    <p:extLst>
      <p:ext uri="{BB962C8B-B14F-4D97-AF65-F5344CB8AC3E}">
        <p14:creationId xmlns:p14="http://schemas.microsoft.com/office/powerpoint/2010/main" val="13648587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7F8715-5F2E-4C39-B699-E809BEBB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增加三维运动与透镜效应后的变化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60A1AB-1548-40ED-8B03-9027FC60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同为 T = 5 μK 的诊断对照；512 样本，最大步长 0.05 μs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48A139-F3EC-4A83-B4EE-E1F89C216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Level 5 论文对照与全流程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9CC12B-B934-4A59-919B-09D0C3370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71500" y="1704975"/>
          <a:ext xmlns:a="http://schemas.openxmlformats.org/drawingml/2006/main" cx="11049000" cy="3057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37370"/>
                <a:gridCol w="1773296"/>
                <a:gridCol w="1773296"/>
                <a:gridCol w="2182519"/>
                <a:gridCol w="2182519"/>
              </a:tblGrid>
              <a:tr h="61150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波形末点 S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论文拟合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 1D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3D 无透镜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3D 含透镜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</a:tr>
              <a:tr h="61150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手工 200 μs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0.3243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0.4902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0.4668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0.2695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手工 400 μs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0.4132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0.9258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0.9531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0.8867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</a:tr>
              <a:tr h="61150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手工 600 μs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0.5731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0.9883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0.9980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0.9980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 ML 400 μs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0.6753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1.0000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1.0000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1.0000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2BC932-01E0-4128-ACDE-2DBE439F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14925"/>
            <a:ext cx="11049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67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67B3"/>
                </a:solidFill>
                <a:latin typeface="Microsoft YaHei"/>
                <a:ea typeface="Microsoft YaHei"/>
                <a:cs typeface="Microsoft YaHei"/>
              </a:rPr>
              <a:t>模型中的透镜效应主要压低最快的 200 μs 曲线，慢波形仍缺少衰减。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A4513B-BD9B-4960-8C51-BFD84D97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B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BB3E35"/>
                </a:solidFill>
                <a:latin typeface="Microsoft YaHei"/>
                <a:ea typeface="Microsoft YaHei"/>
                <a:cs typeface="Microsoft YaHei"/>
              </a:rPr>
              <a:t>论文称其短转移速度下柱面透镜不构成明显限制。当前透镜参数仅是未标定场景，不能据此认定实验短转移损失来自透镜效应。</a:t>
            </a:r>
          </a:p>
        </p:txBody>
      </p:sp>
    </p:spTree>
    <p:extLst>
      <p:ext uri="{BB962C8B-B14F-4D97-AF65-F5344CB8AC3E}">
        <p14:creationId xmlns:p14="http://schemas.microsoft.com/office/powerpoint/2010/main" val="19164798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C31EEA-BCCB-49BA-8F41-1E69B043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Fig. 4：相干性和单比特门尚未完成同条件复现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851F3A-FEA4-4A80-B682-25A103BD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数值常数进入模型，并不等于对应的实验衰减曲线已得到验证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9F4B52-9647-40D2-BF8D-2F2C409F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Level 5 论文对照与全流程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BA9B00-0BED-4471-99E9-38F8C902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71500" y="1676400"/>
          <a:ext xmlns:a="http://schemas.openxmlformats.org/drawingml/2006/main" cx="11049000" cy="34194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43727"/>
                <a:gridCol w="4129424"/>
                <a:gridCol w="4575848"/>
              </a:tblGrid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论文观测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论文结果 / 条件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当前证据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Rabi 振荡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Ω/2π = 24.611(1) kHz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已采用频率，未验收空间平均衰减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Ramsey 相干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系综 T₂* = 14.0(1) ms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只作参考锚点，未按同协议拟合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XY16 相干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T₂ = 12.6(1) s，π 间隔 12.5 ms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存在 DD 模型，未验证这条长时曲线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随机 Clifford 门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平均保真度 99.9834(2)%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已有独立 RB 框架，暂无同条件有效结果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E81172-9DE1-42F3-A556-41233C30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1972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67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467B3"/>
                </a:solidFill>
                <a:latin typeface="Microsoft YaHei"/>
                <a:ea typeface="Microsoft YaHei"/>
                <a:cs typeface="Microsoft YaHei"/>
              </a:rPr>
              <a:t>主要缺口是实际噪声、空间分布与测量协议的约束。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06C0F8-77F4-496A-85CE-3D9510AB9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19800"/>
            <a:ext cx="11049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论文微波阶段约 4.3 μK 的温度，不能直接代替拾取/运输时的温度。</a:t>
            </a:r>
          </a:p>
        </p:txBody>
      </p:sp>
    </p:spTree>
    <p:extLst>
      <p:ext uri="{BB962C8B-B14F-4D97-AF65-F5344CB8AC3E}">
        <p14:creationId xmlns:p14="http://schemas.microsoft.com/office/powerpoint/2010/main" val="20442390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1C6F1B-B46F-4EBC-91FB-5276972EC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Fig. 5：610 μm 长距离相干运输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231C42-88DB-445A-ABD6-6A9A9A814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论文分别测量存活、IRB 返回概率，再提取早期单次瞬时保真度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3DEEDB-EFCA-401F-8789-5B6D1E5D0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Level 5 论文对照与全流程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4B134A-279B-44AE-9AC6-D7895CC74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27c6d1d6c64b69"/>
          <a:stretch xmlns:a="http://schemas.openxmlformats.org/drawingml/2006/main"/>
        </p:blipFill>
        <p:spPr>
          <a:xfrm xmlns:a="http://schemas.openxmlformats.org/drawingml/2006/main">
            <a:off x="571500" y="1847861"/>
            <a:ext cx="5391150" cy="3686154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F763AD-E5BD-4996-9201-8418F5BF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76400"/>
            <a:ext cx="5000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67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67B3"/>
                </a:solidFill>
                <a:latin typeface="Microsoft YaHei"/>
                <a:ea typeface="Microsoft YaHei"/>
                <a:cs typeface="Microsoft YaHei"/>
              </a:rPr>
              <a:t>论文的比较目标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CD6C9C-21BF-47AA-B833-3514F986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09800"/>
            <a:ext cx="5124450" cy="2181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10 个 AOD 阱，深度 280 μK</a:t>
            </a:r>
          </a:p>
          <a:p xmlns:a="http://schemas.openxmlformats.org/drawingml/2006/main">
            <a:pPr>
              <a:defRPr sz="187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610 μm 对角移动，1.6 ms</a:t>
            </a:r>
          </a:p>
          <a:p xmlns:a="http://schemas.openxmlformats.org/drawingml/2006/main">
            <a:pPr>
              <a:defRPr sz="187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每次移动配合 XY4</a:t>
            </a:r>
          </a:p>
          <a:p xmlns:a="http://schemas.openxmlformats.org/drawingml/2006/main">
            <a:pPr>
              <a:defRPr sz="187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固定 80 个 Clifford，改变移动数</a:t>
            </a:r>
          </a:p>
          <a:p xmlns:a="http://schemas.openxmlformats.org/drawingml/2006/main">
            <a:pPr>
              <a:defRPr sz="187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早期单次保真度 99.953(2)%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977459-FFDC-459F-80E7-DA1A805F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52950"/>
            <a:ext cx="512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B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B3E35"/>
                </a:solidFill>
                <a:latin typeface="Microsoft YaHei"/>
                <a:ea typeface="Microsoft YaHei"/>
                <a:cs typeface="Microsoft YaHei"/>
              </a:rPr>
              <a:t>当前重合与差异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1400C6-7A0A-4668-B4AD-FCE2AE612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95875"/>
            <a:ext cx="51244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已覆盖运动、透镜与有限脉冲。最新连续结果采用 375 μm 组合段，尚无相同 Clifford 与测量协议的 610 μm 结果。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AB5E9A-4347-43CF-A0B3-E59A534A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43575"/>
            <a:ext cx="539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论文原图 Fig. 5</a:t>
            </a:r>
          </a:p>
        </p:txBody>
      </p:sp>
    </p:spTree>
    <p:extLst>
      <p:ext uri="{BB962C8B-B14F-4D97-AF65-F5344CB8AC3E}">
        <p14:creationId xmlns:p14="http://schemas.microsoft.com/office/powerpoint/2010/main" val="12733169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839272-AEFE-4A4F-BF98-D63C4638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组合运输：375 μm 重合，完整协议仍不同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9807B6-E27F-4F09-8213-655DB7732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论文 Extended Data Fig. 10e–f 的一次单向操作含门、拾取/分离和长距离移动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F74F0A-A99C-4490-979D-ADFEF447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Level 5 论文对照与全流程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2E9F05-0023-4B98-AA4E-02A3E4342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9ad53f1c1f45bb"/>
          <a:stretch xmlns:a="http://schemas.openxmlformats.org/drawingml/2006/main"/>
        </p:blipFill>
        <p:spPr>
          <a:xfrm xmlns:a="http://schemas.openxmlformats.org/drawingml/2006/main">
            <a:off x="571500" y="1629054"/>
            <a:ext cx="5391150" cy="3342717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A2C945-6DAB-4722-A118-910D08C1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19250"/>
            <a:ext cx="51911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67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67B3"/>
                </a:solidFill>
                <a:latin typeface="Microsoft YaHei"/>
                <a:ea typeface="Microsoft YaHei"/>
                <a:cs typeface="Microsoft YaHei"/>
              </a:rPr>
              <a:t>论文：每轮约 5.508 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57B979-0C6A-4EEF-8317-2C8C333BF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14550"/>
            <a:ext cx="51816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拾取 850 μs + 分离 400 μs</a:t>
            </a:r>
          </a:p>
          <a:p xmlns:a="http://schemas.openxmlformats.org/drawingml/2006/main">
            <a:pPr>
              <a:defRPr sz="18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长移动 1.45 ms，去回各一次</a:t>
            </a:r>
          </a:p>
          <a:p xmlns:a="http://schemas.openxmlformats.org/drawingml/2006/main">
            <a:pPr>
              <a:defRPr sz="18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两端各有 54 μs 单比特门</a:t>
            </a:r>
          </a:p>
          <a:p xmlns:a="http://schemas.openxmlformats.org/drawingml/2006/main">
            <a:pPr>
              <a:defRPr sz="18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SLM 180 降至 60 μK</a:t>
            </a:r>
          </a:p>
          <a:p xmlns:a="http://schemas.openxmlformats.org/drawingml/2006/main">
            <a:pPr>
              <a:defRPr sz="18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47 个 AOD，保留静态阵列通道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31A75E-D5AB-4531-A516-47C8028E2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86275"/>
            <a:ext cx="5181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B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B3E35"/>
                </a:solidFill>
                <a:latin typeface="Microsoft YaHei"/>
                <a:ea typeface="Microsoft YaHei"/>
                <a:cs typeface="Microsoft YaHei"/>
              </a:rPr>
              <a:t>当前：每轮 3.854 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4C33AE-18FC-4785-8E76-084CDD75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00625"/>
            <a:ext cx="5181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短转移每程合计 400 μs</a:t>
            </a:r>
          </a:p>
          <a:p xmlns:a="http://schemas.openxmlformats.org/drawingml/2006/main">
            <a:pPr>
              <a:defRPr sz="17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含 100 μs 等待和远端 54 μs 保持</a:t>
            </a:r>
          </a:p>
          <a:p xmlns:a="http://schemas.openxmlformats.org/drawingml/2006/main">
            <a:pPr>
              <a:defRPr sz="17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长移动期间 SLM 关闭，无静态阵列通道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117F27-423D-441B-B971-1143E2CB9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91150"/>
            <a:ext cx="5410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论文早期单次组合保真度 99.87(1)%</a:t>
            </a:r>
          </a:p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当前结果尚不能与该数值直接相减。</a:t>
            </a:r>
          </a:p>
        </p:txBody>
      </p:sp>
    </p:spTree>
    <p:extLst>
      <p:ext uri="{BB962C8B-B14F-4D97-AF65-F5344CB8AC3E}">
        <p14:creationId xmlns:p14="http://schemas.microsoft.com/office/powerpoint/2010/main" val="133814706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3EDFCF-E112-4130-97C9-58B35C576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当前 Level 5 内部态结果的含义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693F7F-313E-4A57-AD8F-9A8535042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手工 400 μs、T = 5 μK；相干对比度按存活原子统计，相对于理想脉冲演化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26C181-3D38-4472-8AAB-8E48FD6D9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Level 5 论文对照与全流程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AA292C-ED58-4E05-AEA5-E82692D92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571500" y="1724025"/>
          <a:ext xmlns:a="http://schemas.openxmlformats.org/drawingml/2006/main" cx="6838950" cy="36861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d7f30ab84784e5a"/>
          </a:graphicData>
        </a:graphic>
      </p:graphicFrame>
      <p:graphicFrame>
        <p:nvGraphicFramePr>
          <p:cNvPr id="14" name=""/>
          <p:cNvGraphicFramePr/>
          <p:nvPr/>
        </p:nvGraphicFramePr>
        <p:xfrm>
          <a:off xmlns:a="http://schemas.openxmlformats.org/drawingml/2006/main" x="7753350" y="1943100"/>
          <a:ext xmlns:a="http://schemas.openxmlformats.org/drawingml/2006/main" cx="386715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85681"/>
                <a:gridCol w="1090735"/>
                <a:gridCol w="1090735"/>
              </a:tblGrid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n=60 / 30 轮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短转移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组合运输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存活 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0.8867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0.6992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 DD 的 C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0.0596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0.0530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 DD 的 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0.5459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0.0469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5A983D-FDD0-44B6-AF58-2B4C4FB2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911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67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67B3"/>
                </a:solidFill>
                <a:latin typeface="Microsoft YaHei"/>
                <a:ea typeface="Microsoft YaHei"/>
                <a:cs typeface="Microsoft YaHei"/>
              </a:rPr>
              <a:t>本参数场景中，DD 提升短转移的累计相干对比度，对组合运输的改善不明显。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6E166B-3899-4389-BDAF-787DB138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055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B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B3E35"/>
                </a:solidFill>
                <a:latin typeface="Microsoft YaHei"/>
                <a:ea typeface="Microsoft YaHei"/>
                <a:cs typeface="Microsoft YaHei"/>
              </a:rPr>
              <a:t>这些是连续模型的累计条件量，尚未转换成论文的 IRB 返回曲线或单次瞬时保真度。</a:t>
            </a:r>
          </a:p>
        </p:txBody>
      </p:sp>
    </p:spTree>
    <p:extLst>
      <p:ext uri="{BB962C8B-B14F-4D97-AF65-F5344CB8AC3E}">
        <p14:creationId xmlns:p14="http://schemas.microsoft.com/office/powerpoint/2010/main" val="185725742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44453A-5850-49F0-B7FC-23659C14B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论文指标与当前输出的对应关系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6305A7-360B-4E3E-8BE8-3BD246AFC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存活、条件相干性、累计通道保真度和单次操作保真度的分母与含义不同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4E102B-F104-4EF9-904A-9DC482AA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Level 5 论文对照与全流程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3D0DB6-31EE-4894-BCB1-EF697E3F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71500" y="1666875"/>
          <a:ext xmlns:a="http://schemas.openxmlformats.org/drawingml/2006/main" cx="110490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2153"/>
                <a:gridCol w="4735286"/>
                <a:gridCol w="4171561"/>
              </a:tblGrid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分母 / 含义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当前对照状态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存活 S(n)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存活数 / 初始原子数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Fig. 6d 顶图可直接对照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相干对比度 C(n)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仅存活原子，某个叠加态的相干幅度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用于诊断，不能替代通道保真度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累计条件 Favg(n)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存活通道相对理想脉冲的平均保真度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涵盖此前所有操作，尚非 IRB 结果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IRB 返回概率 R(n)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完整随机门序列后回到初态的概率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最新连续流程尚未生成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单次瞬时保真度 Fₙ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联合 S、R 的拟合与损失处理得到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尚无同协议的可比仿真值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134289-DF46-4C89-96CC-BBFB1B68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B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BB3E35"/>
                </a:solidFill>
                <a:latin typeface="Microsoft YaHei"/>
                <a:ea typeface="Microsoft YaHei"/>
                <a:cs typeface="Microsoft YaHei"/>
              </a:rPr>
              <a:t>例如 30 轮后的累计 Favg，不能与论文 99.953% 的早期单次长移动保真度比较。</a:t>
            </a:r>
          </a:p>
        </p:txBody>
      </p:sp>
    </p:spTree>
    <p:extLst>
      <p:ext uri="{BB962C8B-B14F-4D97-AF65-F5344CB8AC3E}">
        <p14:creationId xmlns:p14="http://schemas.microsoft.com/office/powerpoint/2010/main" val="49178917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CDC034-6B5C-43CC-8DF3-257ACEBB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Monte Carlo 全流程与状态传递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F6ADEC-7602-4335-9ADE-BC53E51F5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每个样本表示一个原子的一整段实验历史，运动和内部态共同保留到下一轮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99A306-A72C-45CA-A78D-219906FF1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Level 5 论文对照与全流程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CDB09B-81CC-4CBC-B4C5-A3F41CA66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A64FCB-2D76-42BF-AC5A-35DCB5B3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2333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13335">
            <a:solidFill>
              <a:srgbClr val="1467B3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① 初始系综</a:t>
            </a:r>
          </a:p>
          <a:p xmlns:a="http://schemas.openxmlformats.org/drawingml/2006/main">
            <a:pPr algn="ctr">
              <a:defRPr sz="18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r₀、v₀、阱参数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C1BF28-13F8-4FB3-9439-402D6FA4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85950"/>
            <a:ext cx="2333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13335">
            <a:solidFill>
              <a:srgbClr val="1467B3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② 控制时序</a:t>
            </a:r>
          </a:p>
          <a:p xmlns:a="http://schemas.openxmlformats.org/drawingml/2006/main">
            <a:pPr algn="ctr">
              <a:defRPr sz="18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位置、阱深、脉冲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00E8ED-9B7C-45F4-A9D9-6EABDE9D9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85950"/>
            <a:ext cx="2333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13335">
            <a:solidFill>
              <a:srgbClr val="1467B3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③ 三维动力学</a:t>
            </a:r>
          </a:p>
          <a:p xmlns:a="http://schemas.openxmlformats.org/drawingml/2006/main">
            <a:pPr algn="ctr">
              <a:defRPr sz="18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r(t)、v(t)、能量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65449C-6088-481F-9239-83D188AEB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48150"/>
            <a:ext cx="2333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13335">
            <a:solidFill>
              <a:srgbClr val="1467B3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④ 内部态演化</a:t>
            </a:r>
          </a:p>
          <a:p xmlns:a="http://schemas.openxmlformats.org/drawingml/2006/main">
            <a:pPr algn="ctr">
              <a:defRPr sz="18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光移、相位、U(t)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F827B1-9378-48F7-A752-BC943F23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885950"/>
            <a:ext cx="2333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13335">
            <a:solidFill>
              <a:srgbClr val="1467B3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⑤ 检查点与下一轮</a:t>
            </a:r>
          </a:p>
          <a:p xmlns:a="http://schemas.openxmlformats.org/drawingml/2006/main">
            <a:pPr algn="ctr">
              <a:defRPr sz="18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保留状态，失阱终止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B978BB-6B5E-4987-984D-BC335421C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248150"/>
            <a:ext cx="2333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13335">
            <a:solidFill>
              <a:srgbClr val="1467B3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⑥ 系综观测</a:t>
            </a:r>
          </a:p>
          <a:p xmlns:a="http://schemas.openxmlformats.org/drawingml/2006/main">
            <a:pPr algn="ctr">
              <a:defRPr sz="18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S、C、累计 Favg</a:t>
            </a:r>
          </a:p>
        </p:txBody>
      </p:sp>
      <p:cxnSp>
        <p:nvCxnSpPr>
          <p:cNvPr id="32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905125" y="24193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67B3"/>
            </a:solidFill>
            <a:tailEnd type="arrow" w="med" len="med"/>
          </a:ln>
        </p:spPr>
      </p:cxnSp>
      <p:cxnSp>
        <p:nvCxnSpPr>
          <p:cNvPr id="3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810250" y="24193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67B3"/>
            </a:solidFill>
            <a:tailEnd type="arrow" w="med" len="med"/>
          </a:ln>
        </p:spPr>
      </p:cxnSp>
      <p:cxnSp>
        <p:nvCxnSpPr>
          <p:cNvPr id="34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715375" y="24193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67B3"/>
            </a:solidFill>
            <a:tailEnd type="arrow" w="med" len="med"/>
          </a:ln>
        </p:spPr>
      </p:cxnSp>
      <p:cxnSp>
        <p:nvCxnSpPr>
          <p:cNvPr id="35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7548563" y="2952750"/>
            <a:ext cx="0" cy="1295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67B3"/>
            </a:solidFill>
            <a:tailEnd type="arrow" w="med" len="med"/>
          </a:ln>
        </p:spPr>
      </p:cxnSp>
      <p:cxnSp>
        <p:nvCxnSpPr>
          <p:cNvPr id="36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715375" y="47815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67B3"/>
            </a:solidFill>
            <a:tailEnd type="arrow" w="med" len="med"/>
          </a:ln>
        </p:spPr>
      </p:cxnSp>
      <p:cxnSp>
        <p:nvCxnSpPr>
          <p:cNvPr id="37" name="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10453688" y="2952750"/>
            <a:ext cx="0" cy="1295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67B3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74C8CC-1AC1-4661-A111-25BA051DD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333750"/>
            <a:ext cx="1371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轨迹势能</a:t>
            </a:r>
          </a:p>
          <a:p xmlns:a="http://schemas.openxmlformats.org/drawingml/2006/main">
            <a:pPr>
              <a:def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V(t)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169C5B-E240-470F-B2A6-6B79AC60B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381375"/>
            <a:ext cx="1009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存活标记</a:t>
            </a:r>
          </a:p>
          <a:p xmlns:a="http://schemas.openxmlformats.org/drawingml/2006/main">
            <a:pPr>
              <a:defRPr sz="14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运动状态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24901D-550E-4F8D-90BE-D736F12D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24300"/>
            <a:ext cx="5124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67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67B3"/>
                </a:solidFill>
                <a:latin typeface="Microsoft YaHei"/>
                <a:ea typeface="Microsoft YaHei"/>
                <a:cs typeface="Microsoft YaHei"/>
              </a:rPr>
              <a:t>持续传递的数据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4B2F54-9267-48CF-826E-27876574B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95800"/>
            <a:ext cx="52387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原子编号、位置 r、速度 v、内部态 U</a:t>
            </a:r>
          </a:p>
          <a:p xmlns:a="http://schemas.openxmlformats.org/drawingml/2006/main">
            <a:pPr>
              <a:defRPr sz="187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存活标记、累计时间、累计加热</a:t>
            </a:r>
          </a:p>
          <a:p xmlns:a="http://schemas.openxmlformats.org/drawingml/2006/main">
            <a:pPr>
              <a:defRPr sz="187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下一段 / 下一轮沿用上一步的输出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0E505A-FB45-4A05-AD25-094543830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10275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B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BB3E35"/>
                </a:solidFill>
                <a:latin typeface="Microsoft YaHei"/>
                <a:ea typeface="Microsoft YaHei"/>
                <a:cs typeface="Microsoft YaHei"/>
              </a:rPr>
              <a:t>控制表驱动物理演化。内部态目前接受运动产生的光移，但不反向改变机械运动。</a:t>
            </a:r>
          </a:p>
        </p:txBody>
      </p:sp>
    </p:spTree>
    <p:extLst>
      <p:ext uri="{BB962C8B-B14F-4D97-AF65-F5344CB8AC3E}">
        <p14:creationId xmlns:p14="http://schemas.microsoft.com/office/powerpoint/2010/main" val="90872410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65383A-64FB-4171-95B1-29552E4C7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过程 1：生成热初态与原子间差异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4C236D-83D0-4543-B226-30CD97D5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Monte Carlo 随机性来自初始热分布、静态参数散布和逐段对准抖动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46D698-6796-47CE-ACF9-0D477BE1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Level 5 论文对照与全流程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E03EDD-B299-4066-95E0-DFE68DAEB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71500" y="1666875"/>
          <a:ext xmlns:a="http://schemas.openxmlformats.org/drawingml/2006/main" cx="11049000" cy="3562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51000"/>
                <a:gridCol w="9398000"/>
              </a:tblGrid>
              <a:tr h="71247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环节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参数与状态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</a:tr>
              <a:tr h="71247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Cs-133 质量 m，温度 T（μK），SLM 深度（μK）、束腰（μm）、波长（nm），样本数 N 与随机种子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247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抽样三维位置与速度；用完整高斯势的总能量 E&lt;0 接受束缚初态。为每个原子抽取阱深、束腰和对准偏差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</a:tr>
              <a:tr h="71247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原子编号 i，r₀=(x,y,z)（m），v₀（m/s），初始能量 E₀（J），各原子的静态参数因子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247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传给下一过程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控制时序对同一批原子生效。r₀、v₀ 和静态差异进入第一段动力学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F02F3C-3F76-4962-ACD9-0712012D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769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67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67B3"/>
                </a:solidFill>
                <a:latin typeface="Microsoft YaHei"/>
                <a:ea typeface="Microsoft YaHei"/>
                <a:cs typeface="Microsoft YaHei"/>
              </a:rPr>
              <a:t>热初态采用简谐近似抽样；转移时的真实温度与高能尾部分布仍待约束。</a:t>
            </a:r>
          </a:p>
        </p:txBody>
      </p:sp>
    </p:spTree>
    <p:extLst>
      <p:ext uri="{BB962C8B-B14F-4D97-AF65-F5344CB8AC3E}">
        <p14:creationId xmlns:p14="http://schemas.microsoft.com/office/powerpoint/2010/main" val="19122361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9231DB-7419-4E80-B84F-0E214A4B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过程 2：把实验步骤变成随时间变化的控制量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D473D4-B722-43D6-B508-20538D01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短转移对照与组合运输采用独立的时序定义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966C70-86B7-41F4-9357-FB0CAF8CF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Level 5 论文对照与全流程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93E1A5-DB0D-467E-A2FC-5FD8B8CB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71500" y="1666875"/>
          <a:ext xmlns:a="http://schemas.openxmlformats.org/drawingml/2006/main" cx="11049000" cy="38385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51000"/>
                <a:gridCol w="9398000"/>
              </a:tblGrid>
              <a:tr h="7677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环节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参数与状态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</a:tr>
              <a:tr h="7677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波形类型，单程时长（200 / 400 / 600 μs），短位移 2.4 μm，等待 100 μs；组合额外输入 375 μm、1.45 ms 与远端保持 54 μs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77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顺序安排拾取、等待、可选长距离去回、放回；安排 SLM 开关、AOD 升降深和有限宽度脉冲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</a:tr>
              <a:tr h="7677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控制表 cₓ(t)、cᵧ(t)（m），dc/dt（m/s），AOD 深度 D(t)（J），SLM 开关，Ω(t)（rad/s）与脉冲相位 φ(t)（rad）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77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传给下一过程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位置、深度和 SLM 开关决定势场；AOD 速度决定透镜修正；Ω、φ 同步驱动内部态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72915A-402A-426C-8325-B22B76A3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38825"/>
            <a:ext cx="1104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67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67B3"/>
                </a:solidFill>
                <a:latin typeface="Microsoft YaHei"/>
                <a:ea typeface="Microsoft YaHei"/>
                <a:cs typeface="Microsoft YaHei"/>
              </a:rPr>
              <a:t>手工波形先升深再移动。ML 同步升深与移动，当前使用论文曲线的数字化回放。</a:t>
            </a:r>
          </a:p>
        </p:txBody>
      </p:sp>
    </p:spTree>
    <p:extLst>
      <p:ext uri="{BB962C8B-B14F-4D97-AF65-F5344CB8AC3E}">
        <p14:creationId xmlns:p14="http://schemas.microsoft.com/office/powerpoint/2010/main" val="162003690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A1FDB5-C7F2-4819-AB33-3E67CE2AA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过程 3：运动、平均加热与瞬时光阱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5BE815-83E6-4EAA-AFD2-818A236E9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位置和速度贯穿拾取、移动、等待与放回，不在阶段交界处重新抽样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1C1F1B-DC28-462B-9F68-66E06268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Level 5 论文对照与全流程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25D084-F343-45D1-B06D-1ADFB7F2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71500" y="1666875"/>
          <a:ext xmlns:a="http://schemas.openxmlformats.org/drawingml/2006/main" cx="11049000" cy="37052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51000"/>
                <a:gridCol w="9398000"/>
              </a:tblGrid>
              <a:tr h="74104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环节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参数与状态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</a:tr>
              <a:tr h="74104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 r（m）、v（m/s），两束光的深度、束腰与中心，AOD 扫描速度，透镜参数 vₛ（m/s），总平均加热功率 P（J/s）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104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叠加 SLM 与 AOD 的三维高斯势；势能梯度产生力。每个时间步推进 r、v，并向总动能加入 P·dt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</a:tr>
              <a:tr h="74104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r(t)、v(t)、动能与势能（J），累计注入能量（J），沿轨迹的总势能 V(t)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104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传给下一过程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r、v 和能量进入失阱判断；V(t) 同时进入光移与内部态传播；下一步继续沿用运动状态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80A874-D64C-4B58-AEFA-4F4BCF869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6262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B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BB3E35"/>
                </a:solidFill>
                <a:latin typeface="Microsoft YaHei"/>
                <a:ea typeface="Microsoft YaHei"/>
                <a:cs typeface="Microsoft YaHei"/>
              </a:rPr>
              <a:t>当前加热表示平均功率，未生成逐时刻随机噪声的完整谱与稀有强踢。</a:t>
            </a:r>
          </a:p>
        </p:txBody>
      </p:sp>
    </p:spTree>
    <p:extLst>
      <p:ext uri="{BB962C8B-B14F-4D97-AF65-F5344CB8AC3E}">
        <p14:creationId xmlns:p14="http://schemas.microsoft.com/office/powerpoint/2010/main" val="211049255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9B5BD8-22B6-40A7-A79E-A03C17EB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平均加热的三个过程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C2DCC8-64A3-4980-8238-F9EFD8D3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各过程先给出平均功率，再共同进入三维动力学的每个时间步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9F22E7-F7B0-4991-957F-FBF749336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Level 5 论文对照与全流程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244F27-F849-4142-9975-70BBFABD2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71500" y="1666875"/>
          <a:ext xmlns:a="http://schemas.openxmlformats.org/drawingml/2006/main" cx="110490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74794"/>
                <a:gridCol w="4766235"/>
                <a:gridCol w="4007971"/>
              </a:tblGrid>
              <a:tr h="8334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过程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输入参数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输出与衔接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</a:tr>
              <a:tr h="8334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光子反冲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散射率 Γsc（s⁻¹）</a:t>
                      </a:r>
                    </a:p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波长 λ（nm）与原子质量 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散射带来的平均加热功率</a:t>
                      </a:r>
                    </a:p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Prec（J/s）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强度噪声 / 参量加热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强度噪声谱 S_RIN（1/Hz）</a:t>
                      </a:r>
                    </a:p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参考阱频 ν₀（Hz）、Tref（μK）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固定参考能量下的平均功率</a:t>
                      </a:r>
                    </a:p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Ppar（J/s）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</a:tr>
              <a:tr h="8334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指向噪声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位置噪声谱 Sx（m²/Hz）</a:t>
                      </a:r>
                    </a:p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参考阱频 ν₀ 与质量 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阱中心抖动对应的平均功率</a:t>
                      </a:r>
                    </a:p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Ppoint（J/s）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B81AD5-EC81-4977-9F2A-3B9D14AFF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721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67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467B3"/>
                </a:solidFill>
                <a:latin typeface="Microsoft YaHei"/>
                <a:ea typeface="Microsoft YaHei"/>
                <a:cs typeface="Microsoft YaHei"/>
              </a:rPr>
              <a:t>总功率 P = Prec + Ppar + Ppoint，每步注入动能 P·dt。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32D4C6-8BF8-4B69-AF76-01975523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1027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B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BB3E35"/>
                </a:solidFill>
                <a:latin typeface="Microsoft YaHei"/>
                <a:ea typeface="Microsoft YaHei"/>
                <a:cs typeface="Microsoft YaHei"/>
              </a:rPr>
              <a:t>三项目前都是恒定平均功率。转移中实际噪声谱、随机强踢和 Raman 内部态跃迁尚未在此流程中展开。</a:t>
            </a:r>
          </a:p>
        </p:txBody>
      </p:sp>
    </p:spTree>
    <p:extLst>
      <p:ext uri="{BB962C8B-B14F-4D97-AF65-F5344CB8AC3E}">
        <p14:creationId xmlns:p14="http://schemas.microsoft.com/office/powerpoint/2010/main" val="184149500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B163E9-0959-4D08-A1EB-D56FCDA45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过程 4：轨迹光移与有限脉冲内部态演化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09D3FD-24F8-47CD-93E3-0458D614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两能级对应 Cs 钟态；同一原子的运动轨迹决定其经历的失谐历史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078CD1-FAD5-4CBC-9C64-AA78B3670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Level 5 论文对照与全流程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55A499-7726-4788-AA4F-413E9BAA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71500" y="1666875"/>
          <a:ext xmlns:a="http://schemas.openxmlformats.org/drawingml/2006/main" cx="11049000" cy="3724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51000"/>
                <a:gridCol w="9398000"/>
              </a:tblGrid>
              <a:tr h="7448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环节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参数与状态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</a:tr>
              <a:tr h="7448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沿轨迹的势能 V(t)（J），差分光移系数 η=1.3×10⁻⁴，Ω/2π=24.611 kHz，脉冲相位 φ(t)，前一时刻的 U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48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由 Δ(t)=ηV(t)/ℏ 得到失谐（rad/s），积分两能级演化。裸 π 脉冲约 20.3 μs，脉冲期间运动继续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</a:tr>
              <a:tr h="7448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累计相位（rad）与每原子的内部态演化矩阵 U(t)；据此可求任意输入量子态的输出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48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传给下一过程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U(t) 与原子编号、r、v 一起保留。只有存活原子的内部态进入条件相干性和通道统计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1B2C15-63B0-420B-8CC1-E154C74EC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B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B3E35"/>
                </a:solidFill>
                <a:latin typeface="Microsoft YaHei"/>
                <a:ea typeface="Microsoft YaHei"/>
                <a:cs typeface="Microsoft YaHei"/>
              </a:rPr>
              <a:t>当前使用 XY4。论文的随机 Clifford 序列与随之变换的 DD 旋转轴，尚未接入这条连续流程。</a:t>
            </a:r>
          </a:p>
        </p:txBody>
      </p:sp>
    </p:spTree>
    <p:extLst>
      <p:ext uri="{BB962C8B-B14F-4D97-AF65-F5344CB8AC3E}">
        <p14:creationId xmlns:p14="http://schemas.microsoft.com/office/powerpoint/2010/main" val="31117235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031DD7-AE9B-4F28-A2DD-E106CF9E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过程 5：失阱判断与跨轮连续传递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56058F-4606-436B-94B4-9FD1ED21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论文重复操作会积累热运动和相位，连续模型保留这两种记忆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B8C630-C1E3-4AB9-80B2-FEB63778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Level 5 论文对照与全流程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1345D9-274E-4398-9F0C-16F861DA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71500" y="1666875"/>
          <a:ext xmlns:a="http://schemas.openxmlformats.org/drawingml/2006/main" cx="11049000" cy="36861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51000"/>
                <a:gridCol w="9398000"/>
              </a:tblGrid>
              <a:tr h="73723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环节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参数与状态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</a:tr>
              <a:tr h="73723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 r、v、U，接收阱的深度与中心，原子编号，以及当前阶段和轮次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723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检查点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等待结束检查 AOD 束缚，放回结束检查 SLM 束缚。组合运输额外在去程、远端保持和回程末端检查 AOD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</a:tr>
              <a:tr h="73723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判据与输出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接收阱中的 E = mv²/2 + V &lt; 0 才存活。输出 alive、失阱阶段、失阱轮次和检查点处的完整状态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723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传给下一轮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存活原子沿用 r、v、U、时间与累计加热。失阱原子终止，不补入新原子，也不重置温度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BC8779-BF3F-4B3C-B815-0AD02526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6262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67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67B3"/>
                </a:solidFill>
                <a:latin typeface="Microsoft YaHei"/>
                <a:ea typeface="Microsoft YaHei"/>
                <a:cs typeface="Microsoft YaHei"/>
              </a:rPr>
              <a:t>损失在指定检查点判定。旧独立 RB 路径逐次抽取单轮轨迹，其跨轮记忆与当前连续模型不同。</a:t>
            </a:r>
          </a:p>
        </p:txBody>
      </p:sp>
    </p:spTree>
    <p:extLst>
      <p:ext uri="{BB962C8B-B14F-4D97-AF65-F5344CB8AC3E}">
        <p14:creationId xmlns:p14="http://schemas.microsoft.com/office/powerpoint/2010/main" val="89019125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AA47BF-5D32-4B6A-AC58-26B3AA49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过程 6：系综统计与实验读出之间的接口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838904-DC50-4C68-8196-28211555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当前连续计算终止于 S、条件 C 和累计 Favg；复现论文 IRB 还需要完整读出协议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79B6B3-BAF3-4083-85A8-12080CBF9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Level 5 论文对照与全流程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9A55BD-2A8F-49D8-A4E9-BDBFC983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71500" y="1666875"/>
          <a:ext xmlns:a="http://schemas.openxmlformats.org/drawingml/2006/main" cx="110490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40000"/>
                <a:gridCol w="8509000"/>
              </a:tblGrid>
              <a:tr h="7715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环节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输入与输出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</a:tr>
              <a:tr h="7715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当前已完成的汇总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输入所有原子的 alive、U 与理想脉冲目标。输出 S(n)、条件 C(n)、累计条件 Favg(n)，并分别与 Fig. 6d 拟合线和实验散点比较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论文需要的序列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固定总 Clifford 数，改变插入操作数。移动与静态参考使用相应的同一随机门 / DD 序列，最后施加逆门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</a:tr>
              <a:tr h="7715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论文需要的观测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测得存活概率 S(n) 与返回概率 R(n)，保留失阱的处理约定、初态制备与读出条件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论文需要的提取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按论文相同模型联合分析 S、R，提取随操作历史变化的单次瞬时保真度 Fₙ 与置信区间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4D2ED0-7D55-4A82-98B9-FCA324655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9775"/>
            <a:ext cx="11049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B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BB3E35"/>
                </a:solidFill>
                <a:latin typeface="Microsoft YaHei"/>
                <a:ea typeface="Microsoft YaHei"/>
                <a:cs typeface="Microsoft YaHei"/>
              </a:rPr>
              <a:t>历史 IRB 和 47/195 站点结果受实现与统计口径问题影响。代码已修复，结果尚未同协议重跑。</a:t>
            </a:r>
          </a:p>
        </p:txBody>
      </p:sp>
    </p:spTree>
    <p:extLst>
      <p:ext uri="{BB962C8B-B14F-4D97-AF65-F5344CB8AC3E}">
        <p14:creationId xmlns:p14="http://schemas.microsoft.com/office/powerpoint/2010/main" val="68205110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15A863-D192-4571-9765-CF6CD1CB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关键输入的来源与不确定性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A53B14-2A0E-4E33-84BA-BD49C028E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论文实测值、近似模型和场景假设分别影响不同的比较结论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2EE56F-8C62-4B2D-A15A-14A3345F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Level 5 论文对照与全流程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7BE093-1CDF-4690-B3C5-FFC9F4BA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71500" y="1666875"/>
          <a:ext xmlns:a="http://schemas.openxmlformats.org/drawingml/2006/main" cx="11049000" cy="3733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16663"/>
                <a:gridCol w="4848031"/>
                <a:gridCol w="4284306"/>
              </a:tblGrid>
              <a:tr h="74676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输入类别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当前值 / 来源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对解释的限制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</a:tr>
              <a:tr h="74676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论文约束较强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短转移 2.4 μm、100 μs</a:t>
                      </a:r>
                    </a:p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140 / 280 μK，η 与 Rabi 频率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有助于固定基本尺度，仍需匹配实验阶段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初态与束腰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转移 T 扫描 5–40 μK</a:t>
                      </a:r>
                    </a:p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AOD 束腰假设等于 1.17 μm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温度、阱频和高能尾会改变逃逸概率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</a:tr>
              <a:tr h="74676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位点与对准差异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SLM 深度 σ=11.4% 取自论文</a:t>
                      </a:r>
                    </a:p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AOD 深度/束腰 2%、对准 0.05 μm 为假设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采用论文散布不等于匹配其站点分布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噪声与透镜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RIN、指向噪声为灵敏度假设</a:t>
                      </a:r>
                    </a:p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vₛ≈0.539 m/s 为相对场景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尚不能据此反推装置的真实损失机制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6BDC57-B4B7-462F-A5DD-B6FDBF35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2930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67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67B3"/>
                </a:solidFill>
                <a:latin typeface="Microsoft YaHei"/>
                <a:ea typeface="Microsoft YaHei"/>
                <a:cs typeface="Microsoft YaHei"/>
              </a:rPr>
              <a:t>逐段对准抖动 σ=0.01 μm 也是假设。扫描默认使 Tref=T，需要分开温度与加热的效应。</a:t>
            </a:r>
          </a:p>
        </p:txBody>
      </p:sp>
    </p:spTree>
    <p:extLst>
      <p:ext uri="{BB962C8B-B14F-4D97-AF65-F5344CB8AC3E}">
        <p14:creationId xmlns:p14="http://schemas.microsoft.com/office/powerpoint/2010/main" val="8414648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D47589-9165-4174-A8C8-CDEC6F7D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匹配不上的可能原因与证据强弱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9CA954-92EF-443A-AA1D-6BDF40C5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已观察到的协议差异可以确认，具体实验损失机制仍需数据约束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DC6734-1BB9-466F-81E7-3938431E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Level 5 论文对照与全流程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C6B677-C034-4C63-ABDB-87275D80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71500" y="1666875"/>
          <a:ext xmlns:a="http://schemas.openxmlformats.org/drawingml/2006/main" cx="110490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67840"/>
                <a:gridCol w="4640580"/>
                <a:gridCol w="4640580"/>
              </a:tblGrid>
              <a:tr h="742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证据层次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原因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目前可以下的判断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</a:tr>
              <a:tr h="742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已确认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时间、SLM 背景、Clifford/DD 与指标定义不同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阻止长运输/内部态结果直接验收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模型内证据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快波形易损失、慢波形过于稳定</a:t>
                      </a:r>
                    </a:p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温度与平均加热耦合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单参数不能解释四条存活曲线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</a:tr>
              <a:tr h="742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待实测检验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真实位置/功率响应、对准与像差</a:t>
                      </a:r>
                    </a:p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温度尾部、强噪声事件、磁噪声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可能改变逃逸或相干性，贡献尚未定量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不足以解释全部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样本量与时间步误差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精细步长最大变化约 1.29 个百分点</a:t>
                      </a:r>
                    </a:p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仍小于冻结参数下 6.78–9.76 点偏差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F52CDE-5C2D-4961-9740-E527F3E5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1049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B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BB3E35"/>
                </a:solidFill>
                <a:latin typeface="Microsoft YaHei"/>
                <a:ea typeface="Microsoft YaHei"/>
                <a:cs typeface="Microsoft YaHei"/>
              </a:rPr>
              <a:t>论文也仅将部分短转移指数损失归因于“可能的实验不完美”。现有数据不足以进一步认定具体机制。</a:t>
            </a:r>
          </a:p>
        </p:txBody>
      </p:sp>
    </p:spTree>
    <p:extLst>
      <p:ext uri="{BB962C8B-B14F-4D97-AF65-F5344CB8AC3E}">
        <p14:creationId xmlns:p14="http://schemas.microsoft.com/office/powerpoint/2010/main" val="138412466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D37A21-1796-42E3-9F23-5375EDDEB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达到论文匹配所需的证据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19C9D6-49D0-4142-A171-09EEE0305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下一步验收应同时固定实验条件、整条观测曲线与误差口径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DB27E3-AA25-4F23-BB57-0BF441E9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Level 5 论文对照与全流程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653912-2A45-4CC3-94B7-F21B7F71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71500" y="1666875"/>
          <a:ext xmlns:a="http://schemas.openxmlformats.org/drawingml/2006/main" cx="11049000" cy="36099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92052"/>
                <a:gridCol w="8656948"/>
              </a:tblGrid>
              <a:tr h="7219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比较对象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可检验的达标条件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</a:tr>
              <a:tr h="7219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Fig. 6 存活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同一套物理参数解释手工 200/400/600 μs 和 ML 400 μs 的完整曲线，而非逐波形换温度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219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Fig. 4 相干与门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按相同阱深、脉冲时序与空间平均方式再现 Rabi、Ramsey、XY16 和参考 RB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</a:tr>
              <a:tr h="7219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Fig. 5 / 组合 IRB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分别采用论文 610 μm 和组合 375 μm 协议，生成同条件的 S、R 与单次瞬时保真度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219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差距原因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用实测温度、AOD 位置/深度响应、噪声与对准标定约束模型，再判断残差由哪类过程造成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925218-3789-4125-A575-BB31FF9D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673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当前结论：流程覆盖已有进展，短转移定量匹配仍未通过，论文高保真指标尚待同协议验证。</a:t>
            </a:r>
          </a:p>
        </p:txBody>
      </p:sp>
    </p:spTree>
    <p:extLst>
      <p:ext uri="{BB962C8B-B14F-4D97-AF65-F5344CB8AC3E}">
        <p14:creationId xmlns:p14="http://schemas.microsoft.com/office/powerpoint/2010/main" val="7593297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2026-09-15T02:43:51.6500000Z</dcterms:created>
  <dcterms:modified xsi:type="dcterms:W3CDTF">2026-09-15T02:43:51.6500000Z</dcterms:modified>
</coreProperties>
</file>