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EC5E8"/>
                </a:solidFill>
              </a:rPr>
              <a:t>Monte Carlo for AOD→SLM 原子转移 · 独立扩展工程 level2b_speed_modify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Level 2B：AOD 移动速度边界</a:t>
            </a:r>
          </a:p>
          <a:p>
            <a:pPr algn="ctr"/>
            <a:r>
              <a:rPr sz="4000" b="1">
                <a:solidFill>
                  <a:srgbClr val="FFFFFF"/>
                </a:solidFill>
              </a:rPr>
              <a:t>与变速剖面验证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BD3E8"/>
                </a:solidFill>
              </a:rPr>
              <a:t>纯移动跟随上限 · 端到端 v95 临界速度 · 恒速 vs 变速双口径配对比较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A8C8"/>
                </a:solidFill>
              </a:rPr>
              <a:t>9 条曲线全部覆盖失效边界 · η_95 ≈ 0.29 坍缩 · 独立复核 30/30 CI 重叠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A8C8"/>
                </a:solidFill>
              </a:rPr>
              <a:t>实验 4 噪声：默认幅度不移动边界（v95 完全不变）· ×100 参量通道使 v95 腰斩至 20.8 mm/s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8C8"/>
                </a:solidFill>
              </a:rPr>
              <a:t>preflight 8/8 · 测试 105 项全过 · 原 Level 2 工程零改动（校验和一致）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为什么做 Level 2B：Level 2 的饱和教训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把『多快算太快』变成可测量的问题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A35"/>
                </a:solidFill>
              </a:rPr>
              <a:t>• Level 2 结论回顾</a:t>
            </a:r>
            <a:r>
              <a:rPr sz="1600">
                <a:solidFill>
                  <a:srgbClr val="666666"/>
                </a:solidFill>
              </a:rPr>
              <a:t>　5 μK、400 μs 下三波形俘获率均 2000/2000 = 100%，配对差全为 0 —— 问题处于饱和区，无法区分波形优劣。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A35"/>
                </a:solidFill>
              </a:rPr>
              <a:t>• 未测量过的量</a:t>
            </a:r>
            <a:r>
              <a:rPr sz="1600">
                <a:solidFill>
                  <a:srgbClr val="666666"/>
                </a:solidFill>
              </a:rPr>
              <a:t>　当前 AOD 移动速度：优化波形峰值 11.5 mm/s、压缩基线 17.3 mm/s；距离失效有多远、失效边界长什么样，完全未知。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A35"/>
                </a:solidFill>
              </a:rPr>
              <a:t>• Level 2B 三个问题</a:t>
            </a:r>
            <a:r>
              <a:rPr sz="1600">
                <a:solidFill>
                  <a:srgbClr val="666666"/>
                </a:solidFill>
              </a:rPr>
              <a:t>　① 纯移动时原子多快会跟丢？② 完整 drop-off 的临界速度 v95/v50 是多少、随温度怎么变？③ 边界附近恒速巡航与变速剖面谁更优？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89152000" y="3595347648000"/>
            <a:ext cx="9949915584000" cy="1421416512000"/>
          </a:xfrm>
          <a:prstGeom prst="rect">
            <a:avLst/>
          </a:prstGeom>
          <a:solidFill>
            <a:srgbClr val="FDF3E7"/>
          </a:solidFill>
          <a:ln>
            <a:solidFill>
              <a:srgbClr val="E8A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两条诚实底线（违反即失败）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· 饱和是合法结论：若扫描区间未覆盖失效边界，必须写『v95 &gt; 最大扫描速度』，禁止宣称已测得最大速度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· 临界速度是估计量：必须带 bootstrap/logistic 双方法置信区间；边界点用从未用过的新种子独立复核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工程定位：新文件夹 simulation/level2b_speed_modify/（tag: level2 + speed_modify），level0/1/2 作为逐字节副本基线，原工程零改动。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物理模型（沿用 Level 2，逐参数一致）与派生尺度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一维经典 + 显式速度变量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模型不变</a:t>
            </a:r>
            <a:r>
              <a:rPr sz="1400">
                <a:solidFill>
                  <a:srgbClr val="666666"/>
                </a:solidFill>
              </a:rPr>
              <a:t>　Cs 一维焦平面双高斯阱：AOD 280 μK 时变（中心 c(t)、深度 D(t)），SLM 140 μK 静止；w=1.17 μm、d=2.4 μm、5 μK 热初态（Level 1 采样器）、velocity-Verlet、E_f&lt;0 严格判据。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绝热速度尺度</a:t>
            </a:r>
            <a:r>
              <a:rPr sz="1400">
                <a:solidFill>
                  <a:srgbClr val="666666"/>
                </a:solidFill>
              </a:rPr>
              <a:t>　v_ad = w_AOD·ω_AOD：阱频与束宽的乘积，量纲即速度。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绝热参数</a:t>
            </a:r>
            <a:r>
              <a:rPr sz="1400">
                <a:solidFill>
                  <a:srgbClr val="666666"/>
                </a:solidFill>
              </a:rPr>
              <a:t>　η = v_peak / v_ad：所有速度结果用它无量纲化。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每步位移数</a:t>
            </a:r>
            <a:r>
              <a:rPr sz="1400">
                <a:solidFill>
                  <a:srgbClr val="666666"/>
                </a:solidFill>
              </a:rPr>
              <a:t>　δ = dt·v_peak / w：步长充分性的显式指标，全程 ≤ 0.01（规则保证）。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显式排除</a:t>
            </a:r>
            <a:r>
              <a:rPr sz="1400">
                <a:solidFill>
                  <a:srgbClr val="666666"/>
                </a:solidFill>
              </a:rPr>
              <a:t>　AOD 声学器件带宽/RF 扫描速率限制 —— 测的是动力学上限，不是器件规格。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0955200000" y="1128771936000"/>
            <a:ext cx="4347862272000" cy="3511734912000"/>
          </a:xfrm>
          <a:prstGeom prst="rect">
            <a:avLst/>
          </a:prstGeom>
          <a:solidFill>
            <a:srgbClr val="EAF3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41732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实测派生量（demo 运行）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ν_AOD = 36.0 kHz（周期 27.8 μs）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ν_SLM = 25.5 kHz（周期 39.2 μs）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v_ad = 264.7 mm/s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关键锚点：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当前 Level 2 优化波形 v_peak = 11.5 mm/s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→ η = 0.043，离失效边界约 7 倍余量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（这正是 Level 2 100% 饱和的原因）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速度三口径强制分开报告：v_avg = d/T_move、v_peak = max|ċ|、v_rms —— 『移动速度』在任何场合都必须说明口径，这是恒速 vs 变速公平比较的前提。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方法总览：三组递进实验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恒速巡航剖面让『最大速度』成为直接参数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1676416000" y="1086965568000"/>
            <a:ext cx="3260896704000" cy="3762573120000"/>
          </a:xfrm>
          <a:prstGeom prst="rect">
            <a:avLst/>
          </a:prstGeom>
          <a:solidFill>
            <a:srgbClr val="E8F0FE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</a:rPr>
              <a:t>实验 1 · 纯移动跟随上限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</a:rPr>
              <a:t>深度恒定 280 μK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中心梯形巡航移 2.4 μm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扫描 v_cruise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6 → 500 mm/s（11 个近似对数点）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判定：|x−c| &gt; 2w 或 ε/D₀ &gt; 0.5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输出：跟丢率 + 激发标度律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1604960000" y="1086965568000"/>
            <a:ext cx="3260896704000" cy="3762573120000"/>
          </a:xfrm>
          <a:prstGeom prst="rect">
            <a:avLst/>
          </a:prstGeom>
          <a:solidFill>
            <a:srgbClr val="EEF8EE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</a:rPr>
              <a:t>实验 2 · 端到端速度上限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</a:rPr>
              <a:t>三结构 × 三温度 × 12 时长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(600 μs → 20 μs，等价 v_avg 4→120 mm/s)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sequential / 冻结形状缩放 / 梯形+冻结降深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CRN 同初态、曲线级早停(&lt;90%)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输出：v95/v50 + 双方法 CI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失效三分类（跟丢/降深段/交接）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1533504000" y="1086965568000"/>
            <a:ext cx="3260896704000" cy="3762573120000"/>
          </a:xfrm>
          <a:prstGeom prst="rect">
            <a:avLst/>
          </a:prstGeom>
          <a:solidFill>
            <a:srgbClr val="FDEEEE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</a:rPr>
              <a:t>实验 3 · 恒速 vs 变速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</a:rPr>
              <a:t>边界附近 5 个速度点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三剖面：梯形 f=0.30 / smootherstep / 梯形 f=0.15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双口径配对比较：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相同 v_avg（梯形峰值更低）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相同 v_peak（梯形均值更低）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配对 bootstrap + 独立种子复核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防作弊设计：scan_seed=22001 与 boundary_seed=22002 互不相同（有测试守护）；逐点落盘断点续跑；每步位移规则 dt ≤ min(50 ns, T_move/2000, 0.01·w/v_peak)；势/积分器/采样器/统计/噪声模型全部 import 自 level0/1/2，不复制第二套。另有实验 4（噪声 × 速度）在冻结基线之上做敏感性评估（详见后文）。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核心剖面：梯形恒速巡航（trapezoid_cruise）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smootherstep 加/减速 + 恒速巡航 —— v_cruise 直接就是待测最大速度</a:t>
            </a:r>
          </a:p>
        </p:txBody>
      </p:sp>
      <p:pic>
        <p:nvPicPr>
          <p:cNvPr id="5" name="Picture 4" descr="trapezoid_vs_smooth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42897"/>
            <a:ext cx="11704320" cy="3589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97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左/中：两种剖面的中心 c(t) 与速度 |ċ(t)| —— 梯形有平坦巡航段，smootherstep 峰值居中。右：实验 3 的俘获率结果。数学要点：v_c = d/[(1−f)·T_move]，峰值速度严格等于 v_c（校准 &lt;1e-6，有单元测试）；端点速度/加速度为零、位移严格闭合 2.4 μm。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Preflight：不过关不得启动扫描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本级 6 项 + Level 2 十项复跑 + 全部既有测试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既有测试</a:t>
            </a:r>
            <a:r>
              <a:rPr sz="1300">
                <a:solidFill>
                  <a:srgbClr val="666666"/>
                </a:solidFill>
              </a:rPr>
              <a:t>　本工程全部测试（level0/1/2 基线 + level2b 新增）一次通过。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Level 2 复跑</a:t>
            </a:r>
            <a:r>
              <a:rPr sz="1300">
                <a:solidFill>
                  <a:srgbClr val="666666"/>
                </a:solidFill>
              </a:rPr>
              <a:t>　原 preflight 十项检查在副本工程全部通过 —— 证明基线未因迁移而退化。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梯形校准</a:t>
            </a:r>
            <a:r>
              <a:rPr sz="1300">
                <a:solidFill>
                  <a:srgbClr val="666666"/>
                </a:solidFill>
              </a:rPr>
              <a:t>　v_peak == v_cruise（相对误差 &lt;1e-6）、端点零速/零加速度、位移严格 d、单调无过冲（f=0.15/0.30/0.45 × 多时长）。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导数一致性</a:t>
            </a:r>
            <a:r>
              <a:rPr sz="1300">
                <a:solidFill>
                  <a:srgbClr val="666666"/>
                </a:solidFill>
              </a:rPr>
              <a:t>　新剖面解析一/二阶导数 vs 中心差分一致。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缩放不变性</a:t>
            </a:r>
            <a:r>
              <a:rPr sz="1300">
                <a:solidFill>
                  <a:srgbClr val="666666"/>
                </a:solidFill>
              </a:rPr>
              <a:t>　T→T/2 时 v_peak×2、a_max×4、归一化形状逐点一致。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慢极限回归</a:t>
            </a:r>
            <a:r>
              <a:rPr sz="1300">
                <a:solidFill>
                  <a:srgbClr val="666666"/>
                </a:solidFill>
              </a:rPr>
              <a:t>　梯形 v_avg≈6.1 mm/s vs Level 2 冻结 400 μs 波形：同初态配对差 CI 含 0、激发差 &lt;0.02 —— 新剖面在慢极限退化为已验证结果。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最快点收敛</a:t>
            </a:r>
            <a:r>
              <a:rPr sz="1300">
                <a:solidFill>
                  <a:srgbClr val="666666"/>
                </a:solidFill>
              </a:rPr>
              <a:t>　v=500 mm/s 处 dt 与 dt/2：标签翻转率 = 0。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静态极限</a:t>
            </a:r>
            <a:r>
              <a:rPr sz="1300">
                <a:solidFill>
                  <a:srgbClr val="666666"/>
                </a:solidFill>
              </a:rPr>
              <a:t>　静止极限下引擎积分路径与 Level 0 积分器逐点一致。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90695296000" y="1086965568000"/>
            <a:ext cx="3511734912000" cy="4347862272000"/>
          </a:xfrm>
          <a:prstGeom prst="rect">
            <a:avLst/>
          </a:prstGeom>
          <a:solidFill>
            <a:srgbClr val="FDEEEE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37160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结果：8/8 全部通过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（456 s，含 Level 2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十项复跑与全部测试）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实现要点：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预检查失败 → CLI 拒绝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进入 scan/compare 阶段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冒烟旗标仅测试用：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--skip-level2-preflight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--skip-existing-tests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正式运行不得使用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慢极限回归是『新代码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不改变已验证物理』的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直接证据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 1：纯移动跟随上限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深度恒定 280 μK · 5 μK 初态 · 梯形巡航 6→500 mm/s</a:t>
            </a:r>
          </a:p>
        </p:txBody>
      </p:sp>
      <p:pic>
        <p:nvPicPr>
          <p:cNvPr id="5" name="Picture 4" descr="follow_loss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914400"/>
            <a:ext cx="1163116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97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左：失效模式构成随速度演变（纯移动下只有跟丢）；右：每步中心位移 δ 始终 ≤ 0.0015·w，远低于 0.01 规则上限 —— 快速点的结果不是积分误差的产物。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 1 结果：跟随边界与激发标度律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v_peak ≤ 63 mm/s（η≤0.24）零跟丢；≥158 mm/s 全跟丢</a:t>
            </a:r>
          </a:p>
        </p:txBody>
      </p:sp>
      <p:pic>
        <p:nvPicPr>
          <p:cNvPr id="5" name="Picture 4" descr="excitation_vs_speed_log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99260"/>
            <a:ext cx="7863840" cy="32765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92371712000" y="1003352832000"/>
            <a:ext cx="3260896704000" cy="4431475008000"/>
          </a:xfrm>
          <a:prstGeom prst="rect">
            <a:avLst/>
          </a:prstGeom>
          <a:solidFill>
            <a:srgbClr val="EEF8EE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2801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关键数字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v_peak=6–63 mm/s：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跟丢率 = 0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ε_med 0.013 → 0.038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v_peak=100 mm/s：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跟丢率 75%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ε_med = 0.59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v_peak ≥158 mm/s：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跟丢率 100%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标度律拟合：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ε_med ∝ v^α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α = 1.33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95% CI [1.08, 1.82]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R² = 0.83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换算 η：边界位于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η ≈ 0.24 – 0.38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左：激发中位数与 90 分位随 v_peak 双对数图 + 幂律拟合线；右：跟丢率陡升曲线。注：α 拟合覆盖全部点（含跟丢区），CI 较宽，如实报告。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 2：端到端俘获率 vs 速度（9 条曲线）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三结构 × 三温度 · 每点 300 shots · Wilson 95% CI</a:t>
            </a:r>
          </a:p>
        </p:txBody>
      </p:sp>
      <p:pic>
        <p:nvPicPr>
          <p:cNvPr id="5" name="Picture 4" descr="capture_vs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64398"/>
            <a:ext cx="11704320" cy="31463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97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所有曲线均真正穿越 95% 水平（boundary_covered = true）：v95(v_avg) = 41–56 mm/s，随温度升高而下降。俘获率从 100% 崩塌到 0 发生在约 2 倍速度区间内 —— 边界相当陡峭。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关键发现：失效由峰值速度主导，三结构坍缩到同一 η_95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排序与峰值/平均速度比完全一致</a:t>
            </a:r>
          </a:p>
        </p:txBody>
      </p:sp>
      <p:pic>
        <p:nvPicPr>
          <p:cNvPr id="5" name="Picture 4" descr="adiabatic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99260"/>
            <a:ext cx="7863840" cy="32765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92371712000" y="1003352832000"/>
            <a:ext cx="3260896704000" cy="4431475008000"/>
          </a:xfrm>
          <a:prstGeom prst="rect">
            <a:avLst/>
          </a:prstGeom>
          <a:solidFill>
            <a:srgbClr val="EAF3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2801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20 μK 的 v95 排序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frozen_shape 41.2 mm/s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sequential  53.2 mm/s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trapezoid   54.5 mm/s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结构峰值/平均比：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smootherstep 1.875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sequential   1.50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trapezoid    1.43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换算成 v_peak 后：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三结构 v95 峰值速度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= 77 / 80 / 78 mm/s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→ η_95 ≈ 0.29 – 0.30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（三结构一致坍缩）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失效机制 = 峰值速度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驱动的绝热跟随崩塌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（与实验 1 边界衔接）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左：俘获率对 η = v_peak/v_ad 的坍缩情况（温度分标记、结构分色）。含义：控制波形只要管住峰值速度，平均速度可以放心压高 —— 这直接指导实验 3 的解释。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临界速度 vs 温度（双方法估计）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bootstrap 插值 + logistic 拟合，均带 95% CI</a:t>
            </a:r>
          </a:p>
        </p:txBody>
      </p:sp>
      <p:pic>
        <p:nvPicPr>
          <p:cNvPr id="5" name="Picture 4" descr="critical_speed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914400"/>
            <a:ext cx="7269479" cy="4846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92371712000" y="1003352832000"/>
            <a:ext cx="3260896704000" cy="4431475008000"/>
          </a:xfrm>
          <a:prstGeom prst="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2801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读图要点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v95 随温度下降：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54.9 → 47.9 → 41.2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（frozen 形状）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sequential/trapezoid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温度敏感性较弱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部分曲线 v50 标记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above_scanned：早停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（&lt;90% 即停）截断了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曲线，未及 50% 水平，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如实记录不外推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两种方法点估计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一致（CSV 各自全列）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工程含义：若要在更保守温区（5 μK）安全运行，按 v95≈55 mm/s 留 2 倍余量取 v_avg ≤ 27 mm/s（对应总时长 ≈ 89 μs），仍比当前 400 μs 快 4.5 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 3：恒速 vs 变速，双口径配对比较（20 μK）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两种公平口径分别报告，缺一不可</a:t>
            </a:r>
          </a:p>
        </p:txBody>
      </p:sp>
      <p:pic>
        <p:nvPicPr>
          <p:cNvPr id="5" name="Picture 4" descr="trapezoid_vs_smooth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31771"/>
            <a:ext cx="7863840" cy="24115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92371712000" y="1003352832000"/>
            <a:ext cx="3260896704000" cy="4431475008000"/>
          </a:xfrm>
          <a:prstGeom prst="rect">
            <a:avLst/>
          </a:prstGeom>
          <a:solidFill>
            <a:srgbClr val="FDF3E7"/>
          </a:solidFill>
          <a:ln>
            <a:solidFill>
              <a:srgbClr val="E8A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2801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口径 1 · 相同 v_avg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（@61.8 mm/s，均显著）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f=0.15 梯形 0.948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f=0.30 梯形 0.738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smootherstep 0.302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→ 低峰值者胜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口径 2 · 相同 v_peak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（@82.3 mm/s）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smootherstep 0.998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f=0.30 梯形 0.911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f=0.15 梯形 0.730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→ 低均值（更长时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长）者胜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独立复核（新种子）：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30/30 组合 CI 重叠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对称结论与 η 主导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失效的图像自洽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不存在普适『最优剖面』：比什么口径就赢什么 —— 相同预算比平均时梯形占优，相同峰值限制时平滑变速占优。任何单口径宣称都有偏。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边界处发生了什么：末态相空间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v_ref = 41.2 mm/s 梯形剖面 · 300 shots · 20 μK</a:t>
            </a:r>
          </a:p>
        </p:txBody>
      </p:sp>
      <p:pic>
        <p:nvPicPr>
          <p:cNvPr id="5" name="Picture 4" descr="boundary_phase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67" y="914400"/>
            <a:ext cx="6646984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92371712000" y="1003352832000"/>
            <a:ext cx="3260896704000" cy="4431475008000"/>
          </a:xfrm>
          <a:prstGeom prst="rect">
            <a:avLst/>
          </a:prstGeom>
          <a:solidFill>
            <a:srgbClr val="EEF8EE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2801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读图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绿色 = captured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（E_f &lt; 0）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红色 = 未俘获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黑色虚线 =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E_SLM = 0 分界线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物理图像：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未俘获原子集中在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分界线附近 —— 它们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跟到了终点，但携带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的振荡能量刚好超过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SLM 阱深（140 μK），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在交接瞬间溢出。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与失效三分类统计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互相印证：边界区以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『交接失败』为主，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更快时才转为跟丢。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 4：平均强度噪声加热 × 移动速度（模型与接线）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复用 level2 noise_heating 三通道确定性模型 · 新增 CLI stage: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模型性质</a:t>
            </a:r>
            <a:r>
              <a:rPr sz="1250">
                <a:solidFill>
                  <a:srgbClr val="666666"/>
                </a:solidFill>
              </a:rPr>
              <a:t>　系综平均加热功率的确定性注入：无随机性、能量随时间单调累积；每步速度踢 v ← sign(v)·√(v²+2ΔE/m)，逐通道累计注入能量。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三通道公式</a:t>
            </a:r>
            <a:r>
              <a:rPr sz="1250">
                <a:solidFill>
                  <a:srgbClr val="666666"/>
                </a:solidFill>
              </a:rPr>
              <a:t>　光子反冲 P=2·E_r·Γ_sc（Cs D2 两能级）；参量 dε/dt=Γ_par·ε_osc，Γ_par=(π²/4)ν₀²·S_RIN(2ν₀)；指向 P=m·ω₀⁴·S_x(ν₀)/8。PSD 均为单边每 Hz。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默认幅度</a:t>
            </a:r>
            <a:r>
              <a:rPr sz="1250">
                <a:solidFill>
                  <a:srgbClr val="666666"/>
                </a:solidFill>
              </a:rPr>
              <a:t>　反冲 0.355 μK/s（Γ_sc=2.77 s⁻¹, E_r=64 nK）；参量 Γ_par=16 s⁻¹（−80 dBc/Hz）；指向 1.31 μK/s（1 pm²/Hz）；ν₀=25.46 kHz（SLM 解析阱频）。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接线方式</a:t>
            </a:r>
            <a:r>
              <a:rPr sz="1250">
                <a:solidFill>
                  <a:srgbClr val="666666"/>
                </a:solidFill>
              </a:rPr>
              <a:t>　speed_engine 两段积分（转移+保持）均切换到 velocity_verlet_time_dependent_heating；ε_osc 取双阱较深阱底（与 level2 逐字一致）；逐 shot 记录 4 列注入能量；功-能恒等式扩展为 ΔE = W_ext + W_noise + R_W。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防作弊约定</a:t>
            </a:r>
            <a:r>
              <a:rPr sz="1250">
                <a:solidFill>
                  <a:srgbClr val="666666"/>
                </a:solidFill>
              </a:rPr>
              <a:t>　scan 阶段保持无噪声（冻结基线不被触碰）；噪声幅度全部 assumed_sensitivity_only；噪声结果只做敏感性评估、不回调波形参数。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5406144000" y="1086965568000"/>
            <a:ext cx="4097024064000" cy="4347862272000"/>
          </a:xfrm>
          <a:prstGeom prst="rect">
            <a:avLst/>
          </a:prstGeom>
          <a:solidFill>
            <a:srgbClr val="EAF3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3716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四个子实验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4a 边界移动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frozen_shape @20 μK，12 时长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× 档 {关, ×1, ×100}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→ v95 是否移动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4b 开/关配对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4 峰值速度 × 2 温度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同初态 CRN 配对 bootstrap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+ 裕量退化/注入能量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4c 幅度敏感性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边界速度 55 mm/s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×{1,10,100,1000}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→ 退化起点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4d 通道分解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×100 下仅反冲/仅参量/仅指向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→ 谁主导退化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预算：300 shots/点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61 行全部成功落盘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 4 结果：默认幅度不移动边界；×100 参量通道使 v95 腰斩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noise_v95.json / noise_speed_results.csv（300 shots/点）</a:t>
            </a:r>
          </a:p>
        </p:txBody>
      </p:sp>
      <p:pic>
        <p:nvPicPr>
          <p:cNvPr id="5" name="Picture 4" descr="noise_speed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914400"/>
            <a:ext cx="713232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25146240000" y="1003352832000"/>
            <a:ext cx="3428121261600" cy="4515087744000"/>
          </a:xfrm>
          <a:prstGeom prst="rect">
            <a:avLst/>
          </a:prstGeom>
          <a:solidFill>
            <a:srgbClr val="FDF3E7"/>
          </a:solidFill>
          <a:ln>
            <a:solidFill>
              <a:srgbClr val="E8A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A35"/>
                </a:solidFill>
              </a:rPr>
              <a:t>4a v95（bootstrap）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关   40.8 [40.2,41.7] mm/s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×1   40.8 [40.2,41.7]（不变）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×100 20.8 [6.1,21.4]（腰斩）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4b 配对差（×1）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8 组合全部 = 0，CI[0,0]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裕量退化 ≤ 4.5e-4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单次注入 ≈ 0.04–0.09 μK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4c 敏感性（55 mm/s）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×1/×10：100%（裕量 0.84）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×100：50%（0.42）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×1000：50%（−0.29）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4d 通道（×100）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仅参量 0.480 ≈ 三通道 0.477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仅反冲 1.000 / 仅指向 1.000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参量注入 11.6 μK（唯一显著）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ΔE=W_ext+W_noise+R_W</a:t>
            </a:r>
          </a:p>
          <a:p>
            <a:pPr algn="l"/>
            <a:r>
              <a:rPr sz="1150" b="0">
                <a:solidFill>
                  <a:srgbClr val="222A35"/>
                </a:solidFill>
              </a:rPr>
              <a:t>残差 ≤6.6e-6 ≪ 1e-3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四联图：左上 v95 曲线（关/×1/×100）；右上开/关配对差；左下幅度敏感性（俘获率+裕量双轴）；右下通道分解。方法差异如实报告：×100 档 logistic 拟合给 15.6 mm/s（悬崖过陡尾部偏缓），以非参 bootstrap 为主口径。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数值可信度：高速工况的步长收敛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自适应步长规则 + 最快点 dt 减半检查</a:t>
            </a:r>
          </a:p>
        </p:txBody>
      </p:sp>
      <p:pic>
        <p:nvPicPr>
          <p:cNvPr id="5" name="Picture 4" descr="timestep_convergence_f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99260"/>
            <a:ext cx="7863840" cy="32765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92371712000" y="1003352832000"/>
            <a:ext cx="3260896704000" cy="4431475008000"/>
          </a:xfrm>
          <a:prstGeom prst="rect">
            <a:avLst/>
          </a:prstGeom>
          <a:solidFill>
            <a:srgbClr val="EAF3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2801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</a:rPr>
              <a:t>步长规则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dt ≤ min(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50 ns 基准,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T_move / 2000,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0.01·w / v_peak )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实测：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δ = dt·v_peak/w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全程 ≤ 0.0015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（上限 0.01）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最快点 500 mm/s：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dt = 3.43 ns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dt/2 标签翻转 = 0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末态连续量随 dt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二阶下降（左图 log-log）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· 功-能残差中位数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远低于 1e-3 阈值</a:t>
            </a:r>
          </a:p>
          <a:p>
            <a:pPr algn="l"/>
            <a:r>
              <a:rPr sz="1300" b="0">
                <a:solidFill>
                  <a:srgbClr val="222A35"/>
                </a:solidFill>
              </a:rPr>
              <a:t>  （逐点写入 CSV）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左：末态位置/速度偏差相对最细步长随 dt 的收敛 + 俘获率稳定性；右下转写自 preflight 实测值。所有扫描点实际 dt 与 δ 都写入 speed_scan_results.csv，可逐点核查。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三问三答 + 诚实边界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跟随上限（实验 1）</a:t>
            </a:r>
            <a:r>
              <a:rPr sz="1300">
                <a:solidFill>
                  <a:srgbClr val="666666"/>
                </a:solidFill>
              </a:rPr>
              <a:t>　纯移动 v_peak ≤ 63 mm/s（η≤0.24）零跟丢；100 mm/s 跟丢 75%；≥158 mm/s 全丢。激发标度 ε_med ∝ v^1.33 [1.08, 1.82]。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端到端临界速度（实验 2）</a:t>
            </a:r>
            <a:r>
              <a:rPr sz="1300">
                <a:solidFill>
                  <a:srgbClr val="666666"/>
                </a:solidFill>
              </a:rPr>
              <a:t>　9 条曲线全部覆盖边界：v95(v_avg) = 41–56 mm/s（300 shots/点，Wilson CI）；换算峰值速度后三结构坍缩到 η_95 ≈ 0.29–0.30 —— 失效由峰值速度主导。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恒速 vs 变速（实验 3）</a:t>
            </a:r>
            <a:r>
              <a:rPr sz="1300">
                <a:solidFill>
                  <a:srgbClr val="666666"/>
                </a:solidFill>
              </a:rPr>
              <a:t>　口径决定胜负：同 v_avg 低峰值者胜、同 v_peak 低均值者胜（均显著）；独立复核 30/30 CI 重叠，结论可靠。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噪声 × 速度（实验 4）</a:t>
            </a:r>
            <a:r>
              <a:rPr sz="1300">
                <a:solidFill>
                  <a:srgbClr val="666666"/>
                </a:solidFill>
              </a:rPr>
              <a:t>　默认幅度（×1）对单次转移完全不可分辨（v95 逐点不变、配对差全 0）；×100 时参量通道独自使 v95 从 40.8 腰斩到 20.8 mm/s —— 边界对强度噪声的放大系数约 100 倍裕量。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对既有工作的解释</a:t>
            </a:r>
            <a:r>
              <a:rPr sz="1300">
                <a:solidFill>
                  <a:srgbClr val="666666"/>
                </a:solidFill>
              </a:rPr>
              <a:t>　Level 2 优化波形 v_peak=11.5 mm/s（η=0.043），距边界约 7 倍余量 —— 定量解释了 Level 2 的 100% 饱和；同时指出提速空间：按 v95 留 2 倍余量可到 v_avg≈27 mm/s（≈89 μs）。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89152000" y="4515087744000"/>
            <a:ext cx="9949915584000" cy="1254191040000"/>
          </a:xfrm>
          <a:prstGeom prst="rect">
            <a:avLst/>
          </a:prstGeom>
          <a:solidFill>
            <a:srgbClr val="E8F0FE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</a:rPr>
              <a:t>边界与诚实声明：一维经典模型，不含 AOD 器件带宽/RF 扫描速率（动力学上限 ≠ 器件规格）、二维/柱面透镜（Level 3）、量子内态/相干性（Level 4-5）；demo 预算 300 shots/点（正式运行建议 ≥1000）；部分曲线 v50 因早停为 above_scanned；噪声幅度全部 assumed_sensitivity_only（非实验测量值），×100 档 bootstrap 与 logistic 估计不一致（20.8 vs 15.6 mm/s）已如实双报告；图片 9/9 程序化检查通过，未做人工视觉审阅。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工程与复现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新文件夹隔离 · 复用不复制 · 全链路可核查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目录隔离</a:t>
            </a:r>
            <a:r>
              <a:rPr sz="1250">
                <a:solidFill>
                  <a:srgbClr val="666666"/>
                </a:solidFill>
              </a:rPr>
              <a:t>　simulation/level2b_speed_modify/（tag: level2 + speed_modify）；level0/1/2 为逐字节副本，与原工程校验和一致（8d9ae671cfe5b53f），原工程 git 零改动。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复用不复制</a:t>
            </a:r>
            <a:r>
              <a:rPr sz="1250">
                <a:solidFill>
                  <a:srgbClr val="666666"/>
                </a:solidFill>
              </a:rPr>
              <a:t>　势/常数/积分器/采样器/Wilson 与配对 bootstrap/功-能核算/三通道噪声模型（build_mean_heating/scaled_heating）全部 import 原包；smootherstep 模式与 OverlappedWaveform 逐点一致有测试守护。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测试</a:t>
            </a:r>
            <a:r>
              <a:rPr sz="1250">
                <a:solidFill>
                  <a:srgbClr val="666666"/>
                </a:solidFill>
              </a:rPr>
              <a:t>　105 项全部通过（103 快 + 2 slow CLI）：剖面校准/缩放不变性/口径换算/步长规则/临界速度回收/慢极限回归/断点续跑/噪声通道隔离与注入守恒/带噪功-能恒等式/CLI 冒烟（含 noise 阶段）/schema。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</a:rPr>
              <a:t>• 输出</a:t>
            </a:r>
            <a:r>
              <a:rPr sz="1250">
                <a:solidFill>
                  <a:srgbClr val="666666"/>
                </a:solidFill>
              </a:rPr>
              <a:t>　21 个文件：preflight.json、speed_scan_results.csv（119 行）、scan_flags.npz、critical_speeds.csv、comparison_results.csv（60 行）、noise_speed_results.csv（61 行，0 失败）、noise_v95.json、metrics.json、9 张 PNG 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9857088000" y="1086965568000"/>
            <a:ext cx="3762573120000" cy="4347862272000"/>
          </a:xfrm>
          <a:prstGeom prst="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716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</a:rPr>
              <a:t>复现命令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$ cd simulation/level2b_speed_modify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$ .venv/bin/python -m pytest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→ 105 passed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$ .venv/bin/python -m \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    level2b_speed_limit.level2b_cli \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    --config configs/level2b_speed_limit.yaml \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    --stage all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阶段：preflight / scan /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compare / noise / all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断点续跑：中断后重跑同命令，</a:t>
            </a:r>
          </a:p>
          <a:p>
            <a:pPr algn="l"/>
            <a:r>
              <a:rPr sz="1200" b="0">
                <a:solidFill>
                  <a:srgbClr val="222A35"/>
                </a:solidFill>
              </a:rPr>
              <a:t>已完成扫描点自动跳过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