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一维经典 AOD → SLM 转移的蒙特卡洛模拟</a:t>
            </a:r>
            <a:endParaRPr sz="36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31089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9DC3E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四步流水线：预检查 → 热初态采样 → 轨迹推进 → 判定与统计</a:t>
            </a:r>
            <a:endParaRPr sz="2000" b="0">
              <a:solidFill>
                <a:srgbClr val="9DC3E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5394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C9D6E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Cs-133 · 高斯光镊 · T = 5 μK · 600 μs 转移 · 50 shots</a:t>
            </a:r>
            <a:endParaRPr sz="1400" b="0">
              <a:solidFill>
                <a:srgbClr val="C9D6E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C9D6E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数值框架：Level 0 已验证组件 + 时变 velocity-Verlet · 扩展 12 维扫描 + 独立交叉验证 / 42,000+ shots</a:t>
            </a:r>
            <a:endParaRPr sz="1400" b="0">
              <a:solidFill>
                <a:srgbClr val="C9D6E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9DC3E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物理场景</a:t>
            </a:r>
            <a:endParaRPr sz="1300" b="1">
              <a:solidFill>
                <a:srgbClr val="9DC3E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模拟什么：一个原子、两张光镊、一次交接</a:t>
            </a:r>
            <a:endParaRPr sz="26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1280160"/>
            <a:ext cx="42976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500" b="1">
                <a:solidFill>
                  <a:srgbClr val="2E74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• </a:t>
            </a:r>
            <a:r>
              <a:rPr sz="1500" b="1">
                <a:solidFill>
                  <a:srgbClr val="1F386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原子：</a:t>
            </a:r>
            <a:r>
              <a:rPr sz="1500" b="0">
                <a:solidFill>
                  <a:srgbClr val="40404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Cs-133，经典质点，一维径向坐标 x</a:t>
            </a:r>
            <a:endParaRPr sz="1500" b="0">
              <a:solidFill>
                <a:srgbClr val="40404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lnSpc>
                <a:spcPct val="130000"/>
              </a:lnSpc>
            </a:pPr>
            <a:r>
              <a:rPr sz="1500" b="1">
                <a:solidFill>
                  <a:srgbClr val="2E74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• </a:t>
            </a:r>
            <a:r>
              <a:rPr sz="1500" b="1">
                <a:solidFill>
                  <a:srgbClr val="1F386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AOD 光镊（移动方）：</a:t>
            </a:r>
            <a:r>
              <a:rPr sz="1500" b="0">
                <a:solidFill>
                  <a:srgbClr val="40404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初始位于 x = 2.4 μm，深度 280 μK</a:t>
            </a:r>
            <a:endParaRPr sz="1500" b="0">
              <a:solidFill>
                <a:srgbClr val="40404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lnSpc>
                <a:spcPct val="130000"/>
              </a:lnSpc>
            </a:pPr>
            <a:r>
              <a:rPr sz="1500" b="1">
                <a:solidFill>
                  <a:srgbClr val="2E74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• </a:t>
            </a:r>
            <a:r>
              <a:rPr sz="1500" b="1">
                <a:solidFill>
                  <a:srgbClr val="1F386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SLM 光镊（接收方）：</a:t>
            </a:r>
            <a:r>
              <a:rPr sz="1500" b="0">
                <a:solidFill>
                  <a:srgbClr val="40404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静止于 x = 0，深度 140 μK</a:t>
            </a:r>
            <a:endParaRPr sz="1500" b="0">
              <a:solidFill>
                <a:srgbClr val="40404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lnSpc>
                <a:spcPct val="130000"/>
              </a:lnSpc>
            </a:pPr>
            <a:r>
              <a:rPr sz="1500" b="1">
                <a:solidFill>
                  <a:srgbClr val="2E74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• </a:t>
            </a:r>
            <a:r>
              <a:rPr sz="1500" b="1">
                <a:solidFill>
                  <a:srgbClr val="1F386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两阱同为高斯型：</a:t>
            </a:r>
            <a:r>
              <a:rPr sz="1500" b="0">
                <a:solidFill>
                  <a:srgbClr val="40404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U(x) = −U₀ exp[−2(x−xc)²/w²]，w = 1.17 μm</a:t>
            </a:r>
            <a:endParaRPr sz="1500" b="0">
              <a:solidFill>
                <a:srgbClr val="40404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lnSpc>
                <a:spcPct val="130000"/>
              </a:lnSpc>
            </a:pPr>
            <a:r>
              <a:rPr sz="1500" b="1">
                <a:solidFill>
                  <a:srgbClr val="2E74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• </a:t>
            </a:r>
            <a:r>
              <a:rPr sz="1500" b="1">
                <a:solidFill>
                  <a:srgbClr val="1F386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任务：</a:t>
            </a:r>
            <a:r>
              <a:rPr sz="1500" b="0">
                <a:solidFill>
                  <a:srgbClr val="40404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AOD 携带原子平移合并到 SLM 后释放，问原子最终是否留在 SLM</a:t>
            </a:r>
            <a:endParaRPr sz="1500" b="0">
              <a:solidFill>
                <a:srgbClr val="40404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0" y="6110760"/>
            <a:ext cx="6675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2E74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初始构型：间距 2.4 μm 的双高斯阱</a:t>
            </a:r>
            <a:endParaRPr sz="1100" b="0">
              <a:solidFill>
                <a:srgbClr val="2E74B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9DC3E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方法总览</a:t>
            </a:r>
            <a:endParaRPr sz="1300" b="1">
              <a:solidFill>
                <a:srgbClr val="9DC3E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四步流水线：每一步计算什么</a:t>
            </a:r>
            <a:endParaRPr sz="26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11480" y="1463040"/>
            <a:ext cx="2212848" cy="3017520"/>
          </a:xfrm>
          <a:prstGeom prst="roundRect">
            <a:avLst/>
          </a:prstGeom>
          <a:solidFill>
            <a:srgbClr val="F2F6FB"/>
          </a:solidFill>
          <a:ln w="25400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463040"/>
            <a:ext cx="2212848" cy="566928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527048"/>
            <a:ext cx="22128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Step 0 · 预检查</a:t>
            </a:r>
            <a:endParaRPr sz="15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21208" y="2194560"/>
            <a:ext cx="1993392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40404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积分器静态极限</a:t>
            </a:r>
            <a:endParaRPr sz="1300" b="0">
              <a:solidFill>
                <a:srgbClr val="40404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40404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波形端点</a:t>
            </a:r>
            <a:endParaRPr sz="1300" b="0">
              <a:solidFill>
                <a:srgbClr val="40404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40404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理想转移 + dt 收敛</a:t>
            </a:r>
            <a:endParaRPr sz="1300" b="0">
              <a:solidFill>
                <a:srgbClr val="40404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21208" y="3977640"/>
            <a:ext cx="19933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4472C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不出模拟先自证</a:t>
            </a:r>
            <a:endParaRPr sz="1200" b="1">
              <a:solidFill>
                <a:srgbClr val="4472C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734056" y="1463040"/>
            <a:ext cx="2212848" cy="3017520"/>
          </a:xfrm>
          <a:prstGeom prst="roundRect">
            <a:avLst/>
          </a:prstGeom>
          <a:solidFill>
            <a:srgbClr val="F2F6FB"/>
          </a:solidFill>
          <a:ln w="25400">
            <a:solidFill>
              <a:srgbClr val="2EA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34056" y="1463040"/>
            <a:ext cx="2212848" cy="566928"/>
          </a:xfrm>
          <a:prstGeom prst="rect">
            <a:avLst/>
          </a:prstGeom>
          <a:solidFill>
            <a:srgbClr val="2EA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34056" y="1527048"/>
            <a:ext cx="22128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Step 1 · 热初态采样</a:t>
            </a:r>
            <a:endParaRPr sz="15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843784" y="2194560"/>
            <a:ext cx="1993392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40404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简谐热分布 σx, σv</a:t>
            </a:r>
            <a:endParaRPr sz="1300" b="0">
              <a:solidFill>
                <a:srgbClr val="40404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40404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拒绝法保证 E&lt;0</a:t>
            </a:r>
            <a:endParaRPr sz="1300" b="0">
              <a:solidFill>
                <a:srgbClr val="40404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843784" y="3977640"/>
            <a:ext cx="19933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EA06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T = 5 μK</a:t>
            </a:r>
            <a:endParaRPr sz="1200" b="1">
              <a:solidFill>
                <a:srgbClr val="2EA06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056632" y="1463040"/>
            <a:ext cx="2212848" cy="3017520"/>
          </a:xfrm>
          <a:prstGeom prst="roundRect">
            <a:avLst/>
          </a:prstGeom>
          <a:solidFill>
            <a:srgbClr val="F2F6FB"/>
          </a:solidFill>
          <a:ln w="25400">
            <a:solidFill>
              <a:srgbClr val="E87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56632" y="1463040"/>
            <a:ext cx="2212848" cy="566928"/>
          </a:xfrm>
          <a:prstGeom prst="rect">
            <a:avLst/>
          </a:prstGeom>
          <a:solidFill>
            <a:srgbClr val="E87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56632" y="1527048"/>
            <a:ext cx="22128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Step 2 · 轨迹推进</a:t>
            </a:r>
            <a:endParaRPr sz="15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166360" y="2194560"/>
            <a:ext cx="1993392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40404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时变 Verlet 积分</a:t>
            </a:r>
            <a:endParaRPr sz="1300" b="0">
              <a:solidFill>
                <a:srgbClr val="40404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40404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合力 = SLM + AOD(x,t)</a:t>
            </a:r>
            <a:endParaRPr sz="1300" b="0">
              <a:solidFill>
                <a:srgbClr val="40404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166360" y="3977640"/>
            <a:ext cx="19933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87D2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600 μs, dt=0.05 μs</a:t>
            </a:r>
            <a:endParaRPr sz="1200" b="1">
              <a:solidFill>
                <a:srgbClr val="E87D2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379208" y="1463040"/>
            <a:ext cx="2212848" cy="3017520"/>
          </a:xfrm>
          <a:prstGeom prst="roundRect">
            <a:avLst/>
          </a:prstGeom>
          <a:solidFill>
            <a:srgbClr val="F2F6FB"/>
          </a:solidFill>
          <a:ln w="25400">
            <a:solidFill>
              <a:srgbClr val="C05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79208" y="1463040"/>
            <a:ext cx="2212848" cy="566928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79208" y="1527048"/>
            <a:ext cx="22128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Step 3 · 末态判定</a:t>
            </a:r>
            <a:endParaRPr sz="15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488936" y="2194560"/>
            <a:ext cx="1993392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40404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E_f = ½mv²+U_SLM</a:t>
            </a:r>
            <a:endParaRPr sz="1300" b="0">
              <a:solidFill>
                <a:srgbClr val="40404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40404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E_f &lt; 0 → 俘获</a:t>
            </a:r>
            <a:endParaRPr sz="1300" b="0">
              <a:solidFill>
                <a:srgbClr val="40404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488936" y="3977640"/>
            <a:ext cx="19933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C0504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记录 capture margin</a:t>
            </a:r>
            <a:endParaRPr sz="1200" b="1">
              <a:solidFill>
                <a:srgbClr val="C0504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9701784" y="1463040"/>
            <a:ext cx="2212848" cy="3017520"/>
          </a:xfrm>
          <a:prstGeom prst="roundRect">
            <a:avLst/>
          </a:prstGeom>
          <a:solidFill>
            <a:srgbClr val="F2F6FB"/>
          </a:solidFill>
          <a:ln w="25400">
            <a:solidFill>
              <a:srgbClr val="7B5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701784" y="1463040"/>
            <a:ext cx="2212848" cy="566928"/>
          </a:xfrm>
          <a:prstGeom prst="rect">
            <a:avLst/>
          </a:prstGeom>
          <a:solidFill>
            <a:srgbClr val="7B57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01784" y="1527048"/>
            <a:ext cx="22128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Step 4 · 统计汇总</a:t>
            </a:r>
            <a:endParaRPr sz="15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811512" y="2194560"/>
            <a:ext cx="1993392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40404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俘获率 + Wilson CI</a:t>
            </a:r>
            <a:endParaRPr sz="1300" b="0">
              <a:solidFill>
                <a:srgbClr val="40404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40404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激发能变化分布</a:t>
            </a:r>
            <a:endParaRPr sz="1300" b="0">
              <a:solidFill>
                <a:srgbClr val="40404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811512" y="3977640"/>
            <a:ext cx="19933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7B57A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× 50 shots</a:t>
            </a:r>
            <a:endParaRPr sz="1200" b="1">
              <a:solidFill>
                <a:srgbClr val="7B57A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11480" y="489204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F386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Step 1–3 循环执行 50 次（固定 seed，可复现）；Step 0 在一切之前拦截数值风险。</a:t>
            </a:r>
            <a:endParaRPr sz="1400" b="1">
              <a:solidFill>
                <a:srgbClr val="1F386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11480" y="5394960"/>
            <a:ext cx="11338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0404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输出：mc_shots.csv（逐 shot 初/末态、能量、俘获裕量）、metrics.json、summary.md 与 12 张诊断图。</a:t>
            </a:r>
            <a:endParaRPr sz="1300" b="0">
              <a:solidFill>
                <a:srgbClr val="40404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9DC3E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Step 0 · 预检查</a:t>
            </a:r>
            <a:endParaRPr sz="1300" b="1">
              <a:solidFill>
                <a:srgbClr val="9DC3E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先验证工具，再相信结果：三项前置检查全部通过</a:t>
            </a:r>
            <a:endParaRPr sz="26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5577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500" b="1">
                <a:solidFill>
                  <a:srgbClr val="2E74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• </a:t>
            </a:r>
            <a:r>
              <a:rPr sz="1500" b="1">
                <a:solidFill>
                  <a:srgbClr val="1F386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① 静态极限回归：</a:t>
            </a:r>
            <a:r>
              <a:rPr sz="1500" b="0">
                <a:solidFill>
                  <a:srgbClr val="40404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时变积分器退化为 F(x) 时，与 Level 0 已验证的 velocity-Verlet 轨迹逐点一致</a:t>
            </a:r>
            <a:endParaRPr sz="1500" b="0">
              <a:solidFill>
                <a:srgbClr val="40404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lnSpc>
                <a:spcPct val="130000"/>
              </a:lnSpc>
            </a:pPr>
            <a:r>
              <a:rPr sz="1500" b="1">
                <a:solidFill>
                  <a:srgbClr val="2E74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• </a:t>
            </a:r>
            <a:r>
              <a:rPr sz="1500" b="1">
                <a:solidFill>
                  <a:srgbClr val="1F386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② 波形端点检查：</a:t>
            </a:r>
            <a:r>
              <a:rPr sz="1500" b="0">
                <a:solidFill>
                  <a:srgbClr val="40404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t=0 时 AOD 原位满深度；t=T 时到达 SLM 且深度为零</a:t>
            </a:r>
            <a:endParaRPr sz="1500" b="0">
              <a:solidFill>
                <a:srgbClr val="40404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lnSpc>
                <a:spcPct val="130000"/>
              </a:lnSpc>
            </a:pPr>
            <a:r>
              <a:rPr sz="1500" b="1">
                <a:solidFill>
                  <a:srgbClr val="2E74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• </a:t>
            </a:r>
            <a:r>
              <a:rPr sz="1500" b="1">
                <a:solidFill>
                  <a:srgbClr val="1F386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③ 理想转移 + 步长收敛：</a:t>
            </a:r>
            <a:r>
              <a:rPr sz="1500" b="0">
                <a:solidFill>
                  <a:srgbClr val="40404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原子从阱底静止出发，dt 与 dt/2 两次运行</a:t>
            </a:r>
            <a:endParaRPr sz="1500" b="0">
              <a:solidFill>
                <a:srgbClr val="40404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lnSpc>
                <a:spcPct val="130000"/>
              </a:lnSpc>
            </a:pPr>
            <a:r>
              <a:rPr sz="1500" b="1">
                <a:solidFill>
                  <a:srgbClr val="2E74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• </a:t>
            </a:r>
            <a:r>
              <a:rPr sz="1500" b="0">
                <a:solidFill>
                  <a:srgbClr val="40404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  末能差 / U₀ = </a:t>
            </a:r>
            <a:r>
              <a:rPr sz="1500" b="1">
                <a:solidFill>
                  <a:srgbClr val="C0504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1.0 × 10⁻⁹</a:t>
            </a:r>
            <a:r>
              <a:rPr sz="1500" b="0">
                <a:solidFill>
                  <a:srgbClr val="40404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，俘获判定一致 → 数值误差远小于物理效应</a:t>
            </a:r>
            <a:endParaRPr sz="1500" b="0">
              <a:solidFill>
                <a:srgbClr val="40404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lnSpc>
                <a:spcPct val="130000"/>
              </a:lnSpc>
            </a:pPr>
            <a:r>
              <a:rPr sz="1500" b="1">
                <a:solidFill>
                  <a:srgbClr val="2E74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• </a:t>
            </a:r>
            <a:r>
              <a:rPr sz="1500" b="1">
                <a:solidFill>
                  <a:srgbClr val="1F386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任何一项失败：</a:t>
            </a:r>
            <a:r>
              <a:rPr sz="1500" b="0">
                <a:solidFill>
                  <a:srgbClr val="40404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程序报错停止，不进入蒙特卡洛</a:t>
            </a:r>
            <a:endParaRPr sz="1500" b="0">
              <a:solidFill>
                <a:srgbClr val="40404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6" name="Picture 5" descr="12_validation_dashboar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2314089"/>
            <a:ext cx="5486400" cy="268702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09360" y="60650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2E74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七项自动验证面板（含 MC 可复现性）</a:t>
            </a:r>
            <a:endParaRPr sz="1100" b="0">
              <a:solidFill>
                <a:srgbClr val="2E74B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9DC3E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Step 1 · 热初态采样</a:t>
            </a:r>
            <a:endParaRPr sz="1300" b="1">
              <a:solidFill>
                <a:srgbClr val="9DC3E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每个 shot 从有限温度的束缚态出发</a:t>
            </a:r>
            <a:endParaRPr sz="26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54864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500" b="1">
                <a:solidFill>
                  <a:srgbClr val="2E74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• </a:t>
            </a:r>
            <a:r>
              <a:rPr sz="1500" b="1">
                <a:solidFill>
                  <a:srgbClr val="1F386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简谐近似热分布：</a:t>
            </a:r>
            <a:r>
              <a:rPr sz="1500" b="0">
                <a:solidFill>
                  <a:srgbClr val="40404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x₀ ~ N(xc, σx²)，v₀ ~ N(0, σv²)</a:t>
            </a:r>
            <a:endParaRPr sz="1500" b="0">
              <a:solidFill>
                <a:srgbClr val="40404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lnSpc>
                <a:spcPct val="130000"/>
              </a:lnSpc>
            </a:pPr>
            <a:r>
              <a:rPr sz="1500" b="1">
                <a:solidFill>
                  <a:srgbClr val="2E74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• </a:t>
            </a:r>
            <a:r>
              <a:rPr sz="1500" b="0">
                <a:solidFill>
                  <a:srgbClr val="40404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  σx = √(kBT/mω²) = </a:t>
            </a:r>
            <a:r>
              <a:rPr sz="1500" b="1">
                <a:solidFill>
                  <a:srgbClr val="2EA06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0.078 μm</a:t>
            </a:r>
            <a:r>
              <a:rPr sz="1500" b="0">
                <a:solidFill>
                  <a:srgbClr val="40404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，  σv = √(kBT/m) = </a:t>
            </a:r>
            <a:r>
              <a:rPr sz="1500" b="1">
                <a:solidFill>
                  <a:srgbClr val="2EA06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0.0177 m/s</a:t>
            </a:r>
            <a:r>
              <a:rPr sz="1500" b="0">
                <a:solidFill>
                  <a:srgbClr val="40404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（T = 5 μK，ω 取 AOD 阱频）</a:t>
            </a:r>
            <a:endParaRPr sz="1500" b="0">
              <a:solidFill>
                <a:srgbClr val="40404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lnSpc>
                <a:spcPct val="130000"/>
              </a:lnSpc>
            </a:pPr>
            <a:r>
              <a:rPr sz="1500" b="1">
                <a:solidFill>
                  <a:srgbClr val="2E74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• </a:t>
            </a:r>
            <a:r>
              <a:rPr sz="1500" b="1">
                <a:solidFill>
                  <a:srgbClr val="1F386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拒绝采样：</a:t>
            </a:r>
            <a:r>
              <a:rPr sz="1500" b="0">
                <a:solidFill>
                  <a:srgbClr val="40404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仅当 AOD 静态势中总能量 E₀ &lt; 0（束缚）才接受</a:t>
            </a:r>
            <a:endParaRPr sz="1500" b="0">
              <a:solidFill>
                <a:srgbClr val="40404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lnSpc>
                <a:spcPct val="130000"/>
              </a:lnSpc>
            </a:pPr>
            <a:r>
              <a:rPr sz="1500" b="1">
                <a:solidFill>
                  <a:srgbClr val="2E74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• </a:t>
            </a:r>
            <a:r>
              <a:rPr sz="1500" b="0">
                <a:solidFill>
                  <a:srgbClr val="40404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  1000 样本抽查全部束缚；固定 seed = 20260811，逐 shot 可复现</a:t>
            </a:r>
            <a:endParaRPr sz="1500" b="0">
              <a:solidFill>
                <a:srgbClr val="40404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lnSpc>
                <a:spcPct val="130000"/>
              </a:lnSpc>
            </a:pPr>
            <a:r>
              <a:rPr sz="1500" b="1">
                <a:solidFill>
                  <a:srgbClr val="2E74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• </a:t>
            </a:r>
            <a:r>
              <a:rPr sz="1500" b="1">
                <a:solidFill>
                  <a:srgbClr val="1F386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物理含义：</a:t>
            </a:r>
            <a:r>
              <a:rPr sz="1500" b="0">
                <a:solidFill>
                  <a:srgbClr val="40404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初态弥散 ≈ 0.08 μm ≪ 2.4 μm 转移距离，原子确定地在 AOD 阱内</a:t>
            </a:r>
            <a:endParaRPr sz="1500" b="0">
              <a:solidFill>
                <a:srgbClr val="40404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6" name="Picture 5" descr="06_thermal_distributi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2518929"/>
            <a:ext cx="5577840" cy="227734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17920" y="606504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2E74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初态采样分布：位置与速度（含束缚判定边界）</a:t>
            </a:r>
            <a:endParaRPr sz="1100" b="0">
              <a:solidFill>
                <a:srgbClr val="2E74B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9DC3E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Step 2 · 轨迹推进（a）</a:t>
            </a:r>
            <a:endParaRPr sz="1300" b="1">
              <a:solidFill>
                <a:srgbClr val="9DC3E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两段式波形：先移动合并，再绝热释放</a:t>
            </a:r>
            <a:endParaRPr sz="26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5577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500" b="1">
                <a:solidFill>
                  <a:srgbClr val="2E74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• </a:t>
            </a:r>
            <a:r>
              <a:rPr sz="1500" b="1">
                <a:solidFill>
                  <a:srgbClr val="1F386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移动段（0 – 312 μs，52%）：</a:t>
            </a:r>
            <a:r>
              <a:rPr sz="1500" b="0">
                <a:solidFill>
                  <a:srgbClr val="40404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AOD 中心 2.4 μm → 0</a:t>
            </a:r>
            <a:endParaRPr sz="1500" b="0">
              <a:solidFill>
                <a:srgbClr val="40404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lnSpc>
                <a:spcPct val="130000"/>
              </a:lnSpc>
            </a:pPr>
            <a:r>
              <a:rPr sz="1500" b="1">
                <a:solidFill>
                  <a:srgbClr val="2E74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• </a:t>
            </a:r>
            <a:r>
              <a:rPr sz="1500" b="0">
                <a:solidFill>
                  <a:srgbClr val="40404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  smoothstep h(s) = 3s² − 2s³：起点/终点速度与加速度均为零，避免踢原子</a:t>
            </a:r>
            <a:endParaRPr sz="1500" b="0">
              <a:solidFill>
                <a:srgbClr val="40404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lnSpc>
                <a:spcPct val="130000"/>
              </a:lnSpc>
            </a:pPr>
            <a:r>
              <a:rPr sz="1500" b="1">
                <a:solidFill>
                  <a:srgbClr val="2E74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• </a:t>
            </a:r>
            <a:r>
              <a:rPr sz="1500" b="1">
                <a:solidFill>
                  <a:srgbClr val="1F386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释放段（312 – 600 μs，48%）：</a:t>
            </a:r>
            <a:r>
              <a:rPr sz="1500" b="0">
                <a:solidFill>
                  <a:srgbClr val="40404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AOD 深度 280 μK → 0</a:t>
            </a:r>
            <a:endParaRPr sz="1500" b="0">
              <a:solidFill>
                <a:srgbClr val="40404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lnSpc>
                <a:spcPct val="130000"/>
              </a:lnSpc>
            </a:pPr>
            <a:r>
              <a:rPr sz="1500" b="1">
                <a:solidFill>
                  <a:srgbClr val="2E74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• </a:t>
            </a:r>
            <a:r>
              <a:rPr sz="1500" b="0">
                <a:solidFill>
                  <a:srgbClr val="40404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  按 (1−s)² 二次下降：后段变化最慢，降低释放末端的激发</a:t>
            </a:r>
            <a:endParaRPr sz="1500" b="0">
              <a:solidFill>
                <a:srgbClr val="40404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lnSpc>
                <a:spcPct val="130000"/>
              </a:lnSpc>
            </a:pPr>
            <a:r>
              <a:rPr sz="1500" b="1">
                <a:solidFill>
                  <a:srgbClr val="2E74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• </a:t>
            </a:r>
            <a:r>
              <a:rPr sz="1500" b="1">
                <a:solidFill>
                  <a:srgbClr val="1F386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SLM 全程静止 140 μK</a:t>
            </a:r>
            <a:r>
              <a:rPr sz="1500" b="0">
                <a:solidFill>
                  <a:srgbClr val="40404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，只通过势场叠加“接手”原子</a:t>
            </a:r>
            <a:endParaRPr sz="1500" b="0">
              <a:solidFill>
                <a:srgbClr val="40404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6" name="Picture 5" descr="02_waveform_schedul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1377980"/>
            <a:ext cx="5486400" cy="4559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09360" y="60650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2E74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engineered 波形：AOD 中心与深度的时间表</a:t>
            </a:r>
            <a:endParaRPr sz="1100" b="0">
              <a:solidFill>
                <a:srgbClr val="2E74B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9DC3E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Step 2 · 轨迹推进（b）</a:t>
            </a:r>
            <a:endParaRPr sz="1300" b="1">
              <a:solidFill>
                <a:srgbClr val="9DC3E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时变 velocity-Verlet 在合力下积分整条轨迹</a:t>
            </a:r>
            <a:endParaRPr sz="26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54864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500" b="1">
                <a:solidFill>
                  <a:srgbClr val="2E74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• </a:t>
            </a:r>
            <a:r>
              <a:rPr sz="1500" b="1">
                <a:solidFill>
                  <a:srgbClr val="1F386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合力构成：</a:t>
            </a:r>
            <a:r>
              <a:rPr sz="1500" b="0">
                <a:solidFill>
                  <a:srgbClr val="40404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F(x,t) = F_SLM(x) + F_AOD(x,t)，两张高斯阱实时叠加</a:t>
            </a:r>
            <a:endParaRPr sz="1500" b="0">
              <a:solidFill>
                <a:srgbClr val="40404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lnSpc>
                <a:spcPct val="130000"/>
              </a:lnSpc>
            </a:pPr>
            <a:r>
              <a:rPr sz="1500" b="1">
                <a:solidFill>
                  <a:srgbClr val="2E74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• </a:t>
            </a:r>
            <a:r>
              <a:rPr sz="1500" b="1">
                <a:solidFill>
                  <a:srgbClr val="1F386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积分参数：</a:t>
            </a:r>
            <a:r>
              <a:rPr sz="1500" b="0">
                <a:solidFill>
                  <a:srgbClr val="40404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dt = 0.05 μs，12001 步覆盖 600 μs</a:t>
            </a:r>
            <a:endParaRPr sz="1500" b="0">
              <a:solidFill>
                <a:srgbClr val="40404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lnSpc>
                <a:spcPct val="130000"/>
              </a:lnSpc>
            </a:pPr>
            <a:r>
              <a:rPr sz="1500" b="1">
                <a:solidFill>
                  <a:srgbClr val="2E74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• </a:t>
            </a:r>
            <a:r>
              <a:rPr sz="1500" b="0">
                <a:solidFill>
                  <a:srgbClr val="40404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  步长合法性：ωmax·dt &lt; 0.05（配置加载时强制）</a:t>
            </a:r>
            <a:endParaRPr sz="1500" b="0">
              <a:solidFill>
                <a:srgbClr val="40404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lnSpc>
                <a:spcPct val="130000"/>
              </a:lnSpc>
            </a:pPr>
            <a:r>
              <a:rPr sz="1500" b="1">
                <a:solidFill>
                  <a:srgbClr val="2E74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• </a:t>
            </a:r>
            <a:r>
              <a:rPr sz="1500" b="1">
                <a:solidFill>
                  <a:srgbClr val="C0504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注意：</a:t>
            </a:r>
            <a:r>
              <a:rPr sz="1500" b="0">
                <a:solidFill>
                  <a:srgbClr val="40404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外场显式随时间变化，机械能不守恒是物理而非数值误差</a:t>
            </a:r>
            <a:endParaRPr sz="1500" b="0">
              <a:solidFill>
                <a:srgbClr val="40404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lnSpc>
                <a:spcPct val="130000"/>
              </a:lnSpc>
            </a:pPr>
            <a:r>
              <a:rPr sz="1500" b="1">
                <a:solidFill>
                  <a:srgbClr val="2E74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• </a:t>
            </a:r>
            <a:r>
              <a:rPr sz="1500" b="1">
                <a:solidFill>
                  <a:srgbClr val="1F386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理想原子（阱底静止出发）：</a:t>
            </a:r>
            <a:r>
              <a:rPr sz="1500" b="0">
                <a:solidFill>
                  <a:srgbClr val="40404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全程跟随 AOD 移动并入 SLM，末态 E/U₀ = −0.9999997</a:t>
            </a:r>
            <a:endParaRPr sz="1500" b="0">
              <a:solidFill>
                <a:srgbClr val="40404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6" name="Picture 5" descr="04_ideal_positi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2190307"/>
            <a:ext cx="5486400" cy="293458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09360" y="60650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2E74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理想转移：原子位置 vs AOD 中心随时间演化</a:t>
            </a:r>
            <a:endParaRPr sz="1100" b="0">
              <a:solidFill>
                <a:srgbClr val="2E74B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9DC3E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Step 3 · 末态判定</a:t>
            </a:r>
            <a:endParaRPr sz="1300" b="1">
              <a:solidFill>
                <a:srgbClr val="9DC3E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一个能量判据二分所有结局：俘获或逃逸</a:t>
            </a:r>
            <a:endParaRPr sz="26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54864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500" b="1">
                <a:solidFill>
                  <a:srgbClr val="2E74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• </a:t>
            </a:r>
            <a:r>
              <a:rPr sz="1500" b="1">
                <a:solidFill>
                  <a:srgbClr val="1F386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末态能量：</a:t>
            </a:r>
            <a:r>
              <a:rPr sz="1500" b="0">
                <a:solidFill>
                  <a:srgbClr val="40404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E_f = ½mv_f² + U_SLM(x_f)（以 SLM 静态势衡量）</a:t>
            </a:r>
            <a:endParaRPr sz="1500" b="0">
              <a:solidFill>
                <a:srgbClr val="40404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lnSpc>
                <a:spcPct val="130000"/>
              </a:lnSpc>
            </a:pPr>
            <a:r>
              <a:rPr sz="1500" b="1">
                <a:solidFill>
                  <a:srgbClr val="2E74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• </a:t>
            </a:r>
            <a:r>
              <a:rPr sz="1500" b="1">
                <a:solidFill>
                  <a:srgbClr val="1F386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判据：</a:t>
            </a:r>
            <a:r>
              <a:rPr sz="1500" b="0">
                <a:solidFill>
                  <a:srgbClr val="40404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E_f &lt; 0 → 俘获；E_f ≥ 0 → 逃逸</a:t>
            </a:r>
            <a:endParaRPr sz="1500" b="0">
              <a:solidFill>
                <a:srgbClr val="40404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lnSpc>
                <a:spcPct val="130000"/>
              </a:lnSpc>
            </a:pPr>
            <a:r>
              <a:rPr sz="1500" b="1">
                <a:solidFill>
                  <a:srgbClr val="2E74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• </a:t>
            </a:r>
            <a:r>
              <a:rPr sz="1500" b="1">
                <a:solidFill>
                  <a:srgbClr val="1F386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俘获裕量：</a:t>
            </a:r>
            <a:r>
              <a:rPr sz="1500" b="0">
                <a:solidFill>
                  <a:srgbClr val="40404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margin = −E_f / U₀^SLM，越大越“稳”</a:t>
            </a:r>
            <a:endParaRPr sz="1500" b="0">
              <a:solidFill>
                <a:srgbClr val="40404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lnSpc>
                <a:spcPct val="130000"/>
              </a:lnSpc>
            </a:pPr>
            <a:r>
              <a:rPr sz="1500" b="1">
                <a:solidFill>
                  <a:srgbClr val="2E74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• </a:t>
            </a:r>
            <a:r>
              <a:rPr sz="1500" b="0">
                <a:solidFill>
                  <a:srgbClr val="40404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  margin ≥ 1 表示动能已不足以爬出 SLM 阱口</a:t>
            </a:r>
            <a:endParaRPr sz="1500" b="0">
              <a:solidFill>
                <a:srgbClr val="40404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lnSpc>
                <a:spcPct val="130000"/>
              </a:lnSpc>
            </a:pPr>
            <a:r>
              <a:rPr sz="1500" b="1">
                <a:solidFill>
                  <a:srgbClr val="2E74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• </a:t>
            </a:r>
            <a:r>
              <a:rPr sz="1500" b="1">
                <a:solidFill>
                  <a:srgbClr val="1F386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同时记录激发能变化：</a:t>
            </a:r>
            <a:r>
              <a:rPr sz="1500" b="0">
                <a:solidFill>
                  <a:srgbClr val="40404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ΔE_exc = E_f,exc − E₀,exc，衡量转移注入/带走的运动能量</a:t>
            </a:r>
            <a:endParaRPr sz="1500" b="0">
              <a:solidFill>
                <a:srgbClr val="40404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6" name="Picture 5" descr="09_capture_margin_per_sho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2189548"/>
            <a:ext cx="5486400" cy="293610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09360" y="60650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2E74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逐 shot 俘获裕量：50/50 全部深度俘获</a:t>
            </a:r>
            <a:endParaRPr sz="1100" b="0">
              <a:solidFill>
                <a:srgbClr val="2E74B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9DC3E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Step 4 · 统计（a）</a:t>
            </a:r>
            <a:endParaRPr sz="1300" b="1">
              <a:solidFill>
                <a:srgbClr val="9DC3E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50 shots 结果：经典俘获率 100%</a:t>
            </a:r>
            <a:endParaRPr sz="26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54864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500" b="1">
                <a:solidFill>
                  <a:srgbClr val="2E74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• </a:t>
            </a:r>
            <a:r>
              <a:rPr sz="1500" b="1">
                <a:solidFill>
                  <a:srgbClr val="1F386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俘获计数：</a:t>
            </a:r>
            <a:r>
              <a:rPr sz="1500" b="0">
                <a:solidFill>
                  <a:srgbClr val="40404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50 / 50 shots 全部俘获</a:t>
            </a:r>
            <a:endParaRPr sz="1500" b="0">
              <a:solidFill>
                <a:srgbClr val="40404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lnSpc>
                <a:spcPct val="130000"/>
              </a:lnSpc>
            </a:pPr>
            <a:r>
              <a:rPr sz="1500" b="1">
                <a:solidFill>
                  <a:srgbClr val="2E74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• </a:t>
            </a:r>
            <a:r>
              <a:rPr sz="1500" b="1">
                <a:solidFill>
                  <a:srgbClr val="1F386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经典俘获率：</a:t>
            </a:r>
            <a:r>
              <a:rPr sz="1500" b="1">
                <a:solidFill>
                  <a:srgbClr val="2EA06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100.0%</a:t>
            </a:r>
            <a:endParaRPr sz="1500" b="1">
              <a:solidFill>
                <a:srgbClr val="2EA06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lnSpc>
                <a:spcPct val="130000"/>
              </a:lnSpc>
            </a:pPr>
            <a:r>
              <a:rPr sz="1500" b="1">
                <a:solidFill>
                  <a:srgbClr val="2E74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• </a:t>
            </a:r>
            <a:r>
              <a:rPr sz="1500" b="1">
                <a:solidFill>
                  <a:srgbClr val="1F386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Wilson 95% 置信区间：</a:t>
            </a:r>
            <a:r>
              <a:rPr sz="1500" b="0">
                <a:solidFill>
                  <a:srgbClr val="40404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[92.9%, 100.0%]（小样本下界即由此而来）</a:t>
            </a:r>
            <a:endParaRPr sz="1500" b="0">
              <a:solidFill>
                <a:srgbClr val="40404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lnSpc>
                <a:spcPct val="130000"/>
              </a:lnSpc>
            </a:pPr>
            <a:r>
              <a:rPr sz="1500" b="1">
                <a:solidFill>
                  <a:srgbClr val="2E74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• </a:t>
            </a:r>
            <a:r>
              <a:rPr sz="1500" b="1">
                <a:solidFill>
                  <a:srgbClr val="1F386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理想原子对照：</a:t>
            </a:r>
            <a:r>
              <a:rPr sz="1500" b="0">
                <a:solidFill>
                  <a:srgbClr val="40404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末态 E/U₀ = -0.99999966，激发变化仅 5e-05 μK</a:t>
            </a:r>
            <a:endParaRPr sz="1500" b="0">
              <a:solidFill>
                <a:srgbClr val="40404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lnSpc>
                <a:spcPct val="130000"/>
              </a:lnSpc>
            </a:pPr>
            <a:r>
              <a:rPr sz="1500" b="1">
                <a:solidFill>
                  <a:srgbClr val="2E74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• </a:t>
            </a:r>
            <a:r>
              <a:rPr sz="1500" b="1">
                <a:solidFill>
                  <a:srgbClr val="1F386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解读：</a:t>
            </a:r>
            <a:r>
              <a:rPr sz="1500" b="0">
                <a:solidFill>
                  <a:srgbClr val="40404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该波形下转移对初温 5 μK 的经典热样品是“无损”的</a:t>
            </a:r>
            <a:endParaRPr sz="1500" b="0">
              <a:solidFill>
                <a:srgbClr val="40404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6" name="Picture 5" descr="11_capture_rate_summar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2095323"/>
            <a:ext cx="5486400" cy="312455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09360" y="60650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2E74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俘获率汇总与置信区间</a:t>
            </a:r>
            <a:endParaRPr sz="1100" b="0">
              <a:solidFill>
                <a:srgbClr val="2E74B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9DC3E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Step 4 · 统计（b）</a:t>
            </a:r>
            <a:endParaRPr sz="1300" b="1">
              <a:solidFill>
                <a:srgbClr val="9DC3E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转移不是加热而是冷却：激发能平均下降 ~2 μK</a:t>
            </a:r>
            <a:endParaRPr sz="26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4206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500" b="1">
                <a:solidFill>
                  <a:srgbClr val="2E74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• </a:t>
            </a:r>
            <a:r>
              <a:rPr sz="1500" b="1">
                <a:solidFill>
                  <a:srgbClr val="1F386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激发能变化：</a:t>
            </a:r>
            <a:r>
              <a:rPr sz="1500" b="0">
                <a:solidFill>
                  <a:srgbClr val="40404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均值 -1.92 μK，中位数 -1.06 μK</a:t>
            </a:r>
            <a:endParaRPr sz="1500" b="0">
              <a:solidFill>
                <a:srgbClr val="40404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lnSpc>
                <a:spcPct val="130000"/>
              </a:lnSpc>
            </a:pPr>
            <a:r>
              <a:rPr sz="1500" b="1">
                <a:solidFill>
                  <a:srgbClr val="2E74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• </a:t>
            </a:r>
            <a:r>
              <a:rPr sz="1500" b="1">
                <a:solidFill>
                  <a:srgbClr val="1F386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末态能量：</a:t>
            </a:r>
            <a:r>
              <a:rPr sz="1500" b="0">
                <a:solidFill>
                  <a:srgbClr val="40404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平均 E_f/U₀ = -0.967（接近阱底）</a:t>
            </a:r>
            <a:endParaRPr sz="1500" b="0">
              <a:solidFill>
                <a:srgbClr val="40404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lnSpc>
                <a:spcPct val="130000"/>
              </a:lnSpc>
            </a:pPr>
            <a:r>
              <a:rPr sz="1500" b="1">
                <a:solidFill>
                  <a:srgbClr val="2E74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• </a:t>
            </a:r>
            <a:r>
              <a:rPr sz="1500" b="1">
                <a:solidFill>
                  <a:srgbClr val="1F386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机制：</a:t>
            </a:r>
            <a:r>
              <a:rPr sz="1500" b="0">
                <a:solidFill>
                  <a:srgbClr val="40404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合并减速 + 释放段 (1−s)² 绝热性 → 相空间收缩</a:t>
            </a:r>
            <a:endParaRPr sz="1500" b="0">
              <a:solidFill>
                <a:srgbClr val="40404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lnSpc>
                <a:spcPct val="130000"/>
              </a:lnSpc>
            </a:pPr>
            <a:r>
              <a:rPr sz="1500" b="1">
                <a:solidFill>
                  <a:srgbClr val="2E74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• </a:t>
            </a:r>
            <a:r>
              <a:rPr sz="1500" b="1">
                <a:solidFill>
                  <a:srgbClr val="1F386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对照初温：</a:t>
            </a:r>
            <a:r>
              <a:rPr sz="1500" b="0">
                <a:solidFill>
                  <a:srgbClr val="40404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初态平均激发 6.6 μK → 末态 4.6 μK</a:t>
            </a:r>
            <a:endParaRPr sz="1500" b="0">
              <a:solidFill>
                <a:srgbClr val="40404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6" name="Picture 5" descr="08_phase_space_collaps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874554"/>
            <a:ext cx="5669280" cy="2400731"/>
          </a:xfrm>
          <a:prstGeom prst="rect">
            <a:avLst/>
          </a:prstGeom>
        </p:spPr>
      </p:pic>
      <p:pic>
        <p:nvPicPr>
          <p:cNvPr id="7" name="Picture 6" descr="10_excitation_change_h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347961"/>
            <a:ext cx="5577840" cy="298503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17920" y="643080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2E74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逐 shot 激发能变化分布（负值 = 冷却）</a:t>
            </a:r>
            <a:endParaRPr sz="1100" b="0">
              <a:solidFill>
                <a:srgbClr val="2E74B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9DC3E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扩展 · 参数扫描（一）框架</a:t>
            </a:r>
            <a:endParaRPr sz="1300" b="1">
              <a:solidFill>
                <a:srgbClr val="9DC3E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把四步流水线变成可批量重放的实验台</a:t>
            </a:r>
            <a:endParaRPr sz="26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44805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500" b="1">
                <a:solidFill>
                  <a:srgbClr val="2E74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• </a:t>
            </a:r>
            <a:r>
              <a:rPr sz="1500" b="1">
                <a:solidFill>
                  <a:srgbClr val="1F386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扫什么：</a:t>
            </a:r>
            <a:r>
              <a:rPr sz="1500" b="0">
                <a:solidFill>
                  <a:srgbClr val="40404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12 个单维参数（时长、移动配比、波形形状、ramp 指数、间距、双阱深度、束腰失配、对准偏移、初始激发能、dt、温度）+ 深度二维、MC 统计与相位检验</a:t>
            </a:r>
            <a:endParaRPr sz="1500" b="0">
              <a:solidFill>
                <a:srgbClr val="40404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lnSpc>
                <a:spcPct val="130000"/>
              </a:lnSpc>
            </a:pPr>
            <a:r>
              <a:rPr sz="1500" b="1">
                <a:solidFill>
                  <a:srgbClr val="2E74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• </a:t>
            </a:r>
            <a:r>
              <a:rPr sz="1500" b="1">
                <a:solidFill>
                  <a:srgbClr val="1F386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怎么跑：</a:t>
            </a:r>
            <a:r>
              <a:rPr sz="1500" b="0">
                <a:solidFill>
                  <a:srgbClr val="40404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每点独立 MC（198 shots），共享一个 multiprocessing Pool；扫描点 = 基线配置 + 单字段覆盖</a:t>
            </a:r>
            <a:endParaRPr sz="1500" b="0">
              <a:solidFill>
                <a:srgbClr val="40404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lnSpc>
                <a:spcPct val="130000"/>
              </a:lnSpc>
            </a:pPr>
            <a:r>
              <a:rPr sz="1500" b="1">
                <a:solidFill>
                  <a:srgbClr val="2E74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• </a:t>
            </a:r>
            <a:r>
              <a:rPr sz="1500" b="1">
                <a:solidFill>
                  <a:srgbClr val="1F386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两种初态模式：</a:t>
            </a:r>
            <a:r>
              <a:rPr sz="1500" b="0">
                <a:solidFill>
                  <a:srgbClr val="40404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thermal（同主流程）或 fixed_excitation（固定激发能，转折点间均匀采 x，能量守恒定 |v|）</a:t>
            </a:r>
            <a:endParaRPr sz="1500" b="0">
              <a:solidFill>
                <a:srgbClr val="40404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lnSpc>
                <a:spcPct val="130000"/>
              </a:lnSpc>
            </a:pPr>
            <a:r>
              <a:rPr sz="1500" b="1">
                <a:solidFill>
                  <a:srgbClr val="2E74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• </a:t>
            </a:r>
            <a:r>
              <a:rPr sz="1500" b="1">
                <a:solidFill>
                  <a:srgbClr val="1F386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波形可插拔：</a:t>
            </a:r>
            <a:r>
              <a:rPr sz="1500" b="0">
                <a:solidFill>
                  <a:srgbClr val="40404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5 种移动形状（linear / smoothstep / smootherstep / sine / ease-in-quad）× 任意 ramp 指数</a:t>
            </a:r>
            <a:endParaRPr sz="1500" b="0">
              <a:solidFill>
                <a:srgbClr val="40404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lnSpc>
                <a:spcPct val="130000"/>
              </a:lnSpc>
            </a:pPr>
            <a:r>
              <a:rPr sz="1500" b="1">
                <a:solidFill>
                  <a:srgbClr val="2E74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• </a:t>
            </a:r>
            <a:r>
              <a:rPr sz="1500" b="1">
                <a:solidFill>
                  <a:srgbClr val="1F386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每点产出：</a:t>
            </a:r>
            <a:r>
              <a:rPr sz="1500" b="0">
                <a:solidFill>
                  <a:srgbClr val="40404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逐 shot CSV + summary.csv + 六联诊断图；总量 34,000+ shots（温度扫描独占 16,000）</a:t>
            </a:r>
            <a:endParaRPr sz="1500" b="0">
              <a:solidFill>
                <a:srgbClr val="40404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6" name="Picture 5" descr="scan_duration_detai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0" y="1896015"/>
            <a:ext cx="6583680" cy="361460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120640" y="6156480"/>
            <a:ext cx="6583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2E74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示例：转移时长扫描的六联诊断图（每个扫描点各出一张）</a:t>
            </a:r>
            <a:endParaRPr sz="1100" b="0">
              <a:solidFill>
                <a:srgbClr val="2E74B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9DC3E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扩展 · 参数扫描（二）总览</a:t>
            </a:r>
            <a:endParaRPr sz="1300" b="1">
              <a:solidFill>
                <a:srgbClr val="9DC3E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12 维单参数扫描：除温度外俘获率全程 100%</a:t>
            </a:r>
            <a:endParaRPr sz="26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3657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500" b="1">
                <a:solidFill>
                  <a:srgbClr val="2E74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• </a:t>
            </a:r>
            <a:r>
              <a:rPr sz="1500" b="1">
                <a:solidFill>
                  <a:srgbClr val="1F386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平台极宽：</a:t>
            </a:r>
            <a:r>
              <a:rPr sz="1500" b="0">
                <a:solidFill>
                  <a:srgbClr val="40404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11 个维度上俘获率恒为 1.0（每点 198 shots，Wilson 下界 98.1%）</a:t>
            </a:r>
            <a:endParaRPr sz="1500" b="0">
              <a:solidFill>
                <a:srgbClr val="40404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lnSpc>
                <a:spcPct val="130000"/>
              </a:lnSpc>
            </a:pPr>
            <a:r>
              <a:rPr sz="1500" b="1">
                <a:solidFill>
                  <a:srgbClr val="2E74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• </a:t>
            </a:r>
            <a:r>
              <a:rPr sz="1500" b="1">
                <a:solidFill>
                  <a:srgbClr val="1F386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基线是内点：</a:t>
            </a:r>
            <a:r>
              <a:rPr sz="1500" b="0">
                <a:solidFill>
                  <a:srgbClr val="40404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绿线标注的默认配置落在平台的中心，不是精细调参的孤立解</a:t>
            </a:r>
            <a:endParaRPr sz="1500" b="0">
              <a:solidFill>
                <a:srgbClr val="40404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lnSpc>
                <a:spcPct val="130000"/>
              </a:lnSpc>
            </a:pPr>
            <a:r>
              <a:rPr sz="1500" b="1">
                <a:solidFill>
                  <a:srgbClr val="2E74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• </a:t>
            </a:r>
            <a:r>
              <a:rPr sz="1500" b="1">
                <a:solidFill>
                  <a:srgbClr val="1F386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数值已收敛：</a:t>
            </a:r>
            <a:r>
              <a:rPr sz="1500" b="0">
                <a:solidFill>
                  <a:srgbClr val="40404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dt 从 0.05 → 0.0125 μs 结果不变 → 平台不是步长伪影</a:t>
            </a:r>
            <a:endParaRPr sz="1500" b="0">
              <a:solidFill>
                <a:srgbClr val="40404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lnSpc>
                <a:spcPct val="130000"/>
              </a:lnSpc>
            </a:pPr>
            <a:r>
              <a:rPr sz="1500" b="1">
                <a:solidFill>
                  <a:srgbClr val="2E74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• </a:t>
            </a:r>
            <a:r>
              <a:rPr sz="1500" b="1">
                <a:solidFill>
                  <a:srgbClr val="C0504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唯一敏感维度：</a:t>
            </a:r>
            <a:r>
              <a:rPr sz="1500" b="0">
                <a:solidFill>
                  <a:srgbClr val="40404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温度（右下图），交给下一页详查</a:t>
            </a:r>
            <a:endParaRPr sz="1500" b="0">
              <a:solidFill>
                <a:srgbClr val="40404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6" name="Picture 5" descr="scan_dashboar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07797" y="1188720"/>
            <a:ext cx="7169285" cy="502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343400" y="6247920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2E74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12 个扫描维度的俘获率总览（3 × 4 面板，绿色竖线 = 基线点）</a:t>
            </a:r>
            <a:endParaRPr sz="1100" b="0">
              <a:solidFill>
                <a:srgbClr val="2E74B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9DC3E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扩展 · 参数扫描（三）边界</a:t>
            </a:r>
            <a:endParaRPr sz="1300" b="1">
              <a:solidFill>
                <a:srgbClr val="9DC3E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三个真正的边界：温度、能量悬崖、加热区</a:t>
            </a:r>
            <a:endParaRPr sz="26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5" name="Picture 4" descr="scan_sensitivity_rankin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470295"/>
            <a:ext cx="3794760" cy="20428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3779040"/>
            <a:ext cx="3794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2E74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敏感度排序：各维度俘获率极差</a:t>
            </a:r>
            <a:endParaRPr sz="1100" b="0">
              <a:solidFill>
                <a:srgbClr val="2E74B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7" name="Picture 6" descr="capture_fraction_vs_tempera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3672" y="1388612"/>
            <a:ext cx="3794760" cy="220625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233672" y="3779040"/>
            <a:ext cx="3794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2E74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温度边界：20 μK 后开始损失</a:t>
            </a:r>
            <a:endParaRPr sz="1100" b="0">
              <a:solidFill>
                <a:srgbClr val="2E74B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9" name="Picture 8" descr="energy_boundary_sca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7304" y="1369314"/>
            <a:ext cx="3794760" cy="224485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147304" y="3779040"/>
            <a:ext cx="3794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2E74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能量悬崖：180 → 220 μK 崩塌</a:t>
            </a:r>
            <a:endParaRPr sz="1100" b="0">
              <a:solidFill>
                <a:srgbClr val="2E74B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4160520"/>
            <a:ext cx="113385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500" b="1">
                <a:solidFill>
                  <a:srgbClr val="2E74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• </a:t>
            </a:r>
            <a:r>
              <a:rPr sz="1500" b="1">
                <a:solidFill>
                  <a:srgbClr val="1F386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温度边界：</a:t>
            </a:r>
            <a:r>
              <a:rPr sz="1500" b="0">
                <a:solidFill>
                  <a:srgbClr val="40404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T ≤ 20 μK 全俘获；30 μK 起下降（99.7%）；250 μK → 76.9%（999 shots/点）</a:t>
            </a:r>
            <a:endParaRPr sz="1500" b="0">
              <a:solidFill>
                <a:srgbClr val="40404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lnSpc>
                <a:spcPct val="130000"/>
              </a:lnSpc>
            </a:pPr>
            <a:r>
              <a:rPr sz="1500" b="1">
                <a:solidFill>
                  <a:srgbClr val="2E74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• </a:t>
            </a:r>
            <a:r>
              <a:rPr sz="1500" b="1">
                <a:solidFill>
                  <a:srgbClr val="C0504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能量悬崖：</a:t>
            </a:r>
            <a:r>
              <a:rPr sz="1500" b="0">
                <a:solidFill>
                  <a:srgbClr val="40404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初始激发 180 μK 仍全俘获，220 μK 崩塌至 1.5% —— 判据本质是初激发 ≪ SLM 深度</a:t>
            </a:r>
            <a:endParaRPr sz="1500" b="0">
              <a:solidFill>
                <a:srgbClr val="40404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lnSpc>
                <a:spcPct val="130000"/>
              </a:lnSpc>
            </a:pPr>
            <a:r>
              <a:rPr sz="1500" b="1">
                <a:solidFill>
                  <a:srgbClr val="2E74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• </a:t>
            </a:r>
            <a:r>
              <a:rPr sz="1500" b="1">
                <a:solidFill>
                  <a:srgbClr val="1F386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加热区（俘获仍 100%，但 dE &gt; 0）：</a:t>
            </a:r>
            <a:r>
              <a:rPr sz="1500" b="0">
                <a:solidFill>
                  <a:srgbClr val="40404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SLM 过深 320 μK → +55 μK；AOD 过浅 140 μK → +12 μK；间距过近 0.8 μm → +7.8 μK</a:t>
            </a:r>
            <a:endParaRPr sz="1500" b="0">
              <a:solidFill>
                <a:srgbClr val="40404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lnSpc>
                <a:spcPct val="130000"/>
              </a:lnSpc>
            </a:pPr>
            <a:r>
              <a:rPr sz="1500" b="1">
                <a:solidFill>
                  <a:srgbClr val="2E74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• </a:t>
            </a:r>
            <a:r>
              <a:rPr sz="1500" b="1">
                <a:solidFill>
                  <a:srgbClr val="1F386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工程含义：</a:t>
            </a:r>
            <a:r>
              <a:rPr sz="1500" b="0">
                <a:solidFill>
                  <a:srgbClr val="40404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安全工作区 = 温度 ≪ 30 μK 且初激发 ≪ SLM 深度，同时避开过深 SLM / 过浅 AOD / 过近间距</a:t>
            </a:r>
            <a:endParaRPr sz="1500" b="0">
              <a:solidFill>
                <a:srgbClr val="40404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9DC3E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扩展 · 参数扫描（四）交叉验证</a:t>
            </a:r>
            <a:endParaRPr sz="1300" b="1">
              <a:solidFill>
                <a:srgbClr val="9DC3E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独立副本复现同一结论，并补上快转移盲区</a:t>
            </a:r>
            <a:endParaRPr sz="26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54864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500" b="1">
                <a:solidFill>
                  <a:srgbClr val="2E74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• </a:t>
            </a:r>
            <a:r>
              <a:rPr sz="1500" b="1">
                <a:solidFill>
                  <a:srgbClr val="1F386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是什么：</a:t>
            </a:r>
            <a:r>
              <a:rPr sz="1500" b="0">
                <a:solidFill>
                  <a:srgbClr val="40404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另一份独立代码副本中的 run_parameter_scans.py：6 个单参数扫描（时长/配比/双阱深度/间距/波形形状）+ 温度合并面板，OAT 设计与本套件相同</a:t>
            </a:r>
            <a:endParaRPr sz="1500" b="0">
              <a:solidFill>
                <a:srgbClr val="40404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lnSpc>
                <a:spcPct val="130000"/>
              </a:lnSpc>
            </a:pPr>
            <a:r>
              <a:rPr sz="1500" b="1">
                <a:solidFill>
                  <a:srgbClr val="2E74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• </a:t>
            </a:r>
            <a:r>
              <a:rPr sz="1500" b="1">
                <a:solidFill>
                  <a:srgbClr val="1F386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怎么跑：</a:t>
            </a:r>
            <a:r>
              <a:rPr sz="1500" b="0">
                <a:solidFill>
                  <a:srgbClr val="40404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每点 200 shots（8×25 并行），41 点共 8,200 shots、204 s（9 进程）；误差棒 = Wilson 95% CI，虚线 = 基线</a:t>
            </a:r>
            <a:endParaRPr sz="1500" b="0">
              <a:solidFill>
                <a:srgbClr val="40404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lnSpc>
                <a:spcPct val="130000"/>
              </a:lnSpc>
            </a:pPr>
            <a:r>
              <a:rPr sz="1500" b="1">
                <a:solidFill>
                  <a:srgbClr val="2E74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• </a:t>
            </a:r>
            <a:r>
              <a:rPr sz="1500" b="1">
                <a:solidFill>
                  <a:srgbClr val="C0504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新发现 · 快转移崩塌：</a:t>
            </a:r>
            <a:r>
              <a:rPr sz="1500" b="0">
                <a:solidFill>
                  <a:srgbClr val="40404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50 μs → 俘获率 2.5%（5/200）、平均加热 +258 μK；75 μs → 恢复 100%</a:t>
            </a:r>
            <a:endParaRPr sz="1500" b="0">
              <a:solidFill>
                <a:srgbClr val="40404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lnSpc>
                <a:spcPct val="130000"/>
              </a:lnSpc>
            </a:pPr>
            <a:r>
              <a:rPr sz="1500" b="1">
                <a:solidFill>
                  <a:srgbClr val="2E74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• </a:t>
            </a:r>
            <a:r>
              <a:rPr sz="1500" b="0">
                <a:solidFill>
                  <a:srgbClr val="40404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  本套件时长扫描最快只到 100 μs，独立副本补上了 &lt;100 μs 盲区</a:t>
            </a:r>
            <a:endParaRPr sz="1500" b="0">
              <a:solidFill>
                <a:srgbClr val="40404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lnSpc>
                <a:spcPct val="130000"/>
              </a:lnSpc>
            </a:pPr>
            <a:r>
              <a:rPr sz="1500" b="1">
                <a:solidFill>
                  <a:srgbClr val="2E74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• </a:t>
            </a:r>
            <a:r>
              <a:rPr sz="1500" b="1">
                <a:solidFill>
                  <a:srgbClr val="1F386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重叠区间互相印证：</a:t>
            </a:r>
            <a:r>
              <a:rPr sz="1500" b="0">
                <a:solidFill>
                  <a:srgbClr val="40404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≥75 μs 后两套结果一致（全俘获，平台 ΔE ≈ -1.4 μK）；加热趋势也相同：浅 AOD +51 μK@100μK、深 SLM +16 μK@280μK、近间距 +8.3 μK@0.6μm</a:t>
            </a:r>
            <a:endParaRPr sz="1500" b="0">
              <a:solidFill>
                <a:srgbClr val="40404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lnSpc>
                <a:spcPct val="130000"/>
              </a:lnSpc>
            </a:pPr>
            <a:r>
              <a:rPr sz="1500" b="1">
                <a:solidFill>
                  <a:srgbClr val="2E74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• </a:t>
            </a:r>
            <a:r>
              <a:rPr sz="1500" b="1">
                <a:solidFill>
                  <a:srgbClr val="1F386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安全工作区新增下界：</a:t>
            </a:r>
            <a:r>
              <a:rPr sz="1500" b="1">
                <a:solidFill>
                  <a:srgbClr val="2EA06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转移时长 ≳ 75 μs</a:t>
            </a:r>
            <a:endParaRPr sz="1500" b="1">
              <a:solidFill>
                <a:srgbClr val="2EA06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6" name="Picture 5" descr="scan_duration_u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1778044"/>
            <a:ext cx="5577840" cy="375911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17920" y="606504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2E74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独立副本时长扫描：50 μs 崩塌、75 μs 起全俘获（上：俘获率+CI，下：ΔE）</a:t>
            </a:r>
            <a:endParaRPr sz="1100" b="0">
              <a:solidFill>
                <a:srgbClr val="2E74B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9DC3E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结论</a:t>
            </a:r>
            <a:endParaRPr sz="1300" b="1">
              <a:solidFill>
                <a:srgbClr val="9DC3E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四步流水线 + 参数扫描给出的四个答案</a:t>
            </a:r>
            <a:endParaRPr sz="26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Oval 4"/>
          <p:cNvSpPr/>
          <p:nvPr/>
        </p:nvSpPr>
        <p:spPr>
          <a:xfrm>
            <a:off x="640080" y="1417320"/>
            <a:ext cx="777240" cy="777240"/>
          </a:xfrm>
          <a:prstGeom prst="ellipse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45336"/>
            <a:ext cx="777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</a:t>
            </a:r>
            <a:endParaRPr sz="24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691640" y="139903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1F386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数值可信</a:t>
            </a:r>
            <a:endParaRPr sz="1900" b="1">
              <a:solidFill>
                <a:srgbClr val="1F386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691640" y="182880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40404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静态极限、波形端点、dt 收敛（10⁻⁹）、MC 可复现全部通过——结果不受数值伪影支配</a:t>
            </a:r>
            <a:endParaRPr sz="1500" b="0">
              <a:solidFill>
                <a:srgbClr val="40404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Oval 8"/>
          <p:cNvSpPr/>
          <p:nvPr/>
        </p:nvSpPr>
        <p:spPr>
          <a:xfrm>
            <a:off x="640080" y="2971800"/>
            <a:ext cx="777240" cy="777240"/>
          </a:xfrm>
          <a:prstGeom prst="ellipse">
            <a:avLst/>
          </a:prstGeom>
          <a:solidFill>
            <a:srgbClr val="2EA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99816"/>
            <a:ext cx="777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</a:t>
            </a:r>
            <a:endParaRPr sz="24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691640" y="295351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1F386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俘获完全</a:t>
            </a:r>
            <a:endParaRPr sz="1900" b="1">
              <a:solidFill>
                <a:srgbClr val="1F386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691640" y="338328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40404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50/50 经典俘获，Wilson 95% CI 下界 92.9%；理想情形激发变化 ~5×10⁻⁵ μK</a:t>
            </a:r>
            <a:endParaRPr sz="1500" b="0">
              <a:solidFill>
                <a:srgbClr val="40404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640080" y="4526280"/>
            <a:ext cx="777240" cy="777240"/>
          </a:xfrm>
          <a:prstGeom prst="ellipse">
            <a:avLst/>
          </a:prstGeom>
          <a:solidFill>
            <a:srgbClr val="E87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654296"/>
            <a:ext cx="777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3</a:t>
            </a:r>
            <a:endParaRPr sz="24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691640" y="450799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1F386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过程是冷却的</a:t>
            </a:r>
            <a:endParaRPr sz="1900" b="1">
              <a:solidFill>
                <a:srgbClr val="1F386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691640" y="493776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40404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热样品平均激发能 6.6 → 4.6 μK（−1.9 μK），波形设计对初始热误差有鲁棒性</a:t>
            </a:r>
            <a:endParaRPr sz="1500" b="0">
              <a:solidFill>
                <a:srgbClr val="40404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640080" y="6080760"/>
            <a:ext cx="777240" cy="777240"/>
          </a:xfrm>
          <a:prstGeom prst="ellipse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208776"/>
            <a:ext cx="777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4</a:t>
            </a:r>
            <a:endParaRPr sz="24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691640" y="606247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1F386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工作区很宽</a:t>
            </a:r>
            <a:endParaRPr sz="1900" b="1">
              <a:solidFill>
                <a:srgbClr val="1F386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691640" y="64922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40404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12+6 维扫描（两套独立实现）中除温度与快转移外俘获率恒 100%；边界清晰：时长 ≳ 75 μs、温度 ≪ 30 μK、初激发 ≪ SLM 深度</a:t>
            </a:r>
            <a:endParaRPr sz="1500" b="0">
              <a:solidFill>
                <a:srgbClr val="40404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9DC3E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边界与局限</a:t>
            </a:r>
            <a:endParaRPr sz="1300" b="1">
              <a:solidFill>
                <a:srgbClr val="9DC3E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这个数字是什么、不是什么</a:t>
            </a:r>
            <a:endParaRPr sz="26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556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500" b="1">
                <a:solidFill>
                  <a:srgbClr val="2E74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• </a:t>
            </a:r>
            <a:r>
              <a:rPr sz="1500" b="1">
                <a:solidFill>
                  <a:srgbClr val="2EA06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是：</a:t>
            </a:r>
            <a:r>
              <a:rPr sz="1500" b="0">
                <a:solidFill>
                  <a:srgbClr val="40404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一维经典力学模型在指定配置下的俘获率与激发能统计</a:t>
            </a:r>
            <a:endParaRPr sz="1500" b="0">
              <a:solidFill>
                <a:srgbClr val="40404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lnSpc>
                <a:spcPct val="130000"/>
              </a:lnSpc>
            </a:pPr>
            <a:r>
              <a:rPr sz="1500" b="1">
                <a:solidFill>
                  <a:srgbClr val="2E74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• </a:t>
            </a:r>
            <a:r>
              <a:rPr sz="1500" b="1">
                <a:solidFill>
                  <a:srgbClr val="C0504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不是：</a:t>
            </a:r>
            <a:r>
              <a:rPr sz="1500" b="0">
                <a:solidFill>
                  <a:srgbClr val="40404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实验存活率、AOD-SLM 转移保真度或量子态保真度</a:t>
            </a:r>
            <a:endParaRPr sz="1500" b="0">
              <a:solidFill>
                <a:srgbClr val="40404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lnSpc>
                <a:spcPct val="130000"/>
              </a:lnSpc>
            </a:pPr>
            <a:r>
              <a:rPr sz="1500" b="1">
                <a:solidFill>
                  <a:srgbClr val="2E74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• </a:t>
            </a:r>
            <a:r>
              <a:rPr sz="1500" b="0">
                <a:solidFill>
                  <a:srgbClr val="40404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  不可直接对标文献 99.81% 基准——物理内容不同</a:t>
            </a:r>
            <a:endParaRPr sz="1500" b="0">
              <a:solidFill>
                <a:srgbClr val="40404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lnSpc>
                <a:spcPct val="130000"/>
              </a:lnSpc>
            </a:pPr>
            <a:r>
              <a:rPr sz="1500" b="1">
                <a:solidFill>
                  <a:srgbClr val="2E74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• </a:t>
            </a:r>
            <a:r>
              <a:rPr sz="1500" b="1">
                <a:solidFill>
                  <a:srgbClr val="1F386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未包含：</a:t>
            </a:r>
            <a:r>
              <a:rPr sz="1500" b="0">
                <a:solidFill>
                  <a:srgbClr val="40404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硬件噪声、2D/3D 与轴向运动、光子散射、真空碰撞、多原子相互作用、量子内态与相干性</a:t>
            </a:r>
            <a:endParaRPr sz="1500" b="0">
              <a:solidFill>
                <a:srgbClr val="40404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lnSpc>
                <a:spcPct val="130000"/>
              </a:lnSpc>
            </a:pPr>
            <a:r>
              <a:rPr sz="1500" b="1">
                <a:solidFill>
                  <a:srgbClr val="2E74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• </a:t>
            </a:r>
            <a:r>
              <a:rPr sz="1500" b="1">
                <a:solidFill>
                  <a:srgbClr val="1F386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参数假设：</a:t>
            </a:r>
            <a:r>
              <a:rPr sz="1500" b="0">
                <a:solidFill>
                  <a:srgbClr val="40404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转移时长 600 μs、温度 5 μK、AOD 束腰 1.17 μm 均为 assumed，已在配置中显式标记</a:t>
            </a:r>
            <a:endParaRPr sz="1500" b="0">
              <a:solidFill>
                <a:srgbClr val="40404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lnSpc>
                <a:spcPct val="130000"/>
              </a:lnSpc>
            </a:pPr>
            <a:r>
              <a:rPr sz="1500" b="1">
                <a:solidFill>
                  <a:srgbClr val="2E74B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• </a:t>
            </a:r>
            <a:r>
              <a:rPr sz="1500" b="1">
                <a:solidFill>
                  <a:srgbClr val="1F386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下一步：</a:t>
            </a:r>
            <a:r>
              <a:rPr sz="1500" b="0">
                <a:solidFill>
                  <a:srgbClr val="40404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单参数扫描已完成（两套实现互证）；可扩展方向：二维联合扫描（深度×时长）、噪声模型与多原子相互作用</a:t>
            </a:r>
            <a:endParaRPr sz="1500" b="0">
              <a:solidFill>
                <a:srgbClr val="40404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6" name="Picture 5" descr="03_potential_evoluti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5970" y="3794760"/>
            <a:ext cx="8329579" cy="2743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4609</Words>
  <Application>WPS Presentation</Application>
  <PresentationFormat>On-screen Show (4:3)</PresentationFormat>
  <Paragraphs>236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0" baseType="lpstr">
      <vt:lpstr>Arial</vt:lpstr>
      <vt:lpstr>SimSun</vt:lpstr>
      <vt:lpstr>Wingdings</vt:lpstr>
      <vt:lpstr>Arial</vt:lpstr>
      <vt:lpstr>PingFang SC</vt:lpstr>
      <vt:lpstr>Calibri</vt:lpstr>
      <vt:lpstr>Helvetica Neue</vt:lpstr>
      <vt:lpstr>Microsoft YaHei</vt:lpstr>
      <vt:lpstr>汉仪旗黑</vt:lpstr>
      <vt:lpstr>Arial Unicode MS</vt:lpstr>
      <vt:lpstr>汉仪书宋二KW</vt:lpstr>
      <vt:lpstr>MS PGothic</vt:lpstr>
      <vt:lpstr>苹方-简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项一帆</cp:lastModifiedBy>
  <cp:revision>2</cp:revision>
  <dcterms:created xsi:type="dcterms:W3CDTF">2026-08-18T07:55:29Z</dcterms:created>
  <dcterms:modified xsi:type="dcterms:W3CDTF">2026-08-18T07:55:29Z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1033-12.1.26055.26055</vt:lpwstr>
  </property>
  <property fmtid="{D5CDD505-2E9C-101B-9397-08002B2CF9AE}" pid="3" name="ICV">
    <vt:lpwstr>F22149F592BAB92BF10F846A18D338B9_42</vt:lpwstr>
  </property>
</Properties>
</file>