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EC5E8"/>
                </a:solidFill>
              </a:rPr>
              <a:t>Monte Carlo for AOD→SLM 原子转移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Level 2：同步移动-降深波形优化</a:t>
            </a:r>
          </a:p>
          <a:p>
            <a:pPr algn="ctr"/>
            <a:r>
              <a:rPr sz="4000" b="1">
                <a:solidFill>
                  <a:srgbClr val="FFFFFF"/>
                </a:solidFill>
              </a:rPr>
              <a:t>与鲁棒蒙特卡洛验证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3E8"/>
                </a:solidFill>
              </a:rPr>
              <a:t>600 μs 顺序基线 vs 400 μs 压缩基线 vs 400 μs 优化同步波形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8C8"/>
                </a:solidFill>
              </a:rPr>
              <a:t>88 项测试全部通过 · 257 个优化候选 · 2000 shots 独立验证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要回答的问题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Level 2 的定位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A35"/>
                </a:solidFill>
              </a:rPr>
              <a:t>• 物理场景</a:t>
            </a:r>
            <a:r>
              <a:rPr sz="1700">
                <a:solidFill>
                  <a:srgbClr val="666666"/>
                </a:solidFill>
              </a:rPr>
              <a:t>　280 μK AOD 光镊抓住一颗铯原子，旁边是静止的 140 μK SLM 光镊；AOD 一边挪向 SLM 一边关灯，把原子留给 SLM。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A35"/>
                </a:solidFill>
              </a:rPr>
              <a:t>• Level 1 基线</a:t>
            </a:r>
            <a:r>
              <a:rPr sz="1700">
                <a:solidFill>
                  <a:srgbClr val="666666"/>
                </a:solidFill>
              </a:rPr>
              <a:t>　顺序式两步走：前 52% 时间只移动（600 μs），后 48% 只降深。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A35"/>
                </a:solidFill>
              </a:rPr>
              <a:t>• Level 2 问题</a:t>
            </a:r>
            <a:r>
              <a:rPr sz="1700">
                <a:solidFill>
                  <a:srgbClr val="666666"/>
                </a:solidFill>
              </a:rPr>
              <a:t>　允许位置与深度同时变化（重叠），能否把转移从 600 μs 压缩到 400 μs，同时保持或提高 SLM 俘获率、降低末态激发？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solidFill>
            <a:srgbClr val="FDF3E7"/>
          </a:solidFill>
          <a:ln>
            <a:solidFill>
              <a:srgbClr val="E8A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方法学底线（本项目的核心价值）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· 三批互不重叠的随机样本池，防止蒙特卡洛过拟合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· 优化后未优于基线 ≠ 失败：如实报告『未观察到显著提升』，不得用验证集回调参数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模型边界：一维经典动力学；不含二维/轴向、光子散射、技术噪声、量子内态与多原子相互作用。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物理模型（沿用 Level 0/1 已验证实现）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一维焦平面径向高斯势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SLM 静止阱</a:t>
            </a:r>
            <a:r>
              <a:rPr sz="1400">
                <a:solidFill>
                  <a:srgbClr val="666666"/>
                </a:solidFill>
              </a:rPr>
              <a:t>　U_SLM(x) = −D_SLM·exp(−2x²/w²)，D_SLM = 140 μK，w = 1.17 μm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AOD 时变阱</a:t>
            </a:r>
            <a:r>
              <a:rPr sz="1400">
                <a:solidFill>
                  <a:srgbClr val="666666"/>
                </a:solidFill>
              </a:rPr>
              <a:t>　U_AOD(x,t) = −D(t)·exp(−2[x−c(t)]²/w²)，初始 D₀ = 280 μK，c₀ = 2.4 μm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动力学</a:t>
            </a:r>
            <a:r>
              <a:rPr sz="1400">
                <a:solidFill>
                  <a:srgbClr val="666666"/>
                </a:solidFill>
              </a:rPr>
              <a:t>　时变 velocity-Verlet 推进；转移后追加 100 μs 纯 SLM 保持段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俘获判据</a:t>
            </a:r>
            <a:r>
              <a:rPr sz="1400">
                <a:solidFill>
                  <a:srgbClr val="666666"/>
                </a:solidFill>
              </a:rPr>
              <a:t>　末态 SLM 单阱能量 E_f &lt; 0 ⇒ captured（严格符号判据）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234440"/>
            <a:ext cx="4754880" cy="4023360"/>
          </a:xfrm>
          <a:prstGeom prst="rect">
            <a:avLst/>
          </a:prstGeom>
          <a:solidFill>
            <a:srgbClr val="EAF3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显式时变势中的功-能检查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转移期间机械能不守恒——外部控制在做功：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dE/dt = ∂U_AOD/∂t = 深度功 + 移动功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数值上验证：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R_W = E(t) − E(0) − W_ext(t) ≈ 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残差实测 ≪ 1e-3（相对阱深），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保持段能量仅有界振荡、无漂移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初态：5 μK 简谐近似热分布抽样 + 完整高斯阱束缚拒绝（E_AOD&lt;0）；记录验收率、均值、标准差与种子。w_ADM=1.17 μm 为与 SLM 后孔径匹配的假设值。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方法总览：三池隔离 + 公共随机数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防止用验证集『作弊』的完整闭环</a:t>
            </a:r>
          </a:p>
        </p:txBody>
      </p:sp>
      <p:pic>
        <p:nvPicPr>
          <p:cNvPr id="5" name="Picture 4" descr="01_流程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71" y="914400"/>
            <a:ext cx="1016597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三类主波形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优化器调整的 5 个参数：移动窗口×2、降深窗口×2、降深幂次</a:t>
            </a:r>
          </a:p>
        </p:txBody>
      </p:sp>
      <p:pic>
        <p:nvPicPr>
          <p:cNvPr id="5" name="Picture 4" descr="02_波形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914400"/>
            <a:ext cx="76809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『同步』的含义：优化波形让移动几乎贯穿全程（s∈[0.019, 1]），降深在 s≥0.607 才开始——移动与降深重叠约 39% 的时间；约束保证单调、无过冲、端点速度/加速度为零。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势场演化：原子如何被『倒』进 SLM 阱</a:t>
            </a:r>
          </a:p>
        </p:txBody>
      </p:sp>
      <p:pic>
        <p:nvPicPr>
          <p:cNvPr id="4" name="Picture 3" descr="03_势能剖面演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2924"/>
            <a:ext cx="11704320" cy="5163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优化过程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拉丁超立方探索 → 精修选择 → PCHIP 样条 → 冻结</a:t>
            </a:r>
          </a:p>
        </p:txBody>
      </p:sp>
      <p:pic>
        <p:nvPicPr>
          <p:cNvPr id="5" name="Picture 4" descr="04_优化过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7878"/>
            <a:ext cx="8138160" cy="5522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097280"/>
            <a:ext cx="3383280" cy="4937760"/>
          </a:xfrm>
          <a:prstGeom prst="rect">
            <a:avLst/>
          </a:prstGeom>
          <a:solidFill>
            <a:srgbClr val="EEF8EE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2801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分阶段预算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阶段1：128 shots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LHS 探索 192 候选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（后续入围/精修/样条 65）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阶段2：512 shots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前 8 名入围精修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+ 8 控制点单调样条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冻结：唯一波形写入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best_waveform.yaml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目标 = 俘获率(主)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+ 裕量分位数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+ 末态激发 + 光滑度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（各组成项分开保存）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独立验证（2000 shots × 3 波形，同一初态数组）</a:t>
            </a:r>
          </a:p>
        </p:txBody>
      </p:sp>
      <p:pic>
        <p:nvPicPr>
          <p:cNvPr id="4" name="Picture 3" descr="05_独立验证结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48" y="914400"/>
            <a:ext cx="816222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结果：三波形俘获率均为 2000/2000 = 1.0000（Wilson 95% CI [0.9981, 1.0000]），配对差全部为 0，末态激发均值≈0.025。功-能残差与保持段误差远低于 1e-3 验收阈值。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蒙特卡洛初态与末态分布</a:t>
            </a:r>
          </a:p>
        </p:txBody>
      </p:sp>
      <p:pic>
        <p:nvPicPr>
          <p:cNvPr id="4" name="Picture 3" descr="06_初态与末态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64207"/>
            <a:ext cx="11704320" cy="3803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左：5 μK 热初态相空间（集中于 AOD 阱底附近）；右：末态位置集中于 SLM 阱（0 μm）内。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鲁棒性敏感性（冻结参数后不再调优）</a:t>
            </a:r>
          </a:p>
        </p:txBody>
      </p:sp>
      <p:pic>
        <p:nvPicPr>
          <p:cNvPr id="4" name="Picture 3" descr="07_鲁棒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358"/>
            <a:ext cx="11704320" cy="3717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温度 3/5/7/10 μK、末端对准偏差 ±0.10 μm（各 500 shots）下俘获率保持 100%；步长 0.10→0.025 μs 连续量收敛、俘获标签翻转≈0。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Preflight：不过关不得启动优化</a:t>
            </a:r>
          </a:p>
        </p:txBody>
      </p:sp>
      <p:pic>
        <p:nvPicPr>
          <p:cNvPr id="4" name="Picture 3" descr="08_预检查清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01493"/>
            <a:ext cx="8138160" cy="46950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1097280"/>
            <a:ext cx="3383280" cy="4937760"/>
          </a:xfrm>
          <a:prstGeom prst="rect">
            <a:avLst/>
          </a:prstGeom>
          <a:solidFill>
            <a:srgbClr val="FDEEEE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为什么重要？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时变势中 E(t) 变化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≠ 积分器漂移，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必须用功-能关系区分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步长减半收敛 +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MC 配对标签翻转率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实测 = 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任一项失败即终止，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不会生成『看似完整』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的最优结果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本次：10/10 检查全部通过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（284 s，含 88 项旧测试）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测试与代码质量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88 项测试全部通过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波形</a:t>
            </a:r>
            <a:r>
              <a:rPr sz="1300">
                <a:solidFill>
                  <a:srgbClr val="666666"/>
                </a:solidFill>
              </a:rPr>
              <a:t>　端点严格正确、单调有界、非法参数/奇异端点拒绝、解析导数 vs 有限差分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复现</a:t>
            </a:r>
            <a:r>
              <a:rPr sz="1300">
                <a:solidFill>
                  <a:srgbClr val="666666"/>
                </a:solidFill>
              </a:rPr>
              <a:t>　sequential_600us 与 Level 1 轨迹逐点一致；时变积分器静态极限与 Level 0 一致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防泄漏</a:t>
            </a:r>
            <a:r>
              <a:rPr sz="1300">
                <a:solidFill>
                  <a:srgbClr val="666666"/>
                </a:solidFill>
              </a:rPr>
              <a:t>　三池种子互不相同；spy 测试验证优化全程只抽取 optimization/selection 池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公平性</a:t>
            </a:r>
            <a:r>
              <a:rPr sz="1300">
                <a:solidFill>
                  <a:srgbClr val="666666"/>
                </a:solidFill>
              </a:rPr>
              <a:t>　CRN：三波形初态逐行完全相同；near-threshold 样本保留并按严格符号计数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统计</a:t>
            </a:r>
            <a:r>
              <a:rPr sz="1300">
                <a:solidFill>
                  <a:srgbClr val="666666"/>
                </a:solidFill>
              </a:rPr>
              <a:t>　Wilson 区间、配对 bootstrap 在构造数据上验证正确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工程</a:t>
            </a:r>
            <a:r>
              <a:rPr sz="1300">
                <a:solidFill>
                  <a:srgbClr val="666666"/>
                </a:solidFill>
              </a:rPr>
              <a:t>　CLI 各 stage 冒烟测试、检查点断点续跑、CSV/JSON schema 与图片程序化检查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114800" cy="475488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716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复现命令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pip install -e ".[dev]"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pytest -q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→ 88 passed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level2-joint-transfer \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    --config configs/…yaml \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    --stage all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阶段：preflight / optimize /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validate / robustness / 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功-能核算：转移期间外部做功的显式验证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demo 输出 · 多条代表轨迹</a:t>
            </a:r>
          </a:p>
        </p:txBody>
      </p:sp>
      <p:pic>
        <p:nvPicPr>
          <p:cNvPr id="5" name="Picture 4" descr="work_energy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042" y="914400"/>
            <a:ext cx="822143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黑线 ΔE(t) 与绿线外部总功 W_ext(t) 逐点重合，残差 R_W（红线）远小于 1e-3·D_SLM；深度功在降深段把能量取走，移动功在移动段注入能量，两者符号与量级符合物理直觉。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步长收敛与俘获标签稳定性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demo 输出 · dt = 0.10 / 0.05 / 0.025 μs</a:t>
            </a:r>
          </a:p>
        </p:txBody>
      </p:sp>
      <p:pic>
        <p:nvPicPr>
          <p:cNvPr id="5" name="Picture 4" descr="timestep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6695"/>
            <a:ext cx="11704320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左：末态能量最大偏差随 dt 减小呈二阶下降（对数坐标）；右：三种波形俘获标签翻转率 ≈ 0，说明 dt=0.05 μs 的验证结果不是积分误差的产物。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诚实报告是本 Level 的核心要求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实现完成</a:t>
            </a:r>
            <a:r>
              <a:rPr sz="1600">
                <a:solidFill>
                  <a:srgbClr val="666666"/>
                </a:solidFill>
              </a:rPr>
              <a:t>　三类波形、功-能核算、分阶段优化、独立验证、鲁棒性检查全部实现并实际运行。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物理结论</a:t>
            </a:r>
            <a:r>
              <a:rPr sz="1600">
                <a:solidFill>
                  <a:srgbClr val="666666"/>
                </a:solidFill>
              </a:rPr>
              <a:t>　5 μK 工况下问题处于饱和区：三波形俘获率均 100%，配对差为 0 —— 未观察到统计上明确的提升，如实报告，不得据此调参。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数值可信</a:t>
            </a:r>
            <a:r>
              <a:rPr sz="1600">
                <a:solidFill>
                  <a:srgbClr val="666666"/>
                </a:solidFill>
              </a:rPr>
              <a:t>　preflight 10/10 通过；功-能残差、保持段误差、步长收敛均远优于验收阈值。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鉴别力限制</a:t>
            </a:r>
            <a:r>
              <a:rPr sz="1600">
                <a:solidFill>
                  <a:srgbClr val="666666"/>
                </a:solidFill>
              </a:rPr>
              <a:t>　如需区分波形优劣，应升温或进一步压缩时长，把系统推离 100% 饱和区。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937760"/>
            <a:ext cx="10881360" cy="1463040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留给后续 Level 的物理过程：二维/轴向运动、AOD 柱面透镜效应、光子散射、技术噪声、量子内态与相干性、加热/损失随机过程、多原子相互作用、反向 pick-up 与 610 μm 长距离运输。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