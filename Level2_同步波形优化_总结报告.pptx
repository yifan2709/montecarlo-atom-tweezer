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9EC5E8"/>
                </a:solidFill>
              </a:rPr>
              <a:t>Monte Carlo for AOD→SLM 原子转移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Level 2：同步波形优化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BBD3E8"/>
                </a:solidFill>
              </a:rPr>
              <a:t>600 μs 顺序基线 → 400 μs 同步重叠波形的鲁棒蒙特卡洛验证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3977639"/>
            <a:ext cx="2514600" cy="1234440"/>
          </a:xfrm>
          <a:prstGeom prst="roundRect">
            <a:avLst/>
          </a:prstGeom>
          <a:solidFill>
            <a:srgbClr val="1B3A5C"/>
          </a:solidFill>
          <a:ln>
            <a:solidFill>
              <a:srgbClr val="2C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4114800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2000 / 2000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4736592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C5E8"/>
                </a:solidFill>
              </a:rPr>
              <a:t>独立验证俘获率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3977639"/>
            <a:ext cx="2514600" cy="1234440"/>
          </a:xfrm>
          <a:prstGeom prst="roundRect">
            <a:avLst/>
          </a:prstGeom>
          <a:solidFill>
            <a:srgbClr val="1B3A5C"/>
          </a:solidFill>
          <a:ln>
            <a:solidFill>
              <a:srgbClr val="2C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4114800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4736592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C5E8"/>
                </a:solidFill>
              </a:rPr>
              <a:t>优化候选（192 LHS + 65 精修）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3977639"/>
            <a:ext cx="2514600" cy="1234440"/>
          </a:xfrm>
          <a:prstGeom prst="roundRect">
            <a:avLst/>
          </a:prstGeom>
          <a:solidFill>
            <a:srgbClr val="1B3A5C"/>
          </a:solidFill>
          <a:ln>
            <a:solidFill>
              <a:srgbClr val="2C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4114800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10 /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4736592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C5E8"/>
                </a:solidFill>
              </a:rPr>
              <a:t>preflight 预检查通过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8978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A8C8"/>
                </a:solidFill>
              </a:rPr>
              <a:t>结论预览：5 μK 工况处于饱和区，三波形俘获率均 100%，如实报告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338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问题：600 μs 能压到 400 μs 吗？</a:t>
            </a:r>
          </a:p>
        </p:txBody>
      </p:sp>
      <p:pic>
        <p:nvPicPr>
          <p:cNvPr id="4" name="Picture 3" descr="s01_问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990785"/>
            <a:ext cx="11640312" cy="47392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666666"/>
                </a:solidFill>
              </a:rPr>
              <a:t>Level 1 先移动后降深（600 μs）；Level 2 让移动与降深同步重叠，压缩到 400 μs（提速 33%）。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338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物理模型：一维双高斯阱</a:t>
            </a:r>
          </a:p>
        </p:txBody>
      </p:sp>
      <p:pic>
        <p:nvPicPr>
          <p:cNvPr id="4" name="Picture 3" descr="s02_物理模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990785"/>
            <a:ext cx="11640312" cy="47392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666666"/>
                </a:solidFill>
              </a:rPr>
              <a:t>280 μK AOD 阱载着 5 μK 铯原子移向 140 μK 静止 SLM 阱并逐渐变浅；末态 E_f &lt; 0 判定俘获。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338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方法：三池隔离 + 公共随机数</a:t>
            </a:r>
          </a:p>
        </p:txBody>
      </p:sp>
      <p:pic>
        <p:nvPicPr>
          <p:cNvPr id="4" name="Picture 3" descr="s03_方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990785"/>
            <a:ext cx="11640312" cy="47392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666666"/>
                </a:solidFill>
              </a:rPr>
              <a:t>三批互不重叠的样本池各司其职，validation 只报告一次；所有波形用同一组初态（CRN）比较。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338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三类波形：『同步』= 重叠 39%</a:t>
            </a:r>
          </a:p>
        </p:txBody>
      </p:sp>
      <p:pic>
        <p:nvPicPr>
          <p:cNvPr id="4" name="Picture 3" descr="s04_波形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990785"/>
            <a:ext cx="11640312" cy="47392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666666"/>
                </a:solidFill>
              </a:rPr>
              <a:t>优化波形移动几乎贯穿全程（s ≥ 0.019），降深 s ≥ 0.607 才开始——移动与降深重叠约 39% 的时间。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338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势场演化：原子被『倒』进 SLM</a:t>
            </a:r>
          </a:p>
        </p:txBody>
      </p:sp>
      <p:pic>
        <p:nvPicPr>
          <p:cNvPr id="4" name="Picture 3" descr="s05_势场演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990785"/>
            <a:ext cx="11640312" cy="47392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666666"/>
                </a:solidFill>
              </a:rPr>
              <a:t>AOD 阱边移动边变浅，阱底（原子跟随）一路滑向 SLM；交接时刻 AOD 深度恰好为 0。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338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噪声模型：三通道常数功率加热</a:t>
            </a:r>
          </a:p>
        </p:txBody>
      </p:sp>
      <p:pic>
        <p:nvPicPr>
          <p:cNvPr id="4" name="Picture 3" descr="s11_噪声模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990785"/>
            <a:ext cx="11640312" cy="47392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666666"/>
                </a:solidFill>
              </a:rPr>
              <a:t>系综平均功率的确定性注入（无随机性）：反冲 / 强度（线性化）/ 指向三通道均为常数功率，注入能量计入功-能账本 ΔE = W_ext + W_noise + R_W。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338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噪声 × 速度：×1000 才有影响，参量主导</a:t>
            </a:r>
          </a:p>
        </p:txBody>
      </p:sp>
      <p:pic>
        <p:nvPicPr>
          <p:cNvPr id="4" name="Picture 3" descr="s12_噪声结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990785"/>
            <a:ext cx="11640312" cy="47392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666666"/>
                </a:solidFill>
              </a:rPr>
              <a:t>默认 ×1 注入 ≤ 0.2 μK：v95 逐点不变（40.8 mm/s）；×100 无显著移动（42.6，CI 重叠）；×1000 全程 &lt; 0.95，@55 mm/s 俘获率 0.50，其中仅参量通道（0.477）≈ 三通道（0.477），仅反冲/仅指向仍 1.00。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338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最高速度测算：硬件条件下的 v95（噪声 ×1）</a:t>
            </a:r>
          </a:p>
        </p:txBody>
      </p:sp>
      <p:pic>
        <p:nvPicPr>
          <p:cNvPr id="4" name="Picture 3" descr="s13_最高速度测算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990785"/>
            <a:ext cx="11640312" cy="47392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666666"/>
                </a:solidFill>
              </a:rPr>
              <a:t>v95 随 AOD 深度按 √D 缩放（140/280/560 μK → 29.6/41.8/58.1 mm/s），η95 ≈ 0.29 与深度无关（v_ad ∝ √D）；束腰收窄到 0.90 μm 提速到 54.9 mm/s（阱更硬），放宽到 1.50 μm 降到 38.4 mm/s。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338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同时长移动方案：峰值速度低者胜</a:t>
            </a:r>
          </a:p>
        </p:txBody>
      </p:sp>
      <p:pic>
        <p:nvPicPr>
          <p:cNvPr id="4" name="Picture 3" descr="s14_同时长方案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990785"/>
            <a:ext cx="11640312" cy="47392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666666"/>
                </a:solidFill>
              </a:rPr>
              <a:t>AOD 起动→停止时长与位移完全相同（44/39/35 μs × 2.4 μm，噪声 ×1）：快加速梯形（v_peak=1.18·v_avg）0.99/0.96/0.78 全面最优，三角（2.0×）0.48/0.09/0.00 最差——俘获由瞬时峰值速度决定，加速平缓与否是次要因素。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